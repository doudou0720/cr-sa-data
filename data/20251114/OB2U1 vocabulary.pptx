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.xml" ContentType="application/vnd.openxmlformats-officedocument.presentationml.tags+xml"/>
  <Override PartName="/ppt/notesSlides/notesSlide2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380" r:id="rId2"/>
    <p:sldId id="362" r:id="rId3"/>
    <p:sldId id="349" r:id="rId4"/>
    <p:sldId id="350" r:id="rId5"/>
    <p:sldId id="402" r:id="rId6"/>
    <p:sldId id="360" r:id="rId7"/>
    <p:sldId id="403" r:id="rId8"/>
    <p:sldId id="404" r:id="rId9"/>
    <p:sldId id="353" r:id="rId10"/>
    <p:sldId id="405" r:id="rId11"/>
    <p:sldId id="406" r:id="rId12"/>
    <p:sldId id="407" r:id="rId13"/>
    <p:sldId id="356" r:id="rId14"/>
    <p:sldId id="40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381" r:id="rId24"/>
    <p:sldId id="383" r:id="rId25"/>
    <p:sldId id="385" r:id="rId26"/>
    <p:sldId id="386" r:id="rId27"/>
    <p:sldId id="400" r:id="rId28"/>
    <p:sldId id="387" r:id="rId29"/>
    <p:sldId id="388" r:id="rId30"/>
    <p:sldId id="397" r:id="rId31"/>
    <p:sldId id="392" r:id="rId32"/>
    <p:sldId id="398" r:id="rId33"/>
    <p:sldId id="399" r:id="rId34"/>
    <p:sldId id="390" r:id="rId35"/>
    <p:sldId id="260" r:id="rId36"/>
    <p:sldId id="280" r:id="rId37"/>
    <p:sldId id="256" r:id="rId38"/>
    <p:sldId id="377" r:id="rId39"/>
    <p:sldId id="270" r:id="rId40"/>
    <p:sldId id="271" r:id="rId41"/>
    <p:sldId id="273" r:id="rId42"/>
    <p:sldId id="274" r:id="rId43"/>
    <p:sldId id="418" r:id="rId44"/>
    <p:sldId id="281" r:id="rId45"/>
    <p:sldId id="276" r:id="rId46"/>
    <p:sldId id="277" r:id="rId47"/>
    <p:sldId id="278" r:id="rId48"/>
    <p:sldId id="258" r:id="rId49"/>
    <p:sldId id="311" r:id="rId50"/>
    <p:sldId id="312" r:id="rId51"/>
    <p:sldId id="378" r:id="rId52"/>
    <p:sldId id="314" r:id="rId53"/>
    <p:sldId id="339" r:id="rId54"/>
    <p:sldId id="318" r:id="rId55"/>
    <p:sldId id="331" r:id="rId56"/>
    <p:sldId id="319" r:id="rId57"/>
    <p:sldId id="320" r:id="rId58"/>
    <p:sldId id="355" r:id="rId59"/>
    <p:sldId id="333" r:id="rId60"/>
    <p:sldId id="357" r:id="rId61"/>
    <p:sldId id="358" r:id="rId62"/>
    <p:sldId id="379" r:id="rId63"/>
    <p:sldId id="327" r:id="rId64"/>
    <p:sldId id="259" r:id="rId65"/>
    <p:sldId id="335" r:id="rId66"/>
    <p:sldId id="336" r:id="rId67"/>
    <p:sldId id="373" r:id="rId68"/>
    <p:sldId id="374" r:id="rId69"/>
    <p:sldId id="375" r:id="rId7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hp" initials="h" lastIdx="1" clrIdx="0"/>
  <p:cmAuthor id="8" name="姜伟光" initials="姜" lastIdx="1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56" d="100"/>
          <a:sy n="56" d="100"/>
        </p:scale>
        <p:origin x="45" y="3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  <p:custDataLst>
              <p:tags r:id="rId1"/>
            </p:custDataLst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/Users/apple/Desktop/选择性必修 第二册/PPT-1.jpgPPT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3448"/>
            <a:ext cx="9144000" cy="6858000"/>
          </a:xfrm>
          <a:prstGeom prst="rect">
            <a:avLst/>
          </a:prstGeom>
          <a:noFill/>
        </p:spPr>
      </p:pic>
      <p:sp>
        <p:nvSpPr>
          <p:cNvPr id="2051" name="标题 1"/>
          <p:cNvSpPr txBox="1"/>
          <p:nvPr/>
        </p:nvSpPr>
        <p:spPr>
          <a:xfrm>
            <a:off x="1884362" y="4327182"/>
            <a:ext cx="8423275" cy="190274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 The mass media</a:t>
            </a:r>
          </a:p>
          <a:p>
            <a:pPr algn="ctr"/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1</a:t>
            </a:r>
            <a:r>
              <a:rPr lang="en-US" altLang="zh-CN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Reading </a:t>
            </a:r>
            <a:endParaRPr lang="zh-CN" altLang="en-US" sz="36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 66"/>
          <p:cNvSpPr txBox="1"/>
          <p:nvPr/>
        </p:nvSpPr>
        <p:spPr>
          <a:xfrm>
            <a:off x="950905" y="2647461"/>
            <a:ext cx="377444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>
                <a:solidFill>
                  <a:srgbClr val="7B664B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CONTENTS</a:t>
            </a:r>
          </a:p>
        </p:txBody>
      </p:sp>
      <p:sp>
        <p:nvSpPr>
          <p:cNvPr id="69" name="圆角矩形 68"/>
          <p:cNvSpPr/>
          <p:nvPr/>
        </p:nvSpPr>
        <p:spPr>
          <a:xfrm>
            <a:off x="5059412" y="1382368"/>
            <a:ext cx="802273" cy="802273"/>
          </a:xfrm>
          <a:prstGeom prst="roundRect">
            <a:avLst/>
          </a:prstGeom>
          <a:solidFill>
            <a:srgbClr val="8AA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cs typeface="+mn-ea"/>
                <a:sym typeface="+mn-lt"/>
              </a:rPr>
              <a:t>1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6220460" y="1461135"/>
            <a:ext cx="3328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786449"/>
                </a:solidFill>
                <a:cs typeface="+mn-ea"/>
                <a:sym typeface="+mn-lt"/>
              </a:rPr>
              <a:t> </a:t>
            </a:r>
            <a:r>
              <a:rPr lang="en-US" altLang="zh-CN" sz="3600">
                <a:solidFill>
                  <a:srgbClr val="786449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Wordlist</a:t>
            </a:r>
            <a:endParaRPr lang="zh-CN" altLang="en-US" sz="3600">
              <a:solidFill>
                <a:srgbClr val="786449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5059412" y="2707061"/>
            <a:ext cx="802273" cy="802273"/>
          </a:xfrm>
          <a:prstGeom prst="roundRect">
            <a:avLst/>
          </a:prstGeom>
          <a:solidFill>
            <a:srgbClr val="EF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cs typeface="+mn-ea"/>
                <a:sym typeface="+mn-lt"/>
              </a:rPr>
              <a:t>2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402705" y="2785745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786449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P2-5</a:t>
            </a:r>
            <a:endParaRPr lang="zh-CN" altLang="en-US" sz="3600">
              <a:solidFill>
                <a:srgbClr val="786449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5180883" y="4232007"/>
            <a:ext cx="559769" cy="761405"/>
          </a:xfrm>
          <a:prstGeom prst="round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zh-CN" altLang="en-US" sz="4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5059412" y="4191139"/>
            <a:ext cx="802273" cy="802273"/>
          </a:xfrm>
          <a:prstGeom prst="roundRect">
            <a:avLst>
              <a:gd name="adj" fmla="val 0"/>
            </a:avLst>
          </a:prstGeom>
          <a:solidFill>
            <a:srgbClr val="DDC5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cs typeface="+mn-ea"/>
                <a:sym typeface="+mn-lt"/>
              </a:rPr>
              <a:t>3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6402705" y="4232275"/>
            <a:ext cx="3701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786449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Instant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/>
        </p:nvSpPr>
        <p:spPr>
          <a:xfrm>
            <a:off x="1018540" y="1049020"/>
            <a:ext cx="10499725" cy="56667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None/>
            </a:pP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</a:rPr>
              <a:t>1.   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critical  </a:t>
            </a: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</a:rPr>
              <a:t> adj.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批评的，批判的；关键的，紧要的</a:t>
            </a:r>
            <a:endParaRPr lang="en-US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514350" indent="-514350">
              <a:buNone/>
            </a:pP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be critical of…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对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批评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…</a:t>
            </a:r>
          </a:p>
          <a:p>
            <a:pPr marL="514350" indent="-514350">
              <a:buNone/>
            </a:pP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be critical to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对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至关重要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514350" indent="-514350">
              <a:buNone/>
            </a:pP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    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be of critical importance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 极为重要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514350" indent="-51435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critically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  adv.</a:t>
            </a:r>
          </a:p>
          <a:p>
            <a:pPr marL="514350" indent="-51435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criticism       n.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批评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 critic 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 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批评家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评论家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criticize (criticise)   v.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批评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评论</a:t>
            </a:r>
          </a:p>
          <a:p>
            <a:pPr>
              <a:buNone/>
            </a:pP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be criticized for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因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而受到指责</a:t>
            </a: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514350" indent="-514350">
              <a:buNone/>
            </a:pP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514350" indent="-514350">
              <a:buNone/>
            </a:pP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buNone/>
            </a:pP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175" y="246380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Wordlist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2462" y="0"/>
            <a:ext cx="11342858" cy="670496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2.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trap 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v./n    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trapped, trapped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）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trapping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1)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be trapped in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困在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,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陷在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(be caught/stuck in)</a:t>
            </a:r>
          </a:p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     the miners _________ underground </a:t>
            </a: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fontAlgn="auto">
              <a:lnSpc>
                <a:spcPts val="4200"/>
              </a:lnSpc>
              <a:buNone/>
            </a:pP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   ______________________________(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遇到交通堵塞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), he was late for the interview.</a:t>
            </a: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2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）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trap sb.into doing...诱骗某人做……</a:t>
            </a:r>
          </a:p>
          <a:p>
            <a:pPr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3)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fall into a trap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落入陷阱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圈套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25822" y="1702046"/>
            <a:ext cx="509143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ts val="42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Having been trapped in traffic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241555" y="1196486"/>
            <a:ext cx="1926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trapped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2462" y="0"/>
            <a:ext cx="11342858" cy="6704965"/>
          </a:xfrm>
        </p:spPr>
        <p:txBody>
          <a:bodyPr/>
          <a:lstStyle/>
          <a:p>
            <a:pPr marL="742950" indent="-742950">
              <a:buAutoNum type="arabicPeriod" startAt="3"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release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  </a:t>
            </a:r>
            <a:r>
              <a:rPr lang="en-US" altLang="zh-CN" sz="3600" b="1" dirty="0" err="1">
                <a:latin typeface="华文新魏" panose="02010800040101010101" charset="-122"/>
                <a:ea typeface="华文新魏" panose="02010800040101010101" charset="-122"/>
                <a:sym typeface="+mn-ea"/>
              </a:rPr>
              <a:t>vt.n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释放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发行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布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表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射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泄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免除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release prisoners/emotions/a new album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释放囚犯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发泄情感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发行新专辑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release … from </a:t>
            </a:r>
            <a:r>
              <a:rPr lang="en-US" altLang="zh-CN" sz="3600" b="1" dirty="0" err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将</a:t>
            </a: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从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释放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免除某人的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release sb. from a debt/tax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免除某人的债务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/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纳税义务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release </a:t>
            </a:r>
            <a:r>
              <a:rPr lang="en-US" altLang="zh-CN" sz="3600" b="1" dirty="0" err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. to …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向</a:t>
            </a: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公布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某事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对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发行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某物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be/go on general release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公开发行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655" y="0"/>
            <a:ext cx="12062346" cy="6858000"/>
          </a:xfrm>
        </p:spPr>
        <p:txBody>
          <a:bodyPr>
            <a:noAutofit/>
          </a:bodyPr>
          <a:lstStyle/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4.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 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扩建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展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enlarge,expand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延长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续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=prolong;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伸展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=stretch;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提供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=offer;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竭尽全力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→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exten</a:t>
            </a:r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sion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n.扩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大延伸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1)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涉及（范围）；延伸（距离）；延续（时间）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a house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the range 扩建房子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拓宽范围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a deadline/visa 延长最后期限／签证</a:t>
            </a:r>
            <a:endParaRPr lang="zh-CN" altLang="en-US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2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one’s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hand 伸出手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to sb.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向某人提供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表示</a:t>
            </a:r>
            <a:endParaRPr lang="zh-CN" altLang="en-US" sz="36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a warm welcome to sb.=extend sb. a warm welcome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向某人表示热烈欢迎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</a:t>
            </a: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one’s sincere gratitude to sb.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向某人表示感谢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zh-CN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extend oneself= be fully extended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竭尽全力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 fontAlgn="auto">
              <a:lnSpc>
                <a:spcPts val="306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5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an extended/nuclear family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小家庭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711" y="0"/>
            <a:ext cx="12103290" cy="68580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 startAt="5"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construct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v.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建造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构思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,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创立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construction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n.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be under construction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正在建造</a:t>
            </a: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constructive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a.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建设性的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有助益的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constructor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n.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建造者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destroy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v.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破坏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毁灭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(destroyed*2) destroying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destruction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n.  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destructive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a.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破坏性的   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destroyer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n.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破坏者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驱逐舰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6.  dozen n.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一打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=twelve;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十来个；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许多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=a lot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a dozen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students  12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个学生</a:t>
            </a: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two dozen </a:t>
            </a:r>
            <a:r>
              <a:rPr 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bottles of orange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  <a:sym typeface="+mn-ea"/>
              </a:rPr>
              <a:t>两打瓶装橙汁</a:t>
            </a:r>
            <a:endParaRPr lang="zh-CN" altLang="en-US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dozens of</a:t>
            </a: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books </a:t>
            </a:r>
            <a:r>
              <a:rPr lang="zh-CN" altLang="en-US" sz="3600" b="1" dirty="0">
                <a:latin typeface="华文新魏" panose="02010800040101010101" charset="-122"/>
                <a:ea typeface="华文新魏" panose="02010800040101010101" charset="-122"/>
              </a:rPr>
              <a:t>很多书</a:t>
            </a:r>
            <a:endParaRPr lang="en-US" altLang="zh-CN" sz="36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sell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by the dozen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成打地卖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zh-CN" altLang="en-US" sz="3600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</a:rPr>
              <a:t>They arrived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in dozens.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他们来了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很多人</a:t>
            </a:r>
            <a:r>
              <a:rPr lang="zh-CN" altLang="en-US" sz="3600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</a:rPr>
              <a:t>。</a:t>
            </a:r>
          </a:p>
          <a:p>
            <a:pPr marL="0" indent="0">
              <a:buNone/>
            </a:pP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063" y="0"/>
            <a:ext cx="12116937" cy="6452870"/>
          </a:xfrm>
        </p:spPr>
        <p:txBody>
          <a:bodyPr>
            <a:normAutofit fontScale="97500" lnSpcReduction="10000"/>
          </a:bodyPr>
          <a:lstStyle/>
          <a:p>
            <a:pPr marL="0" indent="0">
              <a:buNone/>
            </a:pPr>
            <a:r>
              <a:rPr lang="en-US" altLang="zh-CN" sz="311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“</a:t>
            </a:r>
            <a:r>
              <a:rPr lang="zh-CN" altLang="en-US" sz="311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大量的</a:t>
            </a:r>
            <a:r>
              <a:rPr lang="en-US" altLang="zh-CN" sz="311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”</a:t>
            </a:r>
            <a:r>
              <a:rPr lang="zh-CN" altLang="en-US" sz="3110" b="1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表格见课堂本</a:t>
            </a:r>
            <a:r>
              <a:rPr lang="en-US" altLang="zh-CN" sz="311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sym typeface="+mn-ea"/>
              </a:rPr>
              <a:t>P6</a:t>
            </a:r>
            <a:endParaRPr lang="en-US" altLang="zh-CN" sz="3110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(a great/good) many, a large/great number of, quite a number of, various, a variety of + [C] pl.</a:t>
            </a:r>
          </a:p>
          <a:p>
            <a:pPr marL="0" indent="0">
              <a:buNone/>
            </a:pPr>
            <a:r>
              <a:rPr lang="en-US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much, a great deal of, a large amount of, amounts of +</a:t>
            </a:r>
            <a:r>
              <a:rPr lang="zh-CN" altLang="en-US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[U]</a:t>
            </a:r>
          </a:p>
          <a:p>
            <a:pPr marL="0" indent="0">
              <a:buNone/>
            </a:pPr>
            <a:r>
              <a:rPr lang="en-US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a</a:t>
            </a:r>
            <a:r>
              <a:rPr lang="pt-BR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11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lot of, lots of, plenty of, large quantities of, a large quantity of, masses of, a wealth/world of, piles of + [C] pl./ [U]</a:t>
            </a:r>
          </a:p>
          <a:p>
            <a:pPr marL="0" indent="0">
              <a:buNone/>
            </a:pP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many a/ more than one+[c]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单数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+v.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单数</a:t>
            </a:r>
            <a:endParaRPr lang="en-US" altLang="zh-CN" sz="40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110" dirty="0">
                <a:latin typeface="华文新魏" panose="02010800040101010101" charset="-122"/>
                <a:ea typeface="华文新魏" panose="02010800040101010101" charset="-122"/>
              </a:rPr>
              <a:t>7.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minor</a:t>
            </a: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  a.</a:t>
            </a:r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</a:rPr>
              <a:t>较小</a:t>
            </a: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/</a:t>
            </a:r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</a:rPr>
              <a:t>少的</a:t>
            </a: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</a:rPr>
              <a:t>次要的</a:t>
            </a: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</a:rPr>
              <a:t>轻微的</a:t>
            </a: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  </a:t>
            </a:r>
            <a:r>
              <a:rPr lang="en-US" altLang="zh-CN" sz="3110" dirty="0">
                <a:latin typeface="华文新魏" panose="02010800040101010101" charset="-122"/>
                <a:ea typeface="华文新魏" panose="02010800040101010101" charset="-122"/>
              </a:rPr>
              <a:t>      </a:t>
            </a:r>
          </a:p>
          <a:p>
            <a:pPr marL="0" indent="0">
              <a:buNone/>
            </a:pPr>
            <a:r>
              <a:rPr lang="en-US" altLang="zh-CN" sz="3110" dirty="0">
                <a:latin typeface="华文新魏" panose="02010800040101010101" charset="-122"/>
                <a:ea typeface="华文新魏" panose="02010800040101010101" charset="-122"/>
              </a:rPr>
              <a:t>    suffer minor injuries </a:t>
            </a:r>
            <a:r>
              <a:rPr lang="zh-CN" altLang="en-US" sz="3110" dirty="0">
                <a:latin typeface="华文新魏" panose="02010800040101010101" charset="-122"/>
                <a:ea typeface="华文新魏" panose="02010800040101010101" charset="-122"/>
              </a:rPr>
              <a:t>受轻伤</a:t>
            </a:r>
            <a:r>
              <a:rPr lang="en-US" altLang="zh-CN" sz="3110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major a.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重要的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严重的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vi.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主修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+in</a:t>
            </a:r>
          </a:p>
          <a:p>
            <a:pPr marL="0" indent="0"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minority n.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少数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(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民族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)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majority n.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大多数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多数票</a:t>
            </a:r>
            <a:endParaRPr lang="en-US" altLang="zh-CN" sz="4000" b="1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4000" b="1" dirty="0"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be in the minority/majority 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占少</a:t>
            </a:r>
            <a:r>
              <a:rPr lang="en-US" altLang="zh-CN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/</a:t>
            </a:r>
            <a:r>
              <a:rPr lang="zh-CN" altLang="en-US" sz="40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多数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9495" y="401320"/>
            <a:ext cx="10557510" cy="5093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8.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b</a:t>
            </a:r>
            <a:r>
              <a:rPr lang="en-US" altLang="zh-CN" sz="3600" b="1" u="sng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a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th  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n. 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洗澡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;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浴缸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/</a:t>
            </a:r>
            <a:r>
              <a:rPr lang="zh-CN" altLang="en-US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盆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b</a:t>
            </a:r>
            <a:r>
              <a:rPr lang="en-US" altLang="zh-CN" sz="3600" b="1" u="sng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a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th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</a:rPr>
              <a:t>e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</a:t>
            </a:r>
            <a:r>
              <a:rPr lang="en-US" altLang="zh-CN" sz="3600" b="1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</a:rPr>
              <a:t>v. 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     have /take a bath 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洗澡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华文新魏" panose="02010800040101010101" charset="-122"/>
                <a:ea typeface="华文新魏" panose="02010800040101010101" charset="-122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 </a:t>
            </a:r>
            <a:r>
              <a:rPr lang="en-US" altLang="zh-CN" sz="3600" b="1" kern="10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bathe the wound </a:t>
            </a:r>
            <a:r>
              <a:rPr lang="zh-CN" altLang="zh-CN" sz="3600" b="1" kern="10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清洗伤口</a:t>
            </a:r>
            <a:endParaRPr lang="zh-CN" altLang="zh-CN" sz="3600" b="1" kern="100" dirty="0">
              <a:solidFill>
                <a:schemeClr val="tx1"/>
              </a:solid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kern="10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</a:t>
            </a:r>
            <a:r>
              <a:rPr lang="en-US" altLang="zh-CN" sz="3600" b="1" u="sng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be bathed in</a:t>
            </a:r>
            <a:r>
              <a:rPr lang="en-US" altLang="zh-CN" sz="3600" b="1" kern="10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en-US" altLang="zh-CN" sz="3600" b="1" kern="100" dirty="0"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the sunlight  </a:t>
            </a:r>
            <a:r>
              <a:rPr lang="zh-CN" altLang="zh-CN" sz="3600" b="1" kern="100" dirty="0">
                <a:solidFill>
                  <a:srgbClr val="FF0000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沐浴在</a:t>
            </a:r>
            <a:r>
              <a:rPr lang="zh-CN" altLang="zh-CN" sz="3600" b="1" kern="100" dirty="0"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阳光里</a:t>
            </a:r>
            <a:endParaRPr lang="zh-CN" altLang="zh-CN" sz="3600" b="1" kern="100" dirty="0"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endParaRPr lang="en-US" altLang="zh-CN" sz="3200" dirty="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2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The sun began to rise in the sky, __________(bathe) the mountain in golden light.</a:t>
            </a:r>
          </a:p>
          <a:p>
            <a:pPr marL="0" indent="0">
              <a:buNone/>
            </a:pPr>
            <a:r>
              <a:rPr lang="en-US" altLang="zh-CN" sz="32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     </a:t>
            </a:r>
            <a:r>
              <a:rPr lang="en-US" altLang="zh-CN" sz="3200" dirty="0">
                <a:solidFill>
                  <a:schemeClr val="tx1"/>
                </a:solid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__________ the brilliant sunshine, the kids played very happily.</a:t>
            </a:r>
            <a:endParaRPr lang="en-US" altLang="zh-CN" sz="3200" dirty="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46555" y="4159543"/>
            <a:ext cx="19570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Bathed in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393305" y="2835275"/>
            <a:ext cx="1696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uFillTx/>
                <a:latin typeface="华文新魏" panose="02010800040101010101" charset="-122"/>
                <a:ea typeface="华文新魏" panose="02010800040101010101" charset="-122"/>
              </a:rPr>
              <a:t>bathing</a:t>
            </a:r>
            <a:r>
              <a:rPr lang="en-US" altLang="zh-CN" sz="2800">
                <a:solidFill>
                  <a:srgbClr val="FF0000"/>
                </a:solidFill>
                <a:uFillTx/>
                <a:latin typeface="华文新魏" panose="02010800040101010101" charset="-122"/>
                <a:ea typeface="华文新魏" panose="02010800040101010101" charset="-122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301" y="102358"/>
            <a:ext cx="11465134" cy="64838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华文新魏" panose="02010800040101010101" charset="-122"/>
                <a:ea typeface="华文新魏" panose="02010800040101010101" charset="-122"/>
              </a:rPr>
              <a:t>9. 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scream </a:t>
            </a:r>
            <a:r>
              <a:rPr lang="en-US" altLang="zh-CN" sz="36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v/n. </a:t>
            </a:r>
            <a:r>
              <a:rPr lang="zh-CN" altLang="en-US" sz="36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尖叫</a:t>
            </a:r>
            <a:r>
              <a:rPr lang="en-US" altLang="zh-CN" sz="36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;</a:t>
            </a:r>
            <a:r>
              <a:rPr lang="zh-CN" altLang="en-US" sz="36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高喊</a:t>
            </a:r>
            <a:endParaRPr lang="en-US" altLang="zh-CN" sz="3600" dirty="0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scream with 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fear/rage/</a:t>
            </a:r>
            <a:r>
              <a:rPr lang="en-US" altLang="zh-CN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delight </a:t>
            </a:r>
            <a:r>
              <a:rPr lang="zh-CN" altLang="en-US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吓得</a:t>
            </a:r>
            <a:r>
              <a:rPr lang="en-US" altLang="zh-CN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/</a:t>
            </a:r>
            <a:r>
              <a:rPr lang="zh-CN" altLang="en-US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愤怒</a:t>
            </a:r>
            <a:r>
              <a:rPr lang="en-US" altLang="zh-CN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/</a:t>
            </a:r>
            <a:r>
              <a:rPr lang="zh-CN" altLang="en-US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快乐地尖叫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scream in panic 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惊恐地尖叫</a:t>
            </a:r>
            <a:endParaRPr lang="en-US" altLang="zh-CN" sz="3600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let out a scream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of </a:t>
            </a:r>
            <a:r>
              <a:rPr lang="en-US" altLang="zh-CN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terror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发出一声</a:t>
            </a:r>
            <a:r>
              <a:rPr lang="zh-CN" altLang="en-US" sz="36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惊恐的尖叫</a:t>
            </a:r>
            <a:endParaRPr lang="en-US" altLang="zh-CN" sz="3600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scream at sb.</a:t>
            </a:r>
            <a:r>
              <a:rPr lang="zh-CN" altLang="en-US" sz="36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对某人大喊</a:t>
            </a:r>
            <a:endParaRPr lang="en-US" altLang="zh-CN" sz="3600" dirty="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screaming  n.</a:t>
            </a:r>
            <a:r>
              <a:rPr lang="zh-CN" altLang="en-US" sz="36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尖叫</a:t>
            </a:r>
            <a:r>
              <a:rPr lang="en-US" altLang="zh-CN" sz="36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;</a:t>
            </a:r>
            <a:r>
              <a:rPr lang="zh-CN" altLang="en-US" sz="36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尖厉的嘎吱声 </a:t>
            </a:r>
            <a:endParaRPr lang="en-US" altLang="zh-CN" sz="3600" dirty="0">
              <a:solidFill>
                <a:srgbClr val="00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             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adj.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尖叫的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惹人注目的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=striking</a:t>
            </a:r>
          </a:p>
          <a:p>
            <a:pPr marL="0" indent="0">
              <a:buNone/>
            </a:pPr>
            <a:endParaRPr lang="en-US" altLang="zh-CN" sz="3600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358" y="102358"/>
            <a:ext cx="12089641" cy="6755642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10"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bark 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n.vi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吠叫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叫声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咆哮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vt.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厉声说出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n.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树皮 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vt.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剥皮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bark at …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对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咆哮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bark out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厉声说出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e barking up the wrong tree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弄错目标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11.choke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vt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/vi/n.   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(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使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)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窒息；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(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使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)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哽咽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choke to death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窒息而死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 choke with anger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气得说不出话来</a:t>
            </a:r>
          </a:p>
          <a:p>
            <a:pPr marL="0" indent="0">
              <a:buNone/>
            </a:pP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 a choked voice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=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with a choke in one’s voice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声音哽咽地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choke back one’s tears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强忍住泪水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=hold back/ contain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The roads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were choked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up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）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with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traffic.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堵塞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893" y="68239"/>
            <a:ext cx="11459437" cy="6789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12. carpet n.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地毯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厚厚的一层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vt.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覆盖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训斥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sweep/brush/push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. under the carpet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掩盖某事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a carpet of flowers/snow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满地的花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一层厚厚的雪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The island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was carpeted with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flowers.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布满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鲜花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pack/packet of cigarettes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一包香烟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514350" indent="-514350">
              <a:buAutoNum type="arabicPeriod" startAt="13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automatic adj.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自动的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不假思索的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n.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自动挡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automatic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ally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adv.</a:t>
            </a: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automatic drive</a:t>
            </a:r>
            <a:r>
              <a:rPr lang="zh-CN" altLang="en-US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自动驾驶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an automatic response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不假思索的反应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be equipped with automatic fire alarm system </a:t>
            </a: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zh-CN" altLang="en-US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配备火灾自动报警系统</a:t>
            </a: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301" y="81887"/>
            <a:ext cx="11514029" cy="6776112"/>
          </a:xfrm>
        </p:spPr>
        <p:txBody>
          <a:bodyPr>
            <a:normAutofit/>
          </a:bodyPr>
          <a:lstStyle/>
          <a:p>
            <a:pPr marL="514350" indent="-514350">
              <a:buAutoNum type="arabicPeriod" startAt="14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investigate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v.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调查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研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investigation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n.    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investigator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n.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调查者  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be under investigation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在调查中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make a thorough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investigation 进行彻底调查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on (further) investigation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经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进一步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研究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zh-CN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An investigation is under way.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正在进行调查研究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15.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journalist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新闻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记者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journalistic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adj.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新闻业的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新闻记者的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journalism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新闻业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新闻报道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journal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期刊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日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周报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日记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备忘录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182" y="95534"/>
            <a:ext cx="12082817" cy="6762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1</a:t>
            </a:r>
            <a:r>
              <a:rPr lang="zh-CN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6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come about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发生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产生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How did the contradictory information come about? </a:t>
            </a:r>
            <a:endParaRPr lang="zh-CN" altLang="en-US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How come?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怎么会呢？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- I think she hates you</a:t>
            </a:r>
            <a:r>
              <a:rPr lang="zh-CN" altLang="en-US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？</a:t>
            </a: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How come? I’ve always been nice to her.</a:t>
            </a:r>
          </a:p>
          <a:p>
            <a:pPr>
              <a:buFontTx/>
              <a:buChar char="-"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182" y="116006"/>
            <a:ext cx="12082817" cy="674199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见课堂本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P12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come across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偶遇；被理解</a:t>
            </a:r>
            <a:endParaRPr lang="zh-CN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come down to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可归结为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=boil down to  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come down with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生…病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out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发行；开花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over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顺便来访</a:t>
            </a:r>
            <a:endParaRPr lang="zh-CN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to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苏醒</a:t>
            </a:r>
            <a:r>
              <a:rPr 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共计；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得到结果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it comes to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当谈及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某事</a:t>
            </a:r>
            <a:endParaRPr lang="zh-CN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up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走进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发芽；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被提出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up with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想出；找到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come on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加油！快点！得了吧！开始运行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063" y="68238"/>
            <a:ext cx="12116937" cy="6563701"/>
          </a:xfrm>
        </p:spPr>
        <p:txBody>
          <a:bodyPr>
            <a:noAutofit/>
          </a:bodyPr>
          <a:lstStyle/>
          <a:p>
            <a:pPr marL="514350" indent="-514350">
              <a:buAutoNum type="arabicPeriod" startAt="17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priority     </a:t>
            </a:r>
            <a:r>
              <a:rPr lang="en-US" altLang="zh-CN" sz="27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[c] </a:t>
            </a:r>
            <a:r>
              <a:rPr lang="en-US" altLang="zh-CN" sz="27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优先事项,最重要的事</a:t>
            </a: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[u] 优先(权) a.</a:t>
            </a:r>
            <a:r>
              <a:rPr lang="zh-CN" altLang="en-US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享有优先权的</a:t>
            </a:r>
            <a:endParaRPr lang="en-US" altLang="zh-CN" sz="27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prioritize 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优先考虑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top  priority  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头等大事,当务之急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give priority to 优先考虑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have/take priority over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比某事优先考虑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Education is </a:t>
            </a:r>
            <a:r>
              <a:rPr lang="en-US" altLang="zh-CN" sz="2700" b="1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top priority.</a:t>
            </a:r>
            <a:r>
              <a:rPr lang="zh-CN" altLang="en-US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教育是当务之急。</a:t>
            </a:r>
            <a:endParaRPr lang="en-US" altLang="zh-CN" sz="27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</a:t>
            </a: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During the COVID-19 epidemic, we </a:t>
            </a:r>
            <a:r>
              <a:rPr lang="en-US" altLang="zh-CN" sz="2700" b="1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gave priority to </a:t>
            </a: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prevention and put safety first. </a:t>
            </a:r>
            <a:r>
              <a:rPr lang="zh-CN" altLang="en-US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在新冠疫情期间我们预防为主，安全第一。</a:t>
            </a:r>
            <a:endParaRPr lang="en-US" altLang="zh-CN" sz="27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be prior to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在…以前;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先于; 优先于</a:t>
            </a:r>
          </a:p>
          <a:p>
            <a:pPr marL="0" indent="0"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All the arrangements should be completed </a:t>
            </a:r>
            <a:r>
              <a:rPr lang="en-US" altLang="zh-CN" sz="2700" b="1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prior to</a:t>
            </a: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your departure.   </a:t>
            </a:r>
          </a:p>
          <a:p>
            <a:pPr marL="0" indent="0">
              <a:buNone/>
            </a:pPr>
            <a:r>
              <a:rPr lang="en-US" altLang="zh-CN" sz="27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所有安排都应在你离开之前完成。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40" y="68239"/>
            <a:ext cx="12123760" cy="6241122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 startAt="18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contradict      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v.   1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）相矛盾，相反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2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）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反驳，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驳斥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contradict oneself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自相矛盾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contradictory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a.  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矛盾的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be contradictory to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.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contradiction 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矛盾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反驳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in contradiction with/to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There seems to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be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a contradiction between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 her word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and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action.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言行似乎不一致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</a:t>
            </a:r>
            <a:endParaRPr lang="zh-CN" altLang="en-US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</a:t>
            </a:r>
          </a:p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945" y="2802890"/>
            <a:ext cx="11723370" cy="2866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</a:defRPr>
            </a:lvl1pPr>
          </a:lstStyle>
          <a:p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lt"/>
            </a:endParaRPr>
          </a:p>
          <a:p>
            <a:pPr marL="0" indent="0">
              <a:buNone/>
            </a:pP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19.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factual information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事实信息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factually adv.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事实上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=as a matter of fact=in fact/effect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0.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for instance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=for example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例如</a:t>
            </a:r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endParaRPr lang="en-US" altLang="zh-CN" sz="3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lt"/>
            </a:endParaRPr>
          </a:p>
          <a:p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063" y="54591"/>
            <a:ext cx="11865477" cy="65436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21.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A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differ from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  A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不同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differ in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在…方面不同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differ with sb. about/on/over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.=disagree with sb.</a:t>
            </a: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I beg to differ.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我不敢苟同。</a:t>
            </a:r>
            <a:endParaRPr lang="zh-CN" altLang="en-US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make a(no)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difference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(to) 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有(没有)影响，起(不起)作用</a:t>
            </a:r>
            <a:endParaRPr lang="zh-CN" altLang="en-US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Whatever she says will not make any difference to our arrangements.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tell the difference between A and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B=tell A from B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be different from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…  in---  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---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方面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与…不同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</a:t>
            </a:r>
          </a:p>
          <a:p>
            <a:pPr marL="0" indent="0"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When we</a:t>
            </a:r>
            <a:r>
              <a:rPr lang="en-US" altLang="zh-CN" sz="3200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 come across such factual differences</a:t>
            </a:r>
            <a:r>
              <a:rPr lang="zh-CN" altLang="en-US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we should not </a:t>
            </a:r>
            <a:r>
              <a:rPr lang="en-US" altLang="zh-CN" sz="3200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rush to the conclusion that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 one of the news reports </a:t>
            </a:r>
            <a:r>
              <a:rPr lang="en-US" altLang="zh-CN" sz="3200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gives false information.</a:t>
            </a:r>
            <a:endParaRPr lang="en-US" altLang="zh-CN" sz="3200" b="1" u="sng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359" y="75063"/>
            <a:ext cx="12089642" cy="67829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22.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conclusion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n.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结论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conclude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v.1)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结束  2)</a:t>
            </a:r>
            <a:r>
              <a:rPr lang="en-US" altLang="zh-CN" sz="3600" b="1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推断,断定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rush/jump to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the conclusion (that ---)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贸然断定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…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draw/reach/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come to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/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arrive at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a conclusion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得出结论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in conclusion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总之，最后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conclude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…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with… / by doing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以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结束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conclude (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 from ---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推断出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The story concludes with a happy ending.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In conclusion, I'm convinced of his honesty.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He concluded from their remarks that they contradicted the plan.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23.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false information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虚假信息</a:t>
            </a:r>
            <a:endParaRPr lang="en-US" altLang="zh-CN" sz="28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67" y="95534"/>
            <a:ext cx="12144233" cy="66729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24.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bring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to light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揭露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Thanks to the police’s investigation, these facts have been brought to light. 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多亏了警察的调查，这些事实才被揭露出来。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cast light on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the cause of </a:t>
            </a:r>
          </a:p>
          <a:p>
            <a:pPr marL="0" indent="0">
              <a:buNone/>
            </a:pPr>
            <a:r>
              <a:rPr lang="zh-CN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come to light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为人所知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light up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lit/lighted, lit/lighted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 用于名词前作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语通常用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lighted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lighted candle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点燃的蜡烛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He lit (up) a cigarette. 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他点着一支香烟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The candle lit up the </a:t>
            </a:r>
            <a:r>
              <a:rPr lang="en-US" altLang="zh-CN" sz="3600" dirty="0" err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room.蜡烛照亮了房间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smile lit up her face.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笑容满面,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喜形于色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710" y="47767"/>
            <a:ext cx="12103290" cy="6810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25.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minimum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n.a.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最小的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最小值 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反义：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maximum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the minimum wage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最低工资</a:t>
            </a:r>
            <a:endParaRPr lang="en-US" altLang="zh-CN" sz="36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26. sum n.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款项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总和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全部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算术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(summed, summed) summing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sum up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总结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概括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large sum of money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一大笔钱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In sum, =To sum up,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总之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=In summary/conclusion=To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conclude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His speech </a:t>
            </a:r>
            <a:r>
              <a:rPr lang="en-US" altLang="zh-CN" sz="3600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summed up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the present situation of economy.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To sum up</a:t>
            </a:r>
            <a:r>
              <a:rPr lang="en-US" altLang="zh-CN" sz="3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, for a healthy heart  you must take regular exercise and stop smoking.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=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a word, on the whole,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short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brief, all in all </a:t>
            </a:r>
            <a:endParaRPr lang="en-US" altLang="zh-CN" sz="36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358" y="88710"/>
            <a:ext cx="11828658" cy="6326695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 startAt="27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accurate 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adj.准确的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inaccurate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不准确的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accurately adv.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精确地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accuracy   n.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精确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I </a:t>
            </a:r>
            <a:r>
              <a:rPr lang="en-US" altLang="zh-CN" sz="3110" u="sng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have been convinced that </a:t>
            </a: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the print media are usually more accurate and more reliable than television.</a:t>
            </a: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我确信印刷媒体常常会比电视更准确、更可靠。</a:t>
            </a: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You need to check the accuracy of the relevant information.</a:t>
            </a: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您需要检查相关信息的准确性。</a:t>
            </a: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zh-CN" altLang="en-US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联想：</a:t>
            </a: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words with the same suffixes    </a:t>
            </a:r>
            <a:r>
              <a:rPr lang="en-US" sz="311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-cy</a:t>
            </a:r>
            <a:endParaRPr lang="en-US" altLang="zh-CN" sz="311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11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fluent      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fluency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                 frequent  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frequency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efficient  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efficiency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             private    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privacy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urgent     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urgency ...</a:t>
            </a: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525" y="191135"/>
            <a:ext cx="11922125" cy="666686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28.</a:t>
            </a:r>
            <a:r>
              <a:rPr lang="en-US" altLang="zh-CN" sz="144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commit oneself to </a:t>
            </a:r>
            <a:r>
              <a:rPr lang="en-US" altLang="zh-CN" sz="144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doing  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</a:t>
            </a:r>
            <a:r>
              <a:rPr lang="en-US" altLang="zh-CN" sz="1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tt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ed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，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</a:t>
            </a:r>
            <a:r>
              <a:rPr lang="en-US" altLang="zh-CN" sz="1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tt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ed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）</a:t>
            </a:r>
            <a:endParaRPr lang="en-US" altLang="zh-CN" sz="14400" b="1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4400" b="1" kern="100" dirty="0">
                <a:solidFill>
                  <a:srgbClr val="0000CC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=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be commi</a:t>
            </a:r>
            <a:r>
              <a:rPr lang="en-US" altLang="zh-CN" sz="1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tt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ed to doing  </a:t>
            </a:r>
          </a:p>
          <a:p>
            <a:pPr marL="0" indent="0">
              <a:buNone/>
            </a:pP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commit v.1) 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致力于…,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献身于…,忠于… 2) 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承诺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, 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保证</a:t>
            </a:r>
            <a:endParaRPr lang="en-US" altLang="zh-CN" sz="144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algn="l">
              <a:buClrTx/>
              <a:buSzTx/>
              <a:buNone/>
            </a:pP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3) 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犯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commit suicide/murder/a crime	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自杀/谋杀/犯罪</a:t>
            </a:r>
          </a:p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Though journalists </a:t>
            </a:r>
            <a:r>
              <a:rPr lang="en-US" altLang="zh-CN" sz="11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committed to </a:t>
            </a:r>
            <a:r>
              <a:rPr lang="en-US" altLang="zh-CN" sz="112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presenting</a:t>
            </a: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truth, it is better to use our own judgment than rely entirely on news reports.</a:t>
            </a:r>
          </a:p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She </a:t>
            </a:r>
            <a:r>
              <a:rPr lang="en-US" altLang="zh-CN" sz="112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committed to</a:t>
            </a: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 </a:t>
            </a:r>
            <a:r>
              <a:rPr lang="en-US" altLang="zh-CN" sz="112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commits herself to taking </a:t>
            </a: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 in the English speech contest with me together.</a:t>
            </a:r>
            <a:endParaRPr lang="en-US" altLang="zh-CN" sz="112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committed adj.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尽心尽责的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忠诚的</a:t>
            </a:r>
            <a:endParaRPr lang="en-US" altLang="zh-CN" sz="144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1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committed</a:t>
            </a:r>
            <a:r>
              <a:rPr lang="en-US" altLang="zh-CN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 of the team </a:t>
            </a:r>
            <a:r>
              <a:rPr lang="zh-CN" alt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忠于职守的队员</a:t>
            </a:r>
            <a:endParaRPr lang="en-US" altLang="zh-CN" sz="11200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commi</a:t>
            </a:r>
            <a:r>
              <a:rPr lang="en-US" altLang="zh-CN" sz="1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ment n.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承诺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责任感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;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花费</a:t>
            </a:r>
            <a:endParaRPr lang="en-US" altLang="zh-CN" sz="144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make a commi</a:t>
            </a:r>
            <a:r>
              <a:rPr lang="en-US" altLang="zh-CN" sz="1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t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ment to (do/ doing) </a:t>
            </a:r>
            <a:r>
              <a:rPr lang="en-US" altLang="zh-CN" sz="14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.</a:t>
            </a:r>
            <a:r>
              <a:rPr lang="zh-CN" altLang="en-US" sz="14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承诺做某事</a:t>
            </a:r>
            <a:endParaRPr lang="en-US" altLang="zh-CN" sz="144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 financial commitment</a:t>
            </a:r>
            <a:r>
              <a:rPr lang="zh-CN" altLang="en-US" sz="11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资金投入</a:t>
            </a:r>
            <a:endParaRPr lang="en-US" altLang="zh-CN" sz="11200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112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He made a commitment to going bottle-free.</a:t>
            </a:r>
            <a:r>
              <a:rPr lang="zh-CN" altLang="en-US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</a:t>
            </a:r>
            <a:r>
              <a:rPr lang="zh-CN" altLang="en-US" sz="1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承诺</a:t>
            </a:r>
            <a:r>
              <a:rPr lang="zh-CN" altLang="en-US" sz="11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不饮用瓶装水。</a:t>
            </a:r>
            <a:endParaRPr lang="zh-CN" altLang="en-US" sz="9335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9335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9335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</a:t>
            </a:r>
            <a:endParaRPr lang="zh-CN" altLang="en-US" sz="9335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9335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39" y="95534"/>
            <a:ext cx="11420816" cy="6761831"/>
          </a:xfrm>
        </p:spPr>
        <p:txBody>
          <a:bodyPr>
            <a:noAutofit/>
          </a:bodyPr>
          <a:lstStyle/>
          <a:p>
            <a:pPr marL="514350" indent="-514350">
              <a:buAutoNum type="arabicPeriod" startAt="29"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racial/gender discrimination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种族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性别歧视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learn discrimination between right and wrong</a:t>
            </a:r>
            <a:r>
              <a:rPr lang="en-US" altLang="zh-CN" sz="32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学会辨别是非</a:t>
            </a: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discriminate  v.</a:t>
            </a: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1)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discriminate A from B/between A and B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区分，辨别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=distinguish/differentiate)</a:t>
            </a:r>
          </a:p>
          <a:p>
            <a:pPr marL="0" indent="0"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2)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discriminate against/in favor of</a:t>
            </a:r>
            <a:r>
              <a:rPr lang="en-US" altLang="zh-CN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 --- </a:t>
            </a:r>
            <a:r>
              <a:rPr lang="zh-CN" altLang="en-US" sz="3600" b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歧视，区分对待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practices that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discriminate against women and in favor of men  </a:t>
            </a:r>
            <a:r>
              <a:rPr lang="zh-CN" altLang="en-US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重男轻女的做法</a:t>
            </a:r>
          </a:p>
          <a:p>
            <a:pPr marL="0" indent="0">
              <a:buNone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30. </a:t>
            </a:r>
            <a:r>
              <a:rPr lang="en-US" altLang="zh-CN" sz="3600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be curious about           对…好奇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out of curiosity               出于好奇         </a:t>
            </a:r>
          </a:p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meet/satisfy/ arouse one’s curiosity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满足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lt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激起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91540"/>
            <a:ext cx="12192000" cy="53886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Report one  P2</a:t>
            </a:r>
          </a:p>
          <a:p>
            <a:pPr marL="0" indent="0">
              <a:buNone/>
            </a:pP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 The fire</a:t>
            </a:r>
            <a:r>
              <a:rPr lang="zh-CN" altLang="en-US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</a:t>
            </a: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which </a:t>
            </a:r>
            <a:r>
              <a:rPr lang="en-US" altLang="zh-CN" sz="2700" u="sng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is thought to have started</a:t>
            </a: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from the 8th floor</a:t>
            </a:r>
            <a:r>
              <a:rPr lang="zh-CN" altLang="en-US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</a:t>
            </a: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spread quickly through the tower block on Sunday night</a:t>
            </a:r>
            <a:r>
              <a:rPr lang="zh-CN" altLang="en-US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</a:t>
            </a:r>
            <a:r>
              <a:rPr lang="en-US" altLang="zh-CN" sz="2700" u="sng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leaving people on the upper floors trapped.</a:t>
            </a:r>
          </a:p>
          <a:p>
            <a:pPr marL="0" indent="0">
              <a:buNone/>
            </a:pPr>
            <a:r>
              <a:rPr lang="en-US" altLang="zh-CN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</a:t>
            </a:r>
            <a:r>
              <a:rPr lang="en-US" altLang="zh-CN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1</a:t>
            </a:r>
            <a:r>
              <a:rPr lang="zh-CN" altLang="en-US" sz="27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）</a:t>
            </a:r>
            <a:r>
              <a:rPr lang="en-US" altLang="zh-CN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be thought /said/ reported </a:t>
            </a:r>
            <a:r>
              <a:rPr lang="en-US" altLang="zh-CN" sz="3200" b="1" dirty="0">
                <a:solidFill>
                  <a:srgbClr val="FF0000"/>
                </a:solidFill>
                <a:highlight>
                  <a:srgbClr val="FFFF00"/>
                </a:highlight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do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/ </a:t>
            </a:r>
            <a:r>
              <a:rPr lang="en-US" altLang="zh-CN" sz="3200" b="1" u="sng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have done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/ </a:t>
            </a:r>
            <a:r>
              <a:rPr lang="en-US" altLang="zh-CN" sz="3200" b="1" u="sng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be doing </a:t>
            </a:r>
            <a:endParaRPr lang="en-US" altLang="zh-CN" sz="3200" b="1" dirty="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lt"/>
            </a:endParaRPr>
          </a:p>
          <a:p>
            <a:pPr marL="0" indent="0">
              <a:buNone/>
            </a:pP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+mn-ea"/>
                <a:sym typeface="+mn-lt"/>
              </a:rPr>
              <a:t>   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Robert is said __________________(study) abroad, but I don't know what country he studied in.</a:t>
            </a:r>
          </a:p>
          <a:p>
            <a:pPr marL="0" indent="0">
              <a:buNone/>
            </a:pP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  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He is believed ________________ (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正在写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)a new book. </a:t>
            </a:r>
          </a:p>
          <a:p>
            <a:pPr marL="0" indent="0">
              <a:buNone/>
            </a:pP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2) </a:t>
            </a:r>
            <a:r>
              <a:rPr lang="zh-CN" altLang="en-US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现在分词作结果状语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</a:t>
            </a:r>
            <a:r>
              <a:rPr lang="zh-CN" altLang="en-US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表示自然而然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的结果</a:t>
            </a:r>
          </a:p>
          <a:p>
            <a:pPr marL="0" indent="0">
              <a:buNone/>
            </a:pP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（</a:t>
            </a:r>
            <a:r>
              <a:rPr lang="en-US" altLang="zh-CN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only to do</a:t>
            </a:r>
            <a:r>
              <a:rPr lang="zh-CN" altLang="en-US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作结果状语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，表示</a:t>
            </a:r>
            <a:r>
              <a:rPr lang="zh-CN" altLang="en-US" sz="27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出乎意料</a:t>
            </a: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的结果</a:t>
            </a:r>
            <a:r>
              <a:rPr lang="en-US" altLang="zh-CN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)</a:t>
            </a:r>
          </a:p>
          <a:p>
            <a:pPr marL="0" indent="0">
              <a:buNone/>
            </a:pPr>
            <a:r>
              <a:rPr lang="en-US" altLang="zh-CN" sz="27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After school we went to the reading room to do some reading</a:t>
            </a:r>
            <a:r>
              <a:rPr lang="zh-CN" altLang="en-US" sz="27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，</a:t>
            </a:r>
            <a:r>
              <a:rPr lang="en-US" altLang="zh-CN" sz="27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only to be told that it was being decorated.</a:t>
            </a:r>
          </a:p>
          <a:p>
            <a:pPr marL="0" indent="0">
              <a:buNone/>
            </a:pPr>
            <a:endParaRPr lang="en-US" altLang="zh-CN" sz="27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lt"/>
            </a:endParaRPr>
          </a:p>
          <a:p>
            <a:pPr marL="0" indent="0">
              <a:buNone/>
            </a:pP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lt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175" y="246380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</a:t>
            </a:r>
          </a:p>
        </p:txBody>
      </p:sp>
      <p:sp>
        <p:nvSpPr>
          <p:cNvPr id="9" name="矩形 8"/>
          <p:cNvSpPr/>
          <p:nvPr/>
        </p:nvSpPr>
        <p:spPr>
          <a:xfrm>
            <a:off x="2453943" y="3152356"/>
            <a:ext cx="270510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to have studied</a:t>
            </a:r>
            <a:endParaRPr lang="zh-CN" altLang="en-US" sz="3000" kern="1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05144" y="4040228"/>
            <a:ext cx="2402205" cy="55308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3000" b="1" kern="10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defRPr>
            </a:lvl1pPr>
          </a:lstStyle>
          <a:p>
            <a:r>
              <a:rPr lang="en-US" altLang="zh-CN" b="0">
                <a:latin typeface="华文新魏" panose="02010800040101010101" charset="-122"/>
                <a:ea typeface="华文新魏" panose="02010800040101010101" charset="-122"/>
                <a:sym typeface="+mn-lt"/>
              </a:rPr>
              <a:t>to be writing</a:t>
            </a:r>
            <a:r>
              <a:rPr lang="en-US" altLang="zh-CN">
                <a:sym typeface="+mn-lt"/>
              </a:rPr>
              <a:t>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2175" y="891540"/>
            <a:ext cx="11096625" cy="35814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Report one  P2</a:t>
            </a:r>
          </a:p>
          <a:p>
            <a:pPr marL="0" indent="0">
              <a:buNone/>
            </a:pPr>
            <a:endParaRPr lang="en-US" altLang="zh-CN" sz="2800">
              <a:latin typeface="华文新魏" panose="02010800040101010101" charset="-122"/>
              <a:ea typeface="华文新魏" panose="020108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L5  Fear grew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that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 the number of death could reach 5, according to ---</a:t>
            </a:r>
          </a:p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L9  There is concern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that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 the construction company that built ---</a:t>
            </a:r>
          </a:p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L14/P3  --- rush to the conclision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that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 ---</a:t>
            </a:r>
          </a:p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       that 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</a:rPr>
              <a:t>引导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__</a:t>
            </a:r>
            <a:r>
              <a:rPr lang="zh-CN" altLang="en-US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同位语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_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</a:rPr>
              <a:t>_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</a:rPr>
              <a:t>从句，对名词进行解释说明。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92175" y="246380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1024890"/>
            <a:ext cx="11663680" cy="54787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Report one  P2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L7   By this time, the fire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had extended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to ----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    By now 5 poeple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have been confirmed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dead. 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    We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will have accomplished 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the task by the end of this year.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   By the time I got home, he had left.      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 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总结：</a:t>
            </a: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By +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过去时间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, 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主句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:__had done____</a:t>
            </a:r>
            <a:endParaRPr lang="zh-CN" altLang="en-US" sz="3600" b="1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lt"/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By+ 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现在时间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, 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主句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:__have done____</a:t>
            </a: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    By+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将来时间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,  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主句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lt"/>
              </a:rPr>
              <a:t>:__will have done___</a:t>
            </a:r>
          </a:p>
          <a:p>
            <a:pPr marL="0" indent="0">
              <a:buNone/>
            </a:pPr>
            <a:endParaRPr lang="en-US" altLang="zh-CN" sz="3600" b="1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lt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175" y="246380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" y="880745"/>
            <a:ext cx="11806555" cy="5399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Report 2</a:t>
            </a: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L6     I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was about to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have a bath </a:t>
            </a: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when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I heard people screaming and dogs barking.  (when =and then , 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并列连词，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“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就在这时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/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突然</a:t>
            </a:r>
            <a:r>
              <a:rPr lang="en-US" altLang="zh-CN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”</a:t>
            </a:r>
            <a:r>
              <a:rPr lang="zh-CN" altLang="en-US" sz="280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，时态？）</a:t>
            </a:r>
            <a:endParaRPr lang="en-US" altLang="zh-CN" sz="280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sb. be about to do/on the point of doing sth. when---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正要做某事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…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这时（突然）</a:t>
            </a:r>
            <a:endParaRPr lang="en-US" altLang="zh-CN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sb. be doing sth. when---正在做某事，这时（突然）</a:t>
            </a:r>
          </a:p>
          <a:p>
            <a:pPr marL="0" indent="0">
              <a:buNone/>
            </a:pP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sb. had just done sth. when ---</a:t>
            </a:r>
            <a:r>
              <a:rPr lang="zh-CN" altLang="en-US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刚做完某事，</a:t>
            </a:r>
            <a:r>
              <a:rPr lang="en-US" altLang="zh-CN" sz="3600" b="1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这时（突然）</a:t>
            </a:r>
          </a:p>
          <a:p>
            <a:pPr marL="0" indent="0">
              <a:buNone/>
            </a:pPr>
            <a:endParaRPr lang="en-US" altLang="zh-CN" sz="3600" b="1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80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80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88695" y="235585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177925" y="4460240"/>
            <a:ext cx="10547350" cy="1924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sym typeface="+mn-lt"/>
              </a:rPr>
              <a:t>I ______________(drive) down to London when I suddenly found that I was on the wrong road.</a:t>
            </a:r>
          </a:p>
          <a:p>
            <a:pPr marL="0" indent="0"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sym typeface="+mn-lt"/>
              </a:rPr>
              <a:t>He _______________(finish) his homework when his mother asked him to play the piano.</a:t>
            </a:r>
          </a:p>
          <a:p>
            <a:pPr marL="0" indent="0">
              <a:buNone/>
            </a:pPr>
            <a:endParaRPr lang="zh-CN" altLang="en-US" sz="2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51542" y="4365205"/>
            <a:ext cx="206946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was driving</a:t>
            </a:r>
          </a:p>
        </p:txBody>
      </p:sp>
      <p:sp>
        <p:nvSpPr>
          <p:cNvPr id="10" name="矩形 9"/>
          <p:cNvSpPr/>
          <p:nvPr/>
        </p:nvSpPr>
        <p:spPr>
          <a:xfrm>
            <a:off x="1956146" y="5285154"/>
            <a:ext cx="216852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had finished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3950" y="1016000"/>
            <a:ext cx="10547350" cy="53130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Report 2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L9  </a:t>
            </a:r>
            <a:r>
              <a:rPr lang="en-US" altLang="zh-CN" sz="2800" dirty="0" err="1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Mr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peterson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---- confirms 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that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---- and 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that 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the automatic fire </a:t>
            </a:r>
            <a:r>
              <a:rPr lang="en-US" altLang="zh-CN" sz="2800" dirty="0" err="1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alsrms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did not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go off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quickly enough to prevent the disaster.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1) that?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2) </a:t>
            </a:r>
            <a:r>
              <a:rPr lang="en-US" altLang="zh-CN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go off </a:t>
            </a:r>
            <a:r>
              <a:rPr lang="zh-CN" altLang="en-US" sz="36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警报器发出响声，闹钟响铃，灯熄灭</a:t>
            </a:r>
          </a:p>
          <a:p>
            <a:pPr marL="0" indent="0">
              <a:buNone/>
            </a:pPr>
            <a:r>
              <a:rPr lang="zh-CN" altLang="en-US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   I’ve set the alarm clock to go off at 6 am.</a:t>
            </a: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    I was about to do my home work when the light went off.</a:t>
            </a:r>
            <a:endParaRPr lang="zh-CN" altLang="en-US" sz="2800" dirty="0">
              <a:solidFill>
                <a:schemeClr val="tx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      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988695" y="235585"/>
            <a:ext cx="4753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Language points P2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5380" y="372745"/>
            <a:ext cx="9601200" cy="1626235"/>
          </a:xfrm>
        </p:spPr>
        <p:txBody>
          <a:bodyPr/>
          <a:lstStyle/>
          <a:p>
            <a:r>
              <a:rPr lang="en-US" altLang="zh-CN" sz="3600"/>
              <a:t>               </a:t>
            </a:r>
            <a:r>
              <a:rPr lang="en-US" altLang="zh-CN" sz="3600">
                <a:latin typeface="华文新魏" panose="02010800040101010101" charset="-122"/>
                <a:ea typeface="华文新魏" panose="02010800040101010101" charset="-122"/>
              </a:rPr>
              <a:t> Reading news reports critically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5380" y="1261110"/>
            <a:ext cx="10343515" cy="5176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1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华文新魏" panose="02010800040101010101" charset="-122"/>
                <a:ea typeface="华文新魏" panose="02010800040101010101" charset="-122"/>
              </a:rPr>
              <a:t>                                         Structure </a:t>
            </a:r>
          </a:p>
          <a:p>
            <a:pPr marL="0" indent="0">
              <a:buNone/>
            </a:pPr>
            <a:r>
              <a:rPr lang="en-US" altLang="zh-CN" sz="3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Part 1 (para 1)</a:t>
            </a: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News reports usually come with differences.</a:t>
            </a:r>
          </a:p>
          <a:p>
            <a:pPr marL="0" indent="0">
              <a:buNone/>
            </a:pPr>
            <a:r>
              <a:rPr lang="en-US" altLang="zh-CN" sz="3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Part 2 (para2-3)</a:t>
            </a: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Differences between news reports may depend on how and when the news reports are written.</a:t>
            </a:r>
          </a:p>
          <a:p>
            <a:pPr marL="0" indent="0">
              <a:buNone/>
            </a:pPr>
            <a:r>
              <a:rPr lang="en-US" altLang="zh-CN" sz="3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Part 3 (para 4)</a:t>
            </a:r>
          </a:p>
          <a:p>
            <a:pPr marL="0" indent="0">
              <a:buNone/>
            </a:pP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We can become critical news readers in many ways.</a:t>
            </a:r>
          </a:p>
          <a:p>
            <a:pPr marL="0" indent="0">
              <a:buNone/>
            </a:pPr>
            <a:r>
              <a:rPr lang="en-US" altLang="zh-CN" sz="3100">
                <a:latin typeface="华文新魏" panose="02010800040101010101" charset="-122"/>
                <a:ea typeface="华文新魏" panose="02010800040101010101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7430" y="1266190"/>
            <a:ext cx="110331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sz="2800" b="1">
                <a:latin typeface="华文新魏" panose="02010800040101010101" charset="-122"/>
                <a:ea typeface="华文新魏" panose="02010800040101010101" charset="-122"/>
              </a:rPr>
              <a:t>Q:  Why do news reports differ from or even contradict each other? </a:t>
            </a:r>
            <a:endParaRPr lang="zh-CN" altLang="en-US" sz="2800" b="1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35380" y="2157730"/>
            <a:ext cx="10699750" cy="3495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>
                <a:latin typeface="华文新魏" panose="02010800040101010101" charset="-122"/>
                <a:ea typeface="华文新魏" panose="02010800040101010101" charset="-122"/>
              </a:rPr>
              <a:t>•</a:t>
            </a:r>
            <a:r>
              <a:rPr lang="en-US" sz="2800"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Journalists may __________________________________.</a:t>
            </a:r>
            <a:endParaRPr lang="en-US" sz="2800"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lnSpc>
                <a:spcPct val="200000"/>
              </a:lnSpc>
            </a:pPr>
            <a:r>
              <a:rPr lang="en-US" sz="2800">
                <a:latin typeface="华文新魏" panose="02010800040101010101" charset="-122"/>
                <a:ea typeface="华文新魏" panose="02010800040101010101" charset="-122"/>
              </a:rPr>
              <a:t>•</a:t>
            </a:r>
            <a:r>
              <a:rPr lang="en-US" sz="2800"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Journalists may ___________________________________________.</a:t>
            </a:r>
            <a:endParaRPr lang="en-US" sz="2800">
              <a:latin typeface="华文新魏" panose="02010800040101010101" charset="-122"/>
              <a:ea typeface="华文新魏" panose="02010800040101010101" charset="-122"/>
            </a:endParaRPr>
          </a:p>
          <a:p>
            <a:pPr>
              <a:lnSpc>
                <a:spcPct val="200000"/>
              </a:lnSpc>
            </a:pPr>
            <a:r>
              <a:rPr lang="en-US" sz="2800">
                <a:latin typeface="华文新魏" panose="02010800040101010101" charset="-122"/>
                <a:ea typeface="华文新魏" panose="02010800040101010101" charset="-122"/>
              </a:rPr>
              <a:t>•</a:t>
            </a:r>
            <a:r>
              <a:rPr lang="en-US" sz="2800"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Journalists may __________________________________</a:t>
            </a:r>
          </a:p>
          <a:p>
            <a:pPr>
              <a:lnSpc>
                <a:spcPct val="190000"/>
              </a:lnSpc>
            </a:pPr>
            <a:r>
              <a:rPr lang="en-US" sz="2800"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                            __________________________________.</a:t>
            </a:r>
            <a:endParaRPr lang="zh-CN" altLang="en-US" sz="280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5380" y="372745"/>
            <a:ext cx="9601200" cy="893445"/>
          </a:xfrm>
        </p:spPr>
        <p:txBody>
          <a:bodyPr/>
          <a:lstStyle/>
          <a:p>
            <a:r>
              <a:rPr lang="en-US" altLang="zh-CN" sz="3600"/>
              <a:t>                </a:t>
            </a:r>
            <a:r>
              <a:rPr lang="en-US" altLang="zh-CN" sz="3600">
                <a:latin typeface="华文新魏" panose="02010800040101010101" charset="-122"/>
                <a:ea typeface="华文新魏" panose="02010800040101010101" charset="-122"/>
              </a:rPr>
              <a:t>Reading news reports critically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775075" y="2478405"/>
            <a:ext cx="4942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have different priorities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0640" y="3334385"/>
            <a:ext cx="768286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write news reports at different stages of an event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50640" y="4027805"/>
            <a:ext cx="7886700" cy="1296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</a:rPr>
              <a:t>approch information they get from research or interviews differently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60805" y="1456055"/>
            <a:ext cx="10301605" cy="5133340"/>
          </a:xfrm>
        </p:spPr>
        <p:txBody>
          <a:bodyPr>
            <a:normAutofit/>
          </a:bodyPr>
          <a:lstStyle/>
          <a:p>
            <a:pPr marL="0" indent="0" fontAlgn="auto">
              <a:lnSpc>
                <a:spcPts val="4000"/>
              </a:lnSpc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Q</a:t>
            </a:r>
            <a:r>
              <a:rPr lang="zh-CN" altLang="en-US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：</a:t>
            </a: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What do you think makes a critical news reader?</a:t>
            </a:r>
          </a:p>
          <a:p>
            <a:pPr marL="0" indent="0" fontAlgn="auto">
              <a:lnSpc>
                <a:spcPts val="4000"/>
              </a:lnSpc>
              <a:buNone/>
            </a:pPr>
            <a:r>
              <a:rPr lang="en-US" altLang="zh-CN" sz="280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     </a:t>
            </a:r>
            <a:r>
              <a:rPr lang="en-US" altLang="zh-CN" sz="28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A news report can be genine or fake. First</a:t>
            </a:r>
            <a:r>
              <a:rPr lang="zh-CN" altLang="en-US" sz="28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，</a:t>
            </a:r>
            <a:r>
              <a:rPr lang="en-US" altLang="zh-CN" sz="28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Check the source of the news and decide whether it contains reliable information. What’s more, a critical news reader is aware that news reports may have different focuses, so he or she should read various reports on the same event. More importantly, a critical reader will form his or her own judgement instead of blindly trusting what is reported in the news. </a:t>
            </a: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135380" y="372745"/>
            <a:ext cx="9601200" cy="893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/>
              <a:t>                </a:t>
            </a:r>
            <a:r>
              <a:rPr lang="en-US" altLang="zh-CN" sz="3600">
                <a:latin typeface="华文新魏" panose="02010800040101010101" charset="-122"/>
                <a:ea typeface="华文新魏" panose="02010800040101010101" charset="-122"/>
              </a:rPr>
              <a:t>Reading news reports critically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195" y="1012607"/>
            <a:ext cx="11537116" cy="56644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1. The e____________ of the subway will take several months.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2. They c_______________ a shelter out of fallen branches last night.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3. The police have completed their </a:t>
            </a:r>
            <a:r>
              <a:rPr lang="en-US" altLang="zh-CN" sz="2800" dirty="0" err="1">
                <a:latin typeface="华文新魏" panose="02010800040101010101" charset="-122"/>
                <a:ea typeface="华文新魏" panose="02010800040101010101" charset="-122"/>
              </a:rPr>
              <a:t>i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_______________ into the accident.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4. We are faced with two apparently c______________ statements.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5. The essay contains a number of f_____________ errors.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6. They questioned the a______________ of the information in the file.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7. Borrowers should think carefully before c___________ themselves to taking on a loan.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8. He showed great d_______________ in his choice friends.</a:t>
            </a:r>
          </a:p>
          <a:p>
            <a:pPr marL="0" indent="0"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9. I ‘ve come to the </a:t>
            </a:r>
            <a:r>
              <a:rPr lang="en-US" altLang="zh-CN" sz="2800" dirty="0" err="1">
                <a:latin typeface="华文新魏" panose="02010800040101010101" charset="-122"/>
                <a:ea typeface="华文新魏" panose="02010800040101010101" charset="-122"/>
              </a:rPr>
              <a:t>c____________that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</a:rPr>
              <a:t> he is not the right person for the job. </a:t>
            </a:r>
          </a:p>
          <a:p>
            <a:pPr marL="0" indent="0">
              <a:buNone/>
            </a:pPr>
            <a:endParaRPr lang="en-US" altLang="zh-CN" sz="2800" dirty="0"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2693" y="157580"/>
            <a:ext cx="34912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Instant Feedback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51660" y="895350"/>
            <a:ext cx="1693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extension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71370" y="1510030"/>
            <a:ext cx="24479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constructed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98260" y="1956435"/>
            <a:ext cx="2674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investigation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18007" y="2401936"/>
            <a:ext cx="2771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contradictory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410032" y="2930914"/>
            <a:ext cx="1693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factual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51057" y="3287859"/>
            <a:ext cx="1693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accuracy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40932" y="3832994"/>
            <a:ext cx="2481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committing 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72609" y="4811227"/>
            <a:ext cx="30841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discrimination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376101" y="5323423"/>
            <a:ext cx="2243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</a:rPr>
              <a:t>conclusion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923" y="802544"/>
            <a:ext cx="11215958" cy="585162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1. The strong wind blew away good soil</a:t>
            </a:r>
            <a:r>
              <a:rPr lang="zh-CN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，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________(leave) only sand.</a:t>
            </a:r>
            <a:endParaRPr lang="zh-CN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2. _____________________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trap) in traffic, he was late for work.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3. His voice was __________(choke) with rage.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4. 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The new airport is still ___________________.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（在建设中）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5. The letter wasn't addressed to me but I opened it _______ curiosity.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7. 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The saleswoman packed the pencils for me </a:t>
            </a:r>
            <a:r>
              <a:rPr lang="en-US" altLang="zh-CN" sz="2800" u="sng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 </a:t>
            </a:r>
            <a:r>
              <a:rPr lang="zh-CN" altLang="en-US" sz="2800" u="sng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　　 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the dozen.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8. A boy who has good manners stands up in an ____________(</a:t>
            </a:r>
            <a:r>
              <a:rPr lang="zh-CN" altLang="en-US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不假思索地）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movement when a lady enters the room.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  <a:sym typeface="+mn-ea"/>
              </a:rPr>
              <a:t>9. 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You must learn to d_______________________ facts from opinions. </a:t>
            </a:r>
            <a:r>
              <a:rPr lang="en-US" altLang="zh-CN" sz="2800" dirty="0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 </a:t>
            </a:r>
            <a:endParaRPr lang="zh-CN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2693" y="157580"/>
            <a:ext cx="349123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rgbClr val="0070C0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Instant Feedback</a:t>
            </a:r>
          </a:p>
        </p:txBody>
      </p:sp>
      <p:sp>
        <p:nvSpPr>
          <p:cNvPr id="7" name="矩形 6"/>
          <p:cNvSpPr/>
          <p:nvPr/>
        </p:nvSpPr>
        <p:spPr>
          <a:xfrm>
            <a:off x="7512848" y="802544"/>
            <a:ext cx="136461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leaving</a:t>
            </a:r>
          </a:p>
        </p:txBody>
      </p:sp>
      <p:sp>
        <p:nvSpPr>
          <p:cNvPr id="9" name="矩形 8"/>
          <p:cNvSpPr/>
          <p:nvPr/>
        </p:nvSpPr>
        <p:spPr>
          <a:xfrm>
            <a:off x="1520414" y="1355880"/>
            <a:ext cx="376618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Having been trapped</a:t>
            </a:r>
            <a:r>
              <a:rPr lang="en-US" altLang="zh-CN" sz="3000" b="1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 </a:t>
            </a:r>
            <a:endParaRPr lang="zh-CN" altLang="en-US" sz="3000" b="1" kern="100">
              <a:solidFill>
                <a:srgbClr val="FF0000"/>
              </a:solidFill>
              <a:latin typeface="华文新魏" panose="02010800040101010101" charset="-122"/>
              <a:ea typeface="华文新魏" panose="02010800040101010101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738680" y="2050783"/>
            <a:ext cx="1475105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choking</a:t>
            </a:r>
          </a:p>
        </p:txBody>
      </p:sp>
      <p:sp>
        <p:nvSpPr>
          <p:cNvPr id="15" name="矩形 14"/>
          <p:cNvSpPr/>
          <p:nvPr/>
        </p:nvSpPr>
        <p:spPr>
          <a:xfrm>
            <a:off x="9164955" y="3293110"/>
            <a:ext cx="162179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out of</a:t>
            </a:r>
            <a:r>
              <a:rPr lang="en-US" altLang="zh-CN" sz="3000" kern="10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5190925" y="2604503"/>
            <a:ext cx="327660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under construction</a:t>
            </a:r>
          </a:p>
        </p:txBody>
      </p:sp>
      <p:sp>
        <p:nvSpPr>
          <p:cNvPr id="4" name="矩形 3"/>
          <p:cNvSpPr/>
          <p:nvPr/>
        </p:nvSpPr>
        <p:spPr>
          <a:xfrm>
            <a:off x="8203565" y="3926840"/>
            <a:ext cx="162179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by</a:t>
            </a:r>
          </a:p>
        </p:txBody>
      </p:sp>
      <p:sp>
        <p:nvSpPr>
          <p:cNvPr id="5" name="矩形 4"/>
          <p:cNvSpPr/>
          <p:nvPr/>
        </p:nvSpPr>
        <p:spPr>
          <a:xfrm>
            <a:off x="8577580" y="4560570"/>
            <a:ext cx="194564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automatic</a:t>
            </a:r>
          </a:p>
        </p:txBody>
      </p:sp>
      <p:sp>
        <p:nvSpPr>
          <p:cNvPr id="8" name="矩形 7"/>
          <p:cNvSpPr/>
          <p:nvPr/>
        </p:nvSpPr>
        <p:spPr>
          <a:xfrm>
            <a:off x="4401185" y="5625465"/>
            <a:ext cx="417639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kern="100">
                <a:solidFill>
                  <a:srgbClr val="FF0000"/>
                </a:solidFill>
                <a:latin typeface="华文新魏" panose="02010800040101010101" charset="-122"/>
                <a:ea typeface="华文新魏" panose="02010800040101010101" charset="-122"/>
                <a:cs typeface="Courier New" panose="02070309020205020404" pitchFamily="49" charset="0"/>
              </a:rPr>
              <a:t>discriminate/distinguish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5" grpId="0"/>
      <p:bldP spid="2" grpId="0"/>
      <p:bldP spid="4" grpId="0"/>
      <p:bldP spid="5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X2 </a:t>
            </a:r>
            <a:r>
              <a:rPr kumimoji="1" lang="en-US" altLang="zh-CN" dirty="0"/>
              <a:t>U1 P6-8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600" b="1" dirty="0">
                <a:solidFill>
                  <a:srgbClr val="FF0000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itizen n.</a:t>
            </a:r>
            <a:r>
              <a:rPr lang="zh-CN" altLang="en-US" sz="3600" b="1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公民</a:t>
            </a:r>
            <a:r>
              <a:rPr lang="en-US" altLang="zh-CN" sz="3600" b="1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3600" b="1" dirty="0"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居民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老年人</a:t>
            </a:r>
            <a:endParaRPr lang="en-US" altLang="zh-CN" sz="36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found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v.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创建；建立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founded,founded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/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founded on/upon sth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建立在...基础上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=be based on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 have founded my novel on my personal experience.</a:t>
            </a:r>
          </a:p>
          <a:p>
            <a:pPr fontAlgn="auto"/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foundation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n.基础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solid foundation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坚实的基础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fontAlgn="auto"/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lay the foundation(s) for</a:t>
            </a:r>
            <a:r>
              <a:rPr lang="zh-CN" alt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为某事打下基础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(laid*2)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Careful planning </a:t>
            </a:r>
            <a:r>
              <a:rPr lang="en-US" altLang="zh-CN" sz="32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laid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foundations for the nation’s economic miracle.</a:t>
            </a:r>
            <a:endParaRPr lang="en-US" altLang="zh-CN" sz="32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be/h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ave a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foundation for doing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是做某事的根据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without foundation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=have no foundation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be groundless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无事实根据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founder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n.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发起人，建立人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founding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fathers of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PRC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奠基人</a:t>
            </a:r>
            <a:endParaRPr lang="en-US" altLang="zh-CN" sz="36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politics 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政治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观点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political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adj.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政治的，政府的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politician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政客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   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policy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n.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政策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accuse 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v. 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控诉，谴责</a:t>
            </a:r>
            <a:endParaRPr lang="zh-CN" altLang="en-US" sz="3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accuse sb </a:t>
            </a:r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sth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=charge sb. 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因某事控诉某人</a:t>
            </a:r>
          </a:p>
          <a:p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you accusing me of lying?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accused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被告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number of serious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accusation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 have been made against her.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His administration now faces accusations of corruption.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accusation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【C】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指控  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denied the accusation that ...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tax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税款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征税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taxpayer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纳税人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 tax (on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 (to sb.)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为某物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向某人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缴税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</a:t>
            </a:r>
            <a:r>
              <a:rPr lang="en-US" altLang="zh-CN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10%/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higher rate                  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sb.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登上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发起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举行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上升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增加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山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Aft>
                <a:spcPct val="0"/>
              </a:spcAft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children’s excitement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mounting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 Christmas draws nearer.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日益增加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Aft>
                <a:spcPct val="0"/>
              </a:spcAft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</a:t>
            </a:r>
            <a:r>
              <a:rPr lang="en-US" altLang="zh-CN" sz="36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mounted her horse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rode off. 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她</a:t>
            </a:r>
            <a:r>
              <a:rPr lang="en-US" altLang="zh-CN" sz="3600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骑上马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走了。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Aft>
                <a:spcPct val="0"/>
              </a:spcAft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mounted the platform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began to speak to the assembled </a:t>
            </a:r>
            <a:r>
              <a:rPr lang="en-US" altLang="zh-CN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crowd.</a:t>
            </a:r>
            <a:r>
              <a:rPr lang="en-US" altLang="zh-CN" sz="3600" u="sng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登上讲台</a:t>
            </a:r>
            <a:r>
              <a:rPr lang="en-US" altLang="zh-CN" sz="3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,开始对集会的群众发表演讲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。</a:t>
            </a:r>
            <a:endParaRPr lang="en-US" altLang="zh-CN" sz="3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  <a:spcAft>
                <a:spcPct val="0"/>
              </a:spcAft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an attack/campaign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发动进攻／开展运动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$6 a ticket, the cost quickly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up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每张票6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美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元，费用一下子就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增多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了。</a:t>
            </a:r>
          </a:p>
          <a:p>
            <a:pPr algn="l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elevation n.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海拔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抬起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提高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升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road climbs steadily to an elevation of 1,200 feet.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 sudden elevation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international stardom</a:t>
            </a:r>
          </a:p>
          <a:p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elevate sb. to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status of a star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elevate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v.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抬起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提高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升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take the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elevator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电梯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escalator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自动扶梯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zh-CN" sz="36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 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职业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=occupation;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宣称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=declaration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professional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adj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职业的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专业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职业选手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业内人士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seek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help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health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professional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医护专业人员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amateur   adj.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业余的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爱好者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sym typeface="+mn-ea"/>
              </a:rPr>
              <a:t>9</a:t>
            </a:r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drama</a:t>
            </a:r>
            <a:r>
              <a:rPr lang="en-US" altLang="zh-CN" sz="3600" b="1" dirty="0">
                <a:latin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latin typeface="Times New Roman" panose="02020603050405020304" pitchFamily="18" charset="0"/>
                <a:sym typeface="+mn-ea"/>
              </a:rPr>
              <a:t>戏剧</a:t>
            </a:r>
            <a:r>
              <a:rPr lang="en-US" altLang="zh-CN" sz="3600" b="1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戏剧性事件</a:t>
            </a:r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激情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He watched </a:t>
            </a:r>
            <a:r>
              <a:rPr lang="en-US" altLang="zh-CN" sz="3600" u="sng" dirty="0">
                <a:latin typeface="Times New Roman" panose="02020603050405020304" pitchFamily="18" charset="0"/>
                <a:sym typeface="+mn-ea"/>
              </a:rPr>
              <a:t>the drama unfold</a:t>
            </a:r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 from a nearby ship.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他目睹了这一悲剧的发生。</a:t>
            </a:r>
            <a:endParaRPr lang="en-US" altLang="zh-CN" sz="3600" dirty="0"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Her life was full of drama.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充满刺激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dramatic adj.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戏剧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激动人心的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dramatically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adv.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剧烈地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戏剧性地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dramatic change/effect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戏剧性的变化</a:t>
            </a:r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效果</a:t>
            </a:r>
            <a:endParaRPr lang="en-US" altLang="zh-CN" sz="3600" dirty="0"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a dramatic improvement in her condition</a:t>
            </a:r>
            <a:r>
              <a:rPr lang="zh-CN" altLang="en-US" sz="3600" dirty="0">
                <a:latin typeface="Times New Roman" panose="02020603050405020304" pitchFamily="18" charset="0"/>
                <a:sym typeface="+mn-ea"/>
              </a:rPr>
              <a:t>惊人的好转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Output has increased dramatically.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scholarship n.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学问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学术成就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奖学金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win a scholarship to…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赢得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的奖学金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 won a full scholarship to Cambridge University.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=She went up to Cambridge on a scholarship.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scholar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学者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奖学金获得者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category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种类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fall into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 main categories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分三大类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exhibition of 360 paintings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divided into three categories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nevertheless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adv.</a:t>
            </a:r>
            <a:r>
              <a:rPr lang="zh-CN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尽管如此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you said was true. It was, nevertheless, a little unkind.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thanks nevertheless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尽管如此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还是多谢了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witness 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目击者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(witness</a:t>
            </a:r>
            <a:r>
              <a:rPr lang="en-US" altLang="zh-CN" sz="36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证人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证明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目睹见证表明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be (a) witness to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的目击者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证明某事物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police were looking for the 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witness</a:t>
            </a:r>
            <a:r>
              <a:rPr lang="en-US" altLang="zh-CN" sz="36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accident.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passers-by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claimed _to have witnessed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the attack.    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Recent years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have witnessed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collapse of the steel industry.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（无灵主语）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近年来人们的社会流动性越来越大。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Hangzhou has witnessed the 19th Asian Games.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His name slips my mind.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他的名字闪过我的脑海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good idea suddenly strikes me.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我突然想到一个好主意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edition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版本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一份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册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bring out/ issue an edition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发行一版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the revised edition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修订版</a:t>
            </a: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edit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编辑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editor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编辑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textbook was first published  in 1858 and is now in its 39th edition.</a:t>
            </a:r>
          </a:p>
          <a:p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 a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platform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sb.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为某人提供一个平台 </a:t>
            </a:r>
            <a:endParaRPr lang="zh-CN" altLang="en-US" sz="36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16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spring up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sprang, sprung)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跃起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涌现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Fast-food restaurants are springing up all over town.</a:t>
            </a:r>
          </a:p>
          <a:p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ears sprang to her eyes.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眼泪夺眶而出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spring to one’s feet/ lips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立刻站起来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脱口而出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spring to mind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突然在脑海中闪现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spring into life/action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突然活跃起来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zh-CN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spring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春天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跳跃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弹簧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泉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17.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交流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相互作用  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 with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相互作用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interactive adj.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交互的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相互作用的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complex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interaction between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mind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body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interactive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teaching methods  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18.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membership n.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会员资格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人数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会费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 forgot to renew my membership in the sailing club.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延长会员资格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club has a membership of 200.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158115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19.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chart  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n. v.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图表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绘制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的地图</a:t>
            </a:r>
            <a:endParaRPr lang="en-US" altLang="zh-CN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chart showing last year’s sales 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Lady Gaga again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topped the charts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每周排行榜首位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 new single went straight to number one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the pop charts.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chart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temperature changes/ the coast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broadcast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36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n.v.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广播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播放</a:t>
            </a:r>
            <a:r>
              <a:rPr lang="en-US" altLang="zh-CN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散布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(broadcast*2)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broadcast sth.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to...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向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广播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broadcast sth.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by/on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CCTV-5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通过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广播</a:t>
            </a:r>
            <a:endParaRPr lang="en-US" altLang="zh-CN" sz="3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CCTV’s/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 live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broadcast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of the interview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现场直播</a:t>
            </a:r>
            <a:endParaRPr lang="en-US" altLang="zh-CN" sz="3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 interview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was broadcast live 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across the world.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1790" y="428625"/>
            <a:ext cx="11049000" cy="600164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X2U1</a:t>
            </a:r>
          </a:p>
          <a:p>
            <a:pPr algn="ctr"/>
            <a:r>
              <a:rPr lang="en-US" altLang="zh-CN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Extended reading</a:t>
            </a:r>
          </a:p>
          <a:p>
            <a:pPr algn="ctr"/>
            <a:r>
              <a:rPr lang="en-US" altLang="zh-CN" sz="9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&amp; </a:t>
            </a:r>
            <a:r>
              <a:rPr lang="en-US" altLang="zh-CN" sz="9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Project   </a:t>
            </a:r>
          </a:p>
          <a:p>
            <a:pPr algn="ctr"/>
            <a:r>
              <a:rPr lang="en-US" altLang="zh-CN" sz="9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p</a:t>
            </a:r>
            <a:r>
              <a:rPr lang="en-US" altLang="zh-CN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.11-13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3315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advertising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【U】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广告业；广告活动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</a:t>
            </a:r>
            <a:endParaRPr lang="en-US" altLang="zh-C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advertisement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【C】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(=ad)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广告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an advertisement </a:t>
            </a:r>
            <a:r>
              <a:rPr lang="en-US" altLang="zh-CN" sz="3600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Morning News”/ </a:t>
            </a:r>
            <a:r>
              <a:rPr lang="en-US" altLang="zh-CN" sz="3600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TV</a:t>
            </a: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advertise 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做广告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征聘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宣传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advertise </a:t>
            </a:r>
            <a:r>
              <a:rPr lang="en-US" altLang="zh-CN" sz="3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secretary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征聘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 advertising the concert </a:t>
            </a:r>
            <a:endParaRPr lang="zh-CN" alt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sym typeface="+mn-ea"/>
              </a:rPr>
              <a:t>2</a:t>
            </a:r>
            <a:r>
              <a:rPr lang="en-US" sz="3600" b="1" dirty="0">
                <a:latin typeface="Times New Roman" panose="02020603050405020304" pitchFamily="18" charset="0"/>
                <a:sym typeface="+mn-ea"/>
              </a:rPr>
              <a:t>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p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ersuasion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说服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persuade v.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 persuasive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adj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charset="-122"/>
              </a:rPr>
              <a:t>.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charset="-122"/>
              </a:rPr>
              <a:t>有说服力的</a:t>
            </a:r>
            <a:endParaRPr lang="en-US" sz="3200" b="1" dirty="0">
              <a:latin typeface="Times New Roman" panose="02020603050405020304" pitchFamily="18" charset="0"/>
              <a:sym typeface="+mn-ea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persuade sb. to do=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persuade sb. into doing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说服某人做某事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persuade sb. not to do=persuade sb. out of doing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说服某人不要做某事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persuade/convince sb.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of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sth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说服某人相信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persuade sb. that sb. (should) do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sth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</a:t>
            </a:r>
            <a:r>
              <a:rPr lang="en-US" sz="3600" b="1" dirty="0">
                <a:latin typeface="Times New Roman" panose="02020603050405020304" pitchFamily="18" charset="0"/>
                <a:ea typeface="楷体" panose="02010609060101010101" charset="-122"/>
              </a:rPr>
              <a:t>      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</a:rPr>
              <a:t>         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  </a:t>
            </a:r>
            <a:endParaRPr lang="en-US" sz="3600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altLang="zh-CN" sz="3600" b="1" dirty="0">
                <a:solidFill>
                  <a:srgbClr val="FF0000"/>
                </a:solidFill>
              </a:rPr>
              <a:t>persuasive/convincing arguments/evidence</a:t>
            </a:r>
            <a:r>
              <a:rPr lang="zh-CN" altLang="zh-CN" sz="2800" b="1" dirty="0">
                <a:solidFill>
                  <a:srgbClr val="FF0000"/>
                </a:solidFill>
              </a:rPr>
              <a:t>令人信服的论点</a:t>
            </a:r>
            <a:r>
              <a:rPr lang="en-US" altLang="zh-CN" sz="2800" b="1" dirty="0">
                <a:solidFill>
                  <a:srgbClr val="FF0000"/>
                </a:solidFill>
              </a:rPr>
              <a:t>/</a:t>
            </a:r>
            <a:r>
              <a:rPr lang="zh-CN" altLang="zh-CN" sz="2800" b="1" dirty="0">
                <a:solidFill>
                  <a:srgbClr val="FF0000"/>
                </a:solidFill>
              </a:rPr>
              <a:t>证据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sz="3600" b="1" dirty="0">
                <a:latin typeface="Times New Roman" panose="02020603050405020304" pitchFamily="18" charset="0"/>
                <a:ea typeface="楷体" panose="02010609060101010101" charset="-122"/>
              </a:rPr>
              <a:t>a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persuasive</a:t>
            </a:r>
            <a:r>
              <a:rPr lang="en-US" sz="3600" b="1" dirty="0">
                <a:latin typeface="Times New Roman" panose="02020603050405020304" pitchFamily="18" charset="0"/>
                <a:ea typeface="楷体" panose="02010609060101010101" charset="-122"/>
              </a:rPr>
              <a:t> speaker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</a:rPr>
              <a:t>有说服力的演讲者</a:t>
            </a:r>
            <a:endParaRPr lang="en-US" altLang="zh-CN" sz="3600" b="1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altLang="zh-CN" sz="3200" b="1" dirty="0"/>
              <a:t>While shopping, people sometimes </a:t>
            </a:r>
            <a:r>
              <a:rPr lang="en-US" altLang="zh-CN" sz="3200" b="1" u="sng" dirty="0">
                <a:solidFill>
                  <a:srgbClr val="FF0000"/>
                </a:solidFill>
              </a:rPr>
              <a:t>can’t help _being persuaded  </a:t>
            </a:r>
            <a:r>
              <a:rPr lang="en-US" altLang="zh-CN" sz="3200" b="1" dirty="0"/>
              <a:t>into buying something they don’t really need.</a:t>
            </a:r>
            <a:endParaRPr lang="zh-CN" altLang="zh-CN" sz="3200" b="1" dirty="0"/>
          </a:p>
          <a:p>
            <a:r>
              <a:rPr lang="zh-CN" altLang="zh-CN" sz="3600" b="1" dirty="0">
                <a:solidFill>
                  <a:srgbClr val="FF0000"/>
                </a:solidFill>
              </a:rPr>
              <a:t>说而不服</a:t>
            </a:r>
            <a:r>
              <a:rPr lang="en-US" altLang="zh-CN" sz="3600" b="1" dirty="0">
                <a:solidFill>
                  <a:srgbClr val="FF0000"/>
                </a:solidFill>
              </a:rPr>
              <a:t> try to persuade sb. …/ advise sb. to do … 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b="1" dirty="0"/>
              <a:t>I tried to persuade him to give up smoking.</a:t>
            </a:r>
            <a:endParaRPr lang="zh-CN" altLang="zh-CN" sz="3200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sym typeface="+mn-ea"/>
              </a:rPr>
              <a:t>3. 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channel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 n.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电视台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途径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渠道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方式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手段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水道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v.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输送</a:t>
            </a:r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;</a:t>
            </a:r>
            <a:r>
              <a:rPr lang="zh-CN" altLang="en-US" sz="3200" dirty="0">
                <a:latin typeface="Times New Roman" panose="02020603050405020304" pitchFamily="18" charset="0"/>
                <a:sym typeface="+mn-ea"/>
              </a:rPr>
              <a:t>提供帮助</a:t>
            </a:r>
            <a:endParaRPr lang="en-US" altLang="zh-CN" sz="3200" dirty="0"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change/switch channels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换台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through proper channels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通过正当的途径</a:t>
            </a:r>
            <a:endParaRPr lang="en-US" altLang="zh-CN" sz="3200" dirty="0"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a useful channel of communication between A and B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沟通的有益渠道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a channel for releasing one’s emotions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宣泄情感的好方法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peak    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 adj. v.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山顶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峰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最高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佳的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达到最高峰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 one’s peak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在...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的全盛期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She’s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the peak of </a:t>
            </a:r>
            <a:r>
              <a:rPr lang="en-US" altLang="zh-CN" sz="36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her career.</a:t>
            </a:r>
            <a:endParaRPr lang="en-US" altLang="zh-C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Subway is always crowded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peak times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高峰期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snow-capped mountain peaks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山顶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reach the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summit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Mount Everest 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顶峰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Sales </a:t>
            </a:r>
            <a:r>
              <a:rPr lang="en-US" altLang="zh-CN" sz="3600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peaked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August, and then fell sharply.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达到最高值</a:t>
            </a:r>
            <a:endParaRPr lang="en-US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13315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5.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boost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 sz="3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促进</a:t>
            </a:r>
            <a:r>
              <a:rPr lang="en-US" altLang="zh-CN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增加</a:t>
            </a:r>
            <a:endParaRPr lang="en-US" sz="36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Winning the prize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boosted one’s confidence/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spirits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增强某人的自信心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士气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 new resort area has boosted tourism.</a:t>
            </a:r>
          </a:p>
          <a:p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 boost in sales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销售额增加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6.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sychology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心理学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       p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sychologist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心理学家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psychological</a:t>
            </a:r>
            <a:r>
              <a:rPr 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adj.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心理学的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psychologically adv.</a:t>
            </a:r>
          </a:p>
          <a:p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sym typeface="+mn-ea"/>
              </a:rPr>
              <a:t>7.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purchase  </a:t>
            </a:r>
            <a:r>
              <a:rPr lang="en-US" altLang="zh-CN" sz="3600" b="1" i="1" dirty="0" err="1">
                <a:latin typeface="Times New Roman" panose="02020603050405020304" pitchFamily="18" charset="0"/>
                <a:sym typeface="+mn-ea"/>
              </a:rPr>
              <a:t>vt.</a:t>
            </a:r>
            <a:r>
              <a:rPr lang="en-US" altLang="zh-CN" sz="3600" b="1" i="1" dirty="0">
                <a:latin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i="1" dirty="0">
                <a:latin typeface="Times New Roman" panose="02020603050405020304" pitchFamily="18" charset="0"/>
                <a:sym typeface="+mn-ea"/>
              </a:rPr>
              <a:t>购买</a:t>
            </a:r>
            <a:endParaRPr lang="en-US" altLang="zh-CN" sz="3600" b="1" i="1" dirty="0"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Tickets can be purchased in advance from the box office.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She </a:t>
            </a:r>
            <a:r>
              <a:rPr lang="en-US" altLang="zh-CN" sz="3600" u="sng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made two purchases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from my stall(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摊位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).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make a purchase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采购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purchaser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n. 购物者  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urchasing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power  购买力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endParaRPr lang="en-US" sz="3600" b="1" dirty="0"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8.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memorable  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adj.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难忘的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值得纪念的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=unforgettable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We want to make this a truly memorable day for the children.</a:t>
            </a: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memorize/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memorise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v.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记住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in memory of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纪念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memorial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纪念碑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物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90805" y="13648"/>
            <a:ext cx="12192635" cy="5679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9. get ... across (to sb.)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到对面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传达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把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讲清楚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I spoke slowly, but my meaning didn’t </a:t>
            </a:r>
            <a:r>
              <a:rPr lang="en-US" sz="3600" b="1" u="sng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get across.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被理解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It’s important that we </a:t>
            </a:r>
            <a:r>
              <a:rPr 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get this message across to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the voters.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把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......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讲清楚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get over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克服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恢复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get about/around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流传传播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get through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通过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到达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接通电话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熬过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get away with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携带…溜走；逃脱…的惩罚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get down to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下降到；着手处理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+doing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.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 get together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</a:rPr>
              <a:t>聚会；收集；组织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get on/along with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相处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进展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矩形 3"/>
          <p:cNvSpPr/>
          <p:nvPr/>
        </p:nvSpPr>
        <p:spPr>
          <a:xfrm>
            <a:off x="150813" y="-317"/>
            <a:ext cx="12041187" cy="601748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用适当的介词或副词填空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is not a serious illness, and she will soon get _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over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 it.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News soon got __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around/about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 that he had resigned.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He was followed by a group of reporters trying to get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_down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 every word he said.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4)I tried calling you several times but I couldn’t get _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through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5) Do you get _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along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 well with your new classmates?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6) I have tried to get my point _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across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_.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635" y="0"/>
            <a:ext cx="1219263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10.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brand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n.v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品牌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烙印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protect one’s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brand image</a:t>
            </a:r>
            <a:r>
              <a:rPr lang="zh-CN" alt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品牌形象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a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brand-new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car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崭新的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endParaRPr lang="en-US" sz="3600" b="1" dirty="0">
              <a:latin typeface="Times New Roman" panose="02020603050405020304" pitchFamily="18" charset="0"/>
              <a:sym typeface="+mn-ea"/>
            </a:endParaRPr>
          </a:p>
          <a:p>
            <a:r>
              <a:rPr lang="en-US" sz="3600" b="1" dirty="0">
                <a:latin typeface="Times New Roman" panose="02020603050405020304" pitchFamily="18" charset="0"/>
                <a:sym typeface="+mn-ea"/>
              </a:rPr>
              <a:t>11.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He has been appointed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British </a:t>
            </a:r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ambassador</a:t>
            </a:r>
            <a:r>
              <a:rPr lang="en-US" sz="3600" b="1" u="sng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to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the UN.</a:t>
            </a:r>
          </a:p>
          <a:p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                                                      大使</a:t>
            </a:r>
            <a:endParaRPr lang="en-US" sz="3600" b="1" dirty="0"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12. the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placement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of children in foster homes</a:t>
            </a:r>
          </a:p>
          <a:p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将儿童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安置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到寄养家庭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13.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r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ating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等级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评分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rating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收视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听率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TV shows </a:t>
            </a:r>
            <a:r>
              <a:rPr lang="en-US" sz="3600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with high ratings </a:t>
            </a:r>
            <a:r>
              <a:rPr lang="zh-CN" altLang="en-US" sz="3600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高收视率</a:t>
            </a:r>
            <a:endParaRPr lang="en-US" sz="3600" u="sng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 unemployment rate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失业率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Children learn 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at</a:t>
            </a:r>
            <a:r>
              <a:rPr lang="en-US" sz="3600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different rates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rate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n.  速度，速率</a:t>
            </a:r>
          </a:p>
          <a:p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At this/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that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rate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we won’t ever be able to afford a holiday.</a:t>
            </a:r>
          </a:p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照此/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那种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情形;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以这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那一速度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They’ve had technical problems--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at any rate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that’s what they told me.                             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无论如何anyway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不管怎么说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The show 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was rated as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 success by </a:t>
            </a:r>
            <a:r>
              <a:rPr lang="en-US" sz="3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critics.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评价某人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en-US" sz="36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某物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sponsor   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vt.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资助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n.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赞助者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These sports events </a:t>
            </a:r>
            <a:r>
              <a:rPr lang="en-US" altLang="zh-CN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are sponsored by 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 same company.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被赞助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government-sponsored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projects           a major sponsor of the Olympics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15.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absorb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sz="3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吸收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; </a:t>
            </a:r>
            <a:r>
              <a:rPr lang="en-US" sz="3600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理解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bsorption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n.</a:t>
            </a:r>
            <a:r>
              <a:rPr lang="en-US" altLang="zh-CN" sz="3600" b="1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吸收</a:t>
            </a:r>
            <a:endParaRPr lang="en-US" sz="36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absorb/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take in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light/heat/oxygen/knowledge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吸收理解掌握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be absorbed in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doing全神贯注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=absorb oneself in 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This work has absorbed him for several years.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________ in their game, they didn’t feel hungry at all.</a:t>
            </a:r>
          </a:p>
          <a:p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So absorbed were they in</a:t>
            </a:r>
            <a:r>
              <a:rPr lang="en-US" altLang="zh-CN" sz="3600" b="1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their games 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that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they didn’t feel hungry at all.</a:t>
            </a:r>
          </a:p>
          <a:p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全神贯注于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,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专心于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: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be lost/buried in, be devoted to doing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., 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focus/concentrate on, put one’s heart into, apply oneself to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703" y="2109400"/>
            <a:ext cx="215773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Absorbed</a:t>
            </a:r>
            <a:endParaRPr lang="en-US" altLang="zh-CN" sz="40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1"/>
          <p:cNvSpPr/>
          <p:nvPr/>
        </p:nvSpPr>
        <p:spPr>
          <a:xfrm>
            <a:off x="0" y="0"/>
            <a:ext cx="12192000" cy="5539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25475" indent="-625475" fontAlgn="auto">
              <a:lnSpc>
                <a:spcPct val="150000"/>
              </a:lnSpc>
            </a:pPr>
            <a:r>
              <a:rPr lang="zh-CN" altLang="en-US" sz="4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一句多译</a:t>
            </a:r>
            <a:r>
              <a:rPr lang="en-US" altLang="zh-CN" sz="4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:   </a:t>
            </a:r>
            <a:r>
              <a:rPr lang="zh-CN" altLang="en-US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他集中精力学习。</a:t>
            </a:r>
            <a:r>
              <a:rPr lang="en-US" altLang="zh-CN" sz="40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pay </a:t>
            </a:r>
            <a:r>
              <a:rPr lang="en-US" altLang="zh-CN" sz="40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attention </a:t>
            </a:r>
            <a:r>
              <a:rPr lang="en-US" altLang="zh-CN" sz="40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to</a:t>
            </a:r>
            <a:endParaRPr lang="zh-CN" altLang="en-US" sz="4000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625475" indent="-625475" fontAlgn="auto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(1)___________________________________________________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(focus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／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fix)</a:t>
            </a:r>
          </a:p>
          <a:p>
            <a:pPr marL="625475" indent="-625475" fontAlgn="auto">
              <a:lnSpc>
                <a:spcPct val="150000"/>
              </a:lnSpc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25475" indent="-625475" fontAlgn="auto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(2)</a:t>
            </a:r>
            <a:r>
              <a:rPr lang="en-US" altLang="zh-CN" sz="4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________________________________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(absorb)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25475" indent="-625475" fontAlgn="auto">
              <a:lnSpc>
                <a:spcPct val="150000"/>
              </a:lnSpc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25475" indent="-625475" fontAlgn="auto">
              <a:lnSpc>
                <a:spcPct val="15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(3)____________________________________________________    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(apply)</a:t>
            </a:r>
          </a:p>
          <a:p>
            <a:pPr marL="625475" indent="-625475" fontAlgn="auto">
              <a:lnSpc>
                <a:spcPct val="150000"/>
              </a:lnSpc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625475" indent="-625475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(4)__________________________________________________         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(concentrate)</a:t>
            </a:r>
          </a:p>
        </p:txBody>
      </p:sp>
      <p:sp>
        <p:nvSpPr>
          <p:cNvPr id="21510" name="Rectangle 1"/>
          <p:cNvSpPr/>
          <p:nvPr/>
        </p:nvSpPr>
        <p:spPr>
          <a:xfrm>
            <a:off x="495300" y="805815"/>
            <a:ext cx="1031748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4000" dirty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He focused/fixed his attention on his study.      </a:t>
            </a:r>
          </a:p>
        </p:txBody>
      </p:sp>
      <p:sp>
        <p:nvSpPr>
          <p:cNvPr id="21511" name="Rectangle 1"/>
          <p:cNvSpPr/>
          <p:nvPr/>
        </p:nvSpPr>
        <p:spPr>
          <a:xfrm>
            <a:off x="581978" y="2241868"/>
            <a:ext cx="84836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4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He was absorbed in his study.</a:t>
            </a:r>
          </a:p>
        </p:txBody>
      </p:sp>
      <p:sp>
        <p:nvSpPr>
          <p:cNvPr id="21512" name="Rectangle 1"/>
          <p:cNvSpPr/>
          <p:nvPr/>
        </p:nvSpPr>
        <p:spPr>
          <a:xfrm>
            <a:off x="738188" y="3400425"/>
            <a:ext cx="84836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 applied himself to his study.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1513" name="Rectangle 1"/>
          <p:cNvSpPr/>
          <p:nvPr/>
        </p:nvSpPr>
        <p:spPr>
          <a:xfrm>
            <a:off x="582295" y="4558665"/>
            <a:ext cx="93446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He concentrated (his attention) on his study.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0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16.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discount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【C】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折扣</a:t>
            </a:r>
            <a:endParaRPr lang="zh-CN" altLang="en-US" sz="36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give/offer sb. a discount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给予折扣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get/receive a discount</a:t>
            </a:r>
            <a:r>
              <a:rPr lang="zh-CN" altLang="en-US" sz="3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得到折扣</a:t>
            </a:r>
            <a:endParaRPr lang="en-US" sz="32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Members </a:t>
            </a:r>
            <a:r>
              <a:rPr 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get a 15% discount</a:t>
            </a:r>
            <a:r>
              <a:rPr lang="en-US" sz="3600" u="sng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八五折</a:t>
            </a:r>
            <a:endParaRPr lang="en-US" sz="3600" u="sng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Employees can buy books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at a discount</a:t>
            </a:r>
            <a:r>
              <a:rPr 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打折地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17.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tailor    </a:t>
            </a:r>
            <a:r>
              <a:rPr lang="en-US" altLang="zh-CN" sz="3600" b="1" i="1" dirty="0" err="1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专门制作，定做 </a:t>
            </a:r>
            <a:r>
              <a:rPr lang="en-US" altLang="zh-CN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n.</a:t>
            </a:r>
            <a:r>
              <a:rPr lang="zh-CN" altLang="en-US" sz="3600" b="1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裁缝</a:t>
            </a:r>
            <a:endParaRPr lang="en-US" altLang="zh-CN" sz="3600" b="1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tailor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 for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sb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为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定制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tailor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 to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.= be tailored to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sth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根据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…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定制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tailor’s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在裁缝店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suit was well tailored. 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剪裁得很精细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tailored to one’s needs/taste 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根据个人的需求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口味量身定制</a:t>
            </a:r>
            <a:endParaRPr lang="zh-CN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classes are tailored to learners’ needs.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专门制作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以满足学习者的需要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sym typeface="+mn-ea"/>
              </a:rPr>
              <a:t>18.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brighten up 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变亮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改善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She bought some flowers to </a:t>
            </a:r>
            <a:r>
              <a:rPr lang="en-US" altLang="zh-CN" sz="3600" u="sng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brighten up the room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.</a:t>
            </a:r>
            <a:r>
              <a:rPr lang="zh-CN" altLang="zh-CN" sz="2800" dirty="0"/>
              <a:t>使房间亮丽生色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His letter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brightened up my day.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使我的一天充满了快乐</a:t>
            </a:r>
            <a:endParaRPr lang="en-US" altLang="zh-CN" sz="3600" b="1" dirty="0"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</a:rPr>
              <a:t>He </a:t>
            </a:r>
            <a:r>
              <a:rPr lang="en-US" altLang="zh-CN" sz="3600" u="sng" dirty="0">
                <a:latin typeface="Times New Roman" panose="02020603050405020304" pitchFamily="18" charset="0"/>
                <a:ea typeface="楷体" panose="02010609060101010101" charset="-122"/>
              </a:rPr>
              <a:t>brightened up 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</a:rPr>
              <a:t>at their words of encouragement.</a:t>
            </a:r>
            <a:r>
              <a:rPr lang="zh-CN" altLang="zh-CN" sz="3600" dirty="0">
                <a:latin typeface="Times New Roman" panose="02020603050405020304" pitchFamily="18" charset="0"/>
                <a:ea typeface="楷体" panose="02010609060101010101" charset="-122"/>
              </a:rPr>
              <a:t>听到他们鼓励的话，他高兴起来。</a:t>
            </a:r>
            <a:endParaRPr lang="en-US" altLang="zh-CN" sz="3600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endParaRPr lang="zh-CN" altLang="zh-CN" sz="3600" dirty="0">
              <a:latin typeface="Times New Roman" panose="02020603050405020304" pitchFamily="18" charset="0"/>
              <a:ea typeface="楷体" panose="02010609060101010101" charset="-122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19.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housing estate  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住宅区</a:t>
            </a:r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/</a:t>
            </a:r>
            <a:r>
              <a:rPr lang="zh-CN" altLang="en-US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群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He made a fortune in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real estate.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+mn-ea"/>
              </a:rPr>
              <a:t>房地产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7030A0"/>
                </a:solidFill>
              </a:rPr>
              <a:t>break up</a:t>
            </a:r>
            <a:r>
              <a:rPr lang="zh-CN" altLang="zh-CN" sz="3600" b="1" dirty="0">
                <a:solidFill>
                  <a:srgbClr val="7030A0"/>
                </a:solidFill>
              </a:rPr>
              <a:t>拆散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分解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破裂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结束</a:t>
            </a:r>
            <a:r>
              <a:rPr lang="en-US" altLang="zh-CN" sz="3600" b="1" dirty="0">
                <a:solidFill>
                  <a:srgbClr val="7030A0"/>
                </a:solidFill>
              </a:rPr>
              <a:t>  bring up</a:t>
            </a:r>
            <a:r>
              <a:rPr lang="zh-CN" altLang="zh-CN" sz="3600" b="1" dirty="0">
                <a:solidFill>
                  <a:srgbClr val="7030A0"/>
                </a:solidFill>
              </a:rPr>
              <a:t>抚养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呕吐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提出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提高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endParaRPr lang="zh-CN" altLang="zh-CN" sz="3600" b="1" dirty="0">
              <a:solidFill>
                <a:srgbClr val="7030A0"/>
              </a:solidFill>
            </a:endParaRPr>
          </a:p>
          <a:p>
            <a:r>
              <a:rPr lang="en-US" altLang="zh-CN" sz="3600" b="1" dirty="0">
                <a:solidFill>
                  <a:srgbClr val="7030A0"/>
                </a:solidFill>
              </a:rPr>
              <a:t>build up</a:t>
            </a:r>
            <a:r>
              <a:rPr lang="zh-CN" altLang="zh-CN" sz="3600" b="1" dirty="0">
                <a:solidFill>
                  <a:srgbClr val="7030A0"/>
                </a:solidFill>
              </a:rPr>
              <a:t>建立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en-US" sz="3600" b="1" dirty="0">
                <a:solidFill>
                  <a:srgbClr val="7030A0"/>
                </a:solidFill>
              </a:rPr>
              <a:t>逐步积累</a:t>
            </a:r>
            <a:r>
              <a:rPr lang="en-US" altLang="zh-CN" sz="3600" b="1" dirty="0">
                <a:solidFill>
                  <a:srgbClr val="7030A0"/>
                </a:solidFill>
              </a:rPr>
              <a:t>               clear up</a:t>
            </a:r>
            <a:r>
              <a:rPr lang="zh-CN" altLang="zh-CN" sz="3600" b="1" dirty="0">
                <a:solidFill>
                  <a:srgbClr val="7030A0"/>
                </a:solidFill>
              </a:rPr>
              <a:t>整理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收拾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放晴 </a:t>
            </a:r>
            <a:endParaRPr lang="en-US" altLang="zh-CN" sz="3600" b="1" dirty="0">
              <a:solidFill>
                <a:srgbClr val="7030A0"/>
              </a:solidFill>
            </a:endParaRPr>
          </a:p>
          <a:p>
            <a:r>
              <a:rPr lang="en-US" altLang="zh-CN" sz="3600" b="1" dirty="0">
                <a:solidFill>
                  <a:srgbClr val="7030A0"/>
                </a:solidFill>
              </a:rPr>
              <a:t>come up</a:t>
            </a:r>
            <a:r>
              <a:rPr lang="zh-CN" altLang="zh-CN" sz="3600" b="1" dirty="0">
                <a:solidFill>
                  <a:srgbClr val="7030A0"/>
                </a:solidFill>
              </a:rPr>
              <a:t>长出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出现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走近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被提及</a:t>
            </a:r>
            <a:r>
              <a:rPr lang="en-US" altLang="zh-CN" sz="3600" b="1" dirty="0">
                <a:solidFill>
                  <a:srgbClr val="7030A0"/>
                </a:solidFill>
              </a:rPr>
              <a:t> </a:t>
            </a:r>
          </a:p>
          <a:p>
            <a:r>
              <a:rPr lang="en-US" altLang="zh-CN" sz="3600" b="1" dirty="0">
                <a:solidFill>
                  <a:srgbClr val="7030A0"/>
                </a:solidFill>
              </a:rPr>
              <a:t>draw up</a:t>
            </a:r>
            <a:r>
              <a:rPr lang="zh-CN" altLang="zh-CN" sz="3600" b="1" dirty="0">
                <a:solidFill>
                  <a:srgbClr val="7030A0"/>
                </a:solidFill>
              </a:rPr>
              <a:t>草拟</a:t>
            </a:r>
            <a:r>
              <a:rPr lang="en-US" altLang="zh-CN" sz="3600" b="1" dirty="0">
                <a:solidFill>
                  <a:srgbClr val="7030A0"/>
                </a:solidFill>
              </a:rPr>
              <a:t>    fix up</a:t>
            </a:r>
            <a:r>
              <a:rPr lang="zh-CN" altLang="zh-CN" sz="3600" b="1" dirty="0">
                <a:solidFill>
                  <a:srgbClr val="7030A0"/>
                </a:solidFill>
              </a:rPr>
              <a:t>修理</a:t>
            </a:r>
            <a:r>
              <a:rPr lang="en-US" altLang="zh-CN" sz="3600" b="1" dirty="0">
                <a:solidFill>
                  <a:srgbClr val="7030A0"/>
                </a:solidFill>
              </a:rPr>
              <a:t>          hold up</a:t>
            </a:r>
            <a:r>
              <a:rPr lang="zh-CN" altLang="zh-CN" sz="3600" b="1" dirty="0">
                <a:solidFill>
                  <a:srgbClr val="7030A0"/>
                </a:solidFill>
              </a:rPr>
              <a:t>阻止</a:t>
            </a:r>
            <a:r>
              <a:rPr lang="en-US" altLang="zh-CN" sz="3600" b="1" dirty="0">
                <a:solidFill>
                  <a:srgbClr val="7030A0"/>
                </a:solidFill>
              </a:rPr>
              <a:t>  choke up</a:t>
            </a:r>
            <a:r>
              <a:rPr lang="zh-CN" altLang="zh-CN" sz="3600" b="1" dirty="0">
                <a:solidFill>
                  <a:srgbClr val="7030A0"/>
                </a:solidFill>
              </a:rPr>
              <a:t>堵塞住</a:t>
            </a:r>
            <a:endParaRPr lang="en-US" altLang="zh-CN" sz="3600" b="1" dirty="0">
              <a:solidFill>
                <a:srgbClr val="7030A0"/>
              </a:solidFill>
            </a:endParaRPr>
          </a:p>
          <a:p>
            <a:r>
              <a:rPr lang="en-US" altLang="zh-CN" sz="3600" b="1" dirty="0">
                <a:solidFill>
                  <a:srgbClr val="7030A0"/>
                </a:solidFill>
              </a:rPr>
              <a:t>make up</a:t>
            </a:r>
            <a:r>
              <a:rPr lang="zh-CN" altLang="zh-CN" sz="3600" b="1" dirty="0">
                <a:solidFill>
                  <a:srgbClr val="7030A0"/>
                </a:solidFill>
              </a:rPr>
              <a:t>构成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en-US" sz="3600" b="1" dirty="0">
                <a:solidFill>
                  <a:srgbClr val="7030A0"/>
                </a:solidFill>
              </a:rPr>
              <a:t>编造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化妆</a:t>
            </a:r>
            <a:r>
              <a:rPr lang="en-US" altLang="zh-CN" sz="3600" b="1" dirty="0">
                <a:solidFill>
                  <a:srgbClr val="7030A0"/>
                </a:solidFill>
              </a:rPr>
              <a:t>; +for</a:t>
            </a:r>
            <a:r>
              <a:rPr lang="zh-CN" altLang="en-US" sz="3600" b="1" dirty="0">
                <a:solidFill>
                  <a:srgbClr val="7030A0"/>
                </a:solidFill>
              </a:rPr>
              <a:t>弥补</a:t>
            </a:r>
            <a:endParaRPr lang="zh-CN" altLang="zh-CN" sz="3600" b="1" dirty="0">
              <a:solidFill>
                <a:srgbClr val="7030A0"/>
              </a:solidFill>
            </a:endParaRPr>
          </a:p>
          <a:p>
            <a:r>
              <a:rPr lang="en-US" altLang="zh-CN" sz="3600" b="1" dirty="0">
                <a:solidFill>
                  <a:srgbClr val="7030A0"/>
                </a:solidFill>
              </a:rPr>
              <a:t>pack up</a:t>
            </a:r>
            <a:r>
              <a:rPr lang="zh-CN" altLang="zh-CN" sz="3600" b="1" dirty="0">
                <a:solidFill>
                  <a:srgbClr val="7030A0"/>
                </a:solidFill>
              </a:rPr>
              <a:t>收拾行李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停止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结束</a:t>
            </a:r>
            <a:r>
              <a:rPr lang="en-US" altLang="zh-CN" sz="3600" b="1" dirty="0">
                <a:solidFill>
                  <a:srgbClr val="7030A0"/>
                </a:solidFill>
              </a:rPr>
              <a:t>  pick up</a:t>
            </a:r>
            <a:r>
              <a:rPr lang="zh-CN" altLang="zh-CN" sz="3600" b="1" dirty="0">
                <a:solidFill>
                  <a:srgbClr val="7030A0"/>
                </a:solidFill>
              </a:rPr>
              <a:t>拾起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偶然学会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用车来接</a:t>
            </a:r>
            <a:endParaRPr lang="en-US" altLang="zh-CN" sz="3600" b="1" dirty="0">
              <a:solidFill>
                <a:srgbClr val="7030A0"/>
              </a:solidFill>
            </a:endParaRPr>
          </a:p>
          <a:p>
            <a:r>
              <a:rPr lang="en-US" altLang="zh-CN" sz="3600" b="1" dirty="0">
                <a:solidFill>
                  <a:srgbClr val="7030A0"/>
                </a:solidFill>
              </a:rPr>
              <a:t>pull up</a:t>
            </a:r>
            <a:r>
              <a:rPr lang="zh-CN" altLang="en-US" sz="3600" b="1" dirty="0">
                <a:solidFill>
                  <a:srgbClr val="7030A0"/>
                </a:solidFill>
              </a:rPr>
              <a:t>停车</a:t>
            </a:r>
            <a:r>
              <a:rPr lang="zh-CN" altLang="zh-CN" sz="3600" b="1" dirty="0">
                <a:solidFill>
                  <a:srgbClr val="7030A0"/>
                </a:solidFill>
              </a:rPr>
              <a:t> </a:t>
            </a:r>
            <a:r>
              <a:rPr lang="en-US" altLang="zh-CN" sz="3600" b="1" dirty="0">
                <a:solidFill>
                  <a:srgbClr val="7030A0"/>
                </a:solidFill>
              </a:rPr>
              <a:t>   put up</a:t>
            </a:r>
            <a:r>
              <a:rPr lang="zh-CN" altLang="zh-CN" sz="3600" b="1" dirty="0">
                <a:solidFill>
                  <a:srgbClr val="7030A0"/>
                </a:solidFill>
              </a:rPr>
              <a:t>搭起</a:t>
            </a:r>
            <a:r>
              <a:rPr lang="en-US" altLang="zh-CN" sz="3600" b="1" dirty="0">
                <a:solidFill>
                  <a:srgbClr val="7030A0"/>
                </a:solidFill>
              </a:rPr>
              <a:t>,</a:t>
            </a:r>
            <a:r>
              <a:rPr lang="zh-CN" altLang="zh-CN" sz="3600" b="1" dirty="0">
                <a:solidFill>
                  <a:srgbClr val="7030A0"/>
                </a:solidFill>
              </a:rPr>
              <a:t>住宿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张贴</a:t>
            </a:r>
            <a:r>
              <a:rPr lang="en-US" altLang="zh-CN" sz="3600" b="1" dirty="0">
                <a:solidFill>
                  <a:srgbClr val="7030A0"/>
                </a:solidFill>
              </a:rPr>
              <a:t>   set up</a:t>
            </a:r>
            <a:r>
              <a:rPr lang="zh-CN" altLang="zh-CN" sz="3600" b="1" dirty="0">
                <a:solidFill>
                  <a:srgbClr val="7030A0"/>
                </a:solidFill>
              </a:rPr>
              <a:t>开办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设立</a:t>
            </a:r>
          </a:p>
          <a:p>
            <a:r>
              <a:rPr lang="en-US" altLang="zh-CN" sz="3600" b="1" dirty="0">
                <a:solidFill>
                  <a:srgbClr val="7030A0"/>
                </a:solidFill>
              </a:rPr>
              <a:t>split up</a:t>
            </a:r>
            <a:r>
              <a:rPr lang="zh-CN" altLang="zh-CN" sz="3600" b="1" dirty="0">
                <a:solidFill>
                  <a:srgbClr val="7030A0"/>
                </a:solidFill>
              </a:rPr>
              <a:t>分手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解散</a:t>
            </a:r>
            <a:r>
              <a:rPr lang="en-US" altLang="zh-CN" sz="3600" b="1" dirty="0">
                <a:solidFill>
                  <a:srgbClr val="7030A0"/>
                </a:solidFill>
              </a:rPr>
              <a:t>    spring up</a:t>
            </a:r>
            <a:r>
              <a:rPr lang="zh-CN" altLang="zh-CN" sz="3600" b="1" dirty="0">
                <a:solidFill>
                  <a:srgbClr val="7030A0"/>
                </a:solidFill>
              </a:rPr>
              <a:t>涌现</a:t>
            </a:r>
            <a:r>
              <a:rPr lang="en-US" altLang="zh-CN" sz="3600" b="1" dirty="0">
                <a:solidFill>
                  <a:srgbClr val="7030A0"/>
                </a:solidFill>
              </a:rPr>
              <a:t>  </a:t>
            </a:r>
          </a:p>
          <a:p>
            <a:r>
              <a:rPr lang="en-US" altLang="zh-CN" sz="3600" b="1" dirty="0">
                <a:solidFill>
                  <a:srgbClr val="7030A0"/>
                </a:solidFill>
              </a:rPr>
              <a:t>take up</a:t>
            </a:r>
            <a:r>
              <a:rPr lang="zh-CN" altLang="zh-CN" sz="3600" b="1" dirty="0">
                <a:solidFill>
                  <a:srgbClr val="7030A0"/>
                </a:solidFill>
              </a:rPr>
              <a:t>开始从事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占据  </a:t>
            </a:r>
            <a:r>
              <a:rPr lang="en-US" altLang="zh-CN" sz="3600" b="1" dirty="0">
                <a:solidFill>
                  <a:srgbClr val="7030A0"/>
                </a:solidFill>
              </a:rPr>
              <a:t> turn up</a:t>
            </a:r>
            <a:r>
              <a:rPr lang="zh-CN" altLang="en-US" sz="3600" b="1" dirty="0">
                <a:solidFill>
                  <a:srgbClr val="7030A0"/>
                </a:solidFill>
              </a:rPr>
              <a:t>调高</a:t>
            </a:r>
            <a:r>
              <a:rPr lang="en-US" altLang="zh-CN" sz="3600" b="1" dirty="0">
                <a:solidFill>
                  <a:srgbClr val="7030A0"/>
                </a:solidFill>
              </a:rPr>
              <a:t>;</a:t>
            </a:r>
            <a:r>
              <a:rPr lang="zh-CN" altLang="zh-CN" sz="3600" b="1" dirty="0">
                <a:solidFill>
                  <a:srgbClr val="7030A0"/>
                </a:solidFill>
              </a:rPr>
              <a:t>出现</a:t>
            </a:r>
            <a:endParaRPr lang="en-US" altLang="zh-CN" sz="3600" b="1" dirty="0">
              <a:solidFill>
                <a:srgbClr val="7030A0"/>
              </a:solidFill>
              <a:latin typeface="Times New Roman" panose="02020603050405020304" pitchFamily="18" charset="0"/>
              <a:ea typeface="楷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6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20.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muse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6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vt.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逗笑</a:t>
            </a: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children </a:t>
            </a:r>
            <a:r>
              <a:rPr lang="en-US" altLang="zh-C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amused themselves by 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hide-and-seek games.  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自得其乐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little boy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amused at/by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 what he saw in the zoo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zh-C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为乐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puzzles and games to keep the children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amused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don’t find his jokes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amusing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all.</a:t>
            </a: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amused smile/look/expression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逗乐的微笑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神情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表情</a:t>
            </a:r>
            <a:endParaRPr lang="zh-CN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one’s amusement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令某人感到好笑的是</a:t>
            </a:r>
          </a:p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in/with amusement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津津有味地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amusement park </a:t>
            </a:r>
            <a:r>
              <a:rPr lang="zh-CN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游乐园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阿里巴巴普惠体 2.0 55 Regular" panose="00020600040101010101" pitchFamily="18" charset="-122"/>
              </a:rPr>
              <a:t>__________, in the past year many people have suggested that the BRICS story is over.</a:t>
            </a:r>
            <a:r>
              <a:rPr lang="zh-CN" altLang="en-US" sz="3600" u="sng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charset="-122"/>
                <a:sym typeface="阿里巴巴普惠体 2.0 55 Regular" panose="00020600040101010101" pitchFamily="18" charset="-122"/>
              </a:rPr>
              <a:t>可笑的是</a:t>
            </a:r>
            <a:endParaRPr lang="en-US" altLang="zh-CN" sz="3600" b="1" kern="1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阿里巴巴普惠体 2.0 55 Regular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3E1FF2-8933-7753-59DE-827DD63A948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5425156"/>
            <a:ext cx="2615013" cy="766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kern="1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Amusingly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6790" y="2193925"/>
            <a:ext cx="8664575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9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consolidation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矩形 25601"/>
          <p:cNvSpPr/>
          <p:nvPr/>
        </p:nvSpPr>
        <p:spPr>
          <a:xfrm>
            <a:off x="215900" y="217488"/>
            <a:ext cx="11545888" cy="59080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1. You should a_______ for someone in the newspaper to look after the house while we’re away.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2. He is used to having his clothes made by that______ 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（裁缝）． 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3. China has always been a key s _________ of keeping the East Asia stable and peaceful.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4. A(n) ______________(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大使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) is an important representative from a foreign country.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5. He studied philosophy and ______________at Cambridge. He learns that abuse can lead to both ____________ and emotional problems and a ______________ disturbed person can’t control his behaviour. </a:t>
            </a:r>
          </a:p>
        </p:txBody>
      </p:sp>
      <p:sp>
        <p:nvSpPr>
          <p:cNvPr id="25603" name="矩形 6"/>
          <p:cNvSpPr/>
          <p:nvPr/>
        </p:nvSpPr>
        <p:spPr>
          <a:xfrm>
            <a:off x="2452688" y="792163"/>
            <a:ext cx="20097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advertise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4" name="矩形 6"/>
          <p:cNvSpPr/>
          <p:nvPr/>
        </p:nvSpPr>
        <p:spPr>
          <a:xfrm>
            <a:off x="7924800" y="1776413"/>
            <a:ext cx="13335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tailor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5" name="矩形 6"/>
          <p:cNvSpPr/>
          <p:nvPr/>
        </p:nvSpPr>
        <p:spPr>
          <a:xfrm>
            <a:off x="5328285" y="2508568"/>
            <a:ext cx="16144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sponsor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6" name="矩形 6"/>
          <p:cNvSpPr/>
          <p:nvPr/>
        </p:nvSpPr>
        <p:spPr>
          <a:xfrm>
            <a:off x="1576388" y="3438525"/>
            <a:ext cx="24765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ambassador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7" name="矩形 6"/>
          <p:cNvSpPr/>
          <p:nvPr/>
        </p:nvSpPr>
        <p:spPr>
          <a:xfrm>
            <a:off x="5153025" y="4573588"/>
            <a:ext cx="2413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psychology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8" name="矩形 6"/>
          <p:cNvSpPr/>
          <p:nvPr/>
        </p:nvSpPr>
        <p:spPr>
          <a:xfrm>
            <a:off x="4705350" y="5059363"/>
            <a:ext cx="28606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9" name="矩形 6"/>
          <p:cNvSpPr/>
          <p:nvPr/>
        </p:nvSpPr>
        <p:spPr>
          <a:xfrm>
            <a:off x="568643" y="5437188"/>
            <a:ext cx="28606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psychologically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 animBg="1"/>
      <p:bldP spid="25605" grpId="0" animBg="1"/>
      <p:bldP spid="25606" grpId="0" animBg="1"/>
      <p:bldP spid="25607" grpId="0" animBg="1"/>
      <p:bldP spid="25608" grpId="0" animBg="1"/>
      <p:bldP spid="2560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矩形 26625"/>
          <p:cNvSpPr/>
          <p:nvPr/>
        </p:nvSpPr>
        <p:spPr>
          <a:xfrm>
            <a:off x="0" y="514033"/>
            <a:ext cx="11355388" cy="53079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6.  Traffic reaches a ______ between 8 and 9 in the morning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． 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7. Its 3-D cinemas and giant movie screens provide __________ (</a:t>
            </a:r>
            <a:r>
              <a:rPr lang="zh-CN" altLang="en-US" sz="2800">
                <a:latin typeface="Arial" panose="020B0604020202020204" pitchFamily="34" charset="0"/>
                <a:ea typeface="宋体" panose="02010600030101010101" pitchFamily="2" charset="-122"/>
              </a:rPr>
              <a:t>崭新</a:t>
            </a: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) experiences of the earth and beyond.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8. Going to Hawaii with my sister was one of my most enjoyable and m___________ vacations.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9. You can change the c_______ if you don’t like the program. </a:t>
            </a: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Arial" panose="020B0604020202020204" pitchFamily="34" charset="0"/>
                <a:ea typeface="宋体" panose="02010600030101010101" pitchFamily="2" charset="-122"/>
              </a:rPr>
              <a:t>10. He recommended that I p_________ an English dictionary to improve my vocabulary. </a:t>
            </a:r>
          </a:p>
        </p:txBody>
      </p:sp>
      <p:sp>
        <p:nvSpPr>
          <p:cNvPr id="26627" name="矩形 6"/>
          <p:cNvSpPr/>
          <p:nvPr/>
        </p:nvSpPr>
        <p:spPr>
          <a:xfrm>
            <a:off x="3394075" y="1363663"/>
            <a:ext cx="13335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28" name="矩形 6"/>
          <p:cNvSpPr/>
          <p:nvPr/>
        </p:nvSpPr>
        <p:spPr>
          <a:xfrm>
            <a:off x="8074978" y="1943100"/>
            <a:ext cx="26527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brand-new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29" name="矩形 6"/>
          <p:cNvSpPr/>
          <p:nvPr/>
        </p:nvSpPr>
        <p:spPr>
          <a:xfrm>
            <a:off x="0" y="3451543"/>
            <a:ext cx="22796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memorable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30" name="矩形 6"/>
          <p:cNvSpPr/>
          <p:nvPr/>
        </p:nvSpPr>
        <p:spPr>
          <a:xfrm>
            <a:off x="3574733" y="4121150"/>
            <a:ext cx="16986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31" name="矩形 6"/>
          <p:cNvSpPr/>
          <p:nvPr/>
        </p:nvSpPr>
        <p:spPr>
          <a:xfrm>
            <a:off x="4372928" y="4700588"/>
            <a:ext cx="197802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28" grpId="0" animBg="1"/>
      <p:bldP spid="26629" grpId="0" animBg="1"/>
      <p:bldP spid="26630" grpId="0" animBg="1"/>
      <p:bldP spid="266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96838" y="-674688"/>
            <a:ext cx="4176713" cy="31305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Box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69950" y="334963"/>
            <a:ext cx="4176713" cy="7080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+mn-lt"/>
                <a:ea typeface="新宋体" panose="02010609030101010101" pitchFamily="49" charset="-122"/>
              </a:rPr>
              <a:t>Structure</a:t>
            </a: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 rot="5400000">
            <a:off x="6045994" y="-2634456"/>
            <a:ext cx="1900237" cy="9255125"/>
            <a:chOff x="557708" y="-4958309"/>
            <a:chExt cx="1901654" cy="9254677"/>
          </a:xfrm>
        </p:grpSpPr>
        <p:sp>
          <p:nvSpPr>
            <p:cNvPr id="5" name="文本框 4"/>
            <p:cNvSpPr txBox="1"/>
            <p:nvPr>
              <p:custDataLst>
                <p:tags r:id="rId14"/>
              </p:custDataLst>
            </p:nvPr>
          </p:nvSpPr>
          <p:spPr>
            <a:xfrm rot="16200000">
              <a:off x="-388189" y="-734383"/>
              <a:ext cx="2414471" cy="52267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新宋体" panose="02010609030101010101" pitchFamily="49" charset="-122"/>
                </a:rPr>
                <a:t>Advertising</a:t>
              </a:r>
              <a:endParaRPr lang="zh-CN" altLang="en-US" sz="28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" name="左大括号 3"/>
            <p:cNvSpPr/>
            <p:nvPr>
              <p:custDataLst>
                <p:tags r:id="rId15"/>
              </p:custDataLst>
            </p:nvPr>
          </p:nvSpPr>
          <p:spPr>
            <a:xfrm>
              <a:off x="1169351" y="-3823302"/>
              <a:ext cx="648183" cy="6984662"/>
            </a:xfrm>
            <a:prstGeom prst="leftBrace">
              <a:avLst>
                <a:gd name="adj1" fmla="val 65392"/>
                <a:gd name="adj2" fmla="val 50000"/>
              </a:avLst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文本框 6"/>
            <p:cNvSpPr txBox="1"/>
            <p:nvPr>
              <p:custDataLst>
                <p:tags r:id="rId16"/>
              </p:custDataLst>
            </p:nvPr>
          </p:nvSpPr>
          <p:spPr>
            <a:xfrm rot="16200000">
              <a:off x="-2429315" y="-592309"/>
              <a:ext cx="9254677" cy="52267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新宋体" panose="02010609030101010101" pitchFamily="49" charset="-122"/>
                </a:rPr>
                <a:t>Part 1(P1,2)		Part 2(P3~6)</a:t>
              </a:r>
              <a:r>
                <a:rPr lang="en-US" altLang="zh-CN" sz="2800">
                  <a:solidFill>
                    <a:schemeClr val="bg1"/>
                  </a:solidFill>
                  <a:latin typeface="+mj-lt"/>
                </a:rPr>
                <a:t>		</a:t>
              </a:r>
              <a:r>
                <a:rPr lang="en-US" altLang="zh-CN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新宋体" panose="02010609030101010101" pitchFamily="49" charset="-122"/>
                </a:rPr>
                <a:t>Part 3(P7)</a:t>
              </a:r>
              <a:endParaRPr lang="zh-CN" alt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982663" y="2970213"/>
            <a:ext cx="1130617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rPr>
              <a:t>simple __________		______ of persuading		_________</a:t>
            </a:r>
            <a:endParaRPr lang="zh-CN" altLang="en-US" sz="28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127125" y="3559175"/>
            <a:ext cx="3238500" cy="10683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GB"/>
            </a:defPPr>
            <a:lvl1pPr marL="457200" indent="-457200">
              <a:lnSpc>
                <a:spcPct val="110000"/>
              </a:lnSpc>
              <a:buFont typeface="Arial" panose="020B0604020202020204" pitchFamily="34" charset="0"/>
              <a:buChar char="•"/>
              <a:defRPr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defRPr>
            </a:lvl1pPr>
          </a:lstStyle>
          <a:p>
            <a:pPr>
              <a:defRPr/>
            </a:pPr>
            <a:r>
              <a:rPr lang="en-US" altLang="zh-CN"/>
              <a:t>__________	</a:t>
            </a:r>
          </a:p>
          <a:p>
            <a:pPr>
              <a:defRPr/>
            </a:pPr>
            <a:r>
              <a:rPr lang="en-US" altLang="zh-CN"/>
              <a:t>history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5519738" y="3559175"/>
            <a:ext cx="5186362" cy="2084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rPr>
              <a:t>mass media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rPr>
              <a:t>a _________ slogan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rPr>
              <a:t>a “brand __________”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3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新宋体" panose="02010609030101010101" pitchFamily="49" charset="-122"/>
              </a:rPr>
              <a:t>product _________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2238375" y="2943225"/>
            <a:ext cx="2447925" cy="5540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introduction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1701800" y="3589338"/>
            <a:ext cx="2449513" cy="5540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definition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5697538" y="2900363"/>
            <a:ext cx="1495425" cy="5540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ways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312024" y="4073525"/>
            <a:ext cx="2449513" cy="5540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memorable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7718425" y="4495800"/>
            <a:ext cx="2447925" cy="55403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ambassador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7612063" y="4995863"/>
            <a:ext cx="2447925" cy="5540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placement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10166350" y="2900363"/>
            <a:ext cx="2447925" cy="5540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新宋体" panose="02010609030101010101" pitchFamily="49" charset="-122"/>
                <a:cs typeface="Times New Roman" panose="02020603050405020304" pitchFamily="18" charset="0"/>
              </a:rPr>
              <a:t>summary</a:t>
            </a:r>
            <a:endParaRPr lang="zh-CN" altLang="en-US" sz="3000">
              <a:solidFill>
                <a:srgbClr val="FF0000"/>
              </a:solidFill>
              <a:latin typeface="Times New Roman" panose="02020603050405020304" pitchFamily="18" charset="0"/>
              <a:ea typeface="新宋体" panose="0201060903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28922c0ef5cf2d9445533006c81a2b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1780" y="-186055"/>
            <a:ext cx="11934825" cy="655891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79425" y="377190"/>
            <a:ext cx="107746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Tx/>
              <a:buSzTx/>
              <a:buFontTx/>
            </a:pPr>
            <a:r>
              <a:rPr lang="en-US" altLang="zh-CN" sz="4000">
                <a:solidFill>
                  <a:schemeClr val="bg2">
                    <a:lumMod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media channels have grown in number and type, </a:t>
            </a: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 </a:t>
            </a:r>
            <a:r>
              <a:rPr lang="en-US" altLang="zh-CN"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have advertisements.</a:t>
            </a:r>
            <a:endParaRPr lang="en-US" altLang="zh-CN" sz="4000">
              <a:solidFill>
                <a:schemeClr val="tx1"/>
              </a:solidFill>
              <a:latin typeface="Times New Roman" panose="02020603050405020304" pitchFamily="18" charset="0"/>
              <a:ea typeface="字体管家胖丫儿" panose="00020600040101010101" pitchFamily="18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548005" y="1584325"/>
            <a:ext cx="10911840" cy="243014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随着媒体渠道数量的增加和类型的丰富，广告也在不断发展。</a:t>
            </a:r>
            <a:endParaRPr lang="zh-CN" altLang="en-US" sz="3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just"/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(Just)as...,so...</a:t>
            </a:r>
          </a:p>
          <a:p>
            <a:pPr algn="just"/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正如</a:t>
            </a: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......, ......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也一样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48005" y="3921125"/>
            <a:ext cx="11069955" cy="347662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zh-CN" sz="3600"/>
              <a:t>As you sow, so will you reap.  /You reap what you sow.</a:t>
            </a:r>
          </a:p>
          <a:p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种瓜得瓜，种豆得豆。</a:t>
            </a:r>
            <a:endParaRPr lang="en-US" altLang="zh-CN" sz="3600"/>
          </a:p>
          <a:p>
            <a:r>
              <a:rPr lang="en-US" altLang="zh-CN" sz="3600"/>
              <a:t>Just as the French love their wine, so the English love their beer. </a:t>
            </a:r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so</a:t>
            </a:r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从句中也可以不到装)</a:t>
            </a:r>
            <a:endParaRPr lang="en-US" altLang="zh-CN" sz="3600"/>
          </a:p>
          <a:p>
            <a:r>
              <a:rPr lang="en-US" altLang="zh-CN" sz="3600">
                <a:solidFill>
                  <a:srgbClr val="FF0000"/>
                </a:solidFill>
              </a:rPr>
              <a:t>c.f.</a:t>
            </a:r>
            <a:r>
              <a:rPr lang="en-US" altLang="zh-CN" sz="3600"/>
              <a:t> She is fond of English,and so am I. </a:t>
            </a:r>
          </a:p>
          <a:p>
            <a:endParaRPr lang="en-US" altLang="zh-CN" sz="3200"/>
          </a:p>
        </p:txBody>
      </p:sp>
      <p:sp>
        <p:nvSpPr>
          <p:cNvPr id="10" name="圆角矩形标注 9"/>
          <p:cNvSpPr/>
          <p:nvPr>
            <p:custDataLst>
              <p:tags r:id="rId5"/>
            </p:custDataLst>
          </p:nvPr>
        </p:nvSpPr>
        <p:spPr>
          <a:xfrm>
            <a:off x="5553075" y="-186055"/>
            <a:ext cx="3884295" cy="694690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/>
              <a:t>grow-grew-grown</a:t>
            </a:r>
          </a:p>
        </p:txBody>
      </p:sp>
      <p:cxnSp>
        <p:nvCxnSpPr>
          <p:cNvPr id="2" name="直接箭头连接符 1"/>
          <p:cNvCxnSpPr/>
          <p:nvPr>
            <p:custDataLst>
              <p:tags r:id="rId6"/>
            </p:custDataLst>
          </p:nvPr>
        </p:nvCxnSpPr>
        <p:spPr>
          <a:xfrm flipV="1">
            <a:off x="2143125" y="1113790"/>
            <a:ext cx="2715895" cy="361950"/>
          </a:xfrm>
          <a:prstGeom prst="straightConnector1">
            <a:avLst/>
          </a:prstGeom>
          <a:ln w="762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bldLvl="0" animBg="1"/>
      <p:bldP spid="3" grpId="0" bldLvl="0" animBg="1"/>
      <p:bldP spid="10" grpId="0" bldLvl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28922c0ef5cf2d9445533006c81a2b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1780" y="-186055"/>
            <a:ext cx="11934825" cy="655891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48005" y="395605"/>
            <a:ext cx="107746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Tx/>
              <a:buSzTx/>
              <a:buFontTx/>
            </a:pP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addition </a:t>
            </a:r>
            <a:r>
              <a:rPr lang="en-US" altLang="zh-CN" sz="4000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</a:t>
            </a:r>
            <a:r>
              <a:rPr lang="en-US" altLang="zh-CN" sz="4000" u="sng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making 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people </a:t>
            </a: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aware of 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product or service, a successful advertisement will also create </a:t>
            </a: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desire to 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buy, thus </a:t>
            </a:r>
            <a:r>
              <a:rPr lang="en-US" altLang="zh-CN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boost</a:t>
            </a:r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ing business.</a:t>
            </a:r>
            <a:endParaRPr lang="zh-CN" altLang="zh-CN" sz="400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字体管家胖丫儿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717550" y="2333625"/>
            <a:ext cx="10914380" cy="175323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>
                <a:latin typeface="楷体" panose="02010609060101010101" charset="-122"/>
                <a:ea typeface="楷体" panose="02010609060101010101" charset="-122"/>
                <a:sym typeface="+mn-ea"/>
              </a:rPr>
              <a:t>一则成功的广告除了让人们知晓一种产品或服务外，还会激发购买欲，从而增加销售量。广告的历史一直以来都与大众媒体的历史息息相关。</a:t>
            </a:r>
            <a:endParaRPr lang="zh-CN" altLang="en-US" sz="3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610870" y="4065905"/>
            <a:ext cx="11083290" cy="28613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>
                <a:solidFill>
                  <a:srgbClr val="FF0000"/>
                </a:solidFill>
              </a:rPr>
              <a:t>desire</a:t>
            </a:r>
            <a:r>
              <a:rPr lang="en-US" altLang="zh-CN" sz="3600"/>
              <a:t> </a:t>
            </a:r>
            <a:r>
              <a:rPr lang="en-US" altLang="zh-CN" sz="3600" i="1"/>
              <a:t>vt.  n.</a:t>
            </a:r>
          </a:p>
          <a:p>
            <a:pPr algn="l">
              <a:buClrTx/>
              <a:buSzTx/>
              <a:buFontTx/>
            </a:pPr>
            <a:endParaRPr lang="en-US" altLang="zh-CN" sz="3600" i="1"/>
          </a:p>
          <a:p>
            <a:pPr algn="l">
              <a:buClrTx/>
              <a:buSzTx/>
              <a:buFontTx/>
            </a:pPr>
            <a:endParaRPr lang="en-US" altLang="zh-CN" sz="3600" i="1"/>
          </a:p>
          <a:p>
            <a:pPr algn="l">
              <a:buClrTx/>
              <a:buSzTx/>
              <a:buFontTx/>
            </a:pPr>
            <a:endParaRPr lang="en-US" altLang="zh-CN" sz="3600" i="1"/>
          </a:p>
          <a:p>
            <a:pPr algn="l">
              <a:buClrTx/>
              <a:buSzTx/>
              <a:buFontTx/>
            </a:pPr>
            <a:endParaRPr lang="zh-CN" altLang="en-US" sz="3600" i="1"/>
          </a:p>
        </p:txBody>
      </p:sp>
      <p:sp>
        <p:nvSpPr>
          <p:cNvPr id="7" name="圆角矩形标注 6"/>
          <p:cNvSpPr/>
          <p:nvPr>
            <p:custDataLst>
              <p:tags r:id="rId5"/>
            </p:custDataLst>
          </p:nvPr>
        </p:nvSpPr>
        <p:spPr>
          <a:xfrm>
            <a:off x="6200140" y="9525"/>
            <a:ext cx="3886835" cy="582295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/>
              <a:t>raise one’s </a:t>
            </a:r>
            <a:r>
              <a:rPr lang="en-US" altLang="zh-CN" sz="2800" b="1">
                <a:solidFill>
                  <a:srgbClr val="FF0000"/>
                </a:solidFill>
              </a:rPr>
              <a:t>awareness</a:t>
            </a: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17550" y="4803140"/>
            <a:ext cx="109766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hotel has everything you could possibly desire. </a:t>
            </a:r>
          </a:p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Everyone desires to succeed.</a:t>
            </a:r>
          </a:p>
          <a:p>
            <a:r>
              <a:rPr lang="en-US" altLang="zh-CN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Everyone has a desire for success/to succeed.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bldLvl="0" animBg="1"/>
      <p:bldP spid="3" grpId="0" bldLvl="0" animBg="1"/>
      <p:bldP spid="7" grpId="0" bldLvl="0" animBg="1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6217</Words>
  <Application>Microsoft Office PowerPoint</Application>
  <PresentationFormat>宽屏</PresentationFormat>
  <Paragraphs>640</Paragraphs>
  <Slides>69</Slides>
  <Notes>27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7" baseType="lpstr">
      <vt:lpstr>等线</vt:lpstr>
      <vt:lpstr>等线 Light</vt:lpstr>
      <vt:lpstr>华文新魏</vt:lpstr>
      <vt:lpstr>楷体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Reading news reports critically</vt:lpstr>
      <vt:lpstr>                Reading news reports critically</vt:lpstr>
      <vt:lpstr>PowerPoint 演示文稿</vt:lpstr>
      <vt:lpstr>PowerPoint 演示文稿</vt:lpstr>
      <vt:lpstr>PowerPoint 演示文稿</vt:lpstr>
      <vt:lpstr>PowerPoint 演示文稿</vt:lpstr>
      <vt:lpstr>X2 U1 P6-8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静 刘</cp:lastModifiedBy>
  <cp:revision>72</cp:revision>
  <dcterms:created xsi:type="dcterms:W3CDTF">2021-10-24T01:43:00Z</dcterms:created>
  <dcterms:modified xsi:type="dcterms:W3CDTF">2025-11-10T03:09:02Z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AD7878D4764A4BB49C044B1C6054B44E</vt:lpwstr>
  </property>
</Properties>
</file>