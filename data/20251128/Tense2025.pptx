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4" r:id="rId4"/>
    <p:sldId id="275" r:id="rId5"/>
    <p:sldId id="277" r:id="rId6"/>
    <p:sldId id="278" r:id="rId7"/>
    <p:sldId id="279" r:id="rId8"/>
    <p:sldId id="280" r:id="rId9"/>
    <p:sldId id="281" r:id="rId10"/>
    <p:sldId id="257" r:id="rId11"/>
    <p:sldId id="258" r:id="rId12"/>
    <p:sldId id="259" r:id="rId13"/>
    <p:sldId id="260" r:id="rId14"/>
    <p:sldId id="286" r:id="rId15"/>
    <p:sldId id="287" r:id="rId16"/>
    <p:sldId id="269" r:id="rId17"/>
    <p:sldId id="282" r:id="rId18"/>
    <p:sldId id="283" r:id="rId19"/>
    <p:sldId id="264" r:id="rId20"/>
    <p:sldId id="265" r:id="rId21"/>
    <p:sldId id="266" r:id="rId22"/>
    <p:sldId id="267" r:id="rId23"/>
    <p:sldId id="271" r:id="rId24"/>
    <p:sldId id="272" r:id="rId25"/>
    <p:sldId id="285" r:id="rId26"/>
    <p:sldId id="273" r:id="rId27"/>
    <p:sldId id="284" r:id="rId28"/>
  </p:sldIdLst>
  <p:sldSz cx="9144000" cy="6858000" type="screen4x3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93" d="100"/>
          <a:sy n="93" d="100"/>
        </p:scale>
        <p:origin x="72" y="2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61BD0-D89B-B044-8CF0-EECAF1D1DFC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944A9-076A-8E44-8B09-E73C4E590C3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61BD0-D89B-B044-8CF0-EECAF1D1DFC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944A9-076A-8E44-8B09-E73C4E590C3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61BD0-D89B-B044-8CF0-EECAF1D1DFC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944A9-076A-8E44-8B09-E73C4E590C3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61BD0-D89B-B044-8CF0-EECAF1D1DFC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944A9-076A-8E44-8B09-E73C4E590C3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61BD0-D89B-B044-8CF0-EECAF1D1DFC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944A9-076A-8E44-8B09-E73C4E590C3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61BD0-D89B-B044-8CF0-EECAF1D1DFC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944A9-076A-8E44-8B09-E73C4E590C3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61BD0-D89B-B044-8CF0-EECAF1D1DFC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944A9-076A-8E44-8B09-E73C4E590C3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61BD0-D89B-B044-8CF0-EECAF1D1DFC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944A9-076A-8E44-8B09-E73C4E590C3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61BD0-D89B-B044-8CF0-EECAF1D1DFC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944A9-076A-8E44-8B09-E73C4E590C3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61BD0-D89B-B044-8CF0-EECAF1D1DFC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944A9-076A-8E44-8B09-E73C4E590C3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61BD0-D89B-B044-8CF0-EECAF1D1DFC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944A9-076A-8E44-8B09-E73C4E590C3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61BD0-D89B-B044-8CF0-EECAF1D1DFC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944A9-076A-8E44-8B09-E73C4E590C3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34497"/>
            <a:ext cx="7772400" cy="1470025"/>
          </a:xfrm>
        </p:spPr>
        <p:txBody>
          <a:bodyPr/>
          <a:lstStyle/>
          <a:p>
            <a:r>
              <a:rPr kumimoji="1" lang="en-US" altLang="zh-CN" dirty="0"/>
              <a:t>Tense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83" y="1504522"/>
            <a:ext cx="9033234" cy="35452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0" y="0"/>
          <a:ext cx="9154274" cy="68579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3447"/>
                <a:gridCol w="1479479"/>
                <a:gridCol w="1777429"/>
                <a:gridCol w="2244903"/>
                <a:gridCol w="2399016"/>
              </a:tblGrid>
              <a:tr h="685800">
                <a:tc rowSpan="2">
                  <a:txBody>
                    <a:bodyPr/>
                    <a:lstStyle/>
                    <a:p>
                      <a:pPr algn="ctr"/>
                      <a:r>
                        <a:rPr lang="zh-CN" sz="1400" b="1" kern="100">
                          <a:effectLst/>
                        </a:rPr>
                        <a:t>时</a:t>
                      </a:r>
                      <a:endParaRPr lang="zh-CN" sz="1400" b="1" kern="100">
                        <a:effectLst/>
                      </a:endParaRPr>
                    </a:p>
                    <a:p>
                      <a:pPr algn="ctr"/>
                      <a:r>
                        <a:rPr lang="zh-CN" sz="1400" b="1" kern="100">
                          <a:effectLst/>
                        </a:rPr>
                        <a:t>态</a:t>
                      </a:r>
                      <a:endParaRPr lang="zh-CN" sz="1400" b="1" kern="100">
                        <a:effectLst/>
                      </a:endParaRPr>
                    </a:p>
                    <a:p>
                      <a:pPr algn="ctr"/>
                      <a:r>
                        <a:rPr lang="zh-CN" sz="1400" b="1" kern="100">
                          <a:effectLst/>
                        </a:rPr>
                        <a:t>种</a:t>
                      </a:r>
                      <a:endParaRPr lang="zh-CN" sz="1400" b="1" kern="100">
                        <a:effectLst/>
                      </a:endParaRPr>
                    </a:p>
                    <a:p>
                      <a:pPr algn="ctr"/>
                      <a:r>
                        <a:rPr lang="zh-CN" sz="1400" b="1" kern="100">
                          <a:effectLst/>
                        </a:rPr>
                        <a:t>类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effectLst/>
                        </a:rPr>
                        <a:t>构成形式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ctr"/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2009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effectLst/>
                        </a:rPr>
                        <a:t>现在</a:t>
                      </a:r>
                      <a:endParaRPr lang="zh-CN" sz="1400" b="1" kern="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effectLst/>
                        </a:rPr>
                        <a:t>过去</a:t>
                      </a:r>
                      <a:endParaRPr lang="zh-CN" sz="1400" b="1" kern="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effectLst/>
                        </a:rPr>
                        <a:t>将来</a:t>
                      </a:r>
                      <a:endParaRPr lang="zh-CN" sz="1400" b="1" kern="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effectLst/>
                        </a:rPr>
                        <a:t>过去将来</a:t>
                      </a:r>
                      <a:endParaRPr lang="zh-CN" sz="1400" b="1" kern="100" dirty="0">
                        <a:effectLst/>
                      </a:endParaRPr>
                    </a:p>
                  </a:txBody>
                  <a:tcPr marL="68580" marR="68580" marT="0" marB="0"/>
                </a:tc>
              </a:tr>
              <a:tr h="1234439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>
                          <a:effectLst/>
                        </a:rPr>
                        <a:t>一般时态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</a:endParaRPr>
                    </a:p>
                    <a:p>
                      <a:pPr indent="342900" algn="ctr"/>
                      <a:r>
                        <a:rPr lang="en-US" sz="1400" b="1" kern="100">
                          <a:effectLst/>
                        </a:rPr>
                        <a:t>do/does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indent="400050" algn="ctr"/>
                      <a:r>
                        <a:rPr lang="en-US" sz="1400" b="1" kern="100" dirty="0">
                          <a:effectLst/>
                        </a:rPr>
                        <a:t>did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indent="171450" algn="ctr"/>
                      <a:r>
                        <a:rPr lang="en-US" sz="1400" b="1" kern="100" dirty="0">
                          <a:effectLst/>
                        </a:rPr>
                        <a:t>shall/</a:t>
                      </a:r>
                      <a:r>
                        <a:rPr lang="en-US" sz="1400" b="1" kern="100" dirty="0" err="1">
                          <a:effectLst/>
                        </a:rPr>
                        <a:t>will+do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</a:endParaRPr>
                    </a:p>
                    <a:p>
                      <a:pPr algn="ctr"/>
                      <a:r>
                        <a:rPr lang="en-US" sz="1400" b="1" kern="100">
                          <a:effectLst/>
                        </a:rPr>
                        <a:t>should/would+do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388744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>
                          <a:effectLst/>
                        </a:rPr>
                        <a:t>进行时态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</a:endParaRPr>
                    </a:p>
                    <a:p>
                      <a:pPr algn="ctr"/>
                      <a:r>
                        <a:rPr lang="en-US" sz="1400" b="1" kern="100">
                          <a:effectLst/>
                        </a:rPr>
                        <a:t>am/is/are+doing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</a:endParaRPr>
                    </a:p>
                    <a:p>
                      <a:pPr algn="ctr"/>
                      <a:r>
                        <a:rPr lang="en-US" sz="1400" b="1" kern="100">
                          <a:effectLst/>
                        </a:rPr>
                        <a:t>was/were+doing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ctr"/>
                      <a:r>
                        <a:rPr lang="en-US" sz="1400" b="1" kern="100" dirty="0">
                          <a:effectLst/>
                        </a:rPr>
                        <a:t>shall/</a:t>
                      </a:r>
                      <a:r>
                        <a:rPr lang="en-US" sz="1400" b="1" kern="100" dirty="0" err="1">
                          <a:effectLst/>
                        </a:rPr>
                        <a:t>will+be+doing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</a:endParaRPr>
                    </a:p>
                    <a:p>
                      <a:pPr algn="ctr"/>
                      <a:r>
                        <a:rPr lang="en-US" sz="1400" b="1" kern="100">
                          <a:effectLst/>
                        </a:rPr>
                        <a:t>should/would+be+doing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388744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>
                          <a:effectLst/>
                        </a:rPr>
                        <a:t>完成时态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</a:endParaRPr>
                    </a:p>
                    <a:p>
                      <a:pPr algn="ctr"/>
                      <a:r>
                        <a:rPr lang="en-US" sz="1400" b="1" kern="100">
                          <a:effectLst/>
                        </a:rPr>
                        <a:t>have/has+done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</a:endParaRPr>
                    </a:p>
                    <a:p>
                      <a:pPr algn="ctr"/>
                      <a:r>
                        <a:rPr lang="en-US" sz="1400" b="1" kern="100">
                          <a:effectLst/>
                        </a:rPr>
                        <a:t>had+done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</a:endParaRPr>
                    </a:p>
                    <a:p>
                      <a:pPr algn="ctr"/>
                      <a:r>
                        <a:rPr lang="en-US" sz="1400" b="1" kern="100">
                          <a:effectLst/>
                        </a:rPr>
                        <a:t>shall/will+have+done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</a:endParaRPr>
                    </a:p>
                    <a:p>
                      <a:pPr algn="ctr"/>
                      <a:r>
                        <a:rPr lang="en-US" sz="1400" b="1" kern="100">
                          <a:effectLst/>
                        </a:rPr>
                        <a:t>should/would+have+done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440180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>
                          <a:effectLst/>
                        </a:rPr>
                        <a:t>完成进行时态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</a:endParaRPr>
                    </a:p>
                    <a:p>
                      <a:pPr algn="ctr"/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</a:endParaRPr>
                    </a:p>
                    <a:p>
                      <a:pPr algn="ctr"/>
                      <a:r>
                        <a:rPr lang="en-US" sz="1400" b="1" kern="100">
                          <a:effectLst/>
                        </a:rPr>
                        <a:t>have/has+been</a:t>
                      </a:r>
                      <a:endParaRPr lang="zh-CN" sz="1400" b="1" kern="100">
                        <a:effectLst/>
                      </a:endParaRPr>
                    </a:p>
                    <a:p>
                      <a:pPr indent="628650" algn="ctr"/>
                      <a:r>
                        <a:rPr lang="en-US" sz="1400" b="1" kern="100">
                          <a:effectLst/>
                        </a:rPr>
                        <a:t>+doing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ctr"/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ctr"/>
                      <a:r>
                        <a:rPr lang="en-US" sz="1400" b="1" kern="100" dirty="0" err="1">
                          <a:effectLst/>
                        </a:rPr>
                        <a:t>had+been+doing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ctr"/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ctr"/>
                      <a:r>
                        <a:rPr lang="en-US" sz="1400" b="1" kern="100" dirty="0">
                          <a:effectLst/>
                        </a:rPr>
                        <a:t>shall/</a:t>
                      </a:r>
                      <a:r>
                        <a:rPr lang="en-US" sz="1400" b="1" kern="100" dirty="0" err="1">
                          <a:effectLst/>
                        </a:rPr>
                        <a:t>will+have+been+doing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ctr"/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ctr"/>
                      <a:r>
                        <a:rPr lang="en-US" sz="1400" b="1" kern="100" dirty="0">
                          <a:effectLst/>
                        </a:rPr>
                        <a:t>should/</a:t>
                      </a:r>
                      <a:r>
                        <a:rPr lang="en-US" sz="1400" b="1" kern="100" dirty="0" err="1">
                          <a:effectLst/>
                        </a:rPr>
                        <a:t>would+have+been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indent="971550" algn="ctr"/>
                      <a:r>
                        <a:rPr lang="en-US" sz="1400" b="1" kern="100" dirty="0">
                          <a:effectLst/>
                        </a:rPr>
                        <a:t>+doing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5960"/>
            <a:ext cx="9108040" cy="6755258"/>
          </a:xfrm>
        </p:spPr>
        <p:txBody>
          <a:bodyPr>
            <a:normAutofit fontScale="77500" lnSpcReduction="20000"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常用的有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种：一般现在时、一般过去时、一般将来时、一般过去将来时、现在进行时、过去进行时、将来进行时、现在完成时、现在完成进行时、过去完成时和将来完成时。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一、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一般现在时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构成：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do/does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33425" indent="-7334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常用词：常与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always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often, sometimes, usually, never, seldom, every morning, in the morning, once a month, now and then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</a:t>
            </a:r>
            <a:r>
              <a:rPr lang="zh-CN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经常性或习惯性发生的动作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，常与常用词连用。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usually get up at six o’clock.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我通常六点钟起床。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goes to school every day.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他每天去上学。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They go to the cinema twice a month.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他们一个月去看两次电影。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</a:t>
            </a:r>
            <a:r>
              <a:rPr lang="zh-CN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客观事实、真理和自然现象。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earth moves around the sun.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地球绕着太阳转。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Knowledge is power.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知识就是力量。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 is hot in summer and cold in winter.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夏天热冬天冷。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表示现在的特征或状态。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live in Lianyungang.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我居住在连云港。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They are students.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他们是学生。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表示正在进行的动作，用于倒装句中。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Look! Here comes the bus.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看！公共汽车来了。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Listen! There goes the bell.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听！铃响了。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⑤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when, before, until, as soon as, the moment</a:t>
            </a:r>
            <a:r>
              <a:rPr lang="zh-CN" altLang="zh-CN" sz="1800" u="sng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等引导的时间状语从句和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if, unless, even if</a:t>
            </a:r>
            <a:r>
              <a:rPr lang="zh-CN" altLang="zh-CN" sz="1800" u="sng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等引导的条件状语从句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中，</a:t>
            </a:r>
            <a:r>
              <a:rPr lang="zh-CN" altLang="zh-CN" sz="1800" u="sng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用一般现在时表示将来。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will go with you as soon as I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finish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my work.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我一完成工作就和你一起去。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If it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rains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tomorrow, we won’t go there.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如果明天下雨，我们就不去那儿了。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一些动词用一般现在时表示按规定、计划（主要指</a:t>
            </a:r>
            <a:r>
              <a:rPr lang="zh-CN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按时刻表、日程表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）或安排将要发生的动作。常见的动词有：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come, go, leave, depart, start, begin, stay, return, run, arrive, open, close, take, take off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plane takes off at 8 a.m. tomorrow.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飞机明天上午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点钟起飞。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meeting begins at 2:00 and ends at 5:00 in the afternoon.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会议下午两点钟开始，五点钟结束。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comes here tonight.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他今晚来这儿。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⑦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书报的标题，小说等情节介绍常用一般现在时。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Beckham Takes Football Movie Role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贝克汉姆出演足球电影。（新闻标题）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5960"/>
            <a:ext cx="9108040" cy="675525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二、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一般过去时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构成：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did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33425" indent="-7334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常用词：常与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yesterday, last week,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two days ago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just now,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other day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in the past,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 2000, at that time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表示在过去某一时间里发生的动作或存在的状态，常与常用词连用。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saw her in the street yesterday.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昨天在大街上我看见她了。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went home just now.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刚才他回家了。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表示过去经常性、习惯性的动作或状态，常与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always, often, sometimes, usually, never, seldom, every day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Their children often went hungry in the old days.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在旧社会，他们的孩子经常挨饿。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played football nearly every day last year.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去年他几乎天天踢足球。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She was always late last term.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上学期她总是迟到。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used to+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动词原形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would+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动词原形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也可表示过去经常或反复发生的动作。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used to go fishing.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他过去常常去钓鱼。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would sit under the tree and read English every morning.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每天早上他总是坐在树下读英语。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在时间、条件状语从句中表示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过去将要发生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的动作。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She would ring me up as soon as she arrived.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她一到达就给我打电话。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They would come if we promised to wait for them.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如果我们答应等他们，他们会来的。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⑤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一般过去时可与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today, this week, this month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等时间状语连用。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met him today.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今天我遇见他了。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came here late twice this week.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本周他迟到两次。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5960"/>
            <a:ext cx="9108040" cy="675525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zh-CN" altLang="zh-CN" sz="180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现在进行时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构成：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am/is/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are+doing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33425" indent="-7334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常用词：常与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now, right now, at present, at the moment, for the present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用法： 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表示现在正在进行的动作，常与常用词连用。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am talking and you are listening.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我正在讲话，你们正在听。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 are having an English class now.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现在我们正在上英语课。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She is doing her homework at present.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现在她正在做家庭作业。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表示现阶段正在进行的动作，但说话时不一定正在进行。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workers are building a new factory.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工人们正在新建一个工厂。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is writing a novel.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他正在写一部小说。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有些动词如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come, go, leave, arrive, start, open, return, stay, die, lose, take off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用现在进行时表示将来。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am coming in a minute.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一会儿我就来。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They are going there tomorrow.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明天他们要去那儿。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She is leaving for Beijing.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她要动身去北京。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现在进行时常与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always, often, usually, forever, constantly, continually, frequently, all the time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等副词连用，表示反复发生的或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习惯性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的动作，常表示不满、厌恶、抱怨或赞赏等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感情色彩。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Don’t believe him. He is always telling lies.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别相信他，他老是撒谎。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is always thinking of others.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他总是想着别人。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children are constantly disturbing us.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孩子们老是打扰我们。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Tom is usually leaving things about.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汤姆总是丢三落四。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⑤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表示一个动作刚刚开始。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tulip is opening.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郁金香刚刚开放。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I’m forgetting my English.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我的英语开始忘了。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一些表示感觉、感情、存在、占有与从属、思考与理解等的动词通常不可以用于进行时态。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see, hear, smell, taste, feel, notice, look, appear;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（感觉）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hate, love, like, fear, want, wish, prefer, refuse, forgive;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（感情）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be, exist, remain, stay;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（存在）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have, possess, own, contain, belong to, consist of, form; 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占有与从属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understand, know, believe, think, doubt, forget, remember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（思考与理解）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5960"/>
            <a:ext cx="9108040" cy="6755258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zh-CN" altLang="zh-CN" sz="180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过去进行时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构成：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was/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were+doing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33425" indent="-7334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常用词：常与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at this time yesterday, at that time, at that moment, at 8 o’clock yesterday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过去进行时表示过去某一时刻或某一阶段正在进行的动作，常与常用词连用。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 were having a class at this time yesterday.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昨天这个时候我们正在上课。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was watching TV at that time.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那时他正在看电视。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What were you doing at ten o’clock last night?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昨天晚上十点钟你在干什么？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表示在过去一段时间内持续进行的动作（有时可以间歇）。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 was raining last night.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昨晚一直在下雨。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 were discussing the plan the whole morning yesterday.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昨天整个上午我们一直在讨论这个计划。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常用于介绍故事的背景。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Once an Arab was traveling in the desert.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有一次一个阿拉伯人在沙漠里旅行。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 mother crocodile was looking for food near the bank.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一条母鳄鱼在岸边觅食。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过去进行时常与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always, often, usually, forever, constantly, continually, frequently, all the time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等副词连用，表示反复发生的或习惯性的动作，常表示不满、厌恶、抱怨或赞赏等感情色彩。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She was always finding fault with him.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她以前总是挑他的毛病。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was continually asking her questions.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他总是问她问题。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⑤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when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引导的从句表示一个短暂的时间点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谓语动词用一般过去时，主句用过去进行时；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while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引导的从句表示一段持续的时间，谓语动词用过去进行时，主句用一般过去时。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was writing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 letter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when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he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came.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当他来时，我正在写信。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 were walking in the street when I met my old friend.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当我遇见我的老朋友时，我们正在大街上散步。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While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 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were having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supper, the light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went out.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我们正在吃晚饭时，灯熄灭了。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telephone rang while she was reading.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当她看书时，电话响了。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5960"/>
            <a:ext cx="9108040" cy="6755258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将来进行时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构成：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shall/will +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be+doing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shall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用于第一人称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will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可用于各种人称。）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33425" indent="-7334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常用词：常与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at this time tomorrow,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at 8 o’clock next Sunday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用法： 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表示在将来某一时间内正在进行的动作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常与常用词连用。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shall be seeing a friend off at this time tomorrow.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明天这个时候我将送一位朋友。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What will you be doing at 8 o’clock this evening?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今天晚上八点钟你将干什么？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表示稍晚一点儿的安排。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 a few minutes the meeting will be going on.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几分钟后会议将继续举行。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 are studying Unit 1 this week, and next week we will be studying Unit 2.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这周我们学习第一单元，下周我们将学第二单元。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表示对将要发生的动作的预测。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weather report says that it will be raining when we arrive in London.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天气预报说当我们到达伦敦时天将下雨。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train will be arriving soon.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火车很快就要到了。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用在问句中，表示委婉、礼貌。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Will you be visiting your uncle in London?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在伦敦你将看望你叔叔吗？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When will you be coming again?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你什么时候再来？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5960"/>
            <a:ext cx="9108040" cy="675525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zh-CN" altLang="zh-CN" sz="180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现在完成时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构成：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have/</a:t>
            </a:r>
            <a:r>
              <a:rPr lang="en-US" altLang="zh-CN" sz="1800" u="sng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has+done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33425" indent="-7334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常用词：常与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already, yet, just, ever, now, before,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by this time, so far, recently, lately,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today, this morning,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up to now,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all one’s life,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since, 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for+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一段时间”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in the past/last+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一段时间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”等连用。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用法： 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表示过去发生的动作对现在造成的影响或结果，常与常用词连用。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have seen the film.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我已看过那部电影了。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China has already made great progress in science and technology.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中国在科技方面已经取得了巨大的进步。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表示开始于过去、持续到现在并可能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持续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下去的动作或状态。只能用于某些带有延续意义的动词。常与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these days, now, up to now, today, this week, so far, since,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for+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一段时间”等时间状语连用。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They have studied English for six years.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他们学英语已有六年了。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has lived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here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since 1949.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自从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1949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以来，他一直住在这儿。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has grown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such a lot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since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we last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saw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him.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自从上次看见他以来，他已长高了许多。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Now I have finished the work.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现在我已完成工作了。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过去发生过一次或多次的动作，已成为某种经验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have read the book many times.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我已看过那本书许多遍。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 have all played with snow and ice.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我们都玩过雪和冰。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has been to the USA.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他到过美国。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现在完成时还可用在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时间和条件状语从句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中，表示将来某时完成的动作。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I’ll go to your home as soon as I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have finished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my homework.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我一完成家庭作业就去你家。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If it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has stopped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snowing in the morning, we’ll go to the park.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如果早上停止下雪，我们就去公园。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Don’t get off the bus until it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has stopped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等车完全停下来后再下车。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Once you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have promised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you must keep it.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一旦许下诺言，你务必遵守。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⑤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主句是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It/This/That is the first (second…) time that…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，从句中的谓语动词用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现在完成时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 is the third time that I have visited Beijing.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这是我第三次参观北京。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⑥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It/This/That is +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形容词最高级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n.+that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that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从句中的谓语动词用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现在完成时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3335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This is the best film that I have ever seen.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这是我看过的最好的电影。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⑦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It has been/is+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一段时间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+since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从句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+did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。主句常用现在完成时或一般现在时，从句用一般过去时。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3335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 has been/is six years since I came here.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我来这儿已经六年了。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14311638533252_.pic_hd.jpg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655" b="-4655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4321638533275_.pic_hd.jpg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547" b="-6547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4331638533294_.pic_hd.jpg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824" b="-13824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4341638533314_.pic_hd.jpg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504" b="-7504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5960"/>
            <a:ext cx="9108040" cy="675525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过去完成时的用法：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构成：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had+done</a:t>
            </a:r>
            <a:endParaRPr lang="en-US" altLang="zh-CN" sz="1800" kern="100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常用词：常与“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by (the end of ) +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过去时间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by the time+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一般过去时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态的句子”及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before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,when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since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等引出的短语或从句连用。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表示在过去某一时刻或动作之前就已发生的动作或存在的状态，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即“过去的过去”。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常与“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by (the end of ) +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过去时间”，“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by the time+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一般过去时态的句子”或以“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before/until/when/than+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一般过去时态的句子”连用。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had learned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5000 English words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by the end of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last term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到上学期末为止，我们已经学了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5000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个英语单词。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u="sng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By the time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arrived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there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the famous film star had left.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到我们到达时，那位著名的影星已经走了。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u="sng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When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got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to the station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the train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had left.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当我们到达火车站时，火车已经走了。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had known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about the case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before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read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the paper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我在读报前就已经知道这个案子了。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rained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yesterday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after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it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had been dried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for many months.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干旱了好几个月之后，昨天下雨了。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表示从过去某一时刻开始，一直持续到过去另一时刻的动作或状态，常与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for, since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等引导的时间状语连用。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told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us that he had done the scientific research for five years.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他告诉我们他做科研工作已经五年了。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said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she had made much progress since she came here.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她说自从她到这儿后已取得了很大的进步。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过去完成时用于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no sooner…than…; hardly/scarcely/barely…when…(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一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…就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句型中。当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no sooner, hardly/scarcely/barely, 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位于句首时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需倒装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had no sooner gone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 bed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than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phone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rang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他刚一上床电话就响了。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Hardly had they got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home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when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it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began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 rain.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他们刚一到家天就开始下雨了。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5960"/>
            <a:ext cx="9108040" cy="6755258"/>
          </a:xfrm>
        </p:spPr>
        <p:txBody>
          <a:bodyPr>
            <a:normAutofit fontScale="92500"/>
          </a:bodyPr>
          <a:lstStyle/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主句是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It/This/That was the first (second…) time that…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”，从句中的谓语动词用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过去完成时。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 was the third time that I had visited Beijing.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这是我第三次参观北京。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66675" indent="-66675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⑤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在句型“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 was/had been+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一段时间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+since+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从句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”中，从句中的谓语动词用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过去完成时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66675" indent="-6667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It was/had been ten years since we had left Beijing.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我们离开北京有十年了。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⑥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mean, plan, intend; hope; want; think, suppose, expect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等词的过去完成时可用来表示过去未曾实现的打算、希望、意图等。意为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本打算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本希望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本想要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本以为……”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，但实际上并未干。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had meant to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help them,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but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we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were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busy then.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我们本打算帮助他们的，但当时我们很忙。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They had wanted to take part but couldn’t get there in time.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他们原想参加的，但没能及时赶到那里。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⑦表示一种未实现的愿望或想法，常用于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引导的与过去事实相反的条件句以及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wish, if only, as if, would rather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等引导的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与过去事实相反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的从句中。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you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had worked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hard, you would have passed the exam.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如果你努力学习的话，你就可以通过考试了。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wish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 come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here yesterday.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要是我昨天来这儿就好了。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If only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you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 seen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film.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要是你看过那部电影就好了。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 looked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as if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time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 not had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any effect on him.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光阴好像一点都没有改变他。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⑧如果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before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引导的时间状语从句用一般过去时，主句可用一般过去时代替过去完成时；如果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after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引导时间状语从句，主句用一般过去时，从句可用一般过去时代替过去完成时。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3335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John </a:t>
            </a:r>
            <a:r>
              <a:rPr lang="en-US" altLang="zh-CN" sz="1800" kern="1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(had) left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before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I </a:t>
            </a:r>
            <a:r>
              <a:rPr lang="en-US" altLang="zh-CN" sz="1800" kern="1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came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home.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在我回家之前约翰就走了。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3335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 </a:t>
            </a:r>
            <a:r>
              <a:rPr lang="en-US" altLang="zh-CN" sz="1800" kern="1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began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to write a review </a:t>
            </a:r>
            <a:r>
              <a:rPr lang="en-US" altLang="zh-CN" sz="1800" kern="1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after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he </a:t>
            </a:r>
            <a:r>
              <a:rPr lang="en-US" altLang="zh-CN" sz="1800" kern="1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(had) watched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film twice.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看了那部电影两次后，他开始写评论。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4381638533400_.pic_hd.jpg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1540" b="-21540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5960"/>
            <a:ext cx="9108040" cy="6755258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一般将来时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构成</a:t>
            </a:r>
            <a:r>
              <a:rPr lang="zh-CN" altLang="zh-CN" sz="1800" kern="1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800" kern="1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shall/</a:t>
            </a:r>
            <a:r>
              <a:rPr lang="en-US" altLang="zh-CN" sz="1800" kern="100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will+do</a:t>
            </a:r>
            <a:r>
              <a:rPr lang="en-US" altLang="zh-CN" sz="1800" kern="1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shall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用于第一人称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,will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可用于各种人称。）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33425" indent="-7334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常用词：常与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tomorrow, tomorrow morning, next week, this afternoon, the day after tomorrow, in 2060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表示将要发生的动作或存在的状态，常与常用词连用。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 will visit the Great Wall tomorrow.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明天我们要去参观长城。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will be back in a week.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一周后我将回来。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表示将来的看法、假定或推测。常用于由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think, believe, suppose, expect, know, hope, doubt, wonder, be afraid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等引导的宾语从句中。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think he will visit his teacher.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我认为他会去看望他的老师的。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 hope they will pass the exam.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我们希望他们将通过考试。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常和时间状语、条件状语从句连用。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When it gets warmer, the snow will start to melt.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天气变暖，雪就开始融化。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If you go there, you will see him.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如果你去那儿，你将看见他。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用于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祈使句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名词短语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+and/or+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陈述句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Use your head, and you will find a way.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动动脑筋，你就会想出办法的。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Hurry up, or you will be late.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快点，否则你会迟到的。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One more step further, and I will beat you flat.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再往前走一步，我将把你揍扁。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5960"/>
            <a:ext cx="9108040" cy="675525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一般将来时除了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1800" b="1" kern="1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shall/will +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动词原形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”外，还有以下几种形式：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00025" indent="-200025" algn="just"/>
            <a:r>
              <a:rPr lang="zh-CN" altLang="zh-CN" sz="1800" kern="100" dirty="0">
                <a:latin typeface="Times New Roman" panose="02020603050405020304" pitchFamily="18" charset="0"/>
                <a:cs typeface="宋体" panose="02010600030101010101" pitchFamily="2" charset="-122"/>
              </a:rPr>
              <a:t>②“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be (am/is/are) going to+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动词原形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表示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打算、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准备干某事或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有迹象要发生的事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I’m going to play football tomorrow.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我打算明天踢足球。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play is going to be put on next week.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这部戏下周将上演。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Look at the dark clouds. It is going to rain.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看天上的乌云，要下雨了。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latin typeface="Times New Roman" panose="02020603050405020304" pitchFamily="18" charset="0"/>
                <a:cs typeface="宋体" panose="02010600030101010101" pitchFamily="2" charset="-122"/>
              </a:rPr>
              <a:t>③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be (am/is/are) to+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动词原形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表示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计划、安排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将要发生的动作。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 are to meet our professor at the station this afternoon.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今天下午我们要去火车站接教授。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Am I to wait here till their arrival?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我要在这儿一直等到他们抵达吗？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00025" indent="-200025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④ 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 (am/is/are) about to+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动词原形；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 on the point of +doing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可以表示将来，表示正要干某事或即将干某事。不能与具体的时间连用，但可以和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when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引导的时间状语连用。即：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am/is/are about to do 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sth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. when… ; am/is/are on the point of doing 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sth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. when…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意为“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正要干……这时…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…”。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 are about to leave.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我们即将动身。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am about to go out when the phone rings.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我正要出去，这时电话响了。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She is on the point of leaving when I arrive.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她正要出去，这时我到了。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00025" indent="-200025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⑤“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be (am/is/are) +doing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这些动词有：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come, go, leave, arrive, start, open, return, stay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am coming in a minute.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一会儿我就来。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They are going there tomorrow.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明天他们要去那儿。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She is leaving for Beijing.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她要动身去北京。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latin typeface="Times New Roman" panose="02020603050405020304" pitchFamily="18" charset="0"/>
                <a:cs typeface="宋体" panose="02010600030101010101" pitchFamily="2" charset="-122"/>
              </a:rPr>
              <a:t>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有些动词可以用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一般现在时表示将来。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这些动词有：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be, come, go, leave, arrive, take off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Tomorrow is Sunday.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明天是星期天。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meeting starts at five o’clock.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会议将于五点钟开始。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plane takes off at five p.m..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飞机下午五点钟起飞。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4411638533457_.pic_hd.jpg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052" b="-805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4421638533471_.pic_hd.jpg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619" b="-9619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4431638533488_.pic_hd.jpg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334" b="-7334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4441638533509_.pic_hd.jpg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105" b="-7105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4451638533529_.pic_hd.jpg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14" b="-15514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4461638533544_.pic_hd.jpg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299" b="-7299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5960"/>
            <a:ext cx="9108040" cy="6755258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将来完成时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的用法：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构成：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shall/will +have +done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shall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用于第一人称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will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可用于各种人称。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18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常用词：常与“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by (the end of) +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将来时间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ever, never, soon,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before long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,when, if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用法： 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-13335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将来完成时表示在将来某一时间之前完成的动作，并往往对将来某一时间产生影响，常与常用词连用。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1800" kern="1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shall have finished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reading the book </a:t>
            </a:r>
            <a:r>
              <a:rPr lang="en-US" altLang="zh-CN" sz="1800" kern="1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by the end of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this week.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我将在本周末前读完这本书。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Before long, he will have forgotten all about the matter.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不久以后，他很快就会把这件事全忘了。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将来完成时往往可和时间或条件状语从句连用。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When I have done that, I shall have done all I was supposed to do.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我做完这件事，就做了我全部应做的事。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If you come at six o’clock, I shall not yet have finished dinner.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如果你六点钟来，我还没有吃完晚饭。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will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可用作情态动词，有“大概，料想是”等含义，有时并非表达“将要”的含义。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You will have heard the news, so I need not repeat it.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你们一定已经听到消息了，所以我就没有必要重复了。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They will have received our letter now.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他们这时一定收到我们的信了。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14471638533561_.pic_hd.jpg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601" b="-7601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5960"/>
            <a:ext cx="9108040" cy="6755258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常见各种时态及含有情态动词的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被动语态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的构成：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①一般现在时：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am/is/are + done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You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are required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to do this.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②一般过去时：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was/were + done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The story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was told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by her.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③一般将来时：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will/shall + be + done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The problem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will be discussed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tomorrow.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④现在进行时：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am/is/are + being + done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The road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 being widened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⑤过去进行时：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was/were + being + done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The new tool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was being made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⑥现在完成时：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have/has + been + done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The novel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has been read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⑦过去完成时：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had + been + done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He said that the work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 been finished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⑧将来完成时：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will/shall + have + been + done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The work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will have been finished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by tomorrow.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⑨过去将来时：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would/should + be + done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He said that the trees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would be planted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zh-CN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⑩情态动词的被动语态：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can/must…+ be + done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TV </a:t>
            </a:r>
            <a:r>
              <a:rPr lang="en-US" altLang="zh-CN" sz="1800" u="sng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can be watched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by us every night.</a:t>
            </a:r>
            <a:endParaRPr lang="zh-CN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12610</Words>
  <Application>WPS 演示</Application>
  <PresentationFormat>全屏显示(4:3)</PresentationFormat>
  <Paragraphs>358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主题</vt:lpstr>
      <vt:lpstr>Tense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Tense</dc:title>
  <dc:creator>Jing Miao</dc:creator>
  <cp:lastModifiedBy>Violet liu</cp:lastModifiedBy>
  <cp:revision>10</cp:revision>
  <dcterms:created xsi:type="dcterms:W3CDTF">2021-12-03T12:06:00Z</dcterms:created>
  <dcterms:modified xsi:type="dcterms:W3CDTF">2025-11-27T08:02:53Z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C9E9BFAF97124A3A9AB5FA81AE6443FB_12</vt:lpwstr>
  </property>
  <property fmtid="{D5CDD505-2E9C-101B-9397-08002B2CF9AE}" pid="3" name="KSOProductBuildVer">
    <vt:lpwstr>2052-12.1.0.23542</vt:lpwstr>
  </property>
</Properties>
</file>