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9"/>
  </p:notesMasterIdLst>
  <p:sldIdLst>
    <p:sldId id="256" r:id="rId2"/>
    <p:sldId id="832" r:id="rId3"/>
    <p:sldId id="836" r:id="rId4"/>
    <p:sldId id="782" r:id="rId5"/>
    <p:sldId id="820" r:id="rId6"/>
    <p:sldId id="821" r:id="rId7"/>
    <p:sldId id="815" r:id="rId8"/>
    <p:sldId id="816" r:id="rId9"/>
    <p:sldId id="817" r:id="rId10"/>
    <p:sldId id="833" r:id="rId11"/>
    <p:sldId id="834" r:id="rId12"/>
    <p:sldId id="835" r:id="rId13"/>
    <p:sldId id="823" r:id="rId14"/>
    <p:sldId id="824" r:id="rId15"/>
    <p:sldId id="825" r:id="rId16"/>
    <p:sldId id="826" r:id="rId17"/>
    <p:sldId id="827" r:id="rId18"/>
    <p:sldId id="819" r:id="rId19"/>
    <p:sldId id="814" r:id="rId20"/>
    <p:sldId id="828" r:id="rId21"/>
    <p:sldId id="829" r:id="rId22"/>
    <p:sldId id="830" r:id="rId23"/>
    <p:sldId id="831" r:id="rId24"/>
    <p:sldId id="805" r:id="rId25"/>
    <p:sldId id="799" r:id="rId26"/>
    <p:sldId id="801" r:id="rId27"/>
    <p:sldId id="802" r:id="rId28"/>
    <p:sldId id="804" r:id="rId29"/>
    <p:sldId id="800" r:id="rId30"/>
    <p:sldId id="803" r:id="rId31"/>
    <p:sldId id="822" r:id="rId32"/>
    <p:sldId id="787" r:id="rId33"/>
    <p:sldId id="788" r:id="rId34"/>
    <p:sldId id="789" r:id="rId35"/>
    <p:sldId id="790" r:id="rId36"/>
    <p:sldId id="791" r:id="rId37"/>
    <p:sldId id="792" r:id="rId38"/>
    <p:sldId id="786" r:id="rId39"/>
    <p:sldId id="784" r:id="rId40"/>
    <p:sldId id="793" r:id="rId41"/>
    <p:sldId id="794" r:id="rId42"/>
    <p:sldId id="776" r:id="rId43"/>
    <p:sldId id="777" r:id="rId44"/>
    <p:sldId id="778" r:id="rId45"/>
    <p:sldId id="428" r:id="rId46"/>
    <p:sldId id="426" r:id="rId47"/>
    <p:sldId id="427" r:id="rId48"/>
    <p:sldId id="429" r:id="rId49"/>
    <p:sldId id="373" r:id="rId50"/>
    <p:sldId id="376" r:id="rId51"/>
    <p:sldId id="377" r:id="rId52"/>
    <p:sldId id="378" r:id="rId53"/>
    <p:sldId id="402" r:id="rId54"/>
    <p:sldId id="403" r:id="rId55"/>
    <p:sldId id="423" r:id="rId56"/>
    <p:sldId id="424" r:id="rId57"/>
    <p:sldId id="425" r:id="rId58"/>
    <p:sldId id="401" r:id="rId59"/>
    <p:sldId id="417" r:id="rId60"/>
    <p:sldId id="418" r:id="rId61"/>
    <p:sldId id="419" r:id="rId62"/>
    <p:sldId id="421" r:id="rId63"/>
    <p:sldId id="420" r:id="rId64"/>
    <p:sldId id="422" r:id="rId65"/>
    <p:sldId id="405" r:id="rId66"/>
    <p:sldId id="406" r:id="rId67"/>
    <p:sldId id="407" r:id="rId68"/>
    <p:sldId id="408" r:id="rId69"/>
    <p:sldId id="409" r:id="rId70"/>
    <p:sldId id="400" r:id="rId71"/>
    <p:sldId id="393" r:id="rId72"/>
    <p:sldId id="394" r:id="rId73"/>
    <p:sldId id="395" r:id="rId74"/>
    <p:sldId id="315" r:id="rId75"/>
    <p:sldId id="318" r:id="rId76"/>
    <p:sldId id="338" r:id="rId77"/>
    <p:sldId id="337" r:id="rId78"/>
    <p:sldId id="339" r:id="rId79"/>
    <p:sldId id="392" r:id="rId80"/>
    <p:sldId id="388" r:id="rId81"/>
    <p:sldId id="389" r:id="rId82"/>
    <p:sldId id="322" r:id="rId83"/>
    <p:sldId id="340" r:id="rId84"/>
    <p:sldId id="341" r:id="rId85"/>
    <p:sldId id="323" r:id="rId86"/>
    <p:sldId id="390" r:id="rId87"/>
    <p:sldId id="391" r:id="rId88"/>
    <p:sldId id="342" r:id="rId89"/>
    <p:sldId id="335" r:id="rId90"/>
    <p:sldId id="336" r:id="rId91"/>
    <p:sldId id="387" r:id="rId92"/>
    <p:sldId id="327" r:id="rId93"/>
    <p:sldId id="328" r:id="rId94"/>
    <p:sldId id="329" r:id="rId95"/>
    <p:sldId id="330" r:id="rId96"/>
    <p:sldId id="324" r:id="rId97"/>
    <p:sldId id="331" r:id="rId98"/>
    <p:sldId id="320" r:id="rId99"/>
    <p:sldId id="332" r:id="rId100"/>
    <p:sldId id="333" r:id="rId101"/>
    <p:sldId id="334" r:id="rId102"/>
    <p:sldId id="319" r:id="rId103"/>
    <p:sldId id="325" r:id="rId104"/>
    <p:sldId id="326" r:id="rId105"/>
    <p:sldId id="304" r:id="rId106"/>
    <p:sldId id="305" r:id="rId107"/>
    <p:sldId id="314" r:id="rId108"/>
    <p:sldId id="296" r:id="rId109"/>
    <p:sldId id="307" r:id="rId110"/>
    <p:sldId id="308" r:id="rId111"/>
    <p:sldId id="311" r:id="rId112"/>
    <p:sldId id="312" r:id="rId113"/>
    <p:sldId id="306" r:id="rId114"/>
    <p:sldId id="297" r:id="rId115"/>
    <p:sldId id="313" r:id="rId116"/>
    <p:sldId id="302" r:id="rId117"/>
    <p:sldId id="303" r:id="rId118"/>
    <p:sldId id="309" r:id="rId119"/>
    <p:sldId id="310" r:id="rId120"/>
    <p:sldId id="285" r:id="rId121"/>
    <p:sldId id="289" r:id="rId122"/>
    <p:sldId id="298" r:id="rId123"/>
    <p:sldId id="299" r:id="rId124"/>
    <p:sldId id="293" r:id="rId125"/>
    <p:sldId id="286" r:id="rId126"/>
    <p:sldId id="280" r:id="rId127"/>
    <p:sldId id="281" r:id="rId128"/>
    <p:sldId id="282" r:id="rId129"/>
    <p:sldId id="288" r:id="rId130"/>
    <p:sldId id="277" r:id="rId131"/>
    <p:sldId id="283" r:id="rId132"/>
    <p:sldId id="278" r:id="rId133"/>
    <p:sldId id="279" r:id="rId134"/>
    <p:sldId id="271" r:id="rId135"/>
    <p:sldId id="272" r:id="rId136"/>
    <p:sldId id="274" r:id="rId137"/>
    <p:sldId id="273" r:id="rId138"/>
    <p:sldId id="263" r:id="rId139"/>
    <p:sldId id="267" r:id="rId140"/>
    <p:sldId id="268" r:id="rId141"/>
    <p:sldId id="269" r:id="rId142"/>
    <p:sldId id="258" r:id="rId143"/>
    <p:sldId id="261" r:id="rId144"/>
    <p:sldId id="262" r:id="rId145"/>
    <p:sldId id="260" r:id="rId146"/>
    <p:sldId id="257" r:id="rId147"/>
    <p:sldId id="259" r:id="rId1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静 刘" initials="静刘"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6" autoAdjust="0"/>
    <p:restoredTop sz="94660"/>
  </p:normalViewPr>
  <p:slideViewPr>
    <p:cSldViewPr snapToGrid="0">
      <p:cViewPr varScale="1">
        <p:scale>
          <a:sx n="49" d="100"/>
          <a:sy n="49" d="100"/>
        </p:scale>
        <p:origin x="33" y="4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notesMaster" Target="notesMasters/notesMaster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commentAuthors" Target="commentAuthor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6B8191-1C6E-45C8-8751-95B10CA0B058}" type="datetimeFigureOut">
              <a:rPr lang="zh-CN" altLang="en-US" smtClean="0"/>
              <a:t>2025/11/28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3D5CC9-6006-4D99-996C-AD4614B77F5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BFD194C-6B5B-44A3-A05F-E0FA1564C377}"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BFD194C-6B5B-44A3-A05F-E0FA1564C377}"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BFD194C-6B5B-44A3-A05F-E0FA1564C377}"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ABFD194C-6B5B-44A3-A05F-E0FA1564C377}" type="datetimeFigureOut">
              <a:rPr lang="zh-CN" altLang="en-US" smtClean="0"/>
              <a:t>2025/11/28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ABFD194C-6B5B-44A3-A05F-E0FA1564C377}" type="datetimeFigureOut">
              <a:rPr lang="zh-CN" altLang="en-US" smtClean="0"/>
              <a:t>2025/11/28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BFD194C-6B5B-44A3-A05F-E0FA1564C377}" type="datetimeFigureOut">
              <a:rPr lang="zh-CN" altLang="en-US" smtClean="0"/>
              <a:t>2025/11/28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BFD194C-6B5B-44A3-A05F-E0FA1564C377}" type="datetimeFigureOut">
              <a:rPr lang="zh-CN" altLang="en-US" smtClean="0"/>
              <a:t>2025/11/28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BFD194C-6B5B-44A3-A05F-E0FA1564C377}" type="datetimeFigureOut">
              <a:rPr lang="zh-CN" altLang="en-US" smtClean="0"/>
              <a:t>2025/11/28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BFD194C-6B5B-44A3-A05F-E0FA1564C377}" type="datetimeFigureOut">
              <a:rPr lang="zh-CN" altLang="en-US" smtClean="0"/>
              <a:t>2025/11/28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BFD194C-6B5B-44A3-A05F-E0FA1564C377}"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BFD194C-6B5B-44A3-A05F-E0FA1564C377}"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FD194C-6B5B-44A3-A05F-E0FA1564C377}" type="datetimeFigureOut">
              <a:rPr lang="zh-CN" altLang="en-US" smtClean="0"/>
              <a:t>2025/11/28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715B07-1684-423C-8747-FBD93A94154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hyperlink" Target="https://baike.so.com/doc/5410363-5648446.html" TargetMode="External"/><Relationship Id="rId4" Type="http://schemas.openxmlformats.org/officeDocument/2006/relationships/tags" Target="../tags/tag4.xml"/><Relationship Id="rId9"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凤</a:t>
            </a:r>
            <a:r>
              <a:rPr lang="en-US" altLang="zh-CN" dirty="0"/>
              <a:t>+</a:t>
            </a:r>
            <a:r>
              <a:rPr lang="zh-CN" altLang="en-US"/>
              <a:t>卷</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B66EF-F6A7-B64C-5F73-1A1239F58D58}"/>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0F4CFA9A-80C4-F79F-29F2-2440115A52AE}"/>
              </a:ext>
            </a:extLst>
          </p:cNvPr>
          <p:cNvSpPr>
            <a:spLocks noGrp="1"/>
          </p:cNvSpPr>
          <p:nvPr>
            <p:ph idx="1"/>
          </p:nvPr>
        </p:nvSpPr>
        <p:spPr>
          <a:xfrm>
            <a:off x="0" y="0"/>
            <a:ext cx="12192000" cy="6858000"/>
          </a:xfrm>
        </p:spPr>
        <p:txBody>
          <a:bodyPr>
            <a:normAutofit/>
          </a:bodyPr>
          <a:lstStyle/>
          <a:p>
            <a:r>
              <a:rPr lang="zh-CN" altLang="en-US" sz="3600" b="1" dirty="0"/>
              <a:t>单元测试卷</a:t>
            </a:r>
            <a:r>
              <a:rPr lang="en-US" altLang="zh-CN" sz="3600" b="1" dirty="0"/>
              <a:t>1  </a:t>
            </a:r>
            <a:r>
              <a:rPr lang="en-US" altLang="zh-CN" sz="3600" b="1" dirty="0">
                <a:solidFill>
                  <a:srgbClr val="FF0000"/>
                </a:solidFill>
              </a:rPr>
              <a:t>subscription n.</a:t>
            </a:r>
            <a:r>
              <a:rPr lang="zh-CN" altLang="en-US" sz="3600" b="1" dirty="0">
                <a:solidFill>
                  <a:srgbClr val="FF0000"/>
                </a:solidFill>
              </a:rPr>
              <a:t>订阅</a:t>
            </a:r>
            <a:r>
              <a:rPr lang="en-US" altLang="zh-CN" sz="3600" b="1" dirty="0">
                <a:solidFill>
                  <a:srgbClr val="FF0000"/>
                </a:solidFill>
              </a:rPr>
              <a:t>/</a:t>
            </a:r>
            <a:r>
              <a:rPr lang="zh-CN" altLang="en-US" sz="3600" b="1" dirty="0">
                <a:solidFill>
                  <a:srgbClr val="FF0000"/>
                </a:solidFill>
              </a:rPr>
              <a:t>购 </a:t>
            </a:r>
            <a:r>
              <a:rPr lang="en-US" altLang="zh-CN" sz="3600" b="1" dirty="0">
                <a:solidFill>
                  <a:srgbClr val="FF0000"/>
                </a:solidFill>
              </a:rPr>
              <a:t>subscribe v.</a:t>
            </a:r>
          </a:p>
          <a:p>
            <a:r>
              <a:rPr lang="en-US" altLang="zh-CN" sz="3600" b="1" dirty="0">
                <a:solidFill>
                  <a:srgbClr val="FF0000"/>
                </a:solidFill>
              </a:rPr>
              <a:t> lay out</a:t>
            </a:r>
            <a:r>
              <a:rPr lang="zh-CN" altLang="en-US" sz="3600" b="1" dirty="0">
                <a:solidFill>
                  <a:srgbClr val="FF0000"/>
                </a:solidFill>
              </a:rPr>
              <a:t>陈列展示</a:t>
            </a:r>
            <a:r>
              <a:rPr lang="en-US" altLang="zh-CN" sz="3600" b="1" dirty="0">
                <a:solidFill>
                  <a:srgbClr val="FF0000"/>
                </a:solidFill>
              </a:rPr>
              <a:t>;</a:t>
            </a:r>
            <a:r>
              <a:rPr lang="zh-CN" altLang="en-US" sz="3600" b="1" dirty="0">
                <a:solidFill>
                  <a:srgbClr val="FF0000"/>
                </a:solidFill>
              </a:rPr>
              <a:t>设计</a:t>
            </a:r>
            <a:r>
              <a:rPr lang="en-US" altLang="zh-CN" sz="3600" b="1" dirty="0">
                <a:solidFill>
                  <a:srgbClr val="FF0000"/>
                </a:solidFill>
              </a:rPr>
              <a:t>(laid*2)</a:t>
            </a:r>
            <a:r>
              <a:rPr lang="zh-CN" altLang="en-US" sz="3600" b="1" dirty="0">
                <a:solidFill>
                  <a:srgbClr val="FF0000"/>
                </a:solidFill>
              </a:rPr>
              <a:t> </a:t>
            </a:r>
            <a:r>
              <a:rPr lang="en-US" altLang="zh-CN" sz="3600" b="1" dirty="0">
                <a:solidFill>
                  <a:srgbClr val="FF0000"/>
                </a:solidFill>
              </a:rPr>
              <a:t>diet products</a:t>
            </a:r>
            <a:r>
              <a:rPr lang="zh-CN" altLang="en-US" sz="3600" b="1" dirty="0">
                <a:solidFill>
                  <a:srgbClr val="FF0000"/>
                </a:solidFill>
              </a:rPr>
              <a:t>减肥产品</a:t>
            </a:r>
            <a:endParaRPr lang="en-US" altLang="zh-CN" sz="3600" b="1" dirty="0">
              <a:solidFill>
                <a:srgbClr val="FF0000"/>
              </a:solidFill>
            </a:endParaRPr>
          </a:p>
          <a:p>
            <a:r>
              <a:rPr lang="en-US" altLang="zh-CN" sz="3600" b="1" dirty="0">
                <a:solidFill>
                  <a:srgbClr val="FF0000"/>
                </a:solidFill>
              </a:rPr>
              <a:t> give/receive a compliment</a:t>
            </a:r>
            <a:r>
              <a:rPr lang="zh-CN" altLang="en-US" b="1" dirty="0">
                <a:solidFill>
                  <a:srgbClr val="FF0000"/>
                </a:solidFill>
              </a:rPr>
              <a:t>给予</a:t>
            </a:r>
            <a:r>
              <a:rPr lang="en-US" altLang="zh-CN" b="1" dirty="0">
                <a:solidFill>
                  <a:srgbClr val="FF0000"/>
                </a:solidFill>
              </a:rPr>
              <a:t>/</a:t>
            </a:r>
            <a:r>
              <a:rPr lang="zh-CN" altLang="en-US" b="1" dirty="0">
                <a:solidFill>
                  <a:srgbClr val="FF0000"/>
                </a:solidFill>
              </a:rPr>
              <a:t>接受赞美</a:t>
            </a:r>
            <a:endParaRPr lang="en-US" altLang="zh-CN" b="1" dirty="0">
              <a:solidFill>
                <a:srgbClr val="FF0000"/>
              </a:solidFill>
            </a:endParaRPr>
          </a:p>
          <a:p>
            <a:r>
              <a:rPr lang="en-US" altLang="zh-CN" sz="3600" b="1" dirty="0">
                <a:solidFill>
                  <a:srgbClr val="FF0000"/>
                </a:solidFill>
              </a:rPr>
              <a:t> in a hurry</a:t>
            </a:r>
            <a:r>
              <a:rPr lang="zh-CN" altLang="en-US" sz="3600" b="1" dirty="0">
                <a:solidFill>
                  <a:srgbClr val="FF0000"/>
                </a:solidFill>
              </a:rPr>
              <a:t>匆忙 </a:t>
            </a:r>
            <a:r>
              <a:rPr lang="en-US" altLang="zh-CN" sz="3600" b="1" dirty="0">
                <a:solidFill>
                  <a:srgbClr val="FF0000"/>
                </a:solidFill>
              </a:rPr>
              <a:t> in a mess</a:t>
            </a:r>
            <a:r>
              <a:rPr lang="zh-CN" altLang="en-US" sz="3600" b="1" dirty="0">
                <a:solidFill>
                  <a:srgbClr val="FF0000"/>
                </a:solidFill>
              </a:rPr>
              <a:t>一团糟</a:t>
            </a:r>
            <a:endParaRPr lang="en-US" altLang="zh-CN" sz="3600" b="1" dirty="0">
              <a:solidFill>
                <a:srgbClr val="FF0000"/>
              </a:solidFill>
            </a:endParaRPr>
          </a:p>
          <a:p>
            <a:r>
              <a:rPr lang="en-US" altLang="zh-CN" sz="3600" b="1" dirty="0">
                <a:solidFill>
                  <a:srgbClr val="FF0000"/>
                </a:solidFill>
              </a:rPr>
              <a:t> astonished</a:t>
            </a:r>
            <a:r>
              <a:rPr lang="zh-CN" altLang="en-US" sz="3600" b="1" dirty="0">
                <a:solidFill>
                  <a:srgbClr val="FF0000"/>
                </a:solidFill>
              </a:rPr>
              <a:t>震惊的 </a:t>
            </a:r>
            <a:r>
              <a:rPr lang="en-US" altLang="zh-CN" sz="3600" b="1" dirty="0">
                <a:solidFill>
                  <a:srgbClr val="FF0000"/>
                </a:solidFill>
              </a:rPr>
              <a:t> interrupt v.</a:t>
            </a:r>
            <a:r>
              <a:rPr lang="zh-CN" altLang="en-US" sz="3600" b="1" dirty="0">
                <a:solidFill>
                  <a:srgbClr val="FF0000"/>
                </a:solidFill>
              </a:rPr>
              <a:t>打断</a:t>
            </a:r>
            <a:endParaRPr lang="en-US" altLang="zh-CN" sz="3600" b="1" dirty="0">
              <a:solidFill>
                <a:srgbClr val="FF0000"/>
              </a:solidFill>
            </a:endParaRPr>
          </a:p>
          <a:p>
            <a:r>
              <a:rPr lang="en-US" altLang="zh-CN" sz="3600" b="1" dirty="0">
                <a:solidFill>
                  <a:srgbClr val="FF0000"/>
                </a:solidFill>
              </a:rPr>
              <a:t> be impressed by</a:t>
            </a:r>
            <a:r>
              <a:rPr lang="zh-CN" altLang="en-US" sz="3600" b="1" dirty="0">
                <a:solidFill>
                  <a:srgbClr val="FF0000"/>
                </a:solidFill>
              </a:rPr>
              <a:t>对</a:t>
            </a:r>
            <a:r>
              <a:rPr lang="en-US" altLang="zh-CN" sz="3600" b="1" dirty="0">
                <a:solidFill>
                  <a:srgbClr val="FF0000"/>
                </a:solidFill>
              </a:rPr>
              <a:t>…</a:t>
            </a:r>
            <a:r>
              <a:rPr lang="zh-CN" altLang="en-US" sz="3600" b="1" dirty="0">
                <a:solidFill>
                  <a:srgbClr val="FF0000"/>
                </a:solidFill>
              </a:rPr>
              <a:t>印象深刻</a:t>
            </a:r>
            <a:endParaRPr lang="en-US" altLang="zh-CN" sz="3600" b="1" dirty="0">
              <a:solidFill>
                <a:srgbClr val="FF0000"/>
              </a:solidFill>
            </a:endParaRPr>
          </a:p>
          <a:p>
            <a:r>
              <a:rPr lang="en-US" altLang="zh-CN" sz="3600" b="1" dirty="0">
                <a:solidFill>
                  <a:srgbClr val="FF0000"/>
                </a:solidFill>
              </a:rPr>
              <a:t> drive off</a:t>
            </a:r>
            <a:r>
              <a:rPr lang="zh-CN" altLang="en-US" sz="3600" b="1" dirty="0">
                <a:solidFill>
                  <a:srgbClr val="FF0000"/>
                </a:solidFill>
              </a:rPr>
              <a:t>把车开走</a:t>
            </a:r>
            <a:r>
              <a:rPr lang="en-US" altLang="zh-CN" sz="3600" b="1" dirty="0">
                <a:solidFill>
                  <a:srgbClr val="FF0000"/>
                </a:solidFill>
              </a:rPr>
              <a:t>;</a:t>
            </a:r>
            <a:r>
              <a:rPr lang="zh-CN" altLang="en-US" sz="3600" b="1" dirty="0">
                <a:solidFill>
                  <a:srgbClr val="FF0000"/>
                </a:solidFill>
              </a:rPr>
              <a:t>赶走</a:t>
            </a:r>
            <a:r>
              <a:rPr lang="en-US" altLang="zh-CN" sz="3600" b="1" dirty="0">
                <a:solidFill>
                  <a:srgbClr val="FF0000"/>
                </a:solidFill>
              </a:rPr>
              <a:t> step in</a:t>
            </a:r>
            <a:r>
              <a:rPr lang="zh-CN" altLang="en-US" sz="3600" b="1" dirty="0">
                <a:solidFill>
                  <a:srgbClr val="FF0000"/>
                </a:solidFill>
              </a:rPr>
              <a:t>介入</a:t>
            </a:r>
            <a:r>
              <a:rPr lang="en-US" altLang="zh-CN" sz="3600" b="1" dirty="0">
                <a:solidFill>
                  <a:srgbClr val="FF0000"/>
                </a:solidFill>
              </a:rPr>
              <a:t>;</a:t>
            </a:r>
            <a:r>
              <a:rPr lang="zh-CN" altLang="en-US" sz="3600" b="1" dirty="0">
                <a:solidFill>
                  <a:srgbClr val="FF0000"/>
                </a:solidFill>
              </a:rPr>
              <a:t>干预</a:t>
            </a:r>
            <a:endParaRPr lang="en-US" altLang="zh-CN" sz="3600" b="1" dirty="0">
              <a:solidFill>
                <a:srgbClr val="FF0000"/>
              </a:solidFill>
            </a:endParaRPr>
          </a:p>
          <a:p>
            <a:r>
              <a:rPr lang="en-US" altLang="zh-CN" sz="3600" b="1" dirty="0">
                <a:solidFill>
                  <a:srgbClr val="FF0000"/>
                </a:solidFill>
              </a:rPr>
              <a:t> </a:t>
            </a:r>
            <a:r>
              <a:rPr lang="en-US" altLang="zh-CN" sz="3600" b="1" dirty="0">
                <a:solidFill>
                  <a:srgbClr val="7030A0"/>
                </a:solidFill>
              </a:rPr>
              <a:t>show off</a:t>
            </a:r>
            <a:r>
              <a:rPr lang="zh-CN" altLang="en-US" sz="3600" b="1" dirty="0">
                <a:solidFill>
                  <a:srgbClr val="7030A0"/>
                </a:solidFill>
              </a:rPr>
              <a:t>炫耀 </a:t>
            </a:r>
            <a:r>
              <a:rPr lang="en-US" altLang="zh-CN" sz="3600" b="1" dirty="0">
                <a:solidFill>
                  <a:srgbClr val="7030A0"/>
                </a:solidFill>
              </a:rPr>
              <a:t>check in</a:t>
            </a:r>
            <a:r>
              <a:rPr lang="zh-CN" altLang="en-US" sz="3600" b="1" dirty="0">
                <a:solidFill>
                  <a:srgbClr val="7030A0"/>
                </a:solidFill>
              </a:rPr>
              <a:t>登记入住</a:t>
            </a:r>
            <a:endParaRPr lang="en-US" altLang="zh-CN" sz="3600" b="1" dirty="0">
              <a:solidFill>
                <a:srgbClr val="7030A0"/>
              </a:solidFill>
            </a:endParaRPr>
          </a:p>
          <a:p>
            <a:r>
              <a:rPr lang="en-US" altLang="zh-CN" sz="3600" b="1" dirty="0">
                <a:solidFill>
                  <a:srgbClr val="FF0000"/>
                </a:solidFill>
              </a:rPr>
              <a:t> drugstore</a:t>
            </a:r>
            <a:r>
              <a:rPr lang="zh-CN" altLang="en-US" sz="3600" b="1" dirty="0">
                <a:solidFill>
                  <a:srgbClr val="FF0000"/>
                </a:solidFill>
              </a:rPr>
              <a:t>药妆店</a:t>
            </a:r>
            <a:r>
              <a:rPr lang="en-US" altLang="zh-CN" sz="3600" b="1" dirty="0">
                <a:solidFill>
                  <a:srgbClr val="FF0000"/>
                </a:solidFill>
              </a:rPr>
              <a:t>;</a:t>
            </a:r>
            <a:r>
              <a:rPr lang="zh-CN" altLang="en-US" sz="3600" b="1" dirty="0">
                <a:solidFill>
                  <a:srgbClr val="FF0000"/>
                </a:solidFill>
              </a:rPr>
              <a:t>杂货店</a:t>
            </a:r>
            <a:endParaRPr lang="en-US" altLang="zh-CN" sz="3600" b="1" dirty="0">
              <a:solidFill>
                <a:srgbClr val="FF0000"/>
              </a:solidFill>
            </a:endParaRPr>
          </a:p>
          <a:p>
            <a:r>
              <a:rPr lang="en-US" altLang="zh-CN" sz="3600" b="1" dirty="0">
                <a:solidFill>
                  <a:srgbClr val="FF0000"/>
                </a:solidFill>
              </a:rPr>
              <a:t> return one’s greeting</a:t>
            </a:r>
            <a:r>
              <a:rPr lang="zh-CN" altLang="en-US" sz="3600" b="1" dirty="0">
                <a:solidFill>
                  <a:srgbClr val="FF0000"/>
                </a:solidFill>
              </a:rPr>
              <a:t>回敬问候</a:t>
            </a:r>
            <a:endParaRPr lang="en-US" altLang="zh-CN" sz="3600" b="1" dirty="0">
              <a:solidFill>
                <a:srgbClr val="FF0000"/>
              </a:solidFill>
            </a:endParaRPr>
          </a:p>
          <a:p>
            <a:r>
              <a:rPr lang="en-US" altLang="zh-CN" sz="3600" b="1" dirty="0">
                <a:solidFill>
                  <a:srgbClr val="FF0000"/>
                </a:solidFill>
              </a:rPr>
              <a:t> politeness n.</a:t>
            </a:r>
            <a:r>
              <a:rPr lang="zh-CN" altLang="en-US" sz="3600" b="1" dirty="0">
                <a:solidFill>
                  <a:srgbClr val="FF0000"/>
                </a:solidFill>
              </a:rPr>
              <a:t>礼貌 </a:t>
            </a:r>
            <a:r>
              <a:rPr lang="en-US" altLang="zh-CN" sz="3600" b="1" dirty="0">
                <a:solidFill>
                  <a:srgbClr val="FF0000"/>
                </a:solidFill>
              </a:rPr>
              <a:t> brilliance n.</a:t>
            </a:r>
            <a:r>
              <a:rPr lang="zh-CN" altLang="en-US" sz="3600" b="1" dirty="0">
                <a:solidFill>
                  <a:srgbClr val="FF0000"/>
                </a:solidFill>
              </a:rPr>
              <a:t>聪慧</a:t>
            </a:r>
            <a:endParaRPr lang="en-US" altLang="zh-CN" sz="3600" b="1" dirty="0">
              <a:solidFill>
                <a:srgbClr val="FF0000"/>
              </a:solidFill>
            </a:endParaRPr>
          </a:p>
        </p:txBody>
      </p:sp>
    </p:spTree>
    <p:extLst>
      <p:ext uri="{BB962C8B-B14F-4D97-AF65-F5344CB8AC3E}">
        <p14:creationId xmlns:p14="http://schemas.microsoft.com/office/powerpoint/2010/main" val="749882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44B9A-5470-B24C-34CD-EBEA66BB7581}"/>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D7CE2A85-0542-D8CF-DB40-2514AC028FEC}"/>
              </a:ext>
            </a:extLst>
          </p:cNvPr>
          <p:cNvSpPr>
            <a:spLocks noGrp="1"/>
          </p:cNvSpPr>
          <p:nvPr>
            <p:ph idx="1"/>
          </p:nvPr>
        </p:nvSpPr>
        <p:spPr>
          <a:xfrm>
            <a:off x="0" y="0"/>
            <a:ext cx="12192000" cy="6858000"/>
          </a:xfrm>
        </p:spPr>
        <p:txBody>
          <a:bodyPr>
            <a:normAutofit fontScale="92500" lnSpcReduction="10000"/>
          </a:bodyPr>
          <a:lstStyle/>
          <a:p>
            <a:pPr fontAlgn="ctr"/>
            <a:r>
              <a:rPr lang="en-US" altLang="zh-CN" sz="3200" b="1" dirty="0"/>
              <a:t>I’m writing to share with you the final of the Jiangsu Football City League, known as “Su Chao”, which took place at Nanjing Olympic Sports Center on November 1.</a:t>
            </a:r>
            <a:endParaRPr lang="zh-CN" altLang="zh-CN" sz="3200" b="1" dirty="0"/>
          </a:p>
          <a:p>
            <a:pPr fontAlgn="ctr"/>
            <a:r>
              <a:rPr lang="en-US" altLang="zh-CN" sz="3200" b="1" dirty="0">
                <a:solidFill>
                  <a:srgbClr val="FF0000"/>
                </a:solidFill>
              </a:rPr>
              <a:t>    The match </a:t>
            </a:r>
            <a:r>
              <a:rPr lang="en-US" altLang="zh-CN" sz="3200" b="1" dirty="0"/>
              <a:t>between Nantong and Taizhou </a:t>
            </a:r>
            <a:r>
              <a:rPr lang="en-US" altLang="zh-CN" sz="3200" b="1" dirty="0">
                <a:solidFill>
                  <a:srgbClr val="FF0000"/>
                </a:solidFill>
              </a:rPr>
              <a:t>was unbelievably tense and impressive.</a:t>
            </a:r>
            <a:r>
              <a:rPr lang="zh-CN" altLang="en-US" sz="3200" b="1" dirty="0"/>
              <a:t>难以置信的紧张和令人印象深刻</a:t>
            </a:r>
            <a:r>
              <a:rPr lang="en-US" altLang="zh-CN" sz="3200" b="1" dirty="0"/>
              <a:t>The players of both teams performed wonderfully on the field, and the fans cheered for their teams like crazy. However, no goals could be scored during regular time. The winner was determined by a penalty shootout. </a:t>
            </a:r>
            <a:r>
              <a:rPr lang="en-US" altLang="zh-CN" sz="3200" b="1" dirty="0">
                <a:solidFill>
                  <a:srgbClr val="FF0000"/>
                </a:solidFill>
              </a:rPr>
              <a:t>In the end, Taizhou defeated Nantong by a score of 4 to 3, becoming the champion</a:t>
            </a:r>
            <a:r>
              <a:rPr lang="en-US" altLang="zh-CN" sz="3200" b="1" dirty="0"/>
              <a:t>, and Nantong had to settle for the second place.</a:t>
            </a:r>
            <a:r>
              <a:rPr lang="zh-CN" altLang="en-US" sz="3200" b="1" dirty="0"/>
              <a:t>最终</a:t>
            </a:r>
            <a:r>
              <a:rPr lang="en-US" altLang="zh-CN" sz="3200" b="1" dirty="0"/>
              <a:t>,</a:t>
            </a:r>
            <a:r>
              <a:rPr lang="zh-CN" altLang="en-US" sz="3200" b="1" dirty="0"/>
              <a:t>泰州队以</a:t>
            </a:r>
            <a:r>
              <a:rPr lang="en-US" altLang="zh-CN" sz="3200" b="1" dirty="0"/>
              <a:t>4:3</a:t>
            </a:r>
            <a:r>
              <a:rPr lang="zh-CN" altLang="en-US" sz="3200" b="1" dirty="0"/>
              <a:t>的比分击败南通队成为冠军</a:t>
            </a:r>
            <a:endParaRPr lang="zh-CN" altLang="zh-CN" sz="3200" b="1" dirty="0"/>
          </a:p>
          <a:p>
            <a:pPr fontAlgn="ctr"/>
            <a:r>
              <a:rPr lang="en-US" altLang="zh-CN" sz="3200" b="1" dirty="0">
                <a:solidFill>
                  <a:srgbClr val="FF0000"/>
                </a:solidFill>
              </a:rPr>
              <a:t>    I was deeply impressed by the players’ skills and the team spirit of all the players, which reminded me why I love this sport so much.</a:t>
            </a:r>
            <a:r>
              <a:rPr lang="zh-CN" altLang="en-US" sz="3200" b="1" dirty="0"/>
              <a:t>队员们的技术和团队精神给我留下了深刻的印象，这让我想起了为什么我如此热爱这项运动</a:t>
            </a:r>
            <a:r>
              <a:rPr lang="en-US" altLang="zh-CN" sz="3200" b="1" dirty="0"/>
              <a:t>I really wish you could have experienced it with me!</a:t>
            </a:r>
            <a:endParaRPr lang="zh-CN" altLang="zh-CN" sz="3200" b="1" dirty="0"/>
          </a:p>
        </p:txBody>
      </p:sp>
    </p:spTree>
    <p:extLst>
      <p:ext uri="{BB962C8B-B14F-4D97-AF65-F5344CB8AC3E}">
        <p14:creationId xmlns:p14="http://schemas.microsoft.com/office/powerpoint/2010/main" val="1243626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fontAlgn="ctr"/>
            <a:r>
              <a:rPr lang="en-US" altLang="zh-CN" dirty="0"/>
              <a:t>John then came to work on the tasks with our team. </a:t>
            </a:r>
            <a:r>
              <a:rPr lang="en-US" altLang="zh-CN" b="1" dirty="0">
                <a:solidFill>
                  <a:srgbClr val="FF0000"/>
                </a:solidFill>
              </a:rPr>
              <a:t>He rolled up his sleeves and got right to work.</a:t>
            </a:r>
            <a:r>
              <a:rPr lang="zh-CN" altLang="en-US" dirty="0"/>
              <a:t>他卷起袖子，马上开始工作</a:t>
            </a:r>
            <a:r>
              <a:rPr lang="en-US" altLang="zh-CN" dirty="0"/>
              <a:t>He helped with setting up the larger paintings, carefully positioning them to create the best visual effect. His artistic eye and steady hand made a significant difference. Meanwhile, he also managed the guestbook, ensuring that every visitor had the opportunity to leave their thoughts and comments. With his help, the preparations were completed smoothly and ahead of schedule.</a:t>
            </a:r>
            <a:r>
              <a:rPr lang="zh-CN" altLang="en-US" dirty="0"/>
              <a:t>在他的帮助下，筹备工作顺利提前完成</a:t>
            </a:r>
            <a:r>
              <a:rPr lang="en-US" altLang="zh-CN" dirty="0"/>
              <a:t>We were all grateful for his unexpected assistance</a:t>
            </a:r>
            <a:r>
              <a:rPr lang="zh-CN" altLang="en-US" dirty="0"/>
              <a:t>我们都很感激他的意外帮助</a:t>
            </a:r>
            <a:r>
              <a:rPr lang="en-US" altLang="zh-CN" dirty="0"/>
              <a:t>.</a:t>
            </a:r>
            <a:endParaRPr lang="zh-CN" altLang="zh-CN" dirty="0"/>
          </a:p>
          <a:p>
            <a:pPr fontAlgn="ctr"/>
            <a:r>
              <a:rPr lang="en-US" altLang="zh-CN" dirty="0"/>
              <a:t>On Monday morning, we gladly guided the visitors who attended the exhibition. </a:t>
            </a:r>
            <a:r>
              <a:rPr lang="en-US" altLang="zh-CN" b="1" dirty="0">
                <a:solidFill>
                  <a:srgbClr val="FF0000"/>
                </a:solidFill>
              </a:rPr>
              <a:t>The exhibition was a huge success</a:t>
            </a:r>
            <a:r>
              <a:rPr lang="en-US" altLang="zh-CN" dirty="0"/>
              <a:t>. The paintings were beautifully displayed, and the lighting enhanced their beauty. The informational cards provided valuable insights into each piece. The guests </a:t>
            </a:r>
            <a:r>
              <a:rPr lang="en-US" altLang="zh-CN" b="1" dirty="0">
                <a:solidFill>
                  <a:srgbClr val="FF0000"/>
                </a:solidFill>
              </a:rPr>
              <a:t>were impressed by </a:t>
            </a:r>
            <a:r>
              <a:rPr lang="en-US" altLang="zh-CN" dirty="0"/>
              <a:t>the quality of the artworks and the professional setup. Many of them praised our efforts and the creativity of the club members. </a:t>
            </a:r>
            <a:r>
              <a:rPr lang="en-US" altLang="zh-CN" b="1" dirty="0">
                <a:solidFill>
                  <a:srgbClr val="FF0000"/>
                </a:solidFill>
              </a:rPr>
              <a:t>We received numerous positive comments in the guestbook.</a:t>
            </a:r>
            <a:r>
              <a:rPr lang="zh-CN" altLang="en-US" dirty="0"/>
              <a:t>我们在留言簿上收到了许多积极的评论</a:t>
            </a:r>
            <a:r>
              <a:rPr lang="en-US" altLang="zh-CN" b="1" dirty="0"/>
              <a:t>Thanks to John’s help, we were able to </a:t>
            </a:r>
            <a:r>
              <a:rPr lang="en-US" altLang="zh-CN" b="1" dirty="0">
                <a:solidFill>
                  <a:srgbClr val="FF0000"/>
                </a:solidFill>
              </a:rPr>
              <a:t>host a memorable event and showcase the talent of </a:t>
            </a:r>
            <a:r>
              <a:rPr lang="en-US" altLang="zh-CN" b="1" dirty="0"/>
              <a:t>our painting club</a:t>
            </a:r>
            <a:r>
              <a:rPr lang="en-US" altLang="zh-CN" dirty="0"/>
              <a:t>.</a:t>
            </a:r>
            <a:r>
              <a:rPr lang="zh-CN" altLang="en-US" dirty="0"/>
              <a:t>在约翰的帮助下，我们得以举办一场难忘的活动，并展示了我们绘画俱乐部的才华。</a:t>
            </a:r>
            <a:endParaRPr lang="zh-CN" altLang="zh-CN" dirty="0"/>
          </a:p>
          <a:p>
            <a:endParaRPr lang="zh-CN" altLang="en-US" sz="3600" b="1" dirty="0">
              <a:solidFill>
                <a:srgbClr val="FF0000"/>
              </a:solidFill>
            </a:endParaRPr>
          </a:p>
        </p:txBody>
      </p:sp>
    </p:spTree>
    <p:extLst>
      <p:ext uri="{BB962C8B-B14F-4D97-AF65-F5344CB8AC3E}">
        <p14:creationId xmlns:p14="http://schemas.microsoft.com/office/powerpoint/2010/main" val="4157305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extLst>
      <p:ext uri="{BB962C8B-B14F-4D97-AF65-F5344CB8AC3E}">
        <p14:creationId xmlns:p14="http://schemas.microsoft.com/office/powerpoint/2010/main" val="869949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extLst>
      <p:ext uri="{BB962C8B-B14F-4D97-AF65-F5344CB8AC3E}">
        <p14:creationId xmlns:p14="http://schemas.microsoft.com/office/powerpoint/2010/main" val="3634983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extLst>
      <p:ext uri="{BB962C8B-B14F-4D97-AF65-F5344CB8AC3E}">
        <p14:creationId xmlns:p14="http://schemas.microsoft.com/office/powerpoint/2010/main" val="2867908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extLst>
      <p:ext uri="{BB962C8B-B14F-4D97-AF65-F5344CB8AC3E}">
        <p14:creationId xmlns:p14="http://schemas.microsoft.com/office/powerpoint/2010/main" val="3324003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extLst>
      <p:ext uri="{BB962C8B-B14F-4D97-AF65-F5344CB8AC3E}">
        <p14:creationId xmlns:p14="http://schemas.microsoft.com/office/powerpoint/2010/main" val="3463699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B82D4-A05C-E259-D95B-4DB955D1DDA5}"/>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BA27DA0E-0686-273C-D61C-5BC12C231167}"/>
              </a:ext>
            </a:extLst>
          </p:cNvPr>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extLst>
      <p:ext uri="{BB962C8B-B14F-4D97-AF65-F5344CB8AC3E}">
        <p14:creationId xmlns:p14="http://schemas.microsoft.com/office/powerpoint/2010/main" val="3896408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CE4F4-A8C2-383B-AF04-2B1B63F6CA09}"/>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AE35A3BC-2033-150C-0330-8C549FEC4A92}"/>
              </a:ext>
            </a:extLst>
          </p:cNvPr>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extLst>
      <p:ext uri="{BB962C8B-B14F-4D97-AF65-F5344CB8AC3E}">
        <p14:creationId xmlns:p14="http://schemas.microsoft.com/office/powerpoint/2010/main" val="2848263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E03C9-C10F-AF10-FF15-DA62DDD777C0}"/>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E06010A2-C901-D012-7485-1DA9A32F5594}"/>
              </a:ext>
            </a:extLst>
          </p:cNvPr>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extLst>
      <p:ext uri="{BB962C8B-B14F-4D97-AF65-F5344CB8AC3E}">
        <p14:creationId xmlns:p14="http://schemas.microsoft.com/office/powerpoint/2010/main" val="999528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zh-CN" altLang="en-US" sz="3600" b="1" dirty="0"/>
              <a:t>扬中卷</a:t>
            </a:r>
            <a:r>
              <a:rPr lang="zh-CN" altLang="en-US" sz="3600" b="1" dirty="0">
                <a:solidFill>
                  <a:srgbClr val="FF0000"/>
                </a:solidFill>
              </a:rPr>
              <a:t> </a:t>
            </a:r>
            <a:r>
              <a:rPr lang="en-US" altLang="zh-CN" sz="3600" b="1" dirty="0">
                <a:solidFill>
                  <a:srgbClr val="FF0000"/>
                </a:solidFill>
              </a:rPr>
              <a:t>gain access to nature</a:t>
            </a:r>
            <a:r>
              <a:rPr lang="zh-CN" altLang="en-US" sz="3600" b="1" dirty="0">
                <a:solidFill>
                  <a:srgbClr val="FF0000"/>
                </a:solidFill>
              </a:rPr>
              <a:t>接近大自然</a:t>
            </a:r>
            <a:r>
              <a:rPr lang="en-US" altLang="zh-CN" sz="3600" b="1" dirty="0">
                <a:solidFill>
                  <a:srgbClr val="FF0000"/>
                </a:solidFill>
              </a:rPr>
              <a:t> cruise</a:t>
            </a:r>
            <a:r>
              <a:rPr lang="zh-CN" altLang="en-US" sz="3600" b="1" dirty="0">
                <a:solidFill>
                  <a:srgbClr val="FF0000"/>
                </a:solidFill>
              </a:rPr>
              <a:t>乘船游览</a:t>
            </a:r>
          </a:p>
          <a:p>
            <a:r>
              <a:rPr lang="en-US" altLang="zh-CN" sz="3600" b="1" dirty="0">
                <a:solidFill>
                  <a:srgbClr val="FF0000"/>
                </a:solidFill>
              </a:rPr>
              <a:t> </a:t>
            </a:r>
            <a:r>
              <a:rPr lang="en-US" altLang="zh-CN" sz="3600" b="1" dirty="0"/>
              <a:t>admire the sweeping views</a:t>
            </a:r>
            <a:r>
              <a:rPr lang="zh-CN" altLang="en-US" sz="3600" b="1" dirty="0"/>
              <a:t>欣赏一览无余的景色</a:t>
            </a:r>
            <a:endParaRPr lang="en-US" altLang="zh-CN" sz="3600" b="1" dirty="0"/>
          </a:p>
          <a:p>
            <a:r>
              <a:rPr lang="en-US" altLang="zh-CN" sz="3600" b="1" dirty="0">
                <a:solidFill>
                  <a:srgbClr val="FF0000"/>
                </a:solidFill>
              </a:rPr>
              <a:t> overlook</a:t>
            </a:r>
            <a:r>
              <a:rPr lang="zh-CN" altLang="en-US" sz="3600" b="1" dirty="0">
                <a:solidFill>
                  <a:srgbClr val="FF0000"/>
                </a:solidFill>
              </a:rPr>
              <a:t>俯瞰</a:t>
            </a:r>
            <a:r>
              <a:rPr lang="en-US" altLang="zh-CN" sz="3600" b="1" dirty="0">
                <a:solidFill>
                  <a:srgbClr val="FF0000"/>
                </a:solidFill>
              </a:rPr>
              <a:t>;</a:t>
            </a:r>
            <a:r>
              <a:rPr lang="zh-CN" altLang="en-US" sz="3600" b="1" dirty="0">
                <a:solidFill>
                  <a:srgbClr val="FF0000"/>
                </a:solidFill>
              </a:rPr>
              <a:t>忽略</a:t>
            </a:r>
            <a:r>
              <a:rPr lang="en-US" altLang="zh-CN" sz="3600" b="1" dirty="0">
                <a:solidFill>
                  <a:srgbClr val="FF0000"/>
                </a:solidFill>
              </a:rPr>
              <a:t> a space shuttle</a:t>
            </a:r>
            <a:r>
              <a:rPr lang="zh-CN" altLang="en-US" sz="3600" b="1" dirty="0">
                <a:solidFill>
                  <a:srgbClr val="FF0000"/>
                </a:solidFill>
              </a:rPr>
              <a:t>航天飞机 </a:t>
            </a:r>
            <a:endParaRPr lang="en-US" altLang="zh-CN" sz="3600" b="1" dirty="0">
              <a:solidFill>
                <a:srgbClr val="FF0000"/>
              </a:solidFill>
            </a:endParaRPr>
          </a:p>
          <a:p>
            <a:r>
              <a:rPr lang="en-US" altLang="zh-CN" sz="3600" b="1" dirty="0">
                <a:solidFill>
                  <a:srgbClr val="FF0000"/>
                </a:solidFill>
              </a:rPr>
              <a:t> sadden v.</a:t>
            </a:r>
            <a:r>
              <a:rPr lang="zh-CN" altLang="en-US" sz="3600" b="1" dirty="0">
                <a:solidFill>
                  <a:srgbClr val="FF0000"/>
                </a:solidFill>
              </a:rPr>
              <a:t>使悲伤</a:t>
            </a:r>
            <a:endParaRPr lang="en-US" altLang="zh-CN" sz="3600" b="1" dirty="0">
              <a:solidFill>
                <a:srgbClr val="FF0000"/>
              </a:solidFill>
            </a:endParaRPr>
          </a:p>
          <a:p>
            <a:r>
              <a:rPr lang="en-US" altLang="zh-CN" sz="3600" b="1" dirty="0">
                <a:solidFill>
                  <a:srgbClr val="FF0000"/>
                </a:solidFill>
              </a:rPr>
              <a:t> shy away from</a:t>
            </a:r>
            <a:r>
              <a:rPr lang="zh-CN" altLang="en-US" sz="3600" b="1" dirty="0">
                <a:solidFill>
                  <a:srgbClr val="FF0000"/>
                </a:solidFill>
              </a:rPr>
              <a:t>躲避 </a:t>
            </a:r>
            <a:r>
              <a:rPr lang="en-US" altLang="zh-CN" sz="3600" b="1" dirty="0"/>
              <a:t>Once bitten, twice shy.</a:t>
            </a:r>
          </a:p>
          <a:p>
            <a:r>
              <a:rPr lang="en-US" altLang="zh-CN" sz="3600" b="1" dirty="0">
                <a:solidFill>
                  <a:srgbClr val="FF0000"/>
                </a:solidFill>
              </a:rPr>
              <a:t> aggressive</a:t>
            </a:r>
            <a:r>
              <a:rPr lang="zh-CN" altLang="en-US" sz="3600" b="1" dirty="0">
                <a:solidFill>
                  <a:srgbClr val="FF0000"/>
                </a:solidFill>
              </a:rPr>
              <a:t>好斗的有进取心的 </a:t>
            </a:r>
            <a:r>
              <a:rPr lang="en-US" altLang="zh-CN" sz="3600" b="1" dirty="0">
                <a:solidFill>
                  <a:srgbClr val="FF0000"/>
                </a:solidFill>
              </a:rPr>
              <a:t>playful</a:t>
            </a:r>
            <a:r>
              <a:rPr lang="zh-CN" altLang="en-US" sz="3600" b="1" dirty="0">
                <a:solidFill>
                  <a:srgbClr val="FF0000"/>
                </a:solidFill>
              </a:rPr>
              <a:t>顽皮的有趣的</a:t>
            </a:r>
            <a:endParaRPr lang="en-US" altLang="zh-CN" sz="3600" b="1" dirty="0">
              <a:solidFill>
                <a:srgbClr val="FF0000"/>
              </a:solidFill>
            </a:endParaRPr>
          </a:p>
          <a:p>
            <a:r>
              <a:rPr lang="en-US" altLang="zh-CN" sz="3600" b="1" dirty="0">
                <a:solidFill>
                  <a:srgbClr val="FF0000"/>
                </a:solidFill>
              </a:rPr>
              <a:t> adorable</a:t>
            </a:r>
            <a:r>
              <a:rPr lang="zh-CN" altLang="en-US" sz="3600" b="1" dirty="0">
                <a:solidFill>
                  <a:srgbClr val="FF0000"/>
                </a:solidFill>
              </a:rPr>
              <a:t>可爱的                     </a:t>
            </a:r>
            <a:r>
              <a:rPr lang="en-US" altLang="zh-CN" sz="3600" b="1" dirty="0">
                <a:solidFill>
                  <a:srgbClr val="FF0000"/>
                </a:solidFill>
              </a:rPr>
              <a:t> troublesome</a:t>
            </a:r>
            <a:r>
              <a:rPr lang="zh-CN" altLang="en-US" sz="3600" b="1" dirty="0">
                <a:solidFill>
                  <a:srgbClr val="FF0000"/>
                </a:solidFill>
              </a:rPr>
              <a:t>引起麻烦的 </a:t>
            </a:r>
            <a:endParaRPr lang="en-US" altLang="zh-CN" sz="3600" b="1" dirty="0">
              <a:solidFill>
                <a:srgbClr val="FF0000"/>
              </a:solidFill>
            </a:endParaRPr>
          </a:p>
          <a:p>
            <a:r>
              <a:rPr lang="en-US" altLang="zh-CN" sz="3600" b="1" dirty="0">
                <a:solidFill>
                  <a:srgbClr val="FF0000"/>
                </a:solidFill>
              </a:rPr>
              <a:t> fierce</a:t>
            </a:r>
            <a:r>
              <a:rPr lang="zh-CN" altLang="en-US" sz="3600" b="1" dirty="0">
                <a:solidFill>
                  <a:srgbClr val="FF0000"/>
                </a:solidFill>
              </a:rPr>
              <a:t>激烈的凶猛的</a:t>
            </a:r>
            <a:endParaRPr lang="en-US" altLang="zh-CN" sz="3600" b="1" dirty="0">
              <a:solidFill>
                <a:srgbClr val="FF0000"/>
              </a:solidFill>
            </a:endParaRPr>
          </a:p>
          <a:p>
            <a:r>
              <a:rPr lang="en-US" altLang="zh-CN" sz="3600" b="1" dirty="0">
                <a:solidFill>
                  <a:srgbClr val="FF0000"/>
                </a:solidFill>
              </a:rPr>
              <a:t> reduce reliance on</a:t>
            </a:r>
            <a:r>
              <a:rPr lang="zh-CN" altLang="en-US" sz="3600" b="1" dirty="0">
                <a:solidFill>
                  <a:srgbClr val="FF0000"/>
                </a:solidFill>
              </a:rPr>
              <a:t>减少对</a:t>
            </a:r>
            <a:r>
              <a:rPr lang="en-US" altLang="zh-CN" sz="3600" b="1" dirty="0">
                <a:solidFill>
                  <a:srgbClr val="FF0000"/>
                </a:solidFill>
              </a:rPr>
              <a:t>…</a:t>
            </a:r>
            <a:r>
              <a:rPr lang="zh-CN" altLang="en-US" sz="3600" b="1" dirty="0">
                <a:solidFill>
                  <a:srgbClr val="FF0000"/>
                </a:solidFill>
              </a:rPr>
              <a:t>的依赖</a:t>
            </a:r>
            <a:endParaRPr lang="en-US" altLang="zh-CN" sz="3600" b="1" dirty="0">
              <a:solidFill>
                <a:srgbClr val="FF0000"/>
              </a:solidFill>
            </a:endParaRPr>
          </a:p>
          <a:p>
            <a:r>
              <a:rPr lang="en-US" altLang="zh-CN" sz="3600" b="1" dirty="0">
                <a:solidFill>
                  <a:srgbClr val="FF0000"/>
                </a:solidFill>
              </a:rPr>
              <a:t> hang out with sb.</a:t>
            </a:r>
            <a:r>
              <a:rPr lang="zh-CN" altLang="en-US" sz="3600" b="1" dirty="0">
                <a:solidFill>
                  <a:srgbClr val="FF0000"/>
                </a:solidFill>
              </a:rPr>
              <a:t>和某人出去玩</a:t>
            </a:r>
            <a:endParaRPr lang="en-US" altLang="zh-CN" sz="3600" b="1" dirty="0">
              <a:solidFill>
                <a:srgbClr val="FF0000"/>
              </a:solidFill>
            </a:endParaRPr>
          </a:p>
          <a:p>
            <a:r>
              <a:rPr lang="en-US" altLang="zh-CN" sz="3600" b="1" dirty="0">
                <a:solidFill>
                  <a:srgbClr val="FF0000"/>
                </a:solidFill>
              </a:rPr>
              <a:t> by extension</a:t>
            </a:r>
            <a:r>
              <a:rPr lang="zh-CN" altLang="en-US" sz="3600" b="1" dirty="0">
                <a:solidFill>
                  <a:srgbClr val="FF0000"/>
                </a:solidFill>
              </a:rPr>
              <a:t>广义上的  </a:t>
            </a:r>
            <a:r>
              <a:rPr lang="en-US" altLang="zh-CN" sz="3600" b="1" dirty="0">
                <a:solidFill>
                  <a:srgbClr val="FF0000"/>
                </a:solidFill>
              </a:rPr>
              <a:t>erode v.</a:t>
            </a:r>
            <a:r>
              <a:rPr lang="zh-CN" altLang="en-US" sz="3600" b="1" dirty="0">
                <a:solidFill>
                  <a:srgbClr val="FF0000"/>
                </a:solidFill>
              </a:rPr>
              <a:t>侵蚀</a:t>
            </a:r>
            <a:r>
              <a:rPr lang="en-US" altLang="zh-CN" sz="3600" b="1" dirty="0">
                <a:solidFill>
                  <a:srgbClr val="FF0000"/>
                </a:solidFill>
              </a:rPr>
              <a:t>;</a:t>
            </a:r>
            <a:r>
              <a:rPr lang="zh-CN" altLang="en-US" sz="3600" b="1" dirty="0">
                <a:solidFill>
                  <a:srgbClr val="FF0000"/>
                </a:solidFill>
              </a:rPr>
              <a:t>损害 </a:t>
            </a:r>
            <a:r>
              <a:rPr lang="en-US" altLang="zh-CN" sz="3600" b="1" dirty="0">
                <a:solidFill>
                  <a:srgbClr val="FF0000"/>
                </a:solidFill>
              </a:rPr>
              <a:t>erosion 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television serial</a:t>
            </a:r>
            <a:r>
              <a:rPr lang="zh-CN" altLang="en-US" sz="3600" b="1" dirty="0">
                <a:solidFill>
                  <a:srgbClr val="FF0000"/>
                </a:solidFill>
              </a:rPr>
              <a:t>电视连续剧</a:t>
            </a:r>
            <a:r>
              <a:rPr lang="en-US" altLang="zh-CN" sz="3600" b="1" dirty="0">
                <a:solidFill>
                  <a:srgbClr val="FF0000"/>
                </a:solidFill>
              </a:rPr>
              <a:t> maintenance</a:t>
            </a:r>
            <a:r>
              <a:rPr lang="zh-CN" altLang="en-US" sz="3600" b="1" dirty="0">
                <a:solidFill>
                  <a:srgbClr val="FF0000"/>
                </a:solidFill>
              </a:rPr>
              <a:t>维修保养维持</a:t>
            </a:r>
            <a:endParaRPr lang="en-US" altLang="zh-CN" sz="3600" b="1" dirty="0">
              <a:solidFill>
                <a:srgbClr val="FF0000"/>
              </a:solidFill>
            </a:endParaRPr>
          </a:p>
          <a:p>
            <a:r>
              <a:rPr lang="en-US" altLang="zh-CN" sz="3600" b="1" dirty="0">
                <a:solidFill>
                  <a:srgbClr val="FF0000"/>
                </a:solidFill>
              </a:rPr>
              <a:t> bring emission down</a:t>
            </a:r>
            <a:r>
              <a:rPr lang="zh-CN" altLang="en-US" sz="3600" b="1" dirty="0">
                <a:solidFill>
                  <a:srgbClr val="FF0000"/>
                </a:solidFill>
              </a:rPr>
              <a:t>降低排放量</a:t>
            </a:r>
            <a:endParaRPr lang="en-US" altLang="zh-CN" sz="3600" b="1" dirty="0">
              <a:solidFill>
                <a:srgbClr val="FF0000"/>
              </a:solidFill>
            </a:endParaRPr>
          </a:p>
          <a:p>
            <a:r>
              <a:rPr lang="en-US" altLang="zh-CN" sz="3600" b="1" dirty="0">
                <a:solidFill>
                  <a:srgbClr val="FF0000"/>
                </a:solidFill>
              </a:rPr>
              <a:t> wildlife conservation</a:t>
            </a:r>
            <a:r>
              <a:rPr lang="zh-CN" altLang="en-US" sz="3600" b="1" dirty="0">
                <a:solidFill>
                  <a:srgbClr val="FF0000"/>
                </a:solidFill>
              </a:rPr>
              <a:t>野生动物保护</a:t>
            </a:r>
            <a:endParaRPr lang="en-US" altLang="zh-CN" sz="3600" b="1" dirty="0">
              <a:solidFill>
                <a:srgbClr val="FF0000"/>
              </a:solidFill>
            </a:endParaRPr>
          </a:p>
          <a:p>
            <a:r>
              <a:rPr lang="en-US" altLang="zh-CN" sz="3600" b="1" dirty="0">
                <a:solidFill>
                  <a:srgbClr val="FF0000"/>
                </a:solidFill>
              </a:rPr>
              <a:t> appreciative</a:t>
            </a:r>
            <a:r>
              <a:rPr lang="zh-CN" altLang="en-US" sz="3600" b="1" dirty="0">
                <a:solidFill>
                  <a:srgbClr val="FF0000"/>
                </a:solidFill>
              </a:rPr>
              <a:t>欣赏的感激的</a:t>
            </a:r>
            <a:endParaRPr lang="en-US" altLang="zh-CN" sz="3600" b="1" dirty="0">
              <a:solidFill>
                <a:srgbClr val="FF0000"/>
              </a:solidFill>
            </a:endParaRPr>
          </a:p>
          <a:p>
            <a:r>
              <a:rPr lang="en-US" altLang="zh-CN" sz="3600" b="1" dirty="0">
                <a:solidFill>
                  <a:srgbClr val="FF0000"/>
                </a:solidFill>
              </a:rPr>
              <a:t> instead</a:t>
            </a:r>
            <a:r>
              <a:rPr lang="zh-CN" altLang="en-US" sz="3600" b="1" dirty="0">
                <a:solidFill>
                  <a:srgbClr val="FF0000"/>
                </a:solidFill>
              </a:rPr>
              <a:t>相反</a:t>
            </a:r>
          </a:p>
          <a:p>
            <a:r>
              <a:rPr lang="en-US" altLang="zh-CN" sz="3600" b="1" dirty="0">
                <a:solidFill>
                  <a:srgbClr val="FF0000"/>
                </a:solidFill>
              </a:rPr>
              <a:t> urban adapter</a:t>
            </a:r>
            <a:r>
              <a:rPr lang="zh-CN" altLang="en-US" sz="3600" b="1" dirty="0">
                <a:solidFill>
                  <a:srgbClr val="FF0000"/>
                </a:solidFill>
              </a:rPr>
              <a:t>城市适应者</a:t>
            </a:r>
            <a:r>
              <a:rPr lang="en-US" altLang="zh-CN" sz="3600" b="1" dirty="0">
                <a:solidFill>
                  <a:srgbClr val="FF0000"/>
                </a:solidFill>
              </a:rPr>
              <a:t> </a:t>
            </a:r>
          </a:p>
          <a:p>
            <a:r>
              <a:rPr lang="en-US" altLang="zh-CN" sz="3600" b="1" dirty="0">
                <a:solidFill>
                  <a:srgbClr val="FF0000"/>
                </a:solidFill>
                <a:highlight>
                  <a:srgbClr val="FFFF00"/>
                </a:highlight>
              </a:rPr>
              <a:t> on the other hand</a:t>
            </a:r>
            <a:r>
              <a:rPr lang="en-US" altLang="zh-CN" sz="3600" b="1" dirty="0">
                <a:solidFill>
                  <a:srgbClr val="FF0000"/>
                </a:solidFill>
              </a:rPr>
              <a:t>,</a:t>
            </a:r>
            <a:r>
              <a:rPr lang="zh-CN" altLang="en-US" sz="3600" b="1" dirty="0">
                <a:solidFill>
                  <a:srgbClr val="FF0000"/>
                </a:solidFill>
              </a:rPr>
              <a:t>另一方面</a:t>
            </a:r>
            <a:r>
              <a:rPr lang="en-US" altLang="zh-CN" sz="3600" b="1" dirty="0">
                <a:solidFill>
                  <a:srgbClr val="FF0000"/>
                </a:solidFill>
              </a:rPr>
              <a:t> </a:t>
            </a:r>
          </a:p>
          <a:p>
            <a:r>
              <a:rPr lang="en-US" altLang="zh-CN" sz="3600" b="1" dirty="0">
                <a:solidFill>
                  <a:srgbClr val="FF0000"/>
                </a:solidFill>
              </a:rPr>
              <a:t> urban avoiders</a:t>
            </a:r>
            <a:r>
              <a:rPr lang="zh-CN" altLang="en-US" sz="3600" b="1" dirty="0">
                <a:solidFill>
                  <a:srgbClr val="FF0000"/>
                </a:solidFill>
              </a:rPr>
              <a:t>城市回避者</a:t>
            </a:r>
          </a:p>
          <a:p>
            <a:r>
              <a:rPr lang="en-US" altLang="zh-CN" sz="3600" b="1" dirty="0">
                <a:solidFill>
                  <a:srgbClr val="FF0000"/>
                </a:solidFill>
              </a:rPr>
              <a:t> initially</a:t>
            </a:r>
            <a:r>
              <a:rPr lang="zh-CN" altLang="en-US" sz="3600" b="1" dirty="0">
                <a:solidFill>
                  <a:srgbClr val="FF0000"/>
                </a:solidFill>
              </a:rPr>
              <a:t>起初</a:t>
            </a:r>
            <a:r>
              <a:rPr lang="en-US" altLang="zh-CN" sz="3600" b="1" dirty="0">
                <a:solidFill>
                  <a:srgbClr val="FF0000"/>
                </a:solidFill>
              </a:rPr>
              <a:t> that’s not the case</a:t>
            </a:r>
            <a:r>
              <a:rPr lang="zh-CN" altLang="en-US" sz="3600" b="1" dirty="0">
                <a:solidFill>
                  <a:srgbClr val="FF0000"/>
                </a:solidFill>
              </a:rPr>
              <a:t>情况并非如此</a:t>
            </a:r>
          </a:p>
          <a:p>
            <a:r>
              <a:rPr lang="en-US" altLang="zh-CN" sz="3600" b="1" dirty="0">
                <a:solidFill>
                  <a:srgbClr val="FF0000"/>
                </a:solidFill>
              </a:rPr>
              <a:t> be consistent with</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一致相符</a:t>
            </a:r>
            <a:endParaRPr lang="en-US" altLang="zh-CN" sz="3600" b="1"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nSpc>
                <a:spcPts val="2800"/>
              </a:lnSpc>
            </a:pPr>
            <a:r>
              <a:rPr lang="en-US" altLang="zh-CN" sz="3200" b="1" dirty="0">
                <a:solidFill>
                  <a:srgbClr val="FF0000"/>
                </a:solidFill>
              </a:rPr>
              <a:t> the frozen bank</a:t>
            </a:r>
            <a:r>
              <a:rPr lang="zh-CN" altLang="en-US" sz="3200" b="1" dirty="0">
                <a:solidFill>
                  <a:srgbClr val="FF0000"/>
                </a:solidFill>
              </a:rPr>
              <a:t>冰冻的河岸</a:t>
            </a:r>
            <a:r>
              <a:rPr lang="en-US" altLang="zh-CN" sz="3200" b="1" dirty="0">
                <a:solidFill>
                  <a:srgbClr val="FF0000"/>
                </a:solidFill>
              </a:rPr>
              <a:t> the source of…</a:t>
            </a:r>
            <a:r>
              <a:rPr lang="zh-CN" altLang="en-US" sz="3200" b="1" dirty="0">
                <a:solidFill>
                  <a:srgbClr val="FF0000"/>
                </a:solidFill>
              </a:rPr>
              <a:t>的来源</a:t>
            </a:r>
            <a:endParaRPr lang="en-US" altLang="zh-CN" sz="3200" b="1" dirty="0">
              <a:solidFill>
                <a:srgbClr val="FF0000"/>
              </a:solidFill>
            </a:endParaRPr>
          </a:p>
          <a:p>
            <a:pPr>
              <a:lnSpc>
                <a:spcPts val="2800"/>
              </a:lnSpc>
            </a:pPr>
            <a:r>
              <a:rPr lang="en-US" altLang="zh-CN" sz="3200" b="1" dirty="0">
                <a:solidFill>
                  <a:srgbClr val="FF0000"/>
                </a:solidFill>
              </a:rPr>
              <a:t> struggle to cling to </a:t>
            </a:r>
            <a:r>
              <a:rPr lang="en-US" altLang="zh-CN" sz="3200" b="1" dirty="0" err="1">
                <a:solidFill>
                  <a:srgbClr val="FF0000"/>
                </a:solidFill>
              </a:rPr>
              <a:t>sth</a:t>
            </a:r>
            <a:r>
              <a:rPr lang="en-US" altLang="zh-CN" sz="3200" b="1" dirty="0">
                <a:solidFill>
                  <a:srgbClr val="FF0000"/>
                </a:solidFill>
              </a:rPr>
              <a:t>.</a:t>
            </a:r>
            <a:r>
              <a:rPr lang="zh-CN" altLang="en-US" sz="3200" b="1" dirty="0">
                <a:solidFill>
                  <a:srgbClr val="FF0000"/>
                </a:solidFill>
              </a:rPr>
              <a:t>挣扎着抓住</a:t>
            </a:r>
            <a:r>
              <a:rPr lang="en-US" altLang="zh-CN" sz="3200" b="1" dirty="0">
                <a:solidFill>
                  <a:srgbClr val="FF0000"/>
                </a:solidFill>
              </a:rPr>
              <a:t>  on the scene</a:t>
            </a:r>
            <a:r>
              <a:rPr lang="zh-CN" altLang="en-US" sz="3200" b="1" dirty="0">
                <a:solidFill>
                  <a:srgbClr val="FF0000"/>
                </a:solidFill>
              </a:rPr>
              <a:t>在现场</a:t>
            </a:r>
            <a:endParaRPr lang="en-US" altLang="zh-CN" sz="3200" b="1" dirty="0">
              <a:solidFill>
                <a:srgbClr val="FF0000"/>
              </a:solidFill>
            </a:endParaRPr>
          </a:p>
          <a:p>
            <a:pPr>
              <a:lnSpc>
                <a:spcPts val="2800"/>
              </a:lnSpc>
            </a:pPr>
            <a:r>
              <a:rPr lang="en-US" altLang="zh-CN" sz="3200" b="1" dirty="0">
                <a:solidFill>
                  <a:srgbClr val="FF0000"/>
                </a:solidFill>
              </a:rPr>
              <a:t> a path to…</a:t>
            </a:r>
            <a:r>
              <a:rPr lang="zh-CN" altLang="en-US" sz="3200" b="1" dirty="0">
                <a:solidFill>
                  <a:srgbClr val="FF0000"/>
                </a:solidFill>
              </a:rPr>
              <a:t>通往</a:t>
            </a:r>
            <a:r>
              <a:rPr lang="en-US" altLang="zh-CN" sz="3200" b="1" dirty="0">
                <a:solidFill>
                  <a:srgbClr val="FF0000"/>
                </a:solidFill>
              </a:rPr>
              <a:t>…</a:t>
            </a:r>
            <a:r>
              <a:rPr lang="zh-CN" altLang="en-US" sz="3200" b="1" dirty="0">
                <a:solidFill>
                  <a:srgbClr val="FF0000"/>
                </a:solidFill>
              </a:rPr>
              <a:t>的路   </a:t>
            </a:r>
            <a:r>
              <a:rPr lang="en-US" altLang="zh-CN" sz="3200" b="1" dirty="0">
                <a:solidFill>
                  <a:srgbClr val="FF0000"/>
                </a:solidFill>
              </a:rPr>
              <a:t>a slimmer chance</a:t>
            </a:r>
            <a:r>
              <a:rPr lang="zh-CN" altLang="en-US" sz="3200" b="1" dirty="0">
                <a:solidFill>
                  <a:srgbClr val="FF0000"/>
                </a:solidFill>
              </a:rPr>
              <a:t>渺茫的机会</a:t>
            </a:r>
            <a:endParaRPr lang="en-US" altLang="zh-CN" sz="3200" b="1" dirty="0">
              <a:solidFill>
                <a:srgbClr val="FF0000"/>
              </a:solidFill>
            </a:endParaRPr>
          </a:p>
          <a:p>
            <a:pPr>
              <a:lnSpc>
                <a:spcPts val="2800"/>
              </a:lnSpc>
            </a:pPr>
            <a:r>
              <a:rPr lang="en-US" altLang="zh-CN" sz="3200" b="1" dirty="0">
                <a:solidFill>
                  <a:srgbClr val="FF0000"/>
                </a:solidFill>
              </a:rPr>
              <a:t> take over</a:t>
            </a:r>
            <a:r>
              <a:rPr lang="zh-CN" altLang="en-US" sz="3200" b="1" dirty="0">
                <a:solidFill>
                  <a:srgbClr val="FF0000"/>
                </a:solidFill>
              </a:rPr>
              <a:t>接管</a:t>
            </a:r>
            <a:r>
              <a:rPr lang="en-US" altLang="zh-CN" sz="3200" b="1" dirty="0">
                <a:solidFill>
                  <a:srgbClr val="FF0000"/>
                </a:solidFill>
              </a:rPr>
              <a:t> </a:t>
            </a:r>
            <a:r>
              <a:rPr lang="en-US" altLang="zh-CN" sz="3200" b="1" dirty="0"/>
              <a:t>turn down</a:t>
            </a:r>
            <a:r>
              <a:rPr lang="zh-CN" altLang="en-US" sz="3200" b="1" dirty="0"/>
              <a:t>调低拒绝</a:t>
            </a:r>
            <a:r>
              <a:rPr lang="en-US" altLang="zh-CN" sz="3200" b="1" dirty="0"/>
              <a:t> bring up</a:t>
            </a:r>
            <a:r>
              <a:rPr lang="zh-CN" altLang="en-US" sz="3200" b="1" dirty="0"/>
              <a:t>抚养呕吐提出</a:t>
            </a:r>
            <a:r>
              <a:rPr lang="en-US" altLang="zh-CN" sz="3200" b="1" dirty="0"/>
              <a:t>    </a:t>
            </a:r>
          </a:p>
          <a:p>
            <a:pPr>
              <a:lnSpc>
                <a:spcPts val="2800"/>
              </a:lnSpc>
            </a:pPr>
            <a:r>
              <a:rPr lang="en-US" altLang="zh-CN" sz="3200" b="1" dirty="0"/>
              <a:t> set aside</a:t>
            </a:r>
            <a:r>
              <a:rPr lang="zh-CN" altLang="en-US" sz="3200" b="1" dirty="0"/>
              <a:t>留出搁置</a:t>
            </a:r>
            <a:r>
              <a:rPr lang="en-US" altLang="zh-CN" sz="3200" b="1" dirty="0">
                <a:solidFill>
                  <a:srgbClr val="FF0000"/>
                </a:solidFill>
              </a:rPr>
              <a:t> cornered</a:t>
            </a:r>
            <a:r>
              <a:rPr lang="zh-CN" altLang="en-US" sz="3200" b="1" dirty="0">
                <a:solidFill>
                  <a:srgbClr val="FF0000"/>
                </a:solidFill>
              </a:rPr>
              <a:t>走投无路的</a:t>
            </a:r>
            <a:r>
              <a:rPr lang="en-US" altLang="zh-CN" sz="3200" b="1" dirty="0">
                <a:solidFill>
                  <a:srgbClr val="FF0000"/>
                </a:solidFill>
              </a:rPr>
              <a:t>    </a:t>
            </a:r>
            <a:r>
              <a:rPr lang="en-US" altLang="zh-CN" sz="3200" b="1" dirty="0"/>
              <a:t>near</a:t>
            </a:r>
            <a:r>
              <a:rPr lang="zh-CN" altLang="en-US" sz="3200" b="1" dirty="0"/>
              <a:t>接近</a:t>
            </a:r>
            <a:endParaRPr lang="en-US" altLang="zh-CN" sz="3200" b="1" dirty="0"/>
          </a:p>
          <a:p>
            <a:pPr>
              <a:lnSpc>
                <a:spcPts val="2800"/>
              </a:lnSpc>
            </a:pPr>
            <a:r>
              <a:rPr lang="en-US" altLang="zh-CN" sz="3200" b="1" dirty="0">
                <a:solidFill>
                  <a:srgbClr val="FF0000"/>
                </a:solidFill>
              </a:rPr>
              <a:t> slip off</a:t>
            </a:r>
            <a:r>
              <a:rPr lang="zh-CN" altLang="en-US" sz="3200" b="1" dirty="0">
                <a:solidFill>
                  <a:srgbClr val="FF0000"/>
                </a:solidFill>
              </a:rPr>
              <a:t>滑落</a:t>
            </a:r>
            <a:r>
              <a:rPr lang="en-US" altLang="zh-CN" sz="3200" b="1" dirty="0">
                <a:solidFill>
                  <a:srgbClr val="FF0000"/>
                </a:solidFill>
              </a:rPr>
              <a:t>;</a:t>
            </a:r>
            <a:r>
              <a:rPr lang="zh-CN" altLang="en-US" sz="3200" b="1" dirty="0">
                <a:solidFill>
                  <a:srgbClr val="FF0000"/>
                </a:solidFill>
              </a:rPr>
              <a:t>溜走</a:t>
            </a:r>
            <a:r>
              <a:rPr lang="en-US" altLang="zh-CN" sz="3200" b="1" dirty="0">
                <a:solidFill>
                  <a:srgbClr val="FF0000"/>
                </a:solidFill>
              </a:rPr>
              <a:t> crash into</a:t>
            </a:r>
            <a:r>
              <a:rPr lang="zh-CN" altLang="en-US" sz="3200" b="1" dirty="0">
                <a:solidFill>
                  <a:srgbClr val="FF0000"/>
                </a:solidFill>
              </a:rPr>
              <a:t>闯入撞上</a:t>
            </a:r>
            <a:r>
              <a:rPr lang="en-US" altLang="zh-CN" sz="3200" b="1" dirty="0">
                <a:solidFill>
                  <a:srgbClr val="FF0000"/>
                </a:solidFill>
              </a:rPr>
              <a:t> dive into</a:t>
            </a:r>
            <a:r>
              <a:rPr lang="zh-CN" altLang="en-US" sz="3200" b="1" dirty="0">
                <a:solidFill>
                  <a:srgbClr val="FF0000"/>
                </a:solidFill>
              </a:rPr>
              <a:t>投入</a:t>
            </a:r>
            <a:r>
              <a:rPr lang="en-US" altLang="zh-CN" sz="3200" b="1" dirty="0">
                <a:solidFill>
                  <a:srgbClr val="FF0000"/>
                </a:solidFill>
              </a:rPr>
              <a:t> </a:t>
            </a:r>
          </a:p>
          <a:p>
            <a:pPr>
              <a:lnSpc>
                <a:spcPts val="2800"/>
              </a:lnSpc>
            </a:pPr>
            <a:r>
              <a:rPr lang="en-US" altLang="zh-CN" sz="3200" b="1" dirty="0">
                <a:solidFill>
                  <a:srgbClr val="FF0000"/>
                </a:solidFill>
              </a:rPr>
              <a:t> dash into</a:t>
            </a:r>
            <a:r>
              <a:rPr lang="zh-CN" altLang="en-US" sz="3200" b="1" dirty="0">
                <a:solidFill>
                  <a:srgbClr val="FF0000"/>
                </a:solidFill>
              </a:rPr>
              <a:t>冲入</a:t>
            </a:r>
            <a:r>
              <a:rPr lang="en-US" altLang="zh-CN" sz="3200" b="1" dirty="0">
                <a:solidFill>
                  <a:srgbClr val="FF0000"/>
                </a:solidFill>
              </a:rPr>
              <a:t>      bump into</a:t>
            </a:r>
            <a:r>
              <a:rPr lang="zh-CN" altLang="en-US" sz="3200" b="1" dirty="0">
                <a:solidFill>
                  <a:srgbClr val="FF0000"/>
                </a:solidFill>
              </a:rPr>
              <a:t>撞上</a:t>
            </a:r>
            <a:r>
              <a:rPr lang="en-US" altLang="zh-CN" sz="3200" b="1" dirty="0">
                <a:solidFill>
                  <a:srgbClr val="FF0000"/>
                </a:solidFill>
              </a:rPr>
              <a:t>;</a:t>
            </a:r>
            <a:r>
              <a:rPr lang="zh-CN" altLang="en-US" sz="3200" b="1" dirty="0">
                <a:solidFill>
                  <a:srgbClr val="FF0000"/>
                </a:solidFill>
              </a:rPr>
              <a:t>偶遇</a:t>
            </a:r>
            <a:endParaRPr lang="en-US" altLang="zh-CN" sz="3200" b="1" dirty="0">
              <a:solidFill>
                <a:srgbClr val="FF0000"/>
              </a:solidFill>
            </a:endParaRPr>
          </a:p>
          <a:p>
            <a:pPr>
              <a:lnSpc>
                <a:spcPts val="2800"/>
              </a:lnSpc>
            </a:pPr>
            <a:r>
              <a:rPr lang="en-US" altLang="zh-CN" sz="3200" b="1" dirty="0">
                <a:solidFill>
                  <a:srgbClr val="FF0000"/>
                </a:solidFill>
              </a:rPr>
              <a:t> resurface</a:t>
            </a:r>
            <a:r>
              <a:rPr lang="zh-CN" altLang="en-US" sz="3200" b="1" dirty="0">
                <a:solidFill>
                  <a:srgbClr val="FF0000"/>
                </a:solidFill>
              </a:rPr>
              <a:t>重新露面浮上水面 </a:t>
            </a:r>
            <a:r>
              <a:rPr lang="en-US" altLang="zh-CN" sz="3200" b="1" dirty="0">
                <a:solidFill>
                  <a:srgbClr val="FF0000"/>
                </a:solidFill>
              </a:rPr>
              <a:t>take hold of</a:t>
            </a:r>
            <a:r>
              <a:rPr lang="zh-CN" altLang="en-US" sz="3200" b="1" dirty="0">
                <a:solidFill>
                  <a:srgbClr val="FF0000"/>
                </a:solidFill>
              </a:rPr>
              <a:t>抓住</a:t>
            </a:r>
            <a:endParaRPr lang="en-US" altLang="zh-CN" sz="3200" b="1" dirty="0">
              <a:solidFill>
                <a:srgbClr val="FF0000"/>
              </a:solidFill>
            </a:endParaRPr>
          </a:p>
          <a:p>
            <a:pPr>
              <a:lnSpc>
                <a:spcPts val="2800"/>
              </a:lnSpc>
            </a:pPr>
            <a:r>
              <a:rPr lang="en-US" altLang="zh-CN" sz="3200" b="1" dirty="0">
                <a:solidFill>
                  <a:srgbClr val="FF0000"/>
                </a:solidFill>
              </a:rPr>
              <a:t> anxious bystanders</a:t>
            </a:r>
            <a:r>
              <a:rPr lang="zh-CN" altLang="en-US" sz="3200" b="1" dirty="0">
                <a:solidFill>
                  <a:srgbClr val="FF0000"/>
                </a:solidFill>
              </a:rPr>
              <a:t>焦虑的旁观者</a:t>
            </a:r>
            <a:endParaRPr lang="en-US" altLang="zh-CN" sz="3200" b="1" dirty="0">
              <a:solidFill>
                <a:srgbClr val="FF0000"/>
              </a:solidFill>
            </a:endParaRPr>
          </a:p>
          <a:p>
            <a:pPr>
              <a:lnSpc>
                <a:spcPts val="2800"/>
              </a:lnSpc>
            </a:pPr>
            <a:r>
              <a:rPr lang="en-US" altLang="zh-CN" sz="3200" b="1" dirty="0">
                <a:solidFill>
                  <a:srgbClr val="FF0000"/>
                </a:solidFill>
              </a:rPr>
              <a:t> light-hearted</a:t>
            </a:r>
            <a:r>
              <a:rPr lang="zh-CN" altLang="en-US" sz="3200" b="1" dirty="0">
                <a:solidFill>
                  <a:srgbClr val="FF0000"/>
                </a:solidFill>
              </a:rPr>
              <a:t>轻松的无忧无虑的</a:t>
            </a:r>
            <a:r>
              <a:rPr lang="en-US" altLang="zh-CN" sz="3200" b="1" dirty="0">
                <a:solidFill>
                  <a:srgbClr val="FF0000"/>
                </a:solidFill>
              </a:rPr>
              <a:t> hesitant</a:t>
            </a:r>
            <a:r>
              <a:rPr lang="zh-CN" altLang="en-US" sz="3200" b="1" dirty="0">
                <a:solidFill>
                  <a:srgbClr val="FF0000"/>
                </a:solidFill>
              </a:rPr>
              <a:t>犹豫的 </a:t>
            </a:r>
            <a:r>
              <a:rPr lang="en-US" altLang="zh-CN" sz="3200" b="1" dirty="0">
                <a:solidFill>
                  <a:srgbClr val="FF0000"/>
                </a:solidFill>
              </a:rPr>
              <a:t>ignorant</a:t>
            </a:r>
            <a:r>
              <a:rPr lang="zh-CN" altLang="en-US" sz="3200" b="1" dirty="0">
                <a:solidFill>
                  <a:srgbClr val="FF0000"/>
                </a:solidFill>
              </a:rPr>
              <a:t>无知的</a:t>
            </a:r>
            <a:endParaRPr lang="en-US" altLang="zh-CN" sz="3200" b="1" dirty="0">
              <a:solidFill>
                <a:srgbClr val="FF0000"/>
              </a:solidFill>
            </a:endParaRPr>
          </a:p>
          <a:p>
            <a:pPr>
              <a:lnSpc>
                <a:spcPts val="2800"/>
              </a:lnSpc>
            </a:pPr>
            <a:r>
              <a:rPr lang="en-US" altLang="zh-CN" sz="3200" b="1" dirty="0">
                <a:solidFill>
                  <a:srgbClr val="FF0000"/>
                </a:solidFill>
              </a:rPr>
              <a:t> run away</a:t>
            </a:r>
            <a:r>
              <a:rPr lang="zh-CN" altLang="en-US" sz="3200" b="1" dirty="0">
                <a:solidFill>
                  <a:srgbClr val="FF0000"/>
                </a:solidFill>
              </a:rPr>
              <a:t>逃跑 </a:t>
            </a:r>
            <a:r>
              <a:rPr lang="en-US" altLang="zh-CN" sz="3200" b="1" dirty="0">
                <a:solidFill>
                  <a:srgbClr val="FF0000"/>
                </a:solidFill>
              </a:rPr>
              <a:t>go off</a:t>
            </a:r>
            <a:r>
              <a:rPr lang="zh-CN" altLang="en-US" sz="3200" b="1" dirty="0">
                <a:solidFill>
                  <a:srgbClr val="FF0000"/>
                </a:solidFill>
              </a:rPr>
              <a:t>爆炸</a:t>
            </a:r>
            <a:r>
              <a:rPr lang="en-US" altLang="zh-CN" sz="3200" b="1" dirty="0">
                <a:solidFill>
                  <a:srgbClr val="FF0000"/>
                </a:solidFill>
              </a:rPr>
              <a:t>;</a:t>
            </a:r>
            <a:r>
              <a:rPr lang="zh-CN" altLang="en-US" sz="3200" b="1" dirty="0">
                <a:solidFill>
                  <a:srgbClr val="FF0000"/>
                </a:solidFill>
              </a:rPr>
              <a:t>动身离开</a:t>
            </a:r>
            <a:endParaRPr lang="en-US" altLang="zh-CN" sz="3200" b="1" dirty="0">
              <a:solidFill>
                <a:srgbClr val="FF0000"/>
              </a:solidFill>
            </a:endParaRPr>
          </a:p>
          <a:p>
            <a:pPr>
              <a:lnSpc>
                <a:spcPts val="2800"/>
              </a:lnSpc>
            </a:pPr>
            <a:r>
              <a:rPr lang="en-US" altLang="zh-CN" sz="3200" b="1" dirty="0">
                <a:solidFill>
                  <a:srgbClr val="FF0000"/>
                </a:solidFill>
              </a:rPr>
              <a:t> cut in</a:t>
            </a:r>
            <a:r>
              <a:rPr lang="zh-CN" altLang="en-US" sz="3200" b="1" dirty="0">
                <a:solidFill>
                  <a:srgbClr val="FF0000"/>
                </a:solidFill>
              </a:rPr>
              <a:t>切入</a:t>
            </a:r>
            <a:r>
              <a:rPr lang="en-US" altLang="zh-CN" sz="3200" b="1" dirty="0">
                <a:solidFill>
                  <a:srgbClr val="FF0000"/>
                </a:solidFill>
              </a:rPr>
              <a:t>;</a:t>
            </a:r>
            <a:r>
              <a:rPr lang="zh-CN" altLang="en-US" sz="3200" b="1" dirty="0">
                <a:solidFill>
                  <a:srgbClr val="FF0000"/>
                </a:solidFill>
              </a:rPr>
              <a:t>插嘴打断 </a:t>
            </a:r>
            <a:r>
              <a:rPr lang="en-US" altLang="zh-CN" sz="3200" b="1" dirty="0">
                <a:solidFill>
                  <a:srgbClr val="FF0000"/>
                </a:solidFill>
              </a:rPr>
              <a:t>come over</a:t>
            </a:r>
            <a:r>
              <a:rPr lang="zh-CN" altLang="en-US" sz="3200" b="1" dirty="0">
                <a:solidFill>
                  <a:srgbClr val="FF0000"/>
                </a:solidFill>
              </a:rPr>
              <a:t>过来</a:t>
            </a:r>
            <a:r>
              <a:rPr lang="en-US" altLang="zh-CN" sz="3200" b="1" dirty="0">
                <a:solidFill>
                  <a:srgbClr val="FF0000"/>
                </a:solidFill>
              </a:rPr>
              <a:t>;</a:t>
            </a:r>
            <a:r>
              <a:rPr lang="zh-CN" altLang="en-US" sz="3200" b="1" dirty="0">
                <a:solidFill>
                  <a:srgbClr val="FF0000"/>
                </a:solidFill>
              </a:rPr>
              <a:t>顺便来访</a:t>
            </a:r>
            <a:endParaRPr lang="en-US" altLang="zh-CN" sz="3200" b="1" dirty="0">
              <a:solidFill>
                <a:srgbClr val="FF0000"/>
              </a:solidFill>
            </a:endParaRPr>
          </a:p>
          <a:p>
            <a:pPr>
              <a:lnSpc>
                <a:spcPts val="2800"/>
              </a:lnSpc>
            </a:pPr>
            <a:r>
              <a:rPr lang="en-US" altLang="zh-CN" sz="3200" b="1" dirty="0">
                <a:solidFill>
                  <a:srgbClr val="FF0000"/>
                </a:solidFill>
              </a:rPr>
              <a:t> voluntarily</a:t>
            </a:r>
            <a:r>
              <a:rPr lang="zh-CN" altLang="en-US" sz="3200" b="1" dirty="0">
                <a:solidFill>
                  <a:srgbClr val="FF0000"/>
                </a:solidFill>
              </a:rPr>
              <a:t>自愿地 </a:t>
            </a:r>
            <a:r>
              <a:rPr lang="en-US" altLang="zh-CN" sz="3200" b="1" dirty="0">
                <a:solidFill>
                  <a:srgbClr val="FF0000"/>
                </a:solidFill>
              </a:rPr>
              <a:t>directly</a:t>
            </a:r>
            <a:r>
              <a:rPr lang="zh-CN" altLang="en-US" sz="3200" b="1" dirty="0">
                <a:solidFill>
                  <a:srgbClr val="FF0000"/>
                </a:solidFill>
              </a:rPr>
              <a:t>直接径直坦率地</a:t>
            </a:r>
            <a:endParaRPr lang="en-US" altLang="zh-CN" sz="3200" b="1" dirty="0">
              <a:solidFill>
                <a:srgbClr val="FF0000"/>
              </a:solidFill>
            </a:endParaRPr>
          </a:p>
          <a:p>
            <a:pPr>
              <a:lnSpc>
                <a:spcPts val="2800"/>
              </a:lnSpc>
            </a:pPr>
            <a:r>
              <a:rPr lang="en-US" altLang="zh-CN" sz="3200" b="1" dirty="0">
                <a:solidFill>
                  <a:srgbClr val="FF0000"/>
                </a:solidFill>
              </a:rPr>
              <a:t> abruptly</a:t>
            </a:r>
            <a:r>
              <a:rPr lang="zh-CN" altLang="en-US" sz="3200" b="1" dirty="0">
                <a:solidFill>
                  <a:srgbClr val="FF0000"/>
                </a:solidFill>
              </a:rPr>
              <a:t>突然地</a:t>
            </a:r>
            <a:r>
              <a:rPr lang="en-US" altLang="zh-CN" sz="3200" b="1" dirty="0">
                <a:solidFill>
                  <a:srgbClr val="FF0000"/>
                </a:solidFill>
              </a:rPr>
              <a:t> mercifully</a:t>
            </a:r>
            <a:r>
              <a:rPr lang="zh-CN" altLang="en-US" sz="3200" b="1" dirty="0">
                <a:solidFill>
                  <a:srgbClr val="FF0000"/>
                </a:solidFill>
              </a:rPr>
              <a:t>仁慈地</a:t>
            </a:r>
            <a:endParaRPr lang="en-US" altLang="zh-CN" sz="3200" b="1"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dirty="0">
                <a:solidFill>
                  <a:srgbClr val="FF0000"/>
                </a:solidFill>
              </a:rPr>
              <a:t>36.</a:t>
            </a:r>
            <a:r>
              <a:rPr lang="en-US" altLang="zh-CN" dirty="0"/>
              <a:t> </a:t>
            </a:r>
            <a:r>
              <a:rPr lang="en-US" altLang="zh-CN" sz="3600" b="1" dirty="0">
                <a:solidFill>
                  <a:srgbClr val="FF0000"/>
                </a:solidFill>
              </a:rPr>
              <a:t>committed/devoted/dedicated to</a:t>
            </a:r>
            <a:r>
              <a:rPr lang="zh-CN" altLang="zh-CN" sz="3600" b="1" dirty="0">
                <a:solidFill>
                  <a:srgbClr val="FF0000"/>
                </a:solidFill>
              </a:rPr>
              <a:t>致力于</a:t>
            </a:r>
            <a:endParaRPr lang="en-US" altLang="zh-CN" sz="3600" b="1" dirty="0">
              <a:solidFill>
                <a:srgbClr val="FF0000"/>
              </a:solidFill>
            </a:endParaRPr>
          </a:p>
          <a:p>
            <a:r>
              <a:rPr lang="en-US" altLang="zh-CN" sz="3600" b="1" dirty="0">
                <a:solidFill>
                  <a:schemeClr val="tx1"/>
                </a:solidFill>
              </a:rPr>
              <a:t>37. as opposed to</a:t>
            </a:r>
            <a:r>
              <a:rPr lang="zh-CN" altLang="zh-CN" sz="3600" b="1" dirty="0">
                <a:solidFill>
                  <a:schemeClr val="tx1"/>
                </a:solidFill>
              </a:rPr>
              <a:t>与</a:t>
            </a:r>
            <a:r>
              <a:rPr lang="en-US" altLang="zh-CN" sz="3600" b="1" dirty="0">
                <a:solidFill>
                  <a:schemeClr val="tx1"/>
                </a:solidFill>
              </a:rPr>
              <a:t>...</a:t>
            </a:r>
            <a:r>
              <a:rPr lang="zh-CN" altLang="zh-CN" sz="3600" b="1" dirty="0">
                <a:solidFill>
                  <a:schemeClr val="tx1"/>
                </a:solidFill>
              </a:rPr>
              <a:t>截然相反 38.</a:t>
            </a:r>
            <a:r>
              <a:rPr lang="en-US" altLang="zh-CN" sz="3600" b="1" dirty="0">
                <a:solidFill>
                  <a:schemeClr val="tx1"/>
                </a:solidFill>
              </a:rPr>
              <a:t> All of a sudden</a:t>
            </a:r>
            <a:r>
              <a:rPr lang="zh-CN" altLang="zh-CN" sz="3600" b="1" dirty="0">
                <a:solidFill>
                  <a:schemeClr val="tx1"/>
                </a:solidFill>
              </a:rPr>
              <a:t>猛不防</a:t>
            </a:r>
            <a:endParaRPr lang="en-US" altLang="zh-CN" sz="3600" b="1" dirty="0">
              <a:solidFill>
                <a:schemeClr val="tx1"/>
              </a:solidFill>
            </a:endParaRPr>
          </a:p>
          <a:p>
            <a:r>
              <a:rPr lang="en-US" altLang="zh-CN" sz="3600" b="1" dirty="0">
                <a:solidFill>
                  <a:srgbClr val="FF0000"/>
                </a:solidFill>
              </a:rPr>
              <a:t>39. beyond the grasp of</a:t>
            </a:r>
            <a:r>
              <a:rPr lang="zh-CN" altLang="zh-CN" sz="3600" b="1" dirty="0">
                <a:solidFill>
                  <a:srgbClr val="FF0000"/>
                </a:solidFill>
              </a:rPr>
              <a:t>超出某人的理解能力</a:t>
            </a:r>
            <a:endParaRPr lang="en-US" altLang="zh-CN" sz="3600" b="1" dirty="0">
              <a:solidFill>
                <a:srgbClr val="FF0000"/>
              </a:solidFill>
            </a:endParaRPr>
          </a:p>
          <a:p>
            <a:r>
              <a:rPr lang="en-US" altLang="zh-CN" sz="3600" b="1" dirty="0">
                <a:solidFill>
                  <a:srgbClr val="FF0000"/>
                </a:solidFill>
              </a:rPr>
              <a:t>beyond the reach of</a:t>
            </a:r>
            <a:r>
              <a:rPr lang="zh-CN" altLang="zh-CN" sz="3600" b="1" dirty="0">
                <a:solidFill>
                  <a:srgbClr val="FF0000"/>
                </a:solidFill>
              </a:rPr>
              <a:t>超出某人的能力范围</a:t>
            </a:r>
            <a:endParaRPr lang="en-US" altLang="zh-CN" sz="3600" b="1" dirty="0">
              <a:solidFill>
                <a:srgbClr val="FF0000"/>
              </a:solidFill>
            </a:endParaRPr>
          </a:p>
          <a:p>
            <a:r>
              <a:rPr lang="en-US" altLang="zh-CN" sz="3600" b="1" dirty="0">
                <a:solidFill>
                  <a:srgbClr val="FF0000"/>
                </a:solidFill>
              </a:rPr>
              <a:t>40.</a:t>
            </a:r>
            <a:r>
              <a:rPr lang="zh-CN" altLang="zh-CN" sz="3600" b="1" dirty="0">
                <a:solidFill>
                  <a:srgbClr val="FF0000"/>
                </a:solidFill>
              </a:rPr>
              <a:t> </a:t>
            </a:r>
            <a:r>
              <a:rPr lang="en-US" altLang="zh-CN" sz="3600" b="1" dirty="0">
                <a:solidFill>
                  <a:srgbClr val="FF0000"/>
                </a:solidFill>
              </a:rPr>
              <a:t>speak </a:t>
            </a:r>
            <a:r>
              <a:rPr lang="en-US" altLang="zh-CN" sz="3600" b="1" dirty="0">
                <a:solidFill>
                  <a:srgbClr val="FF0000"/>
                </a:solidFill>
                <a:highlight>
                  <a:srgbClr val="FFFF00"/>
                </a:highlight>
              </a:rPr>
              <a:t>volumes </a:t>
            </a:r>
            <a:r>
              <a:rPr lang="en-US" altLang="zh-CN" sz="3600" b="1" dirty="0">
                <a:solidFill>
                  <a:srgbClr val="FF0000"/>
                </a:solidFill>
              </a:rPr>
              <a:t>about</a:t>
            </a:r>
            <a:r>
              <a:rPr lang="zh-CN" altLang="zh-CN" sz="3600" b="1" dirty="0">
                <a:solidFill>
                  <a:srgbClr val="FF0000"/>
                </a:solidFill>
              </a:rPr>
              <a:t>足以证明</a:t>
            </a:r>
            <a:endParaRPr lang="en-US" altLang="zh-CN" sz="3600" b="1" dirty="0">
              <a:solidFill>
                <a:srgbClr val="FF0000"/>
              </a:solidFill>
            </a:endParaRPr>
          </a:p>
          <a:p>
            <a:r>
              <a:rPr lang="en-US" altLang="zh-CN" sz="3600" b="1" dirty="0">
                <a:solidFill>
                  <a:srgbClr val="FF0000"/>
                </a:solidFill>
              </a:rPr>
              <a:t>41.</a:t>
            </a:r>
            <a:r>
              <a:rPr lang="zh-CN" altLang="zh-CN" sz="3600" b="1" dirty="0">
                <a:solidFill>
                  <a:srgbClr val="FF0000"/>
                </a:solidFill>
              </a:rPr>
              <a:t> </a:t>
            </a:r>
            <a:r>
              <a:rPr lang="en-US" altLang="zh-CN" sz="3600" b="1" dirty="0">
                <a:solidFill>
                  <a:srgbClr val="FF0000"/>
                </a:solidFill>
              </a:rPr>
              <a:t>made no allowance </a:t>
            </a:r>
            <a:r>
              <a:rPr lang="en-US" altLang="zh-CN" sz="3600" b="1" dirty="0">
                <a:solidFill>
                  <a:srgbClr val="FF0000"/>
                </a:solidFill>
                <a:highlight>
                  <a:srgbClr val="FFFF00"/>
                </a:highlight>
              </a:rPr>
              <a:t>for</a:t>
            </a:r>
            <a:r>
              <a:rPr lang="zh-CN" altLang="zh-CN" sz="3600" b="1" dirty="0">
                <a:solidFill>
                  <a:srgbClr val="FF0000"/>
                </a:solidFill>
              </a:rPr>
              <a:t>没有考虑到</a:t>
            </a:r>
            <a:endParaRPr lang="en-US" altLang="zh-CN" sz="3600" b="1" dirty="0">
              <a:solidFill>
                <a:srgbClr val="FF0000"/>
              </a:solidFill>
            </a:endParaRPr>
          </a:p>
          <a:p>
            <a:r>
              <a:rPr lang="en-US" altLang="zh-CN" sz="3600" b="1" dirty="0">
                <a:solidFill>
                  <a:srgbClr val="FF0000"/>
                </a:solidFill>
              </a:rPr>
              <a:t>42.</a:t>
            </a:r>
            <a:r>
              <a:rPr lang="zh-CN" altLang="zh-CN" sz="3600" b="1" dirty="0">
                <a:solidFill>
                  <a:srgbClr val="FF0000"/>
                </a:solidFill>
              </a:rPr>
              <a:t> </a:t>
            </a:r>
            <a:r>
              <a:rPr lang="en-US" altLang="zh-CN" sz="3600" b="1" dirty="0">
                <a:solidFill>
                  <a:srgbClr val="FF0000"/>
                </a:solidFill>
              </a:rPr>
              <a:t>spring up</a:t>
            </a:r>
            <a:r>
              <a:rPr lang="zh-CN" altLang="zh-CN" sz="3600" b="1" dirty="0">
                <a:solidFill>
                  <a:srgbClr val="FF0000"/>
                </a:solidFill>
              </a:rPr>
              <a:t>涌现</a:t>
            </a:r>
            <a:r>
              <a:rPr lang="en-US" altLang="zh-CN" sz="3600" b="1" dirty="0">
                <a:solidFill>
                  <a:srgbClr val="FF0000"/>
                </a:solidFill>
              </a:rPr>
              <a:t>(sprang, sprung)</a:t>
            </a:r>
          </a:p>
          <a:p>
            <a:r>
              <a:rPr lang="en-US" altLang="zh-CN" sz="3600" b="1" dirty="0">
                <a:solidFill>
                  <a:srgbClr val="FF0000"/>
                </a:solidFill>
              </a:rPr>
              <a:t>43.</a:t>
            </a:r>
            <a:r>
              <a:rPr lang="zh-CN" altLang="zh-CN" sz="3600" b="1" dirty="0">
                <a:solidFill>
                  <a:srgbClr val="FF0000"/>
                </a:solidFill>
              </a:rPr>
              <a:t> </a:t>
            </a:r>
            <a:r>
              <a:rPr lang="en-US" altLang="zh-CN" sz="3600" b="1" dirty="0">
                <a:solidFill>
                  <a:srgbClr val="FF0000"/>
                </a:solidFill>
              </a:rPr>
              <a:t>were </a:t>
            </a:r>
            <a:r>
              <a:rPr lang="en-US" altLang="zh-CN" sz="3600" b="1" dirty="0">
                <a:solidFill>
                  <a:srgbClr val="FF0000"/>
                </a:solidFill>
                <a:highlight>
                  <a:srgbClr val="FFFF00"/>
                </a:highlight>
              </a:rPr>
              <a:t>overcome </a:t>
            </a:r>
            <a:r>
              <a:rPr lang="en-US" altLang="zh-CN" sz="3600" b="1" dirty="0">
                <a:solidFill>
                  <a:srgbClr val="FF0000"/>
                </a:solidFill>
              </a:rPr>
              <a:t>with grief</a:t>
            </a:r>
            <a:r>
              <a:rPr lang="zh-CN" altLang="zh-CN" sz="3600" b="1" dirty="0">
                <a:solidFill>
                  <a:srgbClr val="FF0000"/>
                </a:solidFill>
              </a:rPr>
              <a:t>悲痛欲绝</a:t>
            </a:r>
            <a:endParaRPr lang="en-US" altLang="zh-CN" sz="3600" b="1" dirty="0">
              <a:solidFill>
                <a:srgbClr val="FF0000"/>
              </a:solidFill>
            </a:endParaRPr>
          </a:p>
          <a:p>
            <a:r>
              <a:rPr lang="en-US" altLang="zh-CN" sz="3600" b="1" dirty="0">
                <a:solidFill>
                  <a:srgbClr val="FF0000"/>
                </a:solidFill>
              </a:rPr>
              <a:t>44. It’s time (that) sb </a:t>
            </a:r>
            <a:r>
              <a:rPr lang="en-US" altLang="zh-CN" sz="3600" b="1" u="sng" dirty="0">
                <a:solidFill>
                  <a:srgbClr val="FF0000"/>
                </a:solidFill>
                <a:highlight>
                  <a:srgbClr val="FFFF00"/>
                </a:highlight>
              </a:rPr>
              <a:t>did</a:t>
            </a:r>
            <a:r>
              <a:rPr lang="en-US" altLang="zh-CN" sz="3600" b="1" dirty="0">
                <a:solidFill>
                  <a:srgbClr val="FF0000"/>
                </a:solidFill>
              </a:rPr>
              <a:t>/</a:t>
            </a:r>
            <a:r>
              <a:rPr lang="en-US" altLang="zh-CN" sz="3600" b="1" u="sng" dirty="0">
                <a:solidFill>
                  <a:srgbClr val="FF0000"/>
                </a:solidFill>
              </a:rPr>
              <a:t>should do </a:t>
            </a:r>
            <a:r>
              <a:rPr lang="en-US" altLang="zh-CN" sz="3600" b="1" dirty="0" err="1">
                <a:solidFill>
                  <a:srgbClr val="FF0000"/>
                </a:solidFill>
              </a:rPr>
              <a:t>sth</a:t>
            </a:r>
            <a:r>
              <a:rPr lang="zh-CN" altLang="zh-CN" sz="3600" b="1" dirty="0">
                <a:solidFill>
                  <a:srgbClr val="FF0000"/>
                </a:solidFill>
              </a:rPr>
              <a:t>某人该做某事了</a:t>
            </a:r>
            <a:endParaRPr lang="en-US" altLang="zh-CN" sz="3600" b="1" dirty="0">
              <a:solidFill>
                <a:srgbClr val="FF0000"/>
              </a:solidFill>
            </a:endParaRPr>
          </a:p>
          <a:p>
            <a:r>
              <a:rPr lang="en-US" altLang="zh-CN" sz="3600" b="1" dirty="0">
                <a:solidFill>
                  <a:srgbClr val="FF0000"/>
                </a:solidFill>
              </a:rPr>
              <a:t>get down to doing </a:t>
            </a:r>
            <a:r>
              <a:rPr lang="en-US" altLang="zh-CN" sz="3600" b="1" dirty="0" err="1">
                <a:solidFill>
                  <a:srgbClr val="FF0000"/>
                </a:solidFill>
              </a:rPr>
              <a:t>sth</a:t>
            </a:r>
            <a:r>
              <a:rPr lang="en-US" altLang="zh-CN" sz="3600" b="1" dirty="0">
                <a:solidFill>
                  <a:srgbClr val="FF0000"/>
                </a:solidFill>
              </a:rPr>
              <a:t>.</a:t>
            </a:r>
            <a:r>
              <a:rPr lang="zh-CN" altLang="zh-CN" sz="3600" b="1" dirty="0">
                <a:solidFill>
                  <a:srgbClr val="FF0000"/>
                </a:solidFill>
              </a:rPr>
              <a:t>开始做</a:t>
            </a:r>
            <a:endParaRPr lang="en-US" altLang="zh-CN" sz="3600" b="1" dirty="0">
              <a:solidFill>
                <a:srgbClr val="FF0000"/>
              </a:solidFill>
            </a:endParaRPr>
          </a:p>
          <a:p>
            <a:r>
              <a:rPr lang="en-US" altLang="zh-CN" sz="3600" b="1" dirty="0">
                <a:solidFill>
                  <a:srgbClr val="FF0000"/>
                </a:solidFill>
                <a:highlight>
                  <a:srgbClr val="FFFF00"/>
                </a:highlight>
              </a:rPr>
              <a:t>got down to</a:t>
            </a:r>
            <a:r>
              <a:rPr lang="zh-CN" altLang="zh-CN" sz="3600" b="1" dirty="0">
                <a:solidFill>
                  <a:srgbClr val="FF0000"/>
                </a:solidFill>
              </a:rPr>
              <a:t>或者</a:t>
            </a:r>
            <a:r>
              <a:rPr lang="en-US" altLang="zh-CN" sz="3600" b="1" dirty="0">
                <a:solidFill>
                  <a:srgbClr val="FF0000"/>
                </a:solidFill>
              </a:rPr>
              <a:t>should get down to</a:t>
            </a:r>
          </a:p>
          <a:p>
            <a:r>
              <a:rPr lang="en-US" altLang="zh-CN" sz="3600" b="1" dirty="0">
                <a:solidFill>
                  <a:srgbClr val="FF0000"/>
                </a:solidFill>
              </a:rPr>
              <a:t>45. </a:t>
            </a:r>
            <a:r>
              <a:rPr lang="en-US" altLang="zh-CN" sz="3600" b="1" dirty="0">
                <a:solidFill>
                  <a:srgbClr val="FF0000"/>
                </a:solidFill>
                <a:highlight>
                  <a:srgbClr val="FFFF00"/>
                </a:highlight>
              </a:rPr>
              <a:t>brought </a:t>
            </a:r>
            <a:r>
              <a:rPr lang="en-US" altLang="zh-CN" sz="3600" b="1" dirty="0">
                <a:solidFill>
                  <a:srgbClr val="FF0000"/>
                </a:solidFill>
              </a:rPr>
              <a:t>to light</a:t>
            </a:r>
            <a:r>
              <a:rPr lang="zh-CN" altLang="zh-CN" sz="3600" b="1" dirty="0">
                <a:solidFill>
                  <a:srgbClr val="FF0000"/>
                </a:solidFill>
              </a:rPr>
              <a:t>披露</a:t>
            </a:r>
            <a:endParaRPr lang="zh-CN" altLang="en-US" sz="3600" b="1"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ctr"/>
            <a:r>
              <a:rPr lang="en-US" altLang="zh-CN" sz="3600" b="1" dirty="0">
                <a:solidFill>
                  <a:schemeClr val="tx1"/>
                </a:solidFill>
              </a:rPr>
              <a:t>46. to refresh    </a:t>
            </a:r>
            <a:endParaRPr lang="zh-CN" altLang="zh-CN" sz="3600" b="1" dirty="0">
              <a:solidFill>
                <a:schemeClr val="tx1"/>
              </a:solidFill>
            </a:endParaRPr>
          </a:p>
          <a:p>
            <a:pPr fontAlgn="ctr"/>
            <a:r>
              <a:rPr lang="en-US" altLang="zh-CN" sz="3600" b="1" dirty="0">
                <a:solidFill>
                  <a:srgbClr val="FF0000"/>
                </a:solidFill>
              </a:rPr>
              <a:t>47. imagine [</a:t>
            </a:r>
            <a:r>
              <a:rPr lang="zh-CN" altLang="en-US" sz="3600" b="1" dirty="0">
                <a:solidFill>
                  <a:srgbClr val="FF0000"/>
                </a:solidFill>
              </a:rPr>
              <a:t>宾从</a:t>
            </a:r>
            <a:r>
              <a:rPr lang="en-US" altLang="zh-CN" sz="3600" b="1" dirty="0">
                <a:solidFill>
                  <a:srgbClr val="FF0000"/>
                </a:solidFill>
              </a:rPr>
              <a:t>what it is like</a:t>
            </a:r>
            <a:r>
              <a:rPr lang="zh-CN" altLang="en-US" sz="3600" b="1" dirty="0">
                <a:solidFill>
                  <a:srgbClr val="FF0000"/>
                </a:solidFill>
              </a:rPr>
              <a:t>宾</a:t>
            </a:r>
            <a:r>
              <a:rPr lang="en-US" altLang="zh-CN" sz="3600" b="1" dirty="0">
                <a:solidFill>
                  <a:srgbClr val="FF0000"/>
                </a:solidFill>
              </a:rPr>
              <a:t>...]    </a:t>
            </a:r>
          </a:p>
          <a:p>
            <a:pPr fontAlgn="ctr"/>
            <a:r>
              <a:rPr lang="en-US" altLang="zh-CN" sz="3600" b="1" dirty="0">
                <a:solidFill>
                  <a:srgbClr val="FF0000"/>
                </a:solidFill>
              </a:rPr>
              <a:t>48. Founded </a:t>
            </a:r>
            <a:r>
              <a:rPr lang="zh-CN" altLang="en-US" sz="3600" b="1" dirty="0">
                <a:solidFill>
                  <a:srgbClr val="FF0000"/>
                </a:solidFill>
              </a:rPr>
              <a:t>状态</a:t>
            </a:r>
            <a:endParaRPr lang="zh-CN" altLang="zh-CN" sz="3600" b="1" dirty="0">
              <a:solidFill>
                <a:srgbClr val="FF0000"/>
              </a:solidFill>
            </a:endParaRPr>
          </a:p>
          <a:p>
            <a:pPr fontAlgn="ctr"/>
            <a:r>
              <a:rPr lang="en-US" altLang="zh-CN" sz="3600" b="1" dirty="0">
                <a:solidFill>
                  <a:srgbClr val="FF0000"/>
                </a:solidFill>
              </a:rPr>
              <a:t>49. establishment    n.</a:t>
            </a:r>
            <a:r>
              <a:rPr lang="zh-CN" altLang="en-US" sz="3600" b="1" dirty="0">
                <a:solidFill>
                  <a:srgbClr val="FF0000"/>
                </a:solidFill>
              </a:rPr>
              <a:t>建立</a:t>
            </a:r>
            <a:endParaRPr lang="zh-CN" altLang="zh-CN" sz="3600" b="1" dirty="0">
              <a:solidFill>
                <a:srgbClr val="FF0000"/>
              </a:solidFill>
            </a:endParaRPr>
          </a:p>
          <a:p>
            <a:pPr fontAlgn="ctr"/>
            <a:r>
              <a:rPr lang="en-US" altLang="zh-CN" sz="3600" b="1" dirty="0">
                <a:solidFill>
                  <a:srgbClr val="FF0000"/>
                </a:solidFill>
              </a:rPr>
              <a:t>50. range from...</a:t>
            </a:r>
            <a:r>
              <a:rPr lang="en-US" altLang="zh-CN" sz="3600" b="1" dirty="0">
                <a:solidFill>
                  <a:srgbClr val="FF0000"/>
                </a:solidFill>
                <a:highlight>
                  <a:srgbClr val="FFFF00"/>
                </a:highlight>
              </a:rPr>
              <a:t>to.</a:t>
            </a:r>
            <a:r>
              <a:rPr lang="en-US" altLang="zh-CN" sz="3600" b="1" dirty="0">
                <a:solidFill>
                  <a:srgbClr val="FF0000"/>
                </a:solidFill>
              </a:rPr>
              <a:t>..</a:t>
            </a:r>
            <a:r>
              <a:rPr lang="zh-CN" altLang="en-US" sz="3600" b="1" dirty="0">
                <a:solidFill>
                  <a:srgbClr val="FF0000"/>
                </a:solidFill>
              </a:rPr>
              <a:t>范围从</a:t>
            </a:r>
            <a:r>
              <a:rPr lang="en-US" altLang="zh-CN" sz="3600" b="1" dirty="0">
                <a:solidFill>
                  <a:srgbClr val="FF0000"/>
                </a:solidFill>
              </a:rPr>
              <a:t>…</a:t>
            </a:r>
            <a:r>
              <a:rPr lang="zh-CN" altLang="en-US" sz="3600" b="1" dirty="0">
                <a:solidFill>
                  <a:srgbClr val="FF0000"/>
                </a:solidFill>
              </a:rPr>
              <a:t>到</a:t>
            </a:r>
            <a:r>
              <a:rPr lang="en-US" altLang="zh-CN" sz="3600" b="1" dirty="0">
                <a:solidFill>
                  <a:srgbClr val="FF0000"/>
                </a:solidFill>
              </a:rPr>
              <a:t>…    </a:t>
            </a:r>
          </a:p>
          <a:p>
            <a:pPr fontAlgn="ctr"/>
            <a:r>
              <a:rPr lang="en-US" altLang="zh-CN" sz="3600" b="1" dirty="0">
                <a:solidFill>
                  <a:schemeClr val="tx1"/>
                </a:solidFill>
              </a:rPr>
              <a:t>51. one of its branches</a:t>
            </a:r>
            <a:r>
              <a:rPr lang="zh-CN" altLang="en-US" sz="3600" b="1" dirty="0">
                <a:solidFill>
                  <a:schemeClr val="tx1"/>
                </a:solidFill>
              </a:rPr>
              <a:t>分店</a:t>
            </a:r>
            <a:r>
              <a:rPr lang="en-US" altLang="zh-CN" sz="3600" b="1" dirty="0">
                <a:solidFill>
                  <a:srgbClr val="FF0000"/>
                </a:solidFill>
              </a:rPr>
              <a:t> </a:t>
            </a:r>
            <a:r>
              <a:rPr lang="en-US" altLang="zh-CN" sz="3600" b="1" dirty="0">
                <a:solidFill>
                  <a:srgbClr val="FF0000"/>
                </a:solidFill>
                <a:highlight>
                  <a:srgbClr val="FFFF00"/>
                </a:highlight>
              </a:rPr>
              <a:t>covers</a:t>
            </a:r>
            <a:r>
              <a:rPr lang="zh-CN" altLang="en-US" sz="3600" b="1" dirty="0">
                <a:solidFill>
                  <a:srgbClr val="FF0000"/>
                </a:solidFill>
                <a:highlight>
                  <a:srgbClr val="FFFF00"/>
                </a:highlight>
              </a:rPr>
              <a:t>谓语</a:t>
            </a:r>
            <a:r>
              <a:rPr lang="en-US" altLang="zh-CN" sz="3600" b="1" dirty="0">
                <a:solidFill>
                  <a:srgbClr val="FF0000"/>
                </a:solidFill>
                <a:highlight>
                  <a:srgbClr val="FFFF00"/>
                </a:highlight>
              </a:rPr>
              <a:t>    </a:t>
            </a:r>
            <a:endParaRPr lang="zh-CN" altLang="zh-CN" sz="3600" b="1" dirty="0">
              <a:solidFill>
                <a:srgbClr val="FF0000"/>
              </a:solidFill>
            </a:endParaRPr>
          </a:p>
          <a:p>
            <a:pPr fontAlgn="ctr"/>
            <a:r>
              <a:rPr lang="en-US" altLang="zh-CN" sz="3600" b="1" dirty="0">
                <a:solidFill>
                  <a:srgbClr val="FF0000"/>
                </a:solidFill>
              </a:rPr>
              <a:t>52. </a:t>
            </a:r>
            <a:r>
              <a:rPr lang="en-US" altLang="zh-CN" sz="3600" b="1" u="sng" dirty="0">
                <a:solidFill>
                  <a:srgbClr val="FF0000"/>
                </a:solidFill>
              </a:rPr>
              <a:t>with income </a:t>
            </a:r>
            <a:r>
              <a:rPr lang="en-US" altLang="zh-CN" sz="3600" b="1" u="sng" dirty="0">
                <a:solidFill>
                  <a:srgbClr val="FF0000"/>
                </a:solidFill>
                <a:highlight>
                  <a:srgbClr val="FFFF00"/>
                </a:highlight>
              </a:rPr>
              <a:t>hitting</a:t>
            </a:r>
            <a:r>
              <a:rPr lang="en-US" altLang="zh-CN" sz="3600" b="1" dirty="0">
                <a:solidFill>
                  <a:srgbClr val="FF0000"/>
                </a:solidFill>
                <a:highlight>
                  <a:srgbClr val="FFFF00"/>
                </a:highlight>
              </a:rPr>
              <a:t> </a:t>
            </a:r>
            <a:r>
              <a:rPr lang="en-US" altLang="zh-CN" sz="3600" b="1" dirty="0">
                <a:solidFill>
                  <a:schemeClr val="tx1"/>
                </a:solidFill>
              </a:rPr>
              <a:t>$23456</a:t>
            </a:r>
            <a:r>
              <a:rPr lang="en-US" altLang="zh-CN" sz="3600" b="1" dirty="0">
                <a:solidFill>
                  <a:srgbClr val="FF0000"/>
                </a:solidFill>
              </a:rPr>
              <a:t> </a:t>
            </a:r>
            <a:r>
              <a:rPr lang="zh-CN" altLang="en-US" sz="3600" b="1" dirty="0">
                <a:solidFill>
                  <a:srgbClr val="FF0000"/>
                </a:solidFill>
              </a:rPr>
              <a:t>收入到达￥</a:t>
            </a:r>
            <a:r>
              <a:rPr lang="en-US" altLang="zh-CN" sz="3600" b="1" dirty="0">
                <a:solidFill>
                  <a:srgbClr val="FF0000"/>
                </a:solidFill>
              </a:rPr>
              <a:t> </a:t>
            </a:r>
            <a:endParaRPr lang="zh-CN" altLang="zh-CN" sz="3600" b="1" dirty="0">
              <a:solidFill>
                <a:srgbClr val="FF0000"/>
              </a:solidFill>
            </a:endParaRPr>
          </a:p>
          <a:p>
            <a:pPr fontAlgn="ctr"/>
            <a:r>
              <a:rPr lang="en-US" altLang="zh-CN" sz="3600" b="1" dirty="0">
                <a:solidFill>
                  <a:srgbClr val="FF0000"/>
                </a:solidFill>
              </a:rPr>
              <a:t>53. a must-see attraction</a:t>
            </a:r>
            <a:r>
              <a:rPr lang="zh-CN" altLang="en-US" sz="3600" b="1" dirty="0">
                <a:solidFill>
                  <a:srgbClr val="FF0000"/>
                </a:solidFill>
              </a:rPr>
              <a:t>一个必看景点</a:t>
            </a:r>
            <a:r>
              <a:rPr lang="en-US" altLang="zh-CN" sz="3600" b="1" dirty="0">
                <a:solidFill>
                  <a:srgbClr val="FF0000"/>
                </a:solidFill>
              </a:rPr>
              <a:t>   </a:t>
            </a:r>
          </a:p>
          <a:p>
            <a:pPr fontAlgn="ctr"/>
            <a:r>
              <a:rPr lang="en-US" altLang="zh-CN" sz="3600" b="1" dirty="0">
                <a:solidFill>
                  <a:schemeClr val="tx1"/>
                </a:solidFill>
              </a:rPr>
              <a:t>54. itself    55. gradually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r>
              <a:rPr lang="zh-CN" altLang="en-US" sz="3600" b="1" dirty="0">
                <a:solidFill>
                  <a:srgbClr val="7030A0"/>
                </a:solidFill>
                <a:sym typeface="+mn-ea"/>
              </a:rPr>
              <a:t>卷六</a:t>
            </a:r>
            <a:r>
              <a:rPr lang="en-US" altLang="zh-CN" sz="3600" b="1" dirty="0">
                <a:solidFill>
                  <a:srgbClr val="FF0000"/>
                </a:solidFill>
                <a:sym typeface="+mn-ea"/>
              </a:rPr>
              <a:t> </a:t>
            </a:r>
            <a:r>
              <a:rPr lang="en-US" altLang="zh-CN" sz="3600" b="1" dirty="0">
                <a:solidFill>
                  <a:srgbClr val="7030A0"/>
                </a:solidFill>
                <a:sym typeface="+mn-ea"/>
              </a:rPr>
              <a:t>priority selection</a:t>
            </a:r>
            <a:r>
              <a:rPr lang="zh-CN" altLang="en-US" sz="3600" b="1" dirty="0">
                <a:solidFill>
                  <a:srgbClr val="7030A0"/>
                </a:solidFill>
                <a:sym typeface="+mn-ea"/>
              </a:rPr>
              <a:t>优先选择</a:t>
            </a:r>
            <a:endParaRPr lang="zh-CN" altLang="en-US" sz="3600" b="1" dirty="0">
              <a:solidFill>
                <a:srgbClr val="7030A0"/>
              </a:solidFill>
            </a:endParaRPr>
          </a:p>
          <a:p>
            <a:r>
              <a:rPr lang="en-US" altLang="zh-CN" sz="3600" b="1" dirty="0">
                <a:solidFill>
                  <a:srgbClr val="FF0000"/>
                </a:solidFill>
                <a:sym typeface="+mn-ea"/>
              </a:rPr>
              <a:t>unveil v.</a:t>
            </a:r>
            <a:r>
              <a:rPr lang="zh-CN" altLang="en-US" sz="3600" b="1" dirty="0">
                <a:solidFill>
                  <a:srgbClr val="FF0000"/>
                </a:solidFill>
                <a:sym typeface="+mn-ea"/>
              </a:rPr>
              <a:t>揭幕</a:t>
            </a:r>
            <a:r>
              <a:rPr lang="en-US" altLang="zh-CN" sz="3600" b="1" dirty="0">
                <a:solidFill>
                  <a:srgbClr val="FF0000"/>
                </a:solidFill>
                <a:sym typeface="+mn-ea"/>
              </a:rPr>
              <a:t>/</a:t>
            </a:r>
            <a:r>
              <a:rPr lang="zh-CN" altLang="en-US" sz="3600" b="1" dirty="0">
                <a:solidFill>
                  <a:srgbClr val="FF0000"/>
                </a:solidFill>
                <a:sym typeface="+mn-ea"/>
              </a:rPr>
              <a:t>开</a:t>
            </a:r>
            <a:r>
              <a:rPr lang="en-US" altLang="zh-CN" sz="3600" b="1" dirty="0">
                <a:solidFill>
                  <a:srgbClr val="FF0000"/>
                </a:solidFill>
                <a:sym typeface="+mn-ea"/>
              </a:rPr>
              <a:t> release v.</a:t>
            </a:r>
            <a:r>
              <a:rPr lang="zh-CN" altLang="en-US" sz="3600" b="1" dirty="0">
                <a:solidFill>
                  <a:srgbClr val="FF0000"/>
                </a:solidFill>
                <a:sym typeface="+mn-ea"/>
              </a:rPr>
              <a:t>释放</a:t>
            </a:r>
            <a:r>
              <a:rPr lang="en-US" altLang="zh-CN" sz="3600" b="1" dirty="0">
                <a:solidFill>
                  <a:srgbClr val="FF0000"/>
                </a:solidFill>
                <a:sym typeface="+mn-ea"/>
              </a:rPr>
              <a:t>;</a:t>
            </a:r>
            <a:r>
              <a:rPr lang="zh-CN" altLang="en-US" sz="3600" b="1" dirty="0">
                <a:solidFill>
                  <a:srgbClr val="FF0000"/>
                </a:solidFill>
                <a:sym typeface="+mn-ea"/>
              </a:rPr>
              <a:t>发布</a:t>
            </a:r>
            <a:r>
              <a:rPr lang="en-US" altLang="zh-CN" sz="3600" b="1" dirty="0">
                <a:solidFill>
                  <a:srgbClr val="FF0000"/>
                </a:solidFill>
                <a:sym typeface="+mn-ea"/>
              </a:rPr>
              <a:t> surpass v.</a:t>
            </a:r>
            <a:r>
              <a:rPr lang="zh-CN" altLang="en-US" sz="3600" b="1" dirty="0">
                <a:solidFill>
                  <a:srgbClr val="FF0000"/>
                </a:solidFill>
                <a:sym typeface="+mn-ea"/>
              </a:rPr>
              <a:t>超过</a:t>
            </a:r>
            <a:r>
              <a:rPr lang="en-US" altLang="zh-CN" sz="3600" b="1" dirty="0">
                <a:solidFill>
                  <a:srgbClr val="FF0000"/>
                </a:solidFill>
              </a:rPr>
              <a:t> </a:t>
            </a:r>
          </a:p>
          <a:p>
            <a:r>
              <a:rPr lang="en-US" sz="3600" b="1" dirty="0">
                <a:solidFill>
                  <a:srgbClr val="FF0000"/>
                </a:solidFill>
              </a:rPr>
              <a:t>21.</a:t>
            </a:r>
            <a:r>
              <a:rPr lang="en-US" altLang="zh-CN" sz="3600" b="1" dirty="0">
                <a:solidFill>
                  <a:srgbClr val="FF0000"/>
                </a:solidFill>
              </a:rPr>
              <a:t>program... into one’s brain……</a:t>
            </a:r>
            <a:r>
              <a:rPr lang="zh-CN" altLang="en-US" sz="3600" b="1" dirty="0">
                <a:solidFill>
                  <a:srgbClr val="FF0000"/>
                </a:solidFill>
              </a:rPr>
              <a:t>植入某人的大脑，使某人形成某种固定思维</a:t>
            </a:r>
            <a:r>
              <a:rPr lang="en-US" altLang="zh-CN" sz="3600" b="1" dirty="0">
                <a:solidFill>
                  <a:srgbClr val="FF0000"/>
                </a:solidFill>
              </a:rPr>
              <a:t>/</a:t>
            </a:r>
            <a:r>
              <a:rPr lang="zh-CN" altLang="en-US" sz="3600" b="1" dirty="0">
                <a:solidFill>
                  <a:srgbClr val="FF0000"/>
                </a:solidFill>
              </a:rPr>
              <a:t>观念</a:t>
            </a:r>
            <a:r>
              <a:rPr lang="en-US" altLang="zh-CN" sz="3600" b="1" dirty="0">
                <a:solidFill>
                  <a:srgbClr val="FF0000"/>
                </a:solidFill>
                <a:sym typeface="+mn-ea"/>
              </a:rPr>
              <a:t>transform</a:t>
            </a:r>
            <a:r>
              <a:rPr lang="zh-CN" altLang="en-US" sz="3600" b="1" dirty="0">
                <a:solidFill>
                  <a:srgbClr val="FF0000"/>
                </a:solidFill>
                <a:sym typeface="+mn-ea"/>
              </a:rPr>
              <a:t>转变</a:t>
            </a:r>
          </a:p>
          <a:p>
            <a:r>
              <a:rPr lang="en-US" sz="3600" b="1" dirty="0">
                <a:solidFill>
                  <a:srgbClr val="7030A0"/>
                </a:solidFill>
              </a:rPr>
              <a:t>22.</a:t>
            </a:r>
            <a:r>
              <a:rPr lang="en-US" altLang="zh-CN" sz="3600" b="1" dirty="0">
                <a:solidFill>
                  <a:srgbClr val="7030A0"/>
                </a:solidFill>
              </a:rPr>
              <a:t>interacting</a:t>
            </a:r>
            <a:r>
              <a:rPr lang="zh-CN" altLang="en-US" sz="3600" b="1" dirty="0">
                <a:solidFill>
                  <a:srgbClr val="7030A0"/>
                </a:solidFill>
              </a:rPr>
              <a:t>交流互动</a:t>
            </a:r>
            <a:r>
              <a:rPr lang="en-US" altLang="zh-CN" sz="3600" b="1" dirty="0">
                <a:solidFill>
                  <a:srgbClr val="7030A0"/>
                </a:solidFill>
              </a:rPr>
              <a:t>with me </a:t>
            </a:r>
            <a:r>
              <a:rPr lang="en-US" sz="3600" b="1" dirty="0">
                <a:solidFill>
                  <a:srgbClr val="7030A0"/>
                </a:solidFill>
              </a:rPr>
              <a:t>24.</a:t>
            </a:r>
            <a:r>
              <a:rPr lang="en-US" altLang="zh-CN" sz="3600" b="1" dirty="0">
                <a:solidFill>
                  <a:srgbClr val="7030A0"/>
                </a:solidFill>
              </a:rPr>
              <a:t> initially</a:t>
            </a:r>
            <a:r>
              <a:rPr lang="zh-CN" altLang="en-US" sz="3600" b="1" dirty="0">
                <a:solidFill>
                  <a:srgbClr val="7030A0"/>
                </a:solidFill>
              </a:rPr>
              <a:t>起初</a:t>
            </a:r>
            <a:r>
              <a:rPr lang="en-US" altLang="zh-CN" sz="3600" b="1" dirty="0">
                <a:solidFill>
                  <a:srgbClr val="7030A0"/>
                </a:solidFill>
              </a:rPr>
              <a:t> </a:t>
            </a:r>
            <a:r>
              <a:rPr lang="en-US" sz="3600" b="1" dirty="0">
                <a:solidFill>
                  <a:srgbClr val="7030A0"/>
                </a:solidFill>
              </a:rPr>
              <a:t>25.</a:t>
            </a:r>
            <a:r>
              <a:rPr lang="en-US" altLang="zh-CN" sz="3600" b="1" dirty="0">
                <a:solidFill>
                  <a:srgbClr val="7030A0"/>
                </a:solidFill>
              </a:rPr>
              <a:t>stick on</a:t>
            </a:r>
            <a:r>
              <a:rPr lang="zh-CN" altLang="en-US" sz="3600" b="1" dirty="0">
                <a:solidFill>
                  <a:srgbClr val="7030A0"/>
                </a:solidFill>
              </a:rPr>
              <a:t>粘在</a:t>
            </a:r>
            <a:r>
              <a:rPr lang="en-US" altLang="zh-CN" sz="3600" b="1" dirty="0">
                <a:solidFill>
                  <a:srgbClr val="7030A0"/>
                </a:solidFill>
              </a:rPr>
              <a:t>…</a:t>
            </a:r>
            <a:r>
              <a:rPr lang="zh-CN" altLang="en-US" sz="3600" b="1" dirty="0">
                <a:solidFill>
                  <a:srgbClr val="7030A0"/>
                </a:solidFill>
              </a:rPr>
              <a:t>上</a:t>
            </a:r>
            <a:r>
              <a:rPr lang="en-US" altLang="zh-CN" sz="3600" b="1" dirty="0">
                <a:solidFill>
                  <a:srgbClr val="7030A0"/>
                </a:solidFill>
              </a:rPr>
              <a:t> </a:t>
            </a:r>
            <a:r>
              <a:rPr lang="en-US" sz="3600" b="1" dirty="0">
                <a:solidFill>
                  <a:srgbClr val="7030A0"/>
                </a:solidFill>
              </a:rPr>
              <a:t>26.</a:t>
            </a:r>
            <a:r>
              <a:rPr lang="en-US" altLang="zh-CN" sz="3600" b="1" dirty="0">
                <a:solidFill>
                  <a:srgbClr val="7030A0"/>
                </a:solidFill>
              </a:rPr>
              <a:t>whisper</a:t>
            </a:r>
            <a:r>
              <a:rPr lang="zh-CN" altLang="en-US" sz="3600" b="1" dirty="0">
                <a:solidFill>
                  <a:srgbClr val="7030A0"/>
                </a:solidFill>
              </a:rPr>
              <a:t>低语</a:t>
            </a:r>
            <a:r>
              <a:rPr lang="en-US" sz="3600" b="1" dirty="0">
                <a:solidFill>
                  <a:srgbClr val="7030A0"/>
                </a:solidFill>
              </a:rPr>
              <a:t>27.</a:t>
            </a:r>
            <a:r>
              <a:rPr lang="en-US" altLang="zh-CN" sz="3600" b="1" dirty="0">
                <a:solidFill>
                  <a:srgbClr val="7030A0"/>
                </a:solidFill>
              </a:rPr>
              <a:t>sense</a:t>
            </a:r>
            <a:r>
              <a:rPr lang="zh-CN" altLang="en-US" sz="3600" b="1" dirty="0">
                <a:solidFill>
                  <a:srgbClr val="7030A0"/>
                </a:solidFill>
              </a:rPr>
              <a:t>感觉</a:t>
            </a:r>
            <a:r>
              <a:rPr lang="en-US" altLang="zh-CN" sz="3600" b="1" dirty="0">
                <a:solidFill>
                  <a:srgbClr val="7030A0"/>
                </a:solidFill>
              </a:rPr>
              <a:t> shade</a:t>
            </a:r>
            <a:r>
              <a:rPr lang="zh-CN" altLang="en-US" sz="3600" b="1" dirty="0">
                <a:solidFill>
                  <a:srgbClr val="7030A0"/>
                </a:solidFill>
              </a:rPr>
              <a:t>色调，色度</a:t>
            </a:r>
            <a:r>
              <a:rPr lang="en-US" altLang="zh-CN" sz="3600" b="1" dirty="0">
                <a:solidFill>
                  <a:srgbClr val="7030A0"/>
                </a:solidFill>
              </a:rPr>
              <a:t> shadow</a:t>
            </a:r>
            <a:r>
              <a:rPr lang="zh-CN" altLang="en-US" sz="3600" b="1" dirty="0">
                <a:solidFill>
                  <a:srgbClr val="7030A0"/>
                </a:solidFill>
              </a:rPr>
              <a:t>影子</a:t>
            </a:r>
            <a:r>
              <a:rPr lang="en-US" altLang="zh-CN" sz="3600" b="1" dirty="0">
                <a:solidFill>
                  <a:srgbClr val="7030A0"/>
                </a:solidFill>
              </a:rPr>
              <a:t> tone</a:t>
            </a:r>
            <a:r>
              <a:rPr lang="zh-CN" altLang="en-US" sz="3600" b="1" dirty="0">
                <a:solidFill>
                  <a:srgbClr val="7030A0"/>
                </a:solidFill>
              </a:rPr>
              <a:t>语气，音调</a:t>
            </a:r>
          </a:p>
          <a:p>
            <a:r>
              <a:rPr lang="en-US" sz="3600" b="1" dirty="0">
                <a:solidFill>
                  <a:srgbClr val="FF0000"/>
                </a:solidFill>
              </a:rPr>
              <a:t>28.</a:t>
            </a:r>
            <a:r>
              <a:rPr lang="en-US" altLang="zh-CN" sz="3600" b="1" dirty="0">
                <a:solidFill>
                  <a:srgbClr val="FF0000"/>
                </a:solidFill>
              </a:rPr>
              <a:t>live in</a:t>
            </a:r>
            <a:r>
              <a:rPr lang="zh-CN" altLang="en-US" sz="3600" b="1" dirty="0">
                <a:solidFill>
                  <a:srgbClr val="FF0000"/>
                </a:solidFill>
              </a:rPr>
              <a:t>住在</a:t>
            </a:r>
            <a:r>
              <a:rPr lang="en-US" altLang="zh-CN" sz="3600" b="1" dirty="0">
                <a:solidFill>
                  <a:srgbClr val="FF0000"/>
                </a:solidFill>
              </a:rPr>
              <a:t> fit into</a:t>
            </a:r>
            <a:r>
              <a:rPr lang="zh-CN" altLang="en-US" sz="3600" b="1" dirty="0">
                <a:solidFill>
                  <a:srgbClr val="FF0000"/>
                </a:solidFill>
              </a:rPr>
              <a:t>适合</a:t>
            </a:r>
            <a:r>
              <a:rPr lang="en-US" altLang="zh-CN" sz="3600" b="1" dirty="0">
                <a:solidFill>
                  <a:srgbClr val="FF0000"/>
                </a:solidFill>
              </a:rPr>
              <a:t> </a:t>
            </a:r>
            <a:r>
              <a:rPr lang="en-US" altLang="zh-CN" sz="3600" b="1" dirty="0">
                <a:solidFill>
                  <a:srgbClr val="7030A0"/>
                </a:solidFill>
              </a:rPr>
              <a:t>stand out</a:t>
            </a:r>
            <a:r>
              <a:rPr lang="zh-CN" altLang="en-US" sz="3600" b="1" dirty="0">
                <a:solidFill>
                  <a:srgbClr val="7030A0"/>
                </a:solidFill>
              </a:rPr>
              <a:t>突出</a:t>
            </a:r>
            <a:r>
              <a:rPr lang="en-US" altLang="zh-CN" sz="3600" b="1" dirty="0">
                <a:solidFill>
                  <a:srgbClr val="FF0000"/>
                </a:solidFill>
              </a:rPr>
              <a:t> fall apart</a:t>
            </a:r>
            <a:r>
              <a:rPr lang="zh-CN" altLang="en-US" sz="3600" b="1" dirty="0">
                <a:solidFill>
                  <a:srgbClr val="FF0000"/>
                </a:solidFill>
              </a:rPr>
              <a:t>崩溃</a:t>
            </a:r>
            <a:r>
              <a:rPr lang="en-US" sz="3600" b="1" dirty="0">
                <a:solidFill>
                  <a:srgbClr val="FF0000"/>
                </a:solidFill>
              </a:rPr>
              <a:t>29.</a:t>
            </a:r>
            <a:r>
              <a:rPr lang="en-US" altLang="zh-CN" sz="3600" b="1" dirty="0">
                <a:solidFill>
                  <a:srgbClr val="FF0000"/>
                </a:solidFill>
              </a:rPr>
              <a:t>merely</a:t>
            </a:r>
            <a:r>
              <a:rPr lang="zh-CN" altLang="en-US" sz="3600" b="1" dirty="0">
                <a:solidFill>
                  <a:srgbClr val="FF0000"/>
                </a:solidFill>
              </a:rPr>
              <a:t>仅仅</a:t>
            </a:r>
            <a:r>
              <a:rPr lang="en-US" altLang="zh-CN" sz="3600" b="1" dirty="0">
                <a:solidFill>
                  <a:srgbClr val="FF0000"/>
                </a:solidFill>
              </a:rPr>
              <a:t> </a:t>
            </a:r>
            <a:r>
              <a:rPr lang="en-US" sz="3600" b="1" dirty="0">
                <a:solidFill>
                  <a:schemeClr val="tx1"/>
                </a:solidFill>
              </a:rPr>
              <a:t>30.</a:t>
            </a:r>
            <a:r>
              <a:rPr lang="en-US" altLang="zh-CN" sz="3600" b="1" dirty="0">
                <a:solidFill>
                  <a:schemeClr val="tx1"/>
                </a:solidFill>
              </a:rPr>
              <a:t> shock</a:t>
            </a:r>
            <a:r>
              <a:rPr lang="zh-CN" altLang="en-US" sz="3600" b="1" dirty="0">
                <a:solidFill>
                  <a:schemeClr val="tx1"/>
                </a:solidFill>
              </a:rPr>
              <a:t>震惊</a:t>
            </a:r>
          </a:p>
          <a:p>
            <a:r>
              <a:rPr lang="en-US" sz="3600" b="1" dirty="0">
                <a:solidFill>
                  <a:srgbClr val="FF0000"/>
                </a:solidFill>
              </a:rPr>
              <a:t>31.</a:t>
            </a:r>
            <a:r>
              <a:rPr lang="en-US" altLang="zh-CN" sz="3600" b="1" dirty="0">
                <a:solidFill>
                  <a:srgbClr val="FF0000"/>
                </a:solidFill>
              </a:rPr>
              <a:t> appropriate</a:t>
            </a:r>
            <a:r>
              <a:rPr lang="zh-CN" altLang="en-US" sz="3600" b="1" dirty="0">
                <a:solidFill>
                  <a:srgbClr val="FF0000"/>
                </a:solidFill>
              </a:rPr>
              <a:t>合适的</a:t>
            </a:r>
            <a:r>
              <a:rPr lang="en-US" altLang="zh-CN" sz="3600" b="1" dirty="0">
                <a:solidFill>
                  <a:srgbClr val="FF0000"/>
                </a:solidFill>
              </a:rPr>
              <a:t>to my proportions</a:t>
            </a:r>
            <a:r>
              <a:rPr lang="zh-CN" altLang="en-US" sz="3600" b="1" dirty="0">
                <a:solidFill>
                  <a:srgbClr val="FF0000"/>
                </a:solidFill>
              </a:rPr>
              <a:t>适合自己身体比例的</a:t>
            </a:r>
            <a:r>
              <a:rPr lang="en-US" altLang="zh-CN" sz="3600" b="1" dirty="0">
                <a:solidFill>
                  <a:srgbClr val="FF0000"/>
                </a:solidFill>
              </a:rPr>
              <a:t> </a:t>
            </a:r>
          </a:p>
          <a:p>
            <a:r>
              <a:rPr lang="en-US" sz="3600" b="1" dirty="0">
                <a:solidFill>
                  <a:srgbClr val="FF0000"/>
                </a:solidFill>
              </a:rPr>
              <a:t>32.</a:t>
            </a:r>
            <a:r>
              <a:rPr lang="en-US" altLang="zh-CN" sz="3600" b="1" dirty="0">
                <a:solidFill>
                  <a:srgbClr val="FF0000"/>
                </a:solidFill>
                <a:sym typeface="+mn-ea"/>
              </a:rPr>
              <a:t>music library</a:t>
            </a:r>
            <a:r>
              <a:rPr lang="zh-CN" altLang="en-US" sz="3600" b="1" dirty="0">
                <a:solidFill>
                  <a:srgbClr val="FF0000"/>
                </a:solidFill>
                <a:sym typeface="+mn-ea"/>
              </a:rPr>
              <a:t>音乐库</a:t>
            </a:r>
            <a:r>
              <a:rPr lang="en-US" altLang="zh-CN" sz="3600" b="1" dirty="0">
                <a:solidFill>
                  <a:srgbClr val="FF0000"/>
                </a:solidFill>
                <a:sym typeface="+mn-ea"/>
              </a:rPr>
              <a:t> </a:t>
            </a:r>
            <a:r>
              <a:rPr lang="en-US" altLang="zh-CN" sz="3600" b="1" dirty="0">
                <a:solidFill>
                  <a:srgbClr val="FF0000"/>
                </a:solidFill>
              </a:rPr>
              <a:t>studio</a:t>
            </a:r>
            <a:r>
              <a:rPr lang="zh-CN" altLang="en-US" sz="3600" b="1" dirty="0">
                <a:solidFill>
                  <a:srgbClr val="FF0000"/>
                </a:solidFill>
              </a:rPr>
              <a:t>工作室</a:t>
            </a:r>
          </a:p>
          <a:p>
            <a:r>
              <a:rPr lang="en-US" sz="3600" b="1" dirty="0">
                <a:solidFill>
                  <a:srgbClr val="FF0000"/>
                </a:solidFill>
              </a:rPr>
              <a:t>33.</a:t>
            </a:r>
            <a:r>
              <a:rPr lang="en-US" altLang="zh-CN" sz="3600" b="1" dirty="0">
                <a:solidFill>
                  <a:srgbClr val="FF0000"/>
                </a:solidFill>
              </a:rPr>
              <a:t>colorblind</a:t>
            </a:r>
            <a:r>
              <a:rPr lang="zh-CN" altLang="en-US" sz="3600" b="1" dirty="0">
                <a:solidFill>
                  <a:srgbClr val="FF0000"/>
                </a:solidFill>
              </a:rPr>
              <a:t>不辨颜色的，不分肤色的</a:t>
            </a:r>
            <a:r>
              <a:rPr lang="en-US" altLang="zh-CN" sz="3600" b="1" dirty="0">
                <a:solidFill>
                  <a:srgbClr val="FF0000"/>
                </a:solidFill>
              </a:rPr>
              <a:t> </a:t>
            </a:r>
            <a:r>
              <a:rPr lang="en-US" altLang="zh-CN" sz="3600" b="1" dirty="0">
                <a:solidFill>
                  <a:srgbClr val="7030A0"/>
                </a:solidFill>
              </a:rPr>
              <a:t>cautious</a:t>
            </a:r>
            <a:r>
              <a:rPr lang="zh-CN" altLang="en-US" sz="3600" b="1" dirty="0">
                <a:solidFill>
                  <a:srgbClr val="7030A0"/>
                </a:solidFill>
              </a:rPr>
              <a:t>谨慎的</a:t>
            </a:r>
            <a:r>
              <a:rPr lang="en-US" altLang="zh-CN" sz="3600" b="1" dirty="0">
                <a:solidFill>
                  <a:srgbClr val="FF0000"/>
                </a:solidFill>
              </a:rPr>
              <a:t>carefree</a:t>
            </a:r>
            <a:r>
              <a:rPr lang="zh-CN" altLang="en-US" sz="3600" b="1" dirty="0">
                <a:solidFill>
                  <a:srgbClr val="FF0000"/>
                </a:solidFill>
              </a:rPr>
              <a:t>无忧无虑的</a:t>
            </a:r>
            <a:r>
              <a:rPr lang="en-US" altLang="zh-CN" sz="3600" b="1" dirty="0">
                <a:solidFill>
                  <a:srgbClr val="FF0000"/>
                </a:solidFill>
              </a:rPr>
              <a:t> courageous</a:t>
            </a:r>
            <a:r>
              <a:rPr lang="zh-CN" altLang="en-US" sz="3600" b="1" dirty="0">
                <a:solidFill>
                  <a:srgbClr val="FF0000"/>
                </a:solidFill>
              </a:rPr>
              <a:t>勇敢的</a:t>
            </a:r>
          </a:p>
          <a:p>
            <a:r>
              <a:rPr lang="en-US" altLang="zh-CN" sz="3600" b="1" dirty="0">
                <a:solidFill>
                  <a:srgbClr val="7030A0"/>
                </a:solidFill>
              </a:rPr>
              <a:t>34.yet</a:t>
            </a:r>
            <a:r>
              <a:rPr lang="zh-CN" altLang="en-US" sz="3600" b="1" dirty="0">
                <a:solidFill>
                  <a:srgbClr val="7030A0"/>
                </a:solidFill>
              </a:rPr>
              <a:t>然而</a:t>
            </a:r>
            <a:r>
              <a:rPr lang="zh-CN" sz="3600" b="1" dirty="0">
                <a:solidFill>
                  <a:srgbClr val="7030A0"/>
                </a:solidFill>
              </a:rPr>
              <a:t>，</a:t>
            </a:r>
            <a:r>
              <a:rPr lang="zh-CN" altLang="en-US" sz="3600" b="1" dirty="0">
                <a:solidFill>
                  <a:srgbClr val="7030A0"/>
                </a:solidFill>
              </a:rPr>
              <a:t>转折关系</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36. an  </a:t>
            </a:r>
            <a:r>
              <a:rPr lang="zh-CN" altLang="en-US" sz="3600" b="1" dirty="0">
                <a:solidFill>
                  <a:srgbClr val="FF0000"/>
                </a:solidFill>
              </a:rPr>
              <a:t>一个热门旅游景点</a:t>
            </a:r>
            <a:r>
              <a:rPr lang="en-US" altLang="zh-CN" sz="3600" b="1" dirty="0">
                <a:solidFill>
                  <a:srgbClr val="FF0000"/>
                </a:solidFill>
              </a:rPr>
              <a:t>  37. dating  back to</a:t>
            </a:r>
            <a:r>
              <a:rPr lang="zh-CN" altLang="en-US" sz="3600" b="1" dirty="0">
                <a:solidFill>
                  <a:srgbClr val="FF0000"/>
                </a:solidFill>
              </a:rPr>
              <a:t>追溯到</a:t>
            </a:r>
            <a:endParaRPr lang="en-US" altLang="zh-CN" sz="3600" b="1" dirty="0">
              <a:solidFill>
                <a:srgbClr val="FF0000"/>
              </a:solidFill>
            </a:endParaRPr>
          </a:p>
          <a:p>
            <a:r>
              <a:rPr lang="en-US" altLang="zh-CN" sz="3600" b="1" dirty="0">
                <a:solidFill>
                  <a:srgbClr val="FF0000"/>
                </a:solidFill>
              </a:rPr>
              <a:t>38. where</a:t>
            </a:r>
            <a:r>
              <a:rPr lang="zh-CN" altLang="en-US" sz="3600" b="1" dirty="0">
                <a:solidFill>
                  <a:srgbClr val="FF0000"/>
                </a:solidFill>
              </a:rPr>
              <a:t>定从</a:t>
            </a:r>
            <a:r>
              <a:rPr lang="en-US" altLang="zh-CN" sz="3600" b="1" dirty="0">
                <a:solidFill>
                  <a:srgbClr val="FF0000"/>
                </a:solidFill>
              </a:rPr>
              <a:t>    39. equipped  </a:t>
            </a:r>
          </a:p>
          <a:p>
            <a:r>
              <a:rPr lang="en-US" altLang="zh-CN" sz="3600" b="1" dirty="0">
                <a:solidFill>
                  <a:srgbClr val="FF0000"/>
                </a:solidFill>
              </a:rPr>
              <a:t>be equipped with</a:t>
            </a:r>
            <a:r>
              <a:rPr lang="zh-CN" altLang="en-US" sz="3600" b="1" dirty="0">
                <a:solidFill>
                  <a:srgbClr val="FF0000"/>
                </a:solidFill>
              </a:rPr>
              <a:t>配备有</a:t>
            </a:r>
            <a:r>
              <a:rPr lang="en-US" altLang="zh-CN" sz="3600" b="1" dirty="0">
                <a:solidFill>
                  <a:srgbClr val="FF0000"/>
                </a:solidFill>
              </a:rPr>
              <a:t>…  </a:t>
            </a:r>
          </a:p>
          <a:p>
            <a:r>
              <a:rPr lang="en-US" altLang="zh-CN" sz="3600" b="1" dirty="0">
                <a:solidFill>
                  <a:schemeClr val="tx1"/>
                </a:solidFill>
              </a:rPr>
              <a:t>40. an immersive exhibition</a:t>
            </a:r>
            <a:r>
              <a:rPr lang="en-US" altLang="zh-CN" sz="3600" b="1" dirty="0">
                <a:solidFill>
                  <a:srgbClr val="FF0000"/>
                </a:solidFill>
              </a:rPr>
              <a:t> offers    </a:t>
            </a:r>
          </a:p>
          <a:p>
            <a:r>
              <a:rPr lang="en-US" altLang="zh-CN" sz="3600" b="1" dirty="0">
                <a:solidFill>
                  <a:srgbClr val="FF0000"/>
                </a:solidFill>
              </a:rPr>
              <a:t>41. </a:t>
            </a:r>
            <a:r>
              <a:rPr lang="zh-CN" altLang="en-US" sz="3600" b="1" dirty="0">
                <a:solidFill>
                  <a:srgbClr val="FF0000"/>
                </a:solidFill>
              </a:rPr>
              <a:t>宾从</a:t>
            </a:r>
            <a:r>
              <a:rPr lang="en-US" altLang="zh-CN" sz="3600" b="1" dirty="0">
                <a:solidFill>
                  <a:srgbClr val="FF0000"/>
                </a:solidFill>
              </a:rPr>
              <a:t>how    </a:t>
            </a:r>
          </a:p>
          <a:p>
            <a:r>
              <a:rPr lang="en-US" altLang="zh-CN" sz="3600" b="1" dirty="0">
                <a:solidFill>
                  <a:srgbClr val="FF0000"/>
                </a:solidFill>
              </a:rPr>
              <a:t>42. to be discovered    </a:t>
            </a:r>
            <a:r>
              <a:rPr lang="zh-CN" altLang="en-US" sz="3600" b="1" dirty="0">
                <a:solidFill>
                  <a:srgbClr val="FF0000"/>
                </a:solidFill>
              </a:rPr>
              <a:t>尚未被发现</a:t>
            </a:r>
          </a:p>
          <a:p>
            <a:r>
              <a:rPr lang="en-US" altLang="zh-CN" sz="3600" b="1" dirty="0">
                <a:solidFill>
                  <a:srgbClr val="FF0000"/>
                </a:solidFill>
              </a:rPr>
              <a:t>43. are    </a:t>
            </a:r>
            <a:r>
              <a:rPr lang="zh-CN" altLang="en-US" sz="3600" b="1" dirty="0">
                <a:solidFill>
                  <a:srgbClr val="FF0000"/>
                </a:solidFill>
              </a:rPr>
              <a:t>倒装</a:t>
            </a:r>
            <a:endParaRPr lang="en-US" altLang="zh-CN" sz="3600" b="1" dirty="0">
              <a:solidFill>
                <a:srgbClr val="FF0000"/>
              </a:solidFill>
            </a:endParaRPr>
          </a:p>
          <a:p>
            <a:r>
              <a:rPr lang="en-US" altLang="zh-CN" sz="3600" b="1" dirty="0">
                <a:solidFill>
                  <a:schemeClr val="tx1"/>
                </a:solidFill>
              </a:rPr>
              <a:t>life-size reproductions of dozens of astonishing artifacts</a:t>
            </a:r>
          </a:p>
          <a:p>
            <a:r>
              <a:rPr lang="en-US" altLang="zh-CN" sz="3600" b="1" dirty="0">
                <a:solidFill>
                  <a:srgbClr val="FF0000"/>
                </a:solidFill>
              </a:rPr>
              <a:t>44. civilization    n.</a:t>
            </a:r>
            <a:r>
              <a:rPr lang="zh-CN" altLang="en-US" sz="3600" b="1" dirty="0">
                <a:solidFill>
                  <a:srgbClr val="FF0000"/>
                </a:solidFill>
              </a:rPr>
              <a:t>文明</a:t>
            </a:r>
            <a:endParaRPr lang="en-US" altLang="zh-CN" sz="3600" b="1" dirty="0">
              <a:solidFill>
                <a:srgbClr val="FF0000"/>
              </a:solidFill>
            </a:endParaRPr>
          </a:p>
          <a:p>
            <a:r>
              <a:rPr lang="en-US" altLang="zh-CN" sz="3600" b="1" dirty="0">
                <a:solidFill>
                  <a:srgbClr val="FF0000"/>
                </a:solidFill>
              </a:rPr>
              <a:t>45. leave behind</a:t>
            </a:r>
            <a:r>
              <a:rPr lang="zh-CN" altLang="en-US" sz="3600" b="1" dirty="0">
                <a:solidFill>
                  <a:srgbClr val="FF0000"/>
                </a:solidFill>
              </a:rPr>
              <a:t>留下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zh-CN" altLang="en-US" sz="3600" b="1" dirty="0"/>
              <a:t>山东卷</a:t>
            </a:r>
            <a:r>
              <a:rPr lang="en-US" altLang="zh-CN" sz="3600" b="1" dirty="0"/>
              <a:t> </a:t>
            </a:r>
            <a:r>
              <a:rPr lang="en-US" altLang="zh-CN" sz="3600" b="1" dirty="0">
                <a:solidFill>
                  <a:srgbClr val="FF0000"/>
                </a:solidFill>
              </a:rPr>
              <a:t>in contemporary society</a:t>
            </a:r>
            <a:r>
              <a:rPr lang="zh-CN" altLang="en-US" sz="3600" b="1" dirty="0">
                <a:solidFill>
                  <a:srgbClr val="FF0000"/>
                </a:solidFill>
              </a:rPr>
              <a:t>在当代社会</a:t>
            </a:r>
            <a:endParaRPr lang="en-US" altLang="zh-CN" sz="3600" b="1" dirty="0">
              <a:solidFill>
                <a:srgbClr val="FF0000"/>
              </a:solidFill>
            </a:endParaRPr>
          </a:p>
          <a:p>
            <a:r>
              <a:rPr lang="en-US" altLang="zh-CN" sz="3600" b="1" dirty="0">
                <a:solidFill>
                  <a:srgbClr val="FF0000"/>
                </a:solidFill>
              </a:rPr>
              <a:t> solitary living</a:t>
            </a:r>
            <a:r>
              <a:rPr lang="zh-CN" altLang="en-US" sz="3600" b="1" dirty="0">
                <a:solidFill>
                  <a:srgbClr val="FF0000"/>
                </a:solidFill>
              </a:rPr>
              <a:t>孤独的生活 </a:t>
            </a:r>
            <a:r>
              <a:rPr lang="en-US" altLang="zh-CN" sz="3600" b="1" dirty="0">
                <a:solidFill>
                  <a:srgbClr val="FF0000"/>
                </a:solidFill>
              </a:rPr>
              <a:t>reside alone</a:t>
            </a:r>
            <a:r>
              <a:rPr lang="zh-CN" altLang="en-US" sz="3600" b="1" dirty="0">
                <a:solidFill>
                  <a:srgbClr val="FF0000"/>
                </a:solidFill>
              </a:rPr>
              <a:t>独自居住</a:t>
            </a:r>
            <a:endParaRPr lang="en-US" altLang="zh-CN" sz="3600" b="1" dirty="0">
              <a:solidFill>
                <a:srgbClr val="FF0000"/>
              </a:solidFill>
            </a:endParaRPr>
          </a:p>
          <a:p>
            <a:r>
              <a:rPr lang="en-US" altLang="zh-CN" sz="3600" b="1" dirty="0">
                <a:solidFill>
                  <a:srgbClr val="FF0000"/>
                </a:solidFill>
              </a:rPr>
              <a:t> overlook a crucial distinction</a:t>
            </a:r>
            <a:r>
              <a:rPr lang="zh-CN" altLang="en-US" dirty="0">
                <a:solidFill>
                  <a:srgbClr val="FF0000"/>
                </a:solidFill>
              </a:rPr>
              <a:t>忽略一个关键的区别</a:t>
            </a:r>
            <a:endParaRPr lang="en-US" altLang="zh-CN" sz="3600" b="1" dirty="0">
              <a:solidFill>
                <a:srgbClr val="FF0000"/>
              </a:solidFill>
            </a:endParaRPr>
          </a:p>
          <a:p>
            <a:r>
              <a:rPr lang="en-US" altLang="zh-CN" sz="3600" b="1" dirty="0">
                <a:solidFill>
                  <a:srgbClr val="FF0000"/>
                </a:solidFill>
              </a:rPr>
              <a:t> involuntary </a:t>
            </a:r>
            <a:r>
              <a:rPr lang="en-US" altLang="zh-CN" sz="3600" b="1" dirty="0">
                <a:solidFill>
                  <a:srgbClr val="FF0000"/>
                </a:solidFill>
                <a:highlight>
                  <a:srgbClr val="FFFF00"/>
                </a:highlight>
              </a:rPr>
              <a:t>isolation</a:t>
            </a:r>
            <a:r>
              <a:rPr lang="zh-CN" altLang="en-US" sz="3600" b="1" dirty="0">
                <a:solidFill>
                  <a:srgbClr val="FF0000"/>
                </a:solidFill>
              </a:rPr>
              <a:t>无意识非自愿的</a:t>
            </a:r>
            <a:r>
              <a:rPr lang="zh-CN" altLang="en-US" sz="3600" b="1" dirty="0">
                <a:solidFill>
                  <a:srgbClr val="FF0000"/>
                </a:solidFill>
                <a:highlight>
                  <a:srgbClr val="FFFF00"/>
                </a:highlight>
              </a:rPr>
              <a:t>隔离</a:t>
            </a:r>
            <a:endParaRPr lang="en-US" altLang="zh-CN" sz="3600" b="1" dirty="0">
              <a:solidFill>
                <a:srgbClr val="FF0000"/>
              </a:solidFill>
              <a:highlight>
                <a:srgbClr val="FFFF00"/>
              </a:highlight>
            </a:endParaRPr>
          </a:p>
          <a:p>
            <a:r>
              <a:rPr lang="en-US" altLang="zh-CN" sz="3600" b="1" dirty="0">
                <a:solidFill>
                  <a:srgbClr val="FF0000"/>
                </a:solidFill>
              </a:rPr>
              <a:t> positive/meaningful </a:t>
            </a:r>
            <a:r>
              <a:rPr lang="en-US" altLang="zh-CN" sz="3600" b="1" dirty="0">
                <a:solidFill>
                  <a:srgbClr val="FF0000"/>
                </a:solidFill>
                <a:highlight>
                  <a:srgbClr val="FFFF00"/>
                </a:highlight>
              </a:rPr>
              <a:t>solitude</a:t>
            </a:r>
            <a:r>
              <a:rPr lang="zh-CN" altLang="en-US" sz="3600" b="1" dirty="0">
                <a:solidFill>
                  <a:srgbClr val="FF0000"/>
                </a:solidFill>
              </a:rPr>
              <a:t>积极的</a:t>
            </a:r>
            <a:r>
              <a:rPr lang="en-US" altLang="zh-CN" sz="3600" b="1" dirty="0">
                <a:solidFill>
                  <a:srgbClr val="FF0000"/>
                </a:solidFill>
              </a:rPr>
              <a:t>/</a:t>
            </a:r>
            <a:r>
              <a:rPr lang="zh-CN" altLang="en-US" sz="3600" b="1" dirty="0">
                <a:solidFill>
                  <a:srgbClr val="FF0000"/>
                </a:solidFill>
              </a:rPr>
              <a:t>有意义的</a:t>
            </a:r>
            <a:r>
              <a:rPr lang="zh-CN" altLang="en-US" sz="3600" b="1" dirty="0">
                <a:solidFill>
                  <a:srgbClr val="FF0000"/>
                </a:solidFill>
                <a:highlight>
                  <a:srgbClr val="FFFF00"/>
                </a:highlight>
              </a:rPr>
              <a:t>孤独</a:t>
            </a:r>
            <a:endParaRPr lang="en-US" altLang="zh-CN" sz="3600" b="1" dirty="0">
              <a:solidFill>
                <a:srgbClr val="FF0000"/>
              </a:solidFill>
              <a:highlight>
                <a:srgbClr val="FFFF00"/>
              </a:highlight>
            </a:endParaRPr>
          </a:p>
          <a:p>
            <a:r>
              <a:rPr lang="en-US" altLang="zh-CN" sz="3600" b="1" dirty="0">
                <a:solidFill>
                  <a:srgbClr val="FF0000"/>
                </a:solidFill>
              </a:rPr>
              <a:t> fail to distinguish…</a:t>
            </a:r>
            <a:r>
              <a:rPr lang="zh-CN" altLang="en-US" sz="3600" b="1" dirty="0">
                <a:solidFill>
                  <a:srgbClr val="FF0000"/>
                </a:solidFill>
              </a:rPr>
              <a:t>未能区分</a:t>
            </a:r>
            <a:r>
              <a:rPr lang="en-US" altLang="zh-CN" sz="3600" b="1" dirty="0">
                <a:solidFill>
                  <a:srgbClr val="FF0000"/>
                </a:solidFill>
              </a:rPr>
              <a:t>…</a:t>
            </a:r>
          </a:p>
          <a:p>
            <a:r>
              <a:rPr lang="en-US" altLang="zh-CN" sz="3000" b="1" dirty="0">
                <a:solidFill>
                  <a:srgbClr val="FF0000"/>
                </a:solidFill>
              </a:rPr>
              <a:t> </a:t>
            </a:r>
            <a:r>
              <a:rPr lang="en-US" altLang="zh-CN" sz="3000" b="1" dirty="0"/>
              <a:t>restorative</a:t>
            </a:r>
            <a:r>
              <a:rPr lang="zh-CN" altLang="en-US" sz="3000" b="1" dirty="0"/>
              <a:t>恢复的有助于康复的</a:t>
            </a:r>
            <a:r>
              <a:rPr lang="en-US" altLang="zh-CN" sz="3000" b="1" dirty="0"/>
              <a:t> emotional reset button</a:t>
            </a:r>
            <a:r>
              <a:rPr lang="zh-CN" altLang="en-US" sz="3000" dirty="0"/>
              <a:t>情绪复位按钮</a:t>
            </a:r>
            <a:endParaRPr lang="en-US" altLang="zh-CN" sz="3000" b="1" dirty="0"/>
          </a:p>
          <a:p>
            <a:r>
              <a:rPr lang="en-US" altLang="zh-CN" sz="3600" b="1" dirty="0">
                <a:solidFill>
                  <a:srgbClr val="FF0000"/>
                </a:solidFill>
              </a:rPr>
              <a:t> self-reflection</a:t>
            </a:r>
            <a:r>
              <a:rPr lang="zh-CN" altLang="en-US" sz="3600" b="1" dirty="0">
                <a:solidFill>
                  <a:srgbClr val="FF0000"/>
                </a:solidFill>
              </a:rPr>
              <a:t>反省</a:t>
            </a:r>
            <a:r>
              <a:rPr lang="en-US" altLang="zh-CN" sz="3600" b="1" dirty="0">
                <a:solidFill>
                  <a:srgbClr val="FF0000"/>
                </a:solidFill>
              </a:rPr>
              <a:t> psychological recovery</a:t>
            </a:r>
            <a:r>
              <a:rPr lang="zh-CN" altLang="en-US" sz="3600" b="1" dirty="0">
                <a:solidFill>
                  <a:srgbClr val="FF0000"/>
                </a:solidFill>
              </a:rPr>
              <a:t>心理调整</a:t>
            </a:r>
            <a:endParaRPr lang="en-US" altLang="zh-CN" sz="3600" b="1" dirty="0">
              <a:solidFill>
                <a:srgbClr val="FF0000"/>
              </a:solidFill>
            </a:endParaRPr>
          </a:p>
          <a:p>
            <a:r>
              <a:rPr lang="en-US" altLang="zh-CN" sz="3600" b="1" dirty="0">
                <a:solidFill>
                  <a:srgbClr val="FF0000"/>
                </a:solidFill>
              </a:rPr>
              <a:t> replace A with B</a:t>
            </a:r>
            <a:r>
              <a:rPr lang="zh-CN" altLang="en-US" sz="3600" b="1" dirty="0">
                <a:solidFill>
                  <a:srgbClr val="FF0000"/>
                </a:solidFill>
              </a:rPr>
              <a:t>用</a:t>
            </a:r>
            <a:r>
              <a:rPr lang="en-US" altLang="zh-CN" sz="3600" b="1" dirty="0">
                <a:solidFill>
                  <a:srgbClr val="FF0000"/>
                </a:solidFill>
              </a:rPr>
              <a:t>B</a:t>
            </a:r>
            <a:r>
              <a:rPr lang="zh-CN" altLang="en-US" sz="3600" b="1" dirty="0">
                <a:solidFill>
                  <a:srgbClr val="FF0000"/>
                </a:solidFill>
              </a:rPr>
              <a:t>替换</a:t>
            </a:r>
            <a:r>
              <a:rPr lang="en-US" altLang="zh-CN" sz="3600" b="1" dirty="0">
                <a:solidFill>
                  <a:srgbClr val="FF0000"/>
                </a:solidFill>
              </a:rPr>
              <a:t>A    virtual interaction</a:t>
            </a:r>
            <a:r>
              <a:rPr lang="zh-CN" altLang="en-US" sz="3600" b="1" dirty="0">
                <a:solidFill>
                  <a:srgbClr val="FF0000"/>
                </a:solidFill>
              </a:rPr>
              <a:t>虚拟互动</a:t>
            </a:r>
            <a:endParaRPr lang="en-US" altLang="zh-CN" sz="3600" b="1" dirty="0">
              <a:solidFill>
                <a:srgbClr val="FF0000"/>
              </a:solidFill>
            </a:endParaRPr>
          </a:p>
          <a:p>
            <a:r>
              <a:rPr lang="en-US" altLang="zh-CN" sz="3600" b="1" dirty="0">
                <a:solidFill>
                  <a:srgbClr val="FF0000"/>
                </a:solidFill>
              </a:rPr>
              <a:t> </a:t>
            </a:r>
            <a:r>
              <a:rPr lang="en-US" altLang="zh-CN" sz="3600" b="1" dirty="0"/>
              <a:t>thoughtful reframing</a:t>
            </a:r>
            <a:r>
              <a:rPr lang="zh-CN" altLang="en-US" b="1" dirty="0"/>
              <a:t>深思熟虑的重构</a:t>
            </a:r>
            <a:r>
              <a:rPr lang="en-US" altLang="zh-CN" b="1" dirty="0"/>
              <a:t> </a:t>
            </a:r>
            <a:r>
              <a:rPr lang="en-US" altLang="zh-CN" sz="3600" b="1" dirty="0">
                <a:solidFill>
                  <a:srgbClr val="FF0000"/>
                </a:solidFill>
              </a:rPr>
              <a:t>profound</a:t>
            </a:r>
            <a:r>
              <a:rPr lang="zh-CN" altLang="en-US" sz="3600" b="1" dirty="0">
                <a:solidFill>
                  <a:srgbClr val="FF0000"/>
                </a:solidFill>
              </a:rPr>
              <a:t>深刻的</a:t>
            </a:r>
            <a:r>
              <a:rPr lang="en-US" altLang="zh-CN" sz="3600" b="1" dirty="0">
                <a:solidFill>
                  <a:srgbClr val="FF0000"/>
                </a:solidFill>
              </a:rPr>
              <a:t> </a:t>
            </a:r>
          </a:p>
          <a:p>
            <a:r>
              <a:rPr lang="en-US" altLang="zh-CN" sz="3600" b="1" dirty="0">
                <a:solidFill>
                  <a:srgbClr val="FF0000"/>
                </a:solidFill>
              </a:rPr>
              <a:t> coexist with</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共存</a:t>
            </a:r>
            <a:r>
              <a:rPr lang="en-US" altLang="zh-CN" sz="3600" b="1" dirty="0">
                <a:solidFill>
                  <a:srgbClr val="FF0000"/>
                </a:solidFill>
              </a:rPr>
              <a:t>    social withdrawal</a:t>
            </a:r>
            <a:r>
              <a:rPr lang="zh-CN" altLang="en-US" sz="3600" b="1" dirty="0">
                <a:solidFill>
                  <a:srgbClr val="FF0000"/>
                </a:solidFill>
              </a:rPr>
              <a:t>社会退缩</a:t>
            </a:r>
            <a:r>
              <a:rPr lang="en-US" altLang="zh-CN" sz="3600" b="1" dirty="0">
                <a:solidFill>
                  <a:srgbClr val="FF0000"/>
                </a:solidFill>
              </a:rPr>
              <a:t>  </a:t>
            </a:r>
          </a:p>
          <a:p>
            <a:r>
              <a:rPr lang="en-US" altLang="zh-CN" sz="3600" b="1" dirty="0">
                <a:solidFill>
                  <a:srgbClr val="FF0000"/>
                </a:solidFill>
              </a:rPr>
              <a:t> withdraw</a:t>
            </a:r>
            <a:r>
              <a:rPr lang="zh-CN" altLang="en-US" sz="3600" b="1" dirty="0">
                <a:solidFill>
                  <a:srgbClr val="FF0000"/>
                </a:solidFill>
              </a:rPr>
              <a:t>退出</a:t>
            </a:r>
            <a:r>
              <a:rPr lang="en-US" altLang="zh-CN" sz="3600" b="1" dirty="0">
                <a:solidFill>
                  <a:srgbClr val="FF0000"/>
                </a:solidFill>
              </a:rPr>
              <a:t>;</a:t>
            </a:r>
            <a:r>
              <a:rPr lang="zh-CN" altLang="en-US" sz="3600" b="1" dirty="0">
                <a:solidFill>
                  <a:srgbClr val="FF0000"/>
                </a:solidFill>
              </a:rPr>
              <a:t>撤离</a:t>
            </a:r>
            <a:r>
              <a:rPr lang="en-US" altLang="zh-CN" sz="3600" b="1" dirty="0">
                <a:solidFill>
                  <a:srgbClr val="FF0000"/>
                </a:solidFill>
              </a:rPr>
              <a:t>(withdrew, withdrawn) </a:t>
            </a:r>
          </a:p>
          <a:p>
            <a:r>
              <a:rPr lang="en-US" altLang="zh-CN" sz="3600" b="1" dirty="0">
                <a:solidFill>
                  <a:srgbClr val="FF0000"/>
                </a:solidFill>
              </a:rPr>
              <a:t> authentic self</a:t>
            </a:r>
            <a:r>
              <a:rPr lang="zh-CN" altLang="en-US" b="1" dirty="0">
                <a:solidFill>
                  <a:srgbClr val="FF0000"/>
                </a:solidFill>
              </a:rPr>
              <a:t>真实的自我</a:t>
            </a:r>
            <a:endParaRPr lang="zh-CN" altLang="en-US" sz="3600" b="1"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a:bodyPr>
          <a:lstStyle/>
          <a:p>
            <a:r>
              <a:rPr lang="en-US" altLang="zh-CN" sz="3600" b="1" dirty="0"/>
              <a:t> </a:t>
            </a:r>
            <a:r>
              <a:rPr lang="zh-CN" altLang="en-US" sz="3600" b="1" dirty="0"/>
              <a:t>山东卷 </a:t>
            </a:r>
            <a:r>
              <a:rPr lang="en-US" altLang="zh-CN" sz="3600" b="1" dirty="0">
                <a:solidFill>
                  <a:srgbClr val="FF0000"/>
                </a:solidFill>
              </a:rPr>
              <a:t>productivity</a:t>
            </a:r>
            <a:r>
              <a:rPr lang="zh-CN" altLang="en-US" sz="3600" b="1" dirty="0">
                <a:solidFill>
                  <a:srgbClr val="FF0000"/>
                </a:solidFill>
              </a:rPr>
              <a:t>生产力 </a:t>
            </a:r>
            <a:r>
              <a:rPr lang="en-US" altLang="zh-CN" sz="3600" b="1" dirty="0">
                <a:solidFill>
                  <a:srgbClr val="FF0000"/>
                </a:solidFill>
              </a:rPr>
              <a:t>feel upset with</a:t>
            </a:r>
            <a:r>
              <a:rPr lang="zh-CN" altLang="en-US" sz="3600" b="1" dirty="0">
                <a:solidFill>
                  <a:srgbClr val="FF0000"/>
                </a:solidFill>
              </a:rPr>
              <a:t>感到不安</a:t>
            </a:r>
            <a:endParaRPr lang="en-US" altLang="zh-CN" sz="3600" b="1" dirty="0">
              <a:solidFill>
                <a:srgbClr val="FF0000"/>
              </a:solidFill>
            </a:endParaRPr>
          </a:p>
          <a:p>
            <a:r>
              <a:rPr lang="en-US" altLang="zh-CN" sz="3600" b="1" dirty="0">
                <a:solidFill>
                  <a:srgbClr val="FF0000"/>
                </a:solidFill>
              </a:rPr>
              <a:t> overflowing</a:t>
            </a:r>
            <a:r>
              <a:rPr lang="zh-CN" altLang="en-US" sz="3600" b="1" dirty="0">
                <a:solidFill>
                  <a:srgbClr val="FF0000"/>
                </a:solidFill>
              </a:rPr>
              <a:t>溢出的</a:t>
            </a:r>
            <a:r>
              <a:rPr lang="en-US" altLang="zh-CN" sz="3600" b="1" dirty="0">
                <a:solidFill>
                  <a:srgbClr val="FF0000"/>
                </a:solidFill>
              </a:rPr>
              <a:t>;</a:t>
            </a:r>
            <a:r>
              <a:rPr lang="zh-CN" altLang="en-US" sz="3600" b="1" dirty="0">
                <a:solidFill>
                  <a:srgbClr val="FF0000"/>
                </a:solidFill>
              </a:rPr>
              <a:t>充满的</a:t>
            </a:r>
            <a:r>
              <a:rPr lang="en-US" altLang="zh-CN" sz="3600" b="1" dirty="0">
                <a:solidFill>
                  <a:srgbClr val="FF0000"/>
                </a:solidFill>
              </a:rPr>
              <a:t> </a:t>
            </a:r>
            <a:r>
              <a:rPr lang="en-US" altLang="zh-CN" sz="3600" b="1" dirty="0">
                <a:solidFill>
                  <a:srgbClr val="FF0000"/>
                </a:solidFill>
                <a:highlight>
                  <a:srgbClr val="FFFF00"/>
                </a:highlight>
              </a:rPr>
              <a:t>the to-do list</a:t>
            </a:r>
            <a:r>
              <a:rPr lang="zh-CN" altLang="en-US" sz="3600" b="1" dirty="0">
                <a:solidFill>
                  <a:srgbClr val="FF0000"/>
                </a:solidFill>
              </a:rPr>
              <a:t>待办事项清单</a:t>
            </a:r>
            <a:endParaRPr lang="en-US" altLang="zh-CN" sz="3600" b="1" dirty="0">
              <a:solidFill>
                <a:srgbClr val="FF0000"/>
              </a:solidFill>
            </a:endParaRPr>
          </a:p>
          <a:p>
            <a:r>
              <a:rPr lang="en-US" altLang="zh-CN" sz="3600" b="1" dirty="0">
                <a:solidFill>
                  <a:srgbClr val="FF0000"/>
                </a:solidFill>
              </a:rPr>
              <a:t> cross </a:t>
            </a:r>
            <a:r>
              <a:rPr lang="en-US" altLang="zh-CN" sz="3600" b="1" dirty="0" err="1">
                <a:solidFill>
                  <a:srgbClr val="FF0000"/>
                </a:solidFill>
              </a:rPr>
              <a:t>sth</a:t>
            </a:r>
            <a:r>
              <a:rPr lang="en-US" altLang="zh-CN" sz="3600" b="1" dirty="0">
                <a:solidFill>
                  <a:srgbClr val="FF0000"/>
                </a:solidFill>
              </a:rPr>
              <a:t>. off</a:t>
            </a:r>
            <a:r>
              <a:rPr lang="zh-CN" altLang="en-US" sz="3600" b="1" dirty="0">
                <a:solidFill>
                  <a:srgbClr val="FF0000"/>
                </a:solidFill>
              </a:rPr>
              <a:t>把</a:t>
            </a:r>
            <a:r>
              <a:rPr lang="en-US" altLang="zh-CN" sz="3600" b="1" dirty="0">
                <a:solidFill>
                  <a:srgbClr val="FF0000"/>
                </a:solidFill>
              </a:rPr>
              <a:t>…</a:t>
            </a:r>
            <a:r>
              <a:rPr lang="zh-CN" altLang="en-US" sz="3600" b="1" dirty="0">
                <a:solidFill>
                  <a:srgbClr val="FF0000"/>
                </a:solidFill>
              </a:rPr>
              <a:t>从名单上划掉</a:t>
            </a:r>
            <a:endParaRPr lang="en-US" altLang="zh-CN" sz="3600" b="1" dirty="0">
              <a:solidFill>
                <a:srgbClr val="FF0000"/>
              </a:solidFill>
            </a:endParaRPr>
          </a:p>
          <a:p>
            <a:r>
              <a:rPr lang="en-US" altLang="zh-CN" sz="3600" b="1" dirty="0">
                <a:solidFill>
                  <a:srgbClr val="7030A0"/>
                </a:solidFill>
              </a:rPr>
              <a:t> </a:t>
            </a:r>
            <a:r>
              <a:rPr lang="en-US" altLang="zh-CN" sz="3600" b="1" dirty="0"/>
              <a:t>Firstly,</a:t>
            </a:r>
            <a:r>
              <a:rPr lang="en-US" altLang="zh-CN" sz="3600" b="1" dirty="0">
                <a:solidFill>
                  <a:srgbClr val="7030A0"/>
                </a:solidFill>
              </a:rPr>
              <a:t> disorder and anxiety</a:t>
            </a:r>
            <a:r>
              <a:rPr lang="zh-CN" altLang="en-US" sz="3600" b="1" dirty="0">
                <a:solidFill>
                  <a:srgbClr val="7030A0"/>
                </a:solidFill>
              </a:rPr>
              <a:t>混乱和紧张</a:t>
            </a:r>
            <a:r>
              <a:rPr lang="en-US" altLang="zh-CN" sz="3600" b="1" dirty="0"/>
              <a:t>37.</a:t>
            </a:r>
            <a:r>
              <a:rPr lang="en-US" altLang="zh-CN" sz="3600" b="1" dirty="0">
                <a:solidFill>
                  <a:srgbClr val="7030A0"/>
                </a:solidFill>
              </a:rPr>
              <a:t>stay organized</a:t>
            </a:r>
            <a:r>
              <a:rPr lang="zh-CN" altLang="en-US" sz="3600" b="1" dirty="0">
                <a:solidFill>
                  <a:srgbClr val="7030A0"/>
                </a:solidFill>
              </a:rPr>
              <a:t>有条理的</a:t>
            </a:r>
            <a:r>
              <a:rPr lang="en-US" altLang="zh-CN" sz="3600" b="1" dirty="0">
                <a:solidFill>
                  <a:srgbClr val="7030A0"/>
                </a:solidFill>
              </a:rPr>
              <a:t> reduce mental stress</a:t>
            </a:r>
            <a:r>
              <a:rPr lang="zh-CN" altLang="en-US" sz="3600" b="1" dirty="0">
                <a:solidFill>
                  <a:srgbClr val="7030A0"/>
                </a:solidFill>
              </a:rPr>
              <a:t>减轻心理压力</a:t>
            </a:r>
            <a:endParaRPr lang="en-US" altLang="zh-CN" sz="3600" b="1" dirty="0">
              <a:solidFill>
                <a:srgbClr val="7030A0"/>
              </a:solidFill>
            </a:endParaRPr>
          </a:p>
          <a:p>
            <a:r>
              <a:rPr lang="en-US" altLang="zh-CN" sz="3600" b="1" dirty="0"/>
              <a:t>Secondly,</a:t>
            </a:r>
            <a:r>
              <a:rPr lang="en-US" altLang="zh-CN" sz="3600" b="1" dirty="0">
                <a:solidFill>
                  <a:srgbClr val="FF0000"/>
                </a:solidFill>
              </a:rPr>
              <a:t> 38.Finally, psychological boost</a:t>
            </a:r>
            <a:r>
              <a:rPr lang="zh-CN" altLang="en-US" sz="3600" b="1" dirty="0">
                <a:solidFill>
                  <a:srgbClr val="FF0000"/>
                </a:solidFill>
              </a:rPr>
              <a:t>心理激励</a:t>
            </a:r>
            <a:endParaRPr lang="en-US" altLang="zh-CN" sz="3600" b="1" dirty="0">
              <a:solidFill>
                <a:srgbClr val="FF0000"/>
              </a:solidFill>
            </a:endParaRPr>
          </a:p>
          <a:p>
            <a:r>
              <a:rPr lang="en-US" altLang="zh-CN" sz="3600" b="1" dirty="0">
                <a:solidFill>
                  <a:srgbClr val="FF0000"/>
                </a:solidFill>
              </a:rPr>
              <a:t> boost our sense of accomplishment</a:t>
            </a:r>
            <a:r>
              <a:rPr lang="zh-CN" altLang="en-US" sz="3600" b="1" dirty="0">
                <a:solidFill>
                  <a:srgbClr val="FF0000"/>
                </a:solidFill>
              </a:rPr>
              <a:t>提高成就感</a:t>
            </a:r>
            <a:endParaRPr lang="en-US" altLang="zh-CN" sz="3600" b="1" dirty="0">
              <a:solidFill>
                <a:srgbClr val="FF0000"/>
              </a:solidFill>
            </a:endParaRPr>
          </a:p>
          <a:p>
            <a:r>
              <a:rPr lang="zh-CN" altLang="en-US" dirty="0"/>
              <a:t>蔡格尼克效应（</a:t>
            </a:r>
            <a:r>
              <a:rPr lang="en-US" altLang="zh-CN" dirty="0"/>
              <a:t>Zeigarnik effect</a:t>
            </a:r>
            <a:r>
              <a:rPr lang="zh-CN" altLang="en-US" dirty="0"/>
              <a:t>）苏联心理学家布卢玛</a:t>
            </a:r>
            <a:r>
              <a:rPr lang="en-US" altLang="zh-CN" dirty="0"/>
              <a:t>·</a:t>
            </a:r>
            <a:r>
              <a:rPr lang="zh-CN" altLang="en-US" dirty="0"/>
              <a:t>蔡格尼克通过实验发现，服务员在完成顾客的订单后，往往会忘记这些订单，但在订单进行中时却能清晰地记住。</a:t>
            </a:r>
            <a:r>
              <a:rPr lang="en-US" altLang="zh-CN" sz="3600" b="1" dirty="0">
                <a:solidFill>
                  <a:srgbClr val="7030A0"/>
                </a:solidFill>
              </a:rPr>
              <a:t>39.This finding highlights the importance of…</a:t>
            </a:r>
            <a:r>
              <a:rPr lang="zh-CN" altLang="en-US" sz="3600" b="1" dirty="0">
                <a:solidFill>
                  <a:srgbClr val="7030A0"/>
                </a:solidFill>
              </a:rPr>
              <a:t>这一发现突出了</a:t>
            </a:r>
            <a:r>
              <a:rPr lang="en-US" altLang="zh-CN" sz="3600" b="1" dirty="0">
                <a:solidFill>
                  <a:srgbClr val="7030A0"/>
                </a:solidFill>
              </a:rPr>
              <a:t>…</a:t>
            </a:r>
            <a:r>
              <a:rPr lang="zh-CN" altLang="en-US" sz="3600" b="1" dirty="0">
                <a:solidFill>
                  <a:srgbClr val="7030A0"/>
                </a:solidFill>
              </a:rPr>
              <a:t>的重要性</a:t>
            </a:r>
            <a:endParaRPr lang="en-US" altLang="zh-CN" sz="3600" b="1" dirty="0">
              <a:solidFill>
                <a:srgbClr val="7030A0"/>
              </a:solidFill>
            </a:endParaRPr>
          </a:p>
          <a:p>
            <a:r>
              <a:rPr lang="en-US" altLang="zh-CN" sz="3600" b="1" dirty="0">
                <a:solidFill>
                  <a:srgbClr val="FF0000"/>
                </a:solidFill>
              </a:rPr>
              <a:t>invaluable</a:t>
            </a:r>
            <a:r>
              <a:rPr lang="zh-CN" altLang="en-US" sz="3600" b="1" dirty="0">
                <a:solidFill>
                  <a:srgbClr val="FF0000"/>
                </a:solidFill>
              </a:rPr>
              <a:t>极宝贵的</a:t>
            </a:r>
            <a:r>
              <a:rPr lang="en-US" altLang="zh-CN" dirty="0"/>
              <a:t>40.</a:t>
            </a:r>
            <a:r>
              <a:rPr lang="zh-CN" altLang="en-US" b="1" dirty="0">
                <a:solidFill>
                  <a:srgbClr val="7030A0"/>
                </a:solidFill>
              </a:rPr>
              <a:t>建议呼吁</a:t>
            </a:r>
            <a:r>
              <a:rPr lang="en-US" altLang="zh-CN" sz="3600" b="1" dirty="0">
                <a:solidFill>
                  <a:srgbClr val="FF0000"/>
                </a:solidFill>
              </a:rPr>
              <a:t>feel overwhelmed</a:t>
            </a:r>
            <a:r>
              <a:rPr lang="zh-CN" altLang="en-US" sz="3600" b="1" dirty="0">
                <a:solidFill>
                  <a:srgbClr val="FF0000"/>
                </a:solidFill>
              </a:rPr>
              <a:t>感到不知所措</a:t>
            </a:r>
            <a:r>
              <a:rPr lang="en-US" altLang="zh-CN" sz="3600" b="1" dirty="0">
                <a:solidFill>
                  <a:srgbClr val="FF0000"/>
                </a:solidFill>
              </a:rPr>
              <a:t>the key to unlocking your full potential</a:t>
            </a:r>
            <a:r>
              <a:rPr lang="zh-CN" altLang="en-US" sz="3600" b="1" dirty="0">
                <a:solidFill>
                  <a:srgbClr val="FF0000"/>
                </a:solidFill>
              </a:rPr>
              <a:t>开启你全部潜能的关键</a:t>
            </a:r>
            <a:endParaRPr lang="en-US" altLang="zh-CN" sz="3600" b="1"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20000"/>
          </a:bodyPr>
          <a:lstStyle/>
          <a:p>
            <a:r>
              <a:rPr lang="en-US" altLang="zh-CN" sz="3600" b="1" dirty="0">
                <a:solidFill>
                  <a:srgbClr val="FF0000"/>
                </a:solidFill>
              </a:rPr>
              <a:t> the basic facilities</a:t>
            </a:r>
            <a:r>
              <a:rPr lang="en-US" altLang="zh-CN" sz="3600" b="1" dirty="0"/>
              <a:t>(people always needed)</a:t>
            </a:r>
            <a:r>
              <a:rPr lang="zh-CN" altLang="en-US" sz="3600" b="1" dirty="0">
                <a:solidFill>
                  <a:srgbClr val="FF0000"/>
                </a:solidFill>
              </a:rPr>
              <a:t>基本设施</a:t>
            </a:r>
            <a:endParaRPr lang="en-US" altLang="zh-CN" sz="3600" b="1" dirty="0">
              <a:solidFill>
                <a:srgbClr val="FF0000"/>
              </a:solidFill>
            </a:endParaRPr>
          </a:p>
          <a:p>
            <a:r>
              <a:rPr lang="en-US" altLang="zh-CN" sz="3600" b="1" dirty="0">
                <a:solidFill>
                  <a:srgbClr val="FF0000"/>
                </a:solidFill>
              </a:rPr>
              <a:t> fall down</a:t>
            </a:r>
            <a:r>
              <a:rPr lang="zh-CN" altLang="en-US" sz="3600" b="1" dirty="0">
                <a:solidFill>
                  <a:srgbClr val="FF0000"/>
                </a:solidFill>
              </a:rPr>
              <a:t>摔倒</a:t>
            </a:r>
            <a:r>
              <a:rPr lang="en-US" altLang="zh-CN" sz="3600" b="1" dirty="0">
                <a:solidFill>
                  <a:srgbClr val="FF0000"/>
                </a:solidFill>
              </a:rPr>
              <a:t>(fell, fallen)          fly(flew, flown) </a:t>
            </a:r>
          </a:p>
          <a:p>
            <a:r>
              <a:rPr lang="en-US" altLang="zh-CN" sz="3600" b="1" dirty="0">
                <a:solidFill>
                  <a:srgbClr val="FF0000"/>
                </a:solidFill>
              </a:rPr>
              <a:t> slide down</a:t>
            </a:r>
            <a:r>
              <a:rPr lang="zh-CN" altLang="en-US" sz="3600" b="1" dirty="0">
                <a:solidFill>
                  <a:srgbClr val="FF0000"/>
                </a:solidFill>
              </a:rPr>
              <a:t>滑下</a:t>
            </a:r>
            <a:r>
              <a:rPr lang="en-US" altLang="zh-CN" sz="3600" b="1" dirty="0">
                <a:solidFill>
                  <a:srgbClr val="FF0000"/>
                </a:solidFill>
              </a:rPr>
              <a:t>(slid*2) </a:t>
            </a:r>
            <a:r>
              <a:rPr lang="en-US" altLang="zh-CN" sz="3600" b="1" dirty="0"/>
              <a:t>several feet</a:t>
            </a:r>
            <a:r>
              <a:rPr lang="zh-CN" altLang="en-US" sz="3600" b="1" dirty="0"/>
              <a:t>几英尺</a:t>
            </a:r>
            <a:r>
              <a:rPr lang="en-US" altLang="zh-CN" sz="3600" b="1" dirty="0"/>
              <a:t> 1foot=30.48cm</a:t>
            </a:r>
          </a:p>
          <a:p>
            <a:r>
              <a:rPr lang="en-US" altLang="zh-CN" sz="3600" b="1" dirty="0">
                <a:solidFill>
                  <a:srgbClr val="FF0000"/>
                </a:solidFill>
              </a:rPr>
              <a:t> </a:t>
            </a:r>
            <a:r>
              <a:rPr lang="en-US" altLang="zh-CN" sz="3600" b="1" dirty="0">
                <a:solidFill>
                  <a:srgbClr val="7030A0"/>
                </a:solidFill>
              </a:rPr>
              <a:t>make a decision</a:t>
            </a:r>
            <a:r>
              <a:rPr lang="zh-CN" altLang="en-US" sz="3600" b="1" dirty="0">
                <a:solidFill>
                  <a:srgbClr val="7030A0"/>
                </a:solidFill>
              </a:rPr>
              <a:t>做决定 </a:t>
            </a:r>
            <a:r>
              <a:rPr lang="en-US" altLang="zh-CN" sz="3600" b="1" dirty="0">
                <a:solidFill>
                  <a:srgbClr val="7030A0"/>
                </a:solidFill>
              </a:rPr>
              <a:t>move the barrier</a:t>
            </a:r>
            <a:r>
              <a:rPr lang="zh-CN" altLang="en-US" sz="3600" b="1" dirty="0">
                <a:solidFill>
                  <a:srgbClr val="7030A0"/>
                </a:solidFill>
              </a:rPr>
              <a:t>移动障碍物</a:t>
            </a:r>
            <a:endParaRPr lang="en-US" altLang="zh-CN" sz="3600" b="1" dirty="0">
              <a:solidFill>
                <a:srgbClr val="7030A0"/>
              </a:solidFill>
            </a:endParaRPr>
          </a:p>
          <a:p>
            <a:r>
              <a:rPr lang="en-US" altLang="zh-CN" sz="3600" b="1" dirty="0">
                <a:solidFill>
                  <a:srgbClr val="FF0000"/>
                </a:solidFill>
              </a:rPr>
              <a:t> </a:t>
            </a:r>
            <a:r>
              <a:rPr lang="en-US" altLang="zh-CN" sz="3600" b="1" dirty="0">
                <a:solidFill>
                  <a:srgbClr val="7030A0"/>
                </a:solidFill>
              </a:rPr>
              <a:t>return to work</a:t>
            </a:r>
            <a:r>
              <a:rPr lang="zh-CN" altLang="en-US" sz="3600" b="1" dirty="0">
                <a:solidFill>
                  <a:srgbClr val="7030A0"/>
                </a:solidFill>
              </a:rPr>
              <a:t>返回工作 </a:t>
            </a:r>
            <a:endParaRPr lang="en-US" altLang="zh-CN" sz="3600" b="1" dirty="0">
              <a:solidFill>
                <a:srgbClr val="7030A0"/>
              </a:solidFill>
            </a:endParaRPr>
          </a:p>
          <a:p>
            <a:r>
              <a:rPr lang="en-US" altLang="zh-CN" sz="3600" b="1" dirty="0">
                <a:solidFill>
                  <a:srgbClr val="7030A0"/>
                </a:solidFill>
              </a:rPr>
              <a:t> intend/attempt to do</a:t>
            </a:r>
            <a:r>
              <a:rPr lang="zh-CN" altLang="en-US" sz="3600" b="1" dirty="0">
                <a:solidFill>
                  <a:srgbClr val="7030A0"/>
                </a:solidFill>
              </a:rPr>
              <a:t>打算</a:t>
            </a:r>
            <a:r>
              <a:rPr lang="en-US" altLang="zh-CN" sz="3600" b="1" dirty="0">
                <a:solidFill>
                  <a:srgbClr val="7030A0"/>
                </a:solidFill>
              </a:rPr>
              <a:t>/</a:t>
            </a:r>
            <a:r>
              <a:rPr lang="zh-CN" altLang="en-US" sz="3600" b="1" dirty="0">
                <a:solidFill>
                  <a:srgbClr val="7030A0"/>
                </a:solidFill>
              </a:rPr>
              <a:t>尝试做某事</a:t>
            </a:r>
            <a:endParaRPr lang="en-US" altLang="zh-CN" sz="3600" b="1" dirty="0">
              <a:solidFill>
                <a:srgbClr val="7030A0"/>
              </a:solidFill>
            </a:endParaRPr>
          </a:p>
          <a:p>
            <a:r>
              <a:rPr lang="en-US" altLang="zh-CN" sz="3600" b="1" dirty="0">
                <a:solidFill>
                  <a:srgbClr val="FF0000"/>
                </a:solidFill>
              </a:rPr>
              <a:t> </a:t>
            </a:r>
            <a:r>
              <a:rPr lang="en-US" altLang="zh-CN" sz="3600" b="1" dirty="0"/>
              <a:t>the road </a:t>
            </a:r>
            <a:r>
              <a:rPr lang="en-US" altLang="zh-CN" sz="3600" b="1" dirty="0">
                <a:solidFill>
                  <a:srgbClr val="FF0000"/>
                </a:solidFill>
              </a:rPr>
              <a:t>(</a:t>
            </a:r>
            <a:r>
              <a:rPr lang="en-US" altLang="zh-CN" sz="3600" b="1" u="sng" dirty="0">
                <a:solidFill>
                  <a:srgbClr val="FF0000"/>
                </a:solidFill>
              </a:rPr>
              <a:t>leading to it</a:t>
            </a:r>
            <a:r>
              <a:rPr lang="en-US" altLang="zh-CN" sz="3600" b="1" dirty="0">
                <a:solidFill>
                  <a:srgbClr val="FF0000"/>
                </a:solidFill>
              </a:rPr>
              <a:t>)</a:t>
            </a:r>
            <a:r>
              <a:rPr lang="zh-CN" altLang="en-US" sz="3600" b="1" u="sng" dirty="0">
                <a:solidFill>
                  <a:srgbClr val="FF0000"/>
                </a:solidFill>
              </a:rPr>
              <a:t>通向它的路</a:t>
            </a:r>
            <a:r>
              <a:rPr lang="en-US" altLang="zh-CN" sz="3600" b="1" dirty="0"/>
              <a:t>is 75km</a:t>
            </a:r>
          </a:p>
          <a:p>
            <a:r>
              <a:rPr lang="en-US" altLang="zh-CN" sz="3600" b="1" dirty="0">
                <a:solidFill>
                  <a:srgbClr val="FF0000"/>
                </a:solidFill>
              </a:rPr>
              <a:t> </a:t>
            </a:r>
            <a:r>
              <a:rPr lang="en-US" altLang="zh-CN" sz="3600" b="1" dirty="0">
                <a:solidFill>
                  <a:srgbClr val="7030A0"/>
                </a:solidFill>
              </a:rPr>
              <a:t>point to</a:t>
            </a:r>
            <a:r>
              <a:rPr lang="zh-CN" altLang="en-US" sz="3600" b="1" dirty="0">
                <a:solidFill>
                  <a:srgbClr val="7030A0"/>
                </a:solidFill>
              </a:rPr>
              <a:t>指向 </a:t>
            </a:r>
            <a:r>
              <a:rPr lang="en-US" altLang="zh-CN" sz="3600" b="1" dirty="0">
                <a:solidFill>
                  <a:srgbClr val="7030A0"/>
                </a:solidFill>
              </a:rPr>
              <a:t>relate to</a:t>
            </a:r>
            <a:r>
              <a:rPr lang="zh-CN" altLang="en-US" sz="3600" b="1" dirty="0">
                <a:solidFill>
                  <a:srgbClr val="7030A0"/>
                </a:solidFill>
              </a:rPr>
              <a:t>与</a:t>
            </a:r>
            <a:r>
              <a:rPr lang="en-US" altLang="zh-CN" sz="3600" b="1" dirty="0">
                <a:solidFill>
                  <a:srgbClr val="7030A0"/>
                </a:solidFill>
              </a:rPr>
              <a:t>…</a:t>
            </a:r>
            <a:r>
              <a:rPr lang="zh-CN" altLang="en-US" sz="3600" b="1" dirty="0">
                <a:solidFill>
                  <a:srgbClr val="7030A0"/>
                </a:solidFill>
              </a:rPr>
              <a:t>有关 </a:t>
            </a:r>
            <a:r>
              <a:rPr lang="en-US" altLang="zh-CN" sz="3600" b="1" dirty="0">
                <a:solidFill>
                  <a:srgbClr val="7030A0"/>
                </a:solidFill>
              </a:rPr>
              <a:t>add to</a:t>
            </a:r>
            <a:r>
              <a:rPr lang="zh-CN" altLang="en-US" sz="3600" b="1" dirty="0">
                <a:solidFill>
                  <a:srgbClr val="7030A0"/>
                </a:solidFill>
              </a:rPr>
              <a:t>增添</a:t>
            </a:r>
            <a:r>
              <a:rPr lang="en-US" altLang="zh-CN" sz="3600" b="1" dirty="0">
                <a:solidFill>
                  <a:srgbClr val="7030A0"/>
                </a:solidFill>
              </a:rPr>
              <a:t>;</a:t>
            </a:r>
            <a:r>
              <a:rPr lang="zh-CN" altLang="en-US" sz="3600" b="1" dirty="0">
                <a:solidFill>
                  <a:srgbClr val="7030A0"/>
                </a:solidFill>
              </a:rPr>
              <a:t>补充说</a:t>
            </a:r>
            <a:endParaRPr lang="en-US" altLang="zh-CN" sz="3600" b="1" dirty="0">
              <a:solidFill>
                <a:srgbClr val="7030A0"/>
              </a:solidFill>
            </a:endParaRPr>
          </a:p>
          <a:p>
            <a:r>
              <a:rPr lang="en-US" altLang="zh-CN" sz="3600" b="1" dirty="0">
                <a:solidFill>
                  <a:srgbClr val="FF0000"/>
                </a:solidFill>
              </a:rPr>
              <a:t> </a:t>
            </a:r>
            <a:r>
              <a:rPr lang="en-US" altLang="zh-CN" sz="3600" b="1" dirty="0"/>
              <a:t>the death </a:t>
            </a:r>
            <a:r>
              <a:rPr lang="en-US" altLang="zh-CN" sz="3600" b="1" dirty="0">
                <a:solidFill>
                  <a:srgbClr val="FF0000"/>
                </a:solidFill>
              </a:rPr>
              <a:t>hit sb.</a:t>
            </a:r>
            <a:r>
              <a:rPr lang="zh-CN" altLang="en-US" sz="3600" b="1" dirty="0">
                <a:solidFill>
                  <a:srgbClr val="FF0000"/>
                </a:solidFill>
              </a:rPr>
              <a:t>打击</a:t>
            </a:r>
            <a:endParaRPr lang="en-US" altLang="zh-CN" sz="3600" b="1" dirty="0">
              <a:solidFill>
                <a:srgbClr val="FF0000"/>
              </a:solidFill>
            </a:endParaRPr>
          </a:p>
          <a:p>
            <a:r>
              <a:rPr lang="en-US" altLang="zh-CN" sz="3600" b="1" dirty="0">
                <a:solidFill>
                  <a:srgbClr val="FF0000"/>
                </a:solidFill>
              </a:rPr>
              <a:t> break through</a:t>
            </a:r>
            <a:r>
              <a:rPr lang="zh-CN" altLang="en-US" sz="3600" b="1" dirty="0">
                <a:solidFill>
                  <a:srgbClr val="FF0000"/>
                </a:solidFill>
              </a:rPr>
              <a:t>突破</a:t>
            </a:r>
            <a:r>
              <a:rPr lang="en-US" altLang="zh-CN" sz="3600" b="1" dirty="0">
                <a:solidFill>
                  <a:srgbClr val="FF0000"/>
                </a:solidFill>
              </a:rPr>
              <a:t>      look through</a:t>
            </a:r>
            <a:r>
              <a:rPr lang="zh-CN" altLang="en-US" sz="3600" b="1" dirty="0">
                <a:solidFill>
                  <a:srgbClr val="FF0000"/>
                </a:solidFill>
              </a:rPr>
              <a:t>浏览</a:t>
            </a:r>
            <a:r>
              <a:rPr lang="en-US" altLang="zh-CN" sz="3600" b="1" dirty="0">
                <a:solidFill>
                  <a:srgbClr val="FF0000"/>
                </a:solidFill>
              </a:rPr>
              <a:t>;</a:t>
            </a:r>
            <a:r>
              <a:rPr lang="zh-CN" altLang="en-US" sz="3600" b="1" dirty="0">
                <a:solidFill>
                  <a:srgbClr val="FF0000"/>
                </a:solidFill>
              </a:rPr>
              <a:t>仔细查看</a:t>
            </a:r>
            <a:endParaRPr lang="en-US" altLang="zh-CN" sz="3600" b="1" dirty="0">
              <a:solidFill>
                <a:srgbClr val="FF0000"/>
              </a:solidFill>
            </a:endParaRPr>
          </a:p>
          <a:p>
            <a:r>
              <a:rPr lang="en-US" altLang="zh-CN" sz="3600" b="1" dirty="0">
                <a:solidFill>
                  <a:srgbClr val="FF0000"/>
                </a:solidFill>
              </a:rPr>
              <a:t> pull through</a:t>
            </a:r>
            <a:r>
              <a:rPr lang="zh-CN" altLang="en-US" sz="3600" b="1" dirty="0">
                <a:solidFill>
                  <a:srgbClr val="FF0000"/>
                </a:solidFill>
              </a:rPr>
              <a:t>渡过难关  </a:t>
            </a:r>
            <a:r>
              <a:rPr lang="en-US" altLang="zh-CN" sz="3600" b="1" dirty="0"/>
              <a:t>check through</a:t>
            </a:r>
            <a:r>
              <a:rPr lang="zh-CN" altLang="en-US" sz="3600" b="1" dirty="0"/>
              <a:t>检查</a:t>
            </a:r>
            <a:endParaRPr lang="en-US" altLang="zh-CN" sz="3600" b="1" dirty="0"/>
          </a:p>
          <a:p>
            <a:r>
              <a:rPr lang="en-US" altLang="zh-CN" sz="3600" b="1" dirty="0">
                <a:solidFill>
                  <a:srgbClr val="FF0000"/>
                </a:solidFill>
              </a:rPr>
              <a:t> eventually</a:t>
            </a:r>
            <a:r>
              <a:rPr lang="zh-CN" altLang="en-US" sz="3600" b="1" dirty="0">
                <a:solidFill>
                  <a:srgbClr val="FF0000"/>
                </a:solidFill>
              </a:rPr>
              <a:t>最终 </a:t>
            </a:r>
            <a:r>
              <a:rPr lang="en-US" altLang="zh-CN" sz="3600" b="1" dirty="0"/>
              <a:t>gradually</a:t>
            </a:r>
            <a:r>
              <a:rPr lang="zh-CN" altLang="en-US" sz="3600" b="1" dirty="0"/>
              <a:t>逐渐</a:t>
            </a:r>
            <a:endParaRPr lang="en-US" altLang="zh-CN" sz="3600" b="1" dirty="0"/>
          </a:p>
          <a:p>
            <a:r>
              <a:rPr lang="en-US" altLang="zh-CN" sz="3600" b="1" dirty="0">
                <a:solidFill>
                  <a:srgbClr val="FF0000"/>
                </a:solidFill>
              </a:rPr>
              <a:t> carve out a road</a:t>
            </a:r>
            <a:r>
              <a:rPr lang="zh-CN" altLang="en-US" sz="3600" b="1" dirty="0">
                <a:solidFill>
                  <a:srgbClr val="FF0000"/>
                </a:solidFill>
              </a:rPr>
              <a:t>开辟一条路</a:t>
            </a:r>
            <a:endParaRPr lang="en-US" altLang="zh-CN" sz="3600" b="1" dirty="0">
              <a:solidFill>
                <a:srgbClr val="FF0000"/>
              </a:solidFill>
            </a:endParaRPr>
          </a:p>
          <a:p>
            <a:r>
              <a:rPr lang="en-US" altLang="zh-CN" sz="3600" b="1" dirty="0">
                <a:solidFill>
                  <a:srgbClr val="FF0000"/>
                </a:solidFill>
              </a:rPr>
              <a:t> </a:t>
            </a:r>
            <a:r>
              <a:rPr lang="en-US" altLang="zh-CN" sz="3600" b="1" dirty="0"/>
              <a:t>grateful a.</a:t>
            </a:r>
            <a:r>
              <a:rPr lang="zh-CN" altLang="en-US" sz="3600" b="1" dirty="0"/>
              <a:t>感激的  </a:t>
            </a:r>
            <a:r>
              <a:rPr lang="en-US" altLang="zh-CN" sz="3600" b="1" dirty="0"/>
              <a:t>gratitude n.</a:t>
            </a:r>
            <a:r>
              <a:rPr lang="zh-CN" altLang="en-US" sz="3600" b="1" dirty="0"/>
              <a:t>感激</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20000"/>
          </a:bodyPr>
          <a:lstStyle/>
          <a:p>
            <a:r>
              <a:rPr lang="en-US" altLang="zh-CN" sz="3600" b="1" dirty="0"/>
              <a:t> 56. Part of the problem </a:t>
            </a:r>
            <a:r>
              <a:rPr lang="en-US" altLang="zh-CN" sz="3600" b="1" dirty="0">
                <a:solidFill>
                  <a:srgbClr val="FF0000"/>
                </a:solidFill>
              </a:rPr>
              <a:t>is caused by…</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引起的</a:t>
            </a:r>
            <a:r>
              <a:rPr lang="en-US" altLang="zh-CN" sz="3600" b="1" dirty="0">
                <a:solidFill>
                  <a:srgbClr val="FF0000"/>
                </a:solidFill>
              </a:rPr>
              <a:t> </a:t>
            </a:r>
          </a:p>
          <a:p>
            <a:r>
              <a:rPr lang="en-US" altLang="zh-CN" sz="3600" b="1" dirty="0">
                <a:solidFill>
                  <a:srgbClr val="FF0000"/>
                </a:solidFill>
              </a:rPr>
              <a:t> </a:t>
            </a:r>
            <a:r>
              <a:rPr lang="en-US" altLang="zh-CN" sz="3600" b="1" dirty="0"/>
              <a:t>57.</a:t>
            </a:r>
            <a:r>
              <a:rPr lang="zh-CN" altLang="en-US" sz="3600" b="1" dirty="0"/>
              <a:t> </a:t>
            </a:r>
            <a:r>
              <a:rPr lang="en-US" altLang="zh-CN" sz="3600" b="1" dirty="0"/>
              <a:t>to</a:t>
            </a:r>
            <a:r>
              <a:rPr lang="zh-CN" altLang="en-US" sz="3600" b="1" dirty="0"/>
              <a:t> </a:t>
            </a:r>
            <a:r>
              <a:rPr lang="en-US" altLang="zh-CN" sz="3600" b="1" dirty="0"/>
              <a:t>guarantee</a:t>
            </a:r>
            <a:r>
              <a:rPr lang="zh-CN" altLang="en-US" sz="3600" b="1" dirty="0"/>
              <a:t> </a:t>
            </a:r>
            <a:r>
              <a:rPr lang="en-US" altLang="zh-CN" sz="3600" b="1" dirty="0">
                <a:solidFill>
                  <a:srgbClr val="FF0000"/>
                </a:solidFill>
              </a:rPr>
              <a:t>58.but</a:t>
            </a:r>
          </a:p>
          <a:p>
            <a:r>
              <a:rPr lang="en-US" altLang="zh-CN" sz="3600" b="1" dirty="0">
                <a:solidFill>
                  <a:srgbClr val="FF0000"/>
                </a:solidFill>
              </a:rPr>
              <a:t> </a:t>
            </a:r>
            <a:r>
              <a:rPr lang="en-US" altLang="zh-CN" sz="3600" b="1" dirty="0"/>
              <a:t>59.</a:t>
            </a:r>
            <a:r>
              <a:rPr lang="en-US" altLang="zh-CN" sz="3600" b="1" u="sng" dirty="0"/>
              <a:t>the same word </a:t>
            </a:r>
            <a:r>
              <a:rPr lang="en-US" altLang="zh-CN" sz="3600" b="1" dirty="0"/>
              <a:t>can be found </a:t>
            </a:r>
            <a:r>
              <a:rPr lang="en-US" altLang="zh-CN" sz="3600" b="1" u="sng" dirty="0">
                <a:solidFill>
                  <a:srgbClr val="FF0000"/>
                </a:solidFill>
              </a:rPr>
              <a:t>spelled/spelt differently</a:t>
            </a:r>
            <a:r>
              <a:rPr lang="en-US" altLang="zh-CN" sz="3600" b="1" dirty="0">
                <a:solidFill>
                  <a:srgbClr val="FF0000"/>
                </a:solidFill>
              </a:rPr>
              <a:t>.</a:t>
            </a:r>
          </a:p>
          <a:p>
            <a:r>
              <a:rPr lang="en-US" altLang="zh-CN" sz="3600" b="1" dirty="0">
                <a:solidFill>
                  <a:srgbClr val="FF0000"/>
                </a:solidFill>
              </a:rPr>
              <a:t>                                                      P.P./adj.</a:t>
            </a:r>
            <a:r>
              <a:rPr lang="zh-CN" altLang="en-US" sz="3600" b="1" dirty="0">
                <a:solidFill>
                  <a:srgbClr val="FF0000"/>
                </a:solidFill>
              </a:rPr>
              <a:t>作主补</a:t>
            </a:r>
            <a:endParaRPr lang="en-US" altLang="zh-CN" sz="3600" b="1" dirty="0">
              <a:solidFill>
                <a:srgbClr val="FF0000"/>
              </a:solidFill>
            </a:endParaRPr>
          </a:p>
          <a:p>
            <a:r>
              <a:rPr lang="en-US" altLang="zh-CN" sz="3600" b="1" dirty="0"/>
              <a:t> 60.simply </a:t>
            </a:r>
            <a:r>
              <a:rPr lang="en-US" altLang="zh-CN" sz="3600" b="1" dirty="0">
                <a:solidFill>
                  <a:srgbClr val="FF0000"/>
                </a:solidFill>
              </a:rPr>
              <a:t>61.did</a:t>
            </a:r>
            <a:r>
              <a:rPr lang="en-US" altLang="zh-CN" sz="3600" b="1" u="sng" dirty="0">
                <a:solidFill>
                  <a:srgbClr val="FF0000"/>
                </a:solidFill>
              </a:rPr>
              <a:t>n’t</a:t>
            </a:r>
            <a:r>
              <a:rPr lang="en-US" altLang="zh-CN" sz="3600" b="1" dirty="0">
                <a:solidFill>
                  <a:srgbClr val="FF0000"/>
                </a:solidFill>
              </a:rPr>
              <a:t> </a:t>
            </a:r>
            <a:r>
              <a:rPr lang="en-US" altLang="zh-CN" sz="3600" b="1" dirty="0"/>
              <a:t>come</a:t>
            </a:r>
            <a:r>
              <a:rPr lang="en-US" altLang="zh-CN" sz="3600" b="1" dirty="0">
                <a:solidFill>
                  <a:srgbClr val="FF0000"/>
                </a:solidFill>
              </a:rPr>
              <a:t> </a:t>
            </a:r>
            <a:r>
              <a:rPr lang="en-US" altLang="zh-CN" sz="3600" b="1" u="sng" dirty="0">
                <a:solidFill>
                  <a:srgbClr val="FF0000"/>
                </a:solidFill>
              </a:rPr>
              <a:t>until</a:t>
            </a:r>
          </a:p>
          <a:p>
            <a:r>
              <a:rPr lang="en-US" altLang="zh-CN" sz="3600" b="1" dirty="0">
                <a:solidFill>
                  <a:srgbClr val="FF0000"/>
                </a:solidFill>
              </a:rPr>
              <a:t> </a:t>
            </a:r>
            <a:r>
              <a:rPr lang="en-US" altLang="zh-CN" sz="3600" b="1" dirty="0"/>
              <a:t>62. English pronunciation went </a:t>
            </a:r>
            <a:r>
              <a:rPr lang="en-US" altLang="zh-CN" sz="3600" b="1" u="sng" dirty="0">
                <a:solidFill>
                  <a:srgbClr val="00B050"/>
                </a:solidFill>
              </a:rPr>
              <a:t>through</a:t>
            </a:r>
            <a:r>
              <a:rPr lang="zh-CN" altLang="en-US" sz="3600" b="1" u="sng" dirty="0">
                <a:solidFill>
                  <a:srgbClr val="00B050"/>
                </a:solidFill>
              </a:rPr>
              <a:t>介</a:t>
            </a:r>
            <a:r>
              <a:rPr lang="en-US" altLang="zh-CN" sz="3600" b="1" u="sng">
                <a:solidFill>
                  <a:srgbClr val="00B050"/>
                </a:solidFill>
              </a:rPr>
              <a:t>+</a:t>
            </a:r>
            <a:r>
              <a:rPr lang="zh-CN" altLang="en-US" sz="3600" b="1" u="sng">
                <a:solidFill>
                  <a:srgbClr val="00B050"/>
                </a:solidFill>
              </a:rPr>
              <a:t>宾</a:t>
            </a:r>
            <a:r>
              <a:rPr lang="en-US" altLang="zh-CN" sz="3600" b="1" dirty="0"/>
              <a:t> </a:t>
            </a:r>
          </a:p>
          <a:p>
            <a:r>
              <a:rPr lang="en-US" altLang="zh-CN" sz="3600" b="1" u="sng" dirty="0">
                <a:solidFill>
                  <a:srgbClr val="FF0000"/>
                </a:solidFill>
              </a:rPr>
              <a:t>[</a:t>
            </a:r>
            <a:r>
              <a:rPr lang="en-US" altLang="zh-CN" sz="3600" b="1" dirty="0"/>
              <a:t>experts </a:t>
            </a:r>
            <a:r>
              <a:rPr lang="en-US" altLang="zh-CN" sz="3600" b="1" dirty="0">
                <a:solidFill>
                  <a:srgbClr val="FF0000"/>
                </a:solidFill>
                <a:highlight>
                  <a:srgbClr val="FFFF00"/>
                </a:highlight>
              </a:rPr>
              <a:t>call+ </a:t>
            </a:r>
            <a:r>
              <a:rPr lang="en-US" altLang="zh-CN" sz="3600" b="1" u="sng" dirty="0">
                <a:solidFill>
                  <a:srgbClr val="FF0000"/>
                </a:solidFill>
                <a:highlight>
                  <a:srgbClr val="FFFF00"/>
                </a:highlight>
              </a:rPr>
              <a:t>what</a:t>
            </a:r>
            <a:r>
              <a:rPr lang="en-US" altLang="zh-CN" sz="3600" b="1" dirty="0">
                <a:solidFill>
                  <a:srgbClr val="FF0000"/>
                </a:solidFill>
                <a:highlight>
                  <a:srgbClr val="FFFF00"/>
                </a:highlight>
              </a:rPr>
              <a:t>  +</a:t>
            </a:r>
            <a:r>
              <a:rPr lang="en-US" altLang="zh-CN" sz="3600" b="1" i="1" dirty="0">
                <a:highlight>
                  <a:srgbClr val="FFFF00"/>
                </a:highlight>
              </a:rPr>
              <a:t>the Great Vowel Shift</a:t>
            </a:r>
            <a:r>
              <a:rPr lang="en-US" altLang="zh-CN" sz="3600" b="1" u="sng" dirty="0">
                <a:solidFill>
                  <a:srgbClr val="FF0000"/>
                </a:solidFill>
              </a:rPr>
              <a:t>]</a:t>
            </a:r>
            <a:r>
              <a:rPr lang="zh-CN" altLang="en-US" sz="3600" b="1" u="sng" dirty="0">
                <a:solidFill>
                  <a:srgbClr val="FF0000"/>
                </a:solidFill>
              </a:rPr>
              <a:t>宾从</a:t>
            </a:r>
            <a:r>
              <a:rPr lang="en-US" altLang="zh-CN" sz="3600" b="1" u="sng" dirty="0">
                <a:solidFill>
                  <a:srgbClr val="FF0000"/>
                </a:solidFill>
              </a:rPr>
              <a:t>        </a:t>
            </a:r>
          </a:p>
          <a:p>
            <a:r>
              <a:rPr lang="en-US" altLang="zh-CN" sz="3600" b="1" dirty="0">
                <a:solidFill>
                  <a:srgbClr val="FF0000"/>
                </a:solidFill>
              </a:rPr>
              <a:t>             </a:t>
            </a:r>
            <a:r>
              <a:rPr lang="en-US" altLang="zh-CN" sz="3600" b="1" u="sng" dirty="0">
                <a:solidFill>
                  <a:srgbClr val="FF0000"/>
                </a:solidFill>
              </a:rPr>
              <a:t> </a:t>
            </a:r>
            <a:r>
              <a:rPr lang="en-US" altLang="zh-CN" sz="3600" b="1" u="sng" dirty="0" err="1">
                <a:solidFill>
                  <a:srgbClr val="FF0000"/>
                </a:solidFill>
              </a:rPr>
              <a:t>call+sb</a:t>
            </a:r>
            <a:r>
              <a:rPr lang="en-US" altLang="zh-CN" sz="3600" b="1" u="sng" dirty="0">
                <a:solidFill>
                  <a:srgbClr val="FF0000"/>
                </a:solidFill>
              </a:rPr>
              <a:t>./</a:t>
            </a:r>
            <a:r>
              <a:rPr lang="en-US" altLang="zh-CN" sz="3600" b="1" u="sng" dirty="0" err="1">
                <a:solidFill>
                  <a:srgbClr val="FF0000"/>
                </a:solidFill>
              </a:rPr>
              <a:t>sth</a:t>
            </a:r>
            <a:r>
              <a:rPr lang="en-US" altLang="zh-CN" sz="3600" b="1" u="sng" dirty="0">
                <a:solidFill>
                  <a:srgbClr val="FF0000"/>
                </a:solidFill>
              </a:rPr>
              <a:t>.+</a:t>
            </a:r>
            <a:r>
              <a:rPr lang="en-US" altLang="zh-CN" sz="3600" b="1" u="sng" dirty="0" err="1">
                <a:solidFill>
                  <a:srgbClr val="FF0000"/>
                </a:solidFill>
              </a:rPr>
              <a:t>sth</a:t>
            </a:r>
            <a:r>
              <a:rPr lang="en-US" altLang="zh-CN" sz="3600" b="1" u="sng" dirty="0">
                <a:solidFill>
                  <a:srgbClr val="FF0000"/>
                </a:solidFill>
              </a:rPr>
              <a:t>.</a:t>
            </a:r>
            <a:r>
              <a:rPr lang="zh-CN" altLang="en-US" sz="3600" b="1" u="sng" dirty="0">
                <a:solidFill>
                  <a:srgbClr val="FF0000"/>
                </a:solidFill>
              </a:rPr>
              <a:t>双宾语</a:t>
            </a:r>
            <a:endParaRPr lang="en-US" altLang="zh-CN" sz="3600" b="1" u="sng" dirty="0">
              <a:solidFill>
                <a:srgbClr val="FF0000"/>
              </a:solidFill>
            </a:endParaRPr>
          </a:p>
          <a:p>
            <a:r>
              <a:rPr lang="en-US" altLang="zh-CN" sz="3600" b="1" dirty="0">
                <a:solidFill>
                  <a:srgbClr val="FF0000"/>
                </a:solidFill>
              </a:rPr>
              <a:t>63.While/Though/Although</a:t>
            </a:r>
            <a:r>
              <a:rPr lang="zh-CN" altLang="en-US" sz="3600" b="1" dirty="0">
                <a:solidFill>
                  <a:srgbClr val="FF0000"/>
                </a:solidFill>
              </a:rPr>
              <a:t>虽然 </a:t>
            </a:r>
            <a:r>
              <a:rPr lang="en-US" altLang="zh-CN" sz="3600" b="1" dirty="0">
                <a:solidFill>
                  <a:srgbClr val="7030A0"/>
                </a:solidFill>
              </a:rPr>
              <a:t>A has </a:t>
            </a:r>
            <a:r>
              <a:rPr lang="en-US" altLang="zh-CN" sz="3600" b="1" u="sng" dirty="0">
                <a:solidFill>
                  <a:srgbClr val="7030A0"/>
                </a:solidFill>
              </a:rPr>
              <a:t>evolved</a:t>
            </a:r>
            <a:r>
              <a:rPr lang="en-US" altLang="zh-CN" sz="3600" b="1" dirty="0">
                <a:solidFill>
                  <a:srgbClr val="7030A0"/>
                </a:solidFill>
              </a:rPr>
              <a:t>, B has remained </a:t>
            </a:r>
            <a:r>
              <a:rPr lang="en-US" altLang="zh-CN" sz="3600" b="1" u="sng" dirty="0">
                <a:solidFill>
                  <a:srgbClr val="7030A0"/>
                </a:solidFill>
              </a:rPr>
              <a:t>unchanged.</a:t>
            </a:r>
            <a:r>
              <a:rPr lang="en-US" altLang="zh-CN" sz="3600" b="1" dirty="0">
                <a:solidFill>
                  <a:srgbClr val="7030A0"/>
                </a:solidFill>
              </a:rPr>
              <a:t> </a:t>
            </a:r>
            <a:r>
              <a:rPr lang="zh-CN" altLang="en-US" sz="3600" b="1" dirty="0">
                <a:solidFill>
                  <a:srgbClr val="7030A0"/>
                </a:solidFill>
              </a:rPr>
              <a:t>虽然</a:t>
            </a:r>
            <a:r>
              <a:rPr lang="en-US" altLang="zh-CN" sz="3600" b="1" dirty="0">
                <a:solidFill>
                  <a:srgbClr val="7030A0"/>
                </a:solidFill>
              </a:rPr>
              <a:t>A</a:t>
            </a:r>
            <a:r>
              <a:rPr lang="zh-CN" altLang="en-US" sz="3600" b="1" dirty="0">
                <a:solidFill>
                  <a:srgbClr val="7030A0"/>
                </a:solidFill>
              </a:rPr>
              <a:t>进化了，但是</a:t>
            </a:r>
            <a:r>
              <a:rPr lang="en-US" altLang="zh-CN" sz="3600" b="1" dirty="0">
                <a:solidFill>
                  <a:srgbClr val="7030A0"/>
                </a:solidFill>
              </a:rPr>
              <a:t>B</a:t>
            </a:r>
            <a:r>
              <a:rPr lang="zh-CN" altLang="en-US" sz="3600" b="1" dirty="0">
                <a:solidFill>
                  <a:srgbClr val="7030A0"/>
                </a:solidFill>
              </a:rPr>
              <a:t>保持不变</a:t>
            </a:r>
            <a:endParaRPr lang="en-US" altLang="zh-CN" sz="3600" b="1" dirty="0">
              <a:solidFill>
                <a:srgbClr val="7030A0"/>
              </a:solidFill>
            </a:endParaRPr>
          </a:p>
          <a:p>
            <a:r>
              <a:rPr lang="en-US" altLang="zh-CN" sz="3600" b="1" dirty="0"/>
              <a:t>64.</a:t>
            </a:r>
            <a:r>
              <a:rPr lang="en-US" altLang="zh-CN" sz="3600" b="1" dirty="0">
                <a:solidFill>
                  <a:srgbClr val="00B050"/>
                </a:solidFill>
              </a:rPr>
              <a:t>replacing</a:t>
            </a:r>
            <a:r>
              <a:rPr lang="en-US" altLang="zh-CN" sz="3600" b="1" dirty="0"/>
              <a:t> </a:t>
            </a:r>
            <a:r>
              <a:rPr lang="en-US" altLang="zh-CN" sz="3600" b="1" u="sng" dirty="0">
                <a:solidFill>
                  <a:srgbClr val="7030A0"/>
                </a:solidFill>
              </a:rPr>
              <a:t>words</a:t>
            </a:r>
            <a:r>
              <a:rPr lang="en-US" altLang="zh-CN" sz="3600" b="1" dirty="0">
                <a:solidFill>
                  <a:srgbClr val="7030A0"/>
                </a:solidFill>
              </a:rPr>
              <a:t> </a:t>
            </a:r>
            <a:r>
              <a:rPr lang="en-US" altLang="zh-CN" sz="3600" b="1" dirty="0">
                <a:solidFill>
                  <a:srgbClr val="00B050"/>
                </a:solidFill>
              </a:rPr>
              <a:t>with</a:t>
            </a:r>
            <a:r>
              <a:rPr lang="en-US" altLang="zh-CN" sz="3600" b="1" dirty="0">
                <a:solidFill>
                  <a:srgbClr val="7030A0"/>
                </a:solidFill>
              </a:rPr>
              <a:t> </a:t>
            </a:r>
            <a:r>
              <a:rPr lang="en-US" altLang="zh-CN" sz="3600" b="1" u="sng" dirty="0">
                <a:solidFill>
                  <a:srgbClr val="FF0000"/>
                </a:solidFill>
              </a:rPr>
              <a:t>letter combinations </a:t>
            </a:r>
            <a:r>
              <a:rPr lang="en-US" altLang="zh-CN" sz="3600" b="1" dirty="0"/>
              <a:t>will promote literacy</a:t>
            </a:r>
            <a:r>
              <a:rPr lang="zh-CN" altLang="en-US" sz="3600" b="1" dirty="0"/>
              <a:t>提升读写能力</a:t>
            </a:r>
            <a:r>
              <a:rPr lang="en-US" altLang="zh-CN" sz="3600" b="1" dirty="0"/>
              <a:t>.</a:t>
            </a:r>
            <a:r>
              <a:rPr lang="en-US" altLang="zh-CN" sz="3600" b="1" dirty="0">
                <a:solidFill>
                  <a:srgbClr val="7030A0"/>
                </a:solidFill>
              </a:rPr>
              <a:t>  </a:t>
            </a:r>
            <a:r>
              <a:rPr lang="en-US" altLang="zh-CN" sz="3600" b="1" dirty="0">
                <a:solidFill>
                  <a:srgbClr val="00B050"/>
                </a:solidFill>
              </a:rPr>
              <a:t> </a:t>
            </a:r>
            <a:r>
              <a:rPr lang="zh-CN" altLang="en-US" sz="3600" b="1" dirty="0">
                <a:solidFill>
                  <a:srgbClr val="00B050"/>
                </a:solidFill>
              </a:rPr>
              <a:t>用</a:t>
            </a:r>
            <a:r>
              <a:rPr lang="zh-CN" altLang="en-US" sz="3600" b="1" u="sng" dirty="0">
                <a:solidFill>
                  <a:srgbClr val="FF0000"/>
                </a:solidFill>
              </a:rPr>
              <a:t>字母组合</a:t>
            </a:r>
            <a:r>
              <a:rPr lang="zh-CN" altLang="en-US" sz="3600" b="1" dirty="0">
                <a:solidFill>
                  <a:srgbClr val="00B050"/>
                </a:solidFill>
              </a:rPr>
              <a:t>替代</a:t>
            </a:r>
            <a:r>
              <a:rPr lang="zh-CN" altLang="en-US" sz="3600" b="1" dirty="0">
                <a:solidFill>
                  <a:srgbClr val="7030A0"/>
                </a:solidFill>
              </a:rPr>
              <a:t>单词</a:t>
            </a:r>
            <a:endParaRPr lang="en-US" altLang="zh-CN" sz="3600" b="1" dirty="0">
              <a:solidFill>
                <a:srgbClr val="7030A0"/>
              </a:solidFill>
            </a:endParaRPr>
          </a:p>
          <a:p>
            <a:r>
              <a:rPr lang="en-US" altLang="zh-CN" sz="3600" b="1" dirty="0"/>
              <a:t>65.plenty of </a:t>
            </a:r>
            <a:r>
              <a:rPr lang="en-US" altLang="zh-CN" sz="3600" b="1" dirty="0">
                <a:solidFill>
                  <a:srgbClr val="FF0000"/>
                </a:solidFill>
              </a:rPr>
              <a:t>keys to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做某事的关键</a:t>
            </a:r>
            <a:endParaRPr lang="en-US" altLang="zh-CN" sz="3600" b="1" dirty="0">
              <a:solidFill>
                <a:srgbClr val="FF0000"/>
              </a:solidFill>
            </a:endParaRPr>
          </a:p>
          <a:p>
            <a:r>
              <a:rPr lang="en-US" altLang="zh-CN" sz="3600" b="1" dirty="0">
                <a:solidFill>
                  <a:srgbClr val="FF0000"/>
                </a:solidFill>
              </a:rPr>
              <a:t>                                 </a:t>
            </a:r>
            <a:r>
              <a:rPr lang="en-US" altLang="zh-CN" sz="3600" b="1" u="sng" dirty="0">
                <a:solidFill>
                  <a:srgbClr val="FF0000"/>
                </a:solidFill>
              </a:rPr>
              <a:t>unlocking</a:t>
            </a:r>
            <a:r>
              <a:rPr lang="en-US" altLang="zh-CN" sz="3600" b="1" dirty="0">
                <a:solidFill>
                  <a:srgbClr val="FF0000"/>
                </a:solidFill>
              </a:rPr>
              <a:t> the history of</a:t>
            </a:r>
            <a:r>
              <a:rPr lang="zh-CN" altLang="en-US" sz="3600" b="1" u="sng" dirty="0">
                <a:solidFill>
                  <a:srgbClr val="FF0000"/>
                </a:solidFill>
              </a:rPr>
              <a:t>解锁</a:t>
            </a:r>
            <a:r>
              <a:rPr lang="en-US" altLang="zh-CN" sz="3600" b="1" dirty="0">
                <a:solidFill>
                  <a:srgbClr val="FF0000"/>
                </a:solidFill>
              </a:rPr>
              <a:t>…</a:t>
            </a:r>
            <a:r>
              <a:rPr lang="zh-CN" altLang="en-US" sz="3600" b="1" dirty="0">
                <a:solidFill>
                  <a:srgbClr val="FF0000"/>
                </a:solidFill>
              </a:rPr>
              <a:t>的历史</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400" b="1" dirty="0">
                <a:solidFill>
                  <a:srgbClr val="FF0000"/>
                </a:solidFill>
              </a:rPr>
              <a:t> </a:t>
            </a:r>
            <a:r>
              <a:rPr lang="en-US" altLang="zh-CN" sz="3400" b="1" dirty="0"/>
              <a:t>11.23</a:t>
            </a:r>
            <a:r>
              <a:rPr lang="zh-CN" altLang="en-US" sz="3400" b="1" dirty="0"/>
              <a:t>周天卷</a:t>
            </a:r>
            <a:r>
              <a:rPr lang="en-US" altLang="zh-CN" sz="3400" b="1" dirty="0"/>
              <a:t> 36.</a:t>
            </a:r>
            <a:r>
              <a:rPr lang="en-US" altLang="zh-CN" sz="3400" b="1" dirty="0">
                <a:solidFill>
                  <a:srgbClr val="FF0000"/>
                </a:solidFill>
              </a:rPr>
              <a:t>place emphasis on</a:t>
            </a:r>
            <a:r>
              <a:rPr lang="zh-CN" altLang="en-US" sz="3400" b="1" dirty="0">
                <a:solidFill>
                  <a:srgbClr val="FF0000"/>
                </a:solidFill>
              </a:rPr>
              <a:t>强调重视  </a:t>
            </a:r>
            <a:endParaRPr lang="en-US" altLang="zh-CN" sz="3400" b="1" dirty="0">
              <a:solidFill>
                <a:srgbClr val="FF0000"/>
              </a:solidFill>
            </a:endParaRPr>
          </a:p>
          <a:p>
            <a:pPr fontAlgn="ctr"/>
            <a:r>
              <a:rPr lang="en-US" altLang="zh-CN" sz="3400" b="1" dirty="0">
                <a:solidFill>
                  <a:srgbClr val="FF0000"/>
                </a:solidFill>
              </a:rPr>
              <a:t>emphasize v.</a:t>
            </a:r>
            <a:r>
              <a:rPr lang="zh-CN" altLang="en-US" sz="3400" b="1" dirty="0">
                <a:solidFill>
                  <a:srgbClr val="FF0000"/>
                </a:solidFill>
              </a:rPr>
              <a:t>强调 →</a:t>
            </a:r>
            <a:r>
              <a:rPr lang="en-US" altLang="zh-CN" sz="3400" b="1" dirty="0">
                <a:solidFill>
                  <a:srgbClr val="FF0000"/>
                </a:solidFill>
              </a:rPr>
              <a:t>emphasis n.</a:t>
            </a:r>
            <a:r>
              <a:rPr lang="zh-CN" altLang="en-US" sz="3400" b="1" dirty="0">
                <a:solidFill>
                  <a:srgbClr val="FF0000"/>
                </a:solidFill>
              </a:rPr>
              <a:t>重点 →</a:t>
            </a:r>
            <a:r>
              <a:rPr lang="en-US" altLang="zh-CN" sz="3400" b="1" dirty="0">
                <a:solidFill>
                  <a:srgbClr val="FF0000"/>
                </a:solidFill>
              </a:rPr>
              <a:t>emphases pl.</a:t>
            </a:r>
            <a:endParaRPr lang="zh-CN" altLang="zh-CN" sz="3400" b="1" dirty="0">
              <a:solidFill>
                <a:srgbClr val="FF0000"/>
              </a:solidFill>
            </a:endParaRPr>
          </a:p>
          <a:p>
            <a:pPr fontAlgn="ctr"/>
            <a:r>
              <a:rPr lang="en-US" altLang="zh-CN" sz="3400" b="1" dirty="0"/>
              <a:t>37. </a:t>
            </a:r>
            <a:r>
              <a:rPr lang="en-US" altLang="zh-CN" sz="3400" b="1" dirty="0">
                <a:solidFill>
                  <a:srgbClr val="FF0000"/>
                </a:solidFill>
              </a:rPr>
              <a:t>has risen             rise (rose, risen)</a:t>
            </a:r>
          </a:p>
          <a:p>
            <a:pPr fontAlgn="ctr"/>
            <a:r>
              <a:rPr lang="zh-CN" altLang="en-US" sz="3400" b="1" dirty="0">
                <a:solidFill>
                  <a:srgbClr val="FF0000"/>
                </a:solidFill>
              </a:rPr>
              <a:t>现在完成时</a:t>
            </a:r>
            <a:r>
              <a:rPr lang="en-US" altLang="zh-CN" sz="3400" b="1" dirty="0">
                <a:solidFill>
                  <a:srgbClr val="FF0000"/>
                </a:solidFill>
              </a:rPr>
              <a:t>+over/in/during the past/last few years   </a:t>
            </a:r>
            <a:endParaRPr lang="zh-CN" altLang="zh-CN" sz="3400" b="1" dirty="0">
              <a:solidFill>
                <a:srgbClr val="FF0000"/>
              </a:solidFill>
            </a:endParaRPr>
          </a:p>
          <a:p>
            <a:pPr fontAlgn="ctr"/>
            <a:r>
              <a:rPr lang="en-US" altLang="zh-CN" sz="3400" b="1" dirty="0"/>
              <a:t>38. </a:t>
            </a:r>
            <a:r>
              <a:rPr lang="en-US" altLang="zh-CN" sz="3400" b="1" dirty="0">
                <a:solidFill>
                  <a:srgbClr val="7030A0"/>
                </a:solidFill>
              </a:rPr>
              <a:t>marking</a:t>
            </a:r>
            <a:r>
              <a:rPr lang="zh-CN" altLang="en-US" sz="3400" b="1" dirty="0">
                <a:solidFill>
                  <a:srgbClr val="7030A0"/>
                </a:solidFill>
              </a:rPr>
              <a:t>自然而然的结果</a:t>
            </a:r>
            <a:r>
              <a:rPr lang="en-US" altLang="zh-CN" sz="3400" b="1" dirty="0">
                <a:solidFill>
                  <a:srgbClr val="7030A0"/>
                </a:solidFill>
              </a:rPr>
              <a:t>    </a:t>
            </a:r>
            <a:endParaRPr lang="zh-CN" altLang="zh-CN" sz="3400" b="1" dirty="0">
              <a:solidFill>
                <a:srgbClr val="7030A0"/>
              </a:solidFill>
            </a:endParaRPr>
          </a:p>
          <a:p>
            <a:pPr fontAlgn="ctr"/>
            <a:r>
              <a:rPr lang="en-US" altLang="zh-CN" sz="3400" b="1" dirty="0"/>
              <a:t>39. remain </a:t>
            </a:r>
            <a:r>
              <a:rPr lang="en-US" altLang="zh-CN" sz="3400" b="1" u="sng" dirty="0"/>
              <a:t>weak</a:t>
            </a:r>
            <a:r>
              <a:rPr lang="en-US" altLang="zh-CN" sz="3400" b="1" dirty="0"/>
              <a:t> </a:t>
            </a:r>
            <a:r>
              <a:rPr lang="en-US" altLang="zh-CN" sz="3400" b="1" u="sng" dirty="0">
                <a:solidFill>
                  <a:srgbClr val="FF0000"/>
                </a:solidFill>
              </a:rPr>
              <a:t>without</a:t>
            </a:r>
            <a:r>
              <a:rPr lang="en-US" altLang="zh-CN" sz="3400" b="1" dirty="0"/>
              <a:t> </a:t>
            </a:r>
            <a:r>
              <a:rPr lang="en-US" altLang="zh-CN" sz="3400" b="1" u="sng" dirty="0"/>
              <a:t>sufficient</a:t>
            </a:r>
            <a:r>
              <a:rPr lang="en-US" altLang="zh-CN" sz="3400" b="1" dirty="0"/>
              <a:t> concentration</a:t>
            </a:r>
            <a:r>
              <a:rPr lang="zh-CN" altLang="en-US" sz="3400" b="1" dirty="0"/>
              <a:t>没有足够的集中</a:t>
            </a:r>
            <a:r>
              <a:rPr lang="en-US" altLang="zh-CN" sz="3400" b="1"/>
              <a:t>…</a:t>
            </a:r>
            <a:endParaRPr lang="zh-CN" altLang="zh-CN" sz="3400" b="1" dirty="0"/>
          </a:p>
          <a:p>
            <a:pPr fontAlgn="ctr"/>
            <a:r>
              <a:rPr lang="en-US" altLang="zh-CN" sz="3400" b="1" dirty="0"/>
              <a:t>40. </a:t>
            </a:r>
            <a:r>
              <a:rPr lang="en-US" altLang="zh-CN" sz="3400" b="1" dirty="0">
                <a:solidFill>
                  <a:srgbClr val="FF0000"/>
                </a:solidFill>
              </a:rPr>
              <a:t>strategic  adj.</a:t>
            </a:r>
            <a:r>
              <a:rPr lang="zh-CN" altLang="en-US" sz="3400" b="1" dirty="0">
                <a:solidFill>
                  <a:srgbClr val="FF0000"/>
                </a:solidFill>
              </a:rPr>
              <a:t>战略的  </a:t>
            </a:r>
            <a:r>
              <a:rPr lang="en-US" altLang="zh-CN" sz="3400" b="1" dirty="0"/>
              <a:t>strategic science </a:t>
            </a:r>
            <a:r>
              <a:rPr lang="zh-CN" altLang="zh-CN" sz="3400" b="1" dirty="0"/>
              <a:t>战略科技</a:t>
            </a:r>
            <a:endParaRPr lang="en-US" altLang="zh-CN" sz="3400" b="1" dirty="0"/>
          </a:p>
          <a:p>
            <a:pPr fontAlgn="ctr"/>
            <a:r>
              <a:rPr lang="zh-CN" altLang="en-US" sz="3400" b="1" dirty="0">
                <a:solidFill>
                  <a:srgbClr val="FF0000"/>
                </a:solidFill>
              </a:rPr>
              <a:t>→</a:t>
            </a:r>
            <a:r>
              <a:rPr lang="en-US" altLang="zh-CN" sz="3400" b="1" dirty="0">
                <a:solidFill>
                  <a:srgbClr val="FF0000"/>
                </a:solidFill>
              </a:rPr>
              <a:t>strategy n.</a:t>
            </a:r>
            <a:r>
              <a:rPr lang="zh-CN" altLang="en-US" sz="3400" b="1" dirty="0">
                <a:solidFill>
                  <a:srgbClr val="FF0000"/>
                </a:solidFill>
              </a:rPr>
              <a:t>策略  </a:t>
            </a:r>
            <a:r>
              <a:rPr lang="en-US" altLang="zh-CN" sz="3400" b="1" dirty="0">
                <a:solidFill>
                  <a:srgbClr val="FF0000"/>
                </a:solidFill>
              </a:rPr>
              <a:t>strategies pl.</a:t>
            </a:r>
            <a:endParaRPr lang="zh-CN" altLang="zh-CN" sz="3400" b="1" dirty="0">
              <a:solidFill>
                <a:srgbClr val="FF0000"/>
              </a:solidFill>
            </a:endParaRPr>
          </a:p>
          <a:p>
            <a:pPr fontAlgn="ctr"/>
            <a:r>
              <a:rPr lang="en-US" altLang="zh-CN" sz="3400" b="1" dirty="0"/>
              <a:t>41. </a:t>
            </a:r>
            <a:r>
              <a:rPr lang="en-US" altLang="zh-CN" sz="3400" b="1" dirty="0">
                <a:solidFill>
                  <a:srgbClr val="FF0000"/>
                </a:solidFill>
              </a:rPr>
              <a:t>technologies    n.(pl.)</a:t>
            </a:r>
            <a:r>
              <a:rPr lang="zh-CN" altLang="en-US" sz="3400" b="1" dirty="0">
                <a:solidFill>
                  <a:srgbClr val="FF0000"/>
                </a:solidFill>
              </a:rPr>
              <a:t>科技</a:t>
            </a:r>
            <a:endParaRPr lang="zh-CN" altLang="zh-CN" sz="3400" b="1" dirty="0">
              <a:solidFill>
                <a:srgbClr val="FF0000"/>
              </a:solidFill>
            </a:endParaRPr>
          </a:p>
          <a:p>
            <a:pPr fontAlgn="ctr"/>
            <a:r>
              <a:rPr lang="en-US" altLang="zh-CN" sz="3400" b="1" dirty="0"/>
              <a:t>42. </a:t>
            </a:r>
            <a:r>
              <a:rPr lang="en-US" altLang="zh-CN" sz="3400" b="1" dirty="0">
                <a:solidFill>
                  <a:srgbClr val="7030A0"/>
                </a:solidFill>
              </a:rPr>
              <a:t>to stimulate       </a:t>
            </a:r>
            <a:r>
              <a:rPr lang="en-US" altLang="zh-CN" sz="3400" b="1" dirty="0">
                <a:solidFill>
                  <a:srgbClr val="FF0000"/>
                </a:solidFill>
              </a:rPr>
              <a:t>efforts </a:t>
            </a:r>
            <a:r>
              <a:rPr lang="en-US" altLang="zh-CN" sz="3400" b="1" u="sng" dirty="0">
                <a:solidFill>
                  <a:srgbClr val="FF0000"/>
                </a:solidFill>
              </a:rPr>
              <a:t>to do </a:t>
            </a:r>
            <a:r>
              <a:rPr lang="en-US" altLang="zh-CN" sz="3400" b="1" u="sng" dirty="0" err="1">
                <a:solidFill>
                  <a:srgbClr val="FF0000"/>
                </a:solidFill>
              </a:rPr>
              <a:t>sth</a:t>
            </a:r>
            <a:r>
              <a:rPr lang="en-US" altLang="zh-CN" sz="3400" b="1" u="sng" dirty="0">
                <a:solidFill>
                  <a:srgbClr val="FF0000"/>
                </a:solidFill>
              </a:rPr>
              <a:t>.</a:t>
            </a:r>
            <a:r>
              <a:rPr lang="zh-CN" altLang="zh-CN" sz="3400" b="1" dirty="0">
                <a:solidFill>
                  <a:srgbClr val="FF0000"/>
                </a:solidFill>
              </a:rPr>
              <a:t>做某事的努力</a:t>
            </a:r>
          </a:p>
          <a:p>
            <a:pPr fontAlgn="ctr"/>
            <a:r>
              <a:rPr lang="en-US" altLang="zh-CN" sz="3400" b="1" dirty="0"/>
              <a:t>43. </a:t>
            </a:r>
            <a:r>
              <a:rPr lang="en-US" altLang="zh-CN" sz="3400" b="1" dirty="0">
                <a:solidFill>
                  <a:srgbClr val="7030A0"/>
                </a:solidFill>
              </a:rPr>
              <a:t>which </a:t>
            </a:r>
            <a:r>
              <a:rPr lang="zh-CN" altLang="en-US" sz="3400" b="1" dirty="0">
                <a:solidFill>
                  <a:srgbClr val="7030A0"/>
                </a:solidFill>
              </a:rPr>
              <a:t>定从</a:t>
            </a:r>
            <a:r>
              <a:rPr lang="en-US" altLang="zh-CN" sz="3400" b="1" dirty="0">
                <a:solidFill>
                  <a:srgbClr val="7030A0"/>
                </a:solidFill>
              </a:rPr>
              <a:t>   44. an   </a:t>
            </a:r>
            <a:r>
              <a:rPr lang="en-US" altLang="zh-CN" sz="3400" b="1" dirty="0"/>
              <a:t>45. </a:t>
            </a:r>
            <a:r>
              <a:rPr lang="en-US" altLang="zh-CN" sz="3400" b="1" dirty="0">
                <a:solidFill>
                  <a:srgbClr val="FF0000"/>
                </a:solidFill>
              </a:rPr>
              <a:t>remain </a:t>
            </a:r>
            <a:r>
              <a:rPr lang="en-US" altLang="zh-CN" sz="3400" b="1" u="sng" dirty="0">
                <a:solidFill>
                  <a:srgbClr val="FF0000"/>
                </a:solidFill>
              </a:rPr>
              <a:t>committed</a:t>
            </a:r>
            <a:r>
              <a:rPr lang="en-US" altLang="zh-CN" sz="3400" b="1" dirty="0">
                <a:solidFill>
                  <a:srgbClr val="FF0000"/>
                </a:solidFill>
              </a:rPr>
              <a:t> to </a:t>
            </a:r>
            <a:r>
              <a:rPr lang="zh-CN" altLang="zh-CN" sz="3400" b="1" dirty="0">
                <a:solidFill>
                  <a:srgbClr val="FF0000"/>
                </a:solidFill>
              </a:rPr>
              <a:t>致力于</a:t>
            </a:r>
            <a:r>
              <a:rPr lang="en-US" altLang="zh-CN" sz="3400" b="1" dirty="0">
                <a:solidFill>
                  <a:srgbClr val="FF0000"/>
                </a:solidFill>
              </a:rPr>
              <a:t>…</a:t>
            </a:r>
            <a:endParaRPr lang="zh-CN" altLang="en-US" sz="3400" b="1" dirty="0">
              <a:solidFill>
                <a:srgbClr val="FF0000"/>
              </a:solidFill>
            </a:endParaRPr>
          </a:p>
        </p:txBody>
      </p:sp>
    </p:spTree>
    <p:extLst>
      <p:ext uri="{BB962C8B-B14F-4D97-AF65-F5344CB8AC3E}">
        <p14:creationId xmlns:p14="http://schemas.microsoft.com/office/powerpoint/2010/main" val="2213129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en-US" altLang="zh-CN" sz="3600" b="1" dirty="0"/>
              <a:t>11.23</a:t>
            </a:r>
            <a:r>
              <a:rPr lang="zh-CN" altLang="en-US" sz="3600" b="1" dirty="0"/>
              <a:t>周天卷</a:t>
            </a:r>
            <a:endParaRPr lang="en-US" altLang="zh-CN" sz="3600" b="1" dirty="0"/>
          </a:p>
          <a:p>
            <a:r>
              <a:rPr lang="en-US" altLang="zh-CN" sz="3600" b="1" u="sng" dirty="0">
                <a:solidFill>
                  <a:srgbClr val="FF0000"/>
                </a:solidFill>
              </a:rPr>
              <a:t>Like</a:t>
            </a:r>
            <a:r>
              <a:rPr lang="en-US" altLang="zh-CN" sz="3600" b="1" dirty="0">
                <a:solidFill>
                  <a:srgbClr val="FF0000"/>
                </a:solidFill>
              </a:rPr>
              <a:t> many </a:t>
            </a:r>
            <a:r>
              <a:rPr lang="en-US" altLang="zh-CN" sz="3600" b="1" u="sng" dirty="0">
                <a:solidFill>
                  <a:srgbClr val="FF0000"/>
                </a:solidFill>
              </a:rPr>
              <a:t>young people </a:t>
            </a:r>
            <a:r>
              <a:rPr lang="en-US" altLang="zh-CN" sz="3600" b="1" dirty="0"/>
              <a:t>living near protected areas, Mdluli </a:t>
            </a:r>
            <a:r>
              <a:rPr lang="en-US" altLang="zh-CN" sz="3600" b="1" dirty="0">
                <a:solidFill>
                  <a:srgbClr val="FF0000"/>
                </a:solidFill>
              </a:rPr>
              <a:t>had </a:t>
            </a:r>
            <a:r>
              <a:rPr lang="en-US" altLang="zh-CN" sz="3600" b="1" u="sng" dirty="0">
                <a:solidFill>
                  <a:srgbClr val="FF0000"/>
                </a:solidFill>
              </a:rPr>
              <a:t>never seen </a:t>
            </a:r>
            <a:r>
              <a:rPr lang="en-US" altLang="zh-CN" sz="3600" b="1" dirty="0">
                <a:solidFill>
                  <a:srgbClr val="FF0000"/>
                </a:solidFill>
              </a:rPr>
              <a:t>the wildlife in person.</a:t>
            </a:r>
          </a:p>
          <a:p>
            <a:r>
              <a:rPr lang="en-US" altLang="zh-CN" sz="3600" b="1" u="sng" dirty="0">
                <a:solidFill>
                  <a:srgbClr val="FF0000"/>
                </a:solidFill>
              </a:rPr>
              <a:t>While</a:t>
            </a:r>
            <a:r>
              <a:rPr lang="zh-CN" altLang="en-US" sz="3600" b="1" u="sng" dirty="0">
                <a:solidFill>
                  <a:srgbClr val="FF0000"/>
                </a:solidFill>
              </a:rPr>
              <a:t>虽然尽管</a:t>
            </a:r>
            <a:r>
              <a:rPr lang="en-US" altLang="zh-CN" sz="3600" b="1" dirty="0">
                <a:solidFill>
                  <a:srgbClr val="FF0000"/>
                </a:solidFill>
              </a:rPr>
              <a:t>Africa </a:t>
            </a:r>
            <a:r>
              <a:rPr lang="en-US" altLang="zh-CN" sz="3600" b="1" dirty="0"/>
              <a:t>is a</a:t>
            </a:r>
            <a:r>
              <a:rPr lang="en-US" altLang="zh-CN" sz="3600" b="1" dirty="0">
                <a:solidFill>
                  <a:srgbClr val="FF0000"/>
                </a:solidFill>
              </a:rPr>
              <a:t> </a:t>
            </a:r>
            <a:r>
              <a:rPr lang="en-US" altLang="zh-CN" sz="3600" b="1" u="sng" dirty="0">
                <a:solidFill>
                  <a:srgbClr val="FF0000"/>
                </a:solidFill>
              </a:rPr>
              <a:t>primary</a:t>
            </a:r>
            <a:r>
              <a:rPr lang="en-US" altLang="zh-CN" sz="3600" b="1" dirty="0">
                <a:solidFill>
                  <a:srgbClr val="FF0000"/>
                </a:solidFill>
              </a:rPr>
              <a:t> setting </a:t>
            </a:r>
            <a:r>
              <a:rPr lang="en-US" altLang="zh-CN" sz="3600" b="1" dirty="0"/>
              <a:t>for…, </a:t>
            </a:r>
            <a:r>
              <a:rPr lang="en-US" altLang="zh-CN" sz="3600" b="1" dirty="0">
                <a:solidFill>
                  <a:srgbClr val="FF0000"/>
                </a:solidFill>
              </a:rPr>
              <a:t>African voices </a:t>
            </a:r>
            <a:r>
              <a:rPr lang="en-US" altLang="zh-CN" sz="3600" b="1" dirty="0"/>
              <a:t>remain</a:t>
            </a:r>
            <a:r>
              <a:rPr lang="en-US" altLang="zh-CN" sz="3600" b="1" dirty="0">
                <a:solidFill>
                  <a:srgbClr val="FF0000"/>
                </a:solidFill>
              </a:rPr>
              <a:t> </a:t>
            </a:r>
            <a:r>
              <a:rPr lang="en-US" altLang="zh-CN" sz="3600" b="1" u="sng" dirty="0">
                <a:solidFill>
                  <a:srgbClr val="FF0000"/>
                </a:solidFill>
              </a:rPr>
              <a:t>scanty</a:t>
            </a:r>
            <a:r>
              <a:rPr lang="zh-CN" altLang="en-US" sz="3600" b="1" dirty="0">
                <a:solidFill>
                  <a:srgbClr val="FF0000"/>
                </a:solidFill>
              </a:rPr>
              <a:t>少量不足的</a:t>
            </a:r>
            <a:endParaRPr lang="en-US" altLang="zh-CN" sz="3600" b="1" dirty="0">
              <a:solidFill>
                <a:srgbClr val="FF0000"/>
              </a:solidFill>
            </a:endParaRPr>
          </a:p>
          <a:p>
            <a:r>
              <a:rPr lang="en-US" altLang="zh-CN" sz="3600" b="1" dirty="0"/>
              <a:t>Our biggest goal is to have production companies coming to us asking, “Hey, </a:t>
            </a:r>
            <a:r>
              <a:rPr lang="en-US" altLang="zh-CN" sz="3600" b="1" u="sng" dirty="0">
                <a:solidFill>
                  <a:srgbClr val="7030A0"/>
                </a:solidFill>
              </a:rPr>
              <a:t>who are your local filmmakers</a:t>
            </a:r>
            <a:r>
              <a:rPr lang="en-US" altLang="zh-CN" sz="3600" b="1" dirty="0"/>
              <a:t>? We want to </a:t>
            </a:r>
            <a:r>
              <a:rPr lang="en-US" altLang="zh-CN" sz="3600" b="1" u="sng" dirty="0">
                <a:solidFill>
                  <a:srgbClr val="7030A0"/>
                </a:solidFill>
              </a:rPr>
              <a:t>hire them</a:t>
            </a:r>
            <a:r>
              <a:rPr lang="en-US" altLang="zh-CN" sz="3600" b="1" dirty="0"/>
              <a:t>.” </a:t>
            </a:r>
            <a:r>
              <a:rPr lang="zh-CN" altLang="zh-CN" sz="3600" b="1" dirty="0"/>
              <a:t>有哪些本土</a:t>
            </a:r>
            <a:r>
              <a:rPr lang="zh-CN" altLang="zh-CN" sz="3600" b="1" u="sng" dirty="0">
                <a:solidFill>
                  <a:srgbClr val="7030A0"/>
                </a:solidFill>
              </a:rPr>
              <a:t>电影人</a:t>
            </a:r>
            <a:r>
              <a:rPr lang="zh-CN" altLang="zh-CN" sz="3600" b="1" dirty="0"/>
              <a:t>？</a:t>
            </a:r>
            <a:endParaRPr lang="en-US" altLang="zh-CN" sz="3600" b="1" dirty="0"/>
          </a:p>
          <a:p>
            <a:r>
              <a:rPr lang="en-US" altLang="zh-CN" sz="3600" b="1" dirty="0"/>
              <a:t>B.</a:t>
            </a:r>
            <a:r>
              <a:rPr lang="zh-CN" altLang="zh-CN" sz="3600" b="1" dirty="0"/>
              <a:t>建立可持续的本土</a:t>
            </a:r>
            <a:r>
              <a:rPr lang="zh-CN" altLang="zh-CN" sz="3600" b="1" u="sng" dirty="0">
                <a:solidFill>
                  <a:srgbClr val="FF0000"/>
                </a:solidFill>
              </a:rPr>
              <a:t>人才库</a:t>
            </a:r>
            <a:r>
              <a:rPr lang="en-US" altLang="zh-CN" sz="3600" b="1" u="sng" dirty="0">
                <a:solidFill>
                  <a:srgbClr val="FF0000"/>
                </a:solidFill>
              </a:rPr>
              <a:t>talent pool</a:t>
            </a:r>
          </a:p>
        </p:txBody>
      </p:sp>
    </p:spTree>
    <p:extLst>
      <p:ext uri="{BB962C8B-B14F-4D97-AF65-F5344CB8AC3E}">
        <p14:creationId xmlns:p14="http://schemas.microsoft.com/office/powerpoint/2010/main" val="1013387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nSpc>
                <a:spcPct val="80000"/>
              </a:lnSpc>
            </a:pPr>
            <a:r>
              <a:rPr lang="en-US" altLang="zh-CN" sz="3500" dirty="0"/>
              <a:t>8.The region, troubled by frequent droughts and water supply challenges </a:t>
            </a:r>
            <a:r>
              <a:rPr lang="en-US" altLang="zh-CN" sz="3500" b="1" dirty="0">
                <a:solidFill>
                  <a:srgbClr val="FF0000"/>
                </a:solidFill>
              </a:rPr>
              <a:t>due to </a:t>
            </a:r>
            <a:r>
              <a:rPr lang="en-US" altLang="zh-CN" sz="3500" b="1" dirty="0">
                <a:solidFill>
                  <a:srgbClr val="7030A0"/>
                </a:solidFill>
              </a:rPr>
              <a:t>geographical limitations in groundwater storage</a:t>
            </a:r>
            <a:r>
              <a:rPr lang="en-US" altLang="zh-CN" sz="3500" dirty="0"/>
              <a:t>, saw this competition as a creative means to promote a vital message. </a:t>
            </a:r>
            <a:r>
              <a:rPr lang="zh-CN" altLang="zh-CN" sz="3500" dirty="0"/>
              <a:t>因</a:t>
            </a:r>
            <a:r>
              <a:rPr lang="zh-CN" altLang="zh-CN" sz="3500" b="1" dirty="0">
                <a:solidFill>
                  <a:srgbClr val="7030A0"/>
                </a:solidFill>
              </a:rPr>
              <a:t>地下水储存的地理限制</a:t>
            </a:r>
            <a:r>
              <a:rPr lang="zh-CN" altLang="zh-CN" sz="3500" dirty="0"/>
              <a:t>，频繁遭遇干旱和供水难题，将这项比赛视为传递重要信息的创意方式</a:t>
            </a:r>
            <a:endParaRPr lang="en-US" altLang="zh-CN" sz="3500" dirty="0"/>
          </a:p>
          <a:p>
            <a:pPr>
              <a:lnSpc>
                <a:spcPct val="80000"/>
              </a:lnSpc>
            </a:pPr>
            <a:r>
              <a:rPr lang="en-US" altLang="zh-CN" sz="3500" dirty="0"/>
              <a:t>9.Woodley’s commitment to environmental causes and her </a:t>
            </a:r>
            <a:r>
              <a:rPr lang="en-US" altLang="zh-CN" sz="3500" b="1" u="sng" dirty="0">
                <a:solidFill>
                  <a:srgbClr val="FF0000"/>
                </a:solidFill>
              </a:rPr>
              <a:t>influential status</a:t>
            </a:r>
            <a:r>
              <a:rPr lang="en-US" altLang="zh-CN" sz="3500" b="1" dirty="0">
                <a:solidFill>
                  <a:srgbClr val="FF0000"/>
                </a:solidFill>
              </a:rPr>
              <a:t> </a:t>
            </a:r>
            <a:r>
              <a:rPr lang="en-US" altLang="zh-CN" sz="3500" b="1" dirty="0">
                <a:solidFill>
                  <a:srgbClr val="7030A0"/>
                </a:solidFill>
              </a:rPr>
              <a:t>in the entertainment industry </a:t>
            </a:r>
            <a:r>
              <a:rPr lang="en-US" altLang="zh-CN" sz="3500" dirty="0"/>
              <a:t>helped push the competition onto the global stage. </a:t>
            </a:r>
            <a:r>
              <a:rPr lang="zh-CN" altLang="zh-CN" sz="3500" dirty="0"/>
              <a:t>她在娱乐行业的</a:t>
            </a:r>
            <a:r>
              <a:rPr lang="zh-CN" altLang="zh-CN" sz="3500" b="1" u="sng" dirty="0">
                <a:solidFill>
                  <a:srgbClr val="FF0000"/>
                </a:solidFill>
              </a:rPr>
              <a:t>影响力</a:t>
            </a:r>
            <a:r>
              <a:rPr lang="zh-CN" altLang="zh-CN" sz="3500" dirty="0"/>
              <a:t>，助力这项比赛走向了全球舞台</a:t>
            </a:r>
            <a:r>
              <a:rPr lang="en-US" altLang="zh-CN" sz="3500" dirty="0"/>
              <a:t> </a:t>
            </a:r>
          </a:p>
          <a:p>
            <a:pPr>
              <a:lnSpc>
                <a:spcPct val="80000"/>
              </a:lnSpc>
            </a:pPr>
            <a:r>
              <a:rPr lang="en-US" altLang="zh-CN" sz="3500" b="1" dirty="0">
                <a:solidFill>
                  <a:srgbClr val="FF0000"/>
                </a:solidFill>
              </a:rPr>
              <a:t>celebrity identity</a:t>
            </a:r>
            <a:r>
              <a:rPr lang="zh-CN" altLang="zh-CN" sz="3500" b="1" dirty="0">
                <a:solidFill>
                  <a:srgbClr val="FF0000"/>
                </a:solidFill>
              </a:rPr>
              <a:t>名人身份</a:t>
            </a:r>
            <a:endParaRPr lang="en-US" altLang="zh-CN" sz="3500" b="1" dirty="0">
              <a:solidFill>
                <a:srgbClr val="FF0000"/>
              </a:solidFill>
            </a:endParaRPr>
          </a:p>
          <a:p>
            <a:pPr>
              <a:lnSpc>
                <a:spcPct val="80000"/>
              </a:lnSpc>
            </a:pPr>
            <a:r>
              <a:rPr lang="en-US" altLang="zh-CN" sz="3500" dirty="0"/>
              <a:t>10. Kathleen Murray’s victory in the “World’s Ugliest Lawn” contest symbolizes a shift in viewpoint </a:t>
            </a:r>
            <a:r>
              <a:rPr lang="en-US" altLang="zh-CN" sz="3500" b="1" u="sng" dirty="0"/>
              <a:t>towards sustainable landscaping practices</a:t>
            </a:r>
            <a:r>
              <a:rPr lang="en-US" altLang="zh-CN" sz="3500" dirty="0"/>
              <a:t>. </a:t>
            </a:r>
            <a:r>
              <a:rPr lang="zh-CN" altLang="zh-CN" sz="3500" dirty="0"/>
              <a:t>在</a:t>
            </a:r>
            <a:r>
              <a:rPr lang="en-US" altLang="zh-CN" sz="3500" dirty="0"/>
              <a:t>“</a:t>
            </a:r>
            <a:r>
              <a:rPr lang="zh-CN" altLang="zh-CN" sz="3500" dirty="0"/>
              <a:t>世界最丑草坪</a:t>
            </a:r>
            <a:r>
              <a:rPr lang="en-US" altLang="zh-CN" sz="3500" dirty="0"/>
              <a:t>”</a:t>
            </a:r>
            <a:r>
              <a:rPr lang="zh-CN" altLang="zh-CN" sz="3500" dirty="0"/>
              <a:t>比赛中的胜利，象征着人们对</a:t>
            </a:r>
            <a:r>
              <a:rPr lang="zh-CN" altLang="zh-CN" sz="3500" b="1" u="sng" dirty="0"/>
              <a:t>可持续园林绿化方式的观念转变</a:t>
            </a:r>
            <a:endParaRPr lang="en-US" altLang="zh-CN" sz="3500" b="1" u="sng" dirty="0"/>
          </a:p>
          <a:p>
            <a:pPr>
              <a:lnSpc>
                <a:spcPct val="80000"/>
              </a:lnSpc>
            </a:pPr>
            <a:endParaRPr lang="zh-CN" altLang="en-US" sz="3500" b="1" dirty="0">
              <a:solidFill>
                <a:srgbClr val="FF0000"/>
              </a:solidFill>
            </a:endParaRPr>
          </a:p>
        </p:txBody>
      </p:sp>
    </p:spTree>
    <p:extLst>
      <p:ext uri="{BB962C8B-B14F-4D97-AF65-F5344CB8AC3E}">
        <p14:creationId xmlns:p14="http://schemas.microsoft.com/office/powerpoint/2010/main" val="1283070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u="sng" dirty="0">
                <a:solidFill>
                  <a:srgbClr val="FF0000"/>
                </a:solidFill>
              </a:rPr>
              <a:t>11.</a:t>
            </a:r>
            <a:r>
              <a:rPr lang="en-US" altLang="zh-CN" sz="3600" b="1" dirty="0"/>
              <a:t> The </a:t>
            </a:r>
            <a:r>
              <a:rPr lang="en-US" altLang="zh-CN" sz="3600" b="1" u="sng" dirty="0"/>
              <a:t>competition serves as </a:t>
            </a:r>
            <a:r>
              <a:rPr lang="en-US" altLang="zh-CN" sz="3600" b="1" u="sng" dirty="0">
                <a:solidFill>
                  <a:srgbClr val="FF0000"/>
                </a:solidFill>
              </a:rPr>
              <a:t>a creative and entertaining method </a:t>
            </a:r>
            <a:r>
              <a:rPr lang="en-US" altLang="zh-CN" sz="3600" b="1" u="sng" dirty="0">
                <a:solidFill>
                  <a:srgbClr val="7030A0"/>
                </a:solidFill>
              </a:rPr>
              <a:t>to raise awareness </a:t>
            </a:r>
            <a:r>
              <a:rPr lang="en-US" altLang="zh-CN" sz="3600" dirty="0"/>
              <a:t>about the global water crisis, encouraging individuals to adopt more sustainable practices in maintaining their outdoor spaces. </a:t>
            </a:r>
            <a:r>
              <a:rPr lang="zh-CN" altLang="zh-CN" sz="3600" b="1" dirty="0"/>
              <a:t>该竞赛是一种</a:t>
            </a:r>
            <a:r>
              <a:rPr lang="zh-CN" altLang="zh-CN" sz="3600" b="1" dirty="0">
                <a:solidFill>
                  <a:srgbClr val="FF0000"/>
                </a:solidFill>
              </a:rPr>
              <a:t>创造性和娱乐性的方式</a:t>
            </a:r>
            <a:r>
              <a:rPr lang="zh-CN" altLang="zh-CN" sz="3600" dirty="0"/>
              <a:t>，</a:t>
            </a:r>
            <a:r>
              <a:rPr lang="zh-CN" altLang="zh-CN" sz="3600" dirty="0">
                <a:solidFill>
                  <a:srgbClr val="7030A0"/>
                </a:solidFill>
              </a:rPr>
              <a:t>旨在提高人们对全球水危机的认识</a:t>
            </a:r>
            <a:r>
              <a:rPr lang="zh-CN" altLang="zh-CN" sz="3600" dirty="0"/>
              <a:t>，鼓励个人在维护户外空间方面采取更可持续的做法</a:t>
            </a:r>
            <a:endParaRPr lang="en-US" altLang="zh-CN" sz="3600" dirty="0"/>
          </a:p>
          <a:p>
            <a:r>
              <a:rPr lang="zh-CN" altLang="zh-CN" sz="3600" dirty="0"/>
              <a:t> </a:t>
            </a:r>
            <a:r>
              <a:rPr lang="en-US" altLang="zh-CN" sz="3600" dirty="0"/>
              <a:t>“</a:t>
            </a:r>
            <a:r>
              <a:rPr lang="zh-CN" altLang="zh-CN" sz="3600" b="1" dirty="0"/>
              <a:t>世界最丑草坪</a:t>
            </a:r>
            <a:r>
              <a:rPr lang="en-US" altLang="zh-CN" sz="3600" b="1" dirty="0"/>
              <a:t>”</a:t>
            </a:r>
            <a:r>
              <a:rPr lang="zh-CN" altLang="zh-CN" sz="3600" b="1" u="sng" dirty="0">
                <a:solidFill>
                  <a:srgbClr val="FF0000"/>
                </a:solidFill>
              </a:rPr>
              <a:t>创意节水举措</a:t>
            </a:r>
            <a:endParaRPr lang="zh-CN" altLang="en-US" sz="3600" b="1" u="sng" dirty="0">
              <a:solidFill>
                <a:srgbClr val="FF0000"/>
              </a:solidFill>
            </a:endParaRPr>
          </a:p>
          <a:p>
            <a:r>
              <a:rPr lang="en-US" altLang="zh-CN" sz="3600" dirty="0">
                <a:solidFill>
                  <a:srgbClr val="FF0000"/>
                </a:solidFill>
              </a:rPr>
              <a:t>15.</a:t>
            </a:r>
            <a:r>
              <a:rPr lang="en-US" altLang="zh-CN" sz="3600" dirty="0"/>
              <a:t> However, why do </a:t>
            </a:r>
            <a:r>
              <a:rPr lang="en-US" altLang="zh-CN" sz="3600" b="1" u="sng" dirty="0"/>
              <a:t>elephants</a:t>
            </a:r>
            <a:r>
              <a:rPr lang="en-US" altLang="zh-CN" sz="3600" dirty="0"/>
              <a:t> have an </a:t>
            </a:r>
            <a:r>
              <a:rPr lang="en-US" altLang="zh-CN" sz="3600" b="1" u="sng" dirty="0">
                <a:solidFill>
                  <a:srgbClr val="FF0000"/>
                </a:solidFill>
              </a:rPr>
              <a:t>extraordinary memory</a:t>
            </a:r>
            <a:r>
              <a:rPr lang="en-US" altLang="zh-CN" sz="3600" dirty="0"/>
              <a:t>? </a:t>
            </a:r>
            <a:r>
              <a:rPr lang="zh-CN" altLang="zh-CN" sz="3600" dirty="0"/>
              <a:t>大象为什么拥有非凡的记忆力呢？</a:t>
            </a:r>
            <a:endParaRPr lang="en-US" altLang="zh-CN" sz="3600" dirty="0"/>
          </a:p>
          <a:p>
            <a:r>
              <a:rPr lang="zh-CN" altLang="zh-CN" sz="3600" dirty="0"/>
              <a:t>核心是围绕大象</a:t>
            </a:r>
            <a:r>
              <a:rPr lang="zh-CN" altLang="zh-CN" sz="3600" b="1" u="sng" dirty="0">
                <a:solidFill>
                  <a:srgbClr val="FF0000"/>
                </a:solidFill>
              </a:rPr>
              <a:t>良好记忆力</a:t>
            </a:r>
            <a:r>
              <a:rPr lang="zh-CN" altLang="zh-CN" sz="3600" dirty="0"/>
              <a:t>的作用展开</a:t>
            </a:r>
            <a:endParaRPr lang="en-US" altLang="zh-CN" sz="3600" dirty="0"/>
          </a:p>
        </p:txBody>
      </p:sp>
    </p:spTree>
    <p:extLst>
      <p:ext uri="{BB962C8B-B14F-4D97-AF65-F5344CB8AC3E}">
        <p14:creationId xmlns:p14="http://schemas.microsoft.com/office/powerpoint/2010/main" val="410592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en-US" altLang="zh-CN" sz="3600" b="1" dirty="0"/>
              <a:t>16E: </a:t>
            </a:r>
            <a:r>
              <a:rPr lang="en-US" altLang="zh-CN" sz="3600" b="1" dirty="0">
                <a:solidFill>
                  <a:srgbClr val="FF0000"/>
                </a:solidFill>
              </a:rPr>
              <a:t>go beyond competition</a:t>
            </a:r>
            <a:r>
              <a:rPr lang="zh-CN" altLang="en-US" sz="3600" b="1" dirty="0">
                <a:solidFill>
                  <a:srgbClr val="FF0000"/>
                </a:solidFill>
              </a:rPr>
              <a:t>超越竞争</a:t>
            </a:r>
            <a:endParaRPr lang="en-US" altLang="zh-CN" sz="3600" b="1" dirty="0">
              <a:solidFill>
                <a:srgbClr val="FF0000"/>
              </a:solidFill>
            </a:endParaRPr>
          </a:p>
          <a:p>
            <a:pPr marL="0" indent="0">
              <a:buNone/>
            </a:pPr>
            <a:r>
              <a:rPr lang="en-US" altLang="zh-CN" sz="3600" b="1" dirty="0">
                <a:solidFill>
                  <a:srgbClr val="FF0000"/>
                </a:solidFill>
              </a:rPr>
              <a:t>emphasize morality and values</a:t>
            </a:r>
            <a:r>
              <a:rPr lang="zh-CN" altLang="en-US" sz="3600" b="1" dirty="0">
                <a:solidFill>
                  <a:srgbClr val="FF0000"/>
                </a:solidFill>
              </a:rPr>
              <a:t>强调道德和价值观</a:t>
            </a:r>
            <a:endParaRPr lang="en-US" altLang="zh-CN" sz="3600" b="1" dirty="0">
              <a:solidFill>
                <a:srgbClr val="FF0000"/>
              </a:solidFill>
            </a:endParaRPr>
          </a:p>
          <a:p>
            <a:pPr marL="0" indent="0">
              <a:buNone/>
            </a:pPr>
            <a:endParaRPr lang="en-US" altLang="zh-CN" sz="3600" b="1" dirty="0">
              <a:solidFill>
                <a:srgbClr val="FF0000"/>
              </a:solidFill>
            </a:endParaRPr>
          </a:p>
          <a:p>
            <a:pPr marL="0" indent="0">
              <a:buNone/>
            </a:pPr>
            <a:r>
              <a:rPr lang="en-US" altLang="zh-CN" sz="3600" b="1" dirty="0">
                <a:solidFill>
                  <a:srgbClr val="FF0000"/>
                </a:solidFill>
              </a:rPr>
              <a:t> </a:t>
            </a:r>
            <a:r>
              <a:rPr lang="en-US" altLang="zh-CN" sz="3600" b="1" dirty="0"/>
              <a:t>19A</a:t>
            </a:r>
            <a:r>
              <a:rPr lang="en-US" altLang="zh-CN" sz="3600" b="1" dirty="0">
                <a:solidFill>
                  <a:srgbClr val="FF0000"/>
                </a:solidFill>
              </a:rPr>
              <a:t> Fair play lies at the heart of sportsmanship</a:t>
            </a:r>
            <a:r>
              <a:rPr lang="zh-CN" altLang="en-US" dirty="0"/>
              <a:t>公平竞争是体育精神的核心</a:t>
            </a:r>
            <a:endParaRPr lang="en-US" altLang="zh-CN" dirty="0"/>
          </a:p>
          <a:p>
            <a:pPr marL="0" indent="0">
              <a:buNone/>
            </a:pPr>
            <a:r>
              <a:rPr lang="en-US" altLang="zh-CN" sz="3600" b="1" dirty="0">
                <a:solidFill>
                  <a:srgbClr val="FF0000"/>
                </a:solidFill>
              </a:rPr>
              <a:t> emphasize the fairness</a:t>
            </a:r>
            <a:r>
              <a:rPr lang="zh-CN" altLang="en-US" sz="3600" b="1" dirty="0">
                <a:solidFill>
                  <a:srgbClr val="FF0000"/>
                </a:solidFill>
              </a:rPr>
              <a:t>强调公平</a:t>
            </a:r>
            <a:endParaRPr lang="en-US" altLang="zh-CN" sz="3600" b="1" dirty="0">
              <a:solidFill>
                <a:srgbClr val="FF0000"/>
              </a:solidFill>
            </a:endParaRPr>
          </a:p>
          <a:p>
            <a:pPr marL="0" indent="0">
              <a:buNone/>
            </a:pPr>
            <a:endParaRPr lang="en-US" altLang="zh-CN" sz="3600" b="1" dirty="0">
              <a:solidFill>
                <a:srgbClr val="FF0000"/>
              </a:solidFill>
            </a:endParaRPr>
          </a:p>
          <a:p>
            <a:pPr marL="0" indent="0">
              <a:buNone/>
            </a:pPr>
            <a:r>
              <a:rPr lang="en-US" altLang="zh-CN" sz="3600" b="1" dirty="0">
                <a:solidFill>
                  <a:srgbClr val="FF0000"/>
                </a:solidFill>
              </a:rPr>
              <a:t> </a:t>
            </a:r>
            <a:r>
              <a:rPr lang="en-US" altLang="zh-CN" sz="3600" b="1" u="sng" dirty="0">
                <a:solidFill>
                  <a:srgbClr val="7030A0"/>
                </a:solidFill>
              </a:rPr>
              <a:t>the</a:t>
            </a:r>
            <a:r>
              <a:rPr lang="zh-CN" altLang="en-US" sz="3600" b="1" u="sng" dirty="0">
                <a:solidFill>
                  <a:srgbClr val="7030A0"/>
                </a:solidFill>
              </a:rPr>
              <a:t> </a:t>
            </a:r>
            <a:r>
              <a:rPr lang="en-US" altLang="zh-CN" sz="3600" b="1" u="sng" dirty="0">
                <a:solidFill>
                  <a:srgbClr val="7030A0"/>
                </a:solidFill>
              </a:rPr>
              <a:t>effort</a:t>
            </a:r>
            <a:r>
              <a:rPr lang="zh-CN" altLang="en-US" sz="3600" b="1" u="sng" dirty="0">
                <a:solidFill>
                  <a:srgbClr val="7030A0"/>
                </a:solidFill>
              </a:rPr>
              <a:t> </a:t>
            </a:r>
            <a:r>
              <a:rPr lang="en-US" altLang="zh-CN" sz="3600" b="1" u="sng" dirty="0">
                <a:solidFill>
                  <a:srgbClr val="7030A0"/>
                </a:solidFill>
              </a:rPr>
              <a:t>and</a:t>
            </a:r>
            <a:r>
              <a:rPr lang="zh-CN" altLang="en-US" sz="3600" b="1" u="sng" dirty="0">
                <a:solidFill>
                  <a:srgbClr val="7030A0"/>
                </a:solidFill>
              </a:rPr>
              <a:t> </a:t>
            </a:r>
            <a:r>
              <a:rPr lang="en-US" altLang="zh-CN" sz="3600" b="1" u="sng" dirty="0">
                <a:solidFill>
                  <a:srgbClr val="7030A0"/>
                </a:solidFill>
              </a:rPr>
              <a:t>improvement</a:t>
            </a:r>
            <a:r>
              <a:rPr lang="zh-CN" altLang="en-US" sz="3600" b="1" u="sng" dirty="0">
                <a:solidFill>
                  <a:srgbClr val="7030A0"/>
                </a:solidFill>
              </a:rPr>
              <a:t> </a:t>
            </a:r>
            <a:r>
              <a:rPr lang="en-US" altLang="zh-CN" sz="3600" b="1" u="sng" dirty="0">
                <a:solidFill>
                  <a:srgbClr val="7030A0"/>
                </a:solidFill>
              </a:rPr>
              <a:t>of</a:t>
            </a:r>
            <a:r>
              <a:rPr lang="zh-CN" altLang="en-US" sz="3600" b="1" u="sng" dirty="0">
                <a:solidFill>
                  <a:srgbClr val="7030A0"/>
                </a:solidFill>
              </a:rPr>
              <a:t> </a:t>
            </a:r>
            <a:r>
              <a:rPr lang="en-US" altLang="zh-CN" sz="3600" b="1" u="sng" dirty="0">
                <a:solidFill>
                  <a:srgbClr val="7030A0"/>
                </a:solidFill>
              </a:rPr>
              <a:t>athletes</a:t>
            </a:r>
            <a:r>
              <a:rPr lang="en-US" altLang="zh-CN" sz="3600" b="1" dirty="0">
                <a:solidFill>
                  <a:srgbClr val="FF0000"/>
                </a:solidFill>
              </a:rPr>
              <a:t>…----</a:t>
            </a:r>
            <a:r>
              <a:rPr lang="en-US" altLang="zh-CN" sz="3600" b="1" dirty="0"/>
              <a:t>victory</a:t>
            </a:r>
          </a:p>
          <a:p>
            <a:pPr marL="0" indent="0">
              <a:buNone/>
            </a:pPr>
            <a:r>
              <a:rPr lang="en-US" altLang="zh-CN" sz="3600" b="1" dirty="0"/>
              <a:t>20.C focus on </a:t>
            </a:r>
            <a:r>
              <a:rPr lang="en-US" altLang="zh-CN" sz="3600" b="1" u="sng" dirty="0">
                <a:solidFill>
                  <a:srgbClr val="7030A0"/>
                </a:solidFill>
              </a:rPr>
              <a:t>the journey </a:t>
            </a:r>
            <a:r>
              <a:rPr lang="en-US" altLang="zh-CN" sz="3600" b="1" dirty="0"/>
              <a:t>rather than the result</a:t>
            </a:r>
          </a:p>
        </p:txBody>
      </p:sp>
    </p:spTree>
    <p:extLst>
      <p:ext uri="{BB962C8B-B14F-4D97-AF65-F5344CB8AC3E}">
        <p14:creationId xmlns:p14="http://schemas.microsoft.com/office/powerpoint/2010/main" val="15468726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dirty="0">
                <a:solidFill>
                  <a:srgbClr val="FF0000"/>
                </a:solidFill>
              </a:rPr>
              <a:t>21. calculation</a:t>
            </a:r>
            <a:r>
              <a:rPr lang="zh-CN" altLang="zh-CN" sz="3600" b="1" dirty="0">
                <a:solidFill>
                  <a:srgbClr val="FF0000"/>
                </a:solidFill>
              </a:rPr>
              <a:t>计算</a:t>
            </a:r>
            <a:r>
              <a:rPr lang="en-US" altLang="zh-CN" sz="3600" b="1" dirty="0">
                <a:solidFill>
                  <a:srgbClr val="FF0000"/>
                </a:solidFill>
              </a:rPr>
              <a:t>  calculate v.</a:t>
            </a:r>
            <a:r>
              <a:rPr lang="zh-CN" altLang="en-US" sz="3600" b="1" dirty="0">
                <a:solidFill>
                  <a:srgbClr val="FF0000"/>
                </a:solidFill>
              </a:rPr>
              <a:t>计算  </a:t>
            </a:r>
            <a:r>
              <a:rPr lang="en-US" altLang="zh-CN" sz="3600" b="1" dirty="0">
                <a:solidFill>
                  <a:srgbClr val="FF0000"/>
                </a:solidFill>
              </a:rPr>
              <a:t>calculator n.</a:t>
            </a:r>
            <a:r>
              <a:rPr lang="zh-CN" altLang="en-US" sz="3600" b="1" dirty="0">
                <a:solidFill>
                  <a:srgbClr val="FF0000"/>
                </a:solidFill>
              </a:rPr>
              <a:t>计算器 </a:t>
            </a:r>
            <a:r>
              <a:rPr lang="en-US" altLang="zh-CN" sz="3600" b="1" dirty="0">
                <a:solidFill>
                  <a:srgbClr val="FF0000"/>
                </a:solidFill>
              </a:rPr>
              <a:t>investigation</a:t>
            </a:r>
            <a:r>
              <a:rPr lang="zh-CN" altLang="zh-CN" sz="3600" b="1" dirty="0">
                <a:solidFill>
                  <a:srgbClr val="FF0000"/>
                </a:solidFill>
              </a:rPr>
              <a:t>调查</a:t>
            </a:r>
            <a:r>
              <a:rPr lang="en-US" altLang="zh-CN" sz="3600" b="1" dirty="0">
                <a:solidFill>
                  <a:srgbClr val="FF0000"/>
                </a:solidFill>
              </a:rPr>
              <a:t>   reservation</a:t>
            </a:r>
            <a:r>
              <a:rPr lang="zh-CN" altLang="zh-CN" sz="3600" b="1" dirty="0">
                <a:solidFill>
                  <a:srgbClr val="FF0000"/>
                </a:solidFill>
              </a:rPr>
              <a:t>预订</a:t>
            </a:r>
            <a:endParaRPr lang="en-US" altLang="zh-CN" sz="3600" b="1" dirty="0">
              <a:solidFill>
                <a:srgbClr val="FF0000"/>
              </a:solidFill>
            </a:endParaRPr>
          </a:p>
          <a:p>
            <a:r>
              <a:rPr lang="en-US" altLang="zh-CN" sz="3600" b="1" dirty="0">
                <a:solidFill>
                  <a:srgbClr val="FF0000"/>
                </a:solidFill>
              </a:rPr>
              <a:t>23.</a:t>
            </a:r>
            <a:r>
              <a:rPr lang="zh-CN" altLang="zh-CN" sz="3600" dirty="0"/>
              <a:t>即使在环保意识较强的加州，这项活动也不是可持续的</a:t>
            </a:r>
            <a:r>
              <a:rPr lang="zh-CN" altLang="en-US" sz="3600" dirty="0"/>
              <a:t>。</a:t>
            </a:r>
            <a:r>
              <a:rPr lang="en-US" altLang="zh-CN" sz="3600" b="1" dirty="0">
                <a:solidFill>
                  <a:srgbClr val="FF0000"/>
                </a:solidFill>
              </a:rPr>
              <a:t>sustainable</a:t>
            </a:r>
            <a:r>
              <a:rPr lang="zh-CN" altLang="zh-CN" sz="3600" b="1" dirty="0">
                <a:solidFill>
                  <a:srgbClr val="FF0000"/>
                </a:solidFill>
              </a:rPr>
              <a:t>可持续的</a:t>
            </a:r>
            <a:r>
              <a:rPr lang="en-US" altLang="zh-CN" sz="3600" b="1" dirty="0">
                <a:solidFill>
                  <a:srgbClr val="FF0000"/>
                </a:solidFill>
              </a:rPr>
              <a:t> </a:t>
            </a:r>
            <a:r>
              <a:rPr lang="en-US" altLang="zh-CN" sz="3600" b="1" dirty="0"/>
              <a:t>acceptable</a:t>
            </a:r>
            <a:r>
              <a:rPr lang="zh-CN" altLang="zh-CN" sz="3600" b="1" dirty="0"/>
              <a:t>可接受的</a:t>
            </a:r>
            <a:r>
              <a:rPr lang="en-US" altLang="zh-CN" sz="3600" b="1" dirty="0"/>
              <a:t> predictable</a:t>
            </a:r>
            <a:r>
              <a:rPr lang="zh-CN" altLang="zh-CN" sz="3600" b="1" dirty="0"/>
              <a:t>可预测的</a:t>
            </a:r>
            <a:r>
              <a:rPr lang="en-US" altLang="zh-CN" sz="3600" b="1" dirty="0"/>
              <a:t> affordable</a:t>
            </a:r>
            <a:r>
              <a:rPr lang="zh-CN" altLang="zh-CN" sz="3600" b="1" dirty="0"/>
              <a:t>负担得起的</a:t>
            </a:r>
            <a:endParaRPr lang="en-US" altLang="zh-CN" sz="3600" b="1" dirty="0"/>
          </a:p>
          <a:p>
            <a:r>
              <a:rPr lang="en-US" altLang="zh-CN" sz="3600" b="1" dirty="0">
                <a:solidFill>
                  <a:srgbClr val="FF0000"/>
                </a:solidFill>
              </a:rPr>
              <a:t>25. stimulate v.</a:t>
            </a:r>
            <a:r>
              <a:rPr lang="zh-CN" altLang="zh-CN" sz="3600" b="1" dirty="0">
                <a:solidFill>
                  <a:srgbClr val="FF0000"/>
                </a:solidFill>
              </a:rPr>
              <a:t>激发</a:t>
            </a:r>
            <a:r>
              <a:rPr lang="en-US" altLang="zh-CN" sz="3600" b="1" dirty="0">
                <a:solidFill>
                  <a:srgbClr val="FF0000"/>
                </a:solidFill>
              </a:rPr>
              <a:t>  contradict v.</a:t>
            </a:r>
            <a:r>
              <a:rPr lang="zh-CN" altLang="zh-CN" sz="3600" b="1" dirty="0">
                <a:solidFill>
                  <a:srgbClr val="FF0000"/>
                </a:solidFill>
              </a:rPr>
              <a:t>反驳</a:t>
            </a:r>
            <a:endParaRPr lang="en-US" altLang="zh-CN" sz="3600" b="1" dirty="0">
              <a:solidFill>
                <a:srgbClr val="FF0000"/>
              </a:solidFill>
            </a:endParaRPr>
          </a:p>
          <a:p>
            <a:r>
              <a:rPr lang="en-US" altLang="zh-CN" sz="3600" b="1" dirty="0">
                <a:solidFill>
                  <a:srgbClr val="FF0000"/>
                </a:solidFill>
              </a:rPr>
              <a:t>27.</a:t>
            </a:r>
            <a:r>
              <a:rPr lang="en-US" altLang="zh-CN" sz="3600" dirty="0"/>
              <a:t> </a:t>
            </a:r>
            <a:r>
              <a:rPr lang="en-US" altLang="zh-CN" sz="3600" b="1" dirty="0">
                <a:solidFill>
                  <a:srgbClr val="FF0000"/>
                </a:solidFill>
              </a:rPr>
              <a:t>order</a:t>
            </a:r>
            <a:r>
              <a:rPr lang="zh-CN" altLang="zh-CN" sz="3600" b="1" dirty="0">
                <a:solidFill>
                  <a:srgbClr val="FF0000"/>
                </a:solidFill>
              </a:rPr>
              <a:t>订购</a:t>
            </a:r>
            <a:r>
              <a:rPr lang="zh-CN" altLang="zh-CN" sz="3600" dirty="0"/>
              <a:t>了第一批这种杯子</a:t>
            </a:r>
            <a:r>
              <a:rPr lang="en-US" altLang="zh-CN" sz="3600" dirty="0"/>
              <a:t> </a:t>
            </a:r>
            <a:r>
              <a:rPr lang="en-US" altLang="zh-CN" sz="3600" b="1" dirty="0">
                <a:solidFill>
                  <a:srgbClr val="FF0000"/>
                </a:solidFill>
              </a:rPr>
              <a:t>count</a:t>
            </a:r>
            <a:r>
              <a:rPr lang="zh-CN" altLang="zh-CN" sz="3600" b="1" dirty="0">
                <a:solidFill>
                  <a:srgbClr val="FF0000"/>
                </a:solidFill>
              </a:rPr>
              <a:t>计数</a:t>
            </a:r>
            <a:r>
              <a:rPr lang="en-US" altLang="zh-CN" sz="3600" b="1" dirty="0">
                <a:solidFill>
                  <a:srgbClr val="FF0000"/>
                </a:solidFill>
              </a:rPr>
              <a:t> </a:t>
            </a:r>
          </a:p>
          <a:p>
            <a:r>
              <a:rPr lang="en-US" altLang="zh-CN" sz="3600" b="1" dirty="0">
                <a:solidFill>
                  <a:srgbClr val="FF0000"/>
                </a:solidFill>
              </a:rPr>
              <a:t>replace A with B </a:t>
            </a:r>
            <a:r>
              <a:rPr lang="zh-CN" altLang="en-US" sz="3600" b="1" dirty="0">
                <a:solidFill>
                  <a:srgbClr val="FF0000"/>
                </a:solidFill>
              </a:rPr>
              <a:t>用</a:t>
            </a:r>
            <a:r>
              <a:rPr lang="en-US" altLang="zh-CN" sz="3600" b="1" dirty="0">
                <a:solidFill>
                  <a:srgbClr val="FF0000"/>
                </a:solidFill>
              </a:rPr>
              <a:t>B</a:t>
            </a:r>
            <a:r>
              <a:rPr lang="zh-CN" altLang="zh-CN" sz="3600" b="1" dirty="0">
                <a:solidFill>
                  <a:srgbClr val="FF0000"/>
                </a:solidFill>
              </a:rPr>
              <a:t>替换</a:t>
            </a:r>
            <a:r>
              <a:rPr lang="en-US" altLang="zh-CN" sz="3600" b="1" dirty="0">
                <a:solidFill>
                  <a:srgbClr val="FF0000"/>
                </a:solidFill>
              </a:rPr>
              <a:t>A </a:t>
            </a:r>
          </a:p>
          <a:p>
            <a:r>
              <a:rPr lang="en-US" altLang="zh-CN" sz="3600" b="1" dirty="0">
                <a:solidFill>
                  <a:srgbClr val="FF0000"/>
                </a:solidFill>
              </a:rPr>
              <a:t>29. off the ground</a:t>
            </a:r>
            <a:r>
              <a:rPr lang="zh-CN" altLang="zh-CN" sz="3600" b="1" dirty="0">
                <a:solidFill>
                  <a:srgbClr val="FF0000"/>
                </a:solidFill>
              </a:rPr>
              <a:t>开始</a:t>
            </a:r>
            <a:r>
              <a:rPr lang="zh-CN" altLang="en-US" sz="3600" b="1" dirty="0">
                <a:solidFill>
                  <a:srgbClr val="FF0000"/>
                </a:solidFill>
              </a:rPr>
              <a:t>起步</a:t>
            </a:r>
            <a:r>
              <a:rPr lang="en-US" altLang="zh-CN" sz="3600" b="1" dirty="0">
                <a:solidFill>
                  <a:srgbClr val="FF0000"/>
                </a:solidFill>
              </a:rPr>
              <a:t> on the shelf</a:t>
            </a:r>
            <a:r>
              <a:rPr lang="zh-CN" altLang="en-US" sz="3600" b="1" dirty="0">
                <a:solidFill>
                  <a:srgbClr val="FF0000"/>
                </a:solidFill>
              </a:rPr>
              <a:t>被</a:t>
            </a:r>
            <a:r>
              <a:rPr lang="zh-CN" altLang="zh-CN" sz="3600" b="1" dirty="0">
                <a:solidFill>
                  <a:srgbClr val="FF0000"/>
                </a:solidFill>
              </a:rPr>
              <a:t>搁置</a:t>
            </a:r>
            <a:r>
              <a:rPr lang="en-US" altLang="zh-CN" sz="3600" b="1" dirty="0">
                <a:solidFill>
                  <a:srgbClr val="FF0000"/>
                </a:solidFill>
              </a:rPr>
              <a:t> </a:t>
            </a:r>
          </a:p>
          <a:p>
            <a:r>
              <a:rPr lang="en-US" altLang="zh-CN" sz="3600" b="1" dirty="0">
                <a:solidFill>
                  <a:srgbClr val="FF0000"/>
                </a:solidFill>
              </a:rPr>
              <a:t>between the lines</a:t>
            </a:r>
            <a:r>
              <a:rPr lang="zh-CN" altLang="zh-CN" sz="3600" b="1" dirty="0">
                <a:solidFill>
                  <a:srgbClr val="FF0000"/>
                </a:solidFill>
              </a:rPr>
              <a:t>言外之意</a:t>
            </a:r>
            <a:r>
              <a:rPr lang="en-US" altLang="zh-CN" sz="3600" b="1" dirty="0">
                <a:solidFill>
                  <a:srgbClr val="FF0000"/>
                </a:solidFill>
              </a:rPr>
              <a:t> behind the scenes</a:t>
            </a:r>
            <a:r>
              <a:rPr lang="zh-CN" altLang="zh-CN" sz="3600" b="1" dirty="0">
                <a:solidFill>
                  <a:srgbClr val="FF0000"/>
                </a:solidFill>
              </a:rPr>
              <a:t>幕后</a:t>
            </a:r>
            <a:endParaRPr lang="en-US" altLang="zh-CN" sz="3600" b="1" dirty="0">
              <a:solidFill>
                <a:srgbClr val="FF0000"/>
              </a:solidFill>
            </a:endParaRPr>
          </a:p>
          <a:p>
            <a:r>
              <a:rPr lang="en-US" altLang="zh-CN" sz="3600" b="1" dirty="0">
                <a:solidFill>
                  <a:srgbClr val="FF0000"/>
                </a:solidFill>
              </a:rPr>
              <a:t>30.</a:t>
            </a:r>
            <a:r>
              <a:rPr lang="zh-CN" altLang="zh-CN" sz="3600" dirty="0"/>
              <a:t>免于被送到垃圾填埋场</a:t>
            </a:r>
            <a:r>
              <a:rPr lang="en-US" altLang="zh-CN" sz="3600" dirty="0"/>
              <a:t> </a:t>
            </a:r>
            <a:r>
              <a:rPr lang="en-US" altLang="zh-CN" sz="3600" b="1" dirty="0">
                <a:solidFill>
                  <a:srgbClr val="FF0000"/>
                </a:solidFill>
              </a:rPr>
              <a:t>spare</a:t>
            </a:r>
            <a:r>
              <a:rPr lang="zh-CN" altLang="zh-CN" sz="3600" b="1" dirty="0">
                <a:solidFill>
                  <a:srgbClr val="FF0000"/>
                </a:solidFill>
              </a:rPr>
              <a:t>使免于</a:t>
            </a:r>
            <a:r>
              <a:rPr lang="en-US" altLang="zh-CN" sz="3600" b="1" dirty="0">
                <a:solidFill>
                  <a:srgbClr val="FF0000"/>
                </a:solidFill>
              </a:rPr>
              <a:t> </a:t>
            </a:r>
            <a:r>
              <a:rPr lang="en-US" altLang="zh-CN" sz="3600" b="1" dirty="0"/>
              <a:t>collect</a:t>
            </a:r>
            <a:r>
              <a:rPr lang="zh-CN" altLang="zh-CN" sz="3600" b="1" dirty="0"/>
              <a:t>收集</a:t>
            </a:r>
            <a:r>
              <a:rPr lang="en-US" altLang="zh-CN" sz="3600" b="1" dirty="0"/>
              <a:t> </a:t>
            </a:r>
            <a:r>
              <a:rPr lang="en-US" altLang="zh-CN" sz="3600" b="1" dirty="0">
                <a:solidFill>
                  <a:srgbClr val="FF0000"/>
                </a:solidFill>
              </a:rPr>
              <a:t>distribute</a:t>
            </a:r>
            <a:r>
              <a:rPr lang="zh-CN" altLang="zh-CN" sz="3600" b="1" dirty="0">
                <a:solidFill>
                  <a:srgbClr val="FF0000"/>
                </a:solidFill>
              </a:rPr>
              <a:t>分配</a:t>
            </a:r>
            <a:r>
              <a:rPr lang="en-US" altLang="zh-CN" sz="3600" b="1" dirty="0">
                <a:solidFill>
                  <a:srgbClr val="FF0000"/>
                </a:solidFill>
              </a:rPr>
              <a:t>    32.</a:t>
            </a:r>
            <a:r>
              <a:rPr lang="en-US" altLang="zh-CN" sz="3600" dirty="0"/>
              <a:t> </a:t>
            </a:r>
            <a:r>
              <a:rPr lang="en-US" altLang="zh-CN" sz="3600" b="1" dirty="0"/>
              <a:t>disadvantage</a:t>
            </a:r>
            <a:r>
              <a:rPr lang="zh-CN" altLang="zh-CN" sz="3600" b="1" dirty="0"/>
              <a:t>缺点</a:t>
            </a:r>
            <a:r>
              <a:rPr lang="en-US" altLang="zh-CN" sz="3600" b="1" dirty="0"/>
              <a:t> rental n.</a:t>
            </a:r>
            <a:r>
              <a:rPr lang="zh-CN" altLang="en-US" sz="3600" b="1" dirty="0"/>
              <a:t>租金</a:t>
            </a:r>
            <a:endParaRPr lang="en-US" altLang="zh-CN" sz="3600" b="1" dirty="0"/>
          </a:p>
        </p:txBody>
      </p:sp>
    </p:spTree>
    <p:extLst>
      <p:ext uri="{BB962C8B-B14F-4D97-AF65-F5344CB8AC3E}">
        <p14:creationId xmlns:p14="http://schemas.microsoft.com/office/powerpoint/2010/main" val="2621012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33.</a:t>
            </a:r>
            <a:r>
              <a:rPr lang="zh-CN" altLang="zh-CN" sz="3600" dirty="0"/>
              <a:t>虽然这个解决方案不能完全</a:t>
            </a:r>
            <a:r>
              <a:rPr lang="zh-CN" altLang="zh-CN" sz="3600" b="1" u="sng" dirty="0">
                <a:solidFill>
                  <a:srgbClr val="FF0000"/>
                </a:solidFill>
              </a:rPr>
              <a:t>解决问题</a:t>
            </a:r>
            <a:r>
              <a:rPr lang="en-US" altLang="zh-CN" sz="3600" b="1" u="sng" dirty="0">
                <a:solidFill>
                  <a:srgbClr val="FF0000"/>
                </a:solidFill>
              </a:rPr>
              <a:t>tackle the issue</a:t>
            </a:r>
            <a:r>
              <a:rPr lang="zh-CN" altLang="zh-CN" sz="3600" dirty="0"/>
              <a:t>，但实用性是存在的。</a:t>
            </a:r>
            <a:r>
              <a:rPr lang="en-US" altLang="zh-CN" sz="3600" b="1" dirty="0">
                <a:solidFill>
                  <a:srgbClr val="FF0000"/>
                </a:solidFill>
              </a:rPr>
              <a:t>demonstrate</a:t>
            </a:r>
            <a:r>
              <a:rPr lang="zh-CN" altLang="zh-CN" sz="3600" b="1" dirty="0">
                <a:solidFill>
                  <a:srgbClr val="FF0000"/>
                </a:solidFill>
              </a:rPr>
              <a:t>展示</a:t>
            </a:r>
            <a:endParaRPr lang="en-US" altLang="zh-CN" sz="3600" b="1" dirty="0">
              <a:solidFill>
                <a:srgbClr val="FF0000"/>
              </a:solidFill>
            </a:endParaRPr>
          </a:p>
          <a:p>
            <a:r>
              <a:rPr lang="en-US" altLang="zh-CN" sz="3600" b="1" dirty="0">
                <a:solidFill>
                  <a:srgbClr val="FF0000"/>
                </a:solidFill>
              </a:rPr>
              <a:t>34-35adoption</a:t>
            </a:r>
            <a:r>
              <a:rPr lang="zh-CN" altLang="zh-CN" sz="3600" b="1" dirty="0">
                <a:solidFill>
                  <a:srgbClr val="FF0000"/>
                </a:solidFill>
              </a:rPr>
              <a:t>采用</a:t>
            </a:r>
            <a:r>
              <a:rPr lang="en-US" altLang="zh-CN" sz="3600" dirty="0"/>
              <a:t> </a:t>
            </a:r>
            <a:r>
              <a:rPr lang="en-US" altLang="zh-CN" sz="3600" b="1" dirty="0"/>
              <a:t>demand</a:t>
            </a:r>
            <a:r>
              <a:rPr lang="zh-CN" altLang="zh-CN" sz="3600" b="1" dirty="0"/>
              <a:t>需求</a:t>
            </a:r>
            <a:r>
              <a:rPr lang="en-US" altLang="zh-CN" sz="3600" b="1" dirty="0"/>
              <a:t> </a:t>
            </a:r>
            <a:r>
              <a:rPr lang="en-US" altLang="zh-CN" sz="3600" b="1" dirty="0">
                <a:solidFill>
                  <a:srgbClr val="FF0000"/>
                </a:solidFill>
              </a:rPr>
              <a:t>volume</a:t>
            </a:r>
            <a:r>
              <a:rPr lang="zh-CN" altLang="zh-CN" sz="3600" b="1" dirty="0">
                <a:solidFill>
                  <a:srgbClr val="FF0000"/>
                </a:solidFill>
              </a:rPr>
              <a:t>数量</a:t>
            </a:r>
            <a:endParaRPr lang="en-US" altLang="zh-CN" sz="3600" b="1" dirty="0">
              <a:solidFill>
                <a:srgbClr val="FF0000"/>
              </a:solidFill>
            </a:endParaRPr>
          </a:p>
          <a:p>
            <a:r>
              <a:rPr lang="zh-CN" altLang="zh-CN" sz="3600" dirty="0"/>
              <a:t>这种解决方案的高采用率有助于降低成本，并真</a:t>
            </a:r>
            <a:r>
              <a:rPr lang="en-US" altLang="zh-CN" sz="3600" dirty="0"/>
              <a:t>*</a:t>
            </a:r>
            <a:r>
              <a:rPr lang="zh-CN" altLang="zh-CN" sz="3600" dirty="0"/>
              <a:t>正最大化我们能获得的</a:t>
            </a:r>
            <a:r>
              <a:rPr lang="zh-CN" altLang="zh-CN" sz="3600" b="1" dirty="0">
                <a:solidFill>
                  <a:srgbClr val="FF0000"/>
                </a:solidFill>
              </a:rPr>
              <a:t>环境效益</a:t>
            </a:r>
            <a:r>
              <a:rPr lang="en-US" altLang="zh-CN" sz="3600" b="1" dirty="0">
                <a:solidFill>
                  <a:srgbClr val="FF0000"/>
                </a:solidFill>
              </a:rPr>
              <a:t>environmental benefits</a:t>
            </a:r>
            <a:r>
              <a:rPr lang="zh-CN" altLang="zh-CN" sz="3600" b="1" dirty="0">
                <a:solidFill>
                  <a:srgbClr val="FF0000"/>
                </a:solidFill>
              </a:rPr>
              <a:t>效益</a:t>
            </a:r>
          </a:p>
          <a:p>
            <a:endParaRPr lang="zh-CN" altLang="zh-CN" sz="3600" b="1" dirty="0">
              <a:solidFill>
                <a:srgbClr val="FF0000"/>
              </a:solidFill>
            </a:endParaRPr>
          </a:p>
          <a:p>
            <a:r>
              <a:rPr lang="zh-CN" altLang="zh-CN" sz="3600" b="1" dirty="0">
                <a:solidFill>
                  <a:srgbClr val="FF0000"/>
                </a:solidFill>
              </a:rPr>
              <a:t>山东卷</a:t>
            </a:r>
            <a:r>
              <a:rPr lang="en-US" altLang="zh-CN" sz="3600" b="1" dirty="0">
                <a:solidFill>
                  <a:srgbClr val="FF0000"/>
                </a:solidFill>
              </a:rPr>
              <a:t>   initial resistance </a:t>
            </a:r>
            <a:r>
              <a:rPr lang="zh-CN" altLang="en-US" sz="3600" b="1" dirty="0">
                <a:solidFill>
                  <a:srgbClr val="FF0000"/>
                </a:solidFill>
              </a:rPr>
              <a:t>最初的阻力</a:t>
            </a:r>
            <a:endParaRPr lang="en-US" altLang="zh-CN" sz="3600" b="1" dirty="0">
              <a:solidFill>
                <a:srgbClr val="FF0000"/>
              </a:solidFill>
            </a:endParaRPr>
          </a:p>
          <a:p>
            <a:r>
              <a:rPr lang="en-US" altLang="zh-CN" sz="3600" b="1" dirty="0">
                <a:solidFill>
                  <a:schemeClr val="tx1"/>
                </a:solidFill>
              </a:rPr>
              <a:t>clowning degree</a:t>
            </a:r>
            <a:r>
              <a:rPr lang="en-US" altLang="zh-CN" sz="3600" b="1" dirty="0">
                <a:solidFill>
                  <a:srgbClr val="FF0000"/>
                </a:solidFill>
              </a:rPr>
              <a:t> encompassing </a:t>
            </a:r>
            <a:r>
              <a:rPr lang="en-US" altLang="zh-CN" sz="3600" b="1" dirty="0">
                <a:solidFill>
                  <a:schemeClr val="tx1"/>
                </a:solidFill>
              </a:rPr>
              <a:t>anthropology, theater and education</a:t>
            </a:r>
            <a:r>
              <a:rPr lang="zh-CN" altLang="en-US" sz="3600" b="1" dirty="0">
                <a:solidFill>
                  <a:schemeClr val="tx1"/>
                </a:solidFill>
              </a:rPr>
              <a:t>小丑学位</a:t>
            </a:r>
            <a:r>
              <a:rPr lang="zh-CN" altLang="en-US" sz="3600" b="1" dirty="0">
                <a:solidFill>
                  <a:srgbClr val="FF0000"/>
                </a:solidFill>
              </a:rPr>
              <a:t>包括</a:t>
            </a:r>
            <a:r>
              <a:rPr lang="zh-CN" altLang="en-US" sz="3600" b="1" dirty="0">
                <a:solidFill>
                  <a:schemeClr val="tx1"/>
                </a:solidFill>
              </a:rPr>
              <a:t>人类学，戏剧和教育</a:t>
            </a:r>
          </a:p>
          <a:p>
            <a:r>
              <a:rPr lang="zh-CN" altLang="en-US" sz="3600" b="1" dirty="0">
                <a:solidFill>
                  <a:srgbClr val="FF0000"/>
                </a:solidFill>
              </a:rPr>
              <a:t> </a:t>
            </a:r>
            <a:r>
              <a:rPr lang="en-US" altLang="zh-CN" sz="3600" b="1" dirty="0">
                <a:solidFill>
                  <a:srgbClr val="FF0000"/>
                </a:solidFill>
              </a:rPr>
              <a:t>learned adj.</a:t>
            </a:r>
            <a:r>
              <a:rPr lang="zh-CN" altLang="en-US" sz="3600" b="1" dirty="0">
                <a:solidFill>
                  <a:srgbClr val="FF0000"/>
                </a:solidFill>
              </a:rPr>
              <a:t>博学的</a:t>
            </a:r>
          </a:p>
          <a:p>
            <a:r>
              <a:rPr lang="en-US" altLang="zh-CN" sz="3600" b="1" dirty="0">
                <a:solidFill>
                  <a:srgbClr val="FF0000"/>
                </a:solidFill>
              </a:rPr>
              <a:t> do chores</a:t>
            </a:r>
            <a:r>
              <a:rPr lang="zh-CN" altLang="en-US" sz="3600" b="1" dirty="0">
                <a:solidFill>
                  <a:srgbClr val="FF0000"/>
                </a:solidFill>
              </a:rPr>
              <a:t>做家务</a:t>
            </a:r>
          </a:p>
        </p:txBody>
      </p:sp>
    </p:spTree>
    <p:extLst>
      <p:ext uri="{BB962C8B-B14F-4D97-AF65-F5344CB8AC3E}">
        <p14:creationId xmlns:p14="http://schemas.microsoft.com/office/powerpoint/2010/main" val="1123867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20000"/>
          </a:bodyPr>
          <a:lstStyle/>
          <a:p>
            <a:pPr algn="just"/>
            <a:r>
              <a:rPr lang="en-US" altLang="zh-CN" sz="3600" b="1" dirty="0">
                <a:solidFill>
                  <a:srgbClr val="FF0000"/>
                </a:solidFill>
              </a:rPr>
              <a:t>    </a:t>
            </a:r>
            <a:r>
              <a:rPr lang="en-US" altLang="zh-CN" sz="3600" b="1" u="sng" dirty="0">
                <a:solidFill>
                  <a:srgbClr val="FF0000"/>
                </a:solidFill>
              </a:rPr>
              <a:t>Now</a:t>
            </a:r>
            <a:r>
              <a:rPr lang="en-US" altLang="zh-CN" sz="3600" b="1" u="sng" dirty="0">
                <a:solidFill>
                  <a:srgbClr val="FF0000"/>
                </a:solidFill>
                <a:highlight>
                  <a:srgbClr val="FFFF00"/>
                </a:highlight>
              </a:rPr>
              <a:t>a</a:t>
            </a:r>
            <a:r>
              <a:rPr lang="en-US" altLang="zh-CN" sz="3600" b="1" u="sng" dirty="0">
                <a:solidFill>
                  <a:srgbClr val="FF0000"/>
                </a:solidFill>
              </a:rPr>
              <a:t>day</a:t>
            </a:r>
            <a:r>
              <a:rPr lang="en-US" altLang="zh-CN" sz="3600" b="1" u="sng" dirty="0">
                <a:solidFill>
                  <a:srgbClr val="FF0000"/>
                </a:solidFill>
                <a:highlight>
                  <a:srgbClr val="FFFF00"/>
                </a:highlight>
              </a:rPr>
              <a:t>s,</a:t>
            </a:r>
            <a:r>
              <a:rPr lang="en-US" altLang="zh-CN" sz="3600" b="1" u="sng" dirty="0">
                <a:solidFill>
                  <a:srgbClr val="FF0000"/>
                </a:solidFill>
              </a:rPr>
              <a:t> an increasing number</a:t>
            </a:r>
            <a:r>
              <a:rPr lang="en-US" altLang="zh-CN" sz="3600" b="1" dirty="0">
                <a:solidFill>
                  <a:schemeClr val="tx1"/>
                </a:solidFill>
              </a:rPr>
              <a:t> of people rely on online news media to</a:t>
            </a:r>
            <a:r>
              <a:rPr lang="en-US" altLang="zh-CN" sz="3600" b="1" u="sng" dirty="0">
                <a:solidFill>
                  <a:srgbClr val="FF0000"/>
                </a:solidFill>
              </a:rPr>
              <a:t> access information </a:t>
            </a:r>
            <a:r>
              <a:rPr lang="en-US" altLang="zh-CN" sz="3600" b="1" dirty="0">
                <a:solidFill>
                  <a:srgbClr val="FF0000"/>
                </a:solidFill>
              </a:rPr>
              <a:t>rather than </a:t>
            </a:r>
            <a:r>
              <a:rPr lang="en-US" altLang="zh-CN" sz="3600" b="1" dirty="0">
                <a:solidFill>
                  <a:schemeClr val="tx1"/>
                </a:solidFill>
              </a:rPr>
              <a:t>traditional newspapers and magazines, </a:t>
            </a:r>
            <a:r>
              <a:rPr lang="en-US" altLang="zh-CN" sz="3600" b="1" u="sng" dirty="0">
                <a:solidFill>
                  <a:srgbClr val="FF0000"/>
                </a:solidFill>
              </a:rPr>
              <a:t>thus raising a question</a:t>
            </a:r>
            <a:r>
              <a:rPr lang="en-US" altLang="zh-CN" sz="3600" b="1" dirty="0">
                <a:solidFill>
                  <a:schemeClr val="tx1"/>
                </a:solidFill>
              </a:rPr>
              <a:t> of</a:t>
            </a:r>
            <a:r>
              <a:rPr lang="en-US" altLang="zh-CN" sz="3600" b="1" dirty="0">
                <a:solidFill>
                  <a:srgbClr val="FF0000"/>
                </a:solidFill>
              </a:rPr>
              <a:t> </a:t>
            </a:r>
            <a:r>
              <a:rPr lang="en-US" altLang="zh-CN" sz="3600" b="1" dirty="0">
                <a:solidFill>
                  <a:schemeClr val="tx1"/>
                </a:solidFill>
              </a:rPr>
              <a:t>whether traditional media will be replaced and </a:t>
            </a:r>
            <a:r>
              <a:rPr lang="en-US" altLang="zh-CN" sz="3600" b="1" u="sng" dirty="0">
                <a:solidFill>
                  <a:srgbClr val="FF0000"/>
                </a:solidFill>
              </a:rPr>
              <a:t>go extinct.</a:t>
            </a:r>
          </a:p>
          <a:p>
            <a:pPr algn="just"/>
            <a:r>
              <a:rPr lang="zh-CN" altLang="en-US" sz="3600" b="1" dirty="0">
                <a:sym typeface="+mn-ea"/>
              </a:rPr>
              <a:t>如今，越来越多的人依靠网络新闻媒体而不是传统的报纸和杂志来获取信息，这就提出了传统媒体是否会被取代和灭绝的问题。</a:t>
            </a:r>
            <a:endParaRPr lang="en-US" altLang="zh-CN" sz="3600" b="1" dirty="0">
              <a:solidFill>
                <a:srgbClr val="FF0000"/>
              </a:solidFill>
            </a:endParaRPr>
          </a:p>
          <a:p>
            <a:pPr marL="0" indent="0" algn="just">
              <a:buNone/>
            </a:pPr>
            <a:r>
              <a:rPr lang="en-US" altLang="zh-CN" sz="3600" b="1" dirty="0">
                <a:solidFill>
                  <a:srgbClr val="FF0000"/>
                </a:solidFill>
              </a:rPr>
              <a:t>      </a:t>
            </a:r>
            <a:r>
              <a:rPr lang="en-US" altLang="zh-CN" sz="3600" b="1" dirty="0">
                <a:solidFill>
                  <a:schemeClr val="tx1"/>
                </a:solidFill>
              </a:rPr>
              <a:t>Newspapers and magazines offer a more </a:t>
            </a:r>
            <a:r>
              <a:rPr lang="en-US" altLang="zh-CN" sz="3600" b="1" u="sng" dirty="0">
                <a:solidFill>
                  <a:srgbClr val="FF0000"/>
                </a:solidFill>
              </a:rPr>
              <a:t>in-depth and detailed coverage </a:t>
            </a:r>
            <a:r>
              <a:rPr lang="en-US" altLang="zh-CN" sz="3600" b="1" dirty="0">
                <a:solidFill>
                  <a:schemeClr val="tx1"/>
                </a:solidFill>
              </a:rPr>
              <a:t>of news, </a:t>
            </a:r>
            <a:r>
              <a:rPr lang="en-US" altLang="zh-CN" sz="3600" b="1" u="sng" dirty="0">
                <a:solidFill>
                  <a:srgbClr val="FF0000"/>
                </a:solidFill>
              </a:rPr>
              <a:t>allowing </a:t>
            </a:r>
            <a:r>
              <a:rPr lang="en-US" altLang="zh-CN" sz="3600" b="1" dirty="0">
                <a:solidFill>
                  <a:schemeClr val="tx1"/>
                </a:solidFill>
              </a:rPr>
              <a:t>readers to have a </a:t>
            </a:r>
            <a:r>
              <a:rPr lang="en-US" altLang="zh-CN" sz="3600" b="1" u="sng" dirty="0">
                <a:solidFill>
                  <a:srgbClr val="FF0000"/>
                </a:solidFill>
              </a:rPr>
              <a:t>comprehensive </a:t>
            </a:r>
            <a:r>
              <a:rPr lang="en-US" altLang="zh-CN" sz="3600" b="1" dirty="0">
                <a:solidFill>
                  <a:schemeClr val="tx1"/>
                </a:solidFill>
              </a:rPr>
              <a:t>understanding.</a:t>
            </a:r>
            <a:r>
              <a:rPr lang="zh-CN" altLang="en-US" sz="3600" b="1" dirty="0">
                <a:sym typeface="+mn-ea"/>
              </a:rPr>
              <a:t>纸媒有其独特的优势。报纸和杂志对新闻的报道更加深入和详细，让读者有一个全面的了解。</a:t>
            </a:r>
            <a:r>
              <a:rPr lang="en-US" altLang="zh-CN" sz="3600" b="1" dirty="0">
                <a:solidFill>
                  <a:schemeClr val="tx1"/>
                </a:solidFill>
              </a:rPr>
              <a:t> </a:t>
            </a:r>
          </a:p>
          <a:p>
            <a:pPr marL="0" indent="0" algn="just">
              <a:buNone/>
            </a:pPr>
            <a:r>
              <a:rPr lang="en-US" altLang="zh-CN" sz="3600" b="1" dirty="0">
                <a:solidFill>
                  <a:srgbClr val="FF0000"/>
                </a:solidFill>
              </a:rPr>
              <a:t> </a:t>
            </a:r>
            <a:r>
              <a:rPr lang="en-US" altLang="zh-CN" sz="3600" b="1" u="sng" dirty="0">
                <a:solidFill>
                  <a:srgbClr val="FF0000"/>
                </a:solidFill>
              </a:rPr>
              <a:t>Additionally,</a:t>
            </a:r>
            <a:r>
              <a:rPr lang="en-US" altLang="zh-CN" sz="3600" b="1" dirty="0">
                <a:solidFill>
                  <a:srgbClr val="FF0000"/>
                </a:solidFill>
              </a:rPr>
              <a:t> </a:t>
            </a:r>
            <a:r>
              <a:rPr lang="en-US" altLang="zh-CN" sz="3600" b="1" dirty="0">
                <a:solidFill>
                  <a:schemeClr val="tx1"/>
                </a:solidFill>
              </a:rPr>
              <a:t>print media has established </a:t>
            </a:r>
            <a:r>
              <a:rPr lang="zh-CN" altLang="en-US" sz="3600" b="1" u="sng" dirty="0">
                <a:solidFill>
                  <a:srgbClr val="FF0000"/>
                </a:solidFill>
                <a:sym typeface="+mn-ea"/>
              </a:rPr>
              <a:t>a h</a:t>
            </a:r>
            <a:r>
              <a:rPr lang="en-US" altLang="zh-CN" sz="3600" b="1" u="sng" dirty="0">
                <a:solidFill>
                  <a:srgbClr val="FF0000"/>
                </a:solidFill>
              </a:rPr>
              <a:t>igh level of credibility </a:t>
            </a:r>
            <a:r>
              <a:rPr lang="en-US" altLang="zh-CN" sz="3600" b="1" dirty="0">
                <a:solidFill>
                  <a:schemeClr val="tx1"/>
                </a:solidFill>
              </a:rPr>
              <a:t>over time,</a:t>
            </a:r>
            <a:r>
              <a:rPr lang="en-US" altLang="zh-CN" sz="3600" b="1" dirty="0">
                <a:solidFill>
                  <a:srgbClr val="FF0000"/>
                </a:solidFill>
              </a:rPr>
              <a:t> </a:t>
            </a:r>
            <a:r>
              <a:rPr lang="en-US" altLang="zh-CN" sz="3600" b="1" u="sng" dirty="0">
                <a:solidFill>
                  <a:srgbClr val="FF0000"/>
                </a:solidFill>
              </a:rPr>
              <a:t>making </a:t>
            </a:r>
            <a:r>
              <a:rPr lang="en-US" altLang="zh-CN" sz="3600" b="1" dirty="0">
                <a:solidFill>
                  <a:schemeClr val="tx1"/>
                </a:solidFill>
              </a:rPr>
              <a:t>it a</a:t>
            </a:r>
            <a:r>
              <a:rPr lang="en-US" altLang="zh-CN" sz="3600" b="1" dirty="0">
                <a:solidFill>
                  <a:srgbClr val="FF0000"/>
                </a:solidFill>
              </a:rPr>
              <a:t> reliable </a:t>
            </a:r>
            <a:r>
              <a:rPr lang="en-US" altLang="zh-CN" sz="3600" b="1" dirty="0">
                <a:solidFill>
                  <a:schemeClr val="tx1"/>
                </a:solidFill>
              </a:rPr>
              <a:t>source of information.</a:t>
            </a:r>
            <a:r>
              <a:rPr lang="zh-CN" altLang="en-US" sz="3600" b="1" dirty="0">
                <a:sym typeface="+mn-ea"/>
              </a:rPr>
              <a:t>此外，随着时间的推移，印刷媒体已经建立了高度的可信度，使其成为可靠的信息来源。</a:t>
            </a:r>
            <a:endParaRPr lang="en-US" altLang="zh-CN" sz="3600" b="1" dirty="0">
              <a:solidFill>
                <a:srgbClr val="FF0000"/>
              </a:solidFill>
            </a:endParaRPr>
          </a:p>
          <a:p>
            <a:pPr marL="0" indent="0" algn="just">
              <a:buNone/>
            </a:pPr>
            <a:r>
              <a:rPr lang="en-US" altLang="zh-CN" sz="3600" b="1" dirty="0">
                <a:solidFill>
                  <a:srgbClr val="FF0000"/>
                </a:solidFill>
              </a:rPr>
              <a:t>     </a:t>
            </a:r>
            <a:r>
              <a:rPr lang="en-US" altLang="zh-CN" sz="3600" b="1" u="sng" dirty="0">
                <a:solidFill>
                  <a:srgbClr val="FF0000"/>
                </a:solidFill>
              </a:rPr>
              <a:t>To sum up, </a:t>
            </a:r>
            <a:r>
              <a:rPr lang="en-US" altLang="zh-CN" sz="3600" b="1" dirty="0">
                <a:solidFill>
                  <a:schemeClr val="tx1"/>
                </a:solidFill>
              </a:rPr>
              <a:t>print media will </a:t>
            </a:r>
            <a:r>
              <a:rPr lang="en-US" altLang="zh-CN" sz="3600" b="1" u="sng" dirty="0">
                <a:solidFill>
                  <a:srgbClr val="FF0000"/>
                </a:solidFill>
              </a:rPr>
              <a:t>coexist with online media</a:t>
            </a:r>
            <a:r>
              <a:rPr lang="en-US" altLang="zh-CN" sz="3600" b="1" dirty="0">
                <a:solidFill>
                  <a:schemeClr val="tx1"/>
                </a:solidFill>
              </a:rPr>
              <a:t>, each </a:t>
            </a:r>
            <a:r>
              <a:rPr lang="en-US" altLang="zh-CN" sz="3600" b="1" u="sng" dirty="0">
                <a:solidFill>
                  <a:srgbClr val="FF0000"/>
                </a:solidFill>
              </a:rPr>
              <a:t>playing </a:t>
            </a:r>
            <a:r>
              <a:rPr lang="en-US" altLang="zh-CN" sz="3600" b="1" dirty="0">
                <a:solidFill>
                  <a:schemeClr val="tx1"/>
                </a:solidFill>
              </a:rPr>
              <a:t>its own unique role.</a:t>
            </a:r>
            <a:r>
              <a:rPr lang="zh-CN" altLang="en-US" sz="3600" b="1" dirty="0">
                <a:sym typeface="+mn-ea"/>
              </a:rPr>
              <a:t>综上所述，纸媒将与网络媒体共存，各有其独特的作用。</a:t>
            </a:r>
            <a:endParaRPr lang="zh-CN" altLang="en-US" sz="3600" b="1" u="sng" dirty="0">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7500" lnSpcReduction="10000"/>
          </a:bodyPr>
          <a:lstStyle/>
          <a:p>
            <a:r>
              <a:rPr lang="en-US" altLang="zh-CN" sz="3600" b="1" dirty="0">
                <a:solidFill>
                  <a:srgbClr val="7030A0"/>
                </a:solidFill>
                <a:highlight>
                  <a:srgbClr val="FFFF00"/>
                </a:highlight>
              </a:rPr>
              <a:t> </a:t>
            </a:r>
            <a:r>
              <a:rPr lang="zh-CN" altLang="en-US" sz="3600" b="1" dirty="0">
                <a:solidFill>
                  <a:srgbClr val="7030A0"/>
                </a:solidFill>
                <a:highlight>
                  <a:srgbClr val="FFFF00"/>
                </a:highlight>
              </a:rPr>
              <a:t>期中卷</a:t>
            </a:r>
            <a:r>
              <a:rPr lang="en-US" altLang="zh-CN" sz="3600" b="1" dirty="0">
                <a:solidFill>
                  <a:srgbClr val="7030A0"/>
                </a:solidFill>
                <a:highlight>
                  <a:srgbClr val="FFFF00"/>
                </a:highlight>
              </a:rPr>
              <a:t> </a:t>
            </a:r>
            <a:r>
              <a:rPr lang="en-US" altLang="zh-CN" sz="3600" b="1" dirty="0">
                <a:solidFill>
                  <a:srgbClr val="FF0000"/>
                </a:solidFill>
              </a:rPr>
              <a:t>receptionist</a:t>
            </a:r>
            <a:r>
              <a:rPr lang="zh-CN" altLang="en-US" sz="3600" b="1" dirty="0">
                <a:solidFill>
                  <a:srgbClr val="FF0000"/>
                </a:solidFill>
              </a:rPr>
              <a:t>接待员</a:t>
            </a:r>
            <a:r>
              <a:rPr lang="en-US" altLang="zh-CN" sz="3600" b="1" dirty="0">
                <a:solidFill>
                  <a:srgbClr val="FF0000"/>
                </a:solidFill>
              </a:rPr>
              <a:t>;</a:t>
            </a:r>
            <a:r>
              <a:rPr lang="zh-CN" altLang="en-US" sz="3600" b="1" dirty="0">
                <a:solidFill>
                  <a:srgbClr val="FF0000"/>
                </a:solidFill>
              </a:rPr>
              <a:t>前台</a:t>
            </a:r>
            <a:r>
              <a:rPr lang="en-US" altLang="zh-CN" sz="3600" b="1" dirty="0">
                <a:solidFill>
                  <a:srgbClr val="FF0000"/>
                </a:solidFill>
              </a:rPr>
              <a:t> constructor</a:t>
            </a:r>
            <a:r>
              <a:rPr lang="zh-CN" altLang="en-US" sz="3600" b="1" dirty="0">
                <a:solidFill>
                  <a:srgbClr val="FF0000"/>
                </a:solidFill>
              </a:rPr>
              <a:t>建造者</a:t>
            </a:r>
            <a:endParaRPr lang="en-US" altLang="zh-CN" sz="3600" b="1" dirty="0">
              <a:solidFill>
                <a:srgbClr val="FF0000"/>
              </a:solidFill>
            </a:endParaRPr>
          </a:p>
          <a:p>
            <a:r>
              <a:rPr lang="en-US" altLang="zh-CN" sz="3600" b="1" dirty="0">
                <a:solidFill>
                  <a:srgbClr val="FF0000"/>
                </a:solidFill>
              </a:rPr>
              <a:t> relieved</a:t>
            </a:r>
            <a:r>
              <a:rPr lang="zh-CN" altLang="en-US" sz="3600" b="1" dirty="0">
                <a:solidFill>
                  <a:srgbClr val="FF0000"/>
                </a:solidFill>
              </a:rPr>
              <a:t>宽慰的</a:t>
            </a:r>
            <a:r>
              <a:rPr lang="en-US" altLang="zh-CN" sz="3600" b="1" dirty="0">
                <a:solidFill>
                  <a:srgbClr val="FF0000"/>
                </a:solidFill>
              </a:rPr>
              <a:t> science fiction</a:t>
            </a:r>
            <a:r>
              <a:rPr lang="zh-CN" altLang="en-US" sz="3600" b="1" dirty="0">
                <a:solidFill>
                  <a:srgbClr val="FF0000"/>
                </a:solidFill>
              </a:rPr>
              <a:t>科幻小说</a:t>
            </a:r>
            <a:r>
              <a:rPr lang="en-US" altLang="zh-CN" sz="3600" b="1" dirty="0">
                <a:solidFill>
                  <a:srgbClr val="FF0000"/>
                </a:solidFill>
              </a:rPr>
              <a:t> </a:t>
            </a:r>
          </a:p>
          <a:p>
            <a:r>
              <a:rPr lang="en-US" altLang="zh-CN" sz="3600" b="1" dirty="0">
                <a:solidFill>
                  <a:srgbClr val="FF0000"/>
                </a:solidFill>
              </a:rPr>
              <a:t> get recgnition</a:t>
            </a:r>
            <a:r>
              <a:rPr lang="zh-CN" altLang="en-US" sz="3600" b="1" dirty="0">
                <a:solidFill>
                  <a:srgbClr val="FF0000"/>
                </a:solidFill>
              </a:rPr>
              <a:t>获得认可</a:t>
            </a:r>
            <a:r>
              <a:rPr lang="en-US" altLang="zh-CN" sz="3600" b="1" dirty="0">
                <a:solidFill>
                  <a:srgbClr val="FF0000"/>
                </a:solidFill>
              </a:rPr>
              <a:t> recommendation letter</a:t>
            </a:r>
            <a:r>
              <a:rPr lang="zh-CN" altLang="en-US" sz="3600" b="1" dirty="0">
                <a:solidFill>
                  <a:srgbClr val="FF0000"/>
                </a:solidFill>
              </a:rPr>
              <a:t>推荐信</a:t>
            </a:r>
            <a:endParaRPr lang="en-US" altLang="zh-CN" sz="3600" b="1" dirty="0">
              <a:solidFill>
                <a:srgbClr val="FF0000"/>
              </a:solidFill>
            </a:endParaRPr>
          </a:p>
          <a:p>
            <a:r>
              <a:rPr lang="en-US" altLang="zh-CN" sz="3600" b="1" dirty="0">
                <a:solidFill>
                  <a:srgbClr val="FF0000"/>
                </a:solidFill>
              </a:rPr>
              <a:t> restless</a:t>
            </a:r>
            <a:r>
              <a:rPr lang="zh-CN" altLang="en-US" sz="3600" b="1" dirty="0">
                <a:solidFill>
                  <a:srgbClr val="FF0000"/>
                </a:solidFill>
                <a:sym typeface="+mn-ea"/>
              </a:rPr>
              <a:t>坐立不安的</a:t>
            </a:r>
            <a:r>
              <a:rPr lang="en-US" altLang="zh-CN" sz="3600" b="1" dirty="0">
                <a:solidFill>
                  <a:srgbClr val="FF0000"/>
                </a:solidFill>
                <a:sym typeface="+mn-ea"/>
              </a:rPr>
              <a:t> joyful</a:t>
            </a:r>
            <a:r>
              <a:rPr lang="zh-CN" altLang="en-US" sz="3600" b="1" dirty="0">
                <a:solidFill>
                  <a:srgbClr val="FF0000"/>
                </a:solidFill>
                <a:sym typeface="+mn-ea"/>
              </a:rPr>
              <a:t>高兴的</a:t>
            </a:r>
            <a:r>
              <a:rPr lang="en-US" altLang="zh-CN" sz="3600" b="1" dirty="0">
                <a:solidFill>
                  <a:srgbClr val="FF0000"/>
                </a:solidFill>
                <a:sym typeface="+mn-ea"/>
              </a:rPr>
              <a:t> </a:t>
            </a:r>
            <a:r>
              <a:rPr lang="en-US" altLang="zh-CN" sz="3600" b="1" dirty="0">
                <a:solidFill>
                  <a:srgbClr val="FF0000"/>
                </a:solidFill>
              </a:rPr>
              <a:t>trim back</a:t>
            </a:r>
            <a:r>
              <a:rPr lang="zh-CN" altLang="en-US" sz="3600" b="1" dirty="0">
                <a:solidFill>
                  <a:srgbClr val="FF0000"/>
                </a:solidFill>
              </a:rPr>
              <a:t>修建削减</a:t>
            </a:r>
            <a:endParaRPr lang="en-US" altLang="zh-CN" sz="3600" b="1" dirty="0">
              <a:solidFill>
                <a:srgbClr val="FF0000"/>
              </a:solidFill>
            </a:endParaRPr>
          </a:p>
          <a:p>
            <a:r>
              <a:rPr lang="en-US" altLang="zh-CN" sz="3600" b="1" dirty="0">
                <a:solidFill>
                  <a:srgbClr val="FF0000"/>
                </a:solidFill>
              </a:rPr>
              <a:t> make it inviting to sb.</a:t>
            </a:r>
            <a:r>
              <a:rPr lang="zh-CN" altLang="en-US" sz="3600" b="1" dirty="0">
                <a:solidFill>
                  <a:srgbClr val="FF0000"/>
                </a:solidFill>
              </a:rPr>
              <a:t>使它对某人有吸引力</a:t>
            </a:r>
            <a:r>
              <a:rPr lang="en-US" altLang="zh-CN" sz="3600" b="1" dirty="0">
                <a:solidFill>
                  <a:srgbClr val="FF0000"/>
                </a:solidFill>
              </a:rPr>
              <a:t> preference</a:t>
            </a:r>
            <a:r>
              <a:rPr lang="zh-CN" altLang="en-US" sz="3600" b="1" dirty="0">
                <a:solidFill>
                  <a:srgbClr val="FF0000"/>
                </a:solidFill>
              </a:rPr>
              <a:t>偏好</a:t>
            </a:r>
            <a:endParaRPr lang="en-US" altLang="zh-CN" sz="3600" b="1" dirty="0">
              <a:solidFill>
                <a:srgbClr val="FF0000"/>
              </a:solidFill>
            </a:endParaRPr>
          </a:p>
          <a:p>
            <a:r>
              <a:rPr lang="en-US" altLang="zh-CN" sz="3600" b="1" dirty="0">
                <a:solidFill>
                  <a:srgbClr val="FF0000"/>
                </a:solidFill>
              </a:rPr>
              <a:t> barber</a:t>
            </a:r>
            <a:r>
              <a:rPr lang="zh-CN" altLang="en-US" sz="3600" b="1" dirty="0">
                <a:solidFill>
                  <a:srgbClr val="FF0000"/>
                </a:solidFill>
              </a:rPr>
              <a:t>理发师</a:t>
            </a:r>
            <a:r>
              <a:rPr lang="en-US" altLang="zh-CN" sz="3600" b="1" dirty="0">
                <a:solidFill>
                  <a:srgbClr val="FF0000"/>
                </a:solidFill>
              </a:rPr>
              <a:t>/</a:t>
            </a:r>
            <a:r>
              <a:rPr lang="zh-CN" altLang="en-US" sz="3600" b="1" dirty="0">
                <a:solidFill>
                  <a:srgbClr val="FF0000"/>
                </a:solidFill>
              </a:rPr>
              <a:t>店</a:t>
            </a:r>
            <a:r>
              <a:rPr lang="en-US" altLang="zh-CN" sz="3600" b="1" dirty="0">
                <a:solidFill>
                  <a:srgbClr val="FF0000"/>
                </a:solidFill>
              </a:rPr>
              <a:t> bring in extra income</a:t>
            </a:r>
            <a:r>
              <a:rPr lang="zh-CN" altLang="en-US" sz="3600" b="1" dirty="0">
                <a:solidFill>
                  <a:srgbClr val="FF0000"/>
                </a:solidFill>
              </a:rPr>
              <a:t>带来额外收入</a:t>
            </a:r>
            <a:endParaRPr lang="en-US" altLang="zh-CN" sz="3600" b="1" dirty="0">
              <a:solidFill>
                <a:srgbClr val="FF0000"/>
              </a:solidFill>
            </a:endParaRPr>
          </a:p>
          <a:p>
            <a:r>
              <a:rPr lang="en-US" altLang="zh-CN" sz="3600" b="1" dirty="0">
                <a:solidFill>
                  <a:srgbClr val="FF0000"/>
                </a:solidFill>
              </a:rPr>
              <a:t> make an impact on</a:t>
            </a:r>
            <a:r>
              <a:rPr lang="zh-CN" altLang="en-US" sz="3600" b="1" dirty="0">
                <a:solidFill>
                  <a:srgbClr val="FF0000"/>
                </a:solidFill>
              </a:rPr>
              <a:t>产生影响</a:t>
            </a:r>
            <a:r>
              <a:rPr lang="en-US" altLang="zh-CN" sz="3600" b="1" dirty="0">
                <a:solidFill>
                  <a:srgbClr val="FF0000"/>
                </a:solidFill>
              </a:rPr>
              <a:t>=make a difference</a:t>
            </a:r>
          </a:p>
          <a:p>
            <a:r>
              <a:rPr lang="en-US" altLang="zh-CN" sz="3600" b="1" dirty="0">
                <a:solidFill>
                  <a:srgbClr val="FF0000"/>
                </a:solidFill>
              </a:rPr>
              <a:t> unlock potential</a:t>
            </a:r>
            <a:r>
              <a:rPr lang="zh-CN" altLang="en-US" sz="3600" b="1" dirty="0">
                <a:solidFill>
                  <a:srgbClr val="FF0000"/>
                </a:solidFill>
              </a:rPr>
              <a:t>发掘潜力</a:t>
            </a:r>
          </a:p>
          <a:p>
            <a:r>
              <a:rPr lang="en-US" altLang="zh-CN" sz="3600" b="1" dirty="0">
                <a:solidFill>
                  <a:srgbClr val="FF0000"/>
                </a:solidFill>
              </a:rPr>
              <a:t> avoid the controversy</a:t>
            </a:r>
            <a:r>
              <a:rPr lang="zh-CN" altLang="en-US" sz="3600" b="1" dirty="0">
                <a:solidFill>
                  <a:srgbClr val="FF0000"/>
                </a:solidFill>
              </a:rPr>
              <a:t>避免争议</a:t>
            </a:r>
            <a:r>
              <a:rPr lang="en-US" altLang="zh-CN" sz="3600" b="1" dirty="0">
                <a:solidFill>
                  <a:srgbClr val="FF0000"/>
                </a:solidFill>
              </a:rPr>
              <a:t> controversial a.</a:t>
            </a:r>
            <a:r>
              <a:rPr lang="zh-CN" altLang="en-US" sz="3600" b="1" dirty="0">
                <a:solidFill>
                  <a:srgbClr val="FF0000"/>
                </a:solidFill>
              </a:rPr>
              <a:t>有争议的</a:t>
            </a:r>
            <a:endParaRPr lang="en-US" altLang="zh-CN" sz="3600" b="1" dirty="0">
              <a:solidFill>
                <a:srgbClr val="FF0000"/>
              </a:solidFill>
            </a:endParaRPr>
          </a:p>
          <a:p>
            <a:r>
              <a:rPr lang="en-US" altLang="zh-CN" sz="3600" b="1" dirty="0">
                <a:solidFill>
                  <a:srgbClr val="FF0000"/>
                </a:solidFill>
              </a:rPr>
              <a:t> dispute v.n.</a:t>
            </a:r>
            <a:r>
              <a:rPr lang="zh-CN" altLang="en-US" sz="3600" b="1" dirty="0">
                <a:solidFill>
                  <a:srgbClr val="FF0000"/>
                </a:solidFill>
              </a:rPr>
              <a:t>争论</a:t>
            </a:r>
            <a:r>
              <a:rPr lang="en-US" altLang="zh-CN" sz="3600" b="1" dirty="0">
                <a:solidFill>
                  <a:srgbClr val="FF0000"/>
                </a:solidFill>
              </a:rPr>
              <a:t> current n.</a:t>
            </a:r>
            <a:r>
              <a:rPr lang="zh-CN" altLang="en-US" sz="3600" b="1" dirty="0">
                <a:solidFill>
                  <a:srgbClr val="FF0000"/>
                </a:solidFill>
              </a:rPr>
              <a:t>水</a:t>
            </a:r>
            <a:r>
              <a:rPr lang="en-US" altLang="zh-CN" sz="3600" b="1" dirty="0">
                <a:solidFill>
                  <a:srgbClr val="FF0000"/>
                </a:solidFill>
              </a:rPr>
              <a:t>/</a:t>
            </a:r>
            <a:r>
              <a:rPr lang="zh-CN" altLang="en-US" sz="3600" b="1" dirty="0">
                <a:solidFill>
                  <a:srgbClr val="FF0000"/>
                </a:solidFill>
              </a:rPr>
              <a:t>气</a:t>
            </a:r>
            <a:r>
              <a:rPr lang="en-US" altLang="zh-CN" sz="3600" b="1" dirty="0">
                <a:solidFill>
                  <a:srgbClr val="FF0000"/>
                </a:solidFill>
              </a:rPr>
              <a:t>/</a:t>
            </a:r>
            <a:r>
              <a:rPr lang="zh-CN" altLang="en-US" sz="3600" b="1" dirty="0">
                <a:solidFill>
                  <a:srgbClr val="FF0000"/>
                </a:solidFill>
              </a:rPr>
              <a:t>电</a:t>
            </a:r>
            <a:r>
              <a:rPr lang="en-US" altLang="zh-CN" sz="3600" b="1" dirty="0">
                <a:solidFill>
                  <a:srgbClr val="FF0000"/>
                </a:solidFill>
              </a:rPr>
              <a:t>/</a:t>
            </a:r>
            <a:r>
              <a:rPr lang="zh-CN" altLang="en-US" sz="3600" b="1" dirty="0">
                <a:solidFill>
                  <a:srgbClr val="FF0000"/>
                </a:solidFill>
              </a:rPr>
              <a:t>潮流</a:t>
            </a:r>
            <a:r>
              <a:rPr lang="en-US" altLang="zh-CN" sz="3600" b="1" dirty="0">
                <a:solidFill>
                  <a:srgbClr val="FF0000"/>
                </a:solidFill>
              </a:rPr>
              <a:t> </a:t>
            </a:r>
            <a:r>
              <a:rPr lang="en-US" altLang="zh-CN" sz="3600" b="1" dirty="0">
                <a:solidFill>
                  <a:srgbClr val="FF0000"/>
                </a:solidFill>
                <a:sym typeface="+mn-ea"/>
              </a:rPr>
              <a:t>volume</a:t>
            </a:r>
            <a:r>
              <a:rPr lang="zh-CN" altLang="en-US" sz="3600" b="1" dirty="0">
                <a:solidFill>
                  <a:srgbClr val="FF0000"/>
                </a:solidFill>
                <a:sym typeface="+mn-ea"/>
              </a:rPr>
              <a:t>容积</a:t>
            </a:r>
            <a:endParaRPr lang="zh-CN" altLang="en-US" sz="3600" b="1" dirty="0">
              <a:solidFill>
                <a:srgbClr val="FF0000"/>
              </a:solidFill>
            </a:endParaRPr>
          </a:p>
          <a:p>
            <a:r>
              <a:rPr lang="en-US" altLang="zh-CN" sz="3600" b="1" dirty="0">
                <a:solidFill>
                  <a:srgbClr val="FF0000"/>
                </a:solidFill>
              </a:rPr>
              <a:t> deposit v.</a:t>
            </a:r>
            <a:r>
              <a:rPr lang="zh-CN" altLang="en-US" sz="3600" b="1" dirty="0">
                <a:solidFill>
                  <a:srgbClr val="FF0000"/>
                </a:solidFill>
              </a:rPr>
              <a:t>沉积</a:t>
            </a:r>
            <a:r>
              <a:rPr lang="en-US" altLang="zh-CN" sz="3600" b="1" dirty="0">
                <a:solidFill>
                  <a:srgbClr val="FF0000"/>
                </a:solidFill>
              </a:rPr>
              <a:t>;</a:t>
            </a:r>
            <a:r>
              <a:rPr lang="zh-CN" altLang="en-US" sz="3600" b="1" dirty="0">
                <a:solidFill>
                  <a:srgbClr val="FF0000"/>
                </a:solidFill>
              </a:rPr>
              <a:t>存放</a:t>
            </a:r>
            <a:r>
              <a:rPr lang="en-US" altLang="zh-CN" sz="3600" b="1" dirty="0">
                <a:solidFill>
                  <a:srgbClr val="FF0000"/>
                </a:solidFill>
              </a:rPr>
              <a:t>creek/brook/stream</a:t>
            </a:r>
            <a:r>
              <a:rPr lang="zh-CN" altLang="en-US" sz="3600" b="1" dirty="0">
                <a:solidFill>
                  <a:srgbClr val="FF0000"/>
                </a:solidFill>
              </a:rPr>
              <a:t>小溪</a:t>
            </a:r>
            <a:r>
              <a:rPr lang="en-US" altLang="zh-CN" sz="3600" b="1" dirty="0">
                <a:solidFill>
                  <a:srgbClr val="FF0000"/>
                </a:solidFill>
              </a:rPr>
              <a:t> feed into</a:t>
            </a:r>
            <a:r>
              <a:rPr lang="zh-CN" altLang="en-US" sz="3600" b="1" dirty="0">
                <a:solidFill>
                  <a:srgbClr val="FF0000"/>
                </a:solidFill>
              </a:rPr>
              <a:t>流入</a:t>
            </a:r>
            <a:r>
              <a:rPr lang="en-US" altLang="zh-CN" sz="3600" b="1" dirty="0">
                <a:solidFill>
                  <a:schemeClr val="tx1"/>
                </a:solidFill>
              </a:rPr>
              <a:t> ecological corridor</a:t>
            </a:r>
            <a:r>
              <a:rPr lang="zh-CN" altLang="en-US" sz="3600" b="1" dirty="0">
                <a:solidFill>
                  <a:schemeClr val="tx1"/>
                </a:solidFill>
              </a:rPr>
              <a:t>生态走廊</a:t>
            </a:r>
            <a:r>
              <a:rPr lang="en-US" altLang="zh-CN" sz="3600" b="1" dirty="0">
                <a:solidFill>
                  <a:schemeClr val="tx1"/>
                </a:solidFill>
              </a:rPr>
              <a:t> hydrological cycle</a:t>
            </a:r>
            <a:r>
              <a:rPr lang="zh-CN" altLang="en-US" sz="3600" b="1" dirty="0">
                <a:solidFill>
                  <a:schemeClr val="tx1"/>
                </a:solidFill>
              </a:rPr>
              <a:t>水循环</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a:bodyPr>
          <a:lstStyle/>
          <a:p>
            <a:r>
              <a:rPr lang="en-US" altLang="zh-CN" sz="3600" b="1" dirty="0">
                <a:solidFill>
                  <a:srgbClr val="FF0000"/>
                </a:solidFill>
              </a:rPr>
              <a:t> </a:t>
            </a:r>
            <a:r>
              <a:rPr lang="en-US" altLang="zh-CN" sz="3600" b="1" dirty="0">
                <a:solidFill>
                  <a:srgbClr val="FF0000"/>
                </a:solidFill>
                <a:sym typeface="+mn-ea"/>
              </a:rPr>
              <a:t>indefinitely</a:t>
            </a:r>
            <a:r>
              <a:rPr lang="zh-CN" altLang="en-US" sz="3600" b="1" dirty="0">
                <a:solidFill>
                  <a:srgbClr val="FF0000"/>
                </a:solidFill>
                <a:sym typeface="+mn-ea"/>
              </a:rPr>
              <a:t>无限期地</a:t>
            </a:r>
            <a:r>
              <a:rPr lang="en-US" altLang="zh-CN" sz="3600" b="1" dirty="0">
                <a:solidFill>
                  <a:srgbClr val="FF0000"/>
                </a:solidFill>
                <a:sym typeface="+mn-ea"/>
              </a:rPr>
              <a:t>;</a:t>
            </a:r>
            <a:r>
              <a:rPr lang="zh-CN" altLang="en-US" sz="3600" b="1" dirty="0">
                <a:solidFill>
                  <a:srgbClr val="FF0000"/>
                </a:solidFill>
                <a:sym typeface="+mn-ea"/>
              </a:rPr>
              <a:t>不确定地</a:t>
            </a:r>
            <a:r>
              <a:rPr lang="en-US" altLang="zh-CN" sz="3600" b="1" dirty="0">
                <a:solidFill>
                  <a:srgbClr val="FF0000"/>
                </a:solidFill>
                <a:sym typeface="+mn-ea"/>
              </a:rPr>
              <a:t>  </a:t>
            </a:r>
            <a:r>
              <a:rPr lang="en-US" altLang="zh-CN" sz="3600" b="1" dirty="0">
                <a:solidFill>
                  <a:schemeClr val="tx1"/>
                </a:solidFill>
                <a:sym typeface="+mn-ea"/>
              </a:rPr>
              <a:t>replacement levels</a:t>
            </a:r>
            <a:r>
              <a:rPr lang="zh-CN" altLang="en-US" sz="3600" b="1" dirty="0">
                <a:solidFill>
                  <a:schemeClr val="tx1"/>
                </a:solidFill>
                <a:sym typeface="+mn-ea"/>
              </a:rPr>
              <a:t>置换水平</a:t>
            </a:r>
            <a:endParaRPr lang="en-US" altLang="zh-CN" sz="3600" b="1" dirty="0">
              <a:solidFill>
                <a:schemeClr val="tx1"/>
              </a:solidFill>
              <a:sym typeface="+mn-ea"/>
            </a:endParaRPr>
          </a:p>
          <a:p>
            <a:r>
              <a:rPr lang="en-US" altLang="zh-CN" sz="3600" b="1" dirty="0">
                <a:solidFill>
                  <a:srgbClr val="FF0000"/>
                </a:solidFill>
                <a:sym typeface="+mn-ea"/>
              </a:rPr>
              <a:t> </a:t>
            </a:r>
            <a:r>
              <a:rPr lang="en-US" altLang="zh-CN" sz="3600" b="1" dirty="0">
                <a:solidFill>
                  <a:srgbClr val="FF0000"/>
                </a:solidFill>
                <a:highlight>
                  <a:srgbClr val="FFFF00"/>
                </a:highlight>
              </a:rPr>
              <a:t>dismiss </a:t>
            </a:r>
            <a:r>
              <a:rPr lang="en-US" altLang="zh-CN" sz="3600" b="1" dirty="0">
                <a:solidFill>
                  <a:srgbClr val="FF0000"/>
                </a:solidFill>
              </a:rPr>
              <a:t>immediate concerns</a:t>
            </a:r>
            <a:r>
              <a:rPr lang="zh-CN" altLang="en-US" sz="3600" b="1" dirty="0">
                <a:solidFill>
                  <a:srgbClr val="FF0000"/>
                </a:solidFill>
                <a:highlight>
                  <a:srgbClr val="FFFF00"/>
                </a:highlight>
              </a:rPr>
              <a:t>忽略</a:t>
            </a:r>
            <a:r>
              <a:rPr lang="zh-CN" altLang="en-US" sz="3600" b="1" dirty="0">
                <a:solidFill>
                  <a:srgbClr val="FF0000"/>
                </a:solidFill>
              </a:rPr>
              <a:t>眼前的问题</a:t>
            </a:r>
          </a:p>
          <a:p>
            <a:r>
              <a:rPr lang="en-US" altLang="zh-CN" sz="3600" b="1" dirty="0">
                <a:solidFill>
                  <a:srgbClr val="FF0000"/>
                </a:solidFill>
              </a:rPr>
              <a:t> fuel v.</a:t>
            </a:r>
            <a:r>
              <a:rPr lang="zh-CN" altLang="en-US" sz="3600" b="1" dirty="0">
                <a:solidFill>
                  <a:srgbClr val="FF0000"/>
                </a:solidFill>
              </a:rPr>
              <a:t>提供燃料</a:t>
            </a:r>
            <a:r>
              <a:rPr lang="en-US" altLang="zh-CN" sz="3600" b="1" dirty="0">
                <a:solidFill>
                  <a:srgbClr val="FF0000"/>
                </a:solidFill>
              </a:rPr>
              <a:t>;</a:t>
            </a:r>
            <a:r>
              <a:rPr lang="zh-CN" altLang="en-US" sz="3600" b="1" dirty="0">
                <a:solidFill>
                  <a:srgbClr val="FF0000"/>
                </a:solidFill>
              </a:rPr>
              <a:t>加剧</a:t>
            </a:r>
            <a:r>
              <a:rPr lang="en-US" altLang="zh-CN" sz="3600" b="1" dirty="0">
                <a:solidFill>
                  <a:srgbClr val="FF0000"/>
                </a:solidFill>
              </a:rPr>
              <a:t> unquestionably</a:t>
            </a:r>
            <a:r>
              <a:rPr lang="zh-CN" altLang="en-US" sz="3600" b="1" dirty="0">
                <a:solidFill>
                  <a:srgbClr val="FF0000"/>
                </a:solidFill>
              </a:rPr>
              <a:t>无可非议地</a:t>
            </a:r>
            <a:r>
              <a:rPr lang="en-US" altLang="zh-CN" sz="3600" b="1" dirty="0">
                <a:solidFill>
                  <a:srgbClr val="FF0000"/>
                </a:solidFill>
              </a:rPr>
              <a:t> in reality</a:t>
            </a:r>
            <a:r>
              <a:rPr lang="zh-CN" altLang="en-US" sz="3600" b="1" dirty="0">
                <a:solidFill>
                  <a:srgbClr val="FF0000"/>
                </a:solidFill>
              </a:rPr>
              <a:t>实际上</a:t>
            </a:r>
            <a:endParaRPr lang="en-US" altLang="zh-CN" sz="3600" b="1" dirty="0">
              <a:solidFill>
                <a:srgbClr val="FF0000"/>
              </a:solidFill>
            </a:endParaRPr>
          </a:p>
          <a:p>
            <a:r>
              <a:rPr lang="en-US" altLang="zh-CN" sz="3600" b="1" dirty="0">
                <a:solidFill>
                  <a:srgbClr val="FF0000"/>
                </a:solidFill>
              </a:rPr>
              <a:t> </a:t>
            </a:r>
            <a:r>
              <a:rPr lang="en-US" altLang="zh-CN" sz="3600" b="1" u="sng" dirty="0">
                <a:solidFill>
                  <a:srgbClr val="FF0000"/>
                </a:solidFill>
                <a:highlight>
                  <a:srgbClr val="FFFF00"/>
                </a:highlight>
              </a:rPr>
              <a:t>Nor</a:t>
            </a:r>
            <a:r>
              <a:rPr lang="en-US" altLang="zh-CN" sz="3600" b="1" dirty="0">
                <a:solidFill>
                  <a:srgbClr val="FF0000"/>
                </a:solidFill>
              </a:rPr>
              <a:t> </a:t>
            </a:r>
            <a:r>
              <a:rPr lang="en-US" altLang="zh-CN" sz="3600" b="1" dirty="0">
                <a:solidFill>
                  <a:schemeClr val="tx1"/>
                </a:solidFill>
                <a:highlight>
                  <a:srgbClr val="00FF00"/>
                </a:highlight>
              </a:rPr>
              <a:t>have</a:t>
            </a:r>
            <a:r>
              <a:rPr lang="en-US" altLang="zh-CN" sz="3600" b="1" dirty="0">
                <a:solidFill>
                  <a:schemeClr val="tx1"/>
                </a:solidFill>
              </a:rPr>
              <a:t> </a:t>
            </a:r>
            <a:r>
              <a:rPr lang="en-US" altLang="zh-CN" sz="3600" b="1" u="sng" dirty="0">
                <a:solidFill>
                  <a:srgbClr val="FF0000"/>
                </a:solidFill>
              </a:rPr>
              <a:t>predictions</a:t>
            </a:r>
            <a:r>
              <a:rPr lang="zh-CN" altLang="en-US" sz="3600" b="1" u="sng" dirty="0">
                <a:solidFill>
                  <a:srgbClr val="FF0000"/>
                </a:solidFill>
              </a:rPr>
              <a:t>预测</a:t>
            </a:r>
            <a:r>
              <a:rPr lang="en-US" altLang="zh-CN" sz="3600" b="1" u="sng" dirty="0">
                <a:solidFill>
                  <a:schemeClr val="tx1"/>
                </a:solidFill>
              </a:rPr>
              <a:t>of the </a:t>
            </a:r>
            <a:r>
              <a:rPr lang="en-US" altLang="zh-CN" sz="3600" b="1" u="sng" dirty="0">
                <a:solidFill>
                  <a:srgbClr val="7030A0"/>
                </a:solidFill>
              </a:rPr>
              <a:t>drying up of mineral resources</a:t>
            </a:r>
            <a:r>
              <a:rPr lang="zh-CN" altLang="en-US" sz="3600" b="1" dirty="0">
                <a:solidFill>
                  <a:srgbClr val="FF0000"/>
                </a:solidFill>
              </a:rPr>
              <a:t>矿产资源的枯竭</a:t>
            </a:r>
            <a:r>
              <a:rPr lang="en-US" altLang="zh-CN" sz="3600" b="1" dirty="0">
                <a:solidFill>
                  <a:srgbClr val="FF0000"/>
                </a:solidFill>
              </a:rPr>
              <a:t>...</a:t>
            </a:r>
            <a:r>
              <a:rPr lang="en-US" altLang="zh-CN" sz="3600" b="1" dirty="0">
                <a:solidFill>
                  <a:schemeClr val="tx1"/>
                </a:solidFill>
                <a:highlight>
                  <a:srgbClr val="00FF00"/>
                </a:highlight>
              </a:rPr>
              <a:t>been borne out.</a:t>
            </a:r>
          </a:p>
          <a:p>
            <a:r>
              <a:rPr lang="en-US" altLang="zh-CN" sz="3600" b="1" dirty="0">
                <a:solidFill>
                  <a:schemeClr val="tx1"/>
                </a:solidFill>
              </a:rPr>
              <a:t> They </a:t>
            </a:r>
            <a:r>
              <a:rPr lang="en-US" altLang="zh-CN" sz="3600" b="1" u="sng" dirty="0">
                <a:solidFill>
                  <a:srgbClr val="FF0000"/>
                </a:solidFill>
              </a:rPr>
              <a:t>acknowledge</a:t>
            </a:r>
            <a:r>
              <a:rPr lang="zh-CN" altLang="en-US" sz="3600" b="1" u="sng" dirty="0">
                <a:solidFill>
                  <a:srgbClr val="FF0000"/>
                </a:solidFill>
              </a:rPr>
              <a:t>承认</a:t>
            </a:r>
            <a:r>
              <a:rPr lang="en-US" altLang="zh-CN" sz="3600" b="1" u="sng" dirty="0">
                <a:solidFill>
                  <a:srgbClr val="FF0000"/>
                </a:solidFill>
              </a:rPr>
              <a:t> </a:t>
            </a:r>
            <a:r>
              <a:rPr lang="en-US" altLang="zh-CN" sz="3600" b="1" dirty="0">
                <a:solidFill>
                  <a:schemeClr val="tx1"/>
                </a:solidFill>
              </a:rPr>
              <a:t>climate challenges but stress that...</a:t>
            </a:r>
          </a:p>
          <a:p>
            <a:r>
              <a:rPr lang="en-US" altLang="zh-CN" sz="3600" b="1" dirty="0">
                <a:solidFill>
                  <a:srgbClr val="FF0000"/>
                </a:solidFill>
              </a:rPr>
              <a:t> </a:t>
            </a:r>
            <a:r>
              <a:rPr lang="en-US" altLang="zh-CN" sz="3600" b="1" dirty="0">
                <a:solidFill>
                  <a:srgbClr val="7030A0"/>
                </a:solidFill>
                <a:sym typeface="+mn-ea"/>
              </a:rPr>
              <a:t>be secondary to</a:t>
            </a:r>
            <a:r>
              <a:rPr lang="zh-CN" altLang="en-US" sz="3600" b="1" dirty="0">
                <a:solidFill>
                  <a:srgbClr val="7030A0"/>
                </a:solidFill>
                <a:sym typeface="+mn-ea"/>
              </a:rPr>
              <a:t>居于次要地位</a:t>
            </a:r>
            <a:r>
              <a:rPr lang="en-US" altLang="zh-CN" sz="3600" b="1" dirty="0">
                <a:solidFill>
                  <a:srgbClr val="7030A0"/>
                </a:solidFill>
                <a:sym typeface="+mn-ea"/>
              </a:rPr>
              <a:t> emissions policies</a:t>
            </a:r>
            <a:r>
              <a:rPr lang="zh-CN" altLang="en-US" sz="3600" b="1" dirty="0">
                <a:solidFill>
                  <a:srgbClr val="7030A0"/>
                </a:solidFill>
                <a:sym typeface="+mn-ea"/>
              </a:rPr>
              <a:t>排放政策</a:t>
            </a:r>
          </a:p>
          <a:p>
            <a:r>
              <a:rPr lang="en-US" altLang="zh-CN" sz="3600" b="1" dirty="0">
                <a:solidFill>
                  <a:srgbClr val="FF0000"/>
                </a:solidFill>
              </a:rPr>
              <a:t> put forward</a:t>
            </a:r>
            <a:r>
              <a:rPr lang="zh-CN" altLang="en-US" sz="3600" b="1" dirty="0">
                <a:solidFill>
                  <a:srgbClr val="FF0000"/>
                </a:solidFill>
              </a:rPr>
              <a:t>提出</a:t>
            </a:r>
            <a:r>
              <a:rPr lang="en-US" altLang="zh-CN" sz="3600" b="1" dirty="0">
                <a:solidFill>
                  <a:srgbClr val="FF0000"/>
                </a:solidFill>
              </a:rPr>
              <a:t>;</a:t>
            </a:r>
            <a:r>
              <a:rPr lang="zh-CN" altLang="en-US" sz="3600" b="1" dirty="0">
                <a:solidFill>
                  <a:srgbClr val="FF0000"/>
                </a:solidFill>
              </a:rPr>
              <a:t>提前</a:t>
            </a:r>
            <a:r>
              <a:rPr lang="en-US" altLang="zh-CN" sz="3600" b="1" dirty="0">
                <a:solidFill>
                  <a:srgbClr val="FF0000"/>
                </a:solidFill>
              </a:rPr>
              <a:t> take back</a:t>
            </a:r>
            <a:r>
              <a:rPr lang="zh-CN" altLang="en-US" sz="3600" b="1" dirty="0">
                <a:solidFill>
                  <a:srgbClr val="FF0000"/>
                </a:solidFill>
              </a:rPr>
              <a:t>收回</a:t>
            </a:r>
          </a:p>
          <a:p>
            <a:r>
              <a:rPr lang="en-US" altLang="zh-CN" sz="3600" b="1" dirty="0">
                <a:solidFill>
                  <a:srgbClr val="FF0000"/>
                </a:solidFill>
              </a:rPr>
              <a:t> think little of</a:t>
            </a:r>
            <a:r>
              <a:rPr lang="zh-CN" altLang="en-US" sz="3600" b="1" dirty="0">
                <a:solidFill>
                  <a:srgbClr val="FF0000"/>
                </a:solidFill>
              </a:rPr>
              <a:t>轻视</a:t>
            </a:r>
            <a:r>
              <a:rPr lang="en-US" altLang="zh-CN" sz="3600" b="1" dirty="0">
                <a:solidFill>
                  <a:srgbClr val="FF0000"/>
                </a:solidFill>
              </a:rPr>
              <a:t>;</a:t>
            </a:r>
            <a:r>
              <a:rPr lang="zh-CN" altLang="en-US" sz="3600" b="1" dirty="0">
                <a:solidFill>
                  <a:srgbClr val="FF0000"/>
                </a:solidFill>
              </a:rPr>
              <a:t>低估</a:t>
            </a:r>
            <a:r>
              <a:rPr lang="en-US" altLang="zh-CN" sz="3600" b="1" dirty="0">
                <a:solidFill>
                  <a:srgbClr val="FF0000"/>
                </a:solidFill>
              </a:rPr>
              <a:t> mortality rates</a:t>
            </a:r>
            <a:r>
              <a:rPr lang="zh-CN" altLang="en-US" sz="3600" b="1" dirty="0">
                <a:solidFill>
                  <a:srgbClr val="FF0000"/>
                </a:solidFill>
              </a:rPr>
              <a:t>死亡率</a:t>
            </a:r>
          </a:p>
          <a:p>
            <a:r>
              <a:rPr lang="zh-CN" altLang="en-US" sz="3600" b="1" dirty="0">
                <a:solidFill>
                  <a:srgbClr val="FF0000"/>
                </a:solidFill>
              </a:rPr>
              <a:t> </a:t>
            </a:r>
            <a:r>
              <a:rPr lang="en-US" altLang="zh-CN" sz="3600" b="1" dirty="0">
                <a:solidFill>
                  <a:srgbClr val="FF0000"/>
                </a:solidFill>
              </a:rPr>
              <a:t>element</a:t>
            </a:r>
            <a:r>
              <a:rPr lang="zh-CN" altLang="en-US" sz="3600" b="1" dirty="0">
                <a:solidFill>
                  <a:srgbClr val="FF0000"/>
                </a:solidFill>
              </a:rPr>
              <a:t>要素</a:t>
            </a:r>
            <a:r>
              <a:rPr lang="en-US" altLang="zh-CN" sz="3600" b="1" dirty="0">
                <a:solidFill>
                  <a:srgbClr val="FF0000"/>
                </a:solidFill>
              </a:rPr>
              <a:t> identify the brushwork</a:t>
            </a:r>
            <a:r>
              <a:rPr lang="zh-CN" altLang="en-US" sz="3600" b="1" dirty="0">
                <a:solidFill>
                  <a:srgbClr val="FF0000"/>
                </a:solidFill>
              </a:rPr>
              <a:t>辨别笔法</a:t>
            </a:r>
          </a:p>
          <a:p>
            <a:r>
              <a:rPr lang="en-US" altLang="zh-CN" sz="3600" b="1" dirty="0">
                <a:solidFill>
                  <a:srgbClr val="FF0000"/>
                </a:solidFill>
              </a:rPr>
              <a:t> medium</a:t>
            </a:r>
            <a:r>
              <a:rPr lang="zh-CN" altLang="en-US" sz="3600" b="1" dirty="0">
                <a:solidFill>
                  <a:srgbClr val="FF0000"/>
                </a:solidFill>
              </a:rPr>
              <a:t>媒介手段材料</a:t>
            </a:r>
            <a:r>
              <a:rPr lang="en-US" altLang="zh-CN" sz="3600" b="1" dirty="0">
                <a:solidFill>
                  <a:srgbClr val="FF0000"/>
                </a:solidFill>
              </a:rPr>
              <a:t> property</a:t>
            </a:r>
            <a:r>
              <a:rPr lang="zh-CN" altLang="en-US" sz="3600" b="1" dirty="0">
                <a:solidFill>
                  <a:srgbClr val="FF0000"/>
                </a:solidFill>
              </a:rPr>
              <a:t>性质财产</a:t>
            </a:r>
            <a:r>
              <a:rPr lang="en-US" altLang="zh-CN" sz="3600" b="1" dirty="0">
                <a:solidFill>
                  <a:srgbClr val="FF0000"/>
                </a:solidFill>
              </a:rPr>
              <a:t> sculpture</a:t>
            </a:r>
            <a:r>
              <a:rPr lang="zh-CN" altLang="en-US" sz="3600" b="1" dirty="0">
                <a:solidFill>
                  <a:srgbClr val="FF0000"/>
                </a:solidFill>
              </a:rPr>
              <a:t>雕塑</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 be caught up in</a:t>
            </a:r>
            <a:r>
              <a:rPr lang="zh-CN" altLang="en-US" sz="3600" b="1" dirty="0">
                <a:solidFill>
                  <a:srgbClr val="FF0000"/>
                </a:solidFill>
              </a:rPr>
              <a:t>被卷入</a:t>
            </a:r>
            <a:r>
              <a:rPr lang="en-US" altLang="zh-CN" sz="3600" b="1" dirty="0">
                <a:solidFill>
                  <a:srgbClr val="FF0000"/>
                </a:solidFill>
              </a:rPr>
              <a:t> mindlessly</a:t>
            </a:r>
            <a:r>
              <a:rPr lang="zh-CN" altLang="en-US" sz="3600" b="1" dirty="0">
                <a:solidFill>
                  <a:srgbClr val="FF0000"/>
                </a:solidFill>
              </a:rPr>
              <a:t>漫无目的地</a:t>
            </a:r>
            <a:r>
              <a:rPr lang="en-US" altLang="zh-CN" sz="3600" b="1" dirty="0">
                <a:solidFill>
                  <a:srgbClr val="FF0000"/>
                </a:solidFill>
              </a:rPr>
              <a:t>;</a:t>
            </a:r>
            <a:r>
              <a:rPr lang="zh-CN" altLang="en-US" sz="3600" b="1" dirty="0">
                <a:solidFill>
                  <a:srgbClr val="FF0000"/>
                </a:solidFill>
              </a:rPr>
              <a:t>机械地</a:t>
            </a:r>
            <a:endParaRPr lang="en-US" altLang="zh-CN" sz="3600" b="1" dirty="0">
              <a:solidFill>
                <a:srgbClr val="FF0000"/>
              </a:solidFill>
            </a:endParaRPr>
          </a:p>
          <a:p>
            <a:r>
              <a:rPr lang="en-US" altLang="zh-CN" sz="3600" b="1" dirty="0">
                <a:solidFill>
                  <a:srgbClr val="7030A0"/>
                </a:solidFill>
              </a:rPr>
              <a:t> annoyance</a:t>
            </a:r>
            <a:r>
              <a:rPr lang="zh-CN" altLang="en-US" sz="3600" b="1" dirty="0">
                <a:solidFill>
                  <a:srgbClr val="7030A0"/>
                </a:solidFill>
              </a:rPr>
              <a:t>烦恼</a:t>
            </a:r>
            <a:r>
              <a:rPr lang="en-US" altLang="zh-CN" sz="3600" b="1" dirty="0">
                <a:solidFill>
                  <a:srgbClr val="7030A0"/>
                </a:solidFill>
              </a:rPr>
              <a:t> depression</a:t>
            </a:r>
            <a:r>
              <a:rPr lang="zh-CN" altLang="en-US" sz="3600" b="1" dirty="0">
                <a:solidFill>
                  <a:srgbClr val="7030A0"/>
                </a:solidFill>
              </a:rPr>
              <a:t>抑郁</a:t>
            </a:r>
            <a:r>
              <a:rPr lang="en-US" altLang="zh-CN" sz="3600" b="1" dirty="0">
                <a:solidFill>
                  <a:schemeClr val="tx1"/>
                </a:solidFill>
              </a:rPr>
              <a:t>greenery</a:t>
            </a:r>
            <a:r>
              <a:rPr lang="zh-CN" altLang="en-US" sz="3600" b="1" dirty="0">
                <a:solidFill>
                  <a:schemeClr val="tx1"/>
                </a:solidFill>
              </a:rPr>
              <a:t>绿色植物</a:t>
            </a:r>
            <a:r>
              <a:rPr lang="en-US" altLang="zh-CN" sz="3600" b="1" dirty="0">
                <a:solidFill>
                  <a:schemeClr val="tx1"/>
                </a:solidFill>
              </a:rPr>
              <a:t>;</a:t>
            </a:r>
            <a:r>
              <a:rPr lang="zh-CN" altLang="en-US" sz="3600" b="1" dirty="0">
                <a:solidFill>
                  <a:schemeClr val="tx1"/>
                </a:solidFill>
              </a:rPr>
              <a:t>温室</a:t>
            </a:r>
            <a:endParaRPr lang="en-US" altLang="zh-CN" sz="3600" b="1" dirty="0">
              <a:solidFill>
                <a:schemeClr val="tx1"/>
              </a:solidFill>
            </a:endParaRPr>
          </a:p>
          <a:p>
            <a:r>
              <a:rPr lang="en-US" altLang="zh-CN" sz="3600" b="1" dirty="0">
                <a:solidFill>
                  <a:srgbClr val="FF0000"/>
                </a:solidFill>
              </a:rPr>
              <a:t> tend v.</a:t>
            </a:r>
            <a:r>
              <a:rPr lang="zh-CN" altLang="en-US" sz="3600" b="1" dirty="0">
                <a:solidFill>
                  <a:srgbClr val="FF0000"/>
                </a:solidFill>
              </a:rPr>
              <a:t>照顾护理</a:t>
            </a:r>
            <a:r>
              <a:rPr lang="en-US" altLang="zh-CN" sz="3600" b="1" dirty="0">
                <a:solidFill>
                  <a:srgbClr val="FF0000"/>
                </a:solidFill>
              </a:rPr>
              <a:t> speak up</a:t>
            </a:r>
            <a:r>
              <a:rPr lang="zh-CN" altLang="en-US" sz="3600" b="1" dirty="0">
                <a:solidFill>
                  <a:srgbClr val="FF0000"/>
                </a:solidFill>
              </a:rPr>
              <a:t>发表意见</a:t>
            </a:r>
            <a:r>
              <a:rPr lang="en-US" altLang="zh-CN" sz="3600" b="1" dirty="0">
                <a:solidFill>
                  <a:srgbClr val="FF0000"/>
                </a:solidFill>
              </a:rPr>
              <a:t> weed n.</a:t>
            </a:r>
            <a:r>
              <a:rPr lang="zh-CN" altLang="en-US" sz="3600" b="1" dirty="0">
                <a:solidFill>
                  <a:srgbClr val="FF0000"/>
                </a:solidFill>
              </a:rPr>
              <a:t>杂草</a:t>
            </a:r>
            <a:r>
              <a:rPr lang="en-US" altLang="zh-CN" sz="3600" b="1" dirty="0">
                <a:solidFill>
                  <a:srgbClr val="FF0000"/>
                </a:solidFill>
              </a:rPr>
              <a:t>v.</a:t>
            </a:r>
            <a:r>
              <a:rPr lang="zh-CN" altLang="en-US" sz="3600" b="1" dirty="0">
                <a:solidFill>
                  <a:srgbClr val="FF0000"/>
                </a:solidFill>
              </a:rPr>
              <a:t>除草</a:t>
            </a:r>
            <a:endParaRPr lang="en-US" altLang="zh-CN" sz="3600" b="1" dirty="0">
              <a:solidFill>
                <a:srgbClr val="FF0000"/>
              </a:solidFill>
            </a:endParaRPr>
          </a:p>
          <a:p>
            <a:r>
              <a:rPr lang="en-US" altLang="zh-CN" sz="3600" b="1" dirty="0">
                <a:solidFill>
                  <a:srgbClr val="FF0000"/>
                </a:solidFill>
              </a:rPr>
              <a:t> </a:t>
            </a:r>
            <a:r>
              <a:rPr lang="en-US" altLang="zh-CN" sz="3600" b="1" u="sng" dirty="0">
                <a:solidFill>
                  <a:srgbClr val="FF0000"/>
                </a:solidFill>
              </a:rPr>
              <a:t>appreciate</a:t>
            </a:r>
            <a:r>
              <a:rPr lang="zh-CN" altLang="en-US" sz="3600" b="1" dirty="0">
                <a:solidFill>
                  <a:srgbClr val="FF0000"/>
                </a:solidFill>
                <a:sym typeface="+mn-ea"/>
              </a:rPr>
              <a:t>欣赏</a:t>
            </a:r>
            <a:r>
              <a:rPr lang="en-US" altLang="zh-CN" sz="3600" b="1" dirty="0">
                <a:solidFill>
                  <a:schemeClr val="tx1"/>
                </a:solidFill>
              </a:rPr>
              <a:t>the roses--</a:t>
            </a:r>
            <a:r>
              <a:rPr lang="en-US" altLang="zh-CN" sz="3600" b="1" u="sng" dirty="0">
                <a:solidFill>
                  <a:schemeClr val="tx1"/>
                </a:solidFill>
              </a:rPr>
              <a:t>enjoy </a:t>
            </a:r>
            <a:r>
              <a:rPr lang="en-US" altLang="zh-CN" sz="3600" b="1" dirty="0">
                <a:solidFill>
                  <a:schemeClr val="tx1"/>
                </a:solidFill>
              </a:rPr>
              <a:t>my present</a:t>
            </a:r>
          </a:p>
          <a:p>
            <a:r>
              <a:rPr lang="en-US" altLang="zh-CN" sz="3200" b="1" dirty="0">
                <a:solidFill>
                  <a:srgbClr val="7030A0"/>
                </a:solidFill>
              </a:rPr>
              <a:t> That simple </a:t>
            </a:r>
            <a:r>
              <a:rPr lang="en-US" altLang="zh-CN" sz="3200" b="1" dirty="0">
                <a:solidFill>
                  <a:srgbClr val="FF0000"/>
                </a:solidFill>
              </a:rPr>
              <a:t>wisdom</a:t>
            </a:r>
            <a:r>
              <a:rPr lang="en-US" altLang="zh-CN" sz="3200" b="1" dirty="0">
                <a:solidFill>
                  <a:srgbClr val="7030A0"/>
                </a:solidFill>
              </a:rPr>
              <a:t> hit me hard.</a:t>
            </a:r>
            <a:r>
              <a:rPr lang="zh-CN" altLang="en-US" sz="3200" b="1" dirty="0">
                <a:solidFill>
                  <a:srgbClr val="7030A0"/>
                </a:solidFill>
              </a:rPr>
              <a:t>这句简单的</a:t>
            </a:r>
            <a:r>
              <a:rPr lang="zh-CN" altLang="en-US" sz="3200" b="1" dirty="0">
                <a:solidFill>
                  <a:srgbClr val="FF0000"/>
                </a:solidFill>
              </a:rPr>
              <a:t>智慧</a:t>
            </a:r>
            <a:r>
              <a:rPr lang="zh-CN" altLang="en-US" sz="3200" b="1" dirty="0">
                <a:solidFill>
                  <a:srgbClr val="7030A0"/>
                </a:solidFill>
              </a:rPr>
              <a:t>深深打动了我</a:t>
            </a:r>
          </a:p>
          <a:p>
            <a:r>
              <a:rPr lang="zh-CN" altLang="en-US" sz="3200" b="1" dirty="0">
                <a:solidFill>
                  <a:srgbClr val="7030A0"/>
                </a:solidFill>
              </a:rPr>
              <a:t> </a:t>
            </a:r>
            <a:r>
              <a:rPr lang="en-US" altLang="zh-CN" sz="3200" b="1" dirty="0">
                <a:solidFill>
                  <a:srgbClr val="7030A0"/>
                </a:solidFill>
              </a:rPr>
              <a:t>the </a:t>
            </a:r>
            <a:r>
              <a:rPr lang="en-US" altLang="zh-CN" sz="3200" b="1" dirty="0">
                <a:solidFill>
                  <a:srgbClr val="FF0000"/>
                </a:solidFill>
              </a:rPr>
              <a:t>stress </a:t>
            </a:r>
            <a:r>
              <a:rPr lang="en-US" altLang="zh-CN" sz="3200" b="1" dirty="0">
                <a:solidFill>
                  <a:srgbClr val="7030A0"/>
                </a:solidFill>
              </a:rPr>
              <a:t>of…</a:t>
            </a:r>
            <a:r>
              <a:rPr lang="zh-CN" altLang="en-US" sz="3200" b="1" dirty="0">
                <a:solidFill>
                  <a:srgbClr val="FF0000"/>
                </a:solidFill>
              </a:rPr>
              <a:t>压力</a:t>
            </a:r>
            <a:r>
              <a:rPr lang="en-US" altLang="zh-CN" sz="3200" b="1" dirty="0">
                <a:solidFill>
                  <a:srgbClr val="7030A0"/>
                </a:solidFill>
              </a:rPr>
              <a:t>  </a:t>
            </a:r>
            <a:r>
              <a:rPr lang="en-US" altLang="zh-CN" sz="3200" b="1" dirty="0">
                <a:solidFill>
                  <a:srgbClr val="FF0000"/>
                </a:solidFill>
              </a:rPr>
              <a:t>the beauty of</a:t>
            </a:r>
            <a:r>
              <a:rPr lang="en-US" altLang="zh-CN" sz="3200" b="1" dirty="0">
                <a:solidFill>
                  <a:srgbClr val="7030A0"/>
                </a:solidFill>
              </a:rPr>
              <a:t> simply being alive</a:t>
            </a:r>
            <a:r>
              <a:rPr lang="zh-CN" altLang="en-US" sz="3200" b="1" dirty="0">
                <a:solidFill>
                  <a:srgbClr val="7030A0"/>
                </a:solidFill>
              </a:rPr>
              <a:t>活着</a:t>
            </a:r>
            <a:r>
              <a:rPr lang="zh-CN" altLang="en-US" sz="3200" b="1" dirty="0">
                <a:solidFill>
                  <a:srgbClr val="FF0000"/>
                </a:solidFill>
              </a:rPr>
              <a:t>的美好</a:t>
            </a:r>
            <a:endParaRPr lang="zh-CN" altLang="en-US" sz="3200" b="1" dirty="0">
              <a:solidFill>
                <a:srgbClr val="7030A0"/>
              </a:solidFill>
            </a:endParaRPr>
          </a:p>
          <a:p>
            <a:r>
              <a:rPr lang="en-US" altLang="zh-CN" sz="3600" b="1" dirty="0">
                <a:solidFill>
                  <a:srgbClr val="7030A0"/>
                </a:solidFill>
              </a:rPr>
              <a:t> 56.the most </a:t>
            </a:r>
            <a:r>
              <a:rPr lang="en-US" altLang="zh-CN" sz="3600" b="1" dirty="0">
                <a:solidFill>
                  <a:srgbClr val="FF0000"/>
                </a:solidFill>
              </a:rPr>
              <a:t>typical </a:t>
            </a:r>
            <a:r>
              <a:rPr lang="en-US" altLang="zh-CN" sz="3600" b="1" dirty="0">
                <a:solidFill>
                  <a:srgbClr val="7030A0"/>
                </a:solidFill>
              </a:rPr>
              <a:t>residence</a:t>
            </a:r>
            <a:r>
              <a:rPr lang="zh-CN" altLang="en-US" sz="3600" b="1" dirty="0">
                <a:solidFill>
                  <a:srgbClr val="7030A0"/>
                </a:solidFill>
              </a:rPr>
              <a:t>最典型的住宅</a:t>
            </a:r>
            <a:endParaRPr lang="en-US" altLang="zh-CN" sz="3600" b="1" dirty="0">
              <a:solidFill>
                <a:srgbClr val="7030A0"/>
              </a:solidFill>
            </a:endParaRPr>
          </a:p>
          <a:p>
            <a:r>
              <a:rPr lang="en-US" altLang="zh-CN" sz="3600" b="1" dirty="0">
                <a:solidFill>
                  <a:schemeClr val="tx1"/>
                </a:solidFill>
              </a:rPr>
              <a:t> 57. the majority of</a:t>
            </a:r>
            <a:r>
              <a:rPr lang="zh-CN" altLang="en-US" sz="3600" b="1" dirty="0">
                <a:solidFill>
                  <a:schemeClr val="tx1"/>
                </a:solidFill>
              </a:rPr>
              <a:t>大部分</a:t>
            </a:r>
            <a:r>
              <a:rPr lang="en-US" altLang="zh-CN" sz="3600" b="1" dirty="0">
                <a:solidFill>
                  <a:schemeClr val="tx1"/>
                </a:solidFill>
              </a:rPr>
              <a:t> 58. citizens</a:t>
            </a:r>
            <a:r>
              <a:rPr lang="zh-CN" altLang="en-US" sz="3600" b="1" dirty="0">
                <a:solidFill>
                  <a:schemeClr val="tx1"/>
                </a:solidFill>
              </a:rPr>
              <a:t>市民</a:t>
            </a:r>
            <a:endParaRPr lang="en-US" altLang="zh-CN" sz="3600" b="1" dirty="0">
              <a:solidFill>
                <a:schemeClr val="tx1"/>
              </a:solidFill>
            </a:endParaRPr>
          </a:p>
          <a:p>
            <a:r>
              <a:rPr lang="en-US" altLang="zh-CN" sz="3600" b="1" dirty="0">
                <a:solidFill>
                  <a:schemeClr val="tx1"/>
                </a:solidFill>
              </a:rPr>
              <a:t> 59. courtyards</a:t>
            </a:r>
            <a:r>
              <a:rPr lang="zh-CN" altLang="en-US" sz="3600" b="1" dirty="0">
                <a:solidFill>
                  <a:schemeClr val="tx1"/>
                </a:solidFill>
              </a:rPr>
              <a:t>院落</a:t>
            </a:r>
            <a:r>
              <a:rPr lang="en-US" altLang="zh-CN" sz="3600" b="1" dirty="0">
                <a:solidFill>
                  <a:schemeClr val="tx1"/>
                </a:solidFill>
              </a:rPr>
              <a:t> </a:t>
            </a:r>
            <a:r>
              <a:rPr lang="en-US" altLang="zh-CN" sz="3600" b="1" dirty="0">
                <a:solidFill>
                  <a:srgbClr val="FF0000"/>
                </a:solidFill>
              </a:rPr>
              <a:t>were joined</a:t>
            </a:r>
            <a:r>
              <a:rPr lang="en-US" altLang="zh-CN" sz="3600" b="1" dirty="0">
                <a:solidFill>
                  <a:srgbClr val="7030A0"/>
                </a:solidFill>
              </a:rPr>
              <a:t> together</a:t>
            </a:r>
            <a:r>
              <a:rPr lang="zh-CN" altLang="en-US" sz="3600" b="1" dirty="0">
                <a:solidFill>
                  <a:srgbClr val="7030A0"/>
                </a:solidFill>
              </a:rPr>
              <a:t>连在一起</a:t>
            </a:r>
            <a:r>
              <a:rPr lang="en-US" altLang="zh-CN" sz="3600" b="1" dirty="0">
                <a:solidFill>
                  <a:srgbClr val="7030A0"/>
                </a:solidFill>
              </a:rPr>
              <a:t> </a:t>
            </a:r>
          </a:p>
          <a:p>
            <a:r>
              <a:rPr lang="en-US" altLang="zh-CN" sz="3600" b="1" dirty="0">
                <a:solidFill>
                  <a:srgbClr val="7030A0"/>
                </a:solidFill>
              </a:rPr>
              <a:t> 60. </a:t>
            </a:r>
            <a:r>
              <a:rPr lang="en-US" altLang="zh-CN" sz="3600" b="1" dirty="0">
                <a:solidFill>
                  <a:srgbClr val="FF0000"/>
                </a:solidFill>
              </a:rPr>
              <a:t>with</a:t>
            </a:r>
            <a:r>
              <a:rPr lang="en-US" altLang="zh-CN" sz="3600" b="1" dirty="0">
                <a:solidFill>
                  <a:srgbClr val="7030A0"/>
                </a:solidFill>
              </a:rPr>
              <a:t> a history of</a:t>
            </a:r>
            <a:r>
              <a:rPr lang="zh-CN" altLang="en-US" sz="3600" b="1" dirty="0">
                <a:solidFill>
                  <a:srgbClr val="7030A0"/>
                </a:solidFill>
              </a:rPr>
              <a:t>有着</a:t>
            </a:r>
            <a:r>
              <a:rPr lang="en-US" altLang="zh-CN" sz="3600" b="1" dirty="0">
                <a:solidFill>
                  <a:srgbClr val="7030A0"/>
                </a:solidFill>
              </a:rPr>
              <a:t>…</a:t>
            </a:r>
            <a:r>
              <a:rPr lang="zh-CN" altLang="en-US" sz="3600" b="1" dirty="0">
                <a:solidFill>
                  <a:srgbClr val="7030A0"/>
                </a:solidFill>
              </a:rPr>
              <a:t>历史</a:t>
            </a:r>
            <a:r>
              <a:rPr lang="en-US" altLang="zh-CN" sz="3600" b="1" dirty="0">
                <a:solidFill>
                  <a:srgbClr val="7030A0"/>
                </a:solidFill>
              </a:rPr>
              <a:t> 61. </a:t>
            </a:r>
            <a:r>
              <a:rPr lang="en-US" altLang="zh-CN" sz="3600" b="1" u="sng" dirty="0">
                <a:solidFill>
                  <a:srgbClr val="7030A0"/>
                </a:solidFill>
              </a:rPr>
              <a:t>the </a:t>
            </a:r>
            <a:r>
              <a:rPr lang="en-US" altLang="zh-CN" sz="3600" b="1" dirty="0">
                <a:solidFill>
                  <a:schemeClr val="tx1"/>
                </a:solidFill>
              </a:rPr>
              <a:t>end of</a:t>
            </a:r>
          </a:p>
          <a:p>
            <a:r>
              <a:rPr lang="en-US" altLang="zh-CN" sz="3600" b="1" dirty="0">
                <a:solidFill>
                  <a:schemeClr val="tx1"/>
                </a:solidFill>
              </a:rPr>
              <a:t> 62.keeping</a:t>
            </a:r>
            <a:r>
              <a:rPr lang="zh-CN" altLang="en-US" sz="3600" b="1" dirty="0">
                <a:solidFill>
                  <a:schemeClr val="tx1"/>
                </a:solidFill>
              </a:rPr>
              <a:t>自然而然结果</a:t>
            </a:r>
            <a:r>
              <a:rPr lang="en-US" altLang="zh-CN" sz="3600" b="1" dirty="0">
                <a:solidFill>
                  <a:schemeClr val="tx1"/>
                </a:solidFill>
              </a:rPr>
              <a:t> 63.which</a:t>
            </a:r>
            <a:r>
              <a:rPr lang="zh-CN" altLang="en-US" sz="3600" b="1" dirty="0">
                <a:solidFill>
                  <a:schemeClr val="tx1"/>
                </a:solidFill>
              </a:rPr>
              <a:t>定从</a:t>
            </a:r>
            <a:r>
              <a:rPr lang="en-US" altLang="zh-CN" sz="3600" b="1" dirty="0">
                <a:solidFill>
                  <a:srgbClr val="7030A0"/>
                </a:solidFill>
              </a:rPr>
              <a:t> 64.</a:t>
            </a:r>
            <a:r>
              <a:rPr lang="en-US" altLang="zh-CN" sz="3600" b="1" dirty="0">
                <a:solidFill>
                  <a:srgbClr val="FF0000"/>
                </a:solidFill>
              </a:rPr>
              <a:t>narrowest</a:t>
            </a:r>
          </a:p>
          <a:p>
            <a:r>
              <a:rPr lang="en-US" altLang="zh-CN" sz="3600" b="1" dirty="0">
                <a:solidFill>
                  <a:srgbClr val="7030A0"/>
                </a:solidFill>
              </a:rPr>
              <a:t> 65.</a:t>
            </a:r>
            <a:r>
              <a:rPr lang="en-US" altLang="zh-CN" sz="3600" b="1" dirty="0">
                <a:solidFill>
                  <a:srgbClr val="FF0000"/>
                </a:solidFill>
              </a:rPr>
              <a:t>truly </a:t>
            </a:r>
            <a:r>
              <a:rPr lang="zh-CN" altLang="en-US" sz="3600" b="1" dirty="0">
                <a:solidFill>
                  <a:srgbClr val="7030A0"/>
                </a:solidFill>
              </a:rPr>
              <a:t>真正地</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66.defensive  adj.</a:t>
            </a:r>
            <a:r>
              <a:rPr lang="zh-CN" altLang="en-US" sz="3600" b="1" dirty="0">
                <a:solidFill>
                  <a:srgbClr val="FF0000"/>
                </a:solidFill>
              </a:rPr>
              <a:t>防御的</a:t>
            </a:r>
            <a:r>
              <a:rPr lang="en-US" altLang="zh-CN" sz="3600" b="1" dirty="0">
                <a:solidFill>
                  <a:srgbClr val="FF0000"/>
                </a:solidFill>
              </a:rPr>
              <a:t>  </a:t>
            </a:r>
          </a:p>
          <a:p>
            <a:r>
              <a:rPr lang="en-US" altLang="zh-CN" sz="3600" b="1" dirty="0">
                <a:solidFill>
                  <a:srgbClr val="FF0000"/>
                </a:solidFill>
              </a:rPr>
              <a:t> 67.architect </a:t>
            </a:r>
            <a:r>
              <a:rPr lang="zh-CN" altLang="en-US" sz="3600" b="1" dirty="0">
                <a:solidFill>
                  <a:srgbClr val="FF0000"/>
                </a:solidFill>
              </a:rPr>
              <a:t>建筑师</a:t>
            </a:r>
            <a:endParaRPr lang="en-US" altLang="zh-CN" sz="3600" b="1" dirty="0">
              <a:solidFill>
                <a:srgbClr val="FF0000"/>
              </a:solidFill>
            </a:endParaRPr>
          </a:p>
          <a:p>
            <a:r>
              <a:rPr lang="en-US" altLang="zh-CN" sz="3600" b="1" dirty="0">
                <a:solidFill>
                  <a:srgbClr val="FF0000"/>
                </a:solidFill>
              </a:rPr>
              <a:t> 68.play a critical role in</a:t>
            </a:r>
            <a:r>
              <a:rPr lang="zh-CN" altLang="en-US" sz="3600" b="1" dirty="0">
                <a:solidFill>
                  <a:srgbClr val="FF0000"/>
                </a:solidFill>
              </a:rPr>
              <a:t>起关键作用</a:t>
            </a:r>
            <a:r>
              <a:rPr lang="en-US" altLang="zh-CN" sz="3600" b="1" dirty="0">
                <a:solidFill>
                  <a:srgbClr val="FF0000"/>
                </a:solidFill>
              </a:rPr>
              <a:t> </a:t>
            </a:r>
          </a:p>
          <a:p>
            <a:r>
              <a:rPr lang="en-US" altLang="zh-CN" sz="3600" b="1" dirty="0">
                <a:solidFill>
                  <a:srgbClr val="FF0000"/>
                </a:solidFill>
              </a:rPr>
              <a:t> 69.tolerance n.</a:t>
            </a:r>
            <a:r>
              <a:rPr lang="zh-CN" altLang="en-US" sz="3600" b="1" dirty="0">
                <a:solidFill>
                  <a:srgbClr val="FF0000"/>
                </a:solidFill>
              </a:rPr>
              <a:t>容忍</a:t>
            </a:r>
            <a:endParaRPr lang="en-US" altLang="zh-CN" sz="3600" b="1" dirty="0">
              <a:solidFill>
                <a:srgbClr val="FF0000"/>
              </a:solidFill>
            </a:endParaRPr>
          </a:p>
          <a:p>
            <a:r>
              <a:rPr lang="en-US" altLang="zh-CN" sz="3600" b="1" dirty="0">
                <a:solidFill>
                  <a:srgbClr val="FF0000"/>
                </a:solidFill>
              </a:rPr>
              <a:t> 70.persuasion n.</a:t>
            </a:r>
            <a:r>
              <a:rPr lang="zh-CN" altLang="en-US" sz="3600" b="1" dirty="0">
                <a:solidFill>
                  <a:srgbClr val="FF0000"/>
                </a:solidFill>
              </a:rPr>
              <a:t>说服</a:t>
            </a:r>
            <a:r>
              <a:rPr lang="en-US" altLang="zh-CN" sz="3600" b="1" dirty="0">
                <a:solidFill>
                  <a:srgbClr val="FF0000"/>
                </a:solidFill>
              </a:rPr>
              <a:t> </a:t>
            </a:r>
          </a:p>
          <a:p>
            <a:r>
              <a:rPr lang="en-US" altLang="zh-CN" sz="3600" b="1" dirty="0">
                <a:solidFill>
                  <a:srgbClr val="FF0000"/>
                </a:solidFill>
              </a:rPr>
              <a:t>71. make it +adj.+for sb. </a:t>
            </a:r>
            <a:r>
              <a:rPr lang="en-US" altLang="zh-CN" sz="3600" b="1" u="sng" dirty="0">
                <a:solidFill>
                  <a:srgbClr val="FF0000"/>
                </a:solidFill>
              </a:rPr>
              <a:t>to build</a:t>
            </a:r>
            <a:r>
              <a:rPr lang="en-US" altLang="zh-CN" sz="3600" b="1" dirty="0">
                <a:solidFill>
                  <a:srgbClr val="FF0000"/>
                </a:solidFill>
              </a:rPr>
              <a:t> </a:t>
            </a:r>
          </a:p>
          <a:p>
            <a:r>
              <a:rPr lang="en-US" altLang="zh-CN" sz="3600" b="1" dirty="0">
                <a:solidFill>
                  <a:schemeClr val="tx1"/>
                </a:solidFill>
              </a:rPr>
              <a:t>72.The play (</a:t>
            </a:r>
            <a:r>
              <a:rPr lang="en-US" altLang="zh-CN" sz="3600" b="1" u="sng" dirty="0">
                <a:solidFill>
                  <a:srgbClr val="FF0000"/>
                </a:solidFill>
              </a:rPr>
              <a:t>to be produced</a:t>
            </a:r>
            <a:r>
              <a:rPr lang="en-US" altLang="zh-CN" sz="3600" b="1" dirty="0">
                <a:solidFill>
                  <a:srgbClr val="FF0000"/>
                </a:solidFill>
              </a:rPr>
              <a:t> </a:t>
            </a:r>
            <a:r>
              <a:rPr lang="en-US" altLang="zh-CN" sz="3600" b="1" dirty="0">
                <a:solidFill>
                  <a:schemeClr val="tx1"/>
                </a:solidFill>
              </a:rPr>
              <a:t>next month</a:t>
            </a:r>
            <a:r>
              <a:rPr lang="en-US" altLang="zh-CN" sz="3600" b="1" dirty="0">
                <a:solidFill>
                  <a:srgbClr val="FF0000"/>
                </a:solidFill>
              </a:rPr>
              <a:t>) ...</a:t>
            </a:r>
          </a:p>
          <a:p>
            <a:r>
              <a:rPr lang="en-US" altLang="zh-CN" sz="3600" b="1" dirty="0">
                <a:solidFill>
                  <a:srgbClr val="FF0000"/>
                </a:solidFill>
              </a:rPr>
              <a:t>73.Given </a:t>
            </a:r>
            <a:r>
              <a:rPr lang="zh-CN" altLang="en-US" sz="3600" b="1" dirty="0">
                <a:solidFill>
                  <a:srgbClr val="FF0000"/>
                </a:solidFill>
              </a:rPr>
              <a:t>考虑到</a:t>
            </a:r>
            <a:endParaRPr lang="en-US" altLang="zh-CN" sz="3600" b="1" dirty="0">
              <a:solidFill>
                <a:srgbClr val="FF0000"/>
              </a:solidFill>
            </a:endParaRPr>
          </a:p>
          <a:p>
            <a:r>
              <a:rPr lang="en-US" altLang="zh-CN" sz="3600" b="1" dirty="0">
                <a:solidFill>
                  <a:schemeClr val="tx1"/>
                </a:solidFill>
              </a:rPr>
              <a:t>74.amusing </a:t>
            </a:r>
          </a:p>
          <a:p>
            <a:r>
              <a:rPr lang="en-US" altLang="zh-CN" sz="3600" b="1" dirty="0">
                <a:solidFill>
                  <a:srgbClr val="FF0000"/>
                </a:solidFill>
              </a:rPr>
              <a:t>75.had reminded</a:t>
            </a:r>
            <a:r>
              <a:rPr lang="zh-CN" altLang="en-US" sz="3600" b="1" dirty="0">
                <a:solidFill>
                  <a:srgbClr val="FF0000"/>
                </a:solidFill>
              </a:rPr>
              <a:t>。。。。</a:t>
            </a:r>
            <a:r>
              <a:rPr lang="en-US" altLang="zh-CN" sz="3600" b="1" dirty="0">
                <a:solidFill>
                  <a:srgbClr val="FF0000"/>
                </a:solidFill>
              </a:rPr>
              <a:t>wouldn’t</a:t>
            </a:r>
            <a:r>
              <a:rPr lang="zh-CN" altLang="en-US" sz="3600" b="1" dirty="0">
                <a:solidFill>
                  <a:srgbClr val="FF0000"/>
                </a:solidFill>
              </a:rPr>
              <a:t>过去总是</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ym typeface="+mn-ea"/>
              </a:rPr>
              <a:t>I approached his desk, my heart heavy with curiosity and concern. “Whose hand is it, Lucas?” I asked softly. </a:t>
            </a:r>
            <a:r>
              <a:rPr lang="en-US" altLang="zh-CN" sz="3600" b="1" dirty="0">
                <a:solidFill>
                  <a:srgbClr val="FF0000"/>
                </a:solidFill>
                <a:sym typeface="+mn-ea"/>
              </a:rPr>
              <a:t>“It’s yours, </a:t>
            </a:r>
            <a:r>
              <a:rPr lang="en-US" altLang="zh-CN" sz="3600" b="1" dirty="0">
                <a:sym typeface="+mn-ea"/>
              </a:rPr>
              <a:t>Miss White,”</a:t>
            </a:r>
            <a:r>
              <a:rPr lang="en-US" altLang="zh-CN" sz="3600" b="1" dirty="0">
                <a:solidFill>
                  <a:srgbClr val="FF0000"/>
                </a:solidFill>
                <a:sym typeface="+mn-ea"/>
              </a:rPr>
              <a:t> he whispered, looking away shyly. His words hit me like a wave, washing over me with an unexpected depth of emotion. In that moment, memories flooded back. It turned out that</a:t>
            </a:r>
            <a:r>
              <a:rPr lang="en-US" altLang="zh-CN" sz="3600" b="1" dirty="0">
                <a:sym typeface="+mn-ea"/>
              </a:rPr>
              <a:t> Lucas was most thankful for MY hand,</a:t>
            </a:r>
            <a:r>
              <a:rPr lang="en-US" altLang="zh-CN" sz="3600" b="1" dirty="0">
                <a:solidFill>
                  <a:schemeClr val="tx1"/>
                </a:solidFill>
                <a:sym typeface="+mn-ea"/>
              </a:rPr>
              <a:t> the hand that had guided him, comforted him, and shown him that he wasn’t alone. </a:t>
            </a:r>
            <a:r>
              <a:rPr lang="en-US" altLang="zh-CN" sz="3600" b="1" dirty="0">
                <a:solidFill>
                  <a:srgbClr val="FF0000"/>
                </a:solidFill>
                <a:sym typeface="+mn-ea"/>
              </a:rPr>
              <a:t>His simple yet powerful gesture of gratitude brought tears to my eyes. </a:t>
            </a:r>
            <a:endParaRPr lang="en-US" altLang="zh-CN"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Kneeling down to meet his eye level, I asked softly, </a:t>
            </a:r>
            <a:r>
              <a:rPr lang="en-US" altLang="zh-CN" sz="3600" b="1" dirty="0">
                <a:solidFill>
                  <a:schemeClr val="tx1"/>
                </a:solidFill>
              </a:rPr>
              <a:t>"Lucas, would you tell me about your drawing?"</a:t>
            </a:r>
            <a:r>
              <a:rPr lang="en-US" altLang="zh-CN" sz="3600" b="1" dirty="0">
                <a:solidFill>
                  <a:srgbClr val="FF0000"/>
                </a:solidFill>
              </a:rPr>
              <a:t> He hesitated for a moment, h</a:t>
            </a:r>
            <a:r>
              <a:rPr lang="en-US" altLang="zh-CN" sz="3600" b="1" dirty="0">
                <a:solidFill>
                  <a:schemeClr val="tx1"/>
                </a:solidFill>
              </a:rPr>
              <a:t>is small fingers tracing the outline of the hand on his paper. </a:t>
            </a:r>
            <a:r>
              <a:rPr lang="en-US" altLang="zh-CN" sz="3600" b="1" dirty="0">
                <a:solidFill>
                  <a:srgbClr val="FF0000"/>
                </a:solidFill>
              </a:rPr>
              <a:t>"It's your hand, Teacher," he whispered, </a:t>
            </a:r>
            <a:r>
              <a:rPr lang="en-US" altLang="zh-CN" sz="3600" b="1" dirty="0">
                <a:solidFill>
                  <a:schemeClr val="tx1"/>
                </a:solidFill>
              </a:rPr>
              <a:t>his voice barely audible. "When everyone plays during recess, I stand alone. But you always let me hold your hand. Your hand makes me feel safe and not lonely anymore."</a:t>
            </a:r>
            <a:r>
              <a:rPr lang="en-US" altLang="zh-CN" sz="3600" b="1" dirty="0">
                <a:solidFill>
                  <a:srgbClr val="FF0000"/>
                </a:solidFill>
              </a:rPr>
              <a:t> Tears welled in my eyes as I finally understood the profound gratitude behind his simple drawing. In that moment, I realized my hand represented the only comfort in his lonely world.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chemeClr val="tx1"/>
                </a:solidFill>
              </a:rPr>
              <a:t>“Lucas, could you tell me about your drawing?”</a:t>
            </a:r>
            <a:r>
              <a:rPr lang="en-US" altLang="zh-CN" sz="3600" b="1" dirty="0">
                <a:solidFill>
                  <a:srgbClr val="FF0000"/>
                </a:solidFill>
              </a:rPr>
              <a:t> </a:t>
            </a:r>
            <a:r>
              <a:rPr lang="en-US" altLang="zh-CN" sz="3600" b="1" dirty="0">
                <a:solidFill>
                  <a:schemeClr val="tx1"/>
                </a:solidFill>
              </a:rPr>
              <a:t>I asked softly.</a:t>
            </a:r>
            <a:r>
              <a:rPr lang="en-US" altLang="zh-CN" sz="3600" b="1" dirty="0">
                <a:solidFill>
                  <a:srgbClr val="FF0000"/>
                </a:solidFill>
              </a:rPr>
              <a:t> Lucas looked up at me, </a:t>
            </a:r>
            <a:r>
              <a:rPr lang="en-US" altLang="zh-CN" sz="3600" b="1" u="sng" dirty="0">
                <a:solidFill>
                  <a:srgbClr val="FF0000"/>
                </a:solidFill>
              </a:rPr>
              <a:t>his eyes shimmering with a hint of emotion.</a:t>
            </a:r>
            <a:r>
              <a:rPr lang="en-US" altLang="zh-CN" sz="3600" b="1" dirty="0">
                <a:solidFill>
                  <a:srgbClr val="FF0000"/>
                </a:solidFill>
              </a:rPr>
              <a:t> </a:t>
            </a:r>
            <a:r>
              <a:rPr lang="en-US" altLang="zh-CN" sz="3600" b="1" dirty="0">
                <a:solidFill>
                  <a:schemeClr val="tx1"/>
                </a:solidFill>
              </a:rPr>
              <a:t>“It's your hand, Miss,” he whispered. “Every time I feel lonely or scared, you hold my hand. You make me feel safe and loved.” </a:t>
            </a:r>
            <a:r>
              <a:rPr lang="en-US" altLang="zh-CN" sz="3600" b="1" dirty="0">
                <a:solidFill>
                  <a:srgbClr val="FF0000"/>
                </a:solidFill>
              </a:rPr>
              <a:t>My heart melted as I realized the depth of his gratitude. I knelt down, gave him a gentle hug</a:t>
            </a:r>
            <a:r>
              <a:rPr lang="en-US" altLang="zh-CN" sz="3600" b="1" dirty="0">
                <a:solidFill>
                  <a:schemeClr val="tx1"/>
                </a:solidFill>
              </a:rPr>
              <a:t>, and said, “Lucas, you are such a sweet boy. I'm so glad I can be here for you.”</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just"/>
            <a:r>
              <a:rPr lang="en-US" altLang="zh-CN" sz="3600" b="1" dirty="0">
                <a:solidFill>
                  <a:schemeClr val="tx1"/>
                </a:solidFill>
              </a:rPr>
              <a:t>The next day, I made sure to stay close to Lucas, lending a hand whenever possible.</a:t>
            </a:r>
            <a:r>
              <a:rPr lang="en-US" altLang="zh-CN" sz="3600" b="1" dirty="0">
                <a:solidFill>
                  <a:srgbClr val="FF0000"/>
                </a:solidFill>
              </a:rPr>
              <a:t> During storytime, I let him turn the pages as I read. When he slipped his hand into mine, I gave it a gentle squeeze. </a:t>
            </a:r>
            <a:r>
              <a:rPr lang="en-US" altLang="zh-CN" sz="3600" b="1" dirty="0">
                <a:solidFill>
                  <a:schemeClr val="tx1"/>
                </a:solidFill>
              </a:rPr>
              <a:t>His eyes met mine, and for the first time, I saw not sadness, but happiness.</a:t>
            </a:r>
            <a:r>
              <a:rPr lang="en-US" altLang="zh-CN" sz="3600" b="1" dirty="0">
                <a:solidFill>
                  <a:srgbClr val="FF0000"/>
                </a:solidFill>
              </a:rPr>
              <a:t> </a:t>
            </a:r>
            <a:r>
              <a:rPr lang="en-US" altLang="zh-CN" sz="3600" b="1" dirty="0">
                <a:solidFill>
                  <a:schemeClr val="tx1"/>
                </a:solidFill>
              </a:rPr>
              <a:t>Gradually, his movements seemed less hesitant, his posture a little less tense.</a:t>
            </a:r>
            <a:r>
              <a:rPr lang="en-US" altLang="zh-CN" sz="3600" b="1" u="sng" dirty="0">
                <a:solidFill>
                  <a:schemeClr val="tx1"/>
                </a:solidFill>
              </a:rPr>
              <a:t> </a:t>
            </a:r>
            <a:r>
              <a:rPr lang="en-US" altLang="zh-CN" sz="3600" b="1" u="sng" dirty="0">
                <a:solidFill>
                  <a:srgbClr val="FF0000"/>
                </a:solidFill>
              </a:rPr>
              <a:t>During recess, he made his first attempt to join the other children. Watching him tentatively interact with his classmates, I felt a swell of warmth in my chest.</a:t>
            </a:r>
            <a:r>
              <a:rPr lang="en-US" altLang="zh-CN" sz="3600" b="1" dirty="0">
                <a:solidFill>
                  <a:srgbClr val="FF0000"/>
                </a:solidFill>
              </a:rPr>
              <a:t> Thanksgiving Day came and went, but Lucas’s drawing remained pinned to the wall, a silent testament to the impact of a teacher’s hand.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During recess, I invited him to join in games with other children. </a:t>
            </a:r>
            <a:r>
              <a:rPr lang="en-US" altLang="zh-CN" sz="3600" b="1" u="sng" dirty="0">
                <a:solidFill>
                  <a:srgbClr val="FF0000"/>
                </a:solidFill>
              </a:rPr>
              <a:t>At first,</a:t>
            </a:r>
            <a:r>
              <a:rPr lang="en-US" altLang="zh-CN" sz="3600" b="1" dirty="0">
                <a:solidFill>
                  <a:srgbClr val="FF0000"/>
                </a:solidFill>
              </a:rPr>
              <a:t> he was hesitant, but with my encouragement, </a:t>
            </a:r>
            <a:r>
              <a:rPr lang="en-US" altLang="zh-CN" sz="3600" b="1" u="sng" dirty="0">
                <a:solidFill>
                  <a:srgbClr val="FF0000"/>
                </a:solidFill>
              </a:rPr>
              <a:t>he gradually started to interact with his </a:t>
            </a:r>
            <a:r>
              <a:rPr lang="en-US" altLang="zh-CN" sz="3600" b="1" dirty="0">
                <a:solidFill>
                  <a:srgbClr val="FF0000"/>
                </a:solidFill>
              </a:rPr>
              <a:t>classmates. Seeing him smile and play freely, my heart was filled with joy. </a:t>
            </a:r>
            <a:r>
              <a:rPr lang="en-US" altLang="zh-CN" sz="3600" b="1" dirty="0">
                <a:solidFill>
                  <a:schemeClr val="tx1"/>
                </a:solidFill>
              </a:rPr>
              <a:t>As Thanksgiving Day arrived, Lucas drew a new picture—a group of children holding hands, with a big smile on his face. This time, he shared it proudly with the whole class, and everyone applauded. </a:t>
            </a:r>
            <a:r>
              <a:rPr lang="en-US" altLang="zh-CN" sz="3600" b="1" dirty="0">
                <a:solidFill>
                  <a:srgbClr val="FF0000"/>
                </a:solidFill>
              </a:rPr>
              <a:t>It was a heartwarming moment, showing that a</a:t>
            </a:r>
            <a:r>
              <a:rPr lang="en-US" altLang="zh-CN" sz="3600" b="1" u="sng" dirty="0">
                <a:solidFill>
                  <a:srgbClr val="FF0000"/>
                </a:solidFill>
              </a:rPr>
              <a:t> little </a:t>
            </a:r>
            <a:r>
              <a:rPr lang="en-US" altLang="zh-CN" sz="3600" b="1" u="sng" dirty="0">
                <a:solidFill>
                  <a:srgbClr val="FF0000"/>
                </a:solidFill>
                <a:highlight>
                  <a:srgbClr val="FFFF00"/>
                </a:highlight>
              </a:rPr>
              <a:t>kindness </a:t>
            </a:r>
            <a:r>
              <a:rPr lang="en-US" altLang="zh-CN" sz="3600" b="1" u="sng" dirty="0">
                <a:solidFill>
                  <a:srgbClr val="FF0000"/>
                </a:solidFill>
              </a:rPr>
              <a:t>could </a:t>
            </a:r>
            <a:r>
              <a:rPr lang="en-US" altLang="zh-CN" sz="3600" b="1" u="sng" dirty="0">
                <a:solidFill>
                  <a:srgbClr val="FF0000"/>
                </a:solidFill>
                <a:highlight>
                  <a:srgbClr val="FFFF00"/>
                </a:highlight>
              </a:rPr>
              <a:t>make a big difference </a:t>
            </a:r>
            <a:r>
              <a:rPr lang="en-US" altLang="zh-CN" sz="3600" b="1" u="sng" dirty="0">
                <a:solidFill>
                  <a:srgbClr val="FF0000"/>
                </a:solidFill>
              </a:rPr>
              <a:t>in a child's life.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u="sng" dirty="0">
                <a:solidFill>
                  <a:srgbClr val="FF0000"/>
                </a:solidFill>
              </a:rPr>
              <a:t>As Thanksgiving approached, I understood the true meaning of </a:t>
            </a:r>
            <a:r>
              <a:rPr lang="en-US" altLang="zh-CN" sz="3600" b="1" u="sng" dirty="0">
                <a:solidFill>
                  <a:srgbClr val="FF0000"/>
                </a:solidFill>
                <a:highlight>
                  <a:srgbClr val="FFFF00"/>
                </a:highlight>
              </a:rPr>
              <a:t>gratitude </a:t>
            </a:r>
            <a:r>
              <a:rPr lang="en-US" altLang="zh-CN" sz="3600" b="1" u="sng" dirty="0">
                <a:solidFill>
                  <a:srgbClr val="FF0000"/>
                </a:solidFill>
              </a:rPr>
              <a:t>wasn't about grand gestures, but about the small acts of </a:t>
            </a:r>
            <a:r>
              <a:rPr lang="en-US" altLang="zh-CN" sz="3600" b="1" u="sng" dirty="0">
                <a:solidFill>
                  <a:srgbClr val="FF0000"/>
                </a:solidFill>
                <a:highlight>
                  <a:srgbClr val="FFFF00"/>
                </a:highlight>
              </a:rPr>
              <a:t>kindness </a:t>
            </a:r>
            <a:r>
              <a:rPr lang="en-US" altLang="zh-CN" sz="3600" b="1" u="sng" dirty="0">
                <a:solidFill>
                  <a:srgbClr val="FF0000"/>
                </a:solidFill>
              </a:rPr>
              <a:t>that make others feel seen and valued.</a:t>
            </a:r>
            <a:r>
              <a:rPr lang="en-US" altLang="zh-CN" sz="3600" b="1" dirty="0">
                <a:solidFill>
                  <a:srgbClr val="FF0000"/>
                </a:solidFill>
              </a:rPr>
              <a:t> </a:t>
            </a:r>
          </a:p>
          <a:p>
            <a:r>
              <a:rPr lang="en-US" altLang="zh-CN" sz="3600" b="1" dirty="0">
                <a:solidFill>
                  <a:srgbClr val="FF0000"/>
                </a:solidFill>
              </a:rPr>
              <a:t>Lucas taught me that sometimes the most powerful thanks can be expressed without words, through the simple comfort of </a:t>
            </a:r>
            <a:r>
              <a:rPr lang="en-US" altLang="zh-CN" sz="3600" b="1" dirty="0">
                <a:solidFill>
                  <a:srgbClr val="FF0000"/>
                </a:solidFill>
                <a:highlight>
                  <a:srgbClr val="FFFF00"/>
                </a:highlight>
              </a:rPr>
              <a:t>a helping hand</a:t>
            </a:r>
            <a:r>
              <a:rPr lang="en-US" altLang="zh-CN" sz="3600" b="1" dirty="0">
                <a:solidFill>
                  <a:srgbClr val="FF0000"/>
                </a:solidFill>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zh-CN" altLang="en-US" sz="3600" b="1" dirty="0"/>
              <a:t>练习本</a:t>
            </a:r>
            <a:r>
              <a:rPr lang="en-US" altLang="zh-CN" sz="3600" b="1" dirty="0"/>
              <a:t>P25-29 </a:t>
            </a:r>
            <a:r>
              <a:rPr lang="en-US" altLang="zh-CN" sz="3600" b="1" dirty="0">
                <a:solidFill>
                  <a:srgbClr val="FF0000"/>
                </a:solidFill>
              </a:rPr>
              <a:t>conduct v.</a:t>
            </a:r>
            <a:r>
              <a:rPr lang="zh-CN" altLang="en-US" sz="3600" b="1" dirty="0">
                <a:solidFill>
                  <a:srgbClr val="FF0000"/>
                </a:solidFill>
              </a:rPr>
              <a:t>实施执行</a:t>
            </a:r>
            <a:r>
              <a:rPr lang="en-US" altLang="zh-CN" sz="3600" b="1" dirty="0">
                <a:solidFill>
                  <a:srgbClr val="FF0000"/>
                </a:solidFill>
              </a:rPr>
              <a:t>=carry out;</a:t>
            </a:r>
            <a:r>
              <a:rPr lang="zh-CN" altLang="en-US" sz="3600" b="1" dirty="0">
                <a:solidFill>
                  <a:srgbClr val="FF0000"/>
                </a:solidFill>
              </a:rPr>
              <a:t>行为举止</a:t>
            </a:r>
            <a:endParaRPr lang="en-US" altLang="zh-CN" sz="3600" b="1" dirty="0">
              <a:solidFill>
                <a:srgbClr val="FF0000"/>
              </a:solidFill>
            </a:endParaRPr>
          </a:p>
          <a:p>
            <a:r>
              <a:rPr lang="en-US" altLang="zh-CN" sz="3600" b="1" dirty="0">
                <a:solidFill>
                  <a:srgbClr val="FF0000"/>
                </a:solidFill>
              </a:rPr>
              <a:t> soap</a:t>
            </a:r>
            <a:r>
              <a:rPr lang="zh-CN" altLang="en-US" sz="3600" b="1" dirty="0">
                <a:solidFill>
                  <a:srgbClr val="FF0000"/>
                </a:solidFill>
              </a:rPr>
              <a:t>肥皂</a:t>
            </a:r>
            <a:r>
              <a:rPr lang="en-US" altLang="zh-CN" sz="3600" b="1" dirty="0">
                <a:solidFill>
                  <a:srgbClr val="FF0000"/>
                </a:solidFill>
              </a:rPr>
              <a:t> advertising</a:t>
            </a:r>
            <a:r>
              <a:rPr lang="zh-CN" altLang="en-US" sz="3600" b="1" dirty="0">
                <a:solidFill>
                  <a:srgbClr val="FF0000"/>
                </a:solidFill>
              </a:rPr>
              <a:t>广告业 </a:t>
            </a:r>
            <a:r>
              <a:rPr lang="en-US" altLang="zh-CN" sz="3600" b="1" dirty="0">
                <a:solidFill>
                  <a:srgbClr val="FF0000"/>
                </a:solidFill>
              </a:rPr>
              <a:t>advertisement</a:t>
            </a:r>
            <a:r>
              <a:rPr lang="zh-CN" altLang="en-US" sz="3600" b="1" dirty="0">
                <a:solidFill>
                  <a:srgbClr val="FF0000"/>
                </a:solidFill>
              </a:rPr>
              <a:t>广告</a:t>
            </a:r>
            <a:r>
              <a:rPr lang="en-US" altLang="zh-CN" sz="3600" b="1" dirty="0">
                <a:solidFill>
                  <a:srgbClr val="FF0000"/>
                </a:solidFill>
              </a:rPr>
              <a:t>=ad</a:t>
            </a:r>
          </a:p>
          <a:p>
            <a:r>
              <a:rPr lang="en-US" altLang="zh-CN" sz="3600" b="1" dirty="0">
                <a:solidFill>
                  <a:srgbClr val="FF0000"/>
                </a:solidFill>
              </a:rPr>
              <a:t> follow the updates</a:t>
            </a:r>
            <a:r>
              <a:rPr lang="zh-CN" altLang="en-US" sz="3600" b="1" dirty="0">
                <a:solidFill>
                  <a:srgbClr val="FF0000"/>
                </a:solidFill>
              </a:rPr>
              <a:t>关注更新 </a:t>
            </a:r>
            <a:endParaRPr lang="en-US" altLang="zh-CN" sz="3600" b="1" dirty="0">
              <a:solidFill>
                <a:srgbClr val="FF0000"/>
              </a:solidFill>
            </a:endParaRPr>
          </a:p>
          <a:p>
            <a:r>
              <a:rPr lang="en-US" altLang="zh-CN" sz="3600" b="1" dirty="0"/>
              <a:t> go cold turkey</a:t>
            </a:r>
            <a:r>
              <a:rPr lang="zh-CN" altLang="en-US" sz="3600" b="1" dirty="0"/>
              <a:t>突然停止某种习惯</a:t>
            </a:r>
            <a:endParaRPr lang="en-US" altLang="zh-CN" sz="3600" b="1" dirty="0"/>
          </a:p>
          <a:p>
            <a:r>
              <a:rPr lang="en-US" altLang="zh-CN" sz="3600" b="1" dirty="0">
                <a:solidFill>
                  <a:srgbClr val="FF0000"/>
                </a:solidFill>
              </a:rPr>
              <a:t> check social media</a:t>
            </a:r>
            <a:r>
              <a:rPr lang="zh-CN" altLang="en-US" sz="3600" b="1" dirty="0">
                <a:solidFill>
                  <a:srgbClr val="FF0000"/>
                </a:solidFill>
              </a:rPr>
              <a:t>查看社交媒体</a:t>
            </a:r>
            <a:r>
              <a:rPr lang="en-US" altLang="zh-CN" sz="3600" b="1" dirty="0">
                <a:solidFill>
                  <a:srgbClr val="FF0000"/>
                </a:solidFill>
              </a:rPr>
              <a:t> miss out</a:t>
            </a:r>
            <a:r>
              <a:rPr lang="zh-CN" altLang="en-US" sz="3600" b="1" dirty="0">
                <a:solidFill>
                  <a:srgbClr val="FF0000"/>
                </a:solidFill>
              </a:rPr>
              <a:t>错过 </a:t>
            </a:r>
            <a:r>
              <a:rPr lang="en-US" altLang="zh-CN" sz="3600" b="1" dirty="0">
                <a:solidFill>
                  <a:srgbClr val="FF0000"/>
                </a:solidFill>
              </a:rPr>
              <a:t> </a:t>
            </a:r>
          </a:p>
          <a:p>
            <a:r>
              <a:rPr lang="en-US" altLang="zh-CN" sz="3600" b="1" dirty="0">
                <a:solidFill>
                  <a:srgbClr val="FF0000"/>
                </a:solidFill>
              </a:rPr>
              <a:t> </a:t>
            </a:r>
            <a:r>
              <a:rPr lang="en-US" altLang="zh-CN" sz="3600" b="1" dirty="0"/>
              <a:t>figure out</a:t>
            </a:r>
            <a:r>
              <a:rPr lang="zh-CN" altLang="en-US" sz="3600" b="1" dirty="0"/>
              <a:t>弄清楚</a:t>
            </a:r>
            <a:r>
              <a:rPr lang="en-US" altLang="zh-CN" sz="3600" b="1" dirty="0"/>
              <a:t>;</a:t>
            </a:r>
            <a:r>
              <a:rPr lang="zh-CN" altLang="en-US" sz="3600" b="1" dirty="0"/>
              <a:t>解决 </a:t>
            </a:r>
            <a:r>
              <a:rPr lang="en-US" altLang="zh-CN" sz="3600" b="1" dirty="0"/>
              <a:t>pick out</a:t>
            </a:r>
            <a:r>
              <a:rPr lang="zh-CN" altLang="en-US" sz="3600" b="1" dirty="0"/>
              <a:t>挑出</a:t>
            </a:r>
            <a:r>
              <a:rPr lang="en-US" altLang="zh-CN" sz="3600" b="1" dirty="0"/>
              <a:t>;</a:t>
            </a:r>
            <a:r>
              <a:rPr lang="zh-CN" altLang="en-US" sz="3600" b="1" dirty="0"/>
              <a:t>辨认</a:t>
            </a:r>
            <a:r>
              <a:rPr lang="en-US" altLang="zh-CN" sz="3600" b="1" dirty="0"/>
              <a:t> run out</a:t>
            </a:r>
            <a:r>
              <a:rPr lang="zh-CN" altLang="en-US" sz="3600" b="1" dirty="0"/>
              <a:t>用完耗尽</a:t>
            </a:r>
            <a:endParaRPr lang="en-US" altLang="zh-CN" sz="3600" b="1" dirty="0"/>
          </a:p>
          <a:p>
            <a:r>
              <a:rPr lang="en-US" altLang="zh-CN" sz="3600" b="1" dirty="0">
                <a:solidFill>
                  <a:srgbClr val="FF0000"/>
                </a:solidFill>
              </a:rPr>
              <a:t> glance through</a:t>
            </a:r>
            <a:r>
              <a:rPr lang="zh-CN" altLang="en-US" sz="3600" b="1" dirty="0">
                <a:solidFill>
                  <a:srgbClr val="FF0000"/>
                </a:solidFill>
              </a:rPr>
              <a:t>简单快速浏览</a:t>
            </a:r>
            <a:r>
              <a:rPr lang="en-US" altLang="zh-CN" sz="3600" b="1" dirty="0">
                <a:solidFill>
                  <a:srgbClr val="FF0000"/>
                </a:solidFill>
              </a:rPr>
              <a:t> </a:t>
            </a:r>
          </a:p>
          <a:p>
            <a:r>
              <a:rPr lang="en-US" altLang="zh-CN" sz="3600" b="1" dirty="0">
                <a:solidFill>
                  <a:srgbClr val="FF0000"/>
                </a:solidFill>
              </a:rPr>
              <a:t> look through</a:t>
            </a:r>
            <a:r>
              <a:rPr lang="zh-CN" altLang="en-US" sz="3600" b="1" dirty="0">
                <a:solidFill>
                  <a:srgbClr val="FF0000"/>
                </a:solidFill>
              </a:rPr>
              <a:t>阅读浏览</a:t>
            </a:r>
            <a:r>
              <a:rPr lang="en-US" altLang="zh-CN" sz="3600" b="1" dirty="0">
                <a:solidFill>
                  <a:srgbClr val="FF0000"/>
                </a:solidFill>
              </a:rPr>
              <a:t>;</a:t>
            </a:r>
            <a:r>
              <a:rPr lang="zh-CN" altLang="en-US" sz="3600" b="1" dirty="0">
                <a:solidFill>
                  <a:srgbClr val="FF0000"/>
                </a:solidFill>
              </a:rPr>
              <a:t>仔细查看</a:t>
            </a:r>
            <a:endParaRPr lang="en-US" altLang="zh-CN" sz="3600" b="1" dirty="0">
              <a:solidFill>
                <a:srgbClr val="FF0000"/>
              </a:solidFill>
            </a:endParaRPr>
          </a:p>
          <a:p>
            <a:r>
              <a:rPr lang="en-US" altLang="zh-CN" sz="3600" b="1" dirty="0">
                <a:solidFill>
                  <a:srgbClr val="FF0000"/>
                </a:solidFill>
              </a:rPr>
              <a:t> get through</a:t>
            </a:r>
            <a:r>
              <a:rPr lang="zh-CN" altLang="en-US" sz="3600" b="1" dirty="0">
                <a:solidFill>
                  <a:srgbClr val="FF0000"/>
                </a:solidFill>
              </a:rPr>
              <a:t>完成</a:t>
            </a:r>
            <a:r>
              <a:rPr lang="en-US" altLang="zh-CN" sz="3600" b="1" dirty="0">
                <a:solidFill>
                  <a:srgbClr val="FF0000"/>
                </a:solidFill>
              </a:rPr>
              <a:t>;</a:t>
            </a:r>
            <a:r>
              <a:rPr lang="zh-CN" altLang="en-US" sz="3600" b="1" dirty="0">
                <a:solidFill>
                  <a:srgbClr val="FF0000"/>
                </a:solidFill>
              </a:rPr>
              <a:t>熬过</a:t>
            </a:r>
            <a:r>
              <a:rPr lang="en-US" altLang="zh-CN" sz="3600" b="1" dirty="0">
                <a:solidFill>
                  <a:srgbClr val="FF0000"/>
                </a:solidFill>
              </a:rPr>
              <a:t>;</a:t>
            </a:r>
            <a:r>
              <a:rPr lang="zh-CN" altLang="en-US" sz="3600" b="1" dirty="0">
                <a:solidFill>
                  <a:srgbClr val="FF0000"/>
                </a:solidFill>
              </a:rPr>
              <a:t>取得联系</a:t>
            </a:r>
            <a:r>
              <a:rPr lang="en-US" altLang="zh-CN" sz="3600" b="1" dirty="0">
                <a:solidFill>
                  <a:srgbClr val="FF0000"/>
                </a:solidFill>
              </a:rPr>
              <a:t> </a:t>
            </a:r>
          </a:p>
          <a:p>
            <a:r>
              <a:rPr lang="en-US" altLang="zh-CN" sz="3600" b="1" dirty="0">
                <a:solidFill>
                  <a:srgbClr val="FF0000"/>
                </a:solidFill>
              </a:rPr>
              <a:t> pull through</a:t>
            </a:r>
            <a:r>
              <a:rPr lang="zh-CN" altLang="en-US" sz="3600" b="1" dirty="0">
                <a:solidFill>
                  <a:srgbClr val="FF0000"/>
                </a:solidFill>
              </a:rPr>
              <a:t>度过难关</a:t>
            </a:r>
            <a:r>
              <a:rPr lang="en-US" altLang="zh-CN" sz="3600" b="1" dirty="0">
                <a:solidFill>
                  <a:srgbClr val="FF0000"/>
                </a:solidFill>
              </a:rPr>
              <a:t>;</a:t>
            </a:r>
            <a:r>
              <a:rPr lang="zh-CN" altLang="en-US" sz="3600" b="1" dirty="0">
                <a:solidFill>
                  <a:srgbClr val="FF0000"/>
                </a:solidFill>
              </a:rPr>
              <a:t>恢复健康</a:t>
            </a:r>
            <a:endParaRPr lang="en-US" altLang="zh-CN" sz="3600" b="1" dirty="0">
              <a:solidFill>
                <a:srgbClr val="FF0000"/>
              </a:solidFill>
            </a:endParaRPr>
          </a:p>
          <a:p>
            <a:r>
              <a:rPr lang="en-US" altLang="zh-CN" sz="3600" b="1" dirty="0">
                <a:solidFill>
                  <a:srgbClr val="FF0000"/>
                </a:solidFill>
              </a:rPr>
              <a:t> </a:t>
            </a:r>
            <a:r>
              <a:rPr lang="en-US" altLang="zh-CN" sz="3600" b="1" dirty="0">
                <a:solidFill>
                  <a:srgbClr val="7030A0"/>
                </a:solidFill>
              </a:rPr>
              <a:t>occasionally</a:t>
            </a:r>
            <a:r>
              <a:rPr lang="zh-CN" altLang="en-US" sz="3600" b="1" dirty="0">
                <a:solidFill>
                  <a:srgbClr val="7030A0"/>
                </a:solidFill>
              </a:rPr>
              <a:t>偶尔偶然</a:t>
            </a:r>
            <a:r>
              <a:rPr lang="en-US" altLang="zh-CN" sz="3600" b="1" dirty="0">
                <a:solidFill>
                  <a:srgbClr val="7030A0"/>
                </a:solidFill>
              </a:rPr>
              <a:t> dramatically</a:t>
            </a:r>
            <a:r>
              <a:rPr lang="zh-CN" altLang="en-US" sz="3600" b="1" dirty="0">
                <a:solidFill>
                  <a:srgbClr val="7030A0"/>
                </a:solidFill>
              </a:rPr>
              <a:t>剧烈地戏剧性地</a:t>
            </a:r>
            <a:endParaRPr lang="en-US" altLang="zh-CN" sz="3600" b="1" dirty="0">
              <a:solidFill>
                <a:srgbClr val="7030A0"/>
              </a:solidFill>
            </a:endParaRPr>
          </a:p>
          <a:p>
            <a:r>
              <a:rPr lang="en-US" altLang="zh-CN" sz="3600" b="1" dirty="0">
                <a:solidFill>
                  <a:srgbClr val="FF0000"/>
                </a:solidFill>
              </a:rPr>
              <a:t> </a:t>
            </a:r>
            <a:r>
              <a:rPr lang="en-US" altLang="zh-CN" sz="3600" b="1" dirty="0"/>
              <a:t>unfortunately</a:t>
            </a:r>
            <a:r>
              <a:rPr lang="zh-CN" altLang="en-US" sz="3600" b="1" dirty="0"/>
              <a:t>不幸地 </a:t>
            </a:r>
            <a:r>
              <a:rPr lang="en-US" altLang="zh-CN" sz="3600" b="1" dirty="0"/>
              <a:t>oppositely</a:t>
            </a:r>
            <a:r>
              <a:rPr lang="zh-CN" altLang="en-US" sz="3600" b="1" dirty="0"/>
              <a:t>相反地</a:t>
            </a:r>
            <a:endParaRPr lang="en-US" altLang="zh-CN" sz="3600" b="1" dirty="0"/>
          </a:p>
          <a:p>
            <a:endParaRPr lang="en-US" altLang="zh-CN" sz="3600" b="1" dirty="0">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resist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抵制做某事 </a:t>
            </a:r>
            <a:r>
              <a:rPr lang="en-US" altLang="zh-CN" sz="3600" b="1" dirty="0">
                <a:solidFill>
                  <a:srgbClr val="FF0000"/>
                </a:solidFill>
              </a:rPr>
              <a:t>resistant adj.</a:t>
            </a:r>
            <a:r>
              <a:rPr lang="zh-CN" altLang="en-US" sz="3600" b="1" dirty="0">
                <a:solidFill>
                  <a:srgbClr val="FF0000"/>
                </a:solidFill>
              </a:rPr>
              <a:t>反抗的 </a:t>
            </a:r>
            <a:endParaRPr lang="en-US" altLang="zh-CN" sz="3600" b="1" dirty="0">
              <a:solidFill>
                <a:srgbClr val="FF0000"/>
              </a:solidFill>
            </a:endParaRPr>
          </a:p>
          <a:p>
            <a:r>
              <a:rPr lang="en-US" altLang="zh-CN" sz="3600" b="1" dirty="0">
                <a:solidFill>
                  <a:srgbClr val="FF0000"/>
                </a:solidFill>
              </a:rPr>
              <a:t>resistance n.</a:t>
            </a:r>
            <a:r>
              <a:rPr lang="zh-CN" altLang="en-US" sz="3600" b="1" dirty="0">
                <a:solidFill>
                  <a:srgbClr val="FF0000"/>
                </a:solidFill>
              </a:rPr>
              <a:t>抵抗反对</a:t>
            </a:r>
            <a:endParaRPr lang="en-US" altLang="zh-CN" sz="3600" b="1" dirty="0">
              <a:solidFill>
                <a:srgbClr val="FF0000"/>
              </a:solidFill>
            </a:endParaRPr>
          </a:p>
          <a:p>
            <a:r>
              <a:rPr lang="en-US" altLang="zh-CN" sz="3600" b="1" dirty="0">
                <a:solidFill>
                  <a:srgbClr val="FF0000"/>
                </a:solidFill>
              </a:rPr>
              <a:t> criterion</a:t>
            </a:r>
            <a:r>
              <a:rPr lang="zh-CN" altLang="en-US" sz="3600" b="1" dirty="0">
                <a:solidFill>
                  <a:srgbClr val="FF0000"/>
                </a:solidFill>
              </a:rPr>
              <a:t> </a:t>
            </a:r>
            <a:r>
              <a:rPr lang="en-US" altLang="zh-CN" sz="3600" b="1" dirty="0">
                <a:solidFill>
                  <a:srgbClr val="FF0000"/>
                </a:solidFill>
              </a:rPr>
              <a:t>n.</a:t>
            </a:r>
            <a:r>
              <a:rPr lang="zh-CN" altLang="en-US" sz="3600" b="1" dirty="0">
                <a:solidFill>
                  <a:srgbClr val="FF0000"/>
                </a:solidFill>
              </a:rPr>
              <a:t>标准 </a:t>
            </a:r>
            <a:r>
              <a:rPr lang="en-US" altLang="zh-CN" sz="3600" b="1" dirty="0">
                <a:solidFill>
                  <a:srgbClr val="7030A0"/>
                </a:solidFill>
              </a:rPr>
              <a:t>assessment n.</a:t>
            </a:r>
            <a:r>
              <a:rPr lang="zh-CN" altLang="en-US" sz="3600" b="1" dirty="0">
                <a:solidFill>
                  <a:srgbClr val="7030A0"/>
                </a:solidFill>
              </a:rPr>
              <a:t>评估评价</a:t>
            </a:r>
            <a:r>
              <a:rPr lang="en-US" altLang="zh-CN" sz="3600" b="1" dirty="0">
                <a:solidFill>
                  <a:srgbClr val="7030A0"/>
                </a:solidFill>
              </a:rPr>
              <a:t> </a:t>
            </a:r>
          </a:p>
          <a:p>
            <a:r>
              <a:rPr lang="en-US" altLang="zh-CN" sz="3600" b="1" dirty="0">
                <a:solidFill>
                  <a:srgbClr val="7030A0"/>
                </a:solidFill>
              </a:rPr>
              <a:t> comparison n.</a:t>
            </a:r>
            <a:r>
              <a:rPr lang="zh-CN" altLang="en-US" sz="3600" b="1" dirty="0">
                <a:solidFill>
                  <a:srgbClr val="7030A0"/>
                </a:solidFill>
              </a:rPr>
              <a:t>比较</a:t>
            </a:r>
            <a:endParaRPr lang="en-US" altLang="zh-CN" sz="3600" b="1" dirty="0">
              <a:solidFill>
                <a:srgbClr val="7030A0"/>
              </a:solidFill>
            </a:endParaRPr>
          </a:p>
          <a:p>
            <a:r>
              <a:rPr lang="en-US" altLang="zh-CN" sz="3600" b="1" dirty="0">
                <a:solidFill>
                  <a:srgbClr val="FF0000"/>
                </a:solidFill>
              </a:rPr>
              <a:t> be abundant in=be rich in</a:t>
            </a:r>
            <a:r>
              <a:rPr lang="zh-CN" altLang="en-US" sz="3600" b="1" dirty="0">
                <a:solidFill>
                  <a:srgbClr val="FF0000"/>
                </a:solidFill>
              </a:rPr>
              <a:t>大量丰富的 </a:t>
            </a:r>
            <a:endParaRPr lang="en-US" altLang="zh-CN" sz="3600" b="1" dirty="0">
              <a:solidFill>
                <a:srgbClr val="FF0000"/>
              </a:solidFill>
            </a:endParaRPr>
          </a:p>
          <a:p>
            <a:r>
              <a:rPr lang="en-US" altLang="zh-CN" sz="3600" b="1" dirty="0">
                <a:solidFill>
                  <a:srgbClr val="FF0000"/>
                </a:solidFill>
              </a:rPr>
              <a:t> </a:t>
            </a:r>
            <a:r>
              <a:rPr lang="en-US" altLang="zh-CN" sz="3600" b="1" dirty="0">
                <a:solidFill>
                  <a:srgbClr val="7030A0"/>
                </a:solidFill>
              </a:rPr>
              <a:t>break a negative cycle</a:t>
            </a:r>
            <a:r>
              <a:rPr lang="zh-CN" altLang="en-US" sz="3600" b="1" dirty="0">
                <a:solidFill>
                  <a:srgbClr val="7030A0"/>
                </a:solidFill>
              </a:rPr>
              <a:t>打破恶性循环</a:t>
            </a:r>
            <a:endParaRPr lang="en-US" altLang="zh-CN" sz="3600" b="1" dirty="0">
              <a:solidFill>
                <a:srgbClr val="7030A0"/>
              </a:solidFill>
            </a:endParaRPr>
          </a:p>
          <a:p>
            <a:r>
              <a:rPr lang="en-US" altLang="zh-CN" sz="3600" b="1" dirty="0">
                <a:solidFill>
                  <a:srgbClr val="FF0000"/>
                </a:solidFill>
              </a:rPr>
              <a:t> discriminate v.</a:t>
            </a:r>
            <a:r>
              <a:rPr lang="zh-CN" altLang="en-US" sz="3600" b="1" dirty="0">
                <a:solidFill>
                  <a:srgbClr val="FF0000"/>
                </a:solidFill>
              </a:rPr>
              <a:t>区分</a:t>
            </a:r>
            <a:r>
              <a:rPr lang="en-US" altLang="zh-CN" sz="3600" b="1" dirty="0">
                <a:solidFill>
                  <a:srgbClr val="FF0000"/>
                </a:solidFill>
              </a:rPr>
              <a:t>A from B=between A and B;</a:t>
            </a:r>
            <a:r>
              <a:rPr lang="zh-CN" altLang="en-US" sz="3600" b="1" dirty="0">
                <a:solidFill>
                  <a:srgbClr val="FF0000"/>
                </a:solidFill>
              </a:rPr>
              <a:t>歧视</a:t>
            </a:r>
            <a:r>
              <a:rPr lang="en-US" altLang="zh-CN" sz="3600" b="1" dirty="0">
                <a:solidFill>
                  <a:srgbClr val="FF0000"/>
                </a:solidFill>
              </a:rPr>
              <a:t>against; </a:t>
            </a:r>
            <a:r>
              <a:rPr lang="zh-CN" altLang="en-US" sz="3600" b="1" dirty="0">
                <a:solidFill>
                  <a:srgbClr val="FF0000"/>
                </a:solidFill>
              </a:rPr>
              <a:t>偏袒</a:t>
            </a:r>
            <a:r>
              <a:rPr lang="en-US" altLang="zh-CN" sz="3600" b="1" dirty="0">
                <a:solidFill>
                  <a:srgbClr val="FF0000"/>
                </a:solidFill>
              </a:rPr>
              <a:t>in favor of</a:t>
            </a:r>
          </a:p>
          <a:p>
            <a:r>
              <a:rPr lang="en-US" altLang="zh-CN" sz="3600" b="1" dirty="0">
                <a:solidFill>
                  <a:srgbClr val="FF0000"/>
                </a:solidFill>
              </a:rPr>
              <a:t> </a:t>
            </a:r>
            <a:r>
              <a:rPr lang="en-US" altLang="zh-CN" sz="3600" b="1" dirty="0">
                <a:solidFill>
                  <a:srgbClr val="7030A0"/>
                </a:solidFill>
              </a:rPr>
              <a:t>depression</a:t>
            </a:r>
            <a:r>
              <a:rPr lang="zh-CN" altLang="en-US" sz="3600" b="1" dirty="0">
                <a:solidFill>
                  <a:srgbClr val="7030A0"/>
                </a:solidFill>
              </a:rPr>
              <a:t>沮丧萧条 </a:t>
            </a:r>
            <a:r>
              <a:rPr lang="en-US" altLang="zh-CN" sz="3600" b="1" dirty="0">
                <a:solidFill>
                  <a:srgbClr val="FF0000"/>
                </a:solidFill>
              </a:rPr>
              <a:t>dignity</a:t>
            </a:r>
            <a:r>
              <a:rPr lang="zh-CN" altLang="en-US" sz="3600" b="1" dirty="0">
                <a:solidFill>
                  <a:srgbClr val="FF0000"/>
                </a:solidFill>
              </a:rPr>
              <a:t>尊严高贵</a:t>
            </a:r>
            <a:r>
              <a:rPr lang="en-US" altLang="zh-CN" sz="3600" b="1" dirty="0">
                <a:solidFill>
                  <a:srgbClr val="FF0000"/>
                </a:solidFill>
              </a:rPr>
              <a:t> substitute</a:t>
            </a:r>
            <a:r>
              <a:rPr lang="zh-CN" altLang="en-US" sz="3600" b="1" dirty="0">
                <a:solidFill>
                  <a:srgbClr val="FF0000"/>
                </a:solidFill>
              </a:rPr>
              <a:t>替代</a:t>
            </a:r>
            <a:endParaRPr lang="en-US" altLang="zh-CN" sz="3600" b="1" dirty="0">
              <a:solidFill>
                <a:srgbClr val="FF0000"/>
              </a:solidFill>
            </a:endParaRPr>
          </a:p>
          <a:p>
            <a:r>
              <a:rPr lang="en-US" altLang="zh-CN" sz="3600" b="1" dirty="0">
                <a:solidFill>
                  <a:srgbClr val="FF0000"/>
                </a:solidFill>
              </a:rPr>
              <a:t> </a:t>
            </a:r>
            <a:r>
              <a:rPr lang="en-US" altLang="zh-CN" sz="3600" b="1" dirty="0"/>
              <a:t>take away from</a:t>
            </a:r>
            <a:r>
              <a:rPr lang="zh-CN" altLang="en-US" sz="3600" b="1" dirty="0"/>
              <a:t>从</a:t>
            </a:r>
            <a:r>
              <a:rPr lang="en-US" altLang="zh-CN" sz="3600" b="1" dirty="0"/>
              <a:t>…</a:t>
            </a:r>
            <a:r>
              <a:rPr lang="zh-CN" altLang="en-US" sz="3600" b="1" dirty="0"/>
              <a:t>拿走</a:t>
            </a:r>
            <a:r>
              <a:rPr lang="en-US" altLang="zh-CN" sz="3600" b="1" dirty="0"/>
              <a:t> </a:t>
            </a:r>
            <a:r>
              <a:rPr lang="en-US" altLang="zh-CN" sz="3600" b="1" dirty="0">
                <a:solidFill>
                  <a:srgbClr val="FF0000"/>
                </a:solidFill>
              </a:rPr>
              <a:t>take in</a:t>
            </a:r>
            <a:r>
              <a:rPr lang="zh-CN" altLang="en-US" sz="3600" b="1" dirty="0">
                <a:solidFill>
                  <a:srgbClr val="FF0000"/>
                </a:solidFill>
              </a:rPr>
              <a:t>吸收</a:t>
            </a:r>
            <a:r>
              <a:rPr lang="en-US" altLang="zh-CN" sz="3600" b="1" dirty="0">
                <a:solidFill>
                  <a:srgbClr val="FF0000"/>
                </a:solidFill>
              </a:rPr>
              <a:t>;</a:t>
            </a:r>
            <a:r>
              <a:rPr lang="zh-CN" altLang="en-US" sz="3600" b="1" dirty="0">
                <a:solidFill>
                  <a:srgbClr val="FF0000"/>
                </a:solidFill>
              </a:rPr>
              <a:t>理解</a:t>
            </a:r>
            <a:r>
              <a:rPr lang="en-US" altLang="zh-CN" sz="3600" b="1" dirty="0">
                <a:solidFill>
                  <a:srgbClr val="FF0000"/>
                </a:solidFill>
              </a:rPr>
              <a:t>;</a:t>
            </a:r>
            <a:r>
              <a:rPr lang="zh-CN" altLang="en-US" sz="3600" b="1" dirty="0">
                <a:solidFill>
                  <a:srgbClr val="FF0000"/>
                </a:solidFill>
              </a:rPr>
              <a:t>欺骗</a:t>
            </a:r>
            <a:r>
              <a:rPr lang="en-US" altLang="zh-CN" sz="3600" b="1" dirty="0">
                <a:solidFill>
                  <a:srgbClr val="FF0000"/>
                </a:solidFill>
              </a:rPr>
              <a:t>;</a:t>
            </a:r>
            <a:r>
              <a:rPr lang="zh-CN" altLang="en-US" sz="3600" b="1" dirty="0">
                <a:solidFill>
                  <a:srgbClr val="FF0000"/>
                </a:solidFill>
              </a:rPr>
              <a:t>改小</a:t>
            </a:r>
            <a:r>
              <a:rPr lang="en-US" altLang="zh-CN" sz="3600" b="1" dirty="0">
                <a:solidFill>
                  <a:srgbClr val="FF0000"/>
                </a:solidFill>
              </a:rPr>
              <a:t>;</a:t>
            </a:r>
            <a:r>
              <a:rPr lang="zh-CN" altLang="en-US" sz="3600" b="1" dirty="0">
                <a:solidFill>
                  <a:srgbClr val="FF0000"/>
                </a:solidFill>
              </a:rPr>
              <a:t>收留</a:t>
            </a:r>
            <a:endParaRPr lang="en-US" altLang="zh-CN" sz="3600" b="1" dirty="0">
              <a:solidFill>
                <a:srgbClr val="FF0000"/>
              </a:solidFill>
            </a:endParaRPr>
          </a:p>
          <a:p>
            <a:r>
              <a:rPr lang="en-US" altLang="zh-CN" sz="3600" b="1" dirty="0">
                <a:solidFill>
                  <a:srgbClr val="FF0000"/>
                </a:solidFill>
              </a:rPr>
              <a:t> </a:t>
            </a:r>
            <a:r>
              <a:rPr lang="en-US" altLang="zh-CN" sz="3600" b="1" dirty="0">
                <a:solidFill>
                  <a:srgbClr val="7030A0"/>
                </a:solidFill>
              </a:rPr>
              <a:t>take over</a:t>
            </a:r>
            <a:r>
              <a:rPr lang="zh-CN" altLang="en-US" sz="3600" b="1" dirty="0">
                <a:solidFill>
                  <a:srgbClr val="7030A0"/>
                </a:solidFill>
              </a:rPr>
              <a:t>接管  </a:t>
            </a:r>
            <a:r>
              <a:rPr lang="en-US" altLang="zh-CN" sz="3600" b="1" dirty="0">
                <a:solidFill>
                  <a:srgbClr val="7030A0"/>
                </a:solidFill>
              </a:rPr>
              <a:t>hand over</a:t>
            </a:r>
            <a:r>
              <a:rPr lang="zh-CN" altLang="en-US" sz="3600" b="1" dirty="0">
                <a:solidFill>
                  <a:srgbClr val="7030A0"/>
                </a:solidFill>
              </a:rPr>
              <a:t>移交 </a:t>
            </a:r>
            <a:r>
              <a:rPr lang="en-US" altLang="zh-CN" sz="3600" b="1" dirty="0">
                <a:solidFill>
                  <a:srgbClr val="7030A0"/>
                </a:solidFill>
              </a:rPr>
              <a:t> take control of</a:t>
            </a:r>
            <a:r>
              <a:rPr lang="zh-CN" altLang="en-US" sz="3600" b="1" dirty="0">
                <a:solidFill>
                  <a:srgbClr val="7030A0"/>
                </a:solidFill>
              </a:rPr>
              <a:t>控制</a:t>
            </a:r>
            <a:endParaRPr lang="en-US" altLang="zh-CN" sz="3600" b="1" dirty="0">
              <a:solidFill>
                <a:srgbClr val="7030A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24.is put/ has been put</a:t>
            </a:r>
            <a:r>
              <a:rPr lang="zh-CN" altLang="en-US" sz="3600" b="1" dirty="0">
                <a:solidFill>
                  <a:srgbClr val="FF0000"/>
                </a:solidFill>
              </a:rPr>
              <a:t>被动 </a:t>
            </a:r>
            <a:r>
              <a:rPr lang="en-US" altLang="zh-CN" sz="3600" b="1" dirty="0">
                <a:solidFill>
                  <a:srgbClr val="FF0000"/>
                </a:solidFill>
              </a:rPr>
              <a:t>put(put*2) </a:t>
            </a:r>
            <a:r>
              <a:rPr lang="en-US" altLang="zh-CN" sz="3600" b="1" dirty="0"/>
              <a:t>25.probably </a:t>
            </a:r>
          </a:p>
          <a:p>
            <a:r>
              <a:rPr lang="en-US" altLang="zh-CN" sz="3600" b="1" dirty="0">
                <a:solidFill>
                  <a:srgbClr val="FF0000"/>
                </a:solidFill>
              </a:rPr>
              <a:t>26.</a:t>
            </a:r>
            <a:r>
              <a:rPr lang="en-US" altLang="zh-CN" sz="3600" b="1" u="sng" dirty="0"/>
              <a:t>the content </a:t>
            </a:r>
            <a:r>
              <a:rPr lang="en-US" altLang="zh-CN" sz="3600" b="1" dirty="0">
                <a:solidFill>
                  <a:srgbClr val="FF0000"/>
                </a:solidFill>
              </a:rPr>
              <a:t>(</a:t>
            </a:r>
            <a:r>
              <a:rPr lang="en-US" altLang="zh-CN" sz="3600" b="1" u="sng" dirty="0">
                <a:solidFill>
                  <a:srgbClr val="FF0000"/>
                </a:solidFill>
              </a:rPr>
              <a:t>removed</a:t>
            </a:r>
            <a:r>
              <a:rPr lang="en-US" altLang="zh-CN" sz="3600" b="1" dirty="0">
                <a:solidFill>
                  <a:srgbClr val="FF0000"/>
                </a:solidFill>
              </a:rPr>
              <a:t> </a:t>
            </a:r>
            <a:r>
              <a:rPr lang="en-US" altLang="zh-CN" sz="3600" b="1" dirty="0"/>
              <a:t>from a web page</a:t>
            </a:r>
            <a:r>
              <a:rPr lang="en-US" altLang="zh-CN" sz="3600" b="1" dirty="0">
                <a:solidFill>
                  <a:srgbClr val="FF0000"/>
                </a:solidFill>
              </a:rPr>
              <a:t>)</a:t>
            </a:r>
            <a:r>
              <a:rPr lang="zh-CN" altLang="en-US" sz="3600" b="1" dirty="0">
                <a:solidFill>
                  <a:srgbClr val="FF0000"/>
                </a:solidFill>
              </a:rPr>
              <a:t>作定语</a:t>
            </a:r>
            <a:r>
              <a:rPr lang="en-US" altLang="zh-CN" sz="3600" b="1" dirty="0">
                <a:solidFill>
                  <a:srgbClr val="FF0000"/>
                </a:solidFill>
              </a:rPr>
              <a:t> </a:t>
            </a:r>
          </a:p>
          <a:p>
            <a:r>
              <a:rPr lang="en-US" altLang="zh-CN" sz="3600" b="1" dirty="0">
                <a:solidFill>
                  <a:srgbClr val="FF0000"/>
                </a:solidFill>
              </a:rPr>
              <a:t>27.but/yet</a:t>
            </a:r>
            <a:r>
              <a:rPr lang="zh-CN" altLang="en-US" sz="3600" b="1" dirty="0">
                <a:solidFill>
                  <a:srgbClr val="FF0000"/>
                </a:solidFill>
              </a:rPr>
              <a:t>但是 </a:t>
            </a:r>
            <a:r>
              <a:rPr lang="en-US" altLang="zh-CN" sz="3600" b="1" dirty="0"/>
              <a:t>28.to</a:t>
            </a:r>
            <a:r>
              <a:rPr lang="zh-CN" altLang="en-US" sz="3600" b="1" dirty="0"/>
              <a:t> </a:t>
            </a:r>
            <a:r>
              <a:rPr lang="en-US" altLang="zh-CN" sz="3600" b="1" dirty="0"/>
              <a:t>learn</a:t>
            </a:r>
            <a:r>
              <a:rPr lang="zh-CN" altLang="en-US" sz="3600" b="1" dirty="0"/>
              <a:t> </a:t>
            </a:r>
            <a:r>
              <a:rPr lang="en-US" altLang="zh-CN" sz="3600" b="1" dirty="0"/>
              <a:t>29.in</a:t>
            </a:r>
            <a:r>
              <a:rPr lang="zh-CN" altLang="en-US" sz="3600" b="1" dirty="0"/>
              <a:t> </a:t>
            </a:r>
            <a:endParaRPr lang="en-US" altLang="zh-CN" sz="3600" b="1" dirty="0"/>
          </a:p>
          <a:p>
            <a:r>
              <a:rPr lang="en-US" altLang="zh-CN" sz="3600" b="1" dirty="0">
                <a:solidFill>
                  <a:srgbClr val="FF0000"/>
                </a:solidFill>
              </a:rPr>
              <a:t>30.</a:t>
            </a:r>
            <a:r>
              <a:rPr lang="en-US" altLang="zh-CN" sz="3600" b="1" u="sng" dirty="0">
                <a:solidFill>
                  <a:srgbClr val="FF0000"/>
                </a:solidFill>
              </a:rPr>
              <a:t>If </a:t>
            </a:r>
            <a:r>
              <a:rPr lang="en-US" altLang="zh-CN" sz="3600" b="1" dirty="0"/>
              <a:t>someone</a:t>
            </a:r>
            <a:r>
              <a:rPr lang="en-US" altLang="zh-CN" sz="3600" b="1" dirty="0">
                <a:solidFill>
                  <a:srgbClr val="FF0000"/>
                </a:solidFill>
              </a:rPr>
              <a:t> </a:t>
            </a:r>
            <a:r>
              <a:rPr lang="en-US" altLang="zh-CN" sz="3600" b="1" u="sng" dirty="0">
                <a:solidFill>
                  <a:srgbClr val="FF0000"/>
                </a:solidFill>
                <a:highlight>
                  <a:srgbClr val="FFFF00"/>
                </a:highlight>
              </a:rPr>
              <a:t>runs</a:t>
            </a:r>
            <a:r>
              <a:rPr lang="zh-CN" altLang="en-US" sz="3600" b="1" u="sng" dirty="0">
                <a:solidFill>
                  <a:srgbClr val="FF0000"/>
                </a:solidFill>
                <a:highlight>
                  <a:srgbClr val="FFFF00"/>
                </a:highlight>
              </a:rPr>
              <a:t> </a:t>
            </a:r>
            <a:r>
              <a:rPr lang="en-US" altLang="zh-CN" sz="3600" b="1" u="sng" dirty="0">
                <a:solidFill>
                  <a:srgbClr val="FF0000"/>
                </a:solidFill>
                <a:highlight>
                  <a:srgbClr val="FFFF00"/>
                </a:highlight>
              </a:rPr>
              <a:t>a research</a:t>
            </a:r>
            <a:r>
              <a:rPr lang="zh-CN" altLang="en-US" sz="3600" b="1" u="sng" dirty="0">
                <a:solidFill>
                  <a:srgbClr val="FF0000"/>
                </a:solidFill>
              </a:rPr>
              <a:t>进行一项研究</a:t>
            </a:r>
            <a:r>
              <a:rPr lang="en-US" altLang="zh-CN" sz="3600" b="1" dirty="0">
                <a:solidFill>
                  <a:srgbClr val="FF0000"/>
                </a:solidFill>
              </a:rPr>
              <a:t>, </a:t>
            </a:r>
            <a:r>
              <a:rPr lang="en-US" altLang="zh-CN" sz="3600" b="1" dirty="0"/>
              <a:t>the results </a:t>
            </a:r>
            <a:r>
              <a:rPr lang="en-US" altLang="zh-CN" sz="3600" b="1" dirty="0">
                <a:solidFill>
                  <a:srgbClr val="7030A0"/>
                </a:solidFill>
              </a:rPr>
              <a:t>will show</a:t>
            </a:r>
            <a:r>
              <a:rPr lang="en-US" altLang="zh-CN" sz="3600" b="1" dirty="0">
                <a:solidFill>
                  <a:srgbClr val="FF0000"/>
                </a:solidFill>
              </a:rPr>
              <a:t>… </a:t>
            </a:r>
            <a:r>
              <a:rPr lang="zh-CN" altLang="en-US" sz="3600" b="1" dirty="0">
                <a:solidFill>
                  <a:srgbClr val="FF0000"/>
                </a:solidFill>
              </a:rPr>
              <a:t>状从：</a:t>
            </a:r>
            <a:r>
              <a:rPr lang="zh-CN" altLang="en-US" sz="3600" b="1" dirty="0">
                <a:solidFill>
                  <a:srgbClr val="7030A0"/>
                </a:solidFill>
              </a:rPr>
              <a:t>主将</a:t>
            </a:r>
            <a:r>
              <a:rPr lang="zh-CN" altLang="en-US" sz="3600" b="1" dirty="0">
                <a:solidFill>
                  <a:srgbClr val="FF0000"/>
                </a:solidFill>
                <a:highlight>
                  <a:srgbClr val="FFFF00"/>
                </a:highlight>
              </a:rPr>
              <a:t>从现</a:t>
            </a:r>
            <a:endParaRPr lang="en-US" altLang="zh-CN" sz="3600" b="1" dirty="0">
              <a:solidFill>
                <a:srgbClr val="FF0000"/>
              </a:solidFill>
              <a:highlight>
                <a:srgbClr val="FFFF00"/>
              </a:highlight>
            </a:endParaRPr>
          </a:p>
          <a:p>
            <a:r>
              <a:rPr lang="en-US" altLang="zh-CN" sz="3600" b="1" dirty="0">
                <a:solidFill>
                  <a:srgbClr val="FF0000"/>
                </a:solidFill>
              </a:rPr>
              <a:t>31.challenging</a:t>
            </a:r>
            <a:r>
              <a:rPr lang="zh-CN" altLang="en-US" sz="3600" b="1" dirty="0">
                <a:solidFill>
                  <a:srgbClr val="FF0000"/>
                </a:solidFill>
              </a:rPr>
              <a:t>富有挑战性的 </a:t>
            </a:r>
            <a:endParaRPr lang="en-US" altLang="zh-CN" sz="3600" b="1" dirty="0">
              <a:solidFill>
                <a:srgbClr val="FF0000"/>
              </a:solidFill>
            </a:endParaRPr>
          </a:p>
          <a:p>
            <a:r>
              <a:rPr lang="en-US" altLang="zh-CN" sz="3600" b="1" dirty="0">
                <a:solidFill>
                  <a:srgbClr val="FF0000"/>
                </a:solidFill>
              </a:rPr>
              <a:t>32.them</a:t>
            </a:r>
            <a:r>
              <a:rPr lang="zh-CN" altLang="en-US" sz="3600" b="1" dirty="0">
                <a:solidFill>
                  <a:srgbClr val="FF0000"/>
                </a:solidFill>
              </a:rPr>
              <a:t>指代</a:t>
            </a:r>
            <a:r>
              <a:rPr lang="en-US" altLang="zh-CN" sz="3600" b="1" dirty="0"/>
              <a:t>privacy setting</a:t>
            </a:r>
            <a:r>
              <a:rPr lang="zh-CN" altLang="en-US" sz="3600" b="1" dirty="0"/>
              <a:t>隐私设置 </a:t>
            </a:r>
            <a:endParaRPr lang="en-US" altLang="zh-CN" sz="3600" b="1" dirty="0"/>
          </a:p>
          <a:p>
            <a:r>
              <a:rPr lang="en-US" altLang="zh-CN" sz="3600" b="1" dirty="0"/>
              <a:t>33.be careful about </a:t>
            </a:r>
            <a:r>
              <a:rPr lang="en-US" altLang="zh-CN" sz="3600" b="1" dirty="0">
                <a:solidFill>
                  <a:srgbClr val="FF0000"/>
                </a:solidFill>
              </a:rPr>
              <a:t>[</a:t>
            </a:r>
            <a:r>
              <a:rPr lang="zh-CN" altLang="en-US" sz="3600" b="1" dirty="0">
                <a:solidFill>
                  <a:srgbClr val="FF0000"/>
                </a:solidFill>
              </a:rPr>
              <a:t>宾从</a:t>
            </a:r>
            <a:r>
              <a:rPr lang="en-US" altLang="zh-CN" sz="3600" b="1" u="sng" dirty="0">
                <a:solidFill>
                  <a:srgbClr val="FF0000"/>
                </a:solidFill>
              </a:rPr>
              <a:t>what</a:t>
            </a:r>
            <a:r>
              <a:rPr lang="en-US" altLang="zh-CN" sz="3600" b="1" dirty="0">
                <a:solidFill>
                  <a:srgbClr val="FF0000"/>
                </a:solidFill>
              </a:rPr>
              <a:t> </a:t>
            </a:r>
            <a:r>
              <a:rPr lang="en-US" altLang="zh-CN" sz="3600" b="1" dirty="0"/>
              <a:t>you share__</a:t>
            </a:r>
            <a:r>
              <a:rPr lang="zh-CN" altLang="en-US" sz="3600" b="1" dirty="0"/>
              <a:t>宾语</a:t>
            </a:r>
            <a:r>
              <a:rPr lang="en-US" altLang="zh-CN" sz="3600" b="1" dirty="0">
                <a:solidFill>
                  <a:srgbClr val="FF0000"/>
                </a:solidFill>
              </a:rPr>
              <a:t>]</a:t>
            </a:r>
            <a:endParaRPr lang="zh-CN" altLang="en-US" sz="3600" b="1" dirty="0">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sym typeface="+mn-ea"/>
              </a:rPr>
              <a:t> </a:t>
            </a:r>
            <a:r>
              <a:rPr lang="zh-CN" altLang="en-US" sz="3600" b="1" dirty="0">
                <a:solidFill>
                  <a:srgbClr val="FF0000"/>
                </a:solidFill>
                <a:sym typeface="+mn-ea"/>
              </a:rPr>
              <a:t>练习本</a:t>
            </a:r>
            <a:r>
              <a:rPr lang="en-US" altLang="zh-CN" sz="3600" b="1" dirty="0">
                <a:solidFill>
                  <a:srgbClr val="FF0000"/>
                </a:solidFill>
                <a:sym typeface="+mn-ea"/>
              </a:rPr>
              <a:t>P7 pop into one’s mind</a:t>
            </a:r>
            <a:r>
              <a:rPr lang="zh-CN" altLang="en-US" sz="3600" b="1" dirty="0">
                <a:sym typeface="+mn-ea"/>
              </a:rPr>
              <a:t>突然出现在某人的脑海里 </a:t>
            </a:r>
            <a:endParaRPr lang="en-US" altLang="zh-CN" sz="3600" b="1" dirty="0"/>
          </a:p>
          <a:p>
            <a:r>
              <a:rPr lang="en-US" altLang="zh-CN" sz="3600" b="1" dirty="0">
                <a:solidFill>
                  <a:srgbClr val="FF0000"/>
                </a:solidFill>
                <a:sym typeface="+mn-ea"/>
              </a:rPr>
              <a:t>reflect and check</a:t>
            </a:r>
            <a:r>
              <a:rPr lang="zh-CN" altLang="en-US" sz="3600" b="1" dirty="0">
                <a:sym typeface="+mn-ea"/>
              </a:rPr>
              <a:t>反思和检查</a:t>
            </a:r>
            <a:r>
              <a:rPr lang="en-US" altLang="zh-CN" sz="3600" b="1" dirty="0">
                <a:solidFill>
                  <a:srgbClr val="FF0000"/>
                </a:solidFill>
                <a:sym typeface="+mn-ea"/>
              </a:rPr>
              <a:t> fake news</a:t>
            </a:r>
            <a:r>
              <a:rPr lang="zh-CN" altLang="en-US" sz="3600" b="1" dirty="0">
                <a:sym typeface="+mn-ea"/>
              </a:rPr>
              <a:t>虚假新闻</a:t>
            </a:r>
            <a:r>
              <a:rPr lang="en-US" altLang="zh-CN" sz="3600" b="1" dirty="0">
                <a:solidFill>
                  <a:srgbClr val="FF0000"/>
                </a:solidFill>
                <a:sym typeface="+mn-ea"/>
              </a:rPr>
              <a:t> </a:t>
            </a:r>
            <a:endParaRPr lang="en-US" altLang="zh-CN" sz="3600" b="1" dirty="0">
              <a:solidFill>
                <a:srgbClr val="FF0000"/>
              </a:solidFill>
            </a:endParaRPr>
          </a:p>
          <a:p>
            <a:r>
              <a:rPr lang="en-US" altLang="zh-CN" sz="3600" b="1" dirty="0">
                <a:solidFill>
                  <a:srgbClr val="FF0000"/>
                </a:solidFill>
                <a:sym typeface="+mn-ea"/>
              </a:rPr>
              <a:t> verify v.</a:t>
            </a:r>
            <a:r>
              <a:rPr lang="zh-CN" altLang="en-US" sz="3600" b="1" dirty="0">
                <a:sym typeface="+mn-ea"/>
              </a:rPr>
              <a:t>核实</a:t>
            </a:r>
            <a:r>
              <a:rPr lang="en-US" altLang="zh-CN" sz="3600" b="1" dirty="0">
                <a:sym typeface="+mn-ea"/>
              </a:rPr>
              <a:t>;</a:t>
            </a:r>
            <a:r>
              <a:rPr lang="zh-CN" altLang="en-US" sz="3600" b="1" dirty="0">
                <a:sym typeface="+mn-ea"/>
              </a:rPr>
              <a:t>证明 </a:t>
            </a:r>
            <a:r>
              <a:rPr lang="en-US" altLang="zh-CN" sz="3600" b="1" dirty="0">
                <a:solidFill>
                  <a:srgbClr val="FF0000"/>
                </a:solidFill>
                <a:sym typeface="+mn-ea"/>
              </a:rPr>
              <a:t>make up</a:t>
            </a:r>
            <a:r>
              <a:rPr lang="zh-CN" altLang="en-US" sz="3600" b="1" dirty="0">
                <a:solidFill>
                  <a:srgbClr val="FF0000"/>
                </a:solidFill>
                <a:sym typeface="+mn-ea"/>
              </a:rPr>
              <a:t>编造</a:t>
            </a:r>
            <a:endParaRPr lang="en-US" altLang="zh-CN" sz="3600" b="1" dirty="0">
              <a:solidFill>
                <a:srgbClr val="FF0000"/>
              </a:solidFill>
            </a:endParaRPr>
          </a:p>
          <a:p>
            <a:r>
              <a:rPr lang="en-US" altLang="zh-CN" sz="3600" b="1" dirty="0">
                <a:solidFill>
                  <a:srgbClr val="FF0000"/>
                </a:solidFill>
                <a:sym typeface="+mn-ea"/>
              </a:rPr>
              <a:t> contagious adj.</a:t>
            </a:r>
            <a:r>
              <a:rPr lang="zh-CN" altLang="en-US" sz="3600" b="1" dirty="0">
                <a:solidFill>
                  <a:srgbClr val="FF0000"/>
                </a:solidFill>
                <a:sym typeface="+mn-ea"/>
              </a:rPr>
              <a:t>传染性的 </a:t>
            </a:r>
            <a:r>
              <a:rPr lang="en-US" altLang="zh-CN" sz="3600" b="1" dirty="0">
                <a:solidFill>
                  <a:srgbClr val="FF0000"/>
                </a:solidFill>
                <a:sym typeface="+mn-ea"/>
              </a:rPr>
              <a:t>confirm v.</a:t>
            </a:r>
            <a:r>
              <a:rPr lang="zh-CN" altLang="en-US" sz="3600" b="1" dirty="0">
                <a:solidFill>
                  <a:srgbClr val="FF0000"/>
                </a:solidFill>
                <a:sym typeface="+mn-ea"/>
              </a:rPr>
              <a:t>确认证明</a:t>
            </a:r>
            <a:endParaRPr lang="en-US" altLang="zh-CN" sz="3600" b="1" dirty="0">
              <a:solidFill>
                <a:srgbClr val="FF0000"/>
              </a:solidFill>
            </a:endParaRPr>
          </a:p>
          <a:p>
            <a:r>
              <a:rPr lang="en-US" altLang="zh-CN" sz="3600" b="1" dirty="0">
                <a:solidFill>
                  <a:srgbClr val="FF0000"/>
                </a:solidFill>
                <a:sym typeface="+mn-ea"/>
              </a:rPr>
              <a:t> rush to a conclusion</a:t>
            </a:r>
            <a:r>
              <a:rPr lang="zh-CN" altLang="en-US" sz="3600" b="1" dirty="0">
                <a:solidFill>
                  <a:srgbClr val="FF0000"/>
                </a:solidFill>
                <a:sym typeface="+mn-ea"/>
              </a:rPr>
              <a:t>急于下结论 </a:t>
            </a:r>
            <a:r>
              <a:rPr lang="en-US" altLang="zh-CN" sz="3600" b="1" dirty="0">
                <a:solidFill>
                  <a:srgbClr val="FF0000"/>
                </a:solidFill>
                <a:sym typeface="+mn-ea"/>
              </a:rPr>
              <a:t>negativity</a:t>
            </a:r>
            <a:r>
              <a:rPr lang="zh-CN" altLang="en-US" sz="3600" b="1" dirty="0">
                <a:solidFill>
                  <a:srgbClr val="FF0000"/>
                </a:solidFill>
                <a:sym typeface="+mn-ea"/>
              </a:rPr>
              <a:t>消极性</a:t>
            </a:r>
            <a:endParaRPr lang="en-US" altLang="zh-CN"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solidFill>
                  <a:srgbClr val="FF0000"/>
                </a:solidFill>
              </a:rPr>
              <a:t>练习本</a:t>
            </a:r>
            <a:r>
              <a:rPr lang="en-US" altLang="zh-CN" sz="3600" b="1" dirty="0">
                <a:solidFill>
                  <a:srgbClr val="FF0000"/>
                </a:solidFill>
              </a:rPr>
              <a:t>P9-12 platform</a:t>
            </a:r>
            <a:r>
              <a:rPr lang="zh-CN" altLang="en-US" sz="3600" b="1" dirty="0">
                <a:solidFill>
                  <a:srgbClr val="FF0000"/>
                </a:solidFill>
              </a:rPr>
              <a:t>平台</a:t>
            </a:r>
            <a:r>
              <a:rPr lang="en-US" altLang="zh-CN" sz="3600" b="1" dirty="0">
                <a:solidFill>
                  <a:srgbClr val="FF0000"/>
                </a:solidFill>
              </a:rPr>
              <a:t> </a:t>
            </a:r>
          </a:p>
          <a:p>
            <a:r>
              <a:rPr lang="en-US" altLang="zh-CN" sz="3600" b="1" dirty="0">
                <a:solidFill>
                  <a:srgbClr val="FF0000"/>
                </a:solidFill>
              </a:rPr>
              <a:t> regulate v.</a:t>
            </a:r>
            <a:r>
              <a:rPr lang="zh-CN" altLang="en-US" sz="3600" b="1" dirty="0">
                <a:solidFill>
                  <a:srgbClr val="FF0000"/>
                </a:solidFill>
              </a:rPr>
              <a:t>控制管理调节 </a:t>
            </a:r>
            <a:r>
              <a:rPr lang="en-US" altLang="zh-CN" sz="3600" b="1" dirty="0">
                <a:solidFill>
                  <a:srgbClr val="FF0000"/>
                </a:solidFill>
              </a:rPr>
              <a:t>regulation n.</a:t>
            </a:r>
          </a:p>
          <a:p>
            <a:r>
              <a:rPr lang="en-US" altLang="zh-CN" sz="3600" b="1" dirty="0">
                <a:solidFill>
                  <a:srgbClr val="FF0000"/>
                </a:solidFill>
              </a:rPr>
              <a:t> ultimately</a:t>
            </a:r>
            <a:r>
              <a:rPr lang="zh-CN" altLang="en-US" sz="3600" b="1" dirty="0">
                <a:solidFill>
                  <a:srgbClr val="FF0000"/>
                </a:solidFill>
              </a:rPr>
              <a:t>最终</a:t>
            </a:r>
            <a:r>
              <a:rPr lang="en-US" altLang="zh-CN" sz="3600" b="1" dirty="0">
                <a:solidFill>
                  <a:srgbClr val="FF0000"/>
                </a:solidFill>
              </a:rPr>
              <a:t>;</a:t>
            </a:r>
            <a:r>
              <a:rPr lang="zh-CN" altLang="en-US" sz="3600" b="1" dirty="0">
                <a:solidFill>
                  <a:srgbClr val="FF0000"/>
                </a:solidFill>
              </a:rPr>
              <a:t>根本 </a:t>
            </a:r>
            <a:r>
              <a:rPr lang="en-US" altLang="zh-CN" sz="3600" b="1" dirty="0">
                <a:solidFill>
                  <a:srgbClr val="FF0000"/>
                </a:solidFill>
              </a:rPr>
              <a:t> potentially</a:t>
            </a:r>
            <a:r>
              <a:rPr lang="zh-CN" altLang="en-US" sz="3600" b="1" dirty="0">
                <a:solidFill>
                  <a:srgbClr val="FF0000"/>
                </a:solidFill>
              </a:rPr>
              <a:t>潜在地</a:t>
            </a:r>
            <a:endParaRPr lang="en-US" altLang="zh-CN" sz="3600" b="1" dirty="0">
              <a:solidFill>
                <a:srgbClr val="FF0000"/>
              </a:solidFill>
            </a:endParaRPr>
          </a:p>
          <a:p>
            <a:r>
              <a:rPr lang="en-US" altLang="zh-CN" sz="3600" b="1" dirty="0">
                <a:solidFill>
                  <a:srgbClr val="FF0000"/>
                </a:solidFill>
              </a:rPr>
              <a:t> cut off </a:t>
            </a:r>
            <a:r>
              <a:rPr lang="zh-CN" altLang="en-US" sz="3600" b="1" dirty="0">
                <a:solidFill>
                  <a:srgbClr val="FF0000"/>
                </a:solidFill>
              </a:rPr>
              <a:t>切断</a:t>
            </a:r>
            <a:r>
              <a:rPr lang="en-US" altLang="zh-CN" sz="3600" b="1" dirty="0">
                <a:solidFill>
                  <a:srgbClr val="FF0000"/>
                </a:solidFill>
              </a:rPr>
              <a:t>access to…</a:t>
            </a:r>
            <a:r>
              <a:rPr lang="zh-CN" altLang="en-US" sz="3600" b="1" dirty="0">
                <a:solidFill>
                  <a:srgbClr val="FF0000"/>
                </a:solidFill>
              </a:rPr>
              <a:t>接触</a:t>
            </a:r>
            <a:r>
              <a:rPr lang="en-US" altLang="zh-CN" sz="3600" b="1" dirty="0">
                <a:solidFill>
                  <a:srgbClr val="FF0000"/>
                </a:solidFill>
              </a:rPr>
              <a:t>… in advance</a:t>
            </a:r>
            <a:r>
              <a:rPr lang="zh-CN" altLang="en-US" sz="2400" b="1" dirty="0">
                <a:solidFill>
                  <a:srgbClr val="FF0000"/>
                </a:solidFill>
              </a:rPr>
              <a:t>提前</a:t>
            </a:r>
            <a:r>
              <a:rPr lang="en-US" altLang="zh-CN" sz="3600" b="1" dirty="0">
                <a:solidFill>
                  <a:srgbClr val="FF0000"/>
                </a:solidFill>
              </a:rPr>
              <a:t>=beforehand</a:t>
            </a:r>
          </a:p>
          <a:p>
            <a:r>
              <a:rPr lang="en-US" altLang="zh-CN" sz="3600" b="1" dirty="0">
                <a:solidFill>
                  <a:srgbClr val="FF0000"/>
                </a:solidFill>
              </a:rPr>
              <a:t> supervision mode</a:t>
            </a:r>
            <a:r>
              <a:rPr lang="zh-CN" altLang="en-US" sz="3600" b="1" dirty="0">
                <a:solidFill>
                  <a:srgbClr val="FF0000"/>
                </a:solidFill>
              </a:rPr>
              <a:t>监管模式 </a:t>
            </a:r>
            <a:r>
              <a:rPr lang="en-US" altLang="zh-CN" sz="3600" b="1" dirty="0">
                <a:solidFill>
                  <a:srgbClr val="FF0000"/>
                </a:solidFill>
              </a:rPr>
              <a:t>self-abuse</a:t>
            </a:r>
            <a:r>
              <a:rPr lang="zh-CN" altLang="en-US" sz="3600" b="1" dirty="0">
                <a:solidFill>
                  <a:srgbClr val="FF0000"/>
                </a:solidFill>
              </a:rPr>
              <a:t>自虐</a:t>
            </a:r>
            <a:endParaRPr lang="en-US" altLang="zh-CN" sz="3600" b="1" dirty="0">
              <a:solidFill>
                <a:srgbClr val="FF0000"/>
              </a:solidFill>
            </a:endParaRPr>
          </a:p>
          <a:p>
            <a:r>
              <a:rPr lang="en-US" altLang="zh-CN" sz="3200" b="1" dirty="0">
                <a:solidFill>
                  <a:srgbClr val="FF0000"/>
                </a:solidFill>
              </a:rPr>
              <a:t> tell real from fake</a:t>
            </a:r>
            <a:r>
              <a:rPr lang="zh-CN" altLang="en-US" sz="3200" b="1" dirty="0"/>
              <a:t>辨别真假</a:t>
            </a:r>
            <a:r>
              <a:rPr lang="en-US" altLang="zh-CN" sz="3200" b="1" dirty="0">
                <a:solidFill>
                  <a:srgbClr val="FF0000"/>
                </a:solidFill>
              </a:rPr>
              <a:t> </a:t>
            </a:r>
            <a:r>
              <a:rPr lang="en-US" altLang="zh-CN" sz="3200" b="1">
                <a:solidFill>
                  <a:srgbClr val="FF0000"/>
                </a:solidFill>
              </a:rPr>
              <a:t> take </a:t>
            </a:r>
            <a:r>
              <a:rPr lang="en-US" altLang="zh-CN" sz="3200" b="1" dirty="0" err="1">
                <a:solidFill>
                  <a:srgbClr val="FF0000"/>
                </a:solidFill>
              </a:rPr>
              <a:t>sth</a:t>
            </a:r>
            <a:r>
              <a:rPr lang="en-US" altLang="zh-CN" sz="3200" b="1" dirty="0">
                <a:solidFill>
                  <a:srgbClr val="FF0000"/>
                </a:solidFill>
              </a:rPr>
              <a:t>. critically</a:t>
            </a:r>
            <a:r>
              <a:rPr lang="zh-CN" altLang="en-US" sz="3200" b="1" dirty="0"/>
              <a:t>批判地看待某事</a:t>
            </a:r>
          </a:p>
          <a:p>
            <a:r>
              <a:rPr lang="en-US" altLang="zh-CN" sz="3600" b="1" dirty="0">
                <a:solidFill>
                  <a:srgbClr val="FF0000"/>
                </a:solidFill>
                <a:sym typeface="+mn-ea"/>
              </a:rPr>
              <a:t> authority n.</a:t>
            </a:r>
            <a:r>
              <a:rPr lang="zh-CN" altLang="en-US" sz="3600" b="1" dirty="0">
                <a:solidFill>
                  <a:srgbClr val="FF0000"/>
                </a:solidFill>
                <a:sym typeface="+mn-ea"/>
              </a:rPr>
              <a:t>权威</a:t>
            </a:r>
            <a:r>
              <a:rPr lang="en-US" altLang="zh-CN" sz="3600" b="1" dirty="0">
                <a:solidFill>
                  <a:srgbClr val="FF0000"/>
                </a:solidFill>
                <a:sym typeface="+mn-ea"/>
              </a:rPr>
              <a:t>(</a:t>
            </a:r>
            <a:r>
              <a:rPr lang="zh-CN" altLang="en-US" sz="3600" b="1" dirty="0">
                <a:solidFill>
                  <a:srgbClr val="FF0000"/>
                </a:solidFill>
                <a:sym typeface="+mn-ea"/>
              </a:rPr>
              <a:t>人士</a:t>
            </a:r>
            <a:r>
              <a:rPr lang="en-US" altLang="zh-CN" sz="3600" b="1" dirty="0">
                <a:solidFill>
                  <a:srgbClr val="FF0000"/>
                </a:solidFill>
                <a:sym typeface="+mn-ea"/>
              </a:rPr>
              <a:t>) source n.</a:t>
            </a:r>
            <a:r>
              <a:rPr lang="zh-CN" altLang="en-US" sz="3600" b="1" dirty="0">
                <a:solidFill>
                  <a:srgbClr val="FF0000"/>
                </a:solidFill>
                <a:sym typeface="+mn-ea"/>
              </a:rPr>
              <a:t>来源根源</a:t>
            </a:r>
            <a:endParaRPr lang="en-US" altLang="zh-CN" sz="3600" b="1" dirty="0">
              <a:solidFill>
                <a:srgbClr val="FF0000"/>
              </a:solidFill>
            </a:endParaRPr>
          </a:p>
          <a:p>
            <a:r>
              <a:rPr lang="en-US" altLang="zh-CN" sz="3600" b="1" dirty="0">
                <a:solidFill>
                  <a:srgbClr val="FF0000"/>
                </a:solidFill>
                <a:sym typeface="+mn-ea"/>
              </a:rPr>
              <a:t> trustworthy</a:t>
            </a:r>
            <a:r>
              <a:rPr lang="zh-CN" altLang="en-US" sz="3600" b="1" dirty="0">
                <a:solidFill>
                  <a:srgbClr val="FF0000"/>
                </a:solidFill>
                <a:sym typeface="+mn-ea"/>
              </a:rPr>
              <a:t>值得信赖的</a:t>
            </a:r>
            <a:r>
              <a:rPr lang="en-US" altLang="zh-CN" sz="3600" b="1" dirty="0">
                <a:solidFill>
                  <a:srgbClr val="FF0000"/>
                </a:solidFill>
                <a:sym typeface="+mn-ea"/>
              </a:rPr>
              <a:t> untrustworthy</a:t>
            </a:r>
            <a:r>
              <a:rPr lang="zh-CN" altLang="en-US" sz="3600" b="1" dirty="0">
                <a:solidFill>
                  <a:srgbClr val="FF0000"/>
                </a:solidFill>
                <a:sym typeface="+mn-ea"/>
              </a:rPr>
              <a:t>不值得信赖的 </a:t>
            </a:r>
            <a:endParaRPr lang="en-US" altLang="zh-CN" sz="3600" b="1" dirty="0">
              <a:solidFill>
                <a:srgbClr val="FF0000"/>
              </a:solidFill>
            </a:endParaRPr>
          </a:p>
          <a:p>
            <a:r>
              <a:rPr lang="en-US" altLang="zh-CN" sz="3600" b="1" dirty="0">
                <a:solidFill>
                  <a:srgbClr val="FF0000"/>
                </a:solidFill>
                <a:sym typeface="+mn-ea"/>
              </a:rPr>
              <a:t> isn’t necessarily true</a:t>
            </a:r>
            <a:r>
              <a:rPr lang="zh-CN" altLang="en-US" sz="3600" b="1" dirty="0">
                <a:solidFill>
                  <a:srgbClr val="FF0000"/>
                </a:solidFill>
                <a:sym typeface="+mn-ea"/>
              </a:rPr>
              <a:t>未必是真的</a:t>
            </a:r>
            <a:endParaRPr lang="en-US" altLang="zh-CN" sz="3600" b="1" dirty="0">
              <a:solidFill>
                <a:srgbClr val="FF0000"/>
              </a:solidFill>
            </a:endParaRPr>
          </a:p>
          <a:p>
            <a:r>
              <a:rPr lang="en-US" altLang="zh-CN" sz="3600" b="1" dirty="0">
                <a:solidFill>
                  <a:srgbClr val="FF0000"/>
                </a:solidFill>
                <a:sym typeface="+mn-ea"/>
              </a:rPr>
              <a:t> put yourself in other people’s shoes</a:t>
            </a:r>
            <a:r>
              <a:rPr lang="zh-CN" altLang="en-US" sz="3600" b="1" dirty="0">
                <a:solidFill>
                  <a:srgbClr val="FF0000"/>
                </a:solidFill>
                <a:sym typeface="+mn-ea"/>
              </a:rPr>
              <a:t>换位思考</a:t>
            </a:r>
            <a:r>
              <a:rPr lang="en-US" altLang="zh-CN" sz="3600" b="1" dirty="0">
                <a:solidFill>
                  <a:srgbClr val="FF0000"/>
                </a:solidFill>
                <a:sym typeface="+mn-ea"/>
              </a:rPr>
              <a:t> </a:t>
            </a:r>
            <a:endParaRPr lang="en-US" altLang="zh-CN" sz="3600" b="1" dirty="0">
              <a:solidFill>
                <a:srgbClr val="FF0000"/>
              </a:solidFill>
            </a:endParaRPr>
          </a:p>
          <a:p>
            <a:r>
              <a:rPr lang="en-US" altLang="zh-CN" sz="3600" b="1" dirty="0">
                <a:solidFill>
                  <a:srgbClr val="FF0000"/>
                </a:solidFill>
                <a:sym typeface="+mn-ea"/>
              </a:rPr>
              <a:t> </a:t>
            </a:r>
            <a:r>
              <a:rPr lang="en-US" altLang="zh-CN" sz="3200" b="1" dirty="0">
                <a:solidFill>
                  <a:srgbClr val="FF0000"/>
                </a:solidFill>
                <a:sym typeface="+mn-ea"/>
              </a:rPr>
              <a:t>empathy n.</a:t>
            </a:r>
            <a:r>
              <a:rPr lang="zh-CN" altLang="en-US" sz="3200" b="1" dirty="0">
                <a:solidFill>
                  <a:srgbClr val="FF0000"/>
                </a:solidFill>
                <a:sym typeface="+mn-ea"/>
              </a:rPr>
              <a:t>同情共鸣</a:t>
            </a:r>
            <a:r>
              <a:rPr lang="en-US" altLang="zh-CN" sz="3200" b="1" dirty="0">
                <a:solidFill>
                  <a:srgbClr val="FF0000"/>
                </a:solidFill>
                <a:sym typeface="+mn-ea"/>
              </a:rPr>
              <a:t> facilitate v.</a:t>
            </a:r>
            <a:r>
              <a:rPr lang="zh-CN" altLang="en-US" sz="3200" b="1" dirty="0">
                <a:solidFill>
                  <a:srgbClr val="FF0000"/>
                </a:solidFill>
                <a:sym typeface="+mn-ea"/>
              </a:rPr>
              <a:t>使便利</a:t>
            </a:r>
            <a:r>
              <a:rPr lang="en-US" altLang="zh-CN" sz="3200" b="1" dirty="0">
                <a:solidFill>
                  <a:srgbClr val="FF0000"/>
                </a:solidFill>
                <a:sym typeface="+mn-ea"/>
              </a:rPr>
              <a:t>;</a:t>
            </a:r>
            <a:r>
              <a:rPr lang="zh-CN" altLang="en-US" sz="3200" b="1" dirty="0">
                <a:solidFill>
                  <a:srgbClr val="FF0000"/>
                </a:solidFill>
                <a:sym typeface="+mn-ea"/>
              </a:rPr>
              <a:t>促进 </a:t>
            </a:r>
            <a:r>
              <a:rPr lang="en-US" altLang="zh-CN" sz="3200" b="1" dirty="0">
                <a:solidFill>
                  <a:srgbClr val="FF0000"/>
                </a:solidFill>
                <a:sym typeface="+mn-ea"/>
              </a:rPr>
              <a:t>facility n.</a:t>
            </a:r>
            <a:r>
              <a:rPr lang="zh-CN" altLang="en-US" sz="3200" b="1" dirty="0">
                <a:solidFill>
                  <a:srgbClr val="FF0000"/>
                </a:solidFill>
                <a:sym typeface="+mn-ea"/>
              </a:rPr>
              <a:t>便利设施</a:t>
            </a:r>
            <a:endParaRPr lang="en-US" altLang="zh-CN" sz="3200" b="1" dirty="0">
              <a:solidFill>
                <a:srgbClr val="FF0000"/>
              </a:solidFill>
            </a:endParaRPr>
          </a:p>
          <a:p>
            <a:endParaRPr lang="en-US" altLang="zh-CN" sz="3200" b="1"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found (founded*2)</a:t>
            </a:r>
            <a:r>
              <a:rPr lang="zh-CN" altLang="en-US" sz="3600" b="1" dirty="0">
                <a:solidFill>
                  <a:srgbClr val="FF0000"/>
                </a:solidFill>
              </a:rPr>
              <a:t>创办 </a:t>
            </a:r>
            <a:r>
              <a:rPr lang="en-US" altLang="zh-CN" sz="3600" b="1" dirty="0">
                <a:solidFill>
                  <a:srgbClr val="FF0000"/>
                </a:solidFill>
              </a:rPr>
              <a:t>edit </a:t>
            </a:r>
            <a:r>
              <a:rPr lang="en-US" altLang="zh-CN" sz="3600" b="1" dirty="0" err="1">
                <a:solidFill>
                  <a:srgbClr val="FF0000"/>
                </a:solidFill>
              </a:rPr>
              <a:t>v.n.</a:t>
            </a:r>
            <a:r>
              <a:rPr lang="zh-CN" altLang="en-US" sz="3600" b="1" dirty="0">
                <a:solidFill>
                  <a:srgbClr val="FF0000"/>
                </a:solidFill>
              </a:rPr>
              <a:t>编辑</a:t>
            </a:r>
            <a:endParaRPr lang="en-US" altLang="zh-CN" sz="3600" b="1" dirty="0">
              <a:solidFill>
                <a:srgbClr val="FF0000"/>
              </a:solidFill>
            </a:endParaRPr>
          </a:p>
          <a:p>
            <a:r>
              <a:rPr lang="en-US" altLang="zh-CN" sz="3600" b="1" dirty="0">
                <a:solidFill>
                  <a:srgbClr val="FF0000"/>
                </a:solidFill>
              </a:rPr>
              <a:t> break out</a:t>
            </a:r>
            <a:r>
              <a:rPr lang="zh-CN" altLang="en-US" sz="3600" b="1" dirty="0">
                <a:solidFill>
                  <a:srgbClr val="FF0000"/>
                </a:solidFill>
              </a:rPr>
              <a:t>爆发出现</a:t>
            </a:r>
            <a:r>
              <a:rPr lang="en-US" altLang="zh-CN" sz="3600" b="1" dirty="0">
                <a:solidFill>
                  <a:srgbClr val="FF0000"/>
                </a:solidFill>
              </a:rPr>
              <a:t> give out</a:t>
            </a:r>
            <a:r>
              <a:rPr lang="zh-CN" altLang="en-US" sz="3600" b="1" dirty="0">
                <a:solidFill>
                  <a:srgbClr val="FF0000"/>
                </a:solidFill>
              </a:rPr>
              <a:t>发布</a:t>
            </a:r>
            <a:r>
              <a:rPr lang="en-US" altLang="zh-CN" sz="3600" b="1" dirty="0">
                <a:solidFill>
                  <a:srgbClr val="FF0000"/>
                </a:solidFill>
              </a:rPr>
              <a:t>/</a:t>
            </a:r>
            <a:r>
              <a:rPr lang="zh-CN" altLang="en-US" sz="3600" b="1" dirty="0">
                <a:solidFill>
                  <a:srgbClr val="FF0000"/>
                </a:solidFill>
              </a:rPr>
              <a:t>出</a:t>
            </a:r>
            <a:r>
              <a:rPr lang="en-US" altLang="zh-CN" sz="3600" b="1" dirty="0">
                <a:solidFill>
                  <a:srgbClr val="FF0000"/>
                </a:solidFill>
              </a:rPr>
              <a:t>;</a:t>
            </a:r>
            <a:r>
              <a:rPr lang="zh-CN" altLang="en-US" sz="3600" b="1" dirty="0">
                <a:solidFill>
                  <a:srgbClr val="FF0000"/>
                </a:solidFill>
              </a:rPr>
              <a:t>分发</a:t>
            </a:r>
            <a:r>
              <a:rPr lang="en-US" altLang="zh-CN" sz="3600" b="1" dirty="0">
                <a:solidFill>
                  <a:srgbClr val="FF0000"/>
                </a:solidFill>
              </a:rPr>
              <a:t>;</a:t>
            </a:r>
            <a:r>
              <a:rPr lang="zh-CN" altLang="en-US" sz="3600" b="1" dirty="0">
                <a:solidFill>
                  <a:srgbClr val="FF0000"/>
                </a:solidFill>
              </a:rPr>
              <a:t>耗尽</a:t>
            </a:r>
            <a:endParaRPr lang="en-US" altLang="zh-CN" sz="3600" b="1" dirty="0">
              <a:solidFill>
                <a:srgbClr val="FF0000"/>
              </a:solidFill>
            </a:endParaRPr>
          </a:p>
          <a:p>
            <a:r>
              <a:rPr lang="en-US" altLang="zh-CN" sz="3600" b="1" dirty="0">
                <a:solidFill>
                  <a:srgbClr val="FF0000"/>
                </a:solidFill>
              </a:rPr>
              <a:t> work out</a:t>
            </a:r>
            <a:r>
              <a:rPr lang="zh-CN" altLang="en-US" sz="3600" b="1" dirty="0">
                <a:solidFill>
                  <a:srgbClr val="FF0000"/>
                </a:solidFill>
              </a:rPr>
              <a:t>解决</a:t>
            </a:r>
            <a:r>
              <a:rPr lang="en-US" altLang="zh-CN" sz="3600" b="1" dirty="0">
                <a:solidFill>
                  <a:srgbClr val="FF0000"/>
                </a:solidFill>
              </a:rPr>
              <a:t>;</a:t>
            </a:r>
            <a:r>
              <a:rPr lang="zh-CN" altLang="en-US" sz="3600" b="1" dirty="0">
                <a:solidFill>
                  <a:srgbClr val="FF0000"/>
                </a:solidFill>
              </a:rPr>
              <a:t>锻炼</a:t>
            </a:r>
            <a:r>
              <a:rPr lang="en-US" altLang="zh-CN" sz="3600" b="1" dirty="0">
                <a:solidFill>
                  <a:srgbClr val="FF0000"/>
                </a:solidFill>
              </a:rPr>
              <a:t> start out</a:t>
            </a:r>
            <a:r>
              <a:rPr lang="zh-CN" altLang="en-US" sz="3600" b="1" dirty="0">
                <a:solidFill>
                  <a:srgbClr val="FF0000"/>
                </a:solidFill>
              </a:rPr>
              <a:t>开始 </a:t>
            </a:r>
            <a:r>
              <a:rPr lang="en-US" altLang="zh-CN" sz="3600" b="1" dirty="0">
                <a:solidFill>
                  <a:srgbClr val="FF0000"/>
                </a:solidFill>
              </a:rPr>
              <a:t> debate</a:t>
            </a:r>
            <a:r>
              <a:rPr lang="zh-CN" altLang="en-US" sz="3600" b="1" dirty="0">
                <a:solidFill>
                  <a:srgbClr val="FF0000"/>
                </a:solidFill>
              </a:rPr>
              <a:t>辩论</a:t>
            </a:r>
          </a:p>
          <a:p>
            <a:r>
              <a:rPr lang="en-US" altLang="zh-CN" sz="3600" b="1" dirty="0">
                <a:solidFill>
                  <a:srgbClr val="FF0000"/>
                </a:solidFill>
              </a:rPr>
              <a:t> attend classes</a:t>
            </a:r>
            <a:r>
              <a:rPr lang="zh-CN" altLang="en-US" sz="3600" b="1" dirty="0">
                <a:solidFill>
                  <a:srgbClr val="FF0000"/>
                </a:solidFill>
              </a:rPr>
              <a:t>上课 </a:t>
            </a:r>
            <a:r>
              <a:rPr lang="en-US" altLang="zh-CN" sz="3600" b="1" dirty="0">
                <a:solidFill>
                  <a:srgbClr val="FF0000"/>
                </a:solidFill>
              </a:rPr>
              <a:t>operation n.</a:t>
            </a:r>
            <a:r>
              <a:rPr lang="zh-CN" altLang="en-US" sz="3600" b="1" dirty="0">
                <a:solidFill>
                  <a:srgbClr val="FF0000"/>
                </a:solidFill>
              </a:rPr>
              <a:t>运作操作手术</a:t>
            </a:r>
          </a:p>
          <a:p>
            <a:r>
              <a:rPr lang="en-US" altLang="zh-CN" sz="3600" b="1" dirty="0">
                <a:solidFill>
                  <a:srgbClr val="FF0000"/>
                </a:solidFill>
              </a:rPr>
              <a:t> donate money to</a:t>
            </a:r>
            <a:r>
              <a:rPr lang="zh-CN" altLang="en-US" sz="3600" b="1" dirty="0">
                <a:solidFill>
                  <a:srgbClr val="FF0000"/>
                </a:solidFill>
              </a:rPr>
              <a:t>捐钱给</a:t>
            </a:r>
          </a:p>
          <a:p>
            <a:r>
              <a:rPr lang="en-US" altLang="zh-CN" sz="3600" b="1" dirty="0">
                <a:solidFill>
                  <a:srgbClr val="FF0000"/>
                </a:solidFill>
              </a:rPr>
              <a:t> a powerful tool to empower sb.</a:t>
            </a:r>
            <a:r>
              <a:rPr lang="zh-CN" altLang="en-US" sz="3600" b="1" dirty="0">
                <a:solidFill>
                  <a:srgbClr val="FF0000"/>
                </a:solidFill>
              </a:rPr>
              <a:t>赋予某人权力的有力工具</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zh-CN" altLang="en-US" sz="3600" b="1" dirty="0">
                <a:solidFill>
                  <a:srgbClr val="FF0000"/>
                </a:solidFill>
              </a:rPr>
              <a:t>卷五 </a:t>
            </a:r>
            <a:r>
              <a:rPr lang="en-US" altLang="zh-CN" sz="3600" b="1" dirty="0">
                <a:solidFill>
                  <a:srgbClr val="FF0000"/>
                </a:solidFill>
              </a:rPr>
              <a:t>initiative n.</a:t>
            </a:r>
            <a:r>
              <a:rPr lang="zh-CN" altLang="en-US" sz="3600" b="1" dirty="0">
                <a:solidFill>
                  <a:srgbClr val="FF0000"/>
                </a:solidFill>
              </a:rPr>
              <a:t>倡议</a:t>
            </a:r>
            <a:r>
              <a:rPr lang="en-US" altLang="zh-CN" sz="3600" b="1" dirty="0">
                <a:solidFill>
                  <a:srgbClr val="FF0000"/>
                </a:solidFill>
              </a:rPr>
              <a:t>;</a:t>
            </a:r>
            <a:r>
              <a:rPr lang="zh-CN" altLang="en-US" sz="3600" b="1" dirty="0">
                <a:solidFill>
                  <a:srgbClr val="FF0000"/>
                </a:solidFill>
              </a:rPr>
              <a:t>积极主动性 </a:t>
            </a:r>
            <a:r>
              <a:rPr lang="en-US" altLang="zh-CN" sz="3600" b="1" dirty="0">
                <a:solidFill>
                  <a:srgbClr val="FF0000"/>
                </a:solidFill>
              </a:rPr>
              <a:t>nationality</a:t>
            </a:r>
            <a:r>
              <a:rPr lang="zh-CN" altLang="en-US" sz="3600" b="1" dirty="0">
                <a:solidFill>
                  <a:srgbClr val="FF0000"/>
                </a:solidFill>
              </a:rPr>
              <a:t>国籍</a:t>
            </a:r>
            <a:r>
              <a:rPr lang="en-US" altLang="zh-CN" sz="3600" b="1" dirty="0">
                <a:solidFill>
                  <a:srgbClr val="FF0000"/>
                </a:solidFill>
              </a:rPr>
              <a:t> </a:t>
            </a:r>
          </a:p>
          <a:p>
            <a:r>
              <a:rPr lang="en-US" altLang="zh-CN" sz="3600" b="1" dirty="0">
                <a:solidFill>
                  <a:srgbClr val="FF0000"/>
                </a:solidFill>
              </a:rPr>
              <a:t> occupation</a:t>
            </a:r>
            <a:r>
              <a:rPr lang="zh-CN" altLang="en-US" sz="3600" b="1" dirty="0">
                <a:solidFill>
                  <a:srgbClr val="FF0000"/>
                </a:solidFill>
              </a:rPr>
              <a:t>工作职业</a:t>
            </a:r>
            <a:r>
              <a:rPr lang="en-US" altLang="zh-CN" sz="3600" b="1" dirty="0">
                <a:solidFill>
                  <a:srgbClr val="FF0000"/>
                </a:solidFill>
              </a:rPr>
              <a:t>;</a:t>
            </a:r>
            <a:r>
              <a:rPr lang="zh-CN" altLang="en-US" sz="3600" b="1" dirty="0">
                <a:solidFill>
                  <a:srgbClr val="FF0000"/>
                </a:solidFill>
              </a:rPr>
              <a:t>占领 </a:t>
            </a:r>
            <a:r>
              <a:rPr lang="en-US" altLang="zh-CN" sz="3600" b="1" dirty="0">
                <a:solidFill>
                  <a:srgbClr val="FF0000"/>
                </a:solidFill>
              </a:rPr>
              <a:t>gender</a:t>
            </a:r>
            <a:r>
              <a:rPr lang="zh-CN" altLang="en-US" sz="3600" b="1" dirty="0">
                <a:solidFill>
                  <a:srgbClr val="FF0000"/>
                </a:solidFill>
              </a:rPr>
              <a:t>性别 </a:t>
            </a:r>
            <a:r>
              <a:rPr lang="en-US" altLang="zh-CN" sz="3600" b="1" dirty="0">
                <a:solidFill>
                  <a:srgbClr val="FF0000"/>
                </a:solidFill>
              </a:rPr>
              <a:t>character</a:t>
            </a:r>
            <a:r>
              <a:rPr lang="zh-CN" altLang="en-US" sz="3600" b="1" dirty="0">
                <a:solidFill>
                  <a:srgbClr val="FF0000"/>
                </a:solidFill>
              </a:rPr>
              <a:t>性格</a:t>
            </a:r>
            <a:r>
              <a:rPr lang="en-US" altLang="zh-CN" sz="3600" b="1" dirty="0">
                <a:solidFill>
                  <a:srgbClr val="FF0000"/>
                </a:solidFill>
              </a:rPr>
              <a:t>;</a:t>
            </a:r>
            <a:r>
              <a:rPr lang="zh-CN" altLang="en-US" sz="3600" b="1" dirty="0">
                <a:solidFill>
                  <a:srgbClr val="FF0000"/>
                </a:solidFill>
              </a:rPr>
              <a:t>特色</a:t>
            </a:r>
            <a:r>
              <a:rPr lang="en-US" altLang="zh-CN" sz="3600" b="1" dirty="0">
                <a:solidFill>
                  <a:srgbClr val="FF0000"/>
                </a:solidFill>
              </a:rPr>
              <a:t>;</a:t>
            </a:r>
            <a:r>
              <a:rPr lang="zh-CN" altLang="en-US" sz="3600" b="1" dirty="0">
                <a:solidFill>
                  <a:srgbClr val="FF0000"/>
                </a:solidFill>
              </a:rPr>
              <a:t>文字</a:t>
            </a:r>
            <a:endParaRPr lang="en-US" altLang="zh-CN" sz="3600" b="1" dirty="0">
              <a:solidFill>
                <a:srgbClr val="FF0000"/>
              </a:solidFill>
            </a:endParaRPr>
          </a:p>
          <a:p>
            <a:r>
              <a:rPr lang="en-US" altLang="zh-CN" sz="3600" b="1" dirty="0">
                <a:solidFill>
                  <a:srgbClr val="FF0000"/>
                </a:solidFill>
              </a:rPr>
              <a:t> restoration</a:t>
            </a:r>
            <a:r>
              <a:rPr lang="zh-CN" altLang="en-US" sz="3600" b="1" dirty="0">
                <a:solidFill>
                  <a:srgbClr val="FF0000"/>
                </a:solidFill>
              </a:rPr>
              <a:t>修复恢复 </a:t>
            </a:r>
            <a:r>
              <a:rPr lang="en-US" altLang="zh-CN" sz="3600" b="1" dirty="0">
                <a:solidFill>
                  <a:srgbClr val="FF0000"/>
                </a:solidFill>
              </a:rPr>
              <a:t>evaluate v.</a:t>
            </a:r>
            <a:r>
              <a:rPr lang="zh-CN" altLang="en-US" sz="3600" b="1" dirty="0">
                <a:solidFill>
                  <a:srgbClr val="FF0000"/>
                </a:solidFill>
              </a:rPr>
              <a:t>评价评估</a:t>
            </a:r>
            <a:endParaRPr lang="en-US" altLang="zh-CN" sz="3600" b="1" dirty="0">
              <a:solidFill>
                <a:srgbClr val="FF0000"/>
              </a:solidFill>
            </a:endParaRPr>
          </a:p>
          <a:p>
            <a:r>
              <a:rPr lang="en-US" altLang="zh-CN" sz="3600" b="1" dirty="0">
                <a:solidFill>
                  <a:srgbClr val="FF0000"/>
                </a:solidFill>
              </a:rPr>
              <a:t> incorrect assessment</a:t>
            </a:r>
            <a:r>
              <a:rPr lang="zh-CN" altLang="en-US" sz="3600" b="1" dirty="0">
                <a:solidFill>
                  <a:srgbClr val="FF0000"/>
                </a:solidFill>
              </a:rPr>
              <a:t>错误的评估 </a:t>
            </a:r>
            <a:r>
              <a:rPr lang="en-US" altLang="zh-CN" sz="3600" b="1" dirty="0">
                <a:solidFill>
                  <a:srgbClr val="FF0000"/>
                </a:solidFill>
              </a:rPr>
              <a:t>a chemistry degree</a:t>
            </a:r>
            <a:r>
              <a:rPr lang="zh-CN" altLang="en-US" sz="3600" b="1" dirty="0">
                <a:solidFill>
                  <a:srgbClr val="FF0000"/>
                </a:solidFill>
              </a:rPr>
              <a:t>化学学位</a:t>
            </a:r>
            <a:endParaRPr lang="en-US" altLang="zh-CN" sz="3600" b="1" dirty="0">
              <a:solidFill>
                <a:srgbClr val="FF0000"/>
              </a:solidFill>
            </a:endParaRPr>
          </a:p>
          <a:p>
            <a:r>
              <a:rPr lang="en-US" altLang="zh-CN" sz="3600" b="1" dirty="0">
                <a:solidFill>
                  <a:srgbClr val="FF0000"/>
                </a:solidFill>
              </a:rPr>
              <a:t> a master’s candidate</a:t>
            </a:r>
            <a:r>
              <a:rPr lang="zh-CN" altLang="en-US" sz="3600" b="1" dirty="0">
                <a:solidFill>
                  <a:srgbClr val="FF0000"/>
                </a:solidFill>
              </a:rPr>
              <a:t>硕士研究生</a:t>
            </a:r>
            <a:endParaRPr lang="en-US" altLang="zh-CN" sz="3600" b="1" dirty="0">
              <a:solidFill>
                <a:srgbClr val="FF0000"/>
              </a:solidFill>
            </a:endParaRPr>
          </a:p>
          <a:p>
            <a:r>
              <a:rPr lang="en-US" altLang="zh-CN" sz="3600" b="1" dirty="0">
                <a:solidFill>
                  <a:srgbClr val="FF0000"/>
                </a:solidFill>
              </a:rPr>
              <a:t> cultural heritage preservation</a:t>
            </a:r>
            <a:r>
              <a:rPr lang="zh-CN" altLang="en-US" sz="3600" b="1" dirty="0">
                <a:solidFill>
                  <a:srgbClr val="FF0000"/>
                </a:solidFill>
              </a:rPr>
              <a:t>文化遗产保护</a:t>
            </a:r>
            <a:endParaRPr lang="en-US" altLang="zh-CN" sz="3600" b="1" dirty="0">
              <a:solidFill>
                <a:srgbClr val="FF0000"/>
              </a:solidFill>
            </a:endParaRPr>
          </a:p>
          <a:p>
            <a:r>
              <a:rPr lang="en-US" altLang="zh-CN" sz="3600" b="1" dirty="0">
                <a:solidFill>
                  <a:srgbClr val="FF0000"/>
                </a:solidFill>
              </a:rPr>
              <a:t> history mirrors future</a:t>
            </a:r>
            <a:r>
              <a:rPr lang="zh-CN" altLang="en-US" sz="3600" b="1" dirty="0">
                <a:solidFill>
                  <a:srgbClr val="FF0000"/>
                </a:solidFill>
              </a:rPr>
              <a:t>历史反映未来 </a:t>
            </a:r>
            <a:endParaRPr lang="en-US" altLang="zh-CN" sz="3600" b="1" dirty="0">
              <a:solidFill>
                <a:srgbClr val="FF0000"/>
              </a:solidFill>
            </a:endParaRPr>
          </a:p>
          <a:p>
            <a:r>
              <a:rPr lang="en-US" altLang="zh-CN" sz="3600" b="1" dirty="0">
                <a:solidFill>
                  <a:srgbClr val="FF0000"/>
                </a:solidFill>
              </a:rPr>
              <a:t> break down barriers</a:t>
            </a:r>
            <a:r>
              <a:rPr lang="zh-CN" altLang="en-US" sz="3600" b="1" dirty="0">
                <a:solidFill>
                  <a:srgbClr val="FF0000"/>
                </a:solidFill>
              </a:rPr>
              <a:t>消除障碍</a:t>
            </a:r>
            <a:endParaRPr lang="en-US" altLang="zh-CN" sz="3600" b="1" dirty="0">
              <a:solidFill>
                <a:srgbClr val="FF0000"/>
              </a:solidFill>
            </a:endParaRPr>
          </a:p>
          <a:p>
            <a:r>
              <a:rPr lang="en-US" altLang="zh-CN" sz="3600" b="1" dirty="0">
                <a:solidFill>
                  <a:srgbClr val="FF0000"/>
                </a:solidFill>
              </a:rPr>
              <a:t> commitment and hard work pay off</a:t>
            </a:r>
            <a:r>
              <a:rPr lang="zh-CN" altLang="en-US" sz="3600" b="1" dirty="0">
                <a:solidFill>
                  <a:srgbClr val="FF0000"/>
                </a:solidFill>
              </a:rPr>
              <a:t>奉献和努力是有回报的</a:t>
            </a:r>
            <a:endParaRPr lang="en-US" altLang="zh-CN" sz="3600" b="1" dirty="0">
              <a:solidFill>
                <a:srgbClr val="FF0000"/>
              </a:solidFill>
            </a:endParaRPr>
          </a:p>
          <a:p>
            <a:r>
              <a:rPr lang="en-US" altLang="zh-CN" sz="3600" b="1" dirty="0">
                <a:solidFill>
                  <a:srgbClr val="FF0000"/>
                </a:solidFill>
              </a:rPr>
              <a:t> cognitive benefits</a:t>
            </a:r>
            <a:r>
              <a:rPr lang="zh-CN" altLang="en-US" sz="3600" b="1" dirty="0">
                <a:solidFill>
                  <a:srgbClr val="FF0000"/>
                </a:solidFill>
              </a:rPr>
              <a:t>认知益处</a:t>
            </a:r>
            <a:endParaRPr lang="en-US" altLang="zh-CN" sz="3600" b="1" dirty="0">
              <a:solidFill>
                <a:srgbClr val="FF0000"/>
              </a:solidFill>
            </a:endParaRPr>
          </a:p>
          <a:p>
            <a:r>
              <a:rPr lang="en-US" altLang="zh-CN" sz="3600" b="1" dirty="0">
                <a:solidFill>
                  <a:srgbClr val="FF0000"/>
                </a:solidFill>
              </a:rPr>
              <a:t> temporary</a:t>
            </a:r>
            <a:r>
              <a:rPr lang="zh-CN" altLang="en-US" sz="3600" b="1" dirty="0">
                <a:solidFill>
                  <a:srgbClr val="FF0000"/>
                </a:solidFill>
              </a:rPr>
              <a:t>暂时临时短期的</a:t>
            </a:r>
            <a:r>
              <a:rPr lang="en-US" altLang="zh-CN" sz="3600" b="1" dirty="0">
                <a:solidFill>
                  <a:srgbClr val="FF0000"/>
                </a:solidFill>
              </a:rPr>
              <a:t>  permanent</a:t>
            </a:r>
            <a:r>
              <a:rPr lang="zh-CN" altLang="en-US" sz="3600" b="1" dirty="0">
                <a:solidFill>
                  <a:srgbClr val="FF0000"/>
                </a:solidFill>
              </a:rPr>
              <a:t>永久永恒长期的</a:t>
            </a:r>
            <a:endParaRPr lang="en-US" altLang="zh-CN" sz="3600" b="1" dirty="0">
              <a:solidFill>
                <a:srgbClr val="FF0000"/>
              </a:solidFill>
            </a:endParaRPr>
          </a:p>
          <a:p>
            <a:r>
              <a:rPr lang="en-US" altLang="zh-CN" sz="3600" b="1" dirty="0">
                <a:solidFill>
                  <a:srgbClr val="FF0000"/>
                </a:solidFill>
              </a:rPr>
              <a:t> original participants</a:t>
            </a:r>
            <a:r>
              <a:rPr lang="zh-CN" altLang="en-US" sz="3600" b="1" dirty="0">
                <a:solidFill>
                  <a:srgbClr val="FF0000"/>
                </a:solidFill>
              </a:rPr>
              <a:t>最初的参与者</a:t>
            </a:r>
            <a:r>
              <a:rPr lang="en-US" altLang="zh-CN" sz="3600" b="1" dirty="0">
                <a:solidFill>
                  <a:srgbClr val="FF0000"/>
                </a:solidFill>
              </a:rPr>
              <a:t> questionnaire</a:t>
            </a:r>
            <a:r>
              <a:rPr lang="zh-CN" altLang="en-US" sz="3600" b="1" dirty="0">
                <a:solidFill>
                  <a:srgbClr val="FF0000"/>
                </a:solidFill>
              </a:rPr>
              <a:t>问卷调查</a:t>
            </a:r>
            <a:endParaRPr lang="en-US" altLang="zh-CN" sz="3600" b="1" dirty="0">
              <a:solidFill>
                <a:srgbClr val="FF0000"/>
              </a:solidFill>
            </a:endParaRPr>
          </a:p>
          <a:p>
            <a:r>
              <a:rPr lang="en-US" altLang="zh-CN" sz="3600" b="1" dirty="0">
                <a:solidFill>
                  <a:srgbClr val="FF0000"/>
                </a:solidFill>
              </a:rPr>
              <a:t> co-ordination n.</a:t>
            </a:r>
            <a:r>
              <a:rPr lang="zh-CN" altLang="en-US" sz="3600" b="1" dirty="0">
                <a:solidFill>
                  <a:srgbClr val="FF0000"/>
                </a:solidFill>
              </a:rPr>
              <a:t>协调配合</a:t>
            </a:r>
            <a:r>
              <a:rPr lang="en-US" altLang="zh-CN" sz="3600" b="1" dirty="0">
                <a:solidFill>
                  <a:srgbClr val="FF0000"/>
                </a:solidFill>
              </a:rPr>
              <a:t> advantageous</a:t>
            </a:r>
            <a:r>
              <a:rPr lang="zh-CN" altLang="en-US" sz="3600" b="1" dirty="0">
                <a:solidFill>
                  <a:srgbClr val="FF0000"/>
                </a:solidFill>
              </a:rPr>
              <a:t>有利的有益的</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ym typeface="+mn-ea"/>
              </a:rPr>
              <a:t>manipulative adj.</a:t>
            </a:r>
            <a:r>
              <a:rPr lang="zh-CN" altLang="en-US" sz="3600" b="1" dirty="0">
                <a:sym typeface="+mn-ea"/>
              </a:rPr>
              <a:t>操纵的</a:t>
            </a:r>
            <a:r>
              <a:rPr lang="en-US" altLang="zh-CN" sz="3600" b="1" dirty="0">
                <a:sym typeface="+mn-ea"/>
              </a:rPr>
              <a:t>;</a:t>
            </a:r>
            <a:r>
              <a:rPr lang="zh-CN" altLang="en-US" sz="3600" b="1" dirty="0">
                <a:sym typeface="+mn-ea"/>
              </a:rPr>
              <a:t>善于摆布他人的</a:t>
            </a:r>
          </a:p>
          <a:p>
            <a:r>
              <a:rPr lang="en-US" altLang="zh-CN" sz="3600" b="1" dirty="0">
                <a:solidFill>
                  <a:srgbClr val="FF0000"/>
                </a:solidFill>
                <a:sym typeface="+mn-ea"/>
              </a:rPr>
              <a:t>manipulate v.</a:t>
            </a:r>
            <a:r>
              <a:rPr lang="zh-CN" altLang="en-US" sz="3600" b="1" dirty="0">
                <a:solidFill>
                  <a:srgbClr val="FF0000"/>
                </a:solidFill>
                <a:sym typeface="+mn-ea"/>
              </a:rPr>
              <a:t>操作</a:t>
            </a:r>
            <a:r>
              <a:rPr lang="en-US" altLang="zh-CN" sz="3600" b="1" dirty="0">
                <a:solidFill>
                  <a:srgbClr val="FF0000"/>
                </a:solidFill>
                <a:sym typeface="+mn-ea"/>
              </a:rPr>
              <a:t>;</a:t>
            </a:r>
            <a:r>
              <a:rPr lang="zh-CN" altLang="en-US" sz="3600" b="1" dirty="0">
                <a:solidFill>
                  <a:srgbClr val="FF0000"/>
                </a:solidFill>
                <a:sym typeface="+mn-ea"/>
              </a:rPr>
              <a:t>摆布</a:t>
            </a:r>
            <a:r>
              <a:rPr lang="en-US" altLang="zh-CN" sz="3600" b="1" dirty="0">
                <a:solidFill>
                  <a:srgbClr val="FF0000"/>
                </a:solidFill>
                <a:sym typeface="+mn-ea"/>
              </a:rPr>
              <a:t>+sb. into doing sth.</a:t>
            </a:r>
          </a:p>
          <a:p>
            <a:r>
              <a:rPr lang="en-US" altLang="zh-CN" sz="3600" b="1" dirty="0">
                <a:solidFill>
                  <a:schemeClr val="tx1"/>
                </a:solidFill>
                <a:sym typeface="+mn-ea"/>
              </a:rPr>
              <a:t>Limits need to be set on Al’s ability to simulate (</a:t>
            </a:r>
            <a:r>
              <a:rPr lang="zh-CN" altLang="en-US" sz="3600" b="1" dirty="0">
                <a:solidFill>
                  <a:schemeClr val="tx1"/>
                </a:solidFill>
                <a:sym typeface="+mn-ea"/>
              </a:rPr>
              <a:t>模仿</a:t>
            </a:r>
            <a:r>
              <a:rPr lang="en-US" altLang="zh-CN" sz="3600" b="1" dirty="0">
                <a:solidFill>
                  <a:schemeClr val="tx1"/>
                </a:solidFill>
                <a:sym typeface="+mn-ea"/>
              </a:rPr>
              <a:t>) human feelings.</a:t>
            </a:r>
            <a:r>
              <a:rPr lang="zh-CN" altLang="en-US" sz="3600" b="1" dirty="0">
                <a:solidFill>
                  <a:schemeClr val="tx1"/>
                </a:solidFill>
                <a:sym typeface="+mn-ea"/>
              </a:rPr>
              <a:t>人工智能模拟人类情感的能力需要加以限制</a:t>
            </a:r>
            <a:r>
              <a:rPr lang="en-US" altLang="zh-CN" sz="3600" b="1" dirty="0">
                <a:solidFill>
                  <a:schemeClr val="tx1"/>
                </a:solidFill>
                <a:sym typeface="+mn-ea"/>
              </a:rPr>
              <a:t> </a:t>
            </a:r>
            <a:r>
              <a:rPr lang="en-US" altLang="zh-CN" sz="3600" b="1" dirty="0">
                <a:solidFill>
                  <a:srgbClr val="FF0000"/>
                </a:solidFill>
                <a:sym typeface="+mn-ea"/>
              </a:rPr>
              <a:t>set limits on</a:t>
            </a:r>
            <a:r>
              <a:rPr lang="zh-CN" altLang="en-US" sz="3600" b="1" dirty="0">
                <a:solidFill>
                  <a:srgbClr val="FF0000"/>
                </a:solidFill>
                <a:sym typeface="+mn-ea"/>
              </a:rPr>
              <a:t>限制</a:t>
            </a:r>
            <a:r>
              <a:rPr lang="en-US" altLang="zh-CN" sz="3600" b="1" dirty="0">
                <a:solidFill>
                  <a:srgbClr val="FF0000"/>
                </a:solidFill>
                <a:sym typeface="+mn-ea"/>
              </a:rPr>
              <a:t>  frugal</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by no means</a:t>
            </a:r>
            <a:r>
              <a:rPr lang="zh-CN" altLang="en-US" sz="3600" b="1" dirty="0">
                <a:solidFill>
                  <a:srgbClr val="FF0000"/>
                </a:solidFill>
              </a:rPr>
              <a:t>绝不</a:t>
            </a:r>
            <a:r>
              <a:rPr lang="en-US" altLang="zh-CN" sz="3600" b="1" dirty="0">
                <a:solidFill>
                  <a:srgbClr val="FF0000"/>
                </a:solidFill>
              </a:rPr>
              <a:t>(</a:t>
            </a:r>
            <a:r>
              <a:rPr lang="zh-CN" altLang="en-US" sz="3600" b="1" dirty="0">
                <a:solidFill>
                  <a:srgbClr val="FF0000"/>
                </a:solidFill>
              </a:rPr>
              <a:t>位于句首，句子需部分倒装</a:t>
            </a:r>
            <a:r>
              <a:rPr lang="en-US" altLang="zh-CN" sz="3600" b="1" dirty="0">
                <a:solidFill>
                  <a:srgbClr val="FF0000"/>
                </a:solidFill>
              </a:rPr>
              <a:t>)</a:t>
            </a:r>
          </a:p>
          <a:p>
            <a:r>
              <a:rPr lang="en-US" altLang="zh-CN" sz="3600" b="1" dirty="0">
                <a:solidFill>
                  <a:srgbClr val="FF0000"/>
                </a:solidFill>
              </a:rPr>
              <a:t> sustainable adj.</a:t>
            </a:r>
            <a:r>
              <a:rPr lang="zh-CN" altLang="en-US" sz="3600" b="1" dirty="0">
                <a:solidFill>
                  <a:srgbClr val="FF0000"/>
                </a:solidFill>
              </a:rPr>
              <a:t>可持续的</a:t>
            </a:r>
          </a:p>
          <a:p>
            <a:r>
              <a:rPr lang="en-US" altLang="zh-CN" sz="3600" b="1" dirty="0">
                <a:solidFill>
                  <a:srgbClr val="FF0000"/>
                </a:solidFill>
              </a:rPr>
              <a:t> take sth. seriously</a:t>
            </a:r>
            <a:r>
              <a:rPr lang="zh-CN" altLang="en-US" sz="3600" b="1" dirty="0">
                <a:solidFill>
                  <a:srgbClr val="FF0000"/>
                </a:solidFill>
              </a:rPr>
              <a:t>认真对待</a:t>
            </a:r>
            <a:endParaRPr lang="en-US" altLang="zh-CN" sz="3600" b="1" dirty="0">
              <a:solidFill>
                <a:srgbClr val="FF0000"/>
              </a:solidFill>
            </a:endParaRPr>
          </a:p>
          <a:p>
            <a:r>
              <a:rPr lang="en-US" altLang="zh-CN" sz="3600" b="1" dirty="0">
                <a:solidFill>
                  <a:srgbClr val="FF0000"/>
                </a:solidFill>
              </a:rPr>
              <a:t> be meant to do sth.</a:t>
            </a:r>
            <a:r>
              <a:rPr lang="zh-CN" altLang="en-US" sz="3600" b="1" dirty="0">
                <a:solidFill>
                  <a:srgbClr val="FF0000"/>
                </a:solidFill>
              </a:rPr>
              <a:t>旨在做某事</a:t>
            </a:r>
            <a:endParaRPr lang="en-US" altLang="zh-CN" sz="3600" b="1" dirty="0">
              <a:solidFill>
                <a:srgbClr val="FF0000"/>
              </a:solidFill>
            </a:endParaRPr>
          </a:p>
          <a:p>
            <a:r>
              <a:rPr lang="en-US" altLang="zh-CN" sz="3600" b="1" dirty="0">
                <a:solidFill>
                  <a:srgbClr val="FF0000"/>
                </a:solidFill>
              </a:rPr>
              <a:t> make sense</a:t>
            </a:r>
            <a:r>
              <a:rPr lang="zh-CN" altLang="en-US" sz="3600" b="1" dirty="0">
                <a:solidFill>
                  <a:srgbClr val="FF0000"/>
                </a:solidFill>
              </a:rPr>
              <a:t>有道理讲得通</a:t>
            </a:r>
            <a:endParaRPr lang="en-US" altLang="zh-CN" sz="3600" b="1" dirty="0">
              <a:solidFill>
                <a:srgbClr val="FF0000"/>
              </a:solidFill>
            </a:endParaRPr>
          </a:p>
          <a:p>
            <a:r>
              <a:rPr lang="en-US" altLang="zh-CN" sz="3600" b="1" dirty="0">
                <a:solidFill>
                  <a:srgbClr val="FF0000"/>
                </a:solidFill>
              </a:rPr>
              <a:t> prioritize v.</a:t>
            </a:r>
            <a:r>
              <a:rPr lang="zh-CN" altLang="en-US" sz="3600" b="1" dirty="0">
                <a:solidFill>
                  <a:srgbClr val="FF0000"/>
                </a:solidFill>
              </a:rPr>
              <a:t>优先考虑</a:t>
            </a:r>
            <a:endParaRPr lang="en-US" altLang="zh-CN" sz="3600" b="1" dirty="0">
              <a:solidFill>
                <a:srgbClr val="FF0000"/>
              </a:solidFill>
            </a:endParaRPr>
          </a:p>
          <a:p>
            <a:r>
              <a:rPr lang="en-US" altLang="zh-CN" sz="3600" b="1" dirty="0">
                <a:solidFill>
                  <a:srgbClr val="FF0000"/>
                </a:solidFill>
              </a:rPr>
              <a:t> a dominant trend</a:t>
            </a:r>
            <a:r>
              <a:rPr lang="zh-CN" altLang="en-US" sz="3600" b="1" dirty="0">
                <a:solidFill>
                  <a:srgbClr val="FF0000"/>
                </a:solidFill>
              </a:rPr>
              <a:t>主导趋势</a:t>
            </a:r>
            <a:endParaRPr lang="en-US" altLang="zh-CN" sz="3600" b="1" dirty="0">
              <a:solidFill>
                <a:srgbClr val="FF0000"/>
              </a:solidFill>
            </a:endParaRPr>
          </a:p>
          <a:p>
            <a:r>
              <a:rPr lang="en-US" altLang="zh-CN" sz="3600" b="1" dirty="0">
                <a:solidFill>
                  <a:srgbClr val="FF0000"/>
                </a:solidFill>
              </a:rPr>
              <a:t> take sth. to heart</a:t>
            </a:r>
            <a:r>
              <a:rPr lang="zh-CN" altLang="en-US" sz="3600" b="1" dirty="0">
                <a:solidFill>
                  <a:srgbClr val="FF0000"/>
                </a:solidFill>
              </a:rPr>
              <a:t>认真思考</a:t>
            </a:r>
            <a:endParaRPr lang="en-US" altLang="zh-CN" sz="3600" b="1" dirty="0">
              <a:solidFill>
                <a:srgbClr val="FF0000"/>
              </a:solidFill>
            </a:endParaRPr>
          </a:p>
          <a:p>
            <a:r>
              <a:rPr lang="en-US" altLang="zh-CN" sz="3600" b="1" dirty="0">
                <a:solidFill>
                  <a:srgbClr val="FF0000"/>
                </a:solidFill>
              </a:rPr>
              <a:t> it is high time that sb. </a:t>
            </a:r>
            <a:r>
              <a:rPr lang="en-US" altLang="zh-CN" sz="3600" b="1" u="sng" dirty="0">
                <a:solidFill>
                  <a:srgbClr val="FF0000"/>
                </a:solidFill>
              </a:rPr>
              <a:t>should do</a:t>
            </a:r>
            <a:r>
              <a:rPr lang="en-US" altLang="zh-CN" sz="3600" b="1" dirty="0">
                <a:solidFill>
                  <a:srgbClr val="FF0000"/>
                </a:solidFill>
              </a:rPr>
              <a:t>/ </a:t>
            </a:r>
            <a:r>
              <a:rPr lang="en-US" altLang="zh-CN" sz="3600" b="1" u="sng" dirty="0">
                <a:solidFill>
                  <a:srgbClr val="FF0000"/>
                </a:solidFill>
              </a:rPr>
              <a:t>did</a:t>
            </a:r>
            <a:r>
              <a:rPr lang="en-US" altLang="zh-CN" sz="3600" b="1" dirty="0">
                <a:solidFill>
                  <a:srgbClr val="FF0000"/>
                </a:solidFill>
              </a:rPr>
              <a:t> sth.</a:t>
            </a:r>
            <a:r>
              <a:rPr lang="zh-CN" altLang="en-US" sz="3600" b="1" dirty="0">
                <a:solidFill>
                  <a:srgbClr val="FF0000"/>
                </a:solidFill>
              </a:rPr>
              <a:t>正是某人做某事的时候了</a:t>
            </a:r>
          </a:p>
          <a:p>
            <a:r>
              <a:rPr lang="en-US" altLang="zh-CN" sz="3600" b="1" dirty="0">
                <a:solidFill>
                  <a:srgbClr val="FF0000"/>
                </a:solidFill>
              </a:rPr>
              <a:t> humanity</a:t>
            </a:r>
            <a:r>
              <a:rPr lang="zh-CN" altLang="en-US" sz="3600" b="1" dirty="0">
                <a:solidFill>
                  <a:srgbClr val="FF0000"/>
                </a:solidFill>
              </a:rPr>
              <a:t>人类人性</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catch a disease</a:t>
            </a:r>
            <a:r>
              <a:rPr lang="zh-CN" altLang="en-US" sz="3600" b="1" dirty="0">
                <a:solidFill>
                  <a:srgbClr val="FF0000"/>
                </a:solidFill>
              </a:rPr>
              <a:t>染病</a:t>
            </a:r>
            <a:endParaRPr lang="en-US" altLang="zh-CN" sz="3600" b="1" dirty="0">
              <a:solidFill>
                <a:srgbClr val="FF0000"/>
              </a:solidFill>
            </a:endParaRPr>
          </a:p>
          <a:p>
            <a:r>
              <a:rPr lang="en-US" altLang="zh-CN" sz="3600" b="1" dirty="0">
                <a:solidFill>
                  <a:srgbClr val="FF0000"/>
                </a:solidFill>
              </a:rPr>
              <a:t> assumption</a:t>
            </a:r>
            <a:r>
              <a:rPr lang="zh-CN" altLang="en-US" sz="3600" b="1" dirty="0">
                <a:solidFill>
                  <a:srgbClr val="FF0000"/>
                </a:solidFill>
              </a:rPr>
              <a:t>假设</a:t>
            </a:r>
            <a:r>
              <a:rPr lang="en-US" altLang="zh-CN" sz="3600" b="1" dirty="0">
                <a:solidFill>
                  <a:srgbClr val="FF0000"/>
                </a:solidFill>
                <a:sym typeface="+mn-ea"/>
              </a:rPr>
              <a:t>assume v.</a:t>
            </a:r>
            <a:r>
              <a:rPr lang="en-US" altLang="zh-CN" sz="3600" b="1" dirty="0">
                <a:solidFill>
                  <a:srgbClr val="FF0000"/>
                </a:solidFill>
              </a:rPr>
              <a:t>  description</a:t>
            </a:r>
            <a:r>
              <a:rPr lang="zh-CN" altLang="en-US" sz="3600" b="1" dirty="0">
                <a:solidFill>
                  <a:srgbClr val="FF0000"/>
                </a:solidFill>
              </a:rPr>
              <a:t>描述</a:t>
            </a:r>
            <a:r>
              <a:rPr lang="en-US" altLang="zh-CN" sz="3600" b="1" dirty="0">
                <a:solidFill>
                  <a:srgbClr val="FF0000"/>
                </a:solidFill>
              </a:rPr>
              <a:t> describe v.</a:t>
            </a:r>
          </a:p>
          <a:p>
            <a:r>
              <a:rPr lang="en-US" altLang="zh-CN" sz="3600" b="1" dirty="0">
                <a:solidFill>
                  <a:srgbClr val="FF0000"/>
                </a:solidFill>
              </a:rPr>
              <a:t> ongoing aches</a:t>
            </a:r>
            <a:r>
              <a:rPr lang="zh-CN" altLang="en-US" sz="3600" b="1" dirty="0">
                <a:solidFill>
                  <a:srgbClr val="FF0000"/>
                </a:solidFill>
              </a:rPr>
              <a:t>持续的疼痛</a:t>
            </a:r>
            <a:endParaRPr lang="en-US" altLang="zh-CN" sz="3600" b="1" dirty="0">
              <a:solidFill>
                <a:srgbClr val="FF0000"/>
              </a:solidFill>
            </a:endParaRPr>
          </a:p>
          <a:p>
            <a:r>
              <a:rPr lang="en-US" altLang="zh-CN" sz="3600" b="1" dirty="0">
                <a:solidFill>
                  <a:srgbClr val="FF0000"/>
                </a:solidFill>
              </a:rPr>
              <a:t> adjust oneself to a new life</a:t>
            </a:r>
            <a:r>
              <a:rPr lang="zh-CN" altLang="en-US" sz="3600" b="1" dirty="0">
                <a:solidFill>
                  <a:srgbClr val="FF0000"/>
                </a:solidFill>
              </a:rPr>
              <a:t>让自己适应新生活</a:t>
            </a:r>
          </a:p>
          <a:p>
            <a:r>
              <a:rPr lang="en-US" altLang="zh-CN" sz="3600" b="1" dirty="0">
                <a:solidFill>
                  <a:srgbClr val="7030A0"/>
                </a:solidFill>
              </a:rPr>
              <a:t>referring</a:t>
            </a:r>
            <a:r>
              <a:rPr lang="zh-CN" altLang="en-US" sz="3600" b="1" dirty="0">
                <a:solidFill>
                  <a:srgbClr val="7030A0"/>
                </a:solidFill>
              </a:rPr>
              <a:t>涉及查阅</a:t>
            </a:r>
            <a:r>
              <a:rPr lang="en-US" altLang="zh-CN" sz="3600" b="1" dirty="0">
                <a:solidFill>
                  <a:srgbClr val="7030A0"/>
                </a:solidFill>
              </a:rPr>
              <a:t> </a:t>
            </a:r>
            <a:r>
              <a:rPr lang="en-US" altLang="zh-CN" sz="3600" b="1" dirty="0"/>
              <a:t>abandon</a:t>
            </a:r>
            <a:r>
              <a:rPr lang="zh-CN" altLang="en-US" sz="3600" b="1" dirty="0"/>
              <a:t>抛弃</a:t>
            </a:r>
            <a:r>
              <a:rPr lang="en-US" altLang="zh-CN" sz="3600" b="1" dirty="0"/>
              <a:t> </a:t>
            </a:r>
            <a:r>
              <a:rPr lang="en-US" altLang="zh-CN" sz="3600" b="1" dirty="0">
                <a:solidFill>
                  <a:srgbClr val="7030A0"/>
                </a:solidFill>
              </a:rPr>
              <a:t>release</a:t>
            </a:r>
            <a:r>
              <a:rPr lang="zh-CN" altLang="en-US" sz="3600" b="1" dirty="0">
                <a:solidFill>
                  <a:srgbClr val="7030A0"/>
                </a:solidFill>
              </a:rPr>
              <a:t>释放</a:t>
            </a:r>
          </a:p>
          <a:p>
            <a:r>
              <a:rPr lang="en-US" altLang="zh-CN" sz="3600" b="1" dirty="0">
                <a:solidFill>
                  <a:srgbClr val="FF0000"/>
                </a:solidFill>
                <a:sym typeface="+mn-ea"/>
              </a:rPr>
              <a:t>hateful</a:t>
            </a:r>
            <a:r>
              <a:rPr lang="zh-CN" altLang="en-US" sz="3600" b="1" dirty="0">
                <a:solidFill>
                  <a:srgbClr val="FF0000"/>
                </a:solidFill>
                <a:sym typeface="+mn-ea"/>
              </a:rPr>
              <a:t>可恶的</a:t>
            </a:r>
            <a:r>
              <a:rPr lang="en-US" altLang="zh-CN" sz="3600" b="1" dirty="0">
                <a:solidFill>
                  <a:srgbClr val="FF0000"/>
                </a:solidFill>
                <a:sym typeface="+mn-ea"/>
              </a:rPr>
              <a:t>,</a:t>
            </a:r>
            <a:r>
              <a:rPr lang="zh-CN" altLang="en-US" sz="3600" b="1" dirty="0">
                <a:solidFill>
                  <a:srgbClr val="FF0000"/>
                </a:solidFill>
                <a:sym typeface="+mn-ea"/>
              </a:rPr>
              <a:t>充满憎恨的人</a:t>
            </a:r>
            <a:r>
              <a:rPr lang="en-US" altLang="zh-CN" sz="3600" b="1" dirty="0">
                <a:solidFill>
                  <a:srgbClr val="7030A0"/>
                </a:solidFill>
              </a:rPr>
              <a:t>reasonable</a:t>
            </a:r>
            <a:r>
              <a:rPr lang="zh-CN" altLang="en-US" sz="3600" b="1" dirty="0">
                <a:solidFill>
                  <a:srgbClr val="7030A0"/>
                </a:solidFill>
              </a:rPr>
              <a:t>合理的</a:t>
            </a:r>
          </a:p>
          <a:p>
            <a:r>
              <a:rPr lang="en-US" altLang="zh-CN" sz="3600" b="1" dirty="0">
                <a:solidFill>
                  <a:srgbClr val="FF0000"/>
                </a:solidFill>
              </a:rPr>
              <a:t>considerate</a:t>
            </a:r>
            <a:r>
              <a:rPr lang="zh-CN" altLang="en-US" sz="3600" b="1" dirty="0">
                <a:solidFill>
                  <a:srgbClr val="FF0000"/>
                </a:solidFill>
              </a:rPr>
              <a:t>体贴周到的</a:t>
            </a:r>
            <a:r>
              <a:rPr lang="en-US" altLang="zh-CN" sz="3600" b="1" dirty="0">
                <a:solidFill>
                  <a:srgbClr val="FF0000"/>
                </a:solidFill>
              </a:rPr>
              <a:t> generous</a:t>
            </a:r>
            <a:r>
              <a:rPr lang="zh-CN" altLang="en-US" sz="3600" b="1" dirty="0">
                <a:solidFill>
                  <a:srgbClr val="FF0000"/>
                </a:solidFill>
              </a:rPr>
              <a:t>大方慷慨的</a:t>
            </a:r>
            <a:r>
              <a:rPr lang="en-US" altLang="zh-CN" sz="3600" b="1" dirty="0">
                <a:solidFill>
                  <a:srgbClr val="FF0000"/>
                </a:solidFill>
              </a:rPr>
              <a:t> </a:t>
            </a:r>
          </a:p>
          <a:p>
            <a:r>
              <a:rPr lang="en-US" altLang="zh-CN" sz="3600" b="1" dirty="0">
                <a:solidFill>
                  <a:srgbClr val="FF0000"/>
                </a:solidFill>
              </a:rPr>
              <a:t>sensitive</a:t>
            </a:r>
            <a:r>
              <a:rPr lang="zh-CN" altLang="en-US" sz="3600" b="1" dirty="0">
                <a:solidFill>
                  <a:srgbClr val="FF0000"/>
                </a:solidFill>
              </a:rPr>
              <a:t>敏感</a:t>
            </a:r>
            <a:r>
              <a:rPr lang="zh-CN" altLang="en-US" sz="3600" b="1" dirty="0"/>
              <a:t>的</a:t>
            </a:r>
            <a:r>
              <a:rPr lang="en-US" altLang="zh-CN" sz="3600" b="1" dirty="0"/>
              <a:t> turn up</a:t>
            </a:r>
            <a:r>
              <a:rPr lang="zh-CN" altLang="en-US" sz="3600" b="1" dirty="0"/>
              <a:t>调高出现</a:t>
            </a:r>
            <a:r>
              <a:rPr lang="en-US" altLang="zh-CN" sz="3600" b="1" dirty="0"/>
              <a:t>      turn in</a:t>
            </a:r>
            <a:r>
              <a:rPr lang="zh-CN" altLang="en-US" sz="3600" b="1" dirty="0"/>
              <a:t>上交</a:t>
            </a:r>
          </a:p>
          <a:p>
            <a:r>
              <a:rPr lang="en-US" altLang="zh-CN" sz="3600" b="1" dirty="0"/>
              <a:t>turn to</a:t>
            </a:r>
            <a:r>
              <a:rPr lang="zh-CN" altLang="en-US" sz="3600" b="1" dirty="0"/>
              <a:t>转向</a:t>
            </a:r>
            <a:r>
              <a:rPr lang="en-US" altLang="zh-CN" sz="3600" b="1" dirty="0"/>
              <a:t>,</a:t>
            </a:r>
            <a:r>
              <a:rPr lang="zh-CN" altLang="en-US" sz="3600" b="1" dirty="0"/>
              <a:t>求助于</a:t>
            </a:r>
            <a:r>
              <a:rPr lang="en-US" altLang="zh-CN" sz="3600" b="1" dirty="0"/>
              <a:t>  turn down</a:t>
            </a:r>
            <a:r>
              <a:rPr lang="zh-CN" altLang="en-US" sz="3600" b="1" dirty="0"/>
              <a:t>调低拒绝</a:t>
            </a:r>
          </a:p>
          <a:p>
            <a:r>
              <a:rPr lang="en-US" altLang="zh-CN" sz="3600" b="1" dirty="0">
                <a:solidFill>
                  <a:srgbClr val="FF0000"/>
                </a:solidFill>
              </a:rPr>
              <a:t>mood</a:t>
            </a:r>
            <a:r>
              <a:rPr lang="zh-CN" altLang="en-US" sz="3600" b="1" dirty="0">
                <a:solidFill>
                  <a:srgbClr val="FF0000"/>
                </a:solidFill>
              </a:rPr>
              <a:t>情绪  </a:t>
            </a:r>
            <a:r>
              <a:rPr lang="en-US" altLang="zh-CN" sz="3600" b="1" dirty="0"/>
              <a:t>image</a:t>
            </a:r>
            <a:r>
              <a:rPr lang="zh-CN" altLang="en-US" sz="3600" b="1" dirty="0"/>
              <a:t>形象 </a:t>
            </a:r>
            <a:r>
              <a:rPr lang="en-US" altLang="zh-CN" sz="3600" b="1" dirty="0">
                <a:solidFill>
                  <a:srgbClr val="7030A0"/>
                </a:solidFill>
              </a:rPr>
              <a:t>character</a:t>
            </a:r>
            <a:r>
              <a:rPr lang="zh-CN" altLang="en-US" sz="3600" b="1" dirty="0">
                <a:solidFill>
                  <a:srgbClr val="7030A0"/>
                </a:solidFill>
              </a:rPr>
              <a:t>角色汉字性格</a:t>
            </a:r>
          </a:p>
          <a:p>
            <a:r>
              <a:rPr lang="en-US" altLang="zh-CN" sz="3600" b="1" dirty="0">
                <a:solidFill>
                  <a:srgbClr val="7030A0"/>
                </a:solidFill>
              </a:rPr>
              <a:t>obviously</a:t>
            </a:r>
            <a:r>
              <a:rPr lang="zh-CN" altLang="en-US" sz="3600" b="1" dirty="0">
                <a:solidFill>
                  <a:srgbClr val="7030A0"/>
                </a:solidFill>
              </a:rPr>
              <a:t>明显地</a:t>
            </a:r>
            <a:r>
              <a:rPr lang="en-US" altLang="zh-CN" sz="3600" b="1" dirty="0">
                <a:solidFill>
                  <a:srgbClr val="7030A0"/>
                </a:solidFill>
              </a:rPr>
              <a:t>greedily</a:t>
            </a:r>
            <a:r>
              <a:rPr lang="zh-CN" altLang="en-US" sz="3600" b="1" dirty="0">
                <a:solidFill>
                  <a:srgbClr val="7030A0"/>
                </a:solidFill>
              </a:rPr>
              <a:t>贪婪地</a:t>
            </a:r>
            <a:r>
              <a:rPr lang="en-US" altLang="zh-CN" sz="3600" b="1" dirty="0">
                <a:solidFill>
                  <a:srgbClr val="7030A0"/>
                </a:solidFill>
              </a:rPr>
              <a:t>frequently</a:t>
            </a:r>
            <a:r>
              <a:rPr lang="zh-CN" altLang="en-US" sz="3600" b="1" dirty="0">
                <a:solidFill>
                  <a:srgbClr val="7030A0"/>
                </a:solidFill>
              </a:rPr>
              <a:t>频繁地</a:t>
            </a:r>
          </a:p>
          <a:p>
            <a:r>
              <a:rPr lang="en-US" altLang="zh-CN" sz="3600" b="1" dirty="0"/>
              <a:t>perform</a:t>
            </a:r>
            <a:r>
              <a:rPr lang="zh-CN" altLang="en-US" sz="3600" b="1" dirty="0"/>
              <a:t>表演表现</a:t>
            </a:r>
            <a:r>
              <a:rPr lang="en-US" altLang="zh-CN" sz="3600" b="1" dirty="0"/>
              <a:t> </a:t>
            </a:r>
            <a:r>
              <a:rPr lang="en-US" altLang="zh-CN" sz="3600" b="1" dirty="0">
                <a:solidFill>
                  <a:srgbClr val="FF0000"/>
                </a:solidFill>
              </a:rPr>
              <a:t>demonstrate</a:t>
            </a:r>
            <a:r>
              <a:rPr lang="zh-CN" altLang="en-US" sz="3600" b="1" dirty="0">
                <a:solidFill>
                  <a:srgbClr val="FF0000"/>
                </a:solidFill>
              </a:rPr>
              <a:t>证明，展示</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be consumed by</a:t>
            </a:r>
            <a:r>
              <a:rPr lang="zh-CN" altLang="en-US" sz="3600" b="1" dirty="0">
                <a:solidFill>
                  <a:srgbClr val="FF0000"/>
                </a:solidFill>
              </a:rPr>
              <a:t>被某种情感所占据</a:t>
            </a:r>
          </a:p>
          <a:p>
            <a:r>
              <a:rPr lang="en-US" altLang="zh-CN" sz="3600" b="1" dirty="0">
                <a:solidFill>
                  <a:srgbClr val="FF0000"/>
                </a:solidFill>
              </a:rPr>
              <a:t> sowing and reaping</a:t>
            </a:r>
            <a:r>
              <a:rPr lang="zh-CN" altLang="en-US" sz="3600" b="1" dirty="0">
                <a:solidFill>
                  <a:srgbClr val="FF0000"/>
                </a:solidFill>
              </a:rPr>
              <a:t>播种和收获 </a:t>
            </a:r>
            <a:r>
              <a:rPr lang="en-US" altLang="zh-CN" sz="3600" b="1" dirty="0">
                <a:solidFill>
                  <a:srgbClr val="FF0000"/>
                </a:solidFill>
              </a:rPr>
              <a:t>daily routine</a:t>
            </a:r>
            <a:r>
              <a:rPr lang="zh-CN" altLang="en-US" sz="3600" b="1" dirty="0">
                <a:solidFill>
                  <a:srgbClr val="FF0000"/>
                </a:solidFill>
              </a:rPr>
              <a:t>日常生活</a:t>
            </a:r>
          </a:p>
          <a:p>
            <a:r>
              <a:rPr lang="zh-CN" altLang="en-US" sz="3600" b="1" dirty="0">
                <a:solidFill>
                  <a:srgbClr val="FF0000"/>
                </a:solidFill>
              </a:rPr>
              <a:t> </a:t>
            </a:r>
            <a:r>
              <a:rPr lang="en-US" altLang="zh-CN" sz="3600" b="1" dirty="0">
                <a:solidFill>
                  <a:schemeClr val="tx1"/>
                </a:solidFill>
              </a:rPr>
              <a:t>36. beauty </a:t>
            </a:r>
            <a:r>
              <a:rPr lang="en-US" altLang="zh-CN" sz="3600" b="1" dirty="0">
                <a:solidFill>
                  <a:srgbClr val="FF0000"/>
                </a:solidFill>
              </a:rPr>
              <a:t>   37. And    </a:t>
            </a:r>
          </a:p>
          <a:p>
            <a:r>
              <a:rPr lang="en-US" altLang="zh-CN" sz="3600" b="1" dirty="0">
                <a:solidFill>
                  <a:srgbClr val="FF0000"/>
                </a:solidFill>
              </a:rPr>
              <a:t>38.are</a:t>
            </a:r>
            <a:r>
              <a:rPr lang="zh-CN" altLang="en-US" sz="3200" b="1" dirty="0">
                <a:solidFill>
                  <a:srgbClr val="FF0000"/>
                </a:solidFill>
              </a:rPr>
              <a:t>山脉群岛瀑布运动会</a:t>
            </a:r>
            <a:r>
              <a:rPr lang="en-US" altLang="zh-CN" sz="3200" b="1" dirty="0">
                <a:solidFill>
                  <a:srgbClr val="FF0000"/>
                </a:solidFill>
              </a:rPr>
              <a:t>sports</a:t>
            </a:r>
            <a:r>
              <a:rPr lang="zh-CN" altLang="en-US" sz="3200" b="1" dirty="0">
                <a:solidFill>
                  <a:srgbClr val="FF0000"/>
                </a:solidFill>
              </a:rPr>
              <a:t>等</a:t>
            </a:r>
            <a:r>
              <a:rPr lang="en-US" altLang="zh-CN" sz="3200" b="1" dirty="0">
                <a:solidFill>
                  <a:srgbClr val="FF0000"/>
                </a:solidFill>
              </a:rPr>
              <a:t>-s</a:t>
            </a:r>
            <a:r>
              <a:rPr lang="zh-CN" altLang="en-US" sz="3200" b="1" dirty="0">
                <a:solidFill>
                  <a:srgbClr val="FF0000"/>
                </a:solidFill>
              </a:rPr>
              <a:t>结尾的</a:t>
            </a:r>
            <a:r>
              <a:rPr lang="en-US" altLang="zh-CN" sz="3200" b="1" dirty="0">
                <a:solidFill>
                  <a:srgbClr val="FF0000"/>
                </a:solidFill>
              </a:rPr>
              <a:t>n.</a:t>
            </a:r>
            <a:r>
              <a:rPr lang="en-US" sz="3200" b="1" dirty="0">
                <a:solidFill>
                  <a:srgbClr val="FF0000"/>
                </a:solidFill>
              </a:rPr>
              <a:t>+</a:t>
            </a:r>
            <a:r>
              <a:rPr lang="zh-CN" altLang="en-US" sz="3200" b="1" dirty="0">
                <a:solidFill>
                  <a:srgbClr val="FF0000"/>
                </a:solidFill>
              </a:rPr>
              <a:t>谓语</a:t>
            </a:r>
            <a:r>
              <a:rPr lang="en-US" altLang="zh-CN" sz="3200" b="1" dirty="0">
                <a:solidFill>
                  <a:srgbClr val="FF0000"/>
                </a:solidFill>
              </a:rPr>
              <a:t>v.</a:t>
            </a:r>
            <a:r>
              <a:rPr lang="zh-CN" altLang="en-US" sz="3200" b="1" dirty="0">
                <a:solidFill>
                  <a:srgbClr val="FF0000"/>
                </a:solidFill>
              </a:rPr>
              <a:t>复数</a:t>
            </a:r>
            <a:r>
              <a:rPr lang="en-US" altLang="zh-CN" sz="3200" b="1" dirty="0">
                <a:solidFill>
                  <a:srgbClr val="FF0000"/>
                </a:solidFill>
              </a:rPr>
              <a:t> </a:t>
            </a:r>
          </a:p>
          <a:p>
            <a:r>
              <a:rPr lang="en-US" altLang="zh-CN" sz="3200" b="1" dirty="0">
                <a:solidFill>
                  <a:srgbClr val="FF0000"/>
                </a:solidFill>
              </a:rPr>
              <a:t>people, cattle, police+v.</a:t>
            </a:r>
            <a:r>
              <a:rPr lang="zh-CN" altLang="en-US" sz="3200" b="1" dirty="0">
                <a:solidFill>
                  <a:srgbClr val="FF0000"/>
                </a:solidFill>
              </a:rPr>
              <a:t>复数</a:t>
            </a:r>
            <a:endParaRPr lang="en-US" altLang="zh-CN" sz="3200" b="1" dirty="0">
              <a:solidFill>
                <a:srgbClr val="FF0000"/>
              </a:solidFill>
            </a:endParaRPr>
          </a:p>
          <a:p>
            <a:r>
              <a:rPr lang="en-US" altLang="zh-CN" sz="3600" b="1" dirty="0">
                <a:solidFill>
                  <a:srgbClr val="FF0000"/>
                </a:solidFill>
              </a:rPr>
              <a:t>39.to</a:t>
            </a:r>
            <a:r>
              <a:rPr lang="zh-CN" altLang="en-US" sz="3600" b="1" dirty="0">
                <a:solidFill>
                  <a:srgbClr val="FF0000"/>
                </a:solidFill>
              </a:rPr>
              <a:t>到某地</a:t>
            </a:r>
            <a:r>
              <a:rPr lang="en-US" altLang="zh-CN" sz="3600" b="1" dirty="0">
                <a:solidFill>
                  <a:srgbClr val="FF0000"/>
                </a:solidFill>
              </a:rPr>
              <a:t>40.professionally</a:t>
            </a:r>
            <a:r>
              <a:rPr lang="zh-CN" altLang="en-US" sz="3600" b="1" dirty="0">
                <a:solidFill>
                  <a:srgbClr val="FF0000"/>
                </a:solidFill>
              </a:rPr>
              <a:t>到某地 </a:t>
            </a:r>
            <a:r>
              <a:rPr lang="en-US" altLang="zh-CN" sz="3600" b="1" dirty="0">
                <a:solidFill>
                  <a:schemeClr val="tx1"/>
                </a:solidFill>
              </a:rPr>
              <a:t>41.</a:t>
            </a:r>
            <a:r>
              <a:rPr lang="en-US" altLang="zh-CN" sz="3600" b="1" dirty="0"/>
              <a:t>themselves </a:t>
            </a:r>
          </a:p>
          <a:p>
            <a:r>
              <a:rPr lang="en-US" altLang="zh-CN" sz="3600" b="1" dirty="0">
                <a:solidFill>
                  <a:schemeClr val="tx1"/>
                </a:solidFill>
              </a:rPr>
              <a:t>42.that </a:t>
            </a:r>
            <a:r>
              <a:rPr lang="en-US" altLang="zh-CN" sz="3600" b="1" dirty="0">
                <a:solidFill>
                  <a:srgbClr val="FF0000"/>
                </a:solidFill>
              </a:rPr>
              <a:t>43. with the rising  popularity of</a:t>
            </a:r>
            <a:r>
              <a:rPr lang="zh-CN" altLang="en-US" sz="3200" b="1" dirty="0">
                <a:solidFill>
                  <a:srgbClr val="FF0000"/>
                </a:solidFill>
              </a:rPr>
              <a:t>随着</a:t>
            </a:r>
            <a:r>
              <a:rPr lang="en-US" altLang="zh-CN" sz="3200" b="1" dirty="0">
                <a:solidFill>
                  <a:srgbClr val="FF0000"/>
                </a:solidFill>
              </a:rPr>
              <a:t>…</a:t>
            </a:r>
            <a:r>
              <a:rPr lang="zh-CN" altLang="en-US" sz="3200" b="1" dirty="0">
                <a:solidFill>
                  <a:srgbClr val="FF0000"/>
                </a:solidFill>
              </a:rPr>
              <a:t>的日益普及</a:t>
            </a:r>
          </a:p>
          <a:p>
            <a:r>
              <a:rPr lang="en-US" altLang="zh-CN" sz="3600" b="1" dirty="0">
                <a:solidFill>
                  <a:srgbClr val="FF0000"/>
                </a:solidFill>
              </a:rPr>
              <a:t>44. an                  a number of</a:t>
            </a:r>
            <a:r>
              <a:rPr lang="zh-CN" altLang="en-US" sz="3600" b="1" dirty="0">
                <a:solidFill>
                  <a:srgbClr val="FF0000"/>
                </a:solidFill>
              </a:rPr>
              <a:t>大量的</a:t>
            </a:r>
            <a:r>
              <a:rPr lang="en-US" altLang="zh-CN" sz="3600" b="1" dirty="0">
                <a:solidFill>
                  <a:srgbClr val="FF0000"/>
                </a:solidFill>
              </a:rPr>
              <a:t>+v.</a:t>
            </a:r>
            <a:r>
              <a:rPr lang="zh-CN" altLang="en-US" sz="3600" b="1" dirty="0">
                <a:solidFill>
                  <a:srgbClr val="FF0000"/>
                </a:solidFill>
              </a:rPr>
              <a:t>用复数</a:t>
            </a:r>
          </a:p>
          <a:p>
            <a:r>
              <a:rPr lang="en-US" altLang="zh-CN" sz="3600" b="1" dirty="0">
                <a:solidFill>
                  <a:srgbClr val="FF0000"/>
                </a:solidFill>
              </a:rPr>
              <a:t>45. has hosted</a:t>
            </a:r>
          </a:p>
          <a:p>
            <a:r>
              <a:rPr lang="en-US" altLang="zh-CN" sz="3600" b="1" dirty="0">
                <a:solidFill>
                  <a:srgbClr val="FF0000"/>
                </a:solidFill>
              </a:rPr>
              <a:t>in the past few years</a:t>
            </a:r>
            <a:r>
              <a:rPr lang="zh-CN" altLang="en-US" sz="3600" b="1" dirty="0">
                <a:solidFill>
                  <a:srgbClr val="FF0000"/>
                </a:solidFill>
              </a:rPr>
              <a:t>作时间状语，谓语用现在完成时</a:t>
            </a:r>
          </a:p>
          <a:p>
            <a:endParaRPr lang="en-US" altLang="zh-CN" sz="3600" b="1" dirty="0">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t>练习本</a:t>
            </a:r>
            <a:r>
              <a:rPr lang="en-US" altLang="zh-CN" sz="3600" b="1" dirty="0"/>
              <a:t>P96  24. be rooted in 25. distinguish... from... </a:t>
            </a:r>
          </a:p>
          <a:p>
            <a:r>
              <a:rPr lang="en-US" altLang="zh-CN" sz="3600" b="1" dirty="0">
                <a:solidFill>
                  <a:srgbClr val="FF0000"/>
                </a:solidFill>
              </a:rPr>
              <a:t>26. be characterized by 27. have an impact on </a:t>
            </a:r>
          </a:p>
          <a:p>
            <a:r>
              <a:rPr lang="en-US" altLang="zh-CN" sz="3600" b="1" dirty="0">
                <a:solidFill>
                  <a:srgbClr val="FF0000"/>
                </a:solidFill>
              </a:rPr>
              <a:t>28. breathe vitality into 29. be inseparable from </a:t>
            </a:r>
          </a:p>
          <a:p>
            <a:r>
              <a:rPr lang="en-US" altLang="zh-CN" sz="3600" b="1" dirty="0"/>
              <a:t>30. be </a:t>
            </a:r>
            <a:r>
              <a:rPr lang="en-US" altLang="zh-CN" sz="3600" b="1" dirty="0">
                <a:solidFill>
                  <a:srgbClr val="FF0000"/>
                </a:solidFill>
              </a:rPr>
              <a:t>representative</a:t>
            </a:r>
            <a:r>
              <a:rPr lang="en-US" altLang="zh-CN" sz="3600" b="1" dirty="0"/>
              <a:t> of 31. be fascinated by</a:t>
            </a:r>
            <a:br>
              <a:rPr lang="en-US" altLang="zh-CN" sz="3600" b="1" dirty="0"/>
            </a:br>
            <a:r>
              <a:rPr lang="zh-CN" altLang="en-US" sz="3600" b="1" dirty="0"/>
              <a:t>二</a:t>
            </a:r>
            <a:r>
              <a:rPr lang="en-US" altLang="zh-CN" sz="3600" b="1" dirty="0"/>
              <a:t>1. encountered 2. </a:t>
            </a:r>
            <a:r>
              <a:rPr lang="en-US" altLang="zh-CN" sz="3600" b="1" dirty="0">
                <a:solidFill>
                  <a:srgbClr val="FF0000"/>
                </a:solidFill>
              </a:rPr>
              <a:t>representatives</a:t>
            </a:r>
            <a:r>
              <a:rPr lang="en-US" altLang="zh-CN" sz="3600" b="1" dirty="0"/>
              <a:t> 3. characterized </a:t>
            </a:r>
          </a:p>
          <a:p>
            <a:r>
              <a:rPr lang="en-US" altLang="zh-CN" sz="3600" b="1" dirty="0"/>
              <a:t>4. liberty 5. </a:t>
            </a:r>
            <a:r>
              <a:rPr lang="en-US" altLang="zh-CN" sz="3600" b="1" dirty="0">
                <a:solidFill>
                  <a:srgbClr val="FF0000"/>
                </a:solidFill>
              </a:rPr>
              <a:t>owing</a:t>
            </a:r>
            <a:r>
              <a:rPr lang="en-US" altLang="zh-CN" sz="3600" b="1" dirty="0"/>
              <a:t> 6. blame 7. frost 8. </a:t>
            </a:r>
            <a:r>
              <a:rPr lang="en-US" altLang="zh-CN" sz="3600" b="1" dirty="0">
                <a:solidFill>
                  <a:srgbClr val="FF0000"/>
                </a:solidFill>
              </a:rPr>
              <a:t>cast</a:t>
            </a:r>
            <a:r>
              <a:rPr lang="en-US" altLang="zh-CN" sz="3600" b="1" dirty="0"/>
              <a:t> 9. debt </a:t>
            </a:r>
          </a:p>
          <a:p>
            <a:r>
              <a:rPr lang="en-US" altLang="zh-CN" sz="3600" b="1" dirty="0"/>
              <a:t>10. striking </a:t>
            </a:r>
            <a:r>
              <a:rPr lang="zh-CN" altLang="en-US" sz="3600" b="1" dirty="0"/>
              <a:t>三</a:t>
            </a:r>
            <a:r>
              <a:rPr lang="en-US" altLang="zh-CN" sz="3600" b="1" dirty="0"/>
              <a:t>1. characteristic 2. tolerate 3. stable </a:t>
            </a:r>
          </a:p>
          <a:p>
            <a:r>
              <a:rPr lang="en-US" altLang="zh-CN" sz="3600" b="1" dirty="0"/>
              <a:t>4. distinction 5. </a:t>
            </a:r>
            <a:r>
              <a:rPr lang="en-US" altLang="zh-CN" sz="3600" b="1" dirty="0">
                <a:solidFill>
                  <a:srgbClr val="FF0000"/>
                </a:solidFill>
              </a:rPr>
              <a:t>represent</a:t>
            </a:r>
            <a:r>
              <a:rPr lang="en-US" altLang="zh-CN" sz="3600" b="1" dirty="0"/>
              <a:t> 6. owing 7. entitling 8. </a:t>
            </a:r>
            <a:r>
              <a:rPr lang="en-US" altLang="zh-CN" sz="3600" b="1" dirty="0">
                <a:solidFill>
                  <a:srgbClr val="FF0000"/>
                </a:solidFill>
              </a:rPr>
              <a:t>vitality</a:t>
            </a:r>
          </a:p>
          <a:p>
            <a:r>
              <a:rPr lang="en-US" altLang="zh-CN" sz="3600" b="1" dirty="0"/>
              <a:t>9. </a:t>
            </a:r>
            <a:r>
              <a:rPr lang="en-US" altLang="zh-CN" sz="3600" b="1" dirty="0">
                <a:solidFill>
                  <a:srgbClr val="FF0000"/>
                </a:solidFill>
              </a:rPr>
              <a:t>glorious</a:t>
            </a:r>
            <a:r>
              <a:rPr lang="en-US" altLang="zh-CN" sz="3600" b="1" dirty="0"/>
              <a:t> 10. fascinating</a:t>
            </a:r>
            <a:br>
              <a:rPr lang="en-US" altLang="zh-CN" sz="3600" b="1" dirty="0"/>
            </a:br>
            <a:r>
              <a:rPr lang="zh-CN" altLang="en-US" sz="3600" b="1" dirty="0"/>
              <a:t>四</a:t>
            </a:r>
            <a:r>
              <a:rPr lang="en-US" altLang="zh-CN" sz="3600" b="1" dirty="0"/>
              <a:t>1. </a:t>
            </a:r>
            <a:r>
              <a:rPr lang="en-US" altLang="zh-CN" sz="3600" b="1" dirty="0">
                <a:solidFill>
                  <a:srgbClr val="FF0000"/>
                </a:solidFill>
              </a:rPr>
              <a:t>is rooted in </a:t>
            </a:r>
            <a:r>
              <a:rPr lang="en-US" altLang="zh-CN" sz="3600" b="1" dirty="0"/>
              <a:t>2.make allowance </a:t>
            </a:r>
            <a:r>
              <a:rPr lang="en-US" altLang="zh-CN" sz="3600" b="1" dirty="0">
                <a:solidFill>
                  <a:srgbClr val="FF0000"/>
                </a:solidFill>
                <a:highlight>
                  <a:srgbClr val="FFFF00"/>
                </a:highlight>
              </a:rPr>
              <a:t>for</a:t>
            </a:r>
            <a:r>
              <a:rPr lang="en-US" altLang="zh-CN" sz="3600" b="1" dirty="0"/>
              <a:t> 3.is recognized as </a:t>
            </a:r>
          </a:p>
          <a:p>
            <a:r>
              <a:rPr lang="en-US" altLang="zh-CN" sz="3600" b="1" dirty="0"/>
              <a:t>4. breaking with 5. distinguish; from </a:t>
            </a:r>
            <a:endParaRPr lang="zh-CN" altLang="en-US" sz="3600" b="1" dirty="0">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20000"/>
          </a:bodyPr>
          <a:lstStyle/>
          <a:p>
            <a:r>
              <a:rPr lang="zh-CN" altLang="en-US" sz="3600" b="1" dirty="0"/>
              <a:t>五 </a:t>
            </a:r>
            <a:r>
              <a:rPr lang="en-US" altLang="zh-CN" sz="3600" b="1" dirty="0"/>
              <a:t>1. in the cage; meaning 2. revealing </a:t>
            </a:r>
          </a:p>
          <a:p>
            <a:r>
              <a:rPr lang="en-US" altLang="zh-CN" sz="3600" b="1" dirty="0"/>
              <a:t>3. </a:t>
            </a:r>
            <a:r>
              <a:rPr lang="en-US" altLang="zh-CN" sz="3600" b="1" dirty="0">
                <a:solidFill>
                  <a:srgbClr val="FF0000"/>
                </a:solidFill>
              </a:rPr>
              <a:t>to have been written </a:t>
            </a:r>
            <a:r>
              <a:rPr lang="en-US" altLang="zh-CN" sz="3600" b="1" dirty="0"/>
              <a:t>4. had its deep </a:t>
            </a:r>
            <a:r>
              <a:rPr lang="en-US" altLang="zh-CN" sz="3600" b="1" dirty="0">
                <a:solidFill>
                  <a:srgbClr val="FF0000"/>
                </a:solidFill>
              </a:rPr>
              <a:t>root</a:t>
            </a:r>
            <a:r>
              <a:rPr lang="en-US" altLang="zh-CN" sz="3600" b="1" dirty="0">
                <a:solidFill>
                  <a:srgbClr val="FF0000"/>
                </a:solidFill>
                <a:highlight>
                  <a:srgbClr val="FFFF00"/>
                </a:highlight>
              </a:rPr>
              <a:t>s</a:t>
            </a:r>
            <a:r>
              <a:rPr lang="en-US" altLang="zh-CN" sz="3600" b="1" dirty="0">
                <a:solidFill>
                  <a:srgbClr val="FF0000"/>
                </a:solidFill>
              </a:rPr>
              <a:t> </a:t>
            </a:r>
          </a:p>
          <a:p>
            <a:r>
              <a:rPr lang="en-US" altLang="zh-CN" sz="3600" b="1" dirty="0"/>
              <a:t>5. what is more important is that</a:t>
            </a:r>
          </a:p>
          <a:p>
            <a:r>
              <a:rPr lang="zh-CN" altLang="en-US" sz="3600" b="1" dirty="0"/>
              <a:t>六</a:t>
            </a:r>
            <a:r>
              <a:rPr lang="en-US" altLang="zh-CN" sz="3600" b="1" dirty="0"/>
              <a:t>1. That careless driver should be to blame for this traffic </a:t>
            </a:r>
          </a:p>
          <a:p>
            <a:r>
              <a:rPr lang="en-US" altLang="zh-CN" sz="3600" b="1" dirty="0"/>
              <a:t>accident.</a:t>
            </a:r>
          </a:p>
          <a:p>
            <a:r>
              <a:rPr lang="en-US" altLang="zh-CN" sz="3600" b="1" dirty="0"/>
              <a:t>2. We are familiar with this famous actress, who has acted in many films.</a:t>
            </a:r>
          </a:p>
          <a:p>
            <a:r>
              <a:rPr lang="en-US" altLang="zh-CN" sz="3600" b="1" dirty="0"/>
              <a:t>3. He distinguishes himself as an outstanding writer of local </a:t>
            </a:r>
          </a:p>
          <a:p>
            <a:r>
              <a:rPr lang="en-US" altLang="zh-CN" sz="3600" b="1" dirty="0"/>
              <a:t>literature.</a:t>
            </a:r>
          </a:p>
          <a:p>
            <a:r>
              <a:rPr lang="en-US" altLang="zh-CN" sz="3600" b="1" dirty="0"/>
              <a:t>4. I owe my success to my teacher, who is a beacon on my </a:t>
            </a:r>
          </a:p>
          <a:p>
            <a:r>
              <a:rPr lang="en-US" altLang="zh-CN" sz="3600" b="1" dirty="0"/>
              <a:t>road of writing.</a:t>
            </a:r>
          </a:p>
          <a:p>
            <a:r>
              <a:rPr lang="en-US" altLang="zh-CN" sz="3600" b="1" dirty="0"/>
              <a:t>5. When we make our decision, we should make allowance </a:t>
            </a:r>
          </a:p>
          <a:p>
            <a:r>
              <a:rPr lang="en-US" altLang="zh-CN" sz="3600" b="1" dirty="0"/>
              <a:t>for his age and ability.</a:t>
            </a:r>
            <a:br>
              <a:rPr lang="en-US" altLang="zh-CN" sz="3600" b="1" dirty="0"/>
            </a:br>
            <a:endParaRPr lang="zh-CN" altLang="en-US" sz="3600" b="1" dirty="0">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3905" y="0"/>
            <a:ext cx="4438095" cy="3333333"/>
          </a:xfrm>
          <a:prstGeom prst="rect">
            <a:avLst/>
          </a:prstGeom>
        </p:spPr>
      </p:pic>
      <p:sp>
        <p:nvSpPr>
          <p:cNvPr id="3" name="内容占位符 2"/>
          <p:cNvSpPr>
            <a:spLocks noGrp="1"/>
          </p:cNvSpPr>
          <p:nvPr>
            <p:ph idx="1"/>
          </p:nvPr>
        </p:nvSpPr>
        <p:spPr>
          <a:xfrm>
            <a:off x="0" y="0"/>
            <a:ext cx="12192000" cy="6858000"/>
          </a:xfrm>
        </p:spPr>
        <p:txBody>
          <a:bodyPr>
            <a:normAutofit/>
          </a:bodyPr>
          <a:lstStyle/>
          <a:p>
            <a:r>
              <a:rPr lang="zh-CN" altLang="en-US" sz="3600" b="1" dirty="0">
                <a:solidFill>
                  <a:srgbClr val="FF0000"/>
                </a:solidFill>
              </a:rPr>
              <a:t>练习本</a:t>
            </a:r>
            <a:r>
              <a:rPr lang="en-US" altLang="zh-CN" sz="3600" b="1" dirty="0">
                <a:solidFill>
                  <a:srgbClr val="FF0000"/>
                </a:solidFill>
              </a:rPr>
              <a:t>P100-104</a:t>
            </a:r>
          </a:p>
          <a:p>
            <a:r>
              <a:rPr lang="en-US" altLang="zh-CN" sz="3600" b="1" dirty="0">
                <a:solidFill>
                  <a:srgbClr val="FF0000"/>
                </a:solidFill>
              </a:rPr>
              <a:t> red lead</a:t>
            </a:r>
            <a:r>
              <a:rPr lang="zh-CN" altLang="en-US" sz="3600" b="1" dirty="0">
                <a:solidFill>
                  <a:srgbClr val="FF0000"/>
                </a:solidFill>
              </a:rPr>
              <a:t>铅红</a:t>
            </a:r>
            <a:endParaRPr lang="en-US" altLang="zh-CN" sz="3600" b="1" dirty="0">
              <a:solidFill>
                <a:srgbClr val="FF0000"/>
              </a:solidFill>
            </a:endParaRPr>
          </a:p>
          <a:p>
            <a:r>
              <a:rPr lang="en-US" altLang="zh-CN" sz="3600" b="1" dirty="0">
                <a:solidFill>
                  <a:srgbClr val="FF0000"/>
                </a:solidFill>
              </a:rPr>
              <a:t> previous studies</a:t>
            </a:r>
            <a:r>
              <a:rPr lang="zh-CN" altLang="en-US" sz="3600" b="1" dirty="0">
                <a:solidFill>
                  <a:srgbClr val="FF0000"/>
                </a:solidFill>
              </a:rPr>
              <a:t>以前的研究</a:t>
            </a:r>
            <a:endParaRPr lang="en-US" altLang="zh-CN" sz="3600" b="1" dirty="0">
              <a:solidFill>
                <a:srgbClr val="FF0000"/>
              </a:solidFill>
            </a:endParaRPr>
          </a:p>
          <a:p>
            <a:r>
              <a:rPr lang="en-US" altLang="zh-CN" sz="3600" b="1" dirty="0">
                <a:solidFill>
                  <a:srgbClr val="FF0000"/>
                </a:solidFill>
              </a:rPr>
              <a:t> tap one’s potential</a:t>
            </a:r>
            <a:r>
              <a:rPr lang="zh-CN" altLang="en-US" sz="3600" b="1" dirty="0">
                <a:solidFill>
                  <a:srgbClr val="FF0000"/>
                </a:solidFill>
              </a:rPr>
              <a:t>挖掘自己的潜能</a:t>
            </a:r>
            <a:endParaRPr lang="en-US" altLang="zh-CN" sz="3600" b="1" dirty="0">
              <a:solidFill>
                <a:srgbClr val="FF0000"/>
              </a:solidFill>
            </a:endParaRPr>
          </a:p>
          <a:p>
            <a:r>
              <a:rPr lang="en-US" altLang="zh-CN" sz="3600" b="1" dirty="0">
                <a:solidFill>
                  <a:srgbClr val="FF0000"/>
                </a:solidFill>
              </a:rPr>
              <a:t> tap v.</a:t>
            </a:r>
            <a:r>
              <a:rPr lang="zh-CN" altLang="en-US" sz="3600" b="1" dirty="0">
                <a:solidFill>
                  <a:srgbClr val="FF0000"/>
                </a:solidFill>
              </a:rPr>
              <a:t>轻拍</a:t>
            </a:r>
            <a:r>
              <a:rPr lang="en-US" altLang="zh-CN" sz="3600" b="1" dirty="0">
                <a:solidFill>
                  <a:srgbClr val="FF0000"/>
                </a:solidFill>
              </a:rPr>
              <a:t>/</a:t>
            </a:r>
            <a:r>
              <a:rPr lang="zh-CN" altLang="en-US" sz="3600" b="1" dirty="0">
                <a:solidFill>
                  <a:srgbClr val="FF0000"/>
                </a:solidFill>
              </a:rPr>
              <a:t>敲</a:t>
            </a:r>
            <a:r>
              <a:rPr lang="en-US" altLang="zh-CN" sz="3600" b="1" dirty="0">
                <a:solidFill>
                  <a:srgbClr val="FF0000"/>
                </a:solidFill>
              </a:rPr>
              <a:t>(tapped*2)</a:t>
            </a:r>
          </a:p>
          <a:p>
            <a:r>
              <a:rPr lang="en-US" altLang="zh-CN" sz="3600" b="1" dirty="0">
                <a:solidFill>
                  <a:srgbClr val="FF0000"/>
                </a:solidFill>
              </a:rPr>
              <a:t> objective</a:t>
            </a:r>
            <a:r>
              <a:rPr lang="zh-CN" altLang="en-US" sz="3600" b="1" dirty="0">
                <a:solidFill>
                  <a:srgbClr val="FF0000"/>
                </a:solidFill>
              </a:rPr>
              <a:t>客观的</a:t>
            </a:r>
            <a:r>
              <a:rPr lang="en-US" altLang="zh-CN" sz="3600" b="1" dirty="0">
                <a:solidFill>
                  <a:srgbClr val="FF0000"/>
                </a:solidFill>
              </a:rPr>
              <a:t> subjective</a:t>
            </a:r>
            <a:r>
              <a:rPr lang="zh-CN" altLang="en-US" sz="3600" b="1" dirty="0">
                <a:solidFill>
                  <a:srgbClr val="FF0000"/>
                </a:solidFill>
              </a:rPr>
              <a:t>主观的</a:t>
            </a:r>
            <a:endParaRPr lang="en-US" altLang="zh-CN" sz="3600" b="1" dirty="0">
              <a:solidFill>
                <a:srgbClr val="FF0000"/>
              </a:solidFill>
            </a:endParaRPr>
          </a:p>
          <a:p>
            <a:r>
              <a:rPr lang="en-US" altLang="zh-CN" sz="3600" b="1" dirty="0">
                <a:solidFill>
                  <a:srgbClr val="FF0000"/>
                </a:solidFill>
              </a:rPr>
              <a:t> disapproving</a:t>
            </a:r>
            <a:r>
              <a:rPr lang="zh-CN" altLang="en-US" sz="3600" b="1" dirty="0">
                <a:solidFill>
                  <a:srgbClr val="FF0000"/>
                </a:solidFill>
              </a:rPr>
              <a:t>反对的</a:t>
            </a:r>
            <a:endParaRPr lang="en-US" altLang="zh-CN" sz="3600" b="1" dirty="0">
              <a:solidFill>
                <a:srgbClr val="FF0000"/>
              </a:solidFill>
            </a:endParaRPr>
          </a:p>
          <a:p>
            <a:r>
              <a:rPr lang="en-US" altLang="zh-CN" sz="3600" b="1" dirty="0">
                <a:solidFill>
                  <a:srgbClr val="FF0000"/>
                </a:solidFill>
              </a:rPr>
              <a:t> a comparison trap</a:t>
            </a:r>
            <a:r>
              <a:rPr lang="zh-CN" altLang="en-US" sz="3600" b="1" dirty="0">
                <a:solidFill>
                  <a:srgbClr val="FF0000"/>
                </a:solidFill>
              </a:rPr>
              <a:t>比较陷阱</a:t>
            </a:r>
            <a:endParaRPr lang="en-US" altLang="zh-CN"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solidFill>
                  <a:srgbClr val="FF0000"/>
                </a:solidFill>
              </a:rPr>
              <a:t>练习本</a:t>
            </a:r>
            <a:r>
              <a:rPr lang="en-US" altLang="zh-CN" sz="3600" b="1" dirty="0">
                <a:solidFill>
                  <a:srgbClr val="FF0000"/>
                </a:solidFill>
              </a:rPr>
              <a:t>P105-106</a:t>
            </a:r>
          </a:p>
          <a:p>
            <a:r>
              <a:rPr lang="en-US" altLang="zh-CN" sz="3600" b="1" dirty="0">
                <a:solidFill>
                  <a:srgbClr val="FF0000"/>
                </a:solidFill>
              </a:rPr>
              <a:t> perceive v.</a:t>
            </a:r>
            <a:r>
              <a:rPr lang="zh-CN" altLang="en-US" sz="3600" b="1" dirty="0">
                <a:solidFill>
                  <a:srgbClr val="FF0000"/>
                </a:solidFill>
              </a:rPr>
              <a:t>意识觉察到</a:t>
            </a:r>
            <a:r>
              <a:rPr lang="en-US" altLang="zh-CN" sz="3600" b="1" dirty="0">
                <a:solidFill>
                  <a:srgbClr val="FF0000"/>
                </a:solidFill>
              </a:rPr>
              <a:t>;</a:t>
            </a:r>
            <a:r>
              <a:rPr lang="zh-CN" altLang="en-US" sz="3600" b="1" dirty="0">
                <a:solidFill>
                  <a:srgbClr val="FF0000"/>
                </a:solidFill>
              </a:rPr>
              <a:t>理解认为 </a:t>
            </a:r>
            <a:r>
              <a:rPr lang="en-US" altLang="zh-CN" sz="3600" b="1" dirty="0">
                <a:solidFill>
                  <a:srgbClr val="FF0000"/>
                </a:solidFill>
              </a:rPr>
              <a:t>perception n.</a:t>
            </a:r>
          </a:p>
          <a:p>
            <a:r>
              <a:rPr lang="en-US" altLang="zh-CN" sz="3600" b="1" dirty="0">
                <a:solidFill>
                  <a:srgbClr val="FF0000"/>
                </a:solidFill>
              </a:rPr>
              <a:t> assume v.</a:t>
            </a:r>
            <a:r>
              <a:rPr lang="zh-CN" altLang="en-US" sz="3600" b="1" dirty="0">
                <a:solidFill>
                  <a:srgbClr val="FF0000"/>
                </a:solidFill>
              </a:rPr>
              <a:t>假设</a:t>
            </a:r>
            <a:r>
              <a:rPr lang="en-US" altLang="zh-CN" sz="3600" b="1" dirty="0">
                <a:solidFill>
                  <a:srgbClr val="FF0000"/>
                </a:solidFill>
              </a:rPr>
              <a:t>;</a:t>
            </a:r>
            <a:r>
              <a:rPr lang="zh-CN" altLang="en-US" sz="3600" b="1" dirty="0">
                <a:solidFill>
                  <a:srgbClr val="FF0000"/>
                </a:solidFill>
              </a:rPr>
              <a:t>承担 </a:t>
            </a:r>
            <a:r>
              <a:rPr lang="en-US" altLang="zh-CN" sz="3600" b="1" dirty="0">
                <a:solidFill>
                  <a:srgbClr val="FF0000"/>
                </a:solidFill>
              </a:rPr>
              <a:t>assumption n.</a:t>
            </a:r>
          </a:p>
          <a:p>
            <a:r>
              <a:rPr lang="en-US" altLang="zh-CN" sz="3600" b="1" dirty="0">
                <a:solidFill>
                  <a:srgbClr val="FF0000"/>
                </a:solidFill>
              </a:rPr>
              <a:t> respond v.</a:t>
            </a:r>
            <a:r>
              <a:rPr lang="zh-CN" altLang="en-US" sz="3600" b="1" dirty="0">
                <a:solidFill>
                  <a:srgbClr val="FF0000"/>
                </a:solidFill>
              </a:rPr>
              <a:t>回应 </a:t>
            </a:r>
            <a:r>
              <a:rPr lang="en-US" altLang="zh-CN" sz="3600" b="1" dirty="0">
                <a:solidFill>
                  <a:srgbClr val="FF0000"/>
                </a:solidFill>
              </a:rPr>
              <a:t>response n.</a:t>
            </a:r>
          </a:p>
          <a:p>
            <a:r>
              <a:rPr lang="en-US" altLang="zh-CN" sz="3600" b="1" dirty="0">
                <a:solidFill>
                  <a:srgbClr val="FF0000"/>
                </a:solidFill>
              </a:rPr>
              <a:t> grounding n.</a:t>
            </a:r>
            <a:r>
              <a:rPr lang="zh-CN" altLang="en-US" sz="3600" b="1" dirty="0">
                <a:solidFill>
                  <a:srgbClr val="FF0000"/>
                </a:solidFill>
              </a:rPr>
              <a:t>基础</a:t>
            </a:r>
            <a:r>
              <a:rPr lang="en-US" altLang="zh-CN" sz="3600" b="1" dirty="0">
                <a:solidFill>
                  <a:srgbClr val="FF0000"/>
                </a:solidFill>
              </a:rPr>
              <a:t>        </a:t>
            </a:r>
            <a:r>
              <a:rPr lang="en-US" altLang="zh-CN" sz="3600" b="1" u="sng" dirty="0"/>
              <a:t>to listen </a:t>
            </a:r>
            <a:r>
              <a:rPr lang="en-US" altLang="zh-CN" sz="3600" b="1" dirty="0"/>
              <a:t>or </a:t>
            </a:r>
            <a:r>
              <a:rPr lang="en-US" altLang="zh-CN" sz="3600" b="1" u="sng" dirty="0"/>
              <a:t>to be heard</a:t>
            </a:r>
          </a:p>
          <a:p>
            <a:r>
              <a:rPr lang="en-US" altLang="zh-CN" sz="3600" b="1" dirty="0">
                <a:solidFill>
                  <a:srgbClr val="FF0000"/>
                </a:solidFill>
              </a:rPr>
              <a:t> break with the old habit</a:t>
            </a:r>
            <a:r>
              <a:rPr lang="zh-CN" altLang="en-US" sz="3600" b="1" dirty="0">
                <a:solidFill>
                  <a:srgbClr val="FF0000"/>
                </a:solidFill>
              </a:rPr>
              <a:t>破除旧习惯</a:t>
            </a:r>
            <a:r>
              <a:rPr lang="en-US" altLang="zh-CN" sz="3600" b="1" dirty="0">
                <a:solidFill>
                  <a:srgbClr val="FF0000"/>
                </a:solidFill>
              </a:rPr>
              <a:t>(broke, broken)</a:t>
            </a:r>
          </a:p>
          <a:p>
            <a:r>
              <a:rPr lang="en-US" altLang="zh-CN" sz="3600" b="1" dirty="0">
                <a:solidFill>
                  <a:srgbClr val="FF0000"/>
                </a:solidFill>
              </a:rPr>
              <a:t> fall into</a:t>
            </a:r>
            <a:r>
              <a:rPr lang="zh-CN" altLang="en-US" sz="3600" b="1" dirty="0">
                <a:solidFill>
                  <a:srgbClr val="FF0000"/>
                </a:solidFill>
              </a:rPr>
              <a:t>陷入 </a:t>
            </a:r>
            <a:r>
              <a:rPr lang="en-US" altLang="zh-CN" sz="3600" b="1" dirty="0">
                <a:solidFill>
                  <a:srgbClr val="FF0000"/>
                </a:solidFill>
              </a:rPr>
              <a:t>fall for</a:t>
            </a:r>
            <a:r>
              <a:rPr lang="zh-CN" altLang="en-US" sz="3600" b="1" dirty="0">
                <a:solidFill>
                  <a:srgbClr val="FF0000"/>
                </a:solidFill>
              </a:rPr>
              <a:t>上当</a:t>
            </a:r>
            <a:r>
              <a:rPr lang="en-US" altLang="zh-CN" sz="3600" b="1" dirty="0">
                <a:solidFill>
                  <a:srgbClr val="FF0000"/>
                </a:solidFill>
              </a:rPr>
              <a:t>;</a:t>
            </a:r>
            <a:r>
              <a:rPr lang="zh-CN" altLang="en-US" sz="3600" b="1" dirty="0">
                <a:solidFill>
                  <a:srgbClr val="FF0000"/>
                </a:solidFill>
              </a:rPr>
              <a:t>被迷住 </a:t>
            </a:r>
            <a:r>
              <a:rPr lang="en-US" altLang="zh-CN" sz="3600" b="1" dirty="0">
                <a:solidFill>
                  <a:srgbClr val="FF0000"/>
                </a:solidFill>
              </a:rPr>
              <a:t>put off</a:t>
            </a:r>
            <a:r>
              <a:rPr lang="zh-CN" altLang="en-US" sz="3600" b="1" dirty="0">
                <a:solidFill>
                  <a:srgbClr val="FF0000"/>
                </a:solidFill>
              </a:rPr>
              <a:t>推迟 </a:t>
            </a:r>
            <a:r>
              <a:rPr lang="en-US" altLang="zh-CN" sz="3600" b="1" dirty="0">
                <a:solidFill>
                  <a:srgbClr val="FF0000"/>
                </a:solidFill>
              </a:rPr>
              <a:t>call off</a:t>
            </a:r>
            <a:r>
              <a:rPr lang="zh-CN" altLang="en-US" sz="3600" b="1" dirty="0">
                <a:solidFill>
                  <a:srgbClr val="FF0000"/>
                </a:solidFill>
              </a:rPr>
              <a:t>取消</a:t>
            </a:r>
            <a:endParaRPr lang="en-US" altLang="zh-CN" sz="3600" b="1" dirty="0">
              <a:solidFill>
                <a:srgbClr val="FF0000"/>
              </a:solidFill>
            </a:endParaRPr>
          </a:p>
          <a:p>
            <a:r>
              <a:rPr lang="en-US" altLang="zh-CN" sz="3600" b="1" dirty="0">
                <a:solidFill>
                  <a:srgbClr val="FF0000"/>
                </a:solidFill>
              </a:rPr>
              <a:t> hold back</a:t>
            </a:r>
            <a:r>
              <a:rPr lang="zh-CN" altLang="en-US" sz="3600" b="1" dirty="0">
                <a:solidFill>
                  <a:srgbClr val="FF0000"/>
                </a:solidFill>
              </a:rPr>
              <a:t>阻止抑制隐瞒</a:t>
            </a:r>
            <a:r>
              <a:rPr lang="en-US" altLang="zh-CN" sz="3600" b="1" dirty="0">
                <a:solidFill>
                  <a:srgbClr val="FF0000"/>
                </a:solidFill>
              </a:rPr>
              <a:t>(held*2)</a:t>
            </a:r>
          </a:p>
          <a:p>
            <a:r>
              <a:rPr lang="en-US" altLang="zh-CN" sz="3600" b="1" dirty="0">
                <a:solidFill>
                  <a:srgbClr val="FF0000"/>
                </a:solidFill>
              </a:rPr>
              <a:t> speak of senses</a:t>
            </a:r>
            <a:r>
              <a:rPr lang="zh-CN" altLang="en-US" sz="3600" b="1" dirty="0">
                <a:solidFill>
                  <a:srgbClr val="FF0000"/>
                </a:solidFill>
              </a:rPr>
              <a:t>说到感官  </a:t>
            </a:r>
            <a:endParaRPr lang="en-US" altLang="zh-CN" sz="3600" b="1" dirty="0">
              <a:solidFill>
                <a:srgbClr val="FF0000"/>
              </a:solidFill>
            </a:endParaRPr>
          </a:p>
          <a:p>
            <a:r>
              <a:rPr lang="en-US" altLang="zh-CN" sz="3600" b="1" dirty="0">
                <a:solidFill>
                  <a:srgbClr val="FF0000"/>
                </a:solidFill>
              </a:rPr>
              <a:t> speaking/talking of</a:t>
            </a:r>
            <a:r>
              <a:rPr lang="zh-CN" altLang="en-US" sz="3600" b="1" dirty="0">
                <a:solidFill>
                  <a:srgbClr val="FF0000"/>
                </a:solidFill>
              </a:rPr>
              <a:t>谈及</a:t>
            </a:r>
            <a:r>
              <a:rPr lang="en-US" altLang="zh-CN" sz="3600" b="1" dirty="0">
                <a:solidFill>
                  <a:srgbClr val="FF0000"/>
                </a:solidFill>
              </a:rPr>
              <a:t>=when it comes to</a:t>
            </a:r>
          </a:p>
          <a:p>
            <a:r>
              <a:rPr lang="en-US" altLang="zh-CN" sz="3600" b="1" dirty="0">
                <a:solidFill>
                  <a:srgbClr val="FF0000"/>
                </a:solidFill>
              </a:rPr>
              <a:t> rarely</a:t>
            </a:r>
            <a:r>
              <a:rPr lang="zh-CN" altLang="en-US" sz="3600" b="1" dirty="0">
                <a:solidFill>
                  <a:srgbClr val="FF0000"/>
                </a:solidFill>
              </a:rPr>
              <a:t>很少  </a:t>
            </a:r>
            <a:r>
              <a:rPr lang="en-US" altLang="zh-CN" sz="3600" b="1" dirty="0">
                <a:solidFill>
                  <a:srgbClr val="FF0000"/>
                </a:solidFill>
              </a:rPr>
              <a:t>undergo v.</a:t>
            </a:r>
            <a:r>
              <a:rPr lang="zh-CN" altLang="en-US" sz="3600" b="1" dirty="0">
                <a:solidFill>
                  <a:srgbClr val="FF0000"/>
                </a:solidFill>
              </a:rPr>
              <a:t>经历</a:t>
            </a:r>
            <a:r>
              <a:rPr lang="en-US" altLang="zh-CN" sz="3600" b="1" dirty="0">
                <a:solidFill>
                  <a:srgbClr val="FF0000"/>
                </a:solidFill>
              </a:rPr>
              <a:t>(underwent, undergone)</a:t>
            </a:r>
            <a:endParaRPr lang="zh-CN" altLang="en-US" sz="3600" b="1" dirty="0">
              <a:solidFill>
                <a:srgbClr val="FF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solidFill>
                  <a:srgbClr val="FF0000"/>
                </a:solidFill>
              </a:rPr>
              <a:t>练习本</a:t>
            </a:r>
            <a:r>
              <a:rPr lang="en-US" altLang="zh-CN" sz="3600" b="1" dirty="0">
                <a:solidFill>
                  <a:srgbClr val="FF0000"/>
                </a:solidFill>
              </a:rPr>
              <a:t>P106   31.were thinking  </a:t>
            </a:r>
          </a:p>
          <a:p>
            <a:r>
              <a:rPr lang="en-US" altLang="zh-CN" sz="3600" b="1" u="sng" dirty="0">
                <a:solidFill>
                  <a:srgbClr val="FF0000"/>
                </a:solidFill>
              </a:rPr>
              <a:t>sb was/were doing </a:t>
            </a:r>
            <a:r>
              <a:rPr lang="en-US" altLang="zh-CN" sz="3600" b="1" u="sng" dirty="0" err="1">
                <a:solidFill>
                  <a:srgbClr val="FF0000"/>
                </a:solidFill>
              </a:rPr>
              <a:t>sth</a:t>
            </a:r>
            <a:r>
              <a:rPr lang="en-US" altLang="zh-CN" sz="3600" b="1" dirty="0">
                <a:solidFill>
                  <a:srgbClr val="FF0000"/>
                </a:solidFill>
              </a:rPr>
              <a:t>+ </a:t>
            </a:r>
            <a:r>
              <a:rPr lang="en-US" altLang="zh-CN" sz="3600" b="1" u="sng" dirty="0">
                <a:solidFill>
                  <a:srgbClr val="FF0000"/>
                </a:solidFill>
              </a:rPr>
              <a:t>when + sb did </a:t>
            </a:r>
            <a:r>
              <a:rPr lang="en-US" altLang="zh-CN" sz="3600" b="1" u="sng" dirty="0" err="1">
                <a:solidFill>
                  <a:srgbClr val="FF0000"/>
                </a:solidFill>
              </a:rPr>
              <a:t>sth</a:t>
            </a:r>
            <a:r>
              <a:rPr lang="en-US" altLang="zh-CN" sz="3600" b="1" u="sng" dirty="0">
                <a:solidFill>
                  <a:srgbClr val="FF0000"/>
                </a:solidFill>
              </a:rPr>
              <a:t>.</a:t>
            </a:r>
          </a:p>
          <a:p>
            <a:r>
              <a:rPr lang="en-US" altLang="zh-CN" sz="3600" b="1" dirty="0">
                <a:solidFill>
                  <a:srgbClr val="FF0000"/>
                </a:solidFill>
              </a:rPr>
              <a:t> =</a:t>
            </a:r>
            <a:r>
              <a:rPr lang="en-US" altLang="zh-CN" sz="3600" b="1" u="sng" dirty="0">
                <a:solidFill>
                  <a:srgbClr val="FF0000"/>
                </a:solidFill>
              </a:rPr>
              <a:t>while+ sb was/were doing</a:t>
            </a:r>
            <a:r>
              <a:rPr lang="en-US" altLang="zh-CN" sz="3600" b="1" dirty="0">
                <a:solidFill>
                  <a:srgbClr val="FF0000"/>
                </a:solidFill>
              </a:rPr>
              <a:t>, sb did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当</a:t>
            </a:r>
            <a:r>
              <a:rPr lang="en-US" altLang="zh-CN" sz="3600" b="1" dirty="0">
                <a:solidFill>
                  <a:srgbClr val="FF0000"/>
                </a:solidFill>
              </a:rPr>
              <a:t>…</a:t>
            </a:r>
            <a:r>
              <a:rPr lang="zh-CN" altLang="en-US" sz="3600" b="1" dirty="0">
                <a:solidFill>
                  <a:srgbClr val="FF0000"/>
                </a:solidFill>
              </a:rPr>
              <a:t>时</a:t>
            </a:r>
            <a:r>
              <a:rPr lang="en-US" altLang="zh-CN" sz="3600" b="1" dirty="0">
                <a:solidFill>
                  <a:srgbClr val="FF0000"/>
                </a:solidFill>
              </a:rPr>
              <a:t>, </a:t>
            </a:r>
            <a:r>
              <a:rPr lang="zh-CN" altLang="en-US" sz="3600" b="1" dirty="0">
                <a:solidFill>
                  <a:srgbClr val="FF0000"/>
                </a:solidFill>
              </a:rPr>
              <a:t>发生</a:t>
            </a:r>
            <a:r>
              <a:rPr lang="en-US" altLang="zh-CN" sz="3600" b="1" dirty="0">
                <a:solidFill>
                  <a:srgbClr val="FF0000"/>
                </a:solidFill>
              </a:rPr>
              <a:t>…</a:t>
            </a:r>
          </a:p>
          <a:p>
            <a:r>
              <a:rPr lang="en-US" altLang="zh-CN" sz="3600" b="1" dirty="0">
                <a:solidFill>
                  <a:srgbClr val="FF0000"/>
                </a:solidFill>
              </a:rPr>
              <a:t> </a:t>
            </a:r>
            <a:r>
              <a:rPr lang="en-US" altLang="zh-CN" sz="3600" b="1" dirty="0"/>
              <a:t>32.ourselves 33.using 34.but </a:t>
            </a:r>
            <a:r>
              <a:rPr lang="en-US" altLang="zh-CN" sz="3600" b="1" dirty="0">
                <a:solidFill>
                  <a:srgbClr val="FF0000"/>
                </a:solidFill>
              </a:rPr>
              <a:t>35.creativity</a:t>
            </a:r>
            <a:r>
              <a:rPr lang="zh-CN" altLang="en-US" sz="3600" b="1" dirty="0">
                <a:solidFill>
                  <a:srgbClr val="FF0000"/>
                </a:solidFill>
              </a:rPr>
              <a:t>创造力独创性</a:t>
            </a:r>
            <a:endParaRPr lang="en-US" altLang="zh-CN" sz="3600" b="1" dirty="0">
              <a:solidFill>
                <a:srgbClr val="FF0000"/>
              </a:solidFill>
            </a:endParaRPr>
          </a:p>
          <a:p>
            <a:r>
              <a:rPr lang="en-US" altLang="zh-CN" sz="3600" b="1" dirty="0">
                <a:solidFill>
                  <a:srgbClr val="FF0000"/>
                </a:solidFill>
              </a:rPr>
              <a:t> 36.called 37.were written by </a:t>
            </a:r>
            <a:r>
              <a:rPr lang="zh-CN" altLang="en-US" sz="3600" b="1" dirty="0">
                <a:solidFill>
                  <a:srgbClr val="FF0000"/>
                </a:solidFill>
              </a:rPr>
              <a:t>谓语动词</a:t>
            </a:r>
            <a:r>
              <a:rPr lang="en-US" altLang="zh-CN" sz="3600" b="1" dirty="0">
                <a:solidFill>
                  <a:srgbClr val="FF0000"/>
                </a:solidFill>
              </a:rPr>
              <a:t> </a:t>
            </a:r>
          </a:p>
          <a:p>
            <a:r>
              <a:rPr lang="en-US" altLang="zh-CN" sz="3600" b="1" dirty="0">
                <a:solidFill>
                  <a:srgbClr val="FF0000"/>
                </a:solidFill>
              </a:rPr>
              <a:t> 38.which</a:t>
            </a:r>
            <a:r>
              <a:rPr lang="zh-CN" altLang="en-US" sz="3600" b="1" dirty="0">
                <a:solidFill>
                  <a:srgbClr val="FF0000"/>
                </a:solidFill>
              </a:rPr>
              <a:t>定从          介词</a:t>
            </a:r>
            <a:r>
              <a:rPr lang="en-US" altLang="zh-CN" sz="3600" b="1" dirty="0">
                <a:solidFill>
                  <a:srgbClr val="FF0000"/>
                </a:solidFill>
              </a:rPr>
              <a:t>+which/whom</a:t>
            </a:r>
          </a:p>
          <a:p>
            <a:r>
              <a:rPr lang="en-US" altLang="zh-CN" sz="3600" b="1" dirty="0">
                <a:solidFill>
                  <a:srgbClr val="FF0000"/>
                </a:solidFill>
              </a:rPr>
              <a:t> 39.fool sb.</a:t>
            </a:r>
            <a:r>
              <a:rPr lang="zh-CN" altLang="en-US" sz="3600" b="1" dirty="0">
                <a:solidFill>
                  <a:srgbClr val="FF0000"/>
                </a:solidFill>
              </a:rPr>
              <a:t> </a:t>
            </a:r>
            <a:r>
              <a:rPr lang="en-US" altLang="zh-CN" sz="3600" b="1" dirty="0">
                <a:solidFill>
                  <a:srgbClr val="FF0000"/>
                </a:solidFill>
              </a:rPr>
              <a:t>into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欺骗某人做某事</a:t>
            </a:r>
            <a:endParaRPr lang="en-US" altLang="zh-CN" sz="3600" b="1" dirty="0">
              <a:solidFill>
                <a:srgbClr val="FF0000"/>
              </a:solidFill>
            </a:endParaRPr>
          </a:p>
          <a:p>
            <a:r>
              <a:rPr lang="en-US" altLang="zh-CN" sz="3600" b="1" dirty="0">
                <a:solidFill>
                  <a:srgbClr val="FF0000"/>
                </a:solidFill>
              </a:rPr>
              <a:t> 40.identify </a:t>
            </a:r>
            <a:r>
              <a:rPr lang="en-US" altLang="zh-CN" sz="3600" b="1" u="sng" dirty="0">
                <a:solidFill>
                  <a:srgbClr val="FF0000"/>
                </a:solidFill>
              </a:rPr>
              <a:t>what</a:t>
            </a:r>
            <a:r>
              <a:rPr lang="en-US" altLang="zh-CN" sz="3600" b="1" dirty="0">
                <a:solidFill>
                  <a:srgbClr val="FF0000"/>
                </a:solidFill>
              </a:rPr>
              <a:t> </a:t>
            </a:r>
            <a:r>
              <a:rPr lang="en-US" altLang="zh-CN" sz="3600" b="1" u="sng" dirty="0">
                <a:solidFill>
                  <a:srgbClr val="FF0000"/>
                </a:solidFill>
              </a:rPr>
              <a:t>it is that</a:t>
            </a:r>
            <a:r>
              <a:rPr lang="en-US" altLang="zh-CN" sz="3600" b="1" dirty="0">
                <a:solidFill>
                  <a:srgbClr val="FF0000"/>
                </a:solidFill>
              </a:rPr>
              <a:t>…</a:t>
            </a:r>
            <a:r>
              <a:rPr lang="zh-CN" altLang="en-US" sz="3600" b="1" dirty="0">
                <a:solidFill>
                  <a:srgbClr val="FF0000"/>
                </a:solidFill>
              </a:rPr>
              <a:t>强调句型做宾语用陈述句语序</a:t>
            </a:r>
            <a:endParaRPr lang="en-US" altLang="zh-CN" sz="3600" b="1" dirty="0">
              <a:solidFill>
                <a:srgbClr val="FF0000"/>
              </a:solidFill>
            </a:endParaRPr>
          </a:p>
          <a:p>
            <a:r>
              <a:rPr lang="en-US" altLang="zh-CN" sz="3600" b="1" dirty="0">
                <a:solidFill>
                  <a:srgbClr val="FF0000"/>
                </a:solidFill>
              </a:rPr>
              <a:t> </a:t>
            </a:r>
            <a:r>
              <a:rPr lang="en-US" altLang="zh-CN" sz="3600" b="1" u="sng" dirty="0">
                <a:solidFill>
                  <a:srgbClr val="FF0000"/>
                </a:solidFill>
              </a:rPr>
              <a:t>What</a:t>
            </a:r>
            <a:r>
              <a:rPr lang="en-US" altLang="zh-CN" sz="3600" b="1" dirty="0">
                <a:solidFill>
                  <a:srgbClr val="FF0000"/>
                </a:solidFill>
              </a:rPr>
              <a:t> </a:t>
            </a:r>
            <a:r>
              <a:rPr lang="en-US" altLang="zh-CN" sz="3600" b="1" u="sng" dirty="0">
                <a:solidFill>
                  <a:srgbClr val="FF0000"/>
                </a:solidFill>
              </a:rPr>
              <a:t>is it that </a:t>
            </a:r>
            <a:r>
              <a:rPr lang="en-US" altLang="zh-CN" sz="3600" b="1" dirty="0">
                <a:solidFill>
                  <a:srgbClr val="FF0000"/>
                </a:solidFill>
              </a:rPr>
              <a:t>makes us human</a:t>
            </a:r>
            <a:r>
              <a:rPr lang="zh-CN" altLang="en-US" sz="3600" b="1">
                <a:solidFill>
                  <a:srgbClr val="FF0000"/>
                </a:solidFill>
              </a:rPr>
              <a:t>？</a:t>
            </a:r>
            <a:endParaRPr lang="en-US" altLang="zh-CN" sz="3600" b="1" dirty="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fontAlgn="ctr"/>
            <a:r>
              <a:rPr lang="en-US" altLang="zh-CN" sz="3200" b="1" dirty="0"/>
              <a:t>11.2</a:t>
            </a:r>
            <a:r>
              <a:rPr lang="zh-CN" altLang="en-US" sz="3200" b="1" dirty="0"/>
              <a:t>卷 </a:t>
            </a:r>
            <a:r>
              <a:rPr lang="en-US" altLang="zh-CN" sz="3200" b="1" u="sng" dirty="0">
                <a:solidFill>
                  <a:srgbClr val="FF0000"/>
                </a:solidFill>
              </a:rPr>
              <a:t>cupboard</a:t>
            </a:r>
            <a:r>
              <a:rPr lang="zh-CN" altLang="en-US" sz="3200" b="1" u="sng" dirty="0">
                <a:solidFill>
                  <a:srgbClr val="FF0000"/>
                </a:solidFill>
              </a:rPr>
              <a:t>橱柜</a:t>
            </a:r>
            <a:r>
              <a:rPr lang="en-US" altLang="zh-CN" sz="3200" b="1" u="sng" dirty="0">
                <a:solidFill>
                  <a:srgbClr val="FF0000"/>
                </a:solidFill>
              </a:rPr>
              <a:t> </a:t>
            </a:r>
            <a:r>
              <a:rPr lang="en-US" altLang="zh-CN" sz="3200" b="1" dirty="0">
                <a:solidFill>
                  <a:srgbClr val="FF0000"/>
                </a:solidFill>
              </a:rPr>
              <a:t>attend to personal business.</a:t>
            </a:r>
            <a:r>
              <a:rPr lang="zh-CN" altLang="en-US" sz="3200" b="1" dirty="0">
                <a:solidFill>
                  <a:srgbClr val="FF0000"/>
                </a:solidFill>
              </a:rPr>
              <a:t>处理个人事务</a:t>
            </a:r>
            <a:endParaRPr lang="zh-CN" altLang="zh-CN" sz="3200" b="1" dirty="0">
              <a:solidFill>
                <a:srgbClr val="FF0000"/>
              </a:solidFill>
            </a:endParaRPr>
          </a:p>
          <a:p>
            <a:r>
              <a:rPr lang="en-US" altLang="zh-CN" sz="3200" b="1" u="sng" dirty="0">
                <a:solidFill>
                  <a:srgbClr val="FF0000"/>
                </a:solidFill>
              </a:rPr>
              <a:t>captured the light </a:t>
            </a:r>
            <a:r>
              <a:rPr lang="en-US" altLang="zh-CN" sz="3200" b="1" dirty="0">
                <a:solidFill>
                  <a:srgbClr val="FF0000"/>
                </a:solidFill>
              </a:rPr>
              <a:t>reflected on the apples</a:t>
            </a:r>
            <a:r>
              <a:rPr lang="zh-CN" altLang="en-US" sz="3200" b="1" dirty="0"/>
              <a:t>捕捉苹果反射的光线</a:t>
            </a:r>
            <a:endParaRPr lang="en-US" altLang="zh-CN" sz="3200" b="1" dirty="0"/>
          </a:p>
          <a:p>
            <a:r>
              <a:rPr lang="en-US" altLang="zh-CN" sz="3200" b="1" dirty="0">
                <a:solidFill>
                  <a:srgbClr val="FF0000"/>
                </a:solidFill>
              </a:rPr>
              <a:t>a down coat </a:t>
            </a:r>
            <a:r>
              <a:rPr lang="zh-CN" altLang="en-US" sz="3200" b="1" dirty="0">
                <a:solidFill>
                  <a:srgbClr val="FF0000"/>
                </a:solidFill>
              </a:rPr>
              <a:t>羽绒服</a:t>
            </a:r>
            <a:r>
              <a:rPr lang="en-US" altLang="zh-CN" sz="3200" b="1" dirty="0">
                <a:solidFill>
                  <a:srgbClr val="FF0000"/>
                </a:solidFill>
              </a:rPr>
              <a:t>  earn pocket money</a:t>
            </a:r>
            <a:r>
              <a:rPr lang="zh-CN" altLang="en-US" sz="3200" b="1" dirty="0">
                <a:solidFill>
                  <a:srgbClr val="FF0000"/>
                </a:solidFill>
              </a:rPr>
              <a:t>赚零花钱</a:t>
            </a:r>
            <a:endParaRPr lang="en-US" altLang="zh-CN" sz="3200" b="1" dirty="0">
              <a:solidFill>
                <a:srgbClr val="FF0000"/>
              </a:solidFill>
            </a:endParaRPr>
          </a:p>
          <a:p>
            <a:r>
              <a:rPr lang="en-US" altLang="zh-CN" sz="3200" b="1" dirty="0">
                <a:solidFill>
                  <a:srgbClr val="FF0000"/>
                </a:solidFill>
              </a:rPr>
              <a:t> on the go</a:t>
            </a:r>
            <a:r>
              <a:rPr lang="zh-CN" altLang="en-US" sz="3200" b="1" dirty="0">
                <a:solidFill>
                  <a:srgbClr val="FF0000"/>
                </a:solidFill>
              </a:rPr>
              <a:t>忙忙碌碌</a:t>
            </a:r>
            <a:r>
              <a:rPr lang="en-US" altLang="zh-CN" sz="3200" b="1" dirty="0">
                <a:solidFill>
                  <a:srgbClr val="FF0000"/>
                </a:solidFill>
              </a:rPr>
              <a:t>  herb</a:t>
            </a:r>
            <a:r>
              <a:rPr lang="zh-CN" altLang="en-US" sz="3200" b="1" dirty="0">
                <a:solidFill>
                  <a:srgbClr val="FF0000"/>
                </a:solidFill>
              </a:rPr>
              <a:t>草本植物</a:t>
            </a:r>
            <a:r>
              <a:rPr lang="en-US" altLang="zh-CN" sz="3200" b="1" dirty="0">
                <a:solidFill>
                  <a:srgbClr val="FF0000"/>
                </a:solidFill>
              </a:rPr>
              <a:t>;</a:t>
            </a:r>
            <a:r>
              <a:rPr lang="zh-CN" altLang="en-US" sz="3200" b="1" dirty="0">
                <a:solidFill>
                  <a:srgbClr val="FF0000"/>
                </a:solidFill>
              </a:rPr>
              <a:t>药草 </a:t>
            </a:r>
            <a:r>
              <a:rPr lang="en-US" altLang="zh-CN" sz="3200" b="1" dirty="0">
                <a:solidFill>
                  <a:srgbClr val="FF0000"/>
                </a:solidFill>
              </a:rPr>
              <a:t>innocent</a:t>
            </a:r>
            <a:r>
              <a:rPr lang="zh-CN" altLang="en-US" sz="3200" b="1" dirty="0">
                <a:solidFill>
                  <a:srgbClr val="FF0000"/>
                </a:solidFill>
              </a:rPr>
              <a:t>天真无邪的</a:t>
            </a:r>
            <a:endParaRPr lang="en-US" altLang="zh-CN" sz="3200" b="1" dirty="0">
              <a:solidFill>
                <a:srgbClr val="FF0000"/>
              </a:solidFill>
            </a:endParaRPr>
          </a:p>
          <a:p>
            <a:r>
              <a:rPr lang="en-US" altLang="zh-CN" sz="3200" b="1" dirty="0">
                <a:solidFill>
                  <a:srgbClr val="FF0000"/>
                </a:solidFill>
              </a:rPr>
              <a:t>eagerly</a:t>
            </a:r>
            <a:r>
              <a:rPr lang="zh-CN" altLang="en-US" sz="3200" b="1" dirty="0">
                <a:solidFill>
                  <a:srgbClr val="FF0000"/>
                </a:solidFill>
              </a:rPr>
              <a:t>急切地</a:t>
            </a:r>
            <a:r>
              <a:rPr lang="en-US" altLang="zh-CN" sz="3200" b="1" dirty="0">
                <a:solidFill>
                  <a:srgbClr val="FF0000"/>
                </a:solidFill>
              </a:rPr>
              <a:t> </a:t>
            </a:r>
          </a:p>
          <a:p>
            <a:r>
              <a:rPr lang="en-US" altLang="zh-CN" sz="3200" b="1" dirty="0">
                <a:solidFill>
                  <a:srgbClr val="FF0000"/>
                </a:solidFill>
              </a:rPr>
              <a:t>draw conclusions about </a:t>
            </a:r>
            <a:r>
              <a:rPr lang="en-US" altLang="zh-CN" sz="3200" b="1" dirty="0"/>
              <a:t>the phenomenon </a:t>
            </a:r>
            <a:r>
              <a:rPr lang="zh-CN" altLang="zh-CN" sz="3200" b="1" dirty="0">
                <a:solidFill>
                  <a:srgbClr val="FF0000"/>
                </a:solidFill>
              </a:rPr>
              <a:t>对这一现象下结论</a:t>
            </a:r>
            <a:endParaRPr lang="en-US" altLang="zh-CN" sz="3200" b="1" dirty="0"/>
          </a:p>
          <a:p>
            <a:r>
              <a:rPr lang="en-US" altLang="zh-CN" sz="3200" b="1" dirty="0">
                <a:solidFill>
                  <a:srgbClr val="FF0000"/>
                </a:solidFill>
              </a:rPr>
              <a:t>make a diagnosis</a:t>
            </a:r>
            <a:r>
              <a:rPr lang="zh-CN" altLang="zh-CN" sz="3200" b="1" dirty="0">
                <a:solidFill>
                  <a:srgbClr val="FF0000"/>
                </a:solidFill>
              </a:rPr>
              <a:t>进行诊断</a:t>
            </a:r>
            <a:endParaRPr lang="en-US" altLang="zh-CN" sz="3200" b="1" dirty="0">
              <a:solidFill>
                <a:srgbClr val="FF0000"/>
              </a:solidFill>
            </a:endParaRPr>
          </a:p>
          <a:p>
            <a:r>
              <a:rPr lang="en-US" altLang="zh-CN" sz="3200" b="1" dirty="0">
                <a:solidFill>
                  <a:srgbClr val="FF0000"/>
                </a:solidFill>
              </a:rPr>
              <a:t>take timely medical measures</a:t>
            </a:r>
            <a:r>
              <a:rPr lang="zh-CN" altLang="zh-CN" sz="3200" b="1" dirty="0">
                <a:solidFill>
                  <a:srgbClr val="FF0000"/>
                </a:solidFill>
              </a:rPr>
              <a:t>及时采取医疗措施</a:t>
            </a:r>
          </a:p>
          <a:p>
            <a:endParaRPr lang="zh-CN" altLang="en-US" sz="3200" b="1" dirty="0">
              <a:solidFill>
                <a:srgbClr val="FF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ctr"/>
            <a:r>
              <a:rPr lang="en-US" altLang="zh-CN" sz="3600" b="1" dirty="0">
                <a:solidFill>
                  <a:srgbClr val="FF0000"/>
                </a:solidFill>
              </a:rPr>
              <a:t>43. block out</a:t>
            </a:r>
            <a:r>
              <a:rPr lang="zh-CN" altLang="zh-CN" sz="3600" b="1" dirty="0">
                <a:solidFill>
                  <a:srgbClr val="FF0000"/>
                </a:solidFill>
              </a:rPr>
              <a:t>挡住</a:t>
            </a:r>
            <a:r>
              <a:rPr lang="en-US" altLang="zh-CN" sz="3600" b="1" dirty="0">
                <a:solidFill>
                  <a:srgbClr val="FF0000"/>
                </a:solidFill>
              </a:rPr>
              <a:t> </a:t>
            </a:r>
            <a:r>
              <a:rPr lang="en-US" altLang="zh-CN" sz="3600" b="1" dirty="0"/>
              <a:t>replace with</a:t>
            </a:r>
            <a:r>
              <a:rPr lang="zh-CN" altLang="zh-CN" sz="3600" b="1" dirty="0"/>
              <a:t>用</a:t>
            </a:r>
            <a:r>
              <a:rPr lang="en-US" altLang="zh-CN" sz="3600" b="1" dirty="0"/>
              <a:t>…</a:t>
            </a:r>
            <a:r>
              <a:rPr lang="zh-CN" altLang="zh-CN" sz="3600" b="1" dirty="0"/>
              <a:t>替换</a:t>
            </a:r>
            <a:r>
              <a:rPr lang="en-US" altLang="zh-CN" sz="3600" b="1" dirty="0"/>
              <a:t>ruin for</a:t>
            </a:r>
            <a:r>
              <a:rPr lang="zh-CN" altLang="zh-CN" sz="3600" b="1" dirty="0"/>
              <a:t>因</a:t>
            </a:r>
            <a:r>
              <a:rPr lang="en-US" altLang="zh-CN" sz="3600" b="1" dirty="0"/>
              <a:t>…</a:t>
            </a:r>
            <a:r>
              <a:rPr lang="zh-CN" altLang="zh-CN" sz="3600" b="1" dirty="0"/>
              <a:t>而毁坏</a:t>
            </a:r>
            <a:endParaRPr lang="en-US" altLang="zh-CN" sz="3600" b="1" dirty="0"/>
          </a:p>
          <a:p>
            <a:pPr fontAlgn="ctr"/>
            <a:r>
              <a:rPr lang="en-US" altLang="zh-CN" sz="3600" b="1" dirty="0">
                <a:solidFill>
                  <a:srgbClr val="FF0000"/>
                </a:solidFill>
              </a:rPr>
              <a:t>44. familiar</a:t>
            </a:r>
            <a:r>
              <a:rPr lang="zh-CN" altLang="zh-CN" sz="3600" b="1" dirty="0">
                <a:solidFill>
                  <a:srgbClr val="FF0000"/>
                </a:solidFill>
              </a:rPr>
              <a:t>熟悉的</a:t>
            </a:r>
            <a:r>
              <a:rPr lang="en-US" altLang="zh-CN" sz="3600" b="1" dirty="0">
                <a:solidFill>
                  <a:srgbClr val="FF0000"/>
                </a:solidFill>
              </a:rPr>
              <a:t> </a:t>
            </a:r>
            <a:r>
              <a:rPr lang="en-US" altLang="zh-CN" sz="3600" b="1" dirty="0"/>
              <a:t>surprising</a:t>
            </a:r>
            <a:r>
              <a:rPr lang="zh-CN" altLang="zh-CN" sz="3600" b="1" dirty="0"/>
              <a:t>令人惊讶的</a:t>
            </a:r>
            <a:r>
              <a:rPr lang="en-US" altLang="zh-CN" sz="3600" b="1" dirty="0"/>
              <a:t> </a:t>
            </a:r>
            <a:r>
              <a:rPr lang="en-US" altLang="zh-CN" sz="3600" b="1" dirty="0">
                <a:solidFill>
                  <a:srgbClr val="FF0000"/>
                </a:solidFill>
              </a:rPr>
              <a:t>unique</a:t>
            </a:r>
            <a:r>
              <a:rPr lang="zh-CN" altLang="zh-CN" sz="3600" b="1" dirty="0">
                <a:solidFill>
                  <a:srgbClr val="FF0000"/>
                </a:solidFill>
              </a:rPr>
              <a:t>独特的</a:t>
            </a:r>
            <a:r>
              <a:rPr lang="en-US" altLang="zh-CN" sz="3600" b="1" dirty="0">
                <a:solidFill>
                  <a:srgbClr val="FF0000"/>
                </a:solidFill>
              </a:rPr>
              <a:t>complex</a:t>
            </a:r>
            <a:r>
              <a:rPr lang="zh-CN" altLang="zh-CN" sz="3600" b="1" dirty="0">
                <a:solidFill>
                  <a:srgbClr val="FF0000"/>
                </a:solidFill>
              </a:rPr>
              <a:t>复杂的</a:t>
            </a:r>
            <a:endParaRPr lang="en-US" altLang="zh-CN" sz="3600" b="1" dirty="0">
              <a:solidFill>
                <a:srgbClr val="FF0000"/>
              </a:solidFill>
            </a:endParaRPr>
          </a:p>
          <a:p>
            <a:pPr fontAlgn="ctr"/>
            <a:r>
              <a:rPr lang="en-US" altLang="zh-CN" sz="3600" b="1" dirty="0"/>
              <a:t>45.</a:t>
            </a:r>
            <a:r>
              <a:rPr lang="zh-CN" altLang="zh-CN" sz="3600" b="1" dirty="0"/>
              <a:t> 导致渐进性虚弱和肌肉衰弱</a:t>
            </a:r>
            <a:r>
              <a:rPr lang="en-US" altLang="zh-CN" sz="3600" b="1" dirty="0"/>
              <a:t> </a:t>
            </a:r>
            <a:r>
              <a:rPr lang="en-US" altLang="zh-CN" sz="3600" b="1" u="sng" dirty="0">
                <a:solidFill>
                  <a:srgbClr val="FF0000"/>
                </a:solidFill>
              </a:rPr>
              <a:t>weakness</a:t>
            </a:r>
            <a:r>
              <a:rPr lang="zh-CN" altLang="zh-CN" sz="3600" b="1" u="sng" dirty="0">
                <a:solidFill>
                  <a:srgbClr val="FF0000"/>
                </a:solidFill>
              </a:rPr>
              <a:t>虚弱</a:t>
            </a:r>
            <a:r>
              <a:rPr lang="en-US" altLang="zh-CN" sz="3600" b="1" u="sng" dirty="0">
                <a:solidFill>
                  <a:srgbClr val="FF0000"/>
                </a:solidFill>
              </a:rPr>
              <a:t> </a:t>
            </a:r>
          </a:p>
          <a:p>
            <a:pPr fontAlgn="ctr"/>
            <a:r>
              <a:rPr lang="en-US" altLang="zh-CN" sz="3600" b="1" dirty="0">
                <a:solidFill>
                  <a:srgbClr val="FF0000"/>
                </a:solidFill>
              </a:rPr>
              <a:t>depression</a:t>
            </a:r>
            <a:r>
              <a:rPr lang="zh-CN" altLang="zh-CN" sz="3600" b="1" dirty="0">
                <a:solidFill>
                  <a:srgbClr val="FF0000"/>
                </a:solidFill>
              </a:rPr>
              <a:t>抑郁</a:t>
            </a:r>
            <a:r>
              <a:rPr lang="en-US" altLang="zh-CN" sz="3600" b="1" dirty="0">
                <a:solidFill>
                  <a:srgbClr val="FF0000"/>
                </a:solidFill>
              </a:rPr>
              <a:t> </a:t>
            </a:r>
            <a:r>
              <a:rPr lang="en-US" altLang="zh-CN" sz="3600" b="1" dirty="0"/>
              <a:t>strength</a:t>
            </a:r>
            <a:r>
              <a:rPr lang="zh-CN" altLang="zh-CN" sz="3600" b="1" dirty="0"/>
              <a:t>力量强度</a:t>
            </a:r>
            <a:r>
              <a:rPr lang="en-US" altLang="zh-CN" sz="3600" b="1" dirty="0"/>
              <a:t> trouble</a:t>
            </a:r>
            <a:r>
              <a:rPr lang="zh-CN" altLang="zh-CN" sz="3600" b="1" dirty="0"/>
              <a:t>麻烦</a:t>
            </a:r>
            <a:endParaRPr lang="en-US" altLang="zh-CN" sz="3600" b="1" dirty="0"/>
          </a:p>
          <a:p>
            <a:pPr fontAlgn="ctr"/>
            <a:r>
              <a:rPr lang="en-US" altLang="zh-CN" sz="3600" b="1" dirty="0">
                <a:solidFill>
                  <a:srgbClr val="FF0000"/>
                </a:solidFill>
              </a:rPr>
              <a:t>47. separate</a:t>
            </a:r>
            <a:r>
              <a:rPr lang="zh-CN" altLang="zh-CN" sz="3600" b="1" dirty="0">
                <a:solidFill>
                  <a:srgbClr val="FF0000"/>
                </a:solidFill>
              </a:rPr>
              <a:t>分离，分开</a:t>
            </a:r>
            <a:endParaRPr lang="en-US" altLang="zh-CN" sz="3600" b="1" dirty="0">
              <a:solidFill>
                <a:srgbClr val="FF0000"/>
              </a:solidFill>
            </a:endParaRPr>
          </a:p>
          <a:p>
            <a:pPr fontAlgn="ctr"/>
            <a:r>
              <a:rPr lang="en-US" altLang="zh-CN" sz="3600" b="1" dirty="0">
                <a:solidFill>
                  <a:srgbClr val="FF0000"/>
                </a:solidFill>
              </a:rPr>
              <a:t>48. witnessed</a:t>
            </a:r>
            <a:r>
              <a:rPr lang="zh-CN" altLang="zh-CN" sz="3600" b="1" dirty="0">
                <a:solidFill>
                  <a:srgbClr val="FF0000"/>
                </a:solidFill>
              </a:rPr>
              <a:t>目睹</a:t>
            </a:r>
            <a:r>
              <a:rPr lang="en-US" altLang="zh-CN" sz="3600" b="1" dirty="0">
                <a:solidFill>
                  <a:srgbClr val="FF0000"/>
                </a:solidFill>
              </a:rPr>
              <a:t> </a:t>
            </a:r>
            <a:r>
              <a:rPr lang="en-US" altLang="zh-CN" sz="3600" b="1" dirty="0"/>
              <a:t>ignore</a:t>
            </a:r>
            <a:r>
              <a:rPr lang="zh-CN" altLang="zh-CN" sz="3600" b="1" dirty="0"/>
              <a:t>忽视</a:t>
            </a:r>
            <a:r>
              <a:rPr lang="en-US" altLang="zh-CN" sz="3600" b="1" dirty="0"/>
              <a:t>  </a:t>
            </a:r>
            <a:r>
              <a:rPr lang="en-US" altLang="zh-CN" sz="3600" b="1" dirty="0">
                <a:solidFill>
                  <a:srgbClr val="FF0000"/>
                </a:solidFill>
              </a:rPr>
              <a:t>record</a:t>
            </a:r>
            <a:r>
              <a:rPr lang="zh-CN" altLang="zh-CN" sz="3600" b="1" dirty="0">
                <a:solidFill>
                  <a:srgbClr val="FF0000"/>
                </a:solidFill>
              </a:rPr>
              <a:t>记录</a:t>
            </a:r>
            <a:r>
              <a:rPr lang="en-US" altLang="zh-CN" sz="3600" b="1" dirty="0">
                <a:solidFill>
                  <a:srgbClr val="FF0000"/>
                </a:solidFill>
              </a:rPr>
              <a:t> </a:t>
            </a:r>
            <a:r>
              <a:rPr lang="en-US" altLang="zh-CN" sz="3600" b="1" dirty="0"/>
              <a:t>question</a:t>
            </a:r>
            <a:r>
              <a:rPr lang="zh-CN" altLang="zh-CN" sz="3600" b="1" dirty="0"/>
              <a:t>质疑</a:t>
            </a:r>
            <a:endParaRPr lang="en-US" altLang="zh-CN" sz="3600" b="1" dirty="0">
              <a:solidFill>
                <a:srgbClr val="FF0000"/>
              </a:solidFill>
            </a:endParaRPr>
          </a:p>
          <a:p>
            <a:pPr fontAlgn="ctr"/>
            <a:r>
              <a:rPr lang="en-US" altLang="zh-CN" sz="3600" b="1" dirty="0">
                <a:solidFill>
                  <a:srgbClr val="FF0000"/>
                </a:solidFill>
              </a:rPr>
              <a:t>49. accessible</a:t>
            </a:r>
            <a:r>
              <a:rPr lang="zh-CN" altLang="zh-CN" sz="3600" b="1" dirty="0">
                <a:solidFill>
                  <a:srgbClr val="FF0000"/>
                </a:solidFill>
              </a:rPr>
              <a:t>可到达的</a:t>
            </a:r>
            <a:r>
              <a:rPr lang="en-US" altLang="zh-CN" sz="3600" b="1" dirty="0">
                <a:solidFill>
                  <a:srgbClr val="FF0000"/>
                </a:solidFill>
              </a:rPr>
              <a:t>,</a:t>
            </a:r>
            <a:r>
              <a:rPr lang="zh-CN" altLang="zh-CN" sz="3600" b="1" dirty="0">
                <a:solidFill>
                  <a:srgbClr val="FF0000"/>
                </a:solidFill>
              </a:rPr>
              <a:t>可进入的</a:t>
            </a:r>
            <a:r>
              <a:rPr lang="en-US" altLang="zh-CN" sz="3600" b="1" dirty="0">
                <a:solidFill>
                  <a:srgbClr val="FF0000"/>
                </a:solidFill>
              </a:rPr>
              <a:t>,</a:t>
            </a:r>
            <a:r>
              <a:rPr lang="zh-CN" altLang="zh-CN" sz="3600" b="1" dirty="0">
                <a:solidFill>
                  <a:srgbClr val="FF0000"/>
                </a:solidFill>
              </a:rPr>
              <a:t>可使用的</a:t>
            </a:r>
            <a:r>
              <a:rPr lang="en-US" altLang="zh-CN" sz="3600" b="1" dirty="0"/>
              <a:t> equal access to</a:t>
            </a:r>
          </a:p>
          <a:p>
            <a:pPr fontAlgn="ctr"/>
            <a:r>
              <a:rPr lang="en-US" altLang="zh-CN" sz="3600" b="1" dirty="0"/>
              <a:t>attractive</a:t>
            </a:r>
            <a:r>
              <a:rPr lang="zh-CN" altLang="zh-CN" sz="3600" b="1" dirty="0"/>
              <a:t>吸引人的</a:t>
            </a:r>
            <a:r>
              <a:rPr lang="en-US" altLang="zh-CN" sz="3600" b="1" dirty="0"/>
              <a:t> effective</a:t>
            </a:r>
            <a:r>
              <a:rPr lang="zh-CN" altLang="zh-CN" sz="3600" b="1" dirty="0"/>
              <a:t>有效的</a:t>
            </a:r>
            <a:r>
              <a:rPr lang="en-US" altLang="zh-CN" sz="3600" b="1" dirty="0"/>
              <a:t> practical</a:t>
            </a:r>
            <a:r>
              <a:rPr lang="zh-CN" altLang="zh-CN" sz="3600" b="1" dirty="0"/>
              <a:t>实用的</a:t>
            </a:r>
            <a:endParaRPr lang="en-US" altLang="zh-CN" sz="3600" b="1" dirty="0"/>
          </a:p>
          <a:p>
            <a:pPr fontAlgn="ctr"/>
            <a:r>
              <a:rPr lang="en-US" altLang="zh-CN" sz="3600" b="1" dirty="0">
                <a:solidFill>
                  <a:srgbClr val="FF0000"/>
                </a:solidFill>
              </a:rPr>
              <a:t>51. temporary solutions</a:t>
            </a:r>
            <a:r>
              <a:rPr lang="zh-CN" altLang="en-US" sz="3600" b="1" dirty="0">
                <a:solidFill>
                  <a:srgbClr val="FF0000"/>
                </a:solidFill>
              </a:rPr>
              <a:t>临时解决方案</a:t>
            </a:r>
            <a:r>
              <a:rPr lang="en-US" altLang="zh-CN" sz="3600" b="1" dirty="0">
                <a:solidFill>
                  <a:srgbClr val="FF0000"/>
                </a:solidFill>
              </a:rPr>
              <a:t> </a:t>
            </a:r>
          </a:p>
          <a:p>
            <a:pPr fontAlgn="ctr"/>
            <a:r>
              <a:rPr lang="en-US" altLang="zh-CN" sz="3600" b="1" dirty="0">
                <a:solidFill>
                  <a:srgbClr val="FF0000"/>
                </a:solidFill>
              </a:rPr>
              <a:t>permanent</a:t>
            </a:r>
            <a:r>
              <a:rPr lang="zh-CN" altLang="zh-CN" sz="3600" b="1" dirty="0">
                <a:solidFill>
                  <a:srgbClr val="FF0000"/>
                </a:solidFill>
              </a:rPr>
              <a:t>永久的</a:t>
            </a:r>
            <a:r>
              <a:rPr lang="en-US" altLang="zh-CN" sz="3600" b="1" dirty="0">
                <a:solidFill>
                  <a:srgbClr val="FF0000"/>
                </a:solidFill>
              </a:rPr>
              <a:t>,</a:t>
            </a:r>
            <a:r>
              <a:rPr lang="zh-CN" altLang="zh-CN" sz="3600" b="1" dirty="0">
                <a:solidFill>
                  <a:srgbClr val="FF0000"/>
                </a:solidFill>
              </a:rPr>
              <a:t>长久的</a:t>
            </a:r>
            <a:r>
              <a:rPr lang="en-US" altLang="zh-CN" sz="3600" b="1" dirty="0">
                <a:solidFill>
                  <a:srgbClr val="FF0000"/>
                </a:solidFill>
              </a:rPr>
              <a:t> </a:t>
            </a:r>
            <a:r>
              <a:rPr lang="en-US" altLang="zh-CN" sz="3600" b="1" dirty="0"/>
              <a:t>convenient</a:t>
            </a:r>
            <a:r>
              <a:rPr lang="zh-CN" altLang="zh-CN" sz="3600" b="1" dirty="0"/>
              <a:t>方便的</a:t>
            </a:r>
            <a:r>
              <a:rPr lang="en-US" altLang="zh-CN" sz="3600" b="1" dirty="0"/>
              <a:t> formal</a:t>
            </a:r>
            <a:r>
              <a:rPr lang="zh-CN" altLang="zh-CN" sz="3600" b="1" dirty="0"/>
              <a:t>正式的</a:t>
            </a:r>
            <a:endParaRPr lang="zh-CN" altLang="en-US" sz="3600" b="1" dirty="0">
              <a:solidFill>
                <a:srgbClr val="FF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fontAlgn="ctr"/>
            <a:r>
              <a:rPr lang="en-US" altLang="zh-CN" sz="3200" b="1" dirty="0"/>
              <a:t>52. </a:t>
            </a:r>
            <a:r>
              <a:rPr lang="en-US" altLang="zh-CN" sz="3200" b="1" dirty="0">
                <a:solidFill>
                  <a:srgbClr val="FF0000"/>
                </a:solidFill>
              </a:rPr>
              <a:t>broadened</a:t>
            </a:r>
            <a:r>
              <a:rPr lang="zh-CN" altLang="zh-CN" sz="3200" b="1" dirty="0">
                <a:solidFill>
                  <a:srgbClr val="FF0000"/>
                </a:solidFill>
              </a:rPr>
              <a:t>扩大</a:t>
            </a:r>
            <a:r>
              <a:rPr lang="en-US" altLang="zh-CN" sz="3200" b="1" dirty="0">
                <a:solidFill>
                  <a:srgbClr val="FF0000"/>
                </a:solidFill>
              </a:rPr>
              <a:t>its scope</a:t>
            </a:r>
            <a:r>
              <a:rPr lang="zh-CN" altLang="en-US" sz="3200" b="1" dirty="0">
                <a:solidFill>
                  <a:srgbClr val="FF0000"/>
                </a:solidFill>
              </a:rPr>
              <a:t>范围</a:t>
            </a:r>
            <a:r>
              <a:rPr lang="en-US" altLang="zh-CN" sz="3200" b="1" dirty="0">
                <a:solidFill>
                  <a:srgbClr val="FF0000"/>
                </a:solidFill>
              </a:rPr>
              <a:t> </a:t>
            </a:r>
            <a:r>
              <a:rPr lang="en-US" altLang="zh-CN" sz="3200" b="1" dirty="0"/>
              <a:t>to all of Iceland</a:t>
            </a:r>
          </a:p>
          <a:p>
            <a:pPr fontAlgn="ctr"/>
            <a:r>
              <a:rPr lang="en-US" altLang="zh-CN" sz="3200" b="1" dirty="0"/>
              <a:t>hidden</a:t>
            </a:r>
            <a:r>
              <a:rPr lang="zh-CN" altLang="zh-CN" sz="3200" b="1" dirty="0"/>
              <a:t>隐藏</a:t>
            </a:r>
            <a:r>
              <a:rPr lang="en-US" altLang="zh-CN" sz="3200" b="1" dirty="0"/>
              <a:t> narrowed</a:t>
            </a:r>
            <a:r>
              <a:rPr lang="zh-CN" altLang="zh-CN" sz="3200" b="1" dirty="0"/>
              <a:t>缩小</a:t>
            </a:r>
            <a:r>
              <a:rPr lang="en-US" altLang="zh-CN" sz="3200" b="1" dirty="0"/>
              <a:t> deepened(</a:t>
            </a:r>
            <a:r>
              <a:rPr lang="zh-CN" altLang="zh-CN" sz="3200" b="1" dirty="0"/>
              <a:t>使</a:t>
            </a:r>
            <a:r>
              <a:rPr lang="en-US" altLang="zh-CN" sz="3200" b="1" dirty="0"/>
              <a:t>)</a:t>
            </a:r>
            <a:r>
              <a:rPr lang="zh-CN" altLang="zh-CN" sz="3200" b="1" dirty="0"/>
              <a:t>加深</a:t>
            </a:r>
            <a:endParaRPr lang="en-US" altLang="zh-CN" sz="3200" b="1" dirty="0"/>
          </a:p>
          <a:p>
            <a:pPr fontAlgn="ctr"/>
            <a:r>
              <a:rPr lang="en-US" altLang="zh-CN" sz="3200" b="1" dirty="0"/>
              <a:t>53. </a:t>
            </a:r>
            <a:r>
              <a:rPr lang="en-US" altLang="zh-CN" sz="3200" b="1" dirty="0">
                <a:solidFill>
                  <a:srgbClr val="FF0000"/>
                </a:solidFill>
              </a:rPr>
              <a:t>legend</a:t>
            </a:r>
            <a:r>
              <a:rPr lang="zh-CN" altLang="zh-CN" sz="3200" b="1" dirty="0">
                <a:solidFill>
                  <a:srgbClr val="FF0000"/>
                </a:solidFill>
              </a:rPr>
              <a:t>传奇</a:t>
            </a:r>
            <a:r>
              <a:rPr lang="en-US" altLang="zh-CN" sz="3200" b="1" dirty="0">
                <a:solidFill>
                  <a:srgbClr val="FF0000"/>
                </a:solidFill>
              </a:rPr>
              <a:t>(</a:t>
            </a:r>
            <a:r>
              <a:rPr lang="zh-CN" altLang="zh-CN" sz="3200" b="1" dirty="0">
                <a:solidFill>
                  <a:srgbClr val="FF0000"/>
                </a:solidFill>
              </a:rPr>
              <a:t>人物</a:t>
            </a:r>
            <a:r>
              <a:rPr lang="en-US" altLang="zh-CN" sz="3200" b="1" dirty="0">
                <a:solidFill>
                  <a:srgbClr val="FF0000"/>
                </a:solidFill>
              </a:rPr>
              <a:t>) master</a:t>
            </a:r>
            <a:r>
              <a:rPr lang="zh-CN" altLang="zh-CN" sz="3200" b="1" dirty="0">
                <a:solidFill>
                  <a:srgbClr val="FF0000"/>
                </a:solidFill>
              </a:rPr>
              <a:t>大师</a:t>
            </a:r>
            <a:r>
              <a:rPr lang="en-US" altLang="zh-CN" sz="3200" b="1" dirty="0">
                <a:solidFill>
                  <a:srgbClr val="FF0000"/>
                </a:solidFill>
              </a:rPr>
              <a:t> </a:t>
            </a:r>
          </a:p>
          <a:p>
            <a:pPr fontAlgn="ctr"/>
            <a:r>
              <a:rPr lang="en-US" altLang="zh-CN" sz="3200" b="1" dirty="0">
                <a:solidFill>
                  <a:srgbClr val="FF0000"/>
                </a:solidFill>
              </a:rPr>
              <a:t>motivate sb. to do </a:t>
            </a:r>
            <a:r>
              <a:rPr lang="en-US" altLang="zh-CN" sz="3200" b="1" dirty="0" err="1">
                <a:solidFill>
                  <a:srgbClr val="FF0000"/>
                </a:solidFill>
              </a:rPr>
              <a:t>sth</a:t>
            </a:r>
            <a:r>
              <a:rPr lang="en-US" altLang="zh-CN" sz="3200" b="1" dirty="0">
                <a:solidFill>
                  <a:srgbClr val="FF0000"/>
                </a:solidFill>
              </a:rPr>
              <a:t>.</a:t>
            </a:r>
            <a:r>
              <a:rPr lang="zh-CN" altLang="zh-CN" sz="3200" b="1" dirty="0">
                <a:solidFill>
                  <a:srgbClr val="FF0000"/>
                </a:solidFill>
              </a:rPr>
              <a:t>激励</a:t>
            </a:r>
            <a:r>
              <a:rPr lang="zh-CN" altLang="en-US" sz="3200" b="1" dirty="0">
                <a:solidFill>
                  <a:srgbClr val="FF0000"/>
                </a:solidFill>
              </a:rPr>
              <a:t>某人做某事</a:t>
            </a:r>
            <a:r>
              <a:rPr lang="en-US" altLang="zh-CN" sz="3200" b="1" dirty="0">
                <a:solidFill>
                  <a:srgbClr val="FF0000"/>
                </a:solidFill>
              </a:rPr>
              <a:t>definitely</a:t>
            </a:r>
            <a:r>
              <a:rPr lang="zh-CN" altLang="zh-CN" sz="3200" b="1" dirty="0">
                <a:solidFill>
                  <a:srgbClr val="FF0000"/>
                </a:solidFill>
              </a:rPr>
              <a:t>当然</a:t>
            </a:r>
            <a:r>
              <a:rPr lang="en-US" altLang="zh-CN" sz="3200" b="1" dirty="0">
                <a:solidFill>
                  <a:srgbClr val="FF0000"/>
                </a:solidFill>
              </a:rPr>
              <a:t>,</a:t>
            </a:r>
            <a:r>
              <a:rPr lang="zh-CN" altLang="zh-CN" sz="3200" b="1" dirty="0">
                <a:solidFill>
                  <a:srgbClr val="FF0000"/>
                </a:solidFill>
              </a:rPr>
              <a:t>确实</a:t>
            </a:r>
            <a:endParaRPr lang="en-US" altLang="zh-CN" sz="3200" b="1" dirty="0">
              <a:solidFill>
                <a:srgbClr val="FF0000"/>
              </a:solidFill>
            </a:endParaRPr>
          </a:p>
          <a:p>
            <a:pPr fontAlgn="ctr"/>
            <a:r>
              <a:rPr lang="en-US" altLang="zh-CN" sz="3200" b="1" dirty="0"/>
              <a:t>56. </a:t>
            </a:r>
            <a:r>
              <a:rPr lang="en-US" altLang="zh-CN" sz="3200" b="1" dirty="0">
                <a:solidFill>
                  <a:srgbClr val="FF0000"/>
                </a:solidFill>
              </a:rPr>
              <a:t>representing</a:t>
            </a:r>
            <a:r>
              <a:rPr lang="zh-CN" altLang="zh-CN" sz="2400" b="1" dirty="0"/>
              <a:t>与逻辑主语</a:t>
            </a:r>
            <a:r>
              <a:rPr lang="en-US" altLang="zh-CN" sz="2400" b="1" dirty="0"/>
              <a:t>Jamel</a:t>
            </a:r>
            <a:r>
              <a:rPr lang="zh-CN" altLang="zh-CN" sz="2400" b="1" dirty="0"/>
              <a:t>构成主动关系</a:t>
            </a:r>
            <a:endParaRPr lang="zh-CN" altLang="zh-CN" sz="3200" b="1" dirty="0"/>
          </a:p>
          <a:p>
            <a:pPr fontAlgn="ctr"/>
            <a:r>
              <a:rPr lang="en-US" altLang="zh-CN" sz="3200" b="1" dirty="0"/>
              <a:t>57. to be           </a:t>
            </a:r>
            <a:r>
              <a:rPr lang="en-US" altLang="zh-CN" sz="3200" b="1" dirty="0">
                <a:solidFill>
                  <a:srgbClr val="FF0000"/>
                </a:solidFill>
              </a:rPr>
              <a:t>appoint…to be</a:t>
            </a:r>
            <a:r>
              <a:rPr lang="zh-CN" altLang="en-US" sz="3200" b="1" dirty="0">
                <a:solidFill>
                  <a:srgbClr val="FF0000"/>
                </a:solidFill>
              </a:rPr>
              <a:t>任命</a:t>
            </a:r>
            <a:r>
              <a:rPr lang="en-US" altLang="zh-CN" sz="3200" b="1" dirty="0">
                <a:solidFill>
                  <a:srgbClr val="FF0000"/>
                </a:solidFill>
              </a:rPr>
              <a:t>/</a:t>
            </a:r>
            <a:r>
              <a:rPr lang="zh-CN" altLang="en-US" sz="3200" b="1" dirty="0">
                <a:solidFill>
                  <a:srgbClr val="FF0000"/>
                </a:solidFill>
              </a:rPr>
              <a:t>指定</a:t>
            </a:r>
            <a:r>
              <a:rPr lang="en-US" altLang="zh-CN" sz="3200" b="1" dirty="0">
                <a:solidFill>
                  <a:srgbClr val="FF0000"/>
                </a:solidFill>
              </a:rPr>
              <a:t>…</a:t>
            </a:r>
            <a:r>
              <a:rPr lang="zh-CN" altLang="en-US" sz="3200" b="1" dirty="0">
                <a:solidFill>
                  <a:srgbClr val="FF0000"/>
                </a:solidFill>
              </a:rPr>
              <a:t>为</a:t>
            </a:r>
            <a:r>
              <a:rPr lang="en-US" altLang="zh-CN" sz="3200" b="1" dirty="0">
                <a:solidFill>
                  <a:srgbClr val="FF0000"/>
                </a:solidFill>
              </a:rPr>
              <a:t>…;</a:t>
            </a:r>
            <a:r>
              <a:rPr lang="zh-CN" altLang="en-US" sz="3200" b="1" dirty="0">
                <a:solidFill>
                  <a:srgbClr val="FF0000"/>
                </a:solidFill>
              </a:rPr>
              <a:t>安排</a:t>
            </a:r>
            <a:r>
              <a:rPr lang="en-US" altLang="zh-CN" sz="3200" b="1" dirty="0">
                <a:solidFill>
                  <a:srgbClr val="FF0000"/>
                </a:solidFill>
              </a:rPr>
              <a:t>…</a:t>
            </a:r>
          </a:p>
          <a:p>
            <a:pPr fontAlgn="ctr"/>
            <a:r>
              <a:rPr lang="en-US" altLang="zh-CN" sz="3200" b="1" dirty="0"/>
              <a:t>58. which/that</a:t>
            </a:r>
            <a:r>
              <a:rPr lang="zh-CN" altLang="en-US" sz="3200" b="1" dirty="0"/>
              <a:t>定从</a:t>
            </a:r>
            <a:r>
              <a:rPr lang="en-US" altLang="zh-CN" sz="3200" b="1" dirty="0"/>
              <a:t>59. </a:t>
            </a:r>
            <a:r>
              <a:rPr lang="en-US" altLang="zh-CN" sz="3200" b="1" dirty="0">
                <a:solidFill>
                  <a:srgbClr val="FF0000"/>
                </a:solidFill>
              </a:rPr>
              <a:t>eagerly expected</a:t>
            </a:r>
            <a:r>
              <a:rPr lang="zh-CN" altLang="zh-CN" sz="2400" b="1" dirty="0">
                <a:solidFill>
                  <a:srgbClr val="FF0000"/>
                </a:solidFill>
              </a:rPr>
              <a:t>备受期待的</a:t>
            </a:r>
            <a:r>
              <a:rPr lang="en-US" altLang="zh-CN" sz="3200" b="1" dirty="0"/>
              <a:t>Festival</a:t>
            </a:r>
            <a:endParaRPr lang="zh-CN" altLang="zh-CN" sz="3200" b="1" dirty="0"/>
          </a:p>
          <a:p>
            <a:pPr fontAlgn="ctr"/>
            <a:r>
              <a:rPr lang="en-US" altLang="zh-CN" sz="3200" b="1" dirty="0"/>
              <a:t>60</a:t>
            </a:r>
            <a:r>
              <a:rPr lang="en-US" altLang="zh-CN" sz="3200" b="1" dirty="0">
                <a:solidFill>
                  <a:srgbClr val="FF0000"/>
                </a:solidFill>
              </a:rPr>
              <a:t>. the</a:t>
            </a:r>
            <a:r>
              <a:rPr lang="zh-CN" altLang="en-US" sz="3200" b="1" dirty="0">
                <a:solidFill>
                  <a:srgbClr val="FF0000"/>
                </a:solidFill>
              </a:rPr>
              <a:t>特指 </a:t>
            </a:r>
            <a:r>
              <a:rPr lang="en-US" altLang="zh-CN" sz="3200" b="1" dirty="0"/>
              <a:t>61.</a:t>
            </a:r>
            <a:r>
              <a:rPr lang="en-US" altLang="zh-CN" sz="3200" b="1" dirty="0">
                <a:solidFill>
                  <a:srgbClr val="FF0000"/>
                </a:solidFill>
              </a:rPr>
              <a:t>is referred to as</a:t>
            </a:r>
            <a:r>
              <a:rPr lang="zh-CN" altLang="en-US" sz="3200" b="1" dirty="0">
                <a:solidFill>
                  <a:srgbClr val="FF0000"/>
                </a:solidFill>
              </a:rPr>
              <a:t>被称为</a:t>
            </a:r>
            <a:r>
              <a:rPr lang="zh-CN" altLang="en-US" sz="3200" b="1" dirty="0"/>
              <a:t> </a:t>
            </a:r>
            <a:r>
              <a:rPr lang="en-US" altLang="zh-CN" sz="3200" b="1" dirty="0"/>
              <a:t>(refer to…as…)</a:t>
            </a:r>
            <a:endParaRPr lang="zh-CN" altLang="zh-CN" sz="3200" b="1" dirty="0"/>
          </a:p>
          <a:p>
            <a:pPr fontAlgn="ctr"/>
            <a:r>
              <a:rPr lang="en-US" altLang="zh-CN" sz="3200" b="1" dirty="0"/>
              <a:t>62. </a:t>
            </a:r>
            <a:r>
              <a:rPr lang="en-US" altLang="zh-CN" sz="3200" b="1" dirty="0">
                <a:solidFill>
                  <a:srgbClr val="FF0000"/>
                </a:solidFill>
              </a:rPr>
              <a:t>revival n.</a:t>
            </a:r>
            <a:r>
              <a:rPr lang="zh-CN" altLang="en-US" sz="3200" b="1" dirty="0">
                <a:solidFill>
                  <a:srgbClr val="FF0000"/>
                </a:solidFill>
              </a:rPr>
              <a:t>复苏→</a:t>
            </a:r>
            <a:r>
              <a:rPr lang="en-US" altLang="zh-CN" sz="3200" b="1" dirty="0">
                <a:solidFill>
                  <a:srgbClr val="FF0000"/>
                </a:solidFill>
              </a:rPr>
              <a:t>revive v.</a:t>
            </a:r>
            <a:r>
              <a:rPr lang="zh-CN" altLang="en-US" sz="3200" b="1" dirty="0"/>
              <a:t> </a:t>
            </a:r>
            <a:r>
              <a:rPr lang="en-US" altLang="zh-CN" sz="3200" b="1" dirty="0"/>
              <a:t>    </a:t>
            </a:r>
            <a:r>
              <a:rPr lang="en-US" altLang="zh-CN" sz="3200" b="1" dirty="0">
                <a:solidFill>
                  <a:srgbClr val="FF0000"/>
                </a:solidFill>
              </a:rPr>
              <a:t>survive v.</a:t>
            </a:r>
            <a:r>
              <a:rPr lang="zh-CN" altLang="en-US" sz="3200" b="1" dirty="0">
                <a:solidFill>
                  <a:srgbClr val="FF0000"/>
                </a:solidFill>
              </a:rPr>
              <a:t>→</a:t>
            </a:r>
            <a:r>
              <a:rPr lang="en-US" altLang="zh-CN" sz="3200" b="1" dirty="0">
                <a:solidFill>
                  <a:srgbClr val="FF0000"/>
                </a:solidFill>
              </a:rPr>
              <a:t>survival n.</a:t>
            </a:r>
            <a:r>
              <a:rPr lang="zh-CN" altLang="en-US" sz="3200" b="1" dirty="0">
                <a:solidFill>
                  <a:srgbClr val="FF0000"/>
                </a:solidFill>
              </a:rPr>
              <a:t>幸存</a:t>
            </a:r>
            <a:endParaRPr lang="zh-CN" altLang="zh-CN" sz="3200" b="1" dirty="0">
              <a:solidFill>
                <a:srgbClr val="FF0000"/>
              </a:solidFill>
            </a:endParaRPr>
          </a:p>
          <a:p>
            <a:pPr fontAlgn="ctr"/>
            <a:r>
              <a:rPr lang="en-US" altLang="zh-CN" sz="3200" b="1" dirty="0"/>
              <a:t>63. </a:t>
            </a:r>
            <a:r>
              <a:rPr lang="en-US" altLang="zh-CN" sz="3200" b="1" dirty="0">
                <a:solidFill>
                  <a:srgbClr val="FF0000"/>
                </a:solidFill>
              </a:rPr>
              <a:t>in memory of</a:t>
            </a:r>
            <a:r>
              <a:rPr lang="zh-CN" altLang="en-US" sz="3200" b="1" dirty="0">
                <a:solidFill>
                  <a:srgbClr val="FF0000"/>
                </a:solidFill>
              </a:rPr>
              <a:t>为了纪念</a:t>
            </a:r>
            <a:r>
              <a:rPr lang="en-US" altLang="zh-CN" sz="3200" b="1" dirty="0">
                <a:solidFill>
                  <a:srgbClr val="FF0000"/>
                </a:solidFill>
              </a:rPr>
              <a:t>   </a:t>
            </a:r>
          </a:p>
          <a:p>
            <a:pPr fontAlgn="ctr"/>
            <a:r>
              <a:rPr lang="en-US" altLang="zh-CN" sz="3200" b="1" dirty="0"/>
              <a:t>64.</a:t>
            </a:r>
            <a:r>
              <a:rPr lang="en-US" altLang="zh-CN" sz="3200" b="1" u="sng" dirty="0"/>
              <a:t>SVO</a:t>
            </a:r>
            <a:r>
              <a:rPr lang="en-US" altLang="zh-CN" sz="3200" b="1" dirty="0"/>
              <a:t>, the role of </a:t>
            </a:r>
            <a:r>
              <a:rPr lang="en-US" altLang="zh-CN" sz="3200" b="1" u="sng" dirty="0"/>
              <a:t>cultural events (</a:t>
            </a:r>
            <a:r>
              <a:rPr lang="en-US" altLang="zh-CN" sz="3200" b="1" u="sng" dirty="0">
                <a:solidFill>
                  <a:srgbClr val="FF0000"/>
                </a:solidFill>
              </a:rPr>
              <a:t>stressed</a:t>
            </a:r>
            <a:r>
              <a:rPr lang="zh-CN" altLang="en-US" sz="3200" b="1" u="sng" dirty="0">
                <a:solidFill>
                  <a:srgbClr val="FF0000"/>
                </a:solidFill>
              </a:rPr>
              <a:t>被动</a:t>
            </a:r>
            <a:r>
              <a:rPr lang="en-US" altLang="zh-CN" sz="3200" b="1" dirty="0"/>
              <a:t>…)   </a:t>
            </a:r>
          </a:p>
          <a:p>
            <a:pPr fontAlgn="ctr"/>
            <a:r>
              <a:rPr lang="en-US" altLang="zh-CN" sz="3200" b="1" dirty="0"/>
              <a:t>65.The festival </a:t>
            </a:r>
            <a:r>
              <a:rPr lang="en-US" altLang="zh-CN" sz="3200" b="1" u="sng" dirty="0"/>
              <a:t>has become</a:t>
            </a:r>
            <a:r>
              <a:rPr lang="en-US" altLang="zh-CN" sz="3200" b="1" dirty="0"/>
              <a:t>…</a:t>
            </a:r>
            <a:r>
              <a:rPr lang="en-US" altLang="zh-CN" sz="3200" b="1" u="sng" dirty="0"/>
              <a:t>and</a:t>
            </a:r>
            <a:r>
              <a:rPr lang="en-US" altLang="zh-CN" sz="3200" b="1" dirty="0"/>
              <a:t> </a:t>
            </a:r>
            <a:r>
              <a:rPr lang="en-US" altLang="zh-CN" sz="3200" b="1" u="sng" dirty="0">
                <a:solidFill>
                  <a:srgbClr val="FF0000"/>
                </a:solidFill>
              </a:rPr>
              <a:t>has received </a:t>
            </a:r>
            <a:r>
              <a:rPr lang="en-US" altLang="zh-CN" sz="3200" b="1" dirty="0"/>
              <a:t>positive feedback</a:t>
            </a:r>
            <a:endParaRPr lang="zh-CN" altLang="zh-CN" sz="3200" b="1"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77500" lnSpcReduction="20000"/>
          </a:bodyPr>
          <a:lstStyle/>
          <a:p>
            <a:pPr algn="ctr" fontAlgn="ctr"/>
            <a:r>
              <a:rPr lang="en-US" altLang="zh-CN" sz="3600" b="1" u="sng" dirty="0"/>
              <a:t>Volunteer Librarian Recruitment</a:t>
            </a:r>
            <a:endParaRPr lang="zh-CN" altLang="zh-CN" sz="3600" dirty="0"/>
          </a:p>
          <a:p>
            <a:pPr fontAlgn="ctr"/>
            <a:r>
              <a:rPr lang="en-US" altLang="zh-CN" sz="4200" b="1" dirty="0"/>
              <a:t>The school library is now </a:t>
            </a:r>
            <a:r>
              <a:rPr lang="en-US" altLang="zh-CN" sz="4200" b="1" u="sng" dirty="0">
                <a:solidFill>
                  <a:srgbClr val="FF0000"/>
                </a:solidFill>
              </a:rPr>
              <a:t>exploring volunteer librarians</a:t>
            </a:r>
            <a:r>
              <a:rPr lang="en-US" altLang="zh-CN" sz="4200" b="1" dirty="0"/>
              <a:t>. The ideal candidates should have </a:t>
            </a:r>
            <a:r>
              <a:rPr lang="en-US" altLang="zh-CN" sz="4200" b="1" dirty="0">
                <a:solidFill>
                  <a:srgbClr val="FF0000"/>
                </a:solidFill>
              </a:rPr>
              <a:t>a strong sense of responsibility</a:t>
            </a:r>
            <a:r>
              <a:rPr lang="en-US" altLang="zh-CN" sz="4200" b="1" dirty="0"/>
              <a:t>, be detail-centered and </a:t>
            </a:r>
            <a:r>
              <a:rPr lang="en-US" altLang="zh-CN" sz="4200" b="1" dirty="0">
                <a:solidFill>
                  <a:srgbClr val="FF0000"/>
                </a:solidFill>
              </a:rPr>
              <a:t>possess good communication skills</a:t>
            </a:r>
            <a:r>
              <a:rPr lang="en-US" altLang="zh-CN" sz="4200" b="1" dirty="0"/>
              <a:t>. </a:t>
            </a:r>
            <a:r>
              <a:rPr lang="en-US" altLang="zh-CN" sz="4200" b="1" u="sng" dirty="0">
                <a:solidFill>
                  <a:srgbClr val="FF0000"/>
                </a:solidFill>
              </a:rPr>
              <a:t>A love for literature and knowledge is a must</a:t>
            </a:r>
            <a:r>
              <a:rPr lang="en-US" altLang="zh-CN" sz="4200" b="1" dirty="0"/>
              <a:t>. </a:t>
            </a:r>
            <a:r>
              <a:rPr lang="en-US" altLang="zh-CN" sz="4200" b="1" dirty="0">
                <a:solidFill>
                  <a:srgbClr val="FF0000"/>
                </a:solidFill>
              </a:rPr>
              <a:t>Basic computer operation skills </a:t>
            </a:r>
            <a:r>
              <a:rPr lang="en-US" altLang="zh-CN" sz="4200" b="1" dirty="0"/>
              <a:t>and </a:t>
            </a:r>
            <a:r>
              <a:rPr lang="en-US" altLang="zh-CN" sz="4200" b="1" dirty="0">
                <a:solidFill>
                  <a:srgbClr val="FF0000"/>
                </a:solidFill>
              </a:rPr>
              <a:t>a certain level of English proficiency will be an advantage.</a:t>
            </a:r>
            <a:endParaRPr lang="zh-CN" altLang="zh-CN" sz="4200" b="1" dirty="0">
              <a:solidFill>
                <a:srgbClr val="FF0000"/>
              </a:solidFill>
            </a:endParaRPr>
          </a:p>
          <a:p>
            <a:pPr fontAlgn="ctr"/>
            <a:r>
              <a:rPr lang="en-US" altLang="zh-CN" sz="4200" b="1" dirty="0"/>
              <a:t>Volunteers will </a:t>
            </a:r>
            <a:r>
              <a:rPr lang="en-US" altLang="zh-CN" sz="4200" b="1" dirty="0">
                <a:solidFill>
                  <a:srgbClr val="FF0000"/>
                </a:solidFill>
              </a:rPr>
              <a:t>be rewarded with free participation in </a:t>
            </a:r>
            <a:r>
              <a:rPr lang="en-US" altLang="zh-CN" sz="4200" b="1" dirty="0"/>
              <a:t>library workshops and lectures, </a:t>
            </a:r>
            <a:r>
              <a:rPr lang="en-US" altLang="zh-CN" sz="4200" b="1" dirty="0">
                <a:solidFill>
                  <a:srgbClr val="FF0000"/>
                </a:solidFill>
              </a:rPr>
              <a:t>extended borrowing periods</a:t>
            </a:r>
            <a:r>
              <a:rPr lang="en-US" altLang="zh-CN" sz="4200" b="1" dirty="0"/>
              <a:t>, and a cozy reading corner reserved only for them. </a:t>
            </a:r>
            <a:r>
              <a:rPr lang="en-US" altLang="zh-CN" sz="4200" b="1" dirty="0">
                <a:solidFill>
                  <a:srgbClr val="FF0000"/>
                </a:solidFill>
              </a:rPr>
              <a:t>Moreover</a:t>
            </a:r>
            <a:r>
              <a:rPr lang="en-US" altLang="zh-CN" sz="4200" b="1" dirty="0"/>
              <a:t>, they can build up community service hours and </a:t>
            </a:r>
            <a:r>
              <a:rPr lang="en-US" altLang="zh-CN" sz="4200" b="1" dirty="0">
                <a:solidFill>
                  <a:srgbClr val="FF0000"/>
                </a:solidFill>
              </a:rPr>
              <a:t>get a certificate of honor.</a:t>
            </a:r>
            <a:endParaRPr lang="zh-CN" altLang="zh-CN" sz="4200" b="1" dirty="0">
              <a:solidFill>
                <a:srgbClr val="FF0000"/>
              </a:solidFill>
            </a:endParaRPr>
          </a:p>
          <a:p>
            <a:pPr fontAlgn="ctr"/>
            <a:r>
              <a:rPr lang="en-US" altLang="zh-CN" sz="4200" b="1" dirty="0"/>
              <a:t>To apply, </a:t>
            </a:r>
            <a:r>
              <a:rPr lang="en-US" altLang="zh-CN" sz="4200" b="1" dirty="0">
                <a:solidFill>
                  <a:srgbClr val="FF0000"/>
                </a:solidFill>
              </a:rPr>
              <a:t>please send your resume and a short self-introduction to </a:t>
            </a:r>
            <a:r>
              <a:rPr lang="en-US" altLang="zh-CN" sz="4200" b="1" i="1" u="sng" dirty="0"/>
              <a:t>the students union @ school.com </a:t>
            </a:r>
            <a:r>
              <a:rPr lang="en-US" altLang="zh-CN" sz="4200" b="1" dirty="0">
                <a:solidFill>
                  <a:srgbClr val="FF0000"/>
                </a:solidFill>
              </a:rPr>
              <a:t>by November 20th</a:t>
            </a:r>
            <a:r>
              <a:rPr lang="en-US" altLang="zh-CN" sz="4200" b="1" dirty="0"/>
              <a:t>. We look forward to your joining and growing with us in the world of books.</a:t>
            </a:r>
            <a:endParaRPr lang="zh-CN" altLang="zh-CN" sz="4200"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ctr"/>
            <a:r>
              <a:rPr lang="zh-CN" altLang="en-US" sz="3600" b="1" dirty="0"/>
              <a:t>招募志愿图书馆员 </a:t>
            </a:r>
            <a:endParaRPr lang="en-US" altLang="zh-CN" sz="3600" b="1" dirty="0"/>
          </a:p>
          <a:p>
            <a:r>
              <a:rPr lang="zh-CN" altLang="en-US" sz="3600" b="1" dirty="0"/>
              <a:t>学校图书馆正在招募志愿图书馆员。理想的候选人应具有强烈的责任感，注重细节，并具有良好的沟通能力。对文学和知识的热爱是必须的。具备基本的计算机操作技能和一定的英语水平将优先考虑。</a:t>
            </a:r>
            <a:endParaRPr lang="en-US" altLang="zh-CN" sz="3600" b="1" dirty="0"/>
          </a:p>
          <a:p>
            <a:r>
              <a:rPr lang="zh-CN" altLang="en-US" sz="3600" b="1" dirty="0"/>
              <a:t>志愿者将获得免费参加图书馆研讨会和讲座的奖励，延长借阅期限，并为他们保留一个舒适的阅读角。此外，他们还可以增加社区服务时间，并获得荣誉证书。</a:t>
            </a:r>
            <a:endParaRPr lang="en-US" altLang="zh-CN" sz="3600" b="1" dirty="0"/>
          </a:p>
          <a:p>
            <a:r>
              <a:rPr lang="zh-CN" altLang="en-US" sz="3600" b="1" dirty="0"/>
              <a:t>申请者请于</a:t>
            </a:r>
            <a:r>
              <a:rPr lang="en-US" altLang="zh-CN" sz="3600" b="1" dirty="0"/>
              <a:t>11</a:t>
            </a:r>
            <a:r>
              <a:rPr lang="zh-CN" altLang="en-US" sz="3600" b="1" dirty="0"/>
              <a:t>月</a:t>
            </a:r>
            <a:r>
              <a:rPr lang="en-US" altLang="zh-CN" sz="3600" b="1" dirty="0"/>
              <a:t>20</a:t>
            </a:r>
            <a:r>
              <a:rPr lang="zh-CN" altLang="en-US" sz="3600" b="1" dirty="0"/>
              <a:t>日前将简历和简短的自我介绍发送至</a:t>
            </a:r>
            <a:r>
              <a:rPr lang="en-US" altLang="zh-CN" sz="3600" b="1" i="1" u="sng" dirty="0"/>
              <a:t>the students union@school.com</a:t>
            </a:r>
            <a:r>
              <a:rPr lang="zh-CN" altLang="en-US" sz="3600" b="1" dirty="0"/>
              <a:t>。我们期待您的加入，与我们一起在书的世界里成长。</a:t>
            </a:r>
            <a:endParaRPr lang="zh-CN" altLang="en-US" sz="4400" b="1" dirty="0">
              <a:solidFill>
                <a:srgbClr val="FF0000"/>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fontAlgn="ctr"/>
            <a:r>
              <a:rPr lang="en-US" altLang="zh-CN" b="1" u="sng" dirty="0">
                <a:solidFill>
                  <a:srgbClr val="FF0000"/>
                </a:solidFill>
              </a:rPr>
              <a:t>The day of the concert arrived, and I woke up with a mixture of excitement and nervousness. </a:t>
            </a:r>
            <a:r>
              <a:rPr lang="en-US" altLang="zh-CN" b="1" dirty="0"/>
              <a:t>As I sat in the dressing room, waiting for my turn to perform, I </a:t>
            </a:r>
            <a:r>
              <a:rPr lang="en-US" altLang="zh-CN" b="1" u="sng" dirty="0">
                <a:solidFill>
                  <a:srgbClr val="FF0000"/>
                </a:solidFill>
              </a:rPr>
              <a:t>couldn’t shake off the feeling of uncertainty </a:t>
            </a:r>
            <a:r>
              <a:rPr lang="en-US" altLang="zh-CN" b="1" dirty="0"/>
              <a:t>that </a:t>
            </a:r>
            <a:r>
              <a:rPr lang="en-US" altLang="zh-CN" b="1" u="sng" dirty="0">
                <a:solidFill>
                  <a:srgbClr val="FF0000"/>
                </a:solidFill>
              </a:rPr>
              <a:t>lingered in the back of my mind</a:t>
            </a:r>
            <a:r>
              <a:rPr lang="en-US" altLang="zh-CN" b="1" dirty="0"/>
              <a:t>. What if I made a mistake and embarrassed myself in front of everyone? As the previous performer finished and </a:t>
            </a:r>
            <a:r>
              <a:rPr lang="en-US" altLang="zh-CN" b="1" u="sng" dirty="0">
                <a:solidFill>
                  <a:srgbClr val="FF0000"/>
                </a:solidFill>
              </a:rPr>
              <a:t>the sound of applause echoed through the concert hall</a:t>
            </a:r>
            <a:r>
              <a:rPr lang="en-US" altLang="zh-CN" b="1" dirty="0"/>
              <a:t>, Mrs. Johnson </a:t>
            </a:r>
            <a:r>
              <a:rPr lang="en-US" altLang="zh-CN" b="1" u="sng" dirty="0">
                <a:solidFill>
                  <a:srgbClr val="FF0000"/>
                </a:solidFill>
              </a:rPr>
              <a:t>approached me with an encouraging smile</a:t>
            </a:r>
            <a:r>
              <a:rPr lang="en-US" altLang="zh-CN" b="1" dirty="0"/>
              <a:t>. “You’ve worked hard for this moment,” she said softly. “Just go out there and let the music speak for you.” </a:t>
            </a:r>
            <a:r>
              <a:rPr lang="en-US" altLang="zh-CN" b="1" u="sng" dirty="0">
                <a:solidFill>
                  <a:srgbClr val="FF0000"/>
                </a:solidFill>
              </a:rPr>
              <a:t>Her words resonated with me, and I took a deep breath, stepping onto the stage.</a:t>
            </a:r>
            <a:endParaRPr lang="zh-CN" altLang="zh-CN" b="1" u="sng" dirty="0">
              <a:solidFill>
                <a:srgbClr val="FF0000"/>
              </a:solidFill>
            </a:endParaRPr>
          </a:p>
          <a:p>
            <a:pPr fontAlgn="ctr"/>
            <a:r>
              <a:rPr lang="en-US" altLang="zh-CN" b="1" u="sng" dirty="0">
                <a:solidFill>
                  <a:srgbClr val="FF0000"/>
                </a:solidFill>
              </a:rPr>
              <a:t>To my surprise, the music flowed smoothly from my fingertips</a:t>
            </a:r>
            <a:r>
              <a:rPr lang="en-US" altLang="zh-CN" b="1" dirty="0"/>
              <a:t>. </a:t>
            </a:r>
            <a:r>
              <a:rPr lang="en-US" altLang="zh-CN" b="1" u="sng" dirty="0">
                <a:solidFill>
                  <a:srgbClr val="FF0000"/>
                </a:solidFill>
              </a:rPr>
              <a:t>As </a:t>
            </a:r>
            <a:r>
              <a:rPr lang="en-US" altLang="zh-CN" b="1" dirty="0"/>
              <a:t>I played the first few notes, </a:t>
            </a:r>
            <a:r>
              <a:rPr lang="en-US" altLang="zh-CN" b="1" u="sng" dirty="0">
                <a:solidFill>
                  <a:srgbClr val="FF0000"/>
                </a:solidFill>
              </a:rPr>
              <a:t>a sense of confidence began to wash over me. </a:t>
            </a:r>
            <a:r>
              <a:rPr lang="en-US" altLang="zh-CN" b="1" dirty="0"/>
              <a:t>It was as if I had </a:t>
            </a:r>
            <a:r>
              <a:rPr lang="en-US" altLang="zh-CN" b="1" u="sng" dirty="0">
                <a:solidFill>
                  <a:srgbClr val="FF0000"/>
                </a:solidFill>
              </a:rPr>
              <a:t>unlocked a hidden talent within myself </a:t>
            </a:r>
            <a:r>
              <a:rPr lang="en-US" altLang="zh-CN" b="1" dirty="0"/>
              <a:t>that I never knew existed. The melody danced through the air, and every keystroke became an expression of my emotions. I felt a connection between the piano and myself, as if we were communicating through the language of music. Mrs. Johnson watched from the side with a proud smile. In that moment, I realized that </a:t>
            </a:r>
            <a:r>
              <a:rPr lang="en-US" altLang="zh-CN" b="1" u="sng" dirty="0">
                <a:solidFill>
                  <a:srgbClr val="FF0000"/>
                </a:solidFill>
              </a:rPr>
              <a:t>talent is not something innate, but something that can be nurtured and discovered through passion and perseverance</a:t>
            </a:r>
            <a:r>
              <a:rPr lang="en-US" altLang="zh-CN" b="1" dirty="0"/>
              <a:t>. </a:t>
            </a:r>
            <a:endParaRPr lang="zh-CN" altLang="zh-CN" b="1"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zh-CN" altLang="en-US" sz="3600" b="1" dirty="0"/>
              <a:t>音乐会的日子到了，我醒来时既兴奋又紧张。当我坐在更衣室里，等待轮到我表演时，我无法摆脱萦绕在我脑海深处的不确定感。如果我犯了一个错误，在大家面前出丑怎么办？当上一位表演者结束表演，掌声响彻音乐厅时，约翰逊夫人带着鼓励的微笑走近我。“你为了这一刻辛苦了，”她温柔地说。“只要走出去，让音乐为你说话。”她的话引起了我的共鸣，我深吸了一口气，走上舞台。</a:t>
            </a:r>
            <a:endParaRPr lang="en-US" altLang="zh-CN" sz="3600" b="1" dirty="0"/>
          </a:p>
          <a:p>
            <a:r>
              <a:rPr lang="zh-CN" altLang="en-US" sz="3600" b="1" dirty="0"/>
              <a:t>令我惊讶的是，音乐从我的指尖流畅地流淌而出。当我演奏最初的几个音符时，一种自信的感觉开始席卷我。就好像我打开了一种隐藏在我内心的天赋，我从来不知道它的存在。旋律在空中飞舞，每一个按键都成为我情感的表达。我觉得钢琴和我之间有一种联系，好像我们通过音乐的语言交流。约翰逊夫人带着骄傲的微笑在一旁看着。 在那一刻，我意识到天赋不是与生俱来的，而是可以通过激情和毅力来培养和发现的。</a:t>
            </a:r>
            <a:endParaRPr lang="zh-CN" altLang="en-US" sz="4400" b="1" dirty="0">
              <a:solidFill>
                <a:srgbClr val="FF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ctr"/>
            <a:r>
              <a:rPr lang="zh-CN" altLang="en-US" sz="3600" b="1" dirty="0"/>
              <a:t>非谓语动词练习</a:t>
            </a:r>
            <a:r>
              <a:rPr lang="en-US" altLang="zh-CN" sz="3600" b="1" dirty="0"/>
              <a:t> 51.listening 52.Having been told /Told </a:t>
            </a:r>
          </a:p>
          <a:p>
            <a:pPr fontAlgn="ctr"/>
            <a:r>
              <a:rPr lang="en-US" altLang="zh-CN" sz="3600" b="1" dirty="0"/>
              <a:t>53.(to) follow 54.working 55.involved 56.equi</a:t>
            </a:r>
            <a:r>
              <a:rPr lang="en-US" altLang="zh-CN" sz="3600" b="1" u="sng" dirty="0">
                <a:solidFill>
                  <a:srgbClr val="FF0000"/>
                </a:solidFill>
                <a:highlight>
                  <a:srgbClr val="FFFF00"/>
                </a:highlight>
              </a:rPr>
              <a:t>pp</a:t>
            </a:r>
            <a:r>
              <a:rPr lang="en-US" altLang="zh-CN" sz="3600" b="1" dirty="0"/>
              <a:t>ed</a:t>
            </a:r>
            <a:endParaRPr lang="zh-CN" altLang="zh-CN" sz="3600" b="1" dirty="0"/>
          </a:p>
          <a:p>
            <a:pPr fontAlgn="ctr"/>
            <a:r>
              <a:rPr lang="en-US" altLang="zh-CN" sz="3600" b="1" dirty="0"/>
              <a:t>57.</a:t>
            </a:r>
            <a:r>
              <a:rPr lang="en-US" altLang="zh-CN" sz="3600" b="1" dirty="0">
                <a:solidFill>
                  <a:srgbClr val="FF0000"/>
                </a:solidFill>
                <a:highlight>
                  <a:srgbClr val="FFFF00"/>
                </a:highlight>
              </a:rPr>
              <a:t>consisting of </a:t>
            </a:r>
            <a:r>
              <a:rPr lang="zh-CN" altLang="en-US" sz="3600" b="1" dirty="0"/>
              <a:t>无进行无被动的词组变非谓语</a:t>
            </a:r>
            <a:r>
              <a:rPr lang="zh-CN" altLang="en-US" sz="3600" b="1" dirty="0">
                <a:solidFill>
                  <a:srgbClr val="FF0000"/>
                </a:solidFill>
                <a:highlight>
                  <a:srgbClr val="FFFF00"/>
                </a:highlight>
              </a:rPr>
              <a:t>只用</a:t>
            </a:r>
            <a:r>
              <a:rPr lang="en-US" altLang="zh-CN" sz="3600" b="1" dirty="0">
                <a:solidFill>
                  <a:srgbClr val="FF0000"/>
                </a:solidFill>
                <a:highlight>
                  <a:srgbClr val="FFFF00"/>
                </a:highlight>
              </a:rPr>
              <a:t>V-</a:t>
            </a:r>
            <a:r>
              <a:rPr lang="en-US" altLang="zh-CN" sz="3600" b="1" dirty="0" err="1">
                <a:solidFill>
                  <a:srgbClr val="FF0000"/>
                </a:solidFill>
                <a:highlight>
                  <a:srgbClr val="FFFF00"/>
                </a:highlight>
              </a:rPr>
              <a:t>ing</a:t>
            </a:r>
            <a:r>
              <a:rPr lang="en-US" altLang="zh-CN" sz="3600" b="1" dirty="0">
                <a:solidFill>
                  <a:srgbClr val="FF0000"/>
                </a:solidFill>
                <a:highlight>
                  <a:srgbClr val="FFFF00"/>
                </a:highlight>
              </a:rPr>
              <a:t>.</a:t>
            </a:r>
            <a:r>
              <a:rPr lang="en-US" altLang="zh-CN" sz="3600" b="1" dirty="0"/>
              <a:t> </a:t>
            </a:r>
            <a:r>
              <a:rPr lang="zh-CN" altLang="en-US" sz="3600" b="1" dirty="0"/>
              <a:t>类似有</a:t>
            </a:r>
            <a:r>
              <a:rPr lang="en-US" altLang="zh-CN" sz="3600" b="1" dirty="0">
                <a:solidFill>
                  <a:srgbClr val="FF0000"/>
                </a:solidFill>
                <a:highlight>
                  <a:srgbClr val="FFFF00"/>
                </a:highlight>
              </a:rPr>
              <a:t>belonging to; dating back to</a:t>
            </a:r>
            <a:endParaRPr lang="zh-CN" altLang="zh-CN" sz="3600" b="1" dirty="0">
              <a:solidFill>
                <a:srgbClr val="FF0000"/>
              </a:solidFill>
              <a:highlight>
                <a:srgbClr val="FFFF00"/>
              </a:highlight>
            </a:endParaRPr>
          </a:p>
          <a:p>
            <a:pPr fontAlgn="ctr"/>
            <a:r>
              <a:rPr lang="en-US" altLang="zh-CN" sz="3600" b="1" dirty="0"/>
              <a:t>58.to join        </a:t>
            </a:r>
            <a:r>
              <a:rPr lang="en-US" altLang="zh-CN" sz="3600" b="1" dirty="0">
                <a:solidFill>
                  <a:srgbClr val="FF0000"/>
                </a:solidFill>
                <a:highlight>
                  <a:srgbClr val="FFFF00"/>
                </a:highlight>
              </a:rPr>
              <a:t>persuade sb. to do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r>
              <a:rPr lang="zh-CN" altLang="en-US" sz="3600" b="1" dirty="0">
                <a:solidFill>
                  <a:srgbClr val="FF0000"/>
                </a:solidFill>
                <a:highlight>
                  <a:srgbClr val="FFFF00"/>
                </a:highlight>
              </a:rPr>
              <a:t>说服某人做某事</a:t>
            </a:r>
            <a:r>
              <a:rPr lang="en-US" altLang="zh-CN" sz="3600" b="1" dirty="0">
                <a:solidFill>
                  <a:srgbClr val="FF0000"/>
                </a:solidFill>
                <a:highlight>
                  <a:srgbClr val="FFFF00"/>
                </a:highlight>
              </a:rPr>
              <a:t>=persuade sb. into doing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endParaRPr lang="zh-CN" altLang="zh-CN" sz="3600" b="1" dirty="0">
              <a:solidFill>
                <a:srgbClr val="FF0000"/>
              </a:solidFill>
              <a:highlight>
                <a:srgbClr val="FFFF00"/>
              </a:highlight>
            </a:endParaRPr>
          </a:p>
          <a:p>
            <a:pPr fontAlgn="ctr"/>
            <a:r>
              <a:rPr lang="en-US" altLang="zh-CN" sz="3600" b="1" dirty="0"/>
              <a:t>59.wasting   </a:t>
            </a:r>
            <a:r>
              <a:rPr lang="en-US" altLang="zh-CN" sz="3600" b="1" dirty="0">
                <a:solidFill>
                  <a:srgbClr val="FF0000"/>
                </a:solidFill>
                <a:highlight>
                  <a:srgbClr val="FFFF00"/>
                </a:highlight>
              </a:rPr>
              <a:t>justify doing</a:t>
            </a:r>
            <a:r>
              <a:rPr lang="zh-CN" altLang="zh-CN" sz="3600" b="1" dirty="0">
                <a:solidFill>
                  <a:srgbClr val="FF0000"/>
                </a:solidFill>
                <a:highlight>
                  <a:srgbClr val="FFFF00"/>
                </a:highlight>
              </a:rPr>
              <a:t> 为</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辩护</a:t>
            </a:r>
            <a:r>
              <a:rPr lang="en-US" altLang="zh-CN" sz="3600" b="1" dirty="0"/>
              <a:t> </a:t>
            </a:r>
          </a:p>
          <a:p>
            <a:pPr fontAlgn="ctr"/>
            <a:r>
              <a:rPr lang="en-US" altLang="zh-CN" sz="3600" b="1" dirty="0"/>
              <a:t>60.folded     </a:t>
            </a:r>
            <a:r>
              <a:rPr lang="en-US" altLang="zh-CN" sz="3600" b="1" dirty="0">
                <a:solidFill>
                  <a:srgbClr val="FF0000"/>
                </a:solidFill>
                <a:highlight>
                  <a:srgbClr val="FFFF00"/>
                </a:highlight>
              </a:rPr>
              <a:t>with his arms folded</a:t>
            </a:r>
            <a:r>
              <a:rPr lang="zh-CN" altLang="en-US" sz="3600" b="1" dirty="0">
                <a:solidFill>
                  <a:srgbClr val="FF0000"/>
                </a:solidFill>
                <a:highlight>
                  <a:srgbClr val="FFFF00"/>
                </a:highlight>
              </a:rPr>
              <a:t>双臂交叉</a:t>
            </a:r>
            <a:endParaRPr lang="zh-CN" altLang="zh-CN" sz="3600" b="1" dirty="0">
              <a:solidFill>
                <a:srgbClr val="FF0000"/>
              </a:solidFill>
              <a:highlight>
                <a:srgbClr val="FFFF00"/>
              </a:highlight>
            </a:endParaRPr>
          </a:p>
          <a:p>
            <a:pPr fontAlgn="ctr"/>
            <a:r>
              <a:rPr lang="en-US" altLang="zh-CN" sz="3600" b="1" dirty="0"/>
              <a:t>61.having     </a:t>
            </a:r>
            <a:r>
              <a:rPr lang="en-US" altLang="zh-CN" sz="3600" b="1" dirty="0">
                <a:solidFill>
                  <a:srgbClr val="FF0000"/>
                </a:solidFill>
                <a:highlight>
                  <a:srgbClr val="FFFF00"/>
                </a:highlight>
              </a:rPr>
              <a:t>appreciate doing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感激做某事</a:t>
            </a:r>
          </a:p>
          <a:p>
            <a:pPr fontAlgn="ctr"/>
            <a:r>
              <a:rPr lang="en-US" altLang="zh-CN" sz="3600" b="1" dirty="0"/>
              <a:t>62.going      </a:t>
            </a:r>
            <a:r>
              <a:rPr lang="en-US" altLang="zh-CN" sz="3600" b="1" dirty="0">
                <a:solidFill>
                  <a:srgbClr val="FF0000"/>
                </a:solidFill>
                <a:highlight>
                  <a:srgbClr val="FFFF00"/>
                </a:highlight>
              </a:rPr>
              <a:t>keep sb. doing</a:t>
            </a:r>
            <a:r>
              <a:rPr lang="zh-CN" altLang="zh-CN" sz="3600" b="1" dirty="0">
                <a:solidFill>
                  <a:srgbClr val="FF0000"/>
                </a:solidFill>
                <a:highlight>
                  <a:srgbClr val="FFFF00"/>
                </a:highlight>
              </a:rPr>
              <a:t>使某人持续进行某动作</a:t>
            </a:r>
          </a:p>
          <a:p>
            <a:pPr fontAlgn="ctr"/>
            <a:r>
              <a:rPr lang="en-US" altLang="zh-CN" sz="3600" b="1" dirty="0"/>
              <a:t>63.Stuffed</a:t>
            </a:r>
            <a:r>
              <a:rPr lang="zh-CN" altLang="en-US" sz="3600" b="1" dirty="0"/>
              <a:t>被</a:t>
            </a:r>
            <a:r>
              <a:rPr lang="zh-CN" altLang="zh-CN" sz="3600" b="1" dirty="0"/>
              <a:t>填满</a:t>
            </a:r>
            <a:r>
              <a:rPr lang="en-US" altLang="zh-CN" sz="3600" b="1" dirty="0"/>
              <a:t> 64.wearing </a:t>
            </a:r>
            <a:r>
              <a:rPr lang="zh-CN" altLang="zh-CN" sz="3600" b="1" dirty="0"/>
              <a:t>大胡子男人戴着无边帽</a:t>
            </a:r>
            <a:endParaRPr lang="zh-CN" altLang="en-US" sz="3600" b="1" dirty="0">
              <a:solidFill>
                <a:srgbClr val="FF0000"/>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20000"/>
          </a:bodyPr>
          <a:lstStyle/>
          <a:p>
            <a:pPr fontAlgn="ctr"/>
            <a:r>
              <a:rPr lang="en-US" altLang="zh-CN" sz="3600" b="1" dirty="0"/>
              <a:t>65.Once </a:t>
            </a:r>
            <a:r>
              <a:rPr lang="en-US" altLang="zh-CN" sz="3600" b="1" dirty="0">
                <a:solidFill>
                  <a:srgbClr val="FF0000"/>
                </a:solidFill>
                <a:highlight>
                  <a:srgbClr val="FFFF00"/>
                </a:highlight>
              </a:rPr>
              <a:t>(he is) bitten</a:t>
            </a:r>
            <a:r>
              <a:rPr lang="en-US" altLang="zh-CN" sz="3600" b="1" dirty="0"/>
              <a:t> by a snake, he is scared all his life at the mere sight of a rope. </a:t>
            </a:r>
            <a:r>
              <a:rPr lang="zh-CN" altLang="en-US" sz="3600" b="1" dirty="0">
                <a:solidFill>
                  <a:srgbClr val="FF0000"/>
                </a:solidFill>
                <a:highlight>
                  <a:srgbClr val="FFFF00"/>
                </a:highlight>
              </a:rPr>
              <a:t>状从的省略    </a:t>
            </a:r>
            <a:r>
              <a:rPr lang="en-US" altLang="zh-CN" sz="3600" b="1" dirty="0">
                <a:solidFill>
                  <a:srgbClr val="FF0000"/>
                </a:solidFill>
                <a:highlight>
                  <a:srgbClr val="FFFF00"/>
                </a:highlight>
              </a:rPr>
              <a:t>bite(bit, bitten)</a:t>
            </a:r>
          </a:p>
          <a:p>
            <a:pPr fontAlgn="ctr"/>
            <a:r>
              <a:rPr lang="en-US" altLang="zh-CN" sz="3600" b="1" dirty="0"/>
              <a:t> </a:t>
            </a:r>
            <a:r>
              <a:rPr lang="en-US" altLang="zh-CN" sz="3600" b="1" dirty="0">
                <a:solidFill>
                  <a:srgbClr val="FF0000"/>
                </a:solidFill>
                <a:highlight>
                  <a:srgbClr val="FFFF00"/>
                </a:highlight>
              </a:rPr>
              <a:t>Once bitten, twice shy.</a:t>
            </a:r>
            <a:r>
              <a:rPr lang="zh-CN" altLang="en-US" sz="3600" b="1" dirty="0"/>
              <a:t>一朝被蛇咬</a:t>
            </a:r>
            <a:r>
              <a:rPr lang="en-US" altLang="zh-CN" sz="3600" b="1" dirty="0"/>
              <a:t>,</a:t>
            </a:r>
            <a:r>
              <a:rPr lang="zh-CN" altLang="en-US" sz="3600" b="1" dirty="0"/>
              <a:t>十年怕井绳</a:t>
            </a:r>
            <a:r>
              <a:rPr lang="en-US" altLang="zh-CN" sz="3600" b="1" dirty="0"/>
              <a:t>. </a:t>
            </a:r>
            <a:endParaRPr lang="zh-CN" altLang="zh-CN" sz="3600" b="1" dirty="0"/>
          </a:p>
          <a:p>
            <a:pPr fontAlgn="ctr"/>
            <a:r>
              <a:rPr lang="en-US" altLang="zh-CN" sz="3600" b="1" dirty="0"/>
              <a:t>66.singing style“</a:t>
            </a:r>
            <a:r>
              <a:rPr lang="zh-CN" altLang="zh-CN" sz="3600" b="1" dirty="0"/>
              <a:t>演唱风格</a:t>
            </a:r>
            <a:r>
              <a:rPr lang="en-US" altLang="zh-CN" sz="3600" b="1" dirty="0"/>
              <a:t>” 67.Knowing</a:t>
            </a:r>
            <a:endParaRPr lang="zh-CN" altLang="zh-CN" sz="3600" b="1" dirty="0"/>
          </a:p>
          <a:p>
            <a:pPr fontAlgn="ctr"/>
            <a:r>
              <a:rPr lang="en-US" altLang="zh-CN" sz="3600" b="1" dirty="0"/>
              <a:t>68.Many people’s hobbies nowadays are </a:t>
            </a:r>
            <a:r>
              <a:rPr lang="en-US" altLang="zh-CN" sz="3600" b="1" u="sng" dirty="0"/>
              <a:t>         </a:t>
            </a:r>
            <a:r>
              <a:rPr lang="en-US" altLang="zh-CN" sz="3600" b="1" dirty="0"/>
              <a:t> (collect) things, </a:t>
            </a:r>
            <a:r>
              <a:rPr lang="en-US" altLang="zh-CN" sz="3600" b="1" dirty="0" err="1"/>
              <a:t>e.g</a:t>
            </a:r>
            <a:r>
              <a:rPr lang="en-US" altLang="zh-CN" sz="3600" b="1" dirty="0"/>
              <a:t>, stamps, postcards or antiques. </a:t>
            </a:r>
          </a:p>
          <a:p>
            <a:pPr fontAlgn="ctr"/>
            <a:r>
              <a:rPr lang="en-US" altLang="zh-CN" sz="3600" b="1" dirty="0">
                <a:solidFill>
                  <a:srgbClr val="FF0000"/>
                </a:solidFill>
              </a:rPr>
              <a:t>collecting</a:t>
            </a:r>
            <a:r>
              <a:rPr lang="zh-CN" altLang="zh-CN" sz="3600" b="1" dirty="0"/>
              <a:t>作表语，说明主语</a:t>
            </a:r>
            <a:r>
              <a:rPr lang="en-US" altLang="zh-CN" sz="3600" b="1" dirty="0"/>
              <a:t>hobbies</a:t>
            </a:r>
            <a:r>
              <a:rPr lang="zh-CN" altLang="zh-CN" sz="3600" b="1" dirty="0"/>
              <a:t>的具体内容</a:t>
            </a:r>
            <a:endParaRPr lang="en-US" altLang="zh-CN" sz="3600" dirty="0"/>
          </a:p>
          <a:p>
            <a:r>
              <a:rPr lang="zh-CN" altLang="en-US" sz="3600" dirty="0"/>
              <a:t>动名词（</a:t>
            </a:r>
            <a:r>
              <a:rPr lang="en-US" altLang="zh-CN" sz="3600" dirty="0"/>
              <a:t>-</a:t>
            </a:r>
            <a:r>
              <a:rPr lang="en-US" altLang="zh-CN" sz="3600" dirty="0" err="1"/>
              <a:t>ing</a:t>
            </a:r>
            <a:r>
              <a:rPr lang="zh-CN" altLang="en-US" sz="3600" dirty="0"/>
              <a:t>分词）：表示</a:t>
            </a:r>
            <a:r>
              <a:rPr lang="zh-CN" altLang="en-US" sz="3600" b="1" dirty="0">
                <a:solidFill>
                  <a:srgbClr val="FF0000"/>
                </a:solidFill>
              </a:rPr>
              <a:t>一般的、抽象的、笼统的概念</a:t>
            </a:r>
            <a:r>
              <a:rPr lang="zh-CN" altLang="en-US" sz="3600" b="1" dirty="0"/>
              <a:t>，</a:t>
            </a:r>
            <a:r>
              <a:rPr lang="zh-CN" altLang="en-US" sz="3600" dirty="0"/>
              <a:t>或者一个</a:t>
            </a:r>
            <a:r>
              <a:rPr lang="zh-CN" altLang="en-US" sz="3600" b="1" dirty="0"/>
              <a:t>已经完成的动作</a:t>
            </a:r>
            <a:r>
              <a:rPr lang="zh-CN" altLang="en-US" sz="3600" dirty="0"/>
              <a:t>，强调的是</a:t>
            </a:r>
            <a:r>
              <a:rPr lang="zh-CN" altLang="en-US" sz="3600" b="1" dirty="0"/>
              <a:t>事情本身</a:t>
            </a:r>
            <a:endParaRPr lang="zh-CN" altLang="en-US" sz="3600" dirty="0"/>
          </a:p>
          <a:p>
            <a:r>
              <a:rPr lang="zh-CN" altLang="en-US" sz="3600" b="1" dirty="0">
                <a:solidFill>
                  <a:srgbClr val="FF0000"/>
                </a:solidFill>
              </a:rPr>
              <a:t>动词不定式</a:t>
            </a:r>
            <a:r>
              <a:rPr lang="zh-CN" altLang="en-US" sz="3600" dirty="0"/>
              <a:t>：表示</a:t>
            </a:r>
            <a:r>
              <a:rPr lang="zh-CN" altLang="en-US" sz="3600" b="1" dirty="0">
                <a:solidFill>
                  <a:srgbClr val="FF0000"/>
                </a:solidFill>
              </a:rPr>
              <a:t>具体的某一次行为</a:t>
            </a:r>
            <a:r>
              <a:rPr lang="en-US" altLang="zh-CN" sz="3600" b="1" dirty="0"/>
              <a:t>,</a:t>
            </a:r>
            <a:r>
              <a:rPr lang="zh-CN" altLang="en-US" sz="3600" dirty="0"/>
              <a:t>或者</a:t>
            </a:r>
            <a:r>
              <a:rPr lang="zh-CN" altLang="en-US" sz="3600" b="1" dirty="0"/>
              <a:t>将来的动作</a:t>
            </a:r>
            <a:r>
              <a:rPr lang="en-US" altLang="zh-CN" sz="3600" b="1" dirty="0"/>
              <a:t>,</a:t>
            </a:r>
            <a:r>
              <a:rPr lang="zh-CN" altLang="en-US" sz="3600" dirty="0"/>
              <a:t>强调的是</a:t>
            </a:r>
            <a:r>
              <a:rPr lang="zh-CN" altLang="en-US" sz="3600" b="1" dirty="0"/>
              <a:t>动作本身</a:t>
            </a:r>
            <a:endParaRPr lang="zh-CN" altLang="en-US" sz="3600" dirty="0"/>
          </a:p>
          <a:p>
            <a:r>
              <a:rPr lang="en-US" altLang="zh-CN" sz="3600" dirty="0"/>
              <a:t>Her job is </a:t>
            </a:r>
            <a:r>
              <a:rPr lang="en-US" altLang="zh-CN" sz="3600" b="1" dirty="0"/>
              <a:t>taking</a:t>
            </a:r>
            <a:r>
              <a:rPr lang="en-US" altLang="zh-CN" sz="3600" dirty="0"/>
              <a:t> care of children.</a:t>
            </a:r>
            <a:br>
              <a:rPr lang="en-US" altLang="zh-CN" sz="3600" dirty="0"/>
            </a:br>
            <a:r>
              <a:rPr lang="zh-CN" altLang="en-US" sz="3600" dirty="0"/>
              <a:t>她的工作是照料小孩。（泛指概念）</a:t>
            </a:r>
            <a:br>
              <a:rPr lang="zh-CN" altLang="en-US" sz="3600" dirty="0"/>
            </a:br>
            <a:r>
              <a:rPr lang="en-US" altLang="zh-CN" sz="3600" dirty="0"/>
              <a:t>Her job is </a:t>
            </a:r>
            <a:r>
              <a:rPr lang="en-US" altLang="zh-CN" sz="3600" b="1" dirty="0"/>
              <a:t>to take</a:t>
            </a:r>
            <a:r>
              <a:rPr lang="en-US" altLang="zh-CN" sz="3600" dirty="0"/>
              <a:t> care of the children.</a:t>
            </a:r>
            <a:br>
              <a:rPr lang="en-US" altLang="zh-CN" sz="3600" dirty="0"/>
            </a:br>
            <a:r>
              <a:rPr lang="zh-CN" altLang="en-US" sz="3600" dirty="0"/>
              <a:t>她的工作是照料这些小孩。（特指本次的工作）</a:t>
            </a:r>
          </a:p>
          <a:p>
            <a:endParaRPr lang="zh-CN" altLang="en-US" sz="3600" b="1" dirty="0">
              <a:solidFill>
                <a:srgbClr val="FF0000"/>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ctr"/>
            <a:r>
              <a:rPr lang="en-US" altLang="zh-CN" sz="3600" b="1" dirty="0"/>
              <a:t>69.to avoid  70.to let   </a:t>
            </a:r>
            <a:r>
              <a:rPr lang="en-US" altLang="zh-CN" sz="3600" b="1" dirty="0">
                <a:solidFill>
                  <a:srgbClr val="FF0000"/>
                </a:solidFill>
                <a:highlight>
                  <a:srgbClr val="FFFF00"/>
                </a:highlight>
              </a:rPr>
              <a:t>seek to do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 试图做某事</a:t>
            </a:r>
          </a:p>
          <a:p>
            <a:pPr fontAlgn="ctr"/>
            <a:r>
              <a:rPr lang="en-US" altLang="zh-CN" sz="3600" b="1" dirty="0"/>
              <a:t>71.designed</a:t>
            </a:r>
            <a:r>
              <a:rPr lang="zh-CN" altLang="zh-CN" sz="3600" b="1" dirty="0"/>
              <a:t>作后置定语</a:t>
            </a:r>
            <a:r>
              <a:rPr lang="en-US" altLang="zh-CN" sz="3600" b="1" dirty="0"/>
              <a:t>,design</a:t>
            </a:r>
            <a:r>
              <a:rPr lang="zh-CN" altLang="zh-CN" sz="3600" b="1" dirty="0"/>
              <a:t>与</a:t>
            </a:r>
            <a:r>
              <a:rPr lang="en-US" altLang="zh-CN" sz="3600" b="1" dirty="0"/>
              <a:t>exercises</a:t>
            </a:r>
            <a:r>
              <a:rPr lang="zh-CN" altLang="zh-CN" sz="3600" b="1" dirty="0"/>
              <a:t>是被动关系</a:t>
            </a:r>
          </a:p>
          <a:p>
            <a:pPr fontAlgn="ctr"/>
            <a:r>
              <a:rPr lang="en-US" altLang="zh-CN" sz="3600" b="1" dirty="0"/>
              <a:t>72.to be rescued</a:t>
            </a:r>
            <a:r>
              <a:rPr lang="zh-CN" altLang="zh-CN" sz="3600" b="1" dirty="0"/>
              <a:t>恳求</a:t>
            </a:r>
            <a:r>
              <a:rPr lang="zh-CN" altLang="zh-CN" sz="3600" b="1" dirty="0">
                <a:solidFill>
                  <a:srgbClr val="FF0000"/>
                </a:solidFill>
              </a:rPr>
              <a:t>被救</a:t>
            </a:r>
            <a:r>
              <a:rPr lang="en-US" altLang="zh-CN" sz="3600" b="1" dirty="0">
                <a:solidFill>
                  <a:srgbClr val="FF0000"/>
                </a:solidFill>
              </a:rPr>
              <a:t>   </a:t>
            </a:r>
            <a:r>
              <a:rPr lang="en-US" altLang="zh-CN" sz="3600" b="1" dirty="0">
                <a:solidFill>
                  <a:srgbClr val="FF0000"/>
                </a:solidFill>
                <a:highlight>
                  <a:srgbClr val="FFFF00"/>
                </a:highlight>
              </a:rPr>
              <a:t>plead to do</a:t>
            </a:r>
            <a:r>
              <a:rPr lang="zh-CN" altLang="zh-CN" sz="3600" b="1" dirty="0">
                <a:solidFill>
                  <a:srgbClr val="FF0000"/>
                </a:solidFill>
                <a:highlight>
                  <a:srgbClr val="FFFF00"/>
                </a:highlight>
              </a:rPr>
              <a:t>恳求做某事</a:t>
            </a:r>
            <a:r>
              <a:rPr lang="en-US" altLang="zh-CN" sz="3600" b="1" dirty="0">
                <a:solidFill>
                  <a:srgbClr val="FF0000"/>
                </a:solidFill>
                <a:highlight>
                  <a:srgbClr val="FFFF00"/>
                </a:highlight>
              </a:rPr>
              <a:t> </a:t>
            </a:r>
          </a:p>
          <a:p>
            <a:pPr fontAlgn="ctr"/>
            <a:r>
              <a:rPr lang="en-US" altLang="zh-CN" sz="3600" b="1" dirty="0"/>
              <a:t>73.intended     </a:t>
            </a:r>
            <a:r>
              <a:rPr lang="en-US" altLang="zh-CN" sz="3600" b="1" dirty="0">
                <a:solidFill>
                  <a:srgbClr val="FF0000"/>
                </a:solidFill>
                <a:highlight>
                  <a:srgbClr val="FFFF00"/>
                </a:highlight>
              </a:rPr>
              <a:t>be intended for sb</a:t>
            </a:r>
            <a:r>
              <a:rPr lang="zh-CN" altLang="zh-CN" sz="3600" b="1" dirty="0">
                <a:solidFill>
                  <a:srgbClr val="FF0000"/>
                </a:solidFill>
                <a:highlight>
                  <a:srgbClr val="FFFF00"/>
                </a:highlight>
              </a:rPr>
              <a:t>为某人而提供或设计的</a:t>
            </a:r>
          </a:p>
          <a:p>
            <a:pPr fontAlgn="ctr"/>
            <a:r>
              <a:rPr lang="en-US" altLang="zh-CN" sz="3600" b="1" dirty="0"/>
              <a:t>74.playing        </a:t>
            </a:r>
            <a:r>
              <a:rPr lang="en-US" altLang="zh-CN" sz="3600" b="1" dirty="0">
                <a:solidFill>
                  <a:srgbClr val="FF0000"/>
                </a:solidFill>
                <a:highlight>
                  <a:srgbClr val="FFFF00"/>
                </a:highlight>
              </a:rPr>
              <a:t>have sb. doing </a:t>
            </a:r>
            <a:r>
              <a:rPr lang="en-US" altLang="zh-CN" sz="3600" b="1" dirty="0" err="1">
                <a:solidFill>
                  <a:srgbClr val="FF0000"/>
                </a:solidFill>
                <a:highlight>
                  <a:srgbClr val="FFFF00"/>
                </a:highlight>
              </a:rPr>
              <a:t>sth</a:t>
            </a:r>
            <a:r>
              <a:rPr lang="zh-CN" altLang="zh-CN" sz="3600" b="1" dirty="0">
                <a:solidFill>
                  <a:srgbClr val="FF0000"/>
                </a:solidFill>
                <a:highlight>
                  <a:srgbClr val="FFFF00"/>
                </a:highlight>
              </a:rPr>
              <a:t>让某人一直做某事</a:t>
            </a:r>
          </a:p>
          <a:p>
            <a:pPr fontAlgn="ctr"/>
            <a:r>
              <a:rPr lang="en-US" altLang="zh-CN" sz="3600" b="1" dirty="0"/>
              <a:t>75.removed  76.standing</a:t>
            </a:r>
            <a:endParaRPr lang="zh-CN" altLang="zh-CN" sz="3600" b="1" dirty="0"/>
          </a:p>
          <a:p>
            <a:pPr fontAlgn="ctr"/>
            <a:r>
              <a:rPr lang="en-US" altLang="zh-CN" sz="3600" b="1" dirty="0"/>
              <a:t>77.to promote  </a:t>
            </a:r>
            <a:r>
              <a:rPr lang="en-US" altLang="zh-CN" sz="3600" b="1" dirty="0">
                <a:solidFill>
                  <a:srgbClr val="FF0000"/>
                </a:solidFill>
                <a:highlight>
                  <a:srgbClr val="FFFF00"/>
                </a:highlight>
              </a:rPr>
              <a:t>aim to do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旨在</a:t>
            </a:r>
            <a:r>
              <a:rPr lang="zh-CN" altLang="en-US" sz="3600" b="1" dirty="0">
                <a:solidFill>
                  <a:srgbClr val="FF0000"/>
                </a:solidFill>
                <a:highlight>
                  <a:srgbClr val="FFFF00"/>
                </a:highlight>
              </a:rPr>
              <a:t>做某事</a:t>
            </a:r>
            <a:endParaRPr lang="en-US" altLang="zh-CN" sz="3600" b="1" dirty="0">
              <a:solidFill>
                <a:srgbClr val="FF0000"/>
              </a:solidFill>
              <a:highlight>
                <a:srgbClr val="FFFF00"/>
              </a:highlight>
            </a:endParaRPr>
          </a:p>
          <a:p>
            <a:pPr fontAlgn="ctr"/>
            <a:r>
              <a:rPr lang="en-US" altLang="zh-CN" sz="3600" b="1" dirty="0"/>
              <a:t>78.using            </a:t>
            </a:r>
            <a:r>
              <a:rPr lang="en-US" altLang="zh-CN" sz="3600" b="1" dirty="0">
                <a:solidFill>
                  <a:srgbClr val="FF0000"/>
                </a:solidFill>
                <a:highlight>
                  <a:srgbClr val="FFFF00"/>
                </a:highlight>
              </a:rPr>
              <a:t>oppose doing </a:t>
            </a:r>
            <a:r>
              <a:rPr lang="en-US" altLang="zh-CN" sz="3600" b="1" dirty="0" err="1">
                <a:solidFill>
                  <a:srgbClr val="FF0000"/>
                </a:solidFill>
                <a:highlight>
                  <a:srgbClr val="FFFF00"/>
                </a:highlight>
              </a:rPr>
              <a:t>sth</a:t>
            </a:r>
            <a:r>
              <a:rPr lang="zh-CN" altLang="zh-CN" sz="3600" b="1" dirty="0">
                <a:solidFill>
                  <a:srgbClr val="FF0000"/>
                </a:solidFill>
                <a:highlight>
                  <a:srgbClr val="FFFF00"/>
                </a:highlight>
              </a:rPr>
              <a:t>反对做某事</a:t>
            </a:r>
          </a:p>
          <a:p>
            <a:pPr fontAlgn="ctr"/>
            <a:r>
              <a:rPr lang="en-US" altLang="zh-CN" sz="3600" b="1" dirty="0"/>
              <a:t>79.</a:t>
            </a:r>
            <a:r>
              <a:rPr lang="en-US" altLang="zh-CN" sz="3600" b="1" dirty="0">
                <a:solidFill>
                  <a:srgbClr val="FF0000"/>
                </a:solidFill>
              </a:rPr>
              <a:t>justifying</a:t>
            </a:r>
            <a:r>
              <a:rPr lang="en-US" altLang="zh-CN" sz="3600" b="1" dirty="0"/>
              <a:t>  </a:t>
            </a:r>
            <a:r>
              <a:rPr lang="zh-CN" altLang="zh-CN" sz="3600" b="1" dirty="0"/>
              <a:t>动名词作表语多表示抽象性的或习惯性的动作，一般说明主语的内容</a:t>
            </a:r>
            <a:r>
              <a:rPr lang="en-US" altLang="zh-CN" sz="3600" b="1" dirty="0"/>
              <a:t>justifying the company’s new policy to the public</a:t>
            </a:r>
            <a:r>
              <a:rPr lang="zh-CN" altLang="zh-CN" sz="3600" b="1" dirty="0"/>
              <a:t>是她的工作</a:t>
            </a:r>
            <a:endParaRPr lang="en-US" altLang="zh-CN" sz="3600" b="1" dirty="0"/>
          </a:p>
          <a:p>
            <a:endParaRPr lang="zh-CN" altLang="en-US" sz="3600" b="1" dirty="0">
              <a:solidFill>
                <a:srgbClr val="FF00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fontAlgn="ctr"/>
            <a:r>
              <a:rPr lang="en-US" altLang="zh-CN" sz="3600" b="1" dirty="0"/>
              <a:t>80.competing   </a:t>
            </a:r>
            <a:r>
              <a:rPr lang="en-US" altLang="zh-CN" sz="3600" b="1" dirty="0">
                <a:solidFill>
                  <a:srgbClr val="FF0000"/>
                </a:solidFill>
                <a:highlight>
                  <a:srgbClr val="FFFF00"/>
                </a:highlight>
              </a:rPr>
              <a:t>find sb. doing </a:t>
            </a:r>
            <a:r>
              <a:rPr lang="en-US" altLang="zh-CN" sz="3600" b="1" dirty="0" err="1">
                <a:solidFill>
                  <a:srgbClr val="FF0000"/>
                </a:solidFill>
                <a:highlight>
                  <a:srgbClr val="FFFF00"/>
                </a:highlight>
              </a:rPr>
              <a:t>sth</a:t>
            </a:r>
            <a:r>
              <a:rPr lang="zh-CN" altLang="zh-CN" sz="3600" b="1" dirty="0">
                <a:solidFill>
                  <a:srgbClr val="FF0000"/>
                </a:solidFill>
                <a:highlight>
                  <a:srgbClr val="FFFF00"/>
                </a:highlight>
              </a:rPr>
              <a:t>发现某人正在做某事</a:t>
            </a:r>
            <a:endParaRPr lang="en-US" altLang="zh-CN" sz="3600" b="1" dirty="0">
              <a:solidFill>
                <a:srgbClr val="FF0000"/>
              </a:solidFill>
              <a:highlight>
                <a:srgbClr val="FFFF00"/>
              </a:highlight>
            </a:endParaRPr>
          </a:p>
          <a:p>
            <a:pPr fontAlgn="ctr"/>
            <a:r>
              <a:rPr lang="en-US" altLang="zh-CN" sz="3600" b="1" dirty="0"/>
              <a:t>81.</a:t>
            </a:r>
            <a:r>
              <a:rPr lang="en-US" altLang="zh-CN" sz="3600" b="1" u="sng" dirty="0">
                <a:solidFill>
                  <a:srgbClr val="FF0000"/>
                </a:solidFill>
                <a:highlight>
                  <a:srgbClr val="FFFF00"/>
                </a:highlight>
              </a:rPr>
              <a:t>Bathed in </a:t>
            </a:r>
            <a:r>
              <a:rPr lang="en-US" altLang="zh-CN" sz="3600" b="1" dirty="0"/>
              <a:t>the first light of dawn, </a:t>
            </a:r>
            <a:r>
              <a:rPr lang="zh-CN" altLang="zh-CN" sz="3600" b="1" dirty="0">
                <a:solidFill>
                  <a:srgbClr val="FF0000"/>
                </a:solidFill>
                <a:highlight>
                  <a:srgbClr val="FFFF00"/>
                </a:highlight>
              </a:rPr>
              <a:t>沐浴在</a:t>
            </a:r>
            <a:r>
              <a:rPr lang="zh-CN" altLang="zh-CN" sz="3600" b="1" dirty="0"/>
              <a:t>黎明的第一缕阳光</a:t>
            </a:r>
            <a:r>
              <a:rPr lang="zh-CN" altLang="zh-CN" sz="3600" b="1" dirty="0">
                <a:solidFill>
                  <a:srgbClr val="FF0000"/>
                </a:solidFill>
                <a:highlight>
                  <a:srgbClr val="FFFF00"/>
                </a:highlight>
              </a:rPr>
              <a:t>中</a:t>
            </a:r>
            <a:endParaRPr lang="en-US" altLang="zh-CN" sz="3600" b="1" dirty="0">
              <a:solidFill>
                <a:srgbClr val="FF0000"/>
              </a:solidFill>
              <a:highlight>
                <a:srgbClr val="FFFF00"/>
              </a:highlight>
            </a:endParaRPr>
          </a:p>
          <a:p>
            <a:pPr fontAlgn="ctr"/>
            <a:r>
              <a:rPr lang="en-US" altLang="zh-CN" sz="3600" b="1" dirty="0"/>
              <a:t>82.</a:t>
            </a:r>
            <a:r>
              <a:rPr lang="en-US" altLang="zh-CN" sz="3600" b="1" dirty="0">
                <a:solidFill>
                  <a:srgbClr val="FF0000"/>
                </a:solidFill>
              </a:rPr>
              <a:t>Having enrolled </a:t>
            </a:r>
            <a:r>
              <a:rPr lang="en-US" altLang="zh-CN" sz="3600" b="1" dirty="0"/>
              <a:t>in the community volunteer program, they now spend... </a:t>
            </a:r>
            <a:r>
              <a:rPr lang="zh-CN" altLang="zh-CN" sz="3600" b="1" dirty="0"/>
              <a:t>他们报名参加了社区志愿者项目</a:t>
            </a:r>
            <a:endParaRPr lang="en-US" altLang="zh-CN" sz="3600" b="1" dirty="0"/>
          </a:p>
          <a:p>
            <a:pPr fontAlgn="ctr"/>
            <a:r>
              <a:rPr lang="en-US" altLang="zh-CN" sz="3600" b="1" dirty="0"/>
              <a:t>83.Having</a:t>
            </a:r>
          </a:p>
          <a:p>
            <a:pPr fontAlgn="ctr"/>
            <a:r>
              <a:rPr lang="en-US" altLang="zh-CN" sz="3600" b="1" dirty="0"/>
              <a:t>84.</a:t>
            </a:r>
            <a:r>
              <a:rPr lang="en-US" altLang="zh-CN" sz="3600" b="1" u="sng" dirty="0">
                <a:solidFill>
                  <a:srgbClr val="FF0000"/>
                </a:solidFill>
              </a:rPr>
              <a:t>With</a:t>
            </a:r>
            <a:r>
              <a:rPr lang="en-US" altLang="zh-CN" sz="3600" b="1" dirty="0"/>
              <a:t> so many online posts </a:t>
            </a:r>
            <a:r>
              <a:rPr lang="en-US" altLang="zh-CN" sz="3600" b="1" u="sng" dirty="0">
                <a:solidFill>
                  <a:srgbClr val="FF0000"/>
                </a:solidFill>
                <a:highlight>
                  <a:srgbClr val="FFFF00"/>
                </a:highlight>
              </a:rPr>
              <a:t>featuring</a:t>
            </a:r>
            <a:r>
              <a:rPr lang="en-US" altLang="zh-CN" sz="3600" b="1" dirty="0"/>
              <a:t> the same places, it’s easy to feel like you’re missing out. </a:t>
            </a:r>
            <a:r>
              <a:rPr lang="zh-CN" altLang="en-US" sz="3600" b="1" dirty="0">
                <a:solidFill>
                  <a:srgbClr val="FF0000"/>
                </a:solidFill>
                <a:highlight>
                  <a:srgbClr val="FFFF00"/>
                </a:highlight>
              </a:rPr>
              <a:t>以</a:t>
            </a:r>
            <a:r>
              <a:rPr lang="en-US" altLang="zh-CN" sz="3600" b="1" dirty="0">
                <a:solidFill>
                  <a:srgbClr val="FF0000"/>
                </a:solidFill>
                <a:highlight>
                  <a:srgbClr val="FFFF00"/>
                </a:highlight>
              </a:rPr>
              <a:t>…</a:t>
            </a:r>
            <a:r>
              <a:rPr lang="zh-CN" altLang="en-US" sz="3600" b="1" dirty="0">
                <a:solidFill>
                  <a:srgbClr val="FF0000"/>
                </a:solidFill>
                <a:highlight>
                  <a:srgbClr val="FFFF00"/>
                </a:highlight>
              </a:rPr>
              <a:t>为特色</a:t>
            </a:r>
            <a:endParaRPr lang="zh-CN" altLang="zh-CN" sz="3600" b="1" dirty="0">
              <a:solidFill>
                <a:srgbClr val="FF0000"/>
              </a:solidFill>
              <a:highlight>
                <a:srgbClr val="FFFF00"/>
              </a:highlight>
            </a:endParaRPr>
          </a:p>
          <a:p>
            <a:pPr fontAlgn="ctr"/>
            <a:r>
              <a:rPr lang="en-US" altLang="zh-CN" sz="3600" b="1" dirty="0"/>
              <a:t>85.</a:t>
            </a:r>
            <a:r>
              <a:rPr lang="en-US" altLang="zh-CN" sz="3600" b="1" dirty="0">
                <a:solidFill>
                  <a:srgbClr val="FF0000"/>
                </a:solidFill>
              </a:rPr>
              <a:t>ste</a:t>
            </a:r>
            <a:r>
              <a:rPr lang="en-US" altLang="zh-CN" sz="3600" b="1" u="sng" dirty="0">
                <a:solidFill>
                  <a:srgbClr val="FF0000"/>
                </a:solidFill>
                <a:highlight>
                  <a:srgbClr val="FFFF00"/>
                </a:highlight>
              </a:rPr>
              <a:t>pp</a:t>
            </a:r>
            <a:r>
              <a:rPr lang="en-US" altLang="zh-CN" sz="3600" b="1" dirty="0">
                <a:solidFill>
                  <a:srgbClr val="FF0000"/>
                </a:solidFill>
              </a:rPr>
              <a:t>ing</a:t>
            </a:r>
            <a:r>
              <a:rPr lang="en-US" altLang="zh-CN" sz="3600" b="1" dirty="0"/>
              <a:t>   </a:t>
            </a:r>
            <a:r>
              <a:rPr lang="en-US" altLang="zh-CN" sz="3600" b="1" dirty="0">
                <a:solidFill>
                  <a:srgbClr val="FF0000"/>
                </a:solidFill>
                <a:highlight>
                  <a:srgbClr val="FFFF00"/>
                </a:highlight>
              </a:rPr>
              <a:t>mean doing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意味着做某事</a:t>
            </a:r>
            <a:endParaRPr lang="en-US" altLang="zh-CN" sz="3600" b="1" dirty="0">
              <a:solidFill>
                <a:srgbClr val="FF0000"/>
              </a:solidFill>
              <a:highlight>
                <a:srgbClr val="FFFF00"/>
              </a:highlight>
            </a:endParaRPr>
          </a:p>
          <a:p>
            <a:pPr fontAlgn="ctr"/>
            <a:r>
              <a:rPr lang="en-US" altLang="zh-CN" sz="3600" b="1" dirty="0"/>
              <a:t>86.to make    </a:t>
            </a:r>
            <a:r>
              <a:rPr lang="en-US" altLang="zh-CN" sz="3600" b="1" dirty="0">
                <a:solidFill>
                  <a:srgbClr val="FF0000"/>
                </a:solidFill>
                <a:highlight>
                  <a:srgbClr val="FFFF00"/>
                </a:highlight>
              </a:rPr>
              <a:t>tend to do</a:t>
            </a:r>
            <a:r>
              <a:rPr lang="zh-CN" altLang="zh-CN" sz="3600" b="1" dirty="0">
                <a:solidFill>
                  <a:srgbClr val="FF0000"/>
                </a:solidFill>
                <a:highlight>
                  <a:srgbClr val="FFFF00"/>
                </a:highlight>
              </a:rPr>
              <a:t>倾向于做某事</a:t>
            </a:r>
          </a:p>
          <a:p>
            <a:pPr fontAlgn="ctr"/>
            <a:r>
              <a:rPr lang="en-US" altLang="zh-CN" sz="3600" b="1" dirty="0"/>
              <a:t>87.selling/to sell    start doing/to do </a:t>
            </a:r>
            <a:r>
              <a:rPr lang="en-US" altLang="zh-CN" sz="3600" b="1" dirty="0" err="1"/>
              <a:t>sth</a:t>
            </a:r>
            <a:r>
              <a:rPr lang="zh-CN" altLang="zh-CN" sz="3600" b="1" dirty="0"/>
              <a:t>开始做某事</a:t>
            </a:r>
          </a:p>
          <a:p>
            <a:pPr fontAlgn="ctr"/>
            <a:r>
              <a:rPr lang="en-US" altLang="zh-CN" sz="3600" b="1" dirty="0"/>
              <a:t>88.</a:t>
            </a:r>
            <a:r>
              <a:rPr lang="en-US" altLang="zh-CN" sz="3600" b="1" dirty="0">
                <a:solidFill>
                  <a:srgbClr val="FF0000"/>
                </a:solidFill>
              </a:rPr>
              <a:t>stored</a:t>
            </a:r>
            <a:r>
              <a:rPr lang="en-US" altLang="zh-CN" sz="3600" b="1" dirty="0"/>
              <a:t>  with + </a:t>
            </a:r>
            <a:r>
              <a:rPr lang="zh-CN" altLang="zh-CN" sz="3600" b="1" dirty="0"/>
              <a:t>宾语</a:t>
            </a:r>
            <a:r>
              <a:rPr lang="en-US" altLang="zh-CN" sz="3600" b="1" dirty="0"/>
              <a:t> + </a:t>
            </a:r>
            <a:r>
              <a:rPr lang="zh-CN" altLang="zh-CN" sz="3600" b="1" dirty="0"/>
              <a:t>宾语补足语 自行车</a:t>
            </a:r>
            <a:r>
              <a:rPr lang="zh-CN" altLang="zh-CN" sz="3600" b="1" dirty="0">
                <a:solidFill>
                  <a:srgbClr val="FF0000"/>
                </a:solidFill>
              </a:rPr>
              <a:t>被存放</a:t>
            </a:r>
            <a:endParaRPr lang="zh-CN" altLang="en-US" sz="3600" b="1" dirty="0">
              <a:solidFill>
                <a:srgbClr val="FF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ctr"/>
            <a:r>
              <a:rPr lang="en-US" altLang="zh-CN" sz="3600" b="1" dirty="0"/>
              <a:t>89.We </a:t>
            </a:r>
            <a:r>
              <a:rPr lang="en-US" altLang="zh-CN" sz="3600" b="1" u="sng" dirty="0">
                <a:solidFill>
                  <a:srgbClr val="FF0000"/>
                </a:solidFill>
              </a:rPr>
              <a:t>see</a:t>
            </a:r>
            <a:r>
              <a:rPr lang="en-US" altLang="zh-CN" sz="3600" b="1" dirty="0"/>
              <a:t> scenes of </a:t>
            </a:r>
            <a:r>
              <a:rPr lang="en-US" altLang="zh-CN" sz="3600" b="1" u="sng" dirty="0"/>
              <a:t>children</a:t>
            </a:r>
            <a:r>
              <a:rPr lang="en-US" altLang="zh-CN" sz="3600" b="1" dirty="0"/>
              <a:t> </a:t>
            </a:r>
            <a:r>
              <a:rPr lang="en-US" altLang="zh-CN" sz="3600" b="1" u="sng" dirty="0">
                <a:solidFill>
                  <a:srgbClr val="FF0000"/>
                </a:solidFill>
                <a:highlight>
                  <a:srgbClr val="FFFF00"/>
                </a:highlight>
              </a:rPr>
              <a:t>learning </a:t>
            </a:r>
            <a:r>
              <a:rPr lang="en-US" altLang="zh-CN" sz="3600" b="1" dirty="0"/>
              <a:t>to read at home see+</a:t>
            </a:r>
            <a:r>
              <a:rPr lang="zh-CN" altLang="zh-CN" sz="3600" b="1" dirty="0"/>
              <a:t>宾语</a:t>
            </a:r>
            <a:r>
              <a:rPr lang="en-US" altLang="zh-CN" sz="3600" b="1" dirty="0"/>
              <a:t>+</a:t>
            </a:r>
            <a:r>
              <a:rPr lang="zh-CN" altLang="zh-CN" sz="3600" b="1" dirty="0"/>
              <a:t>宾语补足语</a:t>
            </a:r>
            <a:r>
              <a:rPr lang="en-US" altLang="zh-CN" sz="3600" b="1" dirty="0"/>
              <a:t>” </a:t>
            </a:r>
            <a:r>
              <a:rPr lang="zh-CN" altLang="zh-CN" sz="3600" b="1" dirty="0"/>
              <a:t>宾语</a:t>
            </a:r>
            <a:r>
              <a:rPr lang="en-US" altLang="zh-CN" sz="3600" b="1" dirty="0"/>
              <a:t>children</a:t>
            </a:r>
            <a:r>
              <a:rPr lang="zh-CN" altLang="zh-CN" sz="3600" b="1" dirty="0"/>
              <a:t>与</a:t>
            </a:r>
            <a:r>
              <a:rPr lang="en-US" altLang="zh-CN" sz="3600" b="1" dirty="0"/>
              <a:t>learn</a:t>
            </a:r>
            <a:r>
              <a:rPr lang="zh-CN" altLang="zh-CN" sz="3600" b="1" dirty="0"/>
              <a:t>之间为主动关系</a:t>
            </a:r>
            <a:r>
              <a:rPr lang="zh-CN" altLang="en-US" sz="3600" b="1" dirty="0"/>
              <a:t>，</a:t>
            </a:r>
            <a:r>
              <a:rPr lang="zh-CN" altLang="zh-CN" sz="3600" b="1" dirty="0"/>
              <a:t>用</a:t>
            </a:r>
            <a:r>
              <a:rPr lang="en-US" altLang="zh-CN" sz="3600" b="1" dirty="0"/>
              <a:t>learning</a:t>
            </a:r>
            <a:endParaRPr lang="zh-CN" altLang="zh-CN" sz="3600" b="1" dirty="0"/>
          </a:p>
          <a:p>
            <a:pPr fontAlgn="ctr"/>
            <a:r>
              <a:rPr lang="en-US" altLang="zh-CN" sz="3600" b="1" dirty="0"/>
              <a:t>90.identi</a:t>
            </a:r>
            <a:r>
              <a:rPr lang="en-US" altLang="zh-CN" sz="3600" b="1" u="sng" dirty="0">
                <a:solidFill>
                  <a:srgbClr val="FF0000"/>
                </a:solidFill>
                <a:highlight>
                  <a:srgbClr val="FFFF00"/>
                </a:highlight>
              </a:rPr>
              <a:t>f</a:t>
            </a:r>
            <a:r>
              <a:rPr lang="en-US" altLang="zh-CN" sz="3600" b="1" dirty="0"/>
              <a:t>y/to identi</a:t>
            </a:r>
            <a:r>
              <a:rPr lang="en-US" altLang="zh-CN" sz="3600" b="1" u="sng" dirty="0">
                <a:solidFill>
                  <a:srgbClr val="FF0000"/>
                </a:solidFill>
                <a:highlight>
                  <a:srgbClr val="FFFF00"/>
                </a:highlight>
              </a:rPr>
              <a:t>f</a:t>
            </a:r>
            <a:r>
              <a:rPr lang="en-US" altLang="zh-CN" sz="3600" b="1" dirty="0"/>
              <a:t>y     </a:t>
            </a:r>
            <a:r>
              <a:rPr lang="en-US" altLang="zh-CN" sz="3600" b="1" dirty="0">
                <a:solidFill>
                  <a:srgbClr val="FF0000"/>
                </a:solidFill>
              </a:rPr>
              <a:t>help (to)</a:t>
            </a:r>
            <a:r>
              <a:rPr lang="zh-CN" altLang="en-US" sz="3600" b="1" dirty="0">
                <a:solidFill>
                  <a:srgbClr val="FF0000"/>
                </a:solidFill>
              </a:rPr>
              <a:t> </a:t>
            </a:r>
            <a:r>
              <a:rPr lang="en-US" altLang="zh-CN" sz="3600" b="1" dirty="0">
                <a:solidFill>
                  <a:srgbClr val="FF0000"/>
                </a:solidFill>
              </a:rPr>
              <a:t>do </a:t>
            </a:r>
            <a:r>
              <a:rPr lang="en-US" altLang="zh-CN" sz="3600" b="1" dirty="0" err="1">
                <a:solidFill>
                  <a:srgbClr val="FF0000"/>
                </a:solidFill>
              </a:rPr>
              <a:t>sth</a:t>
            </a:r>
            <a:r>
              <a:rPr lang="en-US" altLang="zh-CN" sz="3600" b="1" dirty="0">
                <a:solidFill>
                  <a:srgbClr val="FF0000"/>
                </a:solidFill>
              </a:rPr>
              <a:t>.“</a:t>
            </a:r>
            <a:r>
              <a:rPr lang="zh-CN" altLang="zh-CN" sz="3600" b="1" dirty="0">
                <a:solidFill>
                  <a:srgbClr val="FF0000"/>
                </a:solidFill>
              </a:rPr>
              <a:t>帮助做某事</a:t>
            </a:r>
            <a:endParaRPr lang="en-US" altLang="zh-CN" sz="3600" b="1" dirty="0"/>
          </a:p>
          <a:p>
            <a:pPr fontAlgn="ctr"/>
            <a:r>
              <a:rPr lang="en-US" altLang="zh-CN" sz="3600" b="1" dirty="0"/>
              <a:t> </a:t>
            </a:r>
            <a:r>
              <a:rPr lang="en-US" altLang="zh-CN" sz="3600" b="1" u="sng" dirty="0">
                <a:solidFill>
                  <a:srgbClr val="FF0000"/>
                </a:solidFill>
              </a:rPr>
              <a:t>identi</a:t>
            </a:r>
            <a:r>
              <a:rPr lang="en-US" altLang="zh-CN" sz="3600" b="1" u="sng" dirty="0">
                <a:solidFill>
                  <a:srgbClr val="FF0000"/>
                </a:solidFill>
                <a:highlight>
                  <a:srgbClr val="FFFF00"/>
                </a:highlight>
              </a:rPr>
              <a:t>t</a:t>
            </a:r>
            <a:r>
              <a:rPr lang="en-US" altLang="zh-CN" sz="3600" b="1" u="sng" dirty="0">
                <a:solidFill>
                  <a:srgbClr val="FF0000"/>
                </a:solidFill>
              </a:rPr>
              <a:t>y</a:t>
            </a:r>
            <a:r>
              <a:rPr lang="en-US" altLang="zh-CN" sz="3600" b="1" dirty="0">
                <a:solidFill>
                  <a:srgbClr val="FF0000"/>
                </a:solidFill>
              </a:rPr>
              <a:t> n.</a:t>
            </a:r>
            <a:r>
              <a:rPr lang="zh-CN" altLang="en-US" sz="3600" b="1" dirty="0">
                <a:solidFill>
                  <a:srgbClr val="FF0000"/>
                </a:solidFill>
              </a:rPr>
              <a:t>身份</a:t>
            </a:r>
            <a:r>
              <a:rPr lang="en-US" altLang="zh-CN" sz="3600" b="1" dirty="0">
                <a:solidFill>
                  <a:srgbClr val="FF0000"/>
                </a:solidFill>
              </a:rPr>
              <a:t>;</a:t>
            </a:r>
            <a:r>
              <a:rPr lang="zh-CN" altLang="en-US" sz="3600" b="1" dirty="0">
                <a:solidFill>
                  <a:srgbClr val="FF0000"/>
                </a:solidFill>
              </a:rPr>
              <a:t>特性  </a:t>
            </a:r>
            <a:r>
              <a:rPr lang="en-US" altLang="zh-CN" sz="3600" b="1" u="sng" dirty="0">
                <a:solidFill>
                  <a:srgbClr val="FF0000"/>
                </a:solidFill>
              </a:rPr>
              <a:t>identi</a:t>
            </a:r>
            <a:r>
              <a:rPr lang="en-US" altLang="zh-CN" sz="3600" b="1" u="sng" dirty="0">
                <a:solidFill>
                  <a:srgbClr val="FF0000"/>
                </a:solidFill>
                <a:highlight>
                  <a:srgbClr val="FFFF00"/>
                </a:highlight>
              </a:rPr>
              <a:t>f</a:t>
            </a:r>
            <a:r>
              <a:rPr lang="en-US" altLang="zh-CN" sz="3600" b="1" u="sng" dirty="0">
                <a:solidFill>
                  <a:srgbClr val="FF0000"/>
                </a:solidFill>
              </a:rPr>
              <a:t>y</a:t>
            </a:r>
            <a:r>
              <a:rPr lang="en-US" altLang="zh-CN" sz="3600" b="1" dirty="0">
                <a:solidFill>
                  <a:srgbClr val="FF0000"/>
                </a:solidFill>
              </a:rPr>
              <a:t> v.</a:t>
            </a:r>
            <a:r>
              <a:rPr lang="zh-CN" altLang="en-US" sz="3600" b="1" dirty="0">
                <a:solidFill>
                  <a:srgbClr val="FF0000"/>
                </a:solidFill>
              </a:rPr>
              <a:t>认出识别</a:t>
            </a:r>
            <a:endParaRPr lang="zh-CN" altLang="zh-CN" sz="3600" b="1" dirty="0">
              <a:solidFill>
                <a:srgbClr val="FF0000"/>
              </a:solidFill>
            </a:endParaRPr>
          </a:p>
          <a:p>
            <a:pPr fontAlgn="ctr"/>
            <a:r>
              <a:rPr lang="en-US" altLang="zh-CN" sz="3600" b="1" dirty="0"/>
              <a:t>91.</a:t>
            </a:r>
            <a:r>
              <a:rPr lang="en-US" altLang="zh-CN" sz="3600" b="1" dirty="0">
                <a:solidFill>
                  <a:srgbClr val="FF0000"/>
                </a:solidFill>
                <a:highlight>
                  <a:srgbClr val="FFFF00"/>
                </a:highlight>
              </a:rPr>
              <a:t>Based on</a:t>
            </a:r>
            <a:r>
              <a:rPr lang="zh-CN" altLang="zh-CN" sz="3600" b="1" dirty="0">
                <a:solidFill>
                  <a:srgbClr val="FF0000"/>
                </a:solidFill>
                <a:highlight>
                  <a:srgbClr val="FFFF00"/>
                </a:highlight>
              </a:rPr>
              <a:t>根据</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以</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为基础</a:t>
            </a:r>
          </a:p>
          <a:p>
            <a:pPr fontAlgn="ctr"/>
            <a:r>
              <a:rPr lang="en-US" altLang="zh-CN" sz="3600" b="1" dirty="0"/>
              <a:t>92.to provide    </a:t>
            </a:r>
            <a:r>
              <a:rPr lang="en-US" altLang="zh-CN" sz="3600" b="1" dirty="0">
                <a:solidFill>
                  <a:srgbClr val="FF0000"/>
                </a:solidFill>
                <a:highlight>
                  <a:srgbClr val="FFFF00"/>
                </a:highlight>
              </a:rPr>
              <a:t>be intended to do </a:t>
            </a:r>
            <a:r>
              <a:rPr lang="en-US" altLang="zh-CN" sz="3600" b="1" dirty="0" err="1">
                <a:solidFill>
                  <a:srgbClr val="FF0000"/>
                </a:solidFill>
                <a:highlight>
                  <a:srgbClr val="FFFF00"/>
                </a:highlight>
              </a:rPr>
              <a:t>sth</a:t>
            </a:r>
            <a:r>
              <a:rPr lang="zh-CN" altLang="zh-CN" sz="3600" b="1" dirty="0">
                <a:solidFill>
                  <a:srgbClr val="FF0000"/>
                </a:solidFill>
                <a:highlight>
                  <a:srgbClr val="FFFF00"/>
                </a:highlight>
              </a:rPr>
              <a:t>旨在做某事</a:t>
            </a:r>
            <a:endParaRPr lang="en-US" altLang="zh-CN" sz="3600" b="1" dirty="0">
              <a:solidFill>
                <a:srgbClr val="FF0000"/>
              </a:solidFill>
              <a:highlight>
                <a:srgbClr val="FFFF00"/>
              </a:highlight>
            </a:endParaRPr>
          </a:p>
          <a:p>
            <a:pPr fontAlgn="ctr"/>
            <a:r>
              <a:rPr lang="en-US" altLang="zh-CN" sz="3600" b="1" dirty="0"/>
              <a:t>93.to pick          </a:t>
            </a:r>
            <a:r>
              <a:rPr lang="en-US" altLang="zh-CN" sz="3600" b="1" dirty="0">
                <a:solidFill>
                  <a:srgbClr val="FF0000"/>
                </a:solidFill>
                <a:highlight>
                  <a:srgbClr val="FFFF00"/>
                </a:highlight>
              </a:rPr>
              <a:t>appoint sb to do </a:t>
            </a:r>
            <a:r>
              <a:rPr lang="en-US" altLang="zh-CN" sz="3600" b="1" dirty="0" err="1">
                <a:solidFill>
                  <a:srgbClr val="FF0000"/>
                </a:solidFill>
                <a:highlight>
                  <a:srgbClr val="FFFF00"/>
                </a:highlight>
              </a:rPr>
              <a:t>sth</a:t>
            </a:r>
            <a:r>
              <a:rPr lang="zh-CN" altLang="zh-CN" sz="3600" b="1" dirty="0">
                <a:solidFill>
                  <a:srgbClr val="FF0000"/>
                </a:solidFill>
                <a:highlight>
                  <a:srgbClr val="FFFF00"/>
                </a:highlight>
              </a:rPr>
              <a:t>指定某人做某事</a:t>
            </a:r>
            <a:endParaRPr lang="en-US" altLang="zh-CN" sz="3600" b="1" dirty="0">
              <a:solidFill>
                <a:srgbClr val="FF0000"/>
              </a:solidFill>
              <a:highlight>
                <a:srgbClr val="FFFF00"/>
              </a:highlight>
            </a:endParaRPr>
          </a:p>
          <a:p>
            <a:pPr fontAlgn="ctr"/>
            <a:r>
              <a:rPr lang="en-US" altLang="zh-CN" sz="3600" b="1" dirty="0"/>
              <a:t>94.Many </a:t>
            </a:r>
            <a:r>
              <a:rPr lang="en-US" altLang="zh-CN" sz="3600" b="1" u="sng" dirty="0"/>
              <a:t>people</a:t>
            </a:r>
            <a:r>
              <a:rPr lang="en-US" altLang="zh-CN" sz="3600" b="1" dirty="0"/>
              <a:t> </a:t>
            </a:r>
            <a:r>
              <a:rPr lang="en-US" altLang="zh-CN" sz="3600" b="1" u="sng" dirty="0"/>
              <a:t>go crazy </a:t>
            </a:r>
            <a:r>
              <a:rPr lang="en-US" altLang="zh-CN" sz="3600" b="1" dirty="0">
                <a:solidFill>
                  <a:srgbClr val="FF0000"/>
                </a:solidFill>
                <a:highlight>
                  <a:srgbClr val="FFFF00"/>
                </a:highlight>
              </a:rPr>
              <a:t>trying</a:t>
            </a:r>
            <a:r>
              <a:rPr lang="en-US" altLang="zh-CN" sz="3600" b="1" dirty="0"/>
              <a:t> to figure out how to</a:t>
            </a:r>
          </a:p>
          <a:p>
            <a:pPr fontAlgn="ctr"/>
            <a:r>
              <a:rPr lang="en-US" altLang="zh-CN" sz="3600" b="1" dirty="0"/>
              <a:t>95.to be  </a:t>
            </a:r>
            <a:r>
              <a:rPr lang="en-US" altLang="zh-CN" sz="3600" b="1" dirty="0">
                <a:solidFill>
                  <a:srgbClr val="FF0000"/>
                </a:solidFill>
                <a:highlight>
                  <a:srgbClr val="FFFF00"/>
                </a:highlight>
              </a:rPr>
              <a:t>It’s typical of sb. to do </a:t>
            </a:r>
            <a:r>
              <a:rPr lang="en-US" altLang="zh-CN" sz="3600" b="1" dirty="0" err="1">
                <a:solidFill>
                  <a:srgbClr val="FF0000"/>
                </a:solidFill>
                <a:highlight>
                  <a:srgbClr val="FFFF00"/>
                </a:highlight>
              </a:rPr>
              <a:t>sth</a:t>
            </a:r>
            <a:r>
              <a:rPr lang="zh-CN" altLang="zh-CN" sz="3600" b="1" dirty="0">
                <a:solidFill>
                  <a:srgbClr val="FF0000"/>
                </a:solidFill>
                <a:highlight>
                  <a:srgbClr val="FFFF00"/>
                </a:highlight>
              </a:rPr>
              <a:t>某人做某事是典型的</a:t>
            </a:r>
          </a:p>
          <a:p>
            <a:pPr fontAlgn="ctr"/>
            <a:r>
              <a:rPr lang="en-US" altLang="zh-CN" sz="3600" b="1" dirty="0"/>
              <a:t>96.to keep</a:t>
            </a:r>
            <a:r>
              <a:rPr lang="zh-CN" altLang="en-US" sz="3600" b="1" dirty="0">
                <a:solidFill>
                  <a:srgbClr val="FF0000"/>
                </a:solidFill>
              </a:rPr>
              <a:t>表目的</a:t>
            </a:r>
            <a:endParaRPr lang="zh-CN" altLang="zh-CN" sz="3600" b="1" dirty="0"/>
          </a:p>
          <a:p>
            <a:endParaRPr lang="zh-CN" altLang="en-US" sz="3600" b="1" dirty="0">
              <a:solidFill>
                <a:srgbClr val="FF0000"/>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fontAlgn="ctr"/>
            <a:r>
              <a:rPr lang="en-US" altLang="zh-CN" sz="3600" b="1" dirty="0"/>
              <a:t>97. </a:t>
            </a:r>
            <a:r>
              <a:rPr lang="en-US" altLang="zh-CN" sz="3600" b="1" u="sng" dirty="0">
                <a:solidFill>
                  <a:srgbClr val="FF0000"/>
                </a:solidFill>
                <a:highlight>
                  <a:srgbClr val="FFFF00"/>
                </a:highlight>
              </a:rPr>
              <a:t>Having abused </a:t>
            </a:r>
            <a:r>
              <a:rPr lang="en-US" altLang="zh-CN" sz="3600" b="1" dirty="0"/>
              <a:t>his position as mayor to give jobs to his friends, Williams </a:t>
            </a:r>
            <a:r>
              <a:rPr lang="en-US" altLang="zh-CN" sz="3600" b="1" u="sng" dirty="0"/>
              <a:t>is now under investigation</a:t>
            </a:r>
            <a:r>
              <a:rPr lang="en-US" altLang="zh-CN" sz="3600" b="1" dirty="0"/>
              <a:t>. </a:t>
            </a:r>
            <a:r>
              <a:rPr lang="en-US" altLang="zh-CN" sz="3600" b="1" u="sng" dirty="0"/>
              <a:t>“</a:t>
            </a:r>
            <a:r>
              <a:rPr lang="zh-CN" altLang="zh-CN" sz="3600" b="1" u="sng" dirty="0"/>
              <a:t>滥用职权</a:t>
            </a:r>
            <a:r>
              <a:rPr lang="en-US" altLang="zh-CN" sz="3600" b="1" u="sng" dirty="0"/>
              <a:t>”</a:t>
            </a:r>
            <a:r>
              <a:rPr lang="zh-CN" altLang="zh-CN" sz="3600" b="1" u="sng" dirty="0"/>
              <a:t>发生在</a:t>
            </a:r>
            <a:r>
              <a:rPr lang="en-US" altLang="zh-CN" sz="3600" b="1" u="sng" dirty="0"/>
              <a:t>“</a:t>
            </a:r>
            <a:r>
              <a:rPr lang="zh-CN" altLang="zh-CN" sz="3600" b="1" u="sng" dirty="0"/>
              <a:t>被调查</a:t>
            </a:r>
            <a:r>
              <a:rPr lang="en-US" altLang="zh-CN" sz="3600" b="1" u="sng" dirty="0"/>
              <a:t>”</a:t>
            </a:r>
            <a:r>
              <a:rPr lang="zh-CN" altLang="zh-CN" sz="3600" b="1" u="sng" dirty="0"/>
              <a:t>之前</a:t>
            </a:r>
            <a:r>
              <a:rPr lang="en-US" altLang="zh-CN" sz="3600" b="1" dirty="0"/>
              <a:t>,</a:t>
            </a:r>
            <a:r>
              <a:rPr lang="zh-CN" altLang="zh-CN" sz="3600" b="1" dirty="0"/>
              <a:t>用现在分词的完成式</a:t>
            </a:r>
            <a:r>
              <a:rPr lang="en-US" altLang="zh-CN" sz="3600" b="1" dirty="0"/>
              <a:t>having done</a:t>
            </a:r>
            <a:endParaRPr lang="zh-CN" altLang="zh-CN" sz="3600" b="1" dirty="0"/>
          </a:p>
          <a:p>
            <a:pPr fontAlgn="ctr"/>
            <a:r>
              <a:rPr lang="en-US" altLang="zh-CN" sz="3600" b="1" dirty="0"/>
              <a:t>98.challenging</a:t>
            </a:r>
            <a:endParaRPr lang="zh-CN" altLang="zh-CN" sz="3600" b="1" dirty="0"/>
          </a:p>
          <a:p>
            <a:pPr fontAlgn="ctr"/>
            <a:r>
              <a:rPr lang="en-US" altLang="zh-CN" sz="3600" b="1" dirty="0"/>
              <a:t>99. The </a:t>
            </a:r>
            <a:r>
              <a:rPr lang="en-US" altLang="zh-CN" sz="3600" b="1" u="sng" dirty="0"/>
              <a:t>trials</a:t>
            </a:r>
            <a:r>
              <a:rPr lang="en-US" altLang="zh-CN" sz="3600" b="1" dirty="0"/>
              <a:t> on patients </a:t>
            </a:r>
            <a:r>
              <a:rPr lang="en-US" altLang="zh-CN" sz="3600" b="1" u="sng" dirty="0"/>
              <a:t>were likely </a:t>
            </a:r>
            <a:r>
              <a:rPr lang="en-US" altLang="zh-CN" sz="3600" b="1" u="sng" dirty="0">
                <a:solidFill>
                  <a:srgbClr val="FF0000"/>
                </a:solidFill>
                <a:highlight>
                  <a:srgbClr val="FFFF00"/>
                </a:highlight>
              </a:rPr>
              <a:t>to be postponed </a:t>
            </a:r>
            <a:r>
              <a:rPr lang="en-US" altLang="zh-CN" sz="3600" b="1" dirty="0"/>
              <a:t>because they did not have sufficient safety data. </a:t>
            </a:r>
            <a:endParaRPr lang="zh-CN" altLang="zh-CN" sz="3600" b="1" dirty="0"/>
          </a:p>
          <a:p>
            <a:pPr fontAlgn="ctr"/>
            <a:r>
              <a:rPr lang="en-US" altLang="zh-CN" sz="3600" b="1" dirty="0">
                <a:solidFill>
                  <a:srgbClr val="FF0000"/>
                </a:solidFill>
                <a:highlight>
                  <a:srgbClr val="FFFF00"/>
                </a:highlight>
              </a:rPr>
              <a:t>be likely to do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 可能做某事</a:t>
            </a:r>
            <a:endParaRPr lang="en-US" altLang="zh-CN" sz="3600" b="1" dirty="0">
              <a:solidFill>
                <a:srgbClr val="FF0000"/>
              </a:solidFill>
              <a:highlight>
                <a:srgbClr val="FFFF00"/>
              </a:highlight>
            </a:endParaRPr>
          </a:p>
          <a:p>
            <a:pPr fontAlgn="ctr"/>
            <a:r>
              <a:rPr lang="en-US" altLang="zh-CN" sz="3600" b="1" dirty="0"/>
              <a:t>“trials”</a:t>
            </a:r>
            <a:r>
              <a:rPr lang="zh-CN" altLang="zh-CN" sz="3600" b="1" dirty="0"/>
              <a:t>与</a:t>
            </a:r>
            <a:r>
              <a:rPr lang="en-US" altLang="zh-CN" sz="3600" b="1" dirty="0"/>
              <a:t>“postpone”</a:t>
            </a:r>
            <a:r>
              <a:rPr lang="zh-CN" altLang="zh-CN" sz="3600" b="1" dirty="0"/>
              <a:t>之间存在被动关系</a:t>
            </a:r>
          </a:p>
          <a:p>
            <a:pPr fontAlgn="ctr"/>
            <a:r>
              <a:rPr lang="en-US" altLang="zh-CN" sz="3600" b="1" dirty="0"/>
              <a:t>100.Located</a:t>
            </a:r>
            <a:endParaRPr lang="zh-CN" altLang="zh-CN" sz="3600" b="1" dirty="0"/>
          </a:p>
          <a:p>
            <a:pPr fontAlgn="ctr"/>
            <a:r>
              <a:rPr lang="en-US" altLang="zh-CN" sz="3600" b="1" dirty="0"/>
              <a:t>be located in</a:t>
            </a:r>
            <a:r>
              <a:rPr lang="zh-CN" altLang="zh-CN" sz="3600" b="1" dirty="0"/>
              <a:t>位于，坐落在</a:t>
            </a:r>
            <a:endParaRPr lang="zh-CN" altLang="en-US" sz="3600" b="1" dirty="0">
              <a:solidFill>
                <a:srgbClr val="FF0000"/>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dirty="0"/>
              <a:t>P88</a:t>
            </a:r>
          </a:p>
          <a:p>
            <a:r>
              <a:rPr lang="en-US" altLang="zh-CN" sz="3600" b="1" dirty="0">
                <a:solidFill>
                  <a:srgbClr val="FF0000"/>
                </a:solidFill>
              </a:rPr>
              <a:t> delve into</a:t>
            </a:r>
            <a:r>
              <a:rPr lang="zh-CN" altLang="en-US" sz="3600" b="1" dirty="0">
                <a:solidFill>
                  <a:srgbClr val="FF0000"/>
                </a:solidFill>
              </a:rPr>
              <a:t>深入探究</a:t>
            </a:r>
            <a:r>
              <a:rPr lang="en-US" altLang="zh-CN" sz="3600" b="1" dirty="0">
                <a:solidFill>
                  <a:srgbClr val="FF0000"/>
                </a:solidFill>
              </a:rPr>
              <a:t>  beloved adj.</a:t>
            </a:r>
            <a:r>
              <a:rPr lang="zh-CN" altLang="en-US" sz="3600" b="1" dirty="0">
                <a:solidFill>
                  <a:srgbClr val="FF0000"/>
                </a:solidFill>
              </a:rPr>
              <a:t>钟爱的</a:t>
            </a:r>
          </a:p>
          <a:p>
            <a:r>
              <a:rPr lang="en-US" altLang="zh-CN" sz="3600" b="1" dirty="0">
                <a:solidFill>
                  <a:srgbClr val="FF0000"/>
                </a:solidFill>
              </a:rPr>
              <a:t> </a:t>
            </a:r>
            <a:r>
              <a:rPr lang="en-US" altLang="zh-CN" sz="3600" b="1" dirty="0">
                <a:solidFill>
                  <a:schemeClr val="tx1"/>
                </a:solidFill>
              </a:rPr>
              <a:t>adjacent=</a:t>
            </a:r>
            <a:r>
              <a:rPr lang="en-US" altLang="zh-CN" sz="3600" b="1" dirty="0">
                <a:solidFill>
                  <a:srgbClr val="FF0000"/>
                </a:solidFill>
              </a:rPr>
              <a:t>neighbouring</a:t>
            </a:r>
            <a:r>
              <a:rPr lang="zh-CN" altLang="en-US" sz="3600" b="1" dirty="0">
                <a:solidFill>
                  <a:srgbClr val="FF0000"/>
                </a:solidFill>
              </a:rPr>
              <a:t>邻近的</a:t>
            </a:r>
          </a:p>
          <a:p>
            <a:r>
              <a:rPr lang="en-US" altLang="zh-CN" sz="3600" b="1" dirty="0">
                <a:solidFill>
                  <a:srgbClr val="FF0000"/>
                </a:solidFill>
              </a:rPr>
              <a:t> figurative adj.</a:t>
            </a:r>
            <a:r>
              <a:rPr lang="zh-CN" altLang="en-US" sz="3600" b="1" dirty="0">
                <a:solidFill>
                  <a:srgbClr val="FF0000"/>
                </a:solidFill>
              </a:rPr>
              <a:t>比喻的形象的</a:t>
            </a:r>
            <a:r>
              <a:rPr lang="en-US" altLang="zh-CN" sz="3600" b="1" dirty="0">
                <a:solidFill>
                  <a:srgbClr val="FF0000"/>
                </a:solidFill>
              </a:rPr>
              <a:t> literary methods</a:t>
            </a:r>
            <a:r>
              <a:rPr lang="zh-CN" altLang="en-US" sz="3600" b="1" dirty="0">
                <a:solidFill>
                  <a:srgbClr val="FF0000"/>
                </a:solidFill>
              </a:rPr>
              <a:t>文学方法</a:t>
            </a:r>
            <a:endParaRPr lang="en-US" altLang="zh-CN" sz="3600" b="1" dirty="0">
              <a:solidFill>
                <a:srgbClr val="FF0000"/>
              </a:solidFill>
            </a:endParaRPr>
          </a:p>
          <a:p>
            <a:r>
              <a:rPr lang="en-US" altLang="zh-CN" sz="3600" b="1" dirty="0">
                <a:solidFill>
                  <a:srgbClr val="FF0000"/>
                </a:solidFill>
              </a:rPr>
              <a:t> make sense</a:t>
            </a:r>
            <a:r>
              <a:rPr lang="zh-CN" altLang="en-US" sz="3600" b="1" dirty="0">
                <a:solidFill>
                  <a:srgbClr val="FF0000"/>
                </a:solidFill>
              </a:rPr>
              <a:t>有道理讲得通</a:t>
            </a:r>
          </a:p>
          <a:p>
            <a:r>
              <a:rPr lang="en-US" altLang="zh-CN" sz="3600" b="1" dirty="0">
                <a:solidFill>
                  <a:srgbClr val="FF0000"/>
                </a:solidFill>
              </a:rPr>
              <a:t> </a:t>
            </a:r>
            <a:endParaRPr lang="zh-CN" altLang="en-US" sz="3600" b="1" dirty="0">
              <a:solidFill>
                <a:srgbClr val="FF0000"/>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dirty="0">
                <a:solidFill>
                  <a:srgbClr val="FF0000"/>
                </a:solidFill>
                <a:sym typeface="+mn-ea"/>
              </a:rPr>
              <a:t>think of ... as a failure</a:t>
            </a:r>
            <a:r>
              <a:rPr lang="zh-CN" altLang="en-US" sz="3600" b="1" dirty="0">
                <a:solidFill>
                  <a:srgbClr val="FF0000"/>
                </a:solidFill>
                <a:sym typeface="+mn-ea"/>
              </a:rPr>
              <a:t>认为</a:t>
            </a:r>
            <a:r>
              <a:rPr lang="en-US" altLang="zh-CN" sz="3600" b="1" dirty="0">
                <a:solidFill>
                  <a:srgbClr val="FF0000"/>
                </a:solidFill>
                <a:sym typeface="+mn-ea"/>
              </a:rPr>
              <a:t>…</a:t>
            </a:r>
            <a:r>
              <a:rPr lang="zh-CN" altLang="en-US" sz="3600" b="1" dirty="0">
                <a:solidFill>
                  <a:srgbClr val="FF0000"/>
                </a:solidFill>
                <a:sym typeface="+mn-ea"/>
              </a:rPr>
              <a:t>是一个失败者</a:t>
            </a:r>
            <a:endParaRPr lang="en-US" altLang="zh-CN" sz="3600" b="1" dirty="0">
              <a:solidFill>
                <a:srgbClr val="FF0000"/>
              </a:solidFill>
            </a:endParaRPr>
          </a:p>
          <a:p>
            <a:r>
              <a:rPr lang="en-US" altLang="zh-CN" sz="3600" b="1" dirty="0">
                <a:solidFill>
                  <a:srgbClr val="FF0000"/>
                </a:solidFill>
                <a:sym typeface="+mn-ea"/>
              </a:rPr>
              <a:t> be recognized</a:t>
            </a:r>
            <a:r>
              <a:rPr lang="zh-CN" altLang="en-US" sz="3600" b="1" dirty="0">
                <a:solidFill>
                  <a:srgbClr val="FF0000"/>
                </a:solidFill>
                <a:sym typeface="+mn-ea"/>
              </a:rPr>
              <a:t>被认可</a:t>
            </a:r>
            <a:r>
              <a:rPr lang="en-US" altLang="zh-CN" sz="3600" b="1" dirty="0">
                <a:solidFill>
                  <a:srgbClr val="FF0000"/>
                </a:solidFill>
                <a:sym typeface="+mn-ea"/>
              </a:rPr>
              <a:t> strong-willed </a:t>
            </a:r>
            <a:r>
              <a:rPr lang="zh-CN" altLang="en-US" sz="3600" b="1" dirty="0">
                <a:solidFill>
                  <a:srgbClr val="FF0000"/>
                </a:solidFill>
                <a:sym typeface="+mn-ea"/>
              </a:rPr>
              <a:t>意志坚强的</a:t>
            </a:r>
            <a:r>
              <a:rPr lang="en-US" altLang="zh-CN" sz="3600" b="1" dirty="0">
                <a:solidFill>
                  <a:srgbClr val="FF0000"/>
                </a:solidFill>
                <a:sym typeface="+mn-ea"/>
              </a:rPr>
              <a:t>;</a:t>
            </a:r>
            <a:r>
              <a:rPr lang="zh-CN" altLang="en-US" sz="3600" b="1" dirty="0">
                <a:solidFill>
                  <a:srgbClr val="FF0000"/>
                </a:solidFill>
                <a:sym typeface="+mn-ea"/>
              </a:rPr>
              <a:t>固执的</a:t>
            </a:r>
            <a:endParaRPr lang="en-US" altLang="zh-CN" sz="3600" b="1" dirty="0">
              <a:solidFill>
                <a:srgbClr val="FF0000"/>
              </a:solidFill>
            </a:endParaRPr>
          </a:p>
          <a:p>
            <a:r>
              <a:rPr lang="en-US" altLang="zh-CN" sz="3600" b="1" dirty="0">
                <a:solidFill>
                  <a:srgbClr val="FF0000"/>
                </a:solidFill>
                <a:sym typeface="+mn-ea"/>
              </a:rPr>
              <a:t> a government official</a:t>
            </a:r>
            <a:r>
              <a:rPr lang="zh-CN" altLang="en-US" sz="3600" b="1" dirty="0">
                <a:solidFill>
                  <a:srgbClr val="FF0000"/>
                </a:solidFill>
                <a:sym typeface="+mn-ea"/>
              </a:rPr>
              <a:t>政府官员</a:t>
            </a:r>
            <a:endParaRPr lang="en-US" altLang="zh-CN" sz="3600" b="1" dirty="0">
              <a:solidFill>
                <a:srgbClr val="FF0000"/>
              </a:solidFill>
            </a:endParaRPr>
          </a:p>
          <a:p>
            <a:r>
              <a:rPr lang="en-US" altLang="zh-CN" sz="3600" b="1" dirty="0">
                <a:solidFill>
                  <a:schemeClr val="tx1"/>
                </a:solidFill>
                <a:sym typeface="+mn-ea"/>
              </a:rPr>
              <a:t> simple, direct</a:t>
            </a:r>
            <a:r>
              <a:rPr lang="zh-CN" altLang="en-US" sz="3600" b="1" dirty="0">
                <a:solidFill>
                  <a:schemeClr val="tx1"/>
                </a:solidFill>
                <a:sym typeface="+mn-ea"/>
              </a:rPr>
              <a:t>简单直接</a:t>
            </a:r>
            <a:endParaRPr lang="en-US" altLang="zh-CN" sz="3600" b="1" dirty="0">
              <a:solidFill>
                <a:schemeClr val="tx1"/>
              </a:solidFill>
            </a:endParaRPr>
          </a:p>
          <a:p>
            <a:r>
              <a:rPr lang="en-US" altLang="zh-CN" sz="3600" b="1" dirty="0">
                <a:solidFill>
                  <a:srgbClr val="FF0000"/>
                </a:solidFill>
                <a:sym typeface="+mn-ea"/>
              </a:rPr>
              <a:t> impressionist</a:t>
            </a:r>
            <a:r>
              <a:rPr lang="zh-CN" altLang="en-US" sz="3600" b="1" dirty="0">
                <a:solidFill>
                  <a:srgbClr val="FF0000"/>
                </a:solidFill>
              </a:rPr>
              <a:t>印象派画家</a:t>
            </a:r>
            <a:r>
              <a:rPr lang="en-US" altLang="zh-CN" sz="3600" b="1" dirty="0">
                <a:solidFill>
                  <a:srgbClr val="FF0000"/>
                </a:solidFill>
                <a:sym typeface="+mn-ea"/>
              </a:rPr>
              <a:t> romanticist</a:t>
            </a:r>
            <a:r>
              <a:rPr lang="zh-CN" altLang="en-US" sz="3600" b="1" dirty="0">
                <a:solidFill>
                  <a:srgbClr val="FF0000"/>
                </a:solidFill>
              </a:rPr>
              <a:t>浪漫主义者</a:t>
            </a:r>
          </a:p>
          <a:p>
            <a:r>
              <a:rPr lang="en-US" altLang="zh-CN" sz="3600" b="1" dirty="0">
                <a:solidFill>
                  <a:srgbClr val="FF0000"/>
                </a:solidFill>
                <a:sym typeface="+mn-ea"/>
              </a:rPr>
              <a:t> optimist </a:t>
            </a:r>
            <a:r>
              <a:rPr lang="zh-CN" altLang="en-US" sz="3600" b="1" dirty="0">
                <a:solidFill>
                  <a:srgbClr val="FF0000"/>
                </a:solidFill>
              </a:rPr>
              <a:t>乐观主义者</a:t>
            </a:r>
            <a:r>
              <a:rPr lang="en-US" altLang="zh-CN" sz="3600" b="1" dirty="0">
                <a:solidFill>
                  <a:srgbClr val="FF0000"/>
                </a:solidFill>
              </a:rPr>
              <a:t> </a:t>
            </a:r>
            <a:r>
              <a:rPr lang="en-US" altLang="zh-CN" sz="3600" b="1" dirty="0">
                <a:solidFill>
                  <a:srgbClr val="FF0000"/>
                </a:solidFill>
                <a:sym typeface="+mn-ea"/>
              </a:rPr>
              <a:t>pessimist</a:t>
            </a:r>
            <a:r>
              <a:rPr lang="zh-CN" altLang="en-US" sz="3600" b="1" dirty="0">
                <a:solidFill>
                  <a:srgbClr val="FF0000"/>
                </a:solidFill>
              </a:rPr>
              <a:t>悲观主义者</a:t>
            </a:r>
          </a:p>
          <a:p>
            <a:r>
              <a:rPr lang="en-US" altLang="zh-CN" sz="3600" b="1" dirty="0">
                <a:solidFill>
                  <a:srgbClr val="FF0000"/>
                </a:solidFill>
                <a:sym typeface="+mn-ea"/>
              </a:rPr>
              <a:t> the depth of feeling</a:t>
            </a:r>
            <a:r>
              <a:rPr lang="zh-CN" altLang="en-US" sz="3600" b="1" dirty="0">
                <a:solidFill>
                  <a:srgbClr val="FF0000"/>
                </a:solidFill>
                <a:sym typeface="+mn-ea"/>
              </a:rPr>
              <a:t>感情深度</a:t>
            </a:r>
            <a:endParaRPr lang="zh-CN" altLang="en-US" sz="3600" b="1" dirty="0">
              <a:solidFill>
                <a:srgbClr val="FF0000"/>
              </a:solidFill>
            </a:endParaRPr>
          </a:p>
          <a:p>
            <a:r>
              <a:rPr lang="en-US" altLang="zh-CN" sz="3600" b="1" dirty="0">
                <a:solidFill>
                  <a:srgbClr val="FF0000"/>
                </a:solidFill>
                <a:sym typeface="+mn-ea"/>
              </a:rPr>
              <a:t> subject n.</a:t>
            </a:r>
            <a:r>
              <a:rPr lang="zh-CN" altLang="en-US" sz="3600" b="1" dirty="0">
                <a:solidFill>
                  <a:srgbClr val="FF0000"/>
                </a:solidFill>
                <a:sym typeface="+mn-ea"/>
              </a:rPr>
              <a:t>主题</a:t>
            </a:r>
            <a:r>
              <a:rPr lang="en-US" altLang="zh-CN" sz="3600" b="1" dirty="0">
                <a:solidFill>
                  <a:srgbClr val="FF0000"/>
                </a:solidFill>
                <a:sym typeface="+mn-ea"/>
              </a:rPr>
              <a:t>;</a:t>
            </a:r>
            <a:r>
              <a:rPr lang="zh-CN" altLang="en-US" sz="3600" b="1" dirty="0">
                <a:solidFill>
                  <a:srgbClr val="FF0000"/>
                </a:solidFill>
                <a:sym typeface="+mn-ea"/>
              </a:rPr>
              <a:t>课程</a:t>
            </a:r>
            <a:r>
              <a:rPr lang="en-US" altLang="zh-CN" sz="3600" b="1" dirty="0">
                <a:solidFill>
                  <a:srgbClr val="FF0000"/>
                </a:solidFill>
                <a:sym typeface="+mn-ea"/>
              </a:rPr>
              <a:t>  object n.</a:t>
            </a:r>
            <a:r>
              <a:rPr lang="zh-CN" altLang="en-US" sz="3600" b="1" dirty="0">
                <a:solidFill>
                  <a:srgbClr val="FF0000"/>
                </a:solidFill>
                <a:sym typeface="+mn-ea"/>
              </a:rPr>
              <a:t>物体对象目标</a:t>
            </a:r>
          </a:p>
          <a:p>
            <a:r>
              <a:rPr lang="en-US" altLang="zh-CN" sz="3600" b="1" dirty="0">
                <a:solidFill>
                  <a:srgbClr val="FF0000"/>
                </a:solidFill>
              </a:rPr>
              <a:t> take hold of</a:t>
            </a:r>
            <a:r>
              <a:rPr lang="zh-CN" altLang="en-US" sz="3600" b="1" dirty="0">
                <a:solidFill>
                  <a:srgbClr val="FF0000"/>
                </a:solidFill>
              </a:rPr>
              <a:t>抓住</a:t>
            </a:r>
            <a:r>
              <a:rPr lang="en-US" altLang="zh-CN" sz="3600" b="1" dirty="0">
                <a:solidFill>
                  <a:srgbClr val="FF0000"/>
                </a:solidFill>
              </a:rPr>
              <a:t> catch sight of</a:t>
            </a:r>
            <a:r>
              <a:rPr lang="zh-CN" altLang="en-US" sz="3600" b="1" dirty="0">
                <a:solidFill>
                  <a:srgbClr val="FF0000"/>
                </a:solidFill>
              </a:rPr>
              <a:t>看见</a:t>
            </a:r>
          </a:p>
          <a:p>
            <a:r>
              <a:rPr lang="en-US" altLang="zh-CN" sz="3600" b="1" dirty="0">
                <a:solidFill>
                  <a:srgbClr val="FF0000"/>
                </a:solidFill>
              </a:rPr>
              <a: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1.to invite ;to be invited    2.Learning ;Informed   </a:t>
            </a:r>
          </a:p>
          <a:p>
            <a:r>
              <a:rPr lang="en-US" altLang="zh-CN" sz="3600" b="1" dirty="0">
                <a:solidFill>
                  <a:srgbClr val="FF0000"/>
                </a:solidFill>
              </a:rPr>
              <a:t>3.Buried;Burying               4.Occupied;Occupying    </a:t>
            </a:r>
          </a:p>
          <a:p>
            <a:r>
              <a:rPr lang="en-US" altLang="zh-CN" sz="3600" b="1" dirty="0">
                <a:solidFill>
                  <a:srgbClr val="FF0000"/>
                </a:solidFill>
              </a:rPr>
              <a:t>5.Devoted;Devoting         6.Faced;Facing </a:t>
            </a:r>
          </a:p>
          <a:p>
            <a:r>
              <a:rPr lang="en-US" altLang="zh-CN" sz="3600" b="1" dirty="0">
                <a:solidFill>
                  <a:srgbClr val="FF0000"/>
                </a:solidFill>
              </a:rPr>
              <a:t>7.compared;comparing    8.seen;seeing;formed;forming   </a:t>
            </a:r>
          </a:p>
          <a:p>
            <a:r>
              <a:rPr lang="en-US" altLang="zh-CN" sz="3600" b="1" dirty="0">
                <a:solidFill>
                  <a:srgbClr val="FF0000"/>
                </a:solidFill>
              </a:rPr>
              <a:t>9.Seeing;Seen;To see      10.covered;covering      </a:t>
            </a:r>
          </a:p>
          <a:p>
            <a:r>
              <a:rPr lang="en-US" altLang="zh-CN" sz="3600" b="1" dirty="0">
                <a:solidFill>
                  <a:srgbClr val="FF0000"/>
                </a:solidFill>
              </a:rPr>
              <a:t>11.looking;fixed         12.built; being built; to be built </a:t>
            </a:r>
          </a:p>
          <a:p>
            <a:r>
              <a:rPr lang="en-US" altLang="zh-CN" sz="3600" b="1" dirty="0">
                <a:solidFill>
                  <a:srgbClr val="FF0000"/>
                </a:solidFill>
              </a:rPr>
              <a:t>13.Taking ;taken        14.writing ; written      </a:t>
            </a:r>
          </a:p>
          <a:p>
            <a:r>
              <a:rPr lang="en-US" altLang="zh-CN" sz="3600" b="1" dirty="0">
                <a:solidFill>
                  <a:srgbClr val="FF0000"/>
                </a:solidFill>
              </a:rPr>
              <a:t>15.tidying ;to tidy</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zh-CN" altLang="en-US" sz="3600" b="1" dirty="0">
                <a:solidFill>
                  <a:srgbClr val="FF0000"/>
                </a:solidFill>
              </a:rPr>
              <a:t>单元测试卷</a:t>
            </a:r>
            <a:r>
              <a:rPr lang="en-US" altLang="zh-CN" sz="3600" b="1" dirty="0">
                <a:solidFill>
                  <a:srgbClr val="FF0000"/>
                </a:solidFill>
              </a:rPr>
              <a:t>4 </a:t>
            </a:r>
          </a:p>
          <a:p>
            <a:r>
              <a:rPr lang="en-US" altLang="zh-CN" sz="3600" b="1" dirty="0">
                <a:solidFill>
                  <a:srgbClr val="FF0000"/>
                </a:solidFill>
              </a:rPr>
              <a:t> live in the moment</a:t>
            </a:r>
            <a:r>
              <a:rPr lang="zh-CN" altLang="en-US" sz="3600" b="1" dirty="0">
                <a:solidFill>
                  <a:srgbClr val="FF0000"/>
                </a:solidFill>
              </a:rPr>
              <a:t>活在当下</a:t>
            </a:r>
            <a:r>
              <a:rPr lang="en-US" altLang="zh-CN" sz="3600" b="1" dirty="0">
                <a:solidFill>
                  <a:srgbClr val="FF0000"/>
                </a:solidFill>
              </a:rPr>
              <a:t> </a:t>
            </a:r>
          </a:p>
          <a:p>
            <a:r>
              <a:rPr lang="en-US" altLang="zh-CN" sz="3600" b="1" dirty="0">
                <a:solidFill>
                  <a:srgbClr val="FF0000"/>
                </a:solidFill>
              </a:rPr>
              <a:t> cynical</a:t>
            </a:r>
            <a:r>
              <a:rPr lang="zh-CN" altLang="en-US" sz="3600" b="1" dirty="0">
                <a:solidFill>
                  <a:srgbClr val="FF0000"/>
                </a:solidFill>
              </a:rPr>
              <a:t>愤世嫉俗的 </a:t>
            </a:r>
            <a:r>
              <a:rPr lang="en-US" altLang="zh-CN" sz="3600" b="1" dirty="0">
                <a:solidFill>
                  <a:srgbClr val="FF0000"/>
                </a:solidFill>
              </a:rPr>
              <a:t>far from perfect</a:t>
            </a:r>
            <a:r>
              <a:rPr lang="zh-CN" altLang="en-US" sz="3600" b="1" dirty="0">
                <a:solidFill>
                  <a:srgbClr val="FF0000"/>
                </a:solidFill>
              </a:rPr>
              <a:t>远非完美</a:t>
            </a:r>
            <a:endParaRPr lang="en-US" altLang="zh-CN" sz="3600" b="1" dirty="0">
              <a:solidFill>
                <a:srgbClr val="FF0000"/>
              </a:solidFill>
            </a:endParaRPr>
          </a:p>
          <a:p>
            <a:r>
              <a:rPr lang="en-US" altLang="zh-CN" sz="3600" b="1" dirty="0">
                <a:solidFill>
                  <a:srgbClr val="FF0000"/>
                </a:solidFill>
              </a:rPr>
              <a:t> craving n.</a:t>
            </a:r>
            <a:r>
              <a:rPr lang="zh-CN" altLang="en-US" sz="3600" b="1" dirty="0">
                <a:solidFill>
                  <a:srgbClr val="FF0000"/>
                </a:solidFill>
              </a:rPr>
              <a:t>渴望</a:t>
            </a:r>
            <a:r>
              <a:rPr lang="en-US" altLang="zh-CN" sz="3600" b="1" dirty="0">
                <a:solidFill>
                  <a:srgbClr val="FF0000"/>
                </a:solidFill>
              </a:rPr>
              <a:t>=a strong desire</a:t>
            </a:r>
            <a:r>
              <a:rPr lang="zh-CN" altLang="en-US" sz="3600" b="1" dirty="0">
                <a:solidFill>
                  <a:srgbClr val="FF0000"/>
                </a:solidFill>
              </a:rPr>
              <a:t>；</a:t>
            </a:r>
            <a:r>
              <a:rPr lang="en-US" altLang="zh-CN" sz="3600" b="1" dirty="0">
                <a:solidFill>
                  <a:srgbClr val="FF0000"/>
                </a:solidFill>
              </a:rPr>
              <a:t> crave= long for</a:t>
            </a:r>
          </a:p>
          <a:p>
            <a:r>
              <a:rPr lang="en-US" altLang="zh-CN" sz="3600" b="1" dirty="0">
                <a:solidFill>
                  <a:srgbClr val="FF0000"/>
                </a:solidFill>
              </a:rPr>
              <a:t> regulate v.</a:t>
            </a:r>
            <a:r>
              <a:rPr lang="zh-CN" altLang="en-US" sz="3600" b="1" dirty="0">
                <a:solidFill>
                  <a:srgbClr val="FF0000"/>
                </a:solidFill>
              </a:rPr>
              <a:t>控制管理</a:t>
            </a:r>
            <a:r>
              <a:rPr lang="en-US" altLang="zh-CN" sz="3600" b="1" dirty="0">
                <a:solidFill>
                  <a:srgbClr val="FF0000"/>
                </a:solidFill>
              </a:rPr>
              <a:t>  regulation n.</a:t>
            </a:r>
            <a:r>
              <a:rPr lang="zh-CN" altLang="en-US" sz="3600" b="1" dirty="0">
                <a:solidFill>
                  <a:srgbClr val="FF0000"/>
                </a:solidFill>
              </a:rPr>
              <a:t>规章制度</a:t>
            </a:r>
            <a:endParaRPr lang="en-US" altLang="zh-CN" sz="3600" b="1" dirty="0">
              <a:solidFill>
                <a:srgbClr val="FF0000"/>
              </a:solidFill>
            </a:endParaRPr>
          </a:p>
          <a:p>
            <a:r>
              <a:rPr lang="en-US" altLang="zh-CN" sz="3600" b="1" dirty="0">
                <a:solidFill>
                  <a:srgbClr val="FF0000"/>
                </a:solidFill>
              </a:rPr>
              <a:t> become an obstacle to</a:t>
            </a:r>
            <a:r>
              <a:rPr lang="zh-CN" altLang="en-US" sz="3600" b="1" dirty="0">
                <a:solidFill>
                  <a:srgbClr val="FF0000"/>
                </a:solidFill>
              </a:rPr>
              <a:t>成为</a:t>
            </a:r>
            <a:r>
              <a:rPr lang="en-US" altLang="zh-CN" sz="3600" b="1" dirty="0">
                <a:solidFill>
                  <a:srgbClr val="FF0000"/>
                </a:solidFill>
              </a:rPr>
              <a:t>…</a:t>
            </a:r>
            <a:r>
              <a:rPr lang="zh-CN" altLang="en-US" sz="3600" b="1" dirty="0">
                <a:solidFill>
                  <a:srgbClr val="FF0000"/>
                </a:solidFill>
              </a:rPr>
              <a:t>的障碍</a:t>
            </a:r>
            <a:endParaRPr lang="en-US" altLang="zh-CN" sz="3600" b="1" dirty="0">
              <a:solidFill>
                <a:srgbClr val="FF0000"/>
              </a:solidFill>
            </a:endParaRPr>
          </a:p>
          <a:p>
            <a:r>
              <a:rPr lang="en-US" altLang="zh-CN" sz="3600" b="1" dirty="0">
                <a:solidFill>
                  <a:srgbClr val="FF0000"/>
                </a:solidFill>
              </a:rPr>
              <a:t> buy groceries</a:t>
            </a:r>
            <a:r>
              <a:rPr lang="zh-CN" altLang="en-US" sz="3600" b="1" dirty="0">
                <a:solidFill>
                  <a:srgbClr val="FF0000"/>
                </a:solidFill>
              </a:rPr>
              <a:t>杂货</a:t>
            </a:r>
            <a:r>
              <a:rPr lang="en-US" altLang="zh-CN" sz="3600" b="1" dirty="0">
                <a:solidFill>
                  <a:srgbClr val="FF0000"/>
                </a:solidFill>
              </a:rPr>
              <a:t>/</a:t>
            </a:r>
            <a:r>
              <a:rPr lang="zh-CN" altLang="en-US" sz="3600" b="1" dirty="0">
                <a:solidFill>
                  <a:srgbClr val="FF0000"/>
                </a:solidFill>
              </a:rPr>
              <a:t>食品</a:t>
            </a:r>
            <a:r>
              <a:rPr lang="en-US" altLang="zh-CN" sz="3600" b="1" dirty="0">
                <a:solidFill>
                  <a:srgbClr val="FF0000"/>
                </a:solidFill>
              </a:rPr>
              <a:t>/</a:t>
            </a:r>
            <a:r>
              <a:rPr lang="zh-CN" altLang="en-US" sz="3600" b="1" dirty="0">
                <a:solidFill>
                  <a:srgbClr val="FF0000"/>
                </a:solidFill>
              </a:rPr>
              <a:t>生活用品 </a:t>
            </a:r>
            <a:r>
              <a:rPr lang="en-US" altLang="zh-CN" sz="3600" b="1" dirty="0">
                <a:solidFill>
                  <a:srgbClr val="FF0000"/>
                </a:solidFill>
              </a:rPr>
              <a:t>ingredients</a:t>
            </a:r>
            <a:r>
              <a:rPr lang="zh-CN" altLang="en-US" sz="3600" b="1" dirty="0">
                <a:solidFill>
                  <a:srgbClr val="FF0000"/>
                </a:solidFill>
              </a:rPr>
              <a:t>材料</a:t>
            </a:r>
            <a:r>
              <a:rPr lang="en-US" altLang="zh-CN" sz="3600" b="1" dirty="0">
                <a:solidFill>
                  <a:srgbClr val="FF0000"/>
                </a:solidFill>
              </a:rPr>
              <a:t>;</a:t>
            </a:r>
            <a:r>
              <a:rPr lang="zh-CN" altLang="en-US" sz="3600" b="1" dirty="0">
                <a:solidFill>
                  <a:srgbClr val="FF0000"/>
                </a:solidFill>
              </a:rPr>
              <a:t>成分</a:t>
            </a:r>
            <a:r>
              <a:rPr lang="en-US" altLang="zh-CN" sz="3600" b="1" dirty="0">
                <a:solidFill>
                  <a:srgbClr val="FF0000"/>
                </a:solidFill>
              </a:rPr>
              <a:t>;</a:t>
            </a:r>
            <a:r>
              <a:rPr lang="zh-CN" altLang="en-US" sz="3600" b="1" dirty="0">
                <a:solidFill>
                  <a:srgbClr val="FF0000"/>
                </a:solidFill>
              </a:rPr>
              <a:t>因素</a:t>
            </a:r>
            <a:endParaRPr lang="en-US" altLang="zh-CN" sz="3600" b="1" dirty="0">
              <a:solidFill>
                <a:srgbClr val="FF0000"/>
              </a:solidFill>
            </a:endParaRPr>
          </a:p>
          <a:p>
            <a:r>
              <a:rPr lang="en-US" altLang="zh-CN" sz="3600" b="1" dirty="0">
                <a:solidFill>
                  <a:srgbClr val="FF0000"/>
                </a:solidFill>
              </a:rPr>
              <a:t> talk up</a:t>
            </a:r>
            <a:r>
              <a:rPr lang="zh-CN" altLang="en-US" sz="3600" b="1" dirty="0">
                <a:solidFill>
                  <a:srgbClr val="FF0000"/>
                </a:solidFill>
              </a:rPr>
              <a:t>大声讲</a:t>
            </a:r>
            <a:r>
              <a:rPr lang="en-US" altLang="zh-CN" sz="3600" b="1" dirty="0">
                <a:solidFill>
                  <a:srgbClr val="FF0000"/>
                </a:solidFill>
              </a:rPr>
              <a:t>;</a:t>
            </a:r>
            <a:r>
              <a:rPr lang="zh-CN" altLang="en-US" sz="3600" b="1" dirty="0">
                <a:solidFill>
                  <a:srgbClr val="FF0000"/>
                </a:solidFill>
              </a:rPr>
              <a:t>直言不讳</a:t>
            </a:r>
            <a:r>
              <a:rPr lang="en-US" altLang="zh-CN" sz="3600" b="1" dirty="0">
                <a:solidFill>
                  <a:srgbClr val="FF0000"/>
                </a:solidFill>
              </a:rPr>
              <a:t>;</a:t>
            </a:r>
            <a:r>
              <a:rPr lang="zh-CN" altLang="en-US" sz="3600" b="1" dirty="0">
                <a:solidFill>
                  <a:srgbClr val="FF0000"/>
                </a:solidFill>
              </a:rPr>
              <a:t>宣传</a:t>
            </a:r>
            <a:endParaRPr lang="en-US" altLang="zh-CN" sz="3600" b="1" dirty="0">
              <a:solidFill>
                <a:srgbClr val="FF0000"/>
              </a:solidFill>
            </a:endParaRPr>
          </a:p>
          <a:p>
            <a:r>
              <a:rPr lang="en-US" altLang="zh-CN" sz="3600" b="1" dirty="0">
                <a:solidFill>
                  <a:srgbClr val="FF0000"/>
                </a:solidFill>
              </a:rPr>
              <a:t> make out</a:t>
            </a:r>
            <a:r>
              <a:rPr lang="zh-CN" altLang="en-US" sz="3600" b="1" dirty="0">
                <a:solidFill>
                  <a:srgbClr val="FF0000"/>
                </a:solidFill>
              </a:rPr>
              <a:t>理解</a:t>
            </a:r>
            <a:r>
              <a:rPr lang="en-US" altLang="zh-CN" sz="3600" b="1" dirty="0">
                <a:solidFill>
                  <a:srgbClr val="FF0000"/>
                </a:solidFill>
              </a:rPr>
              <a:t>,</a:t>
            </a:r>
            <a:r>
              <a:rPr lang="zh-CN" altLang="en-US" sz="3600" b="1" dirty="0">
                <a:solidFill>
                  <a:srgbClr val="FF0000"/>
                </a:solidFill>
              </a:rPr>
              <a:t>弄清楚</a:t>
            </a:r>
            <a:r>
              <a:rPr lang="en-US" altLang="zh-CN" sz="3600" b="1" dirty="0">
                <a:solidFill>
                  <a:srgbClr val="FF0000"/>
                </a:solidFill>
              </a:rPr>
              <a:t>;</a:t>
            </a:r>
            <a:r>
              <a:rPr lang="zh-CN" altLang="en-US" sz="3600" b="1" dirty="0">
                <a:solidFill>
                  <a:srgbClr val="FF0000"/>
                </a:solidFill>
              </a:rPr>
              <a:t>辨认</a:t>
            </a:r>
            <a:r>
              <a:rPr lang="en-US" altLang="zh-CN" sz="3600" b="1" dirty="0">
                <a:solidFill>
                  <a:srgbClr val="FF0000"/>
                </a:solidFill>
              </a:rPr>
              <a:t>;</a:t>
            </a:r>
            <a:r>
              <a:rPr lang="zh-CN" altLang="en-US" sz="3600" b="1" dirty="0">
                <a:solidFill>
                  <a:srgbClr val="FF0000"/>
                </a:solidFill>
              </a:rPr>
              <a:t>填写 </a:t>
            </a:r>
            <a:r>
              <a:rPr lang="en-US" altLang="zh-CN" sz="3600" b="1" dirty="0">
                <a:solidFill>
                  <a:srgbClr val="FF0000"/>
                </a:solidFill>
              </a:rPr>
              <a:t>look into</a:t>
            </a:r>
            <a:r>
              <a:rPr lang="zh-CN" altLang="en-US" sz="3600" b="1" dirty="0">
                <a:solidFill>
                  <a:srgbClr val="FF0000"/>
                </a:solidFill>
              </a:rPr>
              <a:t>调查</a:t>
            </a:r>
            <a:endParaRPr lang="en-US" altLang="zh-CN" sz="3600" b="1" dirty="0">
              <a:solidFill>
                <a:srgbClr val="FF0000"/>
              </a:solidFill>
            </a:endParaRPr>
          </a:p>
          <a:p>
            <a:r>
              <a:rPr lang="en-US" altLang="zh-CN" sz="3600" b="1" dirty="0">
                <a:solidFill>
                  <a:srgbClr val="FF0000"/>
                </a:solidFill>
              </a:rPr>
              <a:t> in time for</a:t>
            </a:r>
            <a:r>
              <a:rPr lang="zh-CN" altLang="en-US" sz="3600" b="1" dirty="0">
                <a:solidFill>
                  <a:srgbClr val="FF0000"/>
                </a:solidFill>
              </a:rPr>
              <a:t>及时</a:t>
            </a:r>
            <a:r>
              <a:rPr lang="en-US" altLang="zh-CN" sz="3600" b="1" dirty="0">
                <a:solidFill>
                  <a:srgbClr val="FF0000"/>
                </a:solidFill>
              </a:rPr>
              <a:t>;</a:t>
            </a:r>
            <a:r>
              <a:rPr lang="zh-CN" altLang="en-US" sz="3600" b="1" dirty="0">
                <a:solidFill>
                  <a:srgbClr val="FF0000"/>
                </a:solidFill>
              </a:rPr>
              <a:t>赶得上  </a:t>
            </a:r>
            <a:r>
              <a:rPr lang="en-US" altLang="zh-CN" sz="3600" b="1" dirty="0">
                <a:solidFill>
                  <a:srgbClr val="FF0000"/>
                </a:solidFill>
              </a:rPr>
              <a:t>in favor of</a:t>
            </a:r>
            <a:r>
              <a:rPr lang="zh-CN" altLang="en-US" sz="3600" b="1" dirty="0">
                <a:solidFill>
                  <a:srgbClr val="FF0000"/>
                </a:solidFill>
              </a:rPr>
              <a:t>支持</a:t>
            </a:r>
            <a:r>
              <a:rPr lang="en-US" altLang="zh-CN" sz="3600" b="1" dirty="0">
                <a:solidFill>
                  <a:srgbClr val="FF0000"/>
                </a:solidFill>
              </a:rPr>
              <a:t> for lack of</a:t>
            </a:r>
            <a:r>
              <a:rPr lang="zh-CN" altLang="en-US" sz="3600" b="1" dirty="0">
                <a:solidFill>
                  <a:srgbClr val="FF0000"/>
                </a:solidFill>
              </a:rPr>
              <a:t>缺乏</a:t>
            </a:r>
            <a:endParaRPr lang="en-US" altLang="zh-CN" sz="3600" b="1" dirty="0">
              <a:solidFill>
                <a:srgbClr val="FF0000"/>
              </a:solidFill>
            </a:endParaRPr>
          </a:p>
          <a:p>
            <a:r>
              <a:rPr lang="en-US" altLang="zh-CN" sz="3600" b="1" dirty="0">
                <a:solidFill>
                  <a:srgbClr val="FF0000"/>
                </a:solidFill>
              </a:rPr>
              <a:t> write(wrote, written) speak(spoke, spoken)</a:t>
            </a:r>
          </a:p>
          <a:p>
            <a:r>
              <a:rPr lang="en-US" altLang="zh-CN" sz="3600" b="1" dirty="0">
                <a:solidFill>
                  <a:srgbClr val="FF0000"/>
                </a:solidFill>
              </a:rPr>
              <a:t> based on</a:t>
            </a:r>
            <a:r>
              <a:rPr lang="zh-CN" altLang="en-US" sz="3600" b="1" dirty="0">
                <a:solidFill>
                  <a:srgbClr val="FF0000"/>
                </a:solidFill>
              </a:rPr>
              <a:t>基于</a:t>
            </a:r>
            <a:r>
              <a:rPr lang="en-US" altLang="zh-CN" sz="3600" b="1" dirty="0">
                <a:solidFill>
                  <a:srgbClr val="FF0000"/>
                </a:solidFill>
              </a:rPr>
              <a:t> warmth n.</a:t>
            </a:r>
            <a:r>
              <a:rPr lang="zh-CN" altLang="en-US" sz="3600" b="1" dirty="0">
                <a:solidFill>
                  <a:srgbClr val="FF0000"/>
                </a:solidFill>
              </a:rPr>
              <a:t>温暖</a:t>
            </a:r>
            <a:r>
              <a:rPr lang="en-US" altLang="zh-CN" sz="3600" b="1" dirty="0">
                <a:solidFill>
                  <a:srgbClr val="FF0000"/>
                </a:solidFill>
              </a:rPr>
              <a:t>;</a:t>
            </a:r>
            <a:r>
              <a:rPr lang="zh-CN" altLang="en-US" sz="3600" b="1" dirty="0">
                <a:solidFill>
                  <a:srgbClr val="FF0000"/>
                </a:solidFill>
              </a:rPr>
              <a:t>热情友好</a:t>
            </a:r>
            <a:endParaRPr lang="en-US" altLang="zh-CN" sz="3600" b="1" dirty="0">
              <a:solidFill>
                <a:srgbClr val="FF0000"/>
              </a:solidFill>
            </a:endParaRPr>
          </a:p>
          <a:p>
            <a:r>
              <a:rPr lang="en-US" altLang="zh-CN" sz="3600" b="1" dirty="0">
                <a:solidFill>
                  <a:srgbClr val="FF0000"/>
                </a:solidFill>
              </a:rPr>
              <a:t> wonderful </a:t>
            </a:r>
            <a:r>
              <a:rPr lang="zh-CN" altLang="en-US" sz="3600" b="1" dirty="0">
                <a:solidFill>
                  <a:srgbClr val="FF0000"/>
                </a:solidFill>
              </a:rPr>
              <a:t>绝妙的</a:t>
            </a:r>
            <a:r>
              <a:rPr lang="en-US" altLang="zh-CN" sz="3600" b="1" dirty="0">
                <a:solidFill>
                  <a:srgbClr val="FF0000"/>
                </a:solidFill>
              </a:rPr>
              <a:t> keep an eye open for </a:t>
            </a:r>
            <a:r>
              <a:rPr lang="zh-CN" altLang="en-US" sz="3600" b="1" dirty="0">
                <a:solidFill>
                  <a:srgbClr val="FF0000"/>
                </a:solidFill>
              </a:rPr>
              <a:t>密切关注</a:t>
            </a:r>
          </a:p>
          <a:p>
            <a:endParaRPr lang="zh-CN" altLang="en-US" sz="3600" b="1" dirty="0">
              <a:solidFill>
                <a:srgbClr val="FF0000"/>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zh-CN" altLang="en-US" sz="3600" b="1" dirty="0">
                <a:solidFill>
                  <a:srgbClr val="FF0000"/>
                </a:solidFill>
              </a:rPr>
              <a:t>综合卷</a:t>
            </a:r>
            <a:r>
              <a:rPr lang="en-US" altLang="zh-CN" sz="3600" b="1" dirty="0">
                <a:solidFill>
                  <a:srgbClr val="FF0000"/>
                </a:solidFill>
              </a:rPr>
              <a:t>1 </a:t>
            </a:r>
          </a:p>
          <a:p>
            <a:r>
              <a:rPr lang="en-US" altLang="zh-CN" sz="3600" b="1" dirty="0">
                <a:solidFill>
                  <a:srgbClr val="FF0000"/>
                </a:solidFill>
              </a:rPr>
              <a:t>acquainted adj.</a:t>
            </a:r>
            <a:r>
              <a:rPr lang="zh-CN" altLang="en-US" sz="3600" b="1" dirty="0">
                <a:solidFill>
                  <a:srgbClr val="FF0000"/>
                </a:solidFill>
              </a:rPr>
              <a:t>相识的</a:t>
            </a:r>
            <a:r>
              <a:rPr lang="en-US" altLang="zh-CN" sz="3600" b="1" dirty="0">
                <a:solidFill>
                  <a:srgbClr val="FF0000"/>
                </a:solidFill>
              </a:rPr>
              <a:t>,</a:t>
            </a:r>
            <a:r>
              <a:rPr lang="zh-CN" altLang="en-US" sz="3600" b="1" dirty="0">
                <a:solidFill>
                  <a:srgbClr val="FF0000"/>
                </a:solidFill>
              </a:rPr>
              <a:t>了解熟悉的</a:t>
            </a:r>
            <a:r>
              <a:rPr lang="en-US" altLang="zh-CN" sz="3600" b="1" dirty="0">
                <a:solidFill>
                  <a:srgbClr val="FF0000"/>
                </a:solidFill>
              </a:rPr>
              <a:t> unacquainted</a:t>
            </a:r>
            <a:r>
              <a:rPr lang="zh-CN" altLang="en-US" sz="3600" b="1" dirty="0">
                <a:solidFill>
                  <a:srgbClr val="FF0000"/>
                </a:solidFill>
              </a:rPr>
              <a:t>不认识的不熟悉的</a:t>
            </a:r>
            <a:r>
              <a:rPr lang="en-US" altLang="zh-CN" sz="3600" b="1" dirty="0">
                <a:solidFill>
                  <a:srgbClr val="FF0000"/>
                </a:solidFill>
              </a:rPr>
              <a:t> acquaintance n.</a:t>
            </a:r>
            <a:r>
              <a:rPr lang="zh-CN" altLang="en-US" sz="3600" b="1" dirty="0">
                <a:solidFill>
                  <a:srgbClr val="FF0000"/>
                </a:solidFill>
              </a:rPr>
              <a:t>认识了解</a:t>
            </a:r>
            <a:r>
              <a:rPr lang="en-US" altLang="zh-CN" sz="3600" b="1" dirty="0">
                <a:solidFill>
                  <a:srgbClr val="FF0000"/>
                </a:solidFill>
              </a:rPr>
              <a:t>;</a:t>
            </a:r>
            <a:r>
              <a:rPr lang="zh-CN" altLang="en-US" sz="3600" b="1" dirty="0">
                <a:solidFill>
                  <a:srgbClr val="FF0000"/>
                </a:solidFill>
              </a:rPr>
              <a:t>泛泛之交</a:t>
            </a:r>
          </a:p>
          <a:p>
            <a:r>
              <a:rPr lang="en-US" altLang="zh-CN" sz="3600" b="1" dirty="0">
                <a:solidFill>
                  <a:srgbClr val="FF0000"/>
                </a:solidFill>
              </a:rPr>
              <a:t>environmentally-friendly</a:t>
            </a:r>
            <a:r>
              <a:rPr lang="zh-CN" altLang="en-US" sz="3600" b="1" dirty="0">
                <a:solidFill>
                  <a:srgbClr val="FF0000"/>
                </a:solidFill>
              </a:rPr>
              <a:t>环保的</a:t>
            </a:r>
            <a:r>
              <a:rPr lang="en-US" altLang="zh-CN" sz="3600" b="1" dirty="0">
                <a:solidFill>
                  <a:srgbClr val="FF0000"/>
                </a:solidFill>
              </a:rPr>
              <a:t>energy-consuming</a:t>
            </a:r>
            <a:r>
              <a:rPr lang="zh-CN" altLang="en-US" sz="3600" b="1" dirty="0">
                <a:solidFill>
                  <a:srgbClr val="FF0000"/>
                </a:solidFill>
              </a:rPr>
              <a:t>消耗能源的</a:t>
            </a:r>
            <a:r>
              <a:rPr lang="en-US" altLang="zh-CN" sz="3600" b="1" dirty="0">
                <a:solidFill>
                  <a:srgbClr val="FF0000"/>
                </a:solidFill>
              </a:rPr>
              <a:t> cost-effective</a:t>
            </a:r>
            <a:r>
              <a:rPr lang="zh-CN" altLang="en-US" sz="3600" b="1" dirty="0">
                <a:solidFill>
                  <a:srgbClr val="FF0000"/>
                </a:solidFill>
              </a:rPr>
              <a:t>成本效益好的</a:t>
            </a:r>
            <a:r>
              <a:rPr lang="en-US" altLang="zh-CN" sz="3600" b="1" dirty="0">
                <a:solidFill>
                  <a:srgbClr val="FF0000"/>
                </a:solidFill>
              </a:rPr>
              <a:t> indifferent</a:t>
            </a:r>
            <a:r>
              <a:rPr lang="zh-CN" altLang="en-US" sz="3600" b="1" dirty="0">
                <a:solidFill>
                  <a:srgbClr val="FF0000"/>
                </a:solidFill>
              </a:rPr>
              <a:t>漠不关心的</a:t>
            </a:r>
            <a:r>
              <a:rPr lang="en-US" altLang="zh-CN" sz="3600" b="1" dirty="0">
                <a:solidFill>
                  <a:srgbClr val="FF0000"/>
                </a:solidFill>
              </a:rPr>
              <a:t> unfavourable</a:t>
            </a:r>
            <a:r>
              <a:rPr lang="zh-CN" altLang="en-US" sz="3600" b="1" dirty="0">
                <a:solidFill>
                  <a:srgbClr val="FF0000"/>
                </a:solidFill>
              </a:rPr>
              <a:t>不利</a:t>
            </a:r>
            <a:r>
              <a:rPr lang="en-US" altLang="zh-CN" sz="3600" b="1" dirty="0">
                <a:solidFill>
                  <a:srgbClr val="FF0000"/>
                </a:solidFill>
              </a:rPr>
              <a:t> diverse adj.</a:t>
            </a:r>
            <a:r>
              <a:rPr lang="zh-CN" altLang="en-US" sz="3600" b="1" dirty="0">
                <a:solidFill>
                  <a:srgbClr val="FF0000"/>
                </a:solidFill>
              </a:rPr>
              <a:t>不同的</a:t>
            </a:r>
            <a:r>
              <a:rPr lang="en-US" altLang="zh-CN" sz="3600" b="1" dirty="0">
                <a:solidFill>
                  <a:srgbClr val="FF0000"/>
                </a:solidFill>
              </a:rPr>
              <a:t>;</a:t>
            </a:r>
            <a:r>
              <a:rPr lang="zh-CN" altLang="en-US" sz="3600" b="1" dirty="0">
                <a:solidFill>
                  <a:srgbClr val="FF0000"/>
                </a:solidFill>
              </a:rPr>
              <a:t>各种各样的</a:t>
            </a:r>
          </a:p>
          <a:p>
            <a:r>
              <a:rPr lang="en-US" altLang="zh-CN" sz="3600" b="1" dirty="0">
                <a:solidFill>
                  <a:srgbClr val="FF0000"/>
                </a:solidFill>
                <a:sym typeface="+mn-ea"/>
              </a:rPr>
              <a:t>expertly</a:t>
            </a:r>
            <a:r>
              <a:rPr lang="zh-CN" altLang="en-US" sz="3600" b="1" dirty="0">
                <a:solidFill>
                  <a:srgbClr val="FF0000"/>
                </a:solidFill>
                <a:sym typeface="+mn-ea"/>
              </a:rPr>
              <a:t>熟练地</a:t>
            </a:r>
            <a:r>
              <a:rPr lang="en-US" altLang="zh-CN" sz="3600" b="1" dirty="0">
                <a:solidFill>
                  <a:srgbClr val="FF0000"/>
                </a:solidFill>
                <a:sym typeface="+mn-ea"/>
              </a:rPr>
              <a:t> assess v.</a:t>
            </a:r>
            <a:r>
              <a:rPr lang="zh-CN" altLang="en-US" sz="3600" b="1" dirty="0">
                <a:solidFill>
                  <a:srgbClr val="FF0000"/>
                </a:solidFill>
                <a:sym typeface="+mn-ea"/>
              </a:rPr>
              <a:t>评估</a:t>
            </a:r>
            <a:r>
              <a:rPr lang="en-US" altLang="zh-CN" sz="3600" b="1" dirty="0">
                <a:solidFill>
                  <a:srgbClr val="FF0000"/>
                </a:solidFill>
                <a:sym typeface="+mn-ea"/>
              </a:rPr>
              <a:t> assessment n.</a:t>
            </a:r>
            <a:endParaRPr lang="en-US" altLang="zh-CN" sz="3600" b="1" dirty="0">
              <a:solidFill>
                <a:srgbClr val="FF0000"/>
              </a:solidFill>
            </a:endParaRPr>
          </a:p>
          <a:p>
            <a:r>
              <a:rPr lang="en-US" altLang="zh-CN" sz="3600" b="1" dirty="0">
                <a:solidFill>
                  <a:srgbClr val="FF0000"/>
                </a:solidFill>
                <a:sym typeface="+mn-ea"/>
              </a:rPr>
              <a:t> appeal to</a:t>
            </a:r>
            <a:r>
              <a:rPr lang="zh-CN" altLang="en-US" sz="3600" b="1" dirty="0">
                <a:solidFill>
                  <a:srgbClr val="FF0000"/>
                </a:solidFill>
                <a:sym typeface="+mn-ea"/>
              </a:rPr>
              <a:t>要求</a:t>
            </a:r>
            <a:r>
              <a:rPr lang="en-US" altLang="zh-CN" sz="3600" b="1" dirty="0">
                <a:solidFill>
                  <a:srgbClr val="FF0000"/>
                </a:solidFill>
                <a:sym typeface="+mn-ea"/>
              </a:rPr>
              <a:t>,</a:t>
            </a:r>
            <a:r>
              <a:rPr lang="zh-CN" altLang="en-US" sz="3600" b="1" dirty="0">
                <a:solidFill>
                  <a:srgbClr val="FF0000"/>
                </a:solidFill>
                <a:sym typeface="+mn-ea"/>
              </a:rPr>
              <a:t>呼吁</a:t>
            </a:r>
            <a:r>
              <a:rPr lang="en-US" altLang="zh-CN" sz="3600" b="1" dirty="0">
                <a:solidFill>
                  <a:srgbClr val="FF0000"/>
                </a:solidFill>
                <a:sym typeface="+mn-ea"/>
              </a:rPr>
              <a:t>,</a:t>
            </a:r>
            <a:r>
              <a:rPr lang="zh-CN" altLang="en-US" sz="3600" b="1" dirty="0">
                <a:solidFill>
                  <a:srgbClr val="FF0000"/>
                </a:solidFill>
                <a:sym typeface="+mn-ea"/>
              </a:rPr>
              <a:t>上诉</a:t>
            </a:r>
            <a:r>
              <a:rPr lang="en-US" altLang="zh-CN" sz="3600" b="1" dirty="0">
                <a:solidFill>
                  <a:srgbClr val="FF0000"/>
                </a:solidFill>
                <a:sym typeface="+mn-ea"/>
              </a:rPr>
              <a:t> answer to</a:t>
            </a:r>
            <a:r>
              <a:rPr lang="zh-CN" altLang="en-US" sz="3600" b="1" dirty="0">
                <a:solidFill>
                  <a:srgbClr val="FF0000"/>
                </a:solidFill>
                <a:sym typeface="+mn-ea"/>
              </a:rPr>
              <a:t>回应</a:t>
            </a:r>
            <a:endParaRPr lang="en-US" altLang="zh-CN" sz="3600" b="1" dirty="0">
              <a:solidFill>
                <a:srgbClr val="FF0000"/>
              </a:solidFill>
            </a:endParaRPr>
          </a:p>
          <a:p>
            <a:r>
              <a:rPr lang="en-US" altLang="zh-CN" sz="3600" b="1" dirty="0">
                <a:solidFill>
                  <a:srgbClr val="FF0000"/>
                </a:solidFill>
                <a:sym typeface="+mn-ea"/>
              </a:rPr>
              <a:t> object to</a:t>
            </a:r>
            <a:r>
              <a:rPr lang="zh-CN" altLang="en-US" sz="3600" b="1" dirty="0">
                <a:solidFill>
                  <a:srgbClr val="FF0000"/>
                </a:solidFill>
                <a:sym typeface="+mn-ea"/>
              </a:rPr>
              <a:t>反对</a:t>
            </a:r>
            <a:r>
              <a:rPr lang="en-US" altLang="zh-CN" sz="3600" b="1" dirty="0">
                <a:solidFill>
                  <a:srgbClr val="FF0000"/>
                </a:solidFill>
                <a:sym typeface="+mn-ea"/>
              </a:rPr>
              <a:t> apologize to sb. for sth.</a:t>
            </a:r>
            <a:r>
              <a:rPr lang="zh-CN" altLang="en-US" sz="3600" b="1" dirty="0">
                <a:solidFill>
                  <a:srgbClr val="FF0000"/>
                </a:solidFill>
                <a:sym typeface="+mn-ea"/>
              </a:rPr>
              <a:t>向</a:t>
            </a:r>
            <a:r>
              <a:rPr lang="en-US" altLang="zh-CN" sz="3600" b="1" dirty="0">
                <a:solidFill>
                  <a:srgbClr val="FF0000"/>
                </a:solidFill>
                <a:sym typeface="+mn-ea"/>
              </a:rPr>
              <a:t>…</a:t>
            </a:r>
            <a:r>
              <a:rPr lang="zh-CN" altLang="en-US" sz="3600" b="1" dirty="0">
                <a:solidFill>
                  <a:srgbClr val="FF0000"/>
                </a:solidFill>
                <a:sym typeface="+mn-ea"/>
              </a:rPr>
              <a:t>道歉</a:t>
            </a:r>
            <a:endParaRPr lang="en-US" altLang="zh-CN" sz="3600" b="1" dirty="0">
              <a:solidFill>
                <a:srgbClr val="FF0000"/>
              </a:solidFill>
            </a:endParaRPr>
          </a:p>
          <a:p>
            <a:r>
              <a:rPr lang="en-US" altLang="zh-CN" sz="3600" b="1" dirty="0">
                <a:solidFill>
                  <a:srgbClr val="FF0000"/>
                </a:solidFill>
                <a:sym typeface="+mn-ea"/>
              </a:rPr>
              <a:t> upload</a:t>
            </a:r>
            <a:r>
              <a:rPr lang="zh-CN" altLang="en-US" sz="3600" b="1" dirty="0">
                <a:solidFill>
                  <a:srgbClr val="FF0000"/>
                </a:solidFill>
                <a:sym typeface="+mn-ea"/>
              </a:rPr>
              <a:t>上传</a:t>
            </a:r>
            <a:r>
              <a:rPr lang="en-US" altLang="zh-CN" sz="3600" b="1" dirty="0">
                <a:solidFill>
                  <a:srgbClr val="FF0000"/>
                </a:solidFill>
                <a:sym typeface="+mn-ea"/>
              </a:rPr>
              <a:t>  clarify v.</a:t>
            </a:r>
            <a:r>
              <a:rPr lang="zh-CN" altLang="en-US" sz="3600" b="1" dirty="0">
                <a:solidFill>
                  <a:srgbClr val="FF0000"/>
                </a:solidFill>
                <a:sym typeface="+mn-ea"/>
              </a:rPr>
              <a:t>澄清阐明进化</a:t>
            </a:r>
            <a:r>
              <a:rPr lang="en-US" altLang="zh-CN" sz="3600" b="1" dirty="0">
                <a:solidFill>
                  <a:srgbClr val="FF0000"/>
                </a:solidFill>
                <a:sym typeface="+mn-ea"/>
              </a:rPr>
              <a:t> clarification n.</a:t>
            </a:r>
            <a:endParaRPr lang="en-US" altLang="zh-CN" sz="3600" b="1" dirty="0">
              <a:solidFill>
                <a:srgbClr val="FF0000"/>
              </a:solidFill>
            </a:endParaRPr>
          </a:p>
          <a:p>
            <a:r>
              <a:rPr lang="en-US" altLang="zh-CN" sz="3600" b="1" dirty="0">
                <a:solidFill>
                  <a:srgbClr val="FF0000"/>
                </a:solidFill>
                <a:sym typeface="+mn-ea"/>
              </a:rPr>
              <a:t> in sales</a:t>
            </a:r>
            <a:r>
              <a:rPr lang="zh-CN" altLang="en-US" sz="3600" b="1" dirty="0">
                <a:solidFill>
                  <a:srgbClr val="FF0000"/>
                </a:solidFill>
                <a:sym typeface="+mn-ea"/>
              </a:rPr>
              <a:t>在销量上</a:t>
            </a:r>
            <a:r>
              <a:rPr lang="en-US" altLang="zh-CN" sz="3600" b="1" dirty="0">
                <a:solidFill>
                  <a:srgbClr val="FF0000"/>
                </a:solidFill>
                <a:sym typeface="+mn-ea"/>
              </a:rPr>
              <a:t>chararters </a:t>
            </a:r>
            <a:r>
              <a:rPr lang="zh-CN" altLang="en-US" sz="3600" b="1" dirty="0">
                <a:solidFill>
                  <a:srgbClr val="FF0000"/>
                </a:solidFill>
                <a:sym typeface="+mn-ea"/>
              </a:rPr>
              <a:t>汉字</a:t>
            </a:r>
            <a:r>
              <a:rPr lang="en-US" altLang="zh-CN" sz="3600" b="1" dirty="0">
                <a:solidFill>
                  <a:srgbClr val="FF0000"/>
                </a:solidFill>
                <a:sym typeface="+mn-ea"/>
              </a:rPr>
              <a:t> </a:t>
            </a:r>
            <a:r>
              <a:rPr lang="en-US" altLang="zh-CN" sz="3600" b="1" dirty="0">
                <a:sym typeface="+mn-ea"/>
              </a:rPr>
              <a:t>increasingly </a:t>
            </a:r>
            <a:r>
              <a:rPr lang="zh-CN" altLang="en-US" sz="3600" b="1" dirty="0">
                <a:sym typeface="+mn-ea"/>
              </a:rPr>
              <a:t>日益</a:t>
            </a:r>
          </a:p>
          <a:p>
            <a:r>
              <a:rPr lang="zh-CN" altLang="en-US" sz="3600" b="1" dirty="0">
                <a:sym typeface="+mn-ea"/>
              </a:rPr>
              <a:t> </a:t>
            </a:r>
            <a:r>
              <a:rPr lang="en-US" altLang="zh-CN" sz="3600" b="1" dirty="0">
                <a:sym typeface="+mn-ea"/>
              </a:rPr>
              <a:t>post</a:t>
            </a:r>
            <a:r>
              <a:rPr lang="zh-CN" altLang="en-US" sz="3600" b="1" dirty="0">
                <a:sym typeface="+mn-ea"/>
              </a:rPr>
              <a:t>上传</a:t>
            </a:r>
            <a:r>
              <a:rPr lang="en-US" altLang="zh-CN" sz="3600" b="1" dirty="0">
                <a:sym typeface="+mn-ea"/>
              </a:rPr>
              <a:t>  career</a:t>
            </a:r>
            <a:r>
              <a:rPr lang="zh-CN" altLang="en-US" sz="3600" b="1" dirty="0">
                <a:sym typeface="+mn-ea"/>
              </a:rPr>
              <a:t>事业</a:t>
            </a:r>
            <a:endParaRPr lang="en-US" altLang="zh-CN" sz="3600" b="1" dirty="0">
              <a:solidFill>
                <a:srgbClr val="FF0000"/>
              </a:solidFill>
            </a:endParaRPr>
          </a:p>
          <a:p>
            <a:endParaRPr lang="en-US" altLang="zh-CN" sz="3600" b="1" dirty="0">
              <a:solidFill>
                <a:srgbClr val="FF0000"/>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t>综合卷</a:t>
            </a:r>
            <a:r>
              <a:rPr lang="en-US" altLang="zh-CN" sz="3600" b="1" dirty="0"/>
              <a:t>2 </a:t>
            </a:r>
            <a:r>
              <a:rPr lang="en-US" altLang="zh-CN" sz="3600" b="1" dirty="0">
                <a:solidFill>
                  <a:srgbClr val="FF0000"/>
                </a:solidFill>
              </a:rPr>
              <a:t>cycling n.</a:t>
            </a:r>
            <a:r>
              <a:rPr lang="zh-CN" altLang="en-US" sz="3600" b="1" dirty="0">
                <a:solidFill>
                  <a:srgbClr val="FF0000"/>
                </a:solidFill>
              </a:rPr>
              <a:t>骑自行车 </a:t>
            </a:r>
            <a:r>
              <a:rPr lang="en-US" altLang="zh-CN" sz="3600" b="1" dirty="0">
                <a:solidFill>
                  <a:srgbClr val="FF0000"/>
                </a:solidFill>
              </a:rPr>
              <a:t>in great shape</a:t>
            </a:r>
            <a:r>
              <a:rPr lang="zh-CN" altLang="en-US" sz="3600" b="1" dirty="0">
                <a:solidFill>
                  <a:srgbClr val="FF0000"/>
                </a:solidFill>
              </a:rPr>
              <a:t>身体状况良好</a:t>
            </a:r>
            <a:endParaRPr lang="en-US" altLang="zh-CN" sz="3600" b="1" dirty="0">
              <a:solidFill>
                <a:srgbClr val="FF0000"/>
              </a:solidFill>
            </a:endParaRPr>
          </a:p>
          <a:p>
            <a:r>
              <a:rPr lang="en-US" altLang="zh-CN" sz="3600" b="1" dirty="0">
                <a:solidFill>
                  <a:srgbClr val="FF0000"/>
                </a:solidFill>
              </a:rPr>
              <a:t> rugged and steep</a:t>
            </a:r>
            <a:r>
              <a:rPr lang="zh-CN" altLang="en-US" sz="3600" b="1" dirty="0">
                <a:solidFill>
                  <a:srgbClr val="FF0000"/>
                </a:solidFill>
              </a:rPr>
              <a:t>崎岖陡峭的</a:t>
            </a:r>
            <a:endParaRPr lang="en-US" altLang="zh-CN" sz="3600" b="1" dirty="0">
              <a:solidFill>
                <a:srgbClr val="FF0000"/>
              </a:solidFill>
            </a:endParaRPr>
          </a:p>
          <a:p>
            <a:r>
              <a:rPr lang="en-US" altLang="zh-CN" sz="3600" b="1" dirty="0">
                <a:solidFill>
                  <a:srgbClr val="FF0000"/>
                </a:solidFill>
              </a:rPr>
              <a:t> the least recommended way</a:t>
            </a:r>
            <a:r>
              <a:rPr lang="zh-CN" altLang="en-US" sz="3600" b="1" dirty="0">
                <a:solidFill>
                  <a:srgbClr val="FF0000"/>
                </a:solidFill>
              </a:rPr>
              <a:t>最不推荐的方式</a:t>
            </a:r>
            <a:endParaRPr lang="en-US" altLang="zh-CN" sz="3600" b="1" dirty="0">
              <a:solidFill>
                <a:srgbClr val="FF0000"/>
              </a:solidFill>
            </a:endParaRPr>
          </a:p>
          <a:p>
            <a:r>
              <a:rPr lang="en-US" altLang="zh-CN" sz="3200" b="1" dirty="0">
                <a:solidFill>
                  <a:srgbClr val="FF0000"/>
                </a:solidFill>
              </a:rPr>
              <a:t> 4.Understanding </a:t>
            </a:r>
            <a:r>
              <a:rPr lang="en-US" altLang="zh-CN" sz="3200" b="1" dirty="0"/>
              <a:t>what teens are talking about has been bothering parents. </a:t>
            </a:r>
            <a:r>
              <a:rPr lang="en-US" altLang="zh-CN" sz="3200" b="1" u="sng" dirty="0">
                <a:solidFill>
                  <a:srgbClr val="FF0000"/>
                </a:solidFill>
              </a:rPr>
              <a:t>One teacher found </a:t>
            </a:r>
            <a:r>
              <a:rPr lang="en-US" altLang="zh-CN" sz="3200" b="1" u="sng" dirty="0">
                <a:solidFill>
                  <a:srgbClr val="FF0000"/>
                </a:solidFill>
                <a:highlight>
                  <a:srgbClr val="FFFF00"/>
                </a:highlight>
              </a:rPr>
              <a:t>a solution </a:t>
            </a:r>
            <a:r>
              <a:rPr lang="en-US" altLang="zh-CN" sz="3200" b="1" dirty="0">
                <a:solidFill>
                  <a:srgbClr val="FF0000"/>
                </a:solidFill>
              </a:rPr>
              <a:t>for </a:t>
            </a:r>
            <a:r>
              <a:rPr lang="en-US" altLang="zh-CN" sz="3200" b="1" u="sng" dirty="0">
                <a:solidFill>
                  <a:srgbClr val="FF0000"/>
                </a:solidFill>
              </a:rPr>
              <a:t>people</a:t>
            </a:r>
            <a:r>
              <a:rPr lang="en-US" altLang="zh-CN" sz="3200" b="1" dirty="0">
                <a:solidFill>
                  <a:srgbClr val="FF0000"/>
                </a:solidFill>
              </a:rPr>
              <a:t> </a:t>
            </a:r>
            <a:r>
              <a:rPr lang="en-US" altLang="zh-CN" sz="3200" b="1" dirty="0"/>
              <a:t>on social media saying </a:t>
            </a:r>
            <a:r>
              <a:rPr lang="en-US" altLang="zh-CN" sz="3200" b="1" u="sng" dirty="0">
                <a:solidFill>
                  <a:srgbClr val="FF0000"/>
                </a:solidFill>
              </a:rPr>
              <a:t>they’re</a:t>
            </a:r>
            <a:r>
              <a:rPr lang="en-US" altLang="zh-CN" sz="3200" b="1" dirty="0">
                <a:solidFill>
                  <a:srgbClr val="FF0000"/>
                </a:solidFill>
              </a:rPr>
              <a:t> “willing to pay for </a:t>
            </a:r>
            <a:r>
              <a:rPr lang="en-US" altLang="zh-CN" sz="3200" b="1" u="sng" dirty="0">
                <a:solidFill>
                  <a:srgbClr val="FF0000"/>
                </a:solidFill>
                <a:highlight>
                  <a:srgbClr val="FFFF00"/>
                </a:highlight>
              </a:rPr>
              <a:t>it</a:t>
            </a:r>
            <a:r>
              <a:rPr lang="en-US" altLang="zh-CN" sz="3200" b="1" dirty="0">
                <a:solidFill>
                  <a:srgbClr val="FF0000"/>
                </a:solidFill>
              </a:rPr>
              <a:t>.”</a:t>
            </a:r>
          </a:p>
          <a:p>
            <a:r>
              <a:rPr lang="en-US" altLang="zh-CN" sz="3600" b="1" dirty="0">
                <a:solidFill>
                  <a:srgbClr val="FF0000"/>
                </a:solidFill>
              </a:rPr>
              <a:t> admirable</a:t>
            </a:r>
            <a:r>
              <a:rPr lang="zh-CN" altLang="en-US" sz="3600" b="1" dirty="0">
                <a:solidFill>
                  <a:srgbClr val="FF0000"/>
                </a:solidFill>
              </a:rPr>
              <a:t>令人钦佩的</a:t>
            </a:r>
            <a:r>
              <a:rPr lang="en-US" altLang="zh-CN" sz="3600" b="1" dirty="0">
                <a:solidFill>
                  <a:srgbClr val="FF0000"/>
                </a:solidFill>
              </a:rPr>
              <a:t> applause n.</a:t>
            </a:r>
            <a:r>
              <a:rPr lang="zh-CN" altLang="en-US" sz="3600" b="1" dirty="0">
                <a:solidFill>
                  <a:srgbClr val="FF0000"/>
                </a:solidFill>
              </a:rPr>
              <a:t>掌声喝彩</a:t>
            </a:r>
            <a:endParaRPr lang="en-US" altLang="zh-CN" sz="3600" b="1" dirty="0">
              <a:solidFill>
                <a:srgbClr val="FF0000"/>
              </a:solidFill>
            </a:endParaRPr>
          </a:p>
          <a:p>
            <a:r>
              <a:rPr lang="en-US" altLang="zh-CN" sz="3600" b="1" dirty="0">
                <a:solidFill>
                  <a:srgbClr val="FF0000"/>
                </a:solidFill>
              </a:rPr>
              <a:t> applaud sb. for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为某人做某事鼓掌赞扬 </a:t>
            </a:r>
            <a:endParaRPr lang="en-US" altLang="zh-CN" sz="3600" b="1" dirty="0">
              <a:solidFill>
                <a:srgbClr val="FF0000"/>
              </a:solidFill>
            </a:endParaRPr>
          </a:p>
          <a:p>
            <a:r>
              <a:rPr lang="en-US" altLang="zh-CN" sz="3600" b="1" dirty="0">
                <a:solidFill>
                  <a:srgbClr val="FF0000"/>
                </a:solidFill>
              </a:rPr>
              <a:t>exclamation</a:t>
            </a:r>
            <a:r>
              <a:rPr lang="zh-CN" altLang="en-US" sz="3600" b="1" dirty="0">
                <a:solidFill>
                  <a:srgbClr val="FF0000"/>
                </a:solidFill>
              </a:rPr>
              <a:t>惊叹  </a:t>
            </a:r>
            <a:r>
              <a:rPr lang="en-US" altLang="zh-CN" sz="3600" b="1" dirty="0">
                <a:solidFill>
                  <a:srgbClr val="FF0000"/>
                </a:solidFill>
              </a:rPr>
              <a:t>be engaged in</a:t>
            </a:r>
            <a:r>
              <a:rPr lang="zh-CN" altLang="en-US" sz="3600" b="1" dirty="0">
                <a:solidFill>
                  <a:srgbClr val="FF0000"/>
                </a:solidFill>
              </a:rPr>
              <a:t>忙于</a:t>
            </a:r>
            <a:endParaRPr lang="en-US" altLang="zh-CN" sz="3600" b="1" dirty="0">
              <a:solidFill>
                <a:srgbClr val="FF0000"/>
              </a:solidFill>
            </a:endParaRPr>
          </a:p>
          <a:p>
            <a:r>
              <a:rPr lang="en-US" altLang="zh-CN" sz="3600" b="1" dirty="0">
                <a:solidFill>
                  <a:srgbClr val="FF0000"/>
                </a:solidFill>
              </a:rPr>
              <a:t> learning efficiency</a:t>
            </a:r>
            <a:r>
              <a:rPr lang="zh-CN" altLang="en-US" sz="3600" b="1" dirty="0">
                <a:solidFill>
                  <a:srgbClr val="FF0000"/>
                </a:solidFill>
              </a:rPr>
              <a:t>学习效率 </a:t>
            </a:r>
            <a:endParaRPr lang="en-US" altLang="zh-CN" sz="3600" b="1" dirty="0">
              <a:solidFill>
                <a:srgbClr val="FF0000"/>
              </a:solidFill>
            </a:endParaRPr>
          </a:p>
          <a:p>
            <a:r>
              <a:rPr lang="en-US" altLang="zh-CN" sz="3600" b="1" dirty="0">
                <a:solidFill>
                  <a:srgbClr val="FF0000"/>
                </a:solidFill>
              </a:rPr>
              <a:t> get college credit</a:t>
            </a:r>
            <a:r>
              <a:rPr lang="zh-CN" altLang="en-US" sz="3600" b="1" dirty="0">
                <a:solidFill>
                  <a:srgbClr val="FF0000"/>
                </a:solidFill>
              </a:rPr>
              <a:t>获得大学学分</a:t>
            </a:r>
            <a:endParaRPr lang="en-US" altLang="zh-CN" sz="3600" b="1" dirty="0">
              <a:solidFill>
                <a:srgbClr val="FF0000"/>
              </a:solidFill>
            </a:endParaRPr>
          </a:p>
          <a:p>
            <a:r>
              <a:rPr lang="en-US" altLang="zh-CN" sz="3600" b="1" dirty="0">
                <a:solidFill>
                  <a:srgbClr val="FF0000"/>
                </a:solidFill>
              </a:rPr>
              <a:t> </a:t>
            </a:r>
            <a:r>
              <a:rPr lang="en-US" altLang="zh-CN" sz="3600" b="1" dirty="0"/>
              <a:t>take up a new profession</a:t>
            </a:r>
            <a:r>
              <a:rPr lang="zh-CN" altLang="en-US" sz="3600" b="1" dirty="0"/>
              <a:t>从事一项新的事业</a:t>
            </a:r>
            <a:endParaRPr lang="en-US" altLang="zh-CN" sz="3600" b="1"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a:solidFill>
                  <a:srgbClr val="FF0000"/>
                </a:solidFill>
              </a:rPr>
              <a:t> commercial </a:t>
            </a:r>
            <a:r>
              <a:rPr lang="en-US" altLang="zh-CN" sz="3600" b="1" dirty="0">
                <a:solidFill>
                  <a:srgbClr val="FF0000"/>
                </a:solidFill>
              </a:rPr>
              <a:t>value</a:t>
            </a:r>
            <a:r>
              <a:rPr lang="zh-CN" altLang="en-US" sz="3600" b="1" dirty="0">
                <a:solidFill>
                  <a:srgbClr val="FF0000"/>
                </a:solidFill>
              </a:rPr>
              <a:t>商业价值</a:t>
            </a:r>
            <a:r>
              <a:rPr lang="en-US" altLang="zh-CN" sz="3600" b="1" dirty="0">
                <a:solidFill>
                  <a:srgbClr val="FF0000"/>
                </a:solidFill>
              </a:rPr>
              <a:t> a common resource</a:t>
            </a:r>
            <a:r>
              <a:rPr lang="zh-CN" altLang="en-US" sz="3600" b="1" dirty="0">
                <a:solidFill>
                  <a:srgbClr val="FF0000"/>
                </a:solidFill>
              </a:rPr>
              <a:t>公共资源</a:t>
            </a:r>
            <a:endParaRPr lang="en-US" altLang="zh-CN" sz="3600" b="1" dirty="0">
              <a:solidFill>
                <a:srgbClr val="FF0000"/>
              </a:solidFill>
            </a:endParaRPr>
          </a:p>
          <a:p>
            <a:r>
              <a:rPr lang="en-US" altLang="zh-CN" sz="3600" b="1" dirty="0">
                <a:solidFill>
                  <a:srgbClr val="FF0000"/>
                </a:solidFill>
              </a:rPr>
              <a:t> private goods</a:t>
            </a:r>
            <a:r>
              <a:rPr lang="zh-CN" altLang="en-US" sz="3600" b="1" dirty="0">
                <a:solidFill>
                  <a:srgbClr val="FF0000"/>
                </a:solidFill>
              </a:rPr>
              <a:t>私人财产</a:t>
            </a:r>
            <a:r>
              <a:rPr lang="en-US" altLang="zh-CN" sz="3600" b="1" dirty="0">
                <a:solidFill>
                  <a:srgbClr val="FF0000"/>
                </a:solidFill>
              </a:rPr>
              <a:t> by contrast</a:t>
            </a:r>
            <a:r>
              <a:rPr lang="zh-CN" altLang="en-US" sz="3600" b="1" dirty="0">
                <a:solidFill>
                  <a:srgbClr val="FF0000"/>
                </a:solidFill>
              </a:rPr>
              <a:t>相比之下</a:t>
            </a:r>
            <a:endParaRPr lang="en-US" altLang="zh-CN" sz="3600" b="1" dirty="0">
              <a:solidFill>
                <a:srgbClr val="FF0000"/>
              </a:solidFill>
            </a:endParaRPr>
          </a:p>
          <a:p>
            <a:r>
              <a:rPr lang="en-US" altLang="zh-CN" sz="3600" b="1" dirty="0">
                <a:solidFill>
                  <a:srgbClr val="FF0000"/>
                </a:solidFill>
              </a:rPr>
              <a:t> ownership types</a:t>
            </a:r>
            <a:r>
              <a:rPr lang="zh-CN" altLang="en-US" sz="3600" b="1" dirty="0">
                <a:solidFill>
                  <a:srgbClr val="FF0000"/>
                </a:solidFill>
              </a:rPr>
              <a:t>所有权类型 </a:t>
            </a:r>
            <a:r>
              <a:rPr lang="en-US" altLang="zh-CN" sz="3600" b="1" dirty="0">
                <a:solidFill>
                  <a:srgbClr val="FF0000"/>
                </a:solidFill>
              </a:rPr>
              <a:t>property</a:t>
            </a:r>
            <a:r>
              <a:rPr lang="zh-CN" altLang="en-US" sz="3600" b="1" dirty="0">
                <a:solidFill>
                  <a:srgbClr val="FF0000"/>
                </a:solidFill>
              </a:rPr>
              <a:t>财产</a:t>
            </a:r>
            <a:r>
              <a:rPr lang="en-US" altLang="zh-CN" sz="3600" b="1" dirty="0">
                <a:solidFill>
                  <a:srgbClr val="FF0000"/>
                </a:solidFill>
              </a:rPr>
              <a:t>=possession</a:t>
            </a:r>
          </a:p>
          <a:p>
            <a:endParaRPr lang="en-US" altLang="zh-CN" sz="3600" b="1" dirty="0">
              <a:solidFill>
                <a:srgbClr val="FF0000"/>
              </a:solidFill>
            </a:endParaRPr>
          </a:p>
          <a:p>
            <a:r>
              <a:rPr lang="en-US" altLang="zh-CN" sz="3600" b="1" dirty="0">
                <a:solidFill>
                  <a:srgbClr val="FF0000"/>
                </a:solidFill>
              </a:rPr>
              <a:t> transportation</a:t>
            </a:r>
            <a:r>
              <a:rPr lang="zh-CN" altLang="en-US" sz="3600" b="1" dirty="0">
                <a:solidFill>
                  <a:srgbClr val="FF0000"/>
                </a:solidFill>
              </a:rPr>
              <a:t>交通运输</a:t>
            </a:r>
            <a:r>
              <a:rPr lang="en-US" altLang="zh-CN" sz="3600" b="1" dirty="0">
                <a:solidFill>
                  <a:srgbClr val="FF0000"/>
                </a:solidFill>
              </a:rPr>
              <a:t> production</a:t>
            </a:r>
            <a:r>
              <a:rPr lang="zh-CN" altLang="en-US" sz="3600" b="1" dirty="0">
                <a:solidFill>
                  <a:srgbClr val="FF0000"/>
                </a:solidFill>
              </a:rPr>
              <a:t>生产制造</a:t>
            </a:r>
            <a:endParaRPr lang="en-US" altLang="zh-CN" sz="3600" b="1" dirty="0">
              <a:solidFill>
                <a:srgbClr val="FF0000"/>
              </a:solidFill>
            </a:endParaRPr>
          </a:p>
          <a:p>
            <a:r>
              <a:rPr lang="en-US" altLang="zh-CN" sz="3600" b="1" dirty="0">
                <a:solidFill>
                  <a:srgbClr val="FF0000"/>
                </a:solidFill>
              </a:rPr>
              <a:t> water reservation</a:t>
            </a:r>
            <a:r>
              <a:rPr lang="zh-CN" altLang="en-US" sz="3600" b="1" dirty="0">
                <a:solidFill>
                  <a:srgbClr val="FF0000"/>
                </a:solidFill>
              </a:rPr>
              <a:t>储水量 </a:t>
            </a:r>
            <a:endParaRPr lang="en-US" altLang="zh-CN" sz="3600" b="1" dirty="0">
              <a:solidFill>
                <a:srgbClr val="FF0000"/>
              </a:solidFill>
            </a:endParaRPr>
          </a:p>
          <a:p>
            <a:r>
              <a:rPr lang="en-US" altLang="zh-CN" sz="3600" b="1" dirty="0">
                <a:solidFill>
                  <a:srgbClr val="FF0000"/>
                </a:solidFill>
              </a:rPr>
              <a:t> emphasize v.</a:t>
            </a:r>
            <a:r>
              <a:rPr lang="zh-CN" altLang="en-US" sz="3600" b="1" dirty="0">
                <a:solidFill>
                  <a:srgbClr val="FF0000"/>
                </a:solidFill>
              </a:rPr>
              <a:t>强调 </a:t>
            </a:r>
            <a:r>
              <a:rPr lang="en-US" altLang="zh-CN" sz="3600" b="1" dirty="0">
                <a:solidFill>
                  <a:srgbClr val="FF0000"/>
                </a:solidFill>
              </a:rPr>
              <a:t>emphasis n.</a:t>
            </a:r>
          </a:p>
          <a:p>
            <a:endParaRPr lang="zh-CN" altLang="en-US" sz="3600" b="1" dirty="0">
              <a:solidFill>
                <a:srgbClr val="FF0000"/>
              </a:solidFill>
            </a:endParaRPr>
          </a:p>
          <a:p>
            <a:r>
              <a:rPr lang="zh-CN" altLang="en-US" sz="3600" b="1" dirty="0">
                <a:solidFill>
                  <a:srgbClr val="FF0000"/>
                </a:solidFill>
              </a:rPr>
              <a:t> </a:t>
            </a:r>
            <a:r>
              <a:rPr lang="en-US" altLang="zh-CN" sz="3600" b="1" dirty="0">
                <a:solidFill>
                  <a:srgbClr val="FF0000"/>
                </a:solidFill>
              </a:rPr>
              <a:t>define v.</a:t>
            </a:r>
            <a:r>
              <a:rPr lang="zh-CN" altLang="en-US" sz="3600" b="1" dirty="0">
                <a:solidFill>
                  <a:srgbClr val="FF0000"/>
                </a:solidFill>
              </a:rPr>
              <a:t>下定义</a:t>
            </a:r>
            <a:r>
              <a:rPr lang="en-US" altLang="zh-CN" sz="3600" b="1" dirty="0">
                <a:solidFill>
                  <a:srgbClr val="FF0000"/>
                </a:solidFill>
              </a:rPr>
              <a:t>;</a:t>
            </a:r>
            <a:r>
              <a:rPr lang="zh-CN" altLang="en-US" sz="3600" b="1" dirty="0">
                <a:solidFill>
                  <a:srgbClr val="FF0000"/>
                </a:solidFill>
              </a:rPr>
              <a:t>解释阐明 </a:t>
            </a:r>
            <a:r>
              <a:rPr lang="en-US" altLang="zh-CN" sz="3600" b="1" dirty="0">
                <a:solidFill>
                  <a:srgbClr val="FF0000"/>
                </a:solidFill>
              </a:rPr>
              <a:t>definition n.</a:t>
            </a:r>
            <a:r>
              <a:rPr lang="zh-CN" altLang="en-US" sz="3600" b="1" dirty="0">
                <a:solidFill>
                  <a:srgbClr val="FF0000"/>
                </a:solidFill>
              </a:rPr>
              <a:t>定义</a:t>
            </a:r>
            <a:endParaRPr lang="en-US" altLang="zh-CN" sz="3600" b="1" dirty="0">
              <a:solidFill>
                <a:srgbClr val="FF0000"/>
              </a:solidFill>
            </a:endParaRPr>
          </a:p>
          <a:p>
            <a:r>
              <a:rPr lang="en-US" altLang="zh-CN" sz="3600" b="1" dirty="0">
                <a:solidFill>
                  <a:srgbClr val="FF0000"/>
                </a:solidFill>
              </a:rPr>
              <a:t> a sense of fulfillment</a:t>
            </a:r>
            <a:r>
              <a:rPr lang="zh-CN" altLang="en-US" sz="3600" b="1" dirty="0">
                <a:solidFill>
                  <a:srgbClr val="FF0000"/>
                </a:solidFill>
              </a:rPr>
              <a:t>成就感</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zh-CN" altLang="en-US" sz="3600" b="1" dirty="0">
                <a:solidFill>
                  <a:srgbClr val="FF0000"/>
                </a:solidFill>
              </a:rPr>
              <a:t>综合卷</a:t>
            </a:r>
            <a:r>
              <a:rPr lang="en-US" altLang="zh-CN" sz="3600" b="1" dirty="0">
                <a:solidFill>
                  <a:srgbClr val="FF0000"/>
                </a:solidFill>
              </a:rPr>
              <a:t>2 interview</a:t>
            </a:r>
            <a:r>
              <a:rPr lang="zh-CN" altLang="en-US" sz="3600" b="1" dirty="0">
                <a:solidFill>
                  <a:srgbClr val="FF0000"/>
                </a:solidFill>
              </a:rPr>
              <a:t>面试 </a:t>
            </a:r>
            <a:r>
              <a:rPr lang="en-US" altLang="zh-CN" sz="3600" b="1" dirty="0">
                <a:solidFill>
                  <a:srgbClr val="FF0000"/>
                </a:solidFill>
              </a:rPr>
              <a:t>appointment</a:t>
            </a:r>
            <a:r>
              <a:rPr lang="zh-CN" altLang="en-US" sz="3600" b="1" dirty="0">
                <a:solidFill>
                  <a:srgbClr val="FF0000"/>
                </a:solidFill>
              </a:rPr>
              <a:t>约会</a:t>
            </a:r>
            <a:endParaRPr lang="en-US" altLang="zh-CN" sz="3600" b="1" dirty="0">
              <a:solidFill>
                <a:srgbClr val="FF0000"/>
              </a:solidFill>
            </a:endParaRPr>
          </a:p>
          <a:p>
            <a:r>
              <a:rPr lang="en-US" altLang="zh-CN" sz="3600" b="1" dirty="0">
                <a:solidFill>
                  <a:srgbClr val="FF0000"/>
                </a:solidFill>
              </a:rPr>
              <a:t> It struck sb like a flash of lightning.</a:t>
            </a:r>
            <a:r>
              <a:rPr lang="zh-CN" altLang="en-US" dirty="0"/>
              <a:t>它像闪电一样击中了某人。</a:t>
            </a:r>
            <a:endParaRPr lang="en-US" altLang="zh-CN" sz="3600" b="1" dirty="0">
              <a:solidFill>
                <a:srgbClr val="FF0000"/>
              </a:solidFill>
            </a:endParaRPr>
          </a:p>
          <a:p>
            <a:r>
              <a:rPr lang="en-US" altLang="zh-CN" sz="3600" b="1" dirty="0">
                <a:solidFill>
                  <a:srgbClr val="FF0000"/>
                </a:solidFill>
              </a:rPr>
              <a:t> greeting customers at the door</a:t>
            </a:r>
            <a:r>
              <a:rPr lang="zh-CN" altLang="en-US" dirty="0"/>
              <a:t>在门口迎接顾客</a:t>
            </a:r>
            <a:endParaRPr lang="en-US" altLang="zh-CN" sz="3600" b="1" dirty="0">
              <a:solidFill>
                <a:srgbClr val="FF0000"/>
              </a:solidFill>
            </a:endParaRPr>
          </a:p>
          <a:p>
            <a:r>
              <a:rPr lang="en-US" altLang="zh-CN" sz="3600" b="1" dirty="0">
                <a:solidFill>
                  <a:srgbClr val="FF0000"/>
                </a:solidFill>
              </a:rPr>
              <a:t> be capable of doing </a:t>
            </a:r>
            <a:r>
              <a:rPr lang="en-US" altLang="zh-CN" sz="3600" b="1" dirty="0" err="1">
                <a:solidFill>
                  <a:srgbClr val="FF0000"/>
                </a:solidFill>
              </a:rPr>
              <a:t>sth</a:t>
            </a:r>
            <a:r>
              <a:rPr lang="en-US" altLang="zh-CN" sz="3600" b="1" dirty="0">
                <a:solidFill>
                  <a:srgbClr val="FF0000"/>
                </a:solidFill>
              </a:rPr>
              <a:t>.=have the capability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有能力做某事</a:t>
            </a:r>
            <a:endParaRPr lang="en-US" altLang="zh-CN" sz="3600" b="1" dirty="0">
              <a:solidFill>
                <a:srgbClr val="FF0000"/>
              </a:solidFill>
            </a:endParaRPr>
          </a:p>
          <a:p>
            <a:r>
              <a:rPr lang="en-US" altLang="zh-CN" sz="3600" b="1" dirty="0">
                <a:solidFill>
                  <a:srgbClr val="FF0000"/>
                </a:solidFill>
              </a:rPr>
              <a:t> generous</a:t>
            </a:r>
            <a:r>
              <a:rPr lang="zh-CN" altLang="en-US" sz="3600" b="1" dirty="0">
                <a:solidFill>
                  <a:srgbClr val="FF0000"/>
                </a:solidFill>
              </a:rPr>
              <a:t>慷慨大方的→</a:t>
            </a:r>
            <a:r>
              <a:rPr lang="en-US" altLang="zh-CN" sz="3600" b="1" dirty="0">
                <a:solidFill>
                  <a:srgbClr val="FF0000"/>
                </a:solidFill>
              </a:rPr>
              <a:t>generosity n.           </a:t>
            </a:r>
          </a:p>
          <a:p>
            <a:r>
              <a:rPr lang="en-US" altLang="zh-CN" sz="3600" b="1" dirty="0">
                <a:solidFill>
                  <a:srgbClr val="FF0000"/>
                </a:solidFill>
              </a:rPr>
              <a:t> reliable</a:t>
            </a:r>
            <a:r>
              <a:rPr lang="zh-CN" altLang="en-US" sz="3600" b="1" dirty="0">
                <a:solidFill>
                  <a:srgbClr val="FF0000"/>
                </a:solidFill>
              </a:rPr>
              <a:t>可靠的→</a:t>
            </a:r>
            <a:r>
              <a:rPr lang="en-US" altLang="zh-CN" sz="3600" b="1" dirty="0">
                <a:solidFill>
                  <a:srgbClr val="FF0000"/>
                </a:solidFill>
              </a:rPr>
              <a:t>reliability n.</a:t>
            </a:r>
          </a:p>
          <a:p>
            <a:r>
              <a:rPr lang="en-US" altLang="zh-CN" sz="3600" b="1" dirty="0">
                <a:solidFill>
                  <a:srgbClr val="FF0000"/>
                </a:solidFill>
              </a:rPr>
              <a:t> considerate</a:t>
            </a:r>
            <a:r>
              <a:rPr lang="zh-CN" altLang="en-US" sz="3600" b="1" dirty="0">
                <a:solidFill>
                  <a:srgbClr val="FF0000"/>
                </a:solidFill>
              </a:rPr>
              <a:t>体贴的考虑周到的→</a:t>
            </a:r>
            <a:r>
              <a:rPr lang="en-US" altLang="zh-CN" sz="3600" b="1" dirty="0">
                <a:solidFill>
                  <a:srgbClr val="FF0000"/>
                </a:solidFill>
              </a:rPr>
              <a:t>consideration n.</a:t>
            </a:r>
          </a:p>
          <a:p>
            <a:r>
              <a:rPr lang="en-US" altLang="zh-CN" sz="3600" b="1" dirty="0">
                <a:solidFill>
                  <a:srgbClr val="FF0000"/>
                </a:solidFill>
              </a:rPr>
              <a:t> have lines out the door</a:t>
            </a:r>
            <a:r>
              <a:rPr lang="zh-CN" altLang="en-US" sz="3600" b="1" dirty="0">
                <a:solidFill>
                  <a:srgbClr val="FF0000"/>
                </a:solidFill>
              </a:rPr>
              <a:t>门外有人排队</a:t>
            </a:r>
            <a:endParaRPr lang="en-US" altLang="zh-CN" sz="3600" b="1" dirty="0">
              <a:solidFill>
                <a:srgbClr val="FF0000"/>
              </a:solidFill>
            </a:endParaRPr>
          </a:p>
          <a:p>
            <a:r>
              <a:rPr lang="en-US" altLang="zh-CN" sz="3600" b="1" dirty="0">
                <a:solidFill>
                  <a:srgbClr val="FF0000"/>
                </a:solidFill>
              </a:rPr>
              <a:t> press attention followed</a:t>
            </a:r>
            <a:r>
              <a:rPr lang="zh-CN" altLang="en-US" dirty="0"/>
              <a:t>随之而来的是媒体关注</a:t>
            </a:r>
            <a:endParaRPr lang="en-US" altLang="zh-CN" sz="3600" b="1" dirty="0">
              <a:solidFill>
                <a:srgbClr val="FF0000"/>
              </a:solidFill>
            </a:endParaRPr>
          </a:p>
          <a:p>
            <a:r>
              <a:rPr lang="en-US" altLang="zh-CN" sz="3600" b="1" dirty="0">
                <a:solidFill>
                  <a:srgbClr val="FF0000"/>
                </a:solidFill>
              </a:rPr>
              <a:t> you have made my day</a:t>
            </a:r>
            <a:r>
              <a:rPr lang="zh-CN" altLang="en-US" dirty="0"/>
              <a:t>你使我今天很高兴</a:t>
            </a:r>
            <a:endParaRPr lang="en-US" altLang="zh-CN" sz="3600" b="1" dirty="0">
              <a:solidFill>
                <a:srgbClr val="FF0000"/>
              </a:solidFill>
            </a:endParaRPr>
          </a:p>
          <a:p>
            <a:r>
              <a:rPr lang="en-US" altLang="zh-CN" sz="3600" b="1" dirty="0">
                <a:solidFill>
                  <a:srgbClr val="FF0000"/>
                </a:solidFill>
              </a:rPr>
              <a:t> draw sb. back</a:t>
            </a:r>
            <a:r>
              <a:rPr lang="zh-CN" altLang="en-US" sz="3600" b="1" dirty="0">
                <a:solidFill>
                  <a:srgbClr val="FF0000"/>
                </a:solidFill>
              </a:rPr>
              <a:t>吸引  </a:t>
            </a:r>
            <a:r>
              <a:rPr lang="en-US" altLang="zh-CN" sz="3600" b="1" dirty="0">
                <a:solidFill>
                  <a:srgbClr val="FF0000"/>
                </a:solidFill>
              </a:rPr>
              <a:t>interact with</a:t>
            </a:r>
            <a:r>
              <a:rPr lang="zh-CN" altLang="en-US" sz="3600" b="1" dirty="0">
                <a:solidFill>
                  <a:srgbClr val="FF0000"/>
                </a:solidFill>
              </a:rPr>
              <a:t> </a:t>
            </a:r>
            <a:r>
              <a:rPr lang="en-US" altLang="zh-CN" sz="3600" b="1" dirty="0">
                <a:solidFill>
                  <a:srgbClr val="FF0000"/>
                </a:solidFill>
              </a:rPr>
              <a:t>sb</a:t>
            </a:r>
            <a:r>
              <a:rPr lang="zh-CN" altLang="en-US" sz="3600" b="1" dirty="0">
                <a:solidFill>
                  <a:srgbClr val="FF0000"/>
                </a:solidFill>
              </a:rPr>
              <a:t>交往互动</a:t>
            </a:r>
            <a:endParaRPr lang="en-US" altLang="zh-CN" sz="3600" b="1" dirty="0">
              <a:solidFill>
                <a:srgbClr val="FF0000"/>
              </a:solidFill>
            </a:endParaRPr>
          </a:p>
          <a:p>
            <a:r>
              <a:rPr lang="en-US" altLang="zh-CN" sz="3600" b="1" dirty="0">
                <a:solidFill>
                  <a:srgbClr val="FF0000"/>
                </a:solidFill>
              </a:rPr>
              <a:t> nothing but</a:t>
            </a:r>
            <a:r>
              <a:rPr lang="zh-CN" altLang="en-US" sz="3600" b="1" dirty="0">
                <a:solidFill>
                  <a:srgbClr val="FF0000"/>
                </a:solidFill>
              </a:rPr>
              <a:t>仅仅是</a:t>
            </a:r>
            <a:r>
              <a:rPr lang="en-US" altLang="zh-CN" sz="3600" b="1" dirty="0">
                <a:solidFill>
                  <a:srgbClr val="FF0000"/>
                </a:solidFill>
              </a:rPr>
              <a:t>    more </a:t>
            </a:r>
            <a:r>
              <a:rPr lang="en-US" altLang="zh-CN" sz="3600" b="1" dirty="0" err="1">
                <a:solidFill>
                  <a:srgbClr val="FF0000"/>
                </a:solidFill>
              </a:rPr>
              <a:t>than+n</a:t>
            </a:r>
            <a:r>
              <a:rPr lang="en-US" altLang="zh-CN" sz="3600" b="1" dirty="0">
                <a:solidFill>
                  <a:srgbClr val="FF0000"/>
                </a:solidFill>
              </a:rPr>
              <a:t>.</a:t>
            </a:r>
            <a:r>
              <a:rPr lang="zh-CN" altLang="en-US" sz="3600" b="1" dirty="0">
                <a:solidFill>
                  <a:srgbClr val="FF0000"/>
                </a:solidFill>
              </a:rPr>
              <a:t>不仅仅是</a:t>
            </a:r>
            <a:r>
              <a:rPr lang="en-US" altLang="zh-CN" sz="3600" b="1" dirty="0">
                <a:solidFill>
                  <a:srgbClr val="FF0000"/>
                </a:solidFill>
              </a:rPr>
              <a:t>   far from</a:t>
            </a:r>
            <a:r>
              <a:rPr lang="zh-CN" altLang="en-US" sz="3600" b="1" dirty="0">
                <a:solidFill>
                  <a:srgbClr val="FF0000"/>
                </a:solidFill>
              </a:rPr>
              <a:t>远非</a:t>
            </a:r>
            <a:endParaRPr lang="en-US" altLang="zh-CN" sz="3600" b="1" dirty="0">
              <a:solidFill>
                <a:srgbClr val="FF0000"/>
              </a:solidFill>
            </a:endParaRPr>
          </a:p>
          <a:p>
            <a:r>
              <a:rPr lang="en-US" altLang="zh-CN" sz="3600" b="1" dirty="0">
                <a:solidFill>
                  <a:srgbClr val="FF0000"/>
                </a:solidFill>
              </a:rPr>
              <a:t> a</a:t>
            </a:r>
            <a:r>
              <a:rPr lang="zh-CN" altLang="en-US" sz="3600" b="1" dirty="0">
                <a:solidFill>
                  <a:srgbClr val="FF0000"/>
                </a:solidFill>
              </a:rPr>
              <a:t> </a:t>
            </a:r>
            <a:r>
              <a:rPr lang="en-US" altLang="zh-CN" sz="3600" b="1" dirty="0">
                <a:solidFill>
                  <a:srgbClr val="FF0000"/>
                </a:solidFill>
              </a:rPr>
              <a:t>sense</a:t>
            </a:r>
            <a:r>
              <a:rPr lang="zh-CN" altLang="en-US" sz="3600" b="1" dirty="0">
                <a:solidFill>
                  <a:srgbClr val="FF0000"/>
                </a:solidFill>
              </a:rPr>
              <a:t> </a:t>
            </a:r>
            <a:r>
              <a:rPr lang="en-US" altLang="zh-CN" sz="3600" b="1" dirty="0">
                <a:solidFill>
                  <a:srgbClr val="FF0000"/>
                </a:solidFill>
              </a:rPr>
              <a:t>of</a:t>
            </a:r>
            <a:r>
              <a:rPr lang="zh-CN" altLang="en-US" sz="3600" b="1" dirty="0">
                <a:solidFill>
                  <a:srgbClr val="FF0000"/>
                </a:solidFill>
              </a:rPr>
              <a:t> </a:t>
            </a:r>
            <a:r>
              <a:rPr lang="en-US" altLang="zh-CN" sz="3600" b="1" dirty="0">
                <a:solidFill>
                  <a:srgbClr val="FF0000"/>
                </a:solidFill>
              </a:rPr>
              <a:t>being</a:t>
            </a:r>
            <a:r>
              <a:rPr lang="zh-CN" altLang="en-US" sz="3600" b="1" dirty="0">
                <a:solidFill>
                  <a:srgbClr val="FF0000"/>
                </a:solidFill>
              </a:rPr>
              <a:t> </a:t>
            </a:r>
            <a:r>
              <a:rPr lang="en-US" altLang="zh-CN" sz="3600" b="1" dirty="0">
                <a:solidFill>
                  <a:srgbClr val="FF0000"/>
                </a:solidFill>
              </a:rPr>
              <a:t>valued</a:t>
            </a:r>
            <a:r>
              <a:rPr lang="zh-CN" altLang="en-US" dirty="0"/>
              <a:t>一种被重视的感觉</a:t>
            </a:r>
            <a:endParaRPr lang="en-US" altLang="zh-CN" sz="3600" b="1" dirty="0">
              <a:solidFill>
                <a:srgbClr val="FF0000"/>
              </a:solidFill>
            </a:endParaRPr>
          </a:p>
          <a:p>
            <a:r>
              <a:rPr lang="en-US" altLang="zh-CN" sz="3600" b="1" dirty="0">
                <a:solidFill>
                  <a:srgbClr val="FF0000"/>
                </a:solidFill>
              </a:rPr>
              <a:t> their joys fills the air</a:t>
            </a:r>
            <a:r>
              <a:rPr lang="zh-CN" altLang="en-US" dirty="0"/>
              <a:t>空气中充满了他们的欢乐</a:t>
            </a:r>
            <a:endParaRPr lang="en-US" altLang="zh-CN" sz="3600" b="1" dirty="0">
              <a:solidFill>
                <a:srgbClr val="FF0000"/>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en-US" altLang="zh-CN" sz="3600" b="1" dirty="0"/>
              <a:t>36.leading 37.that 38.annoying </a:t>
            </a:r>
          </a:p>
          <a:p>
            <a:r>
              <a:rPr lang="en-US" altLang="zh-CN" sz="3600" b="1" dirty="0">
                <a:solidFill>
                  <a:srgbClr val="FF0000"/>
                </a:solidFill>
              </a:rPr>
              <a:t> 39.into                        </a:t>
            </a:r>
            <a:r>
              <a:rPr lang="en-US" altLang="zh-CN" sz="3600" b="1" dirty="0">
                <a:solidFill>
                  <a:srgbClr val="FF0000"/>
                </a:solidFill>
                <a:highlight>
                  <a:srgbClr val="FFFF00"/>
                </a:highlight>
              </a:rPr>
              <a:t>come into effect</a:t>
            </a:r>
            <a:r>
              <a:rPr lang="zh-CN" altLang="en-US" sz="3600" b="1" dirty="0">
                <a:solidFill>
                  <a:srgbClr val="FF0000"/>
                </a:solidFill>
                <a:highlight>
                  <a:srgbClr val="FFFF00"/>
                </a:highlight>
              </a:rPr>
              <a:t>生效</a:t>
            </a:r>
            <a:endParaRPr lang="en-US" altLang="zh-CN" sz="3600" b="1" dirty="0">
              <a:solidFill>
                <a:srgbClr val="FF0000"/>
              </a:solidFill>
              <a:highlight>
                <a:srgbClr val="FFFF00"/>
              </a:highlight>
            </a:endParaRPr>
          </a:p>
          <a:p>
            <a:r>
              <a:rPr lang="en-US" altLang="zh-CN" sz="3600" b="1" dirty="0">
                <a:solidFill>
                  <a:srgbClr val="FF0000"/>
                </a:solidFill>
              </a:rPr>
              <a:t> 40.to strengthen </a:t>
            </a:r>
          </a:p>
          <a:p>
            <a:r>
              <a:rPr lang="en-US" altLang="zh-CN" sz="3600" b="1" dirty="0">
                <a:solidFill>
                  <a:srgbClr val="FF0000"/>
                </a:solidFill>
              </a:rPr>
              <a:t> 41.are regarded          be regarded as</a:t>
            </a:r>
            <a:r>
              <a:rPr lang="zh-CN" altLang="en-US" sz="3600" b="1" dirty="0">
                <a:solidFill>
                  <a:srgbClr val="FF0000"/>
                </a:solidFill>
              </a:rPr>
              <a:t>被认为是</a:t>
            </a:r>
            <a:endParaRPr lang="en-US" altLang="zh-CN" sz="3600" b="1" dirty="0">
              <a:solidFill>
                <a:srgbClr val="FF0000"/>
              </a:solidFill>
            </a:endParaRPr>
          </a:p>
          <a:p>
            <a:r>
              <a:rPr lang="en-US" altLang="zh-CN" sz="3600" b="1" dirty="0">
                <a:solidFill>
                  <a:srgbClr val="FF0000"/>
                </a:solidFill>
              </a:rPr>
              <a:t> 42. belief</a:t>
            </a:r>
            <a:r>
              <a:rPr lang="en-US" altLang="zh-CN" sz="3600" b="1" dirty="0">
                <a:solidFill>
                  <a:srgbClr val="FF0000"/>
                </a:solidFill>
                <a:highlight>
                  <a:srgbClr val="FFFF00"/>
                </a:highlight>
              </a:rPr>
              <a:t>s</a:t>
            </a:r>
            <a:r>
              <a:rPr lang="en-US" altLang="zh-CN" sz="3600" b="1" dirty="0">
                <a:solidFill>
                  <a:srgbClr val="FF0000"/>
                </a:solidFill>
              </a:rPr>
              <a:t> </a:t>
            </a:r>
          </a:p>
          <a:p>
            <a:r>
              <a:rPr lang="en-US" altLang="zh-CN" sz="3600" b="1" dirty="0">
                <a:solidFill>
                  <a:srgbClr val="FF0000"/>
                </a:solidFill>
              </a:rPr>
              <a:t> 43.it </a:t>
            </a:r>
          </a:p>
          <a:p>
            <a:r>
              <a:rPr lang="en-US" altLang="zh-CN" sz="3600" b="1" dirty="0">
                <a:solidFill>
                  <a:srgbClr val="FF0000"/>
                </a:solidFill>
              </a:rPr>
              <a:t> 44.illegally</a:t>
            </a:r>
            <a:r>
              <a:rPr lang="zh-CN" altLang="en-US" sz="3600" b="1" dirty="0">
                <a:solidFill>
                  <a:srgbClr val="FF0000"/>
                </a:solidFill>
              </a:rPr>
              <a:t>非法地</a:t>
            </a:r>
            <a:r>
              <a:rPr lang="en-US" altLang="zh-CN" sz="3600" b="1" dirty="0">
                <a:solidFill>
                  <a:srgbClr val="FF0000"/>
                </a:solidFill>
              </a:rPr>
              <a:t> </a:t>
            </a:r>
          </a:p>
          <a:p>
            <a:r>
              <a:rPr lang="en-US" altLang="zh-CN" sz="3600" b="1" dirty="0">
                <a:solidFill>
                  <a:srgbClr val="FF0000"/>
                </a:solidFill>
              </a:rPr>
              <a:t> 45.to                            report to sb.</a:t>
            </a:r>
            <a:r>
              <a:rPr lang="zh-CN" altLang="en-US" sz="3600" b="1" dirty="0">
                <a:solidFill>
                  <a:srgbClr val="FF0000"/>
                </a:solidFill>
              </a:rPr>
              <a:t>向某人汇报</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zh-CN" altLang="en-US" sz="3600" b="1" dirty="0"/>
              <a:t>凤</a:t>
            </a:r>
            <a:r>
              <a:rPr lang="en-US" altLang="zh-CN" sz="3600" b="1" dirty="0"/>
              <a:t>P73-80</a:t>
            </a:r>
          </a:p>
          <a:p>
            <a:r>
              <a:rPr lang="en-US" altLang="zh-CN" sz="3600" b="1" dirty="0">
                <a:solidFill>
                  <a:srgbClr val="FF0000"/>
                </a:solidFill>
              </a:rPr>
              <a:t> on-the-go </a:t>
            </a:r>
            <a:r>
              <a:rPr lang="zh-CN" altLang="en-US" sz="3600" b="1" dirty="0">
                <a:solidFill>
                  <a:srgbClr val="FF0000"/>
                </a:solidFill>
              </a:rPr>
              <a:t>忙个不停的</a:t>
            </a:r>
            <a:r>
              <a:rPr lang="en-US" altLang="zh-CN" sz="3600" b="1" dirty="0">
                <a:solidFill>
                  <a:srgbClr val="FF0000"/>
                </a:solidFill>
              </a:rPr>
              <a:t> reject v.</a:t>
            </a:r>
            <a:r>
              <a:rPr lang="zh-CN" altLang="en-US" sz="3600" b="1" dirty="0">
                <a:solidFill>
                  <a:srgbClr val="FF0000"/>
                </a:solidFill>
              </a:rPr>
              <a:t>拒绝</a:t>
            </a:r>
            <a:r>
              <a:rPr lang="en-US" altLang="zh-CN" sz="3600" b="1" dirty="0">
                <a:solidFill>
                  <a:srgbClr val="FF0000"/>
                </a:solidFill>
              </a:rPr>
              <a:t>;</a:t>
            </a:r>
            <a:r>
              <a:rPr lang="zh-CN" altLang="en-US" sz="3600" b="1" dirty="0">
                <a:solidFill>
                  <a:srgbClr val="FF0000"/>
                </a:solidFill>
              </a:rPr>
              <a:t>否认</a:t>
            </a:r>
            <a:r>
              <a:rPr lang="en-US" altLang="zh-CN" sz="3600" b="1" dirty="0">
                <a:solidFill>
                  <a:srgbClr val="FF0000"/>
                </a:solidFill>
              </a:rPr>
              <a:t>;</a:t>
            </a:r>
            <a:r>
              <a:rPr lang="zh-CN" altLang="en-US" sz="3600" b="1" dirty="0">
                <a:solidFill>
                  <a:srgbClr val="FF0000"/>
                </a:solidFill>
              </a:rPr>
              <a:t>排异</a:t>
            </a:r>
            <a:endParaRPr lang="en-US" altLang="zh-CN" sz="3600" b="1" dirty="0">
              <a:solidFill>
                <a:srgbClr val="FF0000"/>
              </a:solidFill>
            </a:endParaRPr>
          </a:p>
          <a:p>
            <a:r>
              <a:rPr lang="en-US" altLang="zh-CN" sz="3600" b="1" dirty="0">
                <a:solidFill>
                  <a:srgbClr val="FF0000"/>
                </a:solidFill>
              </a:rPr>
              <a:t> celebrity n.</a:t>
            </a:r>
            <a:r>
              <a:rPr lang="zh-CN" altLang="en-US" sz="3600" b="1" dirty="0">
                <a:solidFill>
                  <a:srgbClr val="FF0000"/>
                </a:solidFill>
              </a:rPr>
              <a:t>名人</a:t>
            </a:r>
            <a:r>
              <a:rPr lang="en-US" altLang="zh-CN" sz="3600" b="1" dirty="0">
                <a:solidFill>
                  <a:srgbClr val="FF0000"/>
                </a:solidFill>
              </a:rPr>
              <a:t>;</a:t>
            </a:r>
            <a:r>
              <a:rPr lang="zh-CN" altLang="en-US" sz="3600" b="1" dirty="0">
                <a:solidFill>
                  <a:srgbClr val="FF0000"/>
                </a:solidFill>
              </a:rPr>
              <a:t>名声</a:t>
            </a:r>
            <a:r>
              <a:rPr lang="en-US" altLang="zh-CN" sz="3600" b="1" dirty="0">
                <a:solidFill>
                  <a:srgbClr val="FF0000"/>
                </a:solidFill>
              </a:rPr>
              <a:t> leave behind</a:t>
            </a:r>
            <a:r>
              <a:rPr lang="zh-CN" altLang="en-US" sz="3600" b="1" dirty="0">
                <a:solidFill>
                  <a:srgbClr val="FF0000"/>
                </a:solidFill>
              </a:rPr>
              <a:t>遗弃</a:t>
            </a:r>
            <a:r>
              <a:rPr lang="en-US" altLang="zh-CN" sz="3600" b="1" dirty="0">
                <a:solidFill>
                  <a:srgbClr val="FF0000"/>
                </a:solidFill>
              </a:rPr>
              <a:t>;</a:t>
            </a:r>
            <a:r>
              <a:rPr lang="zh-CN" altLang="en-US" sz="3600" b="1" dirty="0">
                <a:solidFill>
                  <a:srgbClr val="FF0000"/>
                </a:solidFill>
              </a:rPr>
              <a:t>忘记</a:t>
            </a:r>
            <a:endParaRPr lang="en-US" altLang="zh-CN" sz="3600" b="1" dirty="0">
              <a:solidFill>
                <a:srgbClr val="FF0000"/>
              </a:solidFill>
            </a:endParaRPr>
          </a:p>
          <a:p>
            <a:r>
              <a:rPr lang="en-US" altLang="zh-CN" sz="3600" b="1" dirty="0">
                <a:solidFill>
                  <a:srgbClr val="FF0000"/>
                </a:solidFill>
              </a:rPr>
              <a:t> highlight the importance of</a:t>
            </a:r>
            <a:r>
              <a:rPr lang="zh-CN" altLang="en-US" sz="3600" b="1" dirty="0">
                <a:solidFill>
                  <a:srgbClr val="FF0000"/>
                </a:solidFill>
              </a:rPr>
              <a:t>强调</a:t>
            </a:r>
            <a:r>
              <a:rPr lang="en-US" altLang="zh-CN" sz="3600" b="1" dirty="0">
                <a:solidFill>
                  <a:srgbClr val="FF0000"/>
                </a:solidFill>
              </a:rPr>
              <a:t>…</a:t>
            </a:r>
            <a:r>
              <a:rPr lang="zh-CN" altLang="en-US" sz="3600" b="1" dirty="0">
                <a:solidFill>
                  <a:srgbClr val="FF0000"/>
                </a:solidFill>
              </a:rPr>
              <a:t>的重要性</a:t>
            </a:r>
            <a:endParaRPr lang="en-US" altLang="zh-CN" sz="3600" b="1" dirty="0">
              <a:solidFill>
                <a:srgbClr val="FF0000"/>
              </a:solidFill>
            </a:endParaRPr>
          </a:p>
          <a:p>
            <a:r>
              <a:rPr lang="en-US" altLang="zh-CN" sz="3600" b="1" dirty="0">
                <a:solidFill>
                  <a:srgbClr val="FF0000"/>
                </a:solidFill>
              </a:rPr>
              <a:t> be proposed by</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提议</a:t>
            </a:r>
            <a:endParaRPr lang="en-US" altLang="zh-CN" sz="3600" b="1" dirty="0">
              <a:solidFill>
                <a:srgbClr val="FF0000"/>
              </a:solidFill>
            </a:endParaRPr>
          </a:p>
          <a:p>
            <a:r>
              <a:rPr lang="en-US" altLang="zh-CN" sz="3600" b="1" dirty="0">
                <a:solidFill>
                  <a:srgbClr val="FF0000"/>
                </a:solidFill>
              </a:rPr>
              <a:t> settle a disagreement</a:t>
            </a:r>
            <a:r>
              <a:rPr lang="zh-CN" altLang="en-US" sz="3600" b="1" dirty="0">
                <a:solidFill>
                  <a:srgbClr val="FF0000"/>
                </a:solidFill>
              </a:rPr>
              <a:t>解决分歧</a:t>
            </a:r>
            <a:r>
              <a:rPr lang="en-US" altLang="zh-CN" sz="3600" b="1" dirty="0">
                <a:solidFill>
                  <a:srgbClr val="FF0000"/>
                </a:solidFill>
              </a:rPr>
              <a:t>  heroic adj.</a:t>
            </a:r>
            <a:r>
              <a:rPr lang="zh-CN" altLang="en-US" sz="3600" b="1" dirty="0">
                <a:solidFill>
                  <a:srgbClr val="FF0000"/>
                </a:solidFill>
              </a:rPr>
              <a:t>英雄的</a:t>
            </a:r>
            <a:endParaRPr lang="en-US" altLang="zh-CN" sz="3600" b="1" dirty="0">
              <a:solidFill>
                <a:srgbClr val="FF0000"/>
              </a:solidFill>
            </a:endParaRPr>
          </a:p>
          <a:p>
            <a:r>
              <a:rPr lang="en-US" altLang="zh-CN" sz="3600" b="1" dirty="0">
                <a:solidFill>
                  <a:srgbClr val="FF0000"/>
                </a:solidFill>
              </a:rPr>
              <a:t> be no match for</a:t>
            </a:r>
            <a:r>
              <a:rPr lang="zh-CN" altLang="en-US" sz="3600" b="1" dirty="0">
                <a:solidFill>
                  <a:srgbClr val="FF0000"/>
                </a:solidFill>
              </a:rPr>
              <a:t>不是</a:t>
            </a:r>
            <a:r>
              <a:rPr lang="en-US" altLang="zh-CN" sz="3600" b="1" dirty="0">
                <a:solidFill>
                  <a:srgbClr val="FF0000"/>
                </a:solidFill>
              </a:rPr>
              <a:t>…</a:t>
            </a:r>
            <a:r>
              <a:rPr lang="zh-CN" altLang="en-US" sz="3600" b="1" dirty="0">
                <a:solidFill>
                  <a:srgbClr val="FF0000"/>
                </a:solidFill>
              </a:rPr>
              <a:t>的对手</a:t>
            </a:r>
            <a:r>
              <a:rPr lang="en-US" altLang="zh-CN" sz="3600" b="1" dirty="0">
                <a:solidFill>
                  <a:srgbClr val="FF0000"/>
                </a:solidFill>
              </a:rPr>
              <a:t>;</a:t>
            </a:r>
            <a:r>
              <a:rPr lang="zh-CN" altLang="en-US" sz="3600" b="1" dirty="0">
                <a:solidFill>
                  <a:srgbClr val="FF0000"/>
                </a:solidFill>
              </a:rPr>
              <a:t>比不上</a:t>
            </a:r>
            <a:endParaRPr lang="en-US" altLang="zh-CN" sz="3600" b="1" dirty="0">
              <a:solidFill>
                <a:srgbClr val="FF0000"/>
              </a:solidFill>
            </a:endParaRPr>
          </a:p>
          <a:p>
            <a:r>
              <a:rPr lang="en-US" altLang="zh-CN" sz="3600" b="1" dirty="0">
                <a:solidFill>
                  <a:srgbClr val="FF0000"/>
                </a:solidFill>
              </a:rPr>
              <a:t> cheer up</a:t>
            </a:r>
            <a:r>
              <a:rPr lang="zh-CN" altLang="en-US" sz="3600" b="1" dirty="0">
                <a:solidFill>
                  <a:srgbClr val="FF0000"/>
                </a:solidFill>
              </a:rPr>
              <a:t>振作</a:t>
            </a:r>
            <a:r>
              <a:rPr lang="en-US" altLang="zh-CN" sz="3600" b="1" dirty="0">
                <a:solidFill>
                  <a:srgbClr val="FF0000"/>
                </a:solidFill>
              </a:rPr>
              <a:t>;</a:t>
            </a:r>
            <a:r>
              <a:rPr lang="zh-CN" altLang="en-US" sz="3600" b="1" dirty="0">
                <a:solidFill>
                  <a:srgbClr val="FF0000"/>
                </a:solidFill>
              </a:rPr>
              <a:t>高兴</a:t>
            </a:r>
            <a:r>
              <a:rPr lang="en-US" altLang="zh-CN" sz="3600" b="1" dirty="0">
                <a:solidFill>
                  <a:srgbClr val="FF0000"/>
                </a:solidFill>
              </a:rPr>
              <a:t> knock off</a:t>
            </a:r>
            <a:r>
              <a:rPr lang="zh-CN" altLang="en-US" sz="3600" b="1" dirty="0">
                <a:solidFill>
                  <a:srgbClr val="FF0000"/>
                </a:solidFill>
              </a:rPr>
              <a:t>停止</a:t>
            </a:r>
            <a:r>
              <a:rPr lang="en-US" altLang="zh-CN" sz="3600" b="1" dirty="0">
                <a:solidFill>
                  <a:srgbClr val="FF0000"/>
                </a:solidFill>
              </a:rPr>
              <a:t>;</a:t>
            </a:r>
            <a:r>
              <a:rPr lang="zh-CN" altLang="en-US" sz="3600" b="1" dirty="0">
                <a:solidFill>
                  <a:srgbClr val="FF0000"/>
                </a:solidFill>
              </a:rPr>
              <a:t>击败</a:t>
            </a:r>
            <a:endParaRPr lang="en-US" altLang="zh-CN" sz="3600" b="1" dirty="0">
              <a:solidFill>
                <a:srgbClr val="FF0000"/>
              </a:solidFill>
            </a:endParaRPr>
          </a:p>
          <a:p>
            <a:r>
              <a:rPr lang="en-US" altLang="zh-CN" sz="3600" b="1" dirty="0">
                <a:solidFill>
                  <a:srgbClr val="FF0000"/>
                </a:solidFill>
              </a:rPr>
              <a:t> store up</a:t>
            </a:r>
            <a:r>
              <a:rPr lang="zh-CN" altLang="en-US" sz="3600" b="1" dirty="0">
                <a:solidFill>
                  <a:srgbClr val="FF0000"/>
                </a:solidFill>
              </a:rPr>
              <a:t>存储收藏</a:t>
            </a:r>
            <a:r>
              <a:rPr lang="en-US" altLang="zh-CN" sz="3600" b="1" dirty="0">
                <a:solidFill>
                  <a:srgbClr val="FF0000"/>
                </a:solidFill>
              </a:rPr>
              <a:t> give away</a:t>
            </a:r>
            <a:r>
              <a:rPr lang="zh-CN" altLang="en-US" sz="3600" b="1" dirty="0">
                <a:solidFill>
                  <a:srgbClr val="FF0000"/>
                </a:solidFill>
              </a:rPr>
              <a:t>赠送</a:t>
            </a:r>
            <a:r>
              <a:rPr lang="en-US" altLang="zh-CN" sz="3600" b="1" dirty="0">
                <a:solidFill>
                  <a:srgbClr val="FF0000"/>
                </a:solidFill>
              </a:rPr>
              <a:t>;</a:t>
            </a:r>
            <a:r>
              <a:rPr lang="zh-CN" altLang="en-US" sz="3600" b="1" dirty="0">
                <a:solidFill>
                  <a:srgbClr val="FF0000"/>
                </a:solidFill>
              </a:rPr>
              <a:t>泄露</a:t>
            </a:r>
            <a:endParaRPr lang="en-US" altLang="zh-CN" sz="3600" b="1" dirty="0">
              <a:solidFill>
                <a:srgbClr val="FF0000"/>
              </a:solidFill>
            </a:endParaRPr>
          </a:p>
          <a:p>
            <a:r>
              <a:rPr lang="en-US" altLang="zh-CN" sz="3600" b="1" dirty="0">
                <a:solidFill>
                  <a:srgbClr val="FF0000"/>
                </a:solidFill>
              </a:rPr>
              <a:t> put on</a:t>
            </a:r>
            <a:r>
              <a:rPr lang="zh-CN" altLang="en-US" sz="3600" b="1" dirty="0">
                <a:solidFill>
                  <a:srgbClr val="FF0000"/>
                </a:solidFill>
              </a:rPr>
              <a:t>穿上</a:t>
            </a:r>
            <a:r>
              <a:rPr lang="en-US" altLang="zh-CN" sz="3600" b="1" dirty="0">
                <a:solidFill>
                  <a:srgbClr val="FF0000"/>
                </a:solidFill>
              </a:rPr>
              <a:t>;</a:t>
            </a:r>
            <a:r>
              <a:rPr lang="zh-CN" altLang="en-US" sz="3600" b="1" dirty="0">
                <a:solidFill>
                  <a:srgbClr val="FF0000"/>
                </a:solidFill>
              </a:rPr>
              <a:t>戴上</a:t>
            </a:r>
            <a:r>
              <a:rPr lang="en-US" altLang="zh-CN" sz="3600" b="1" dirty="0">
                <a:solidFill>
                  <a:srgbClr val="FF0000"/>
                </a:solidFill>
              </a:rPr>
              <a:t>;</a:t>
            </a:r>
            <a:r>
              <a:rPr lang="zh-CN" altLang="en-US" sz="3600" b="1" dirty="0">
                <a:solidFill>
                  <a:srgbClr val="FF0000"/>
                </a:solidFill>
              </a:rPr>
              <a:t>增加</a:t>
            </a:r>
            <a:r>
              <a:rPr lang="en-US" altLang="zh-CN" sz="3600" b="1" dirty="0">
                <a:solidFill>
                  <a:srgbClr val="FF0000"/>
                </a:solidFill>
              </a:rPr>
              <a:t>;</a:t>
            </a:r>
            <a:r>
              <a:rPr lang="zh-CN" altLang="en-US" sz="3600" b="1" dirty="0">
                <a:solidFill>
                  <a:srgbClr val="FF0000"/>
                </a:solidFill>
              </a:rPr>
              <a:t>假装</a:t>
            </a:r>
            <a:r>
              <a:rPr lang="en-US" altLang="zh-CN" sz="3600" b="1" dirty="0">
                <a:solidFill>
                  <a:srgbClr val="FF0000"/>
                </a:solidFill>
              </a:rPr>
              <a:t>;</a:t>
            </a:r>
            <a:r>
              <a:rPr lang="zh-CN" altLang="en-US" sz="3600" b="1" dirty="0">
                <a:solidFill>
                  <a:srgbClr val="FF0000"/>
                </a:solidFill>
              </a:rPr>
              <a:t>上演</a:t>
            </a:r>
            <a:r>
              <a:rPr lang="en-US" altLang="zh-CN" sz="3600" b="1" dirty="0">
                <a:solidFill>
                  <a:srgbClr val="FF0000"/>
                </a:solidFill>
              </a:rPr>
              <a:t> </a:t>
            </a:r>
            <a:r>
              <a:rPr lang="en-US" altLang="zh-CN" sz="3600" b="1" dirty="0"/>
              <a:t>search for</a:t>
            </a:r>
            <a:r>
              <a:rPr lang="zh-CN" altLang="en-US" sz="3600" b="1" dirty="0"/>
              <a:t>寻找</a:t>
            </a:r>
            <a:endParaRPr lang="en-US" altLang="zh-CN" sz="3600" b="1" dirty="0"/>
          </a:p>
          <a:p>
            <a:r>
              <a:rPr lang="en-US" altLang="zh-CN" sz="3600" b="1" dirty="0">
                <a:solidFill>
                  <a:srgbClr val="FF0000"/>
                </a:solidFill>
              </a:rPr>
              <a:t> beat</a:t>
            </a:r>
            <a:r>
              <a:rPr lang="zh-CN" altLang="en-US" sz="3600" b="1" dirty="0">
                <a:solidFill>
                  <a:srgbClr val="FF0000"/>
                </a:solidFill>
              </a:rPr>
              <a:t>节拍  </a:t>
            </a:r>
            <a:r>
              <a:rPr lang="en-US" altLang="zh-CN" sz="3600" b="1" dirty="0">
                <a:solidFill>
                  <a:srgbClr val="FF0000"/>
                </a:solidFill>
              </a:rPr>
              <a:t>be thankful for</a:t>
            </a:r>
            <a:r>
              <a:rPr lang="zh-CN" altLang="en-US" sz="3600" b="1" dirty="0">
                <a:solidFill>
                  <a:srgbClr val="FF0000"/>
                </a:solidFill>
              </a:rPr>
              <a:t>感激</a:t>
            </a:r>
            <a:r>
              <a:rPr lang="en-US" altLang="zh-CN" sz="3600" b="1" dirty="0">
                <a:solidFill>
                  <a:srgbClr val="FF0000"/>
                </a:solidFill>
              </a:rPr>
              <a:t> commenter</a:t>
            </a:r>
            <a:r>
              <a:rPr lang="zh-CN" altLang="en-US" sz="3600" b="1" dirty="0">
                <a:solidFill>
                  <a:srgbClr val="FF0000"/>
                </a:solidFill>
              </a:rPr>
              <a:t>评论家</a:t>
            </a:r>
            <a:r>
              <a:rPr lang="en-US" altLang="zh-CN" sz="3600" b="1" dirty="0">
                <a:solidFill>
                  <a:srgbClr val="FF0000"/>
                </a:solidFill>
              </a:rPr>
              <a:t>=critic</a:t>
            </a:r>
          </a:p>
          <a:p>
            <a:r>
              <a:rPr lang="en-US" altLang="zh-CN" sz="3600" b="1" dirty="0">
                <a:solidFill>
                  <a:srgbClr val="FF0000"/>
                </a:solidFill>
              </a:rPr>
              <a:t> another added, </a:t>
            </a:r>
            <a:r>
              <a:rPr lang="zh-CN" altLang="en-US" sz="3600" b="1" dirty="0">
                <a:solidFill>
                  <a:srgbClr val="FF0000"/>
                </a:solidFill>
              </a:rPr>
              <a:t>还有人补充道</a:t>
            </a:r>
            <a:endParaRPr lang="en-US" altLang="zh-CN" sz="3600" b="1" dirty="0">
              <a:solidFill>
                <a:srgbClr val="FF0000"/>
              </a:solidFill>
            </a:endParaRPr>
          </a:p>
          <a:p>
            <a:r>
              <a:rPr lang="en-US" altLang="zh-CN" sz="3600" b="1" dirty="0">
                <a:solidFill>
                  <a:srgbClr val="FF0000"/>
                </a:solidFill>
              </a:rPr>
              <a:t> make an impact</a:t>
            </a:r>
            <a:r>
              <a:rPr lang="zh-CN" altLang="en-US" sz="3600" b="1" dirty="0">
                <a:solidFill>
                  <a:srgbClr val="FF0000"/>
                </a:solidFill>
              </a:rPr>
              <a:t>产生影响</a:t>
            </a:r>
            <a:endParaRPr lang="en-US" altLang="zh-CN" sz="3600" b="1" dirty="0">
              <a:solidFill>
                <a:srgbClr val="FF0000"/>
              </a:solidFill>
            </a:endParaRPr>
          </a:p>
          <a:p>
            <a:r>
              <a:rPr lang="en-US" altLang="zh-CN" sz="3600" b="1" dirty="0">
                <a:solidFill>
                  <a:srgbClr val="FF0000"/>
                </a:solidFill>
              </a:rPr>
              <a:t> make an assumption</a:t>
            </a:r>
            <a:r>
              <a:rPr lang="zh-CN" altLang="en-US" sz="3600" b="1" dirty="0">
                <a:solidFill>
                  <a:srgbClr val="FF0000"/>
                </a:solidFill>
              </a:rPr>
              <a:t>作出假设</a:t>
            </a:r>
            <a:endParaRPr lang="en-US" altLang="zh-CN" sz="3600" b="1" dirty="0">
              <a:solidFill>
                <a:srgbClr val="FF0000"/>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t>31. named             32.graduating </a:t>
            </a:r>
          </a:p>
          <a:p>
            <a:r>
              <a:rPr lang="en-US" altLang="zh-CN" sz="3600" b="1" dirty="0"/>
              <a:t>33. to take </a:t>
            </a:r>
          </a:p>
          <a:p>
            <a:r>
              <a:rPr lang="en-US" altLang="zh-CN" sz="3600" b="1" dirty="0">
                <a:solidFill>
                  <a:srgbClr val="FF0000"/>
                </a:solidFill>
              </a:rPr>
              <a:t>inspire sb.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激励某人做某事</a:t>
            </a:r>
            <a:r>
              <a:rPr lang="en-US" altLang="zh-CN" sz="3600" b="1" dirty="0">
                <a:solidFill>
                  <a:srgbClr val="FF0000"/>
                </a:solidFill>
              </a:rPr>
              <a:t> </a:t>
            </a:r>
          </a:p>
          <a:p>
            <a:r>
              <a:rPr lang="en-US" altLang="zh-CN" sz="3600" b="1" dirty="0"/>
              <a:t>34.devotion           35.</a:t>
            </a:r>
            <a:r>
              <a:rPr lang="en-US" altLang="zh-CN" sz="3600" b="1" dirty="0">
                <a:solidFill>
                  <a:srgbClr val="FF0000"/>
                </a:solidFill>
              </a:rPr>
              <a:t>companion n.</a:t>
            </a:r>
            <a:r>
              <a:rPr lang="zh-CN" altLang="en-US" sz="3600" b="1" dirty="0">
                <a:solidFill>
                  <a:srgbClr val="FF0000"/>
                </a:solidFill>
              </a:rPr>
              <a:t>同伴</a:t>
            </a:r>
            <a:r>
              <a:rPr lang="en-US" altLang="zh-CN" sz="3600" b="1" dirty="0">
                <a:solidFill>
                  <a:srgbClr val="FF0000"/>
                </a:solidFill>
              </a:rPr>
              <a:t>;</a:t>
            </a:r>
            <a:r>
              <a:rPr lang="zh-CN" altLang="en-US" sz="3600" b="1" dirty="0">
                <a:solidFill>
                  <a:srgbClr val="FF0000"/>
                </a:solidFill>
              </a:rPr>
              <a:t>伴侣</a:t>
            </a:r>
            <a:endParaRPr lang="en-US" altLang="zh-CN" sz="3600" b="1" dirty="0">
              <a:solidFill>
                <a:srgbClr val="FF0000"/>
              </a:solidFill>
            </a:endParaRPr>
          </a:p>
          <a:p>
            <a:r>
              <a:rPr lang="en-US" altLang="zh-CN" sz="3600" b="1" dirty="0"/>
              <a:t>36.with                   </a:t>
            </a:r>
            <a:r>
              <a:rPr lang="en-US" altLang="zh-CN" sz="3600" b="1" dirty="0">
                <a:solidFill>
                  <a:srgbClr val="FF0000"/>
                </a:solidFill>
              </a:rPr>
              <a:t>live with</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一起生活</a:t>
            </a:r>
            <a:r>
              <a:rPr lang="en-US" altLang="zh-CN" sz="3600" b="1" dirty="0">
                <a:solidFill>
                  <a:srgbClr val="FF0000"/>
                </a:solidFill>
              </a:rPr>
              <a:t>;</a:t>
            </a:r>
            <a:r>
              <a:rPr lang="zh-CN" altLang="en-US" sz="3600" b="1" dirty="0">
                <a:solidFill>
                  <a:srgbClr val="FF0000"/>
                </a:solidFill>
              </a:rPr>
              <a:t>接受忍受</a:t>
            </a:r>
            <a:endParaRPr lang="en-US" altLang="zh-CN" sz="3600" b="1" dirty="0">
              <a:solidFill>
                <a:srgbClr val="FF0000"/>
              </a:solidFill>
            </a:endParaRPr>
          </a:p>
          <a:p>
            <a:r>
              <a:rPr lang="en-US" altLang="zh-CN" sz="3600" b="1" dirty="0"/>
              <a:t>37.that                   </a:t>
            </a:r>
            <a:r>
              <a:rPr lang="en-US" altLang="zh-CN" sz="3600" b="1" i="1" dirty="0">
                <a:solidFill>
                  <a:srgbClr val="FF0000"/>
                </a:solidFill>
              </a:rPr>
              <a:t>It is…that…</a:t>
            </a:r>
            <a:r>
              <a:rPr lang="zh-CN" altLang="en-US" sz="3600" b="1" i="1" dirty="0">
                <a:solidFill>
                  <a:srgbClr val="FF0000"/>
                </a:solidFill>
              </a:rPr>
              <a:t>强调句型</a:t>
            </a:r>
            <a:endParaRPr lang="en-US" altLang="zh-CN" sz="3600" b="1" i="1" dirty="0">
              <a:solidFill>
                <a:srgbClr val="FF0000"/>
              </a:solidFill>
            </a:endParaRPr>
          </a:p>
          <a:p>
            <a:r>
              <a:rPr lang="en-US" altLang="zh-CN" sz="3600" b="1" dirty="0"/>
              <a:t>38.are faced with</a:t>
            </a:r>
          </a:p>
          <a:p>
            <a:r>
              <a:rPr lang="en-US" altLang="zh-CN" sz="3600" b="1" dirty="0">
                <a:solidFill>
                  <a:srgbClr val="FF0000"/>
                </a:solidFill>
              </a:rPr>
              <a:t> sb. face </a:t>
            </a:r>
            <a:r>
              <a:rPr lang="en-US" altLang="zh-CN" sz="3600" b="1" dirty="0" err="1">
                <a:solidFill>
                  <a:srgbClr val="FF0000"/>
                </a:solidFill>
              </a:rPr>
              <a:t>sth</a:t>
            </a:r>
            <a:r>
              <a:rPr lang="en-US" altLang="zh-CN" sz="3600" b="1" dirty="0">
                <a:solidFill>
                  <a:srgbClr val="FF0000"/>
                </a:solidFill>
              </a:rPr>
              <a:t>.= sb. be faced with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面对</a:t>
            </a:r>
            <a:endParaRPr lang="en-US" altLang="zh-CN" sz="3600" b="1" dirty="0">
              <a:solidFill>
                <a:srgbClr val="FF0000"/>
              </a:solidFill>
            </a:endParaRPr>
          </a:p>
          <a:p>
            <a:r>
              <a:rPr lang="en-US" altLang="zh-CN" sz="3600" b="1" dirty="0"/>
              <a:t>39.</a:t>
            </a:r>
            <a:r>
              <a:rPr lang="en-US" altLang="zh-CN" sz="3600" b="1"/>
              <a:t>Without            40</a:t>
            </a:r>
            <a:r>
              <a:rPr lang="en-US" altLang="zh-CN" sz="3600" b="1" dirty="0"/>
              <a:t>.</a:t>
            </a:r>
            <a:r>
              <a:rPr lang="en-US" altLang="zh-CN" sz="3600" b="1" dirty="0">
                <a:solidFill>
                  <a:srgbClr val="FF0000"/>
                </a:solidFill>
              </a:rPr>
              <a:t>fame n.</a:t>
            </a:r>
            <a:r>
              <a:rPr lang="zh-CN" altLang="en-US" sz="3600" b="1" dirty="0">
                <a:solidFill>
                  <a:srgbClr val="FF0000"/>
                </a:solidFill>
              </a:rPr>
              <a:t>名望</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dirty="0"/>
              <a:t>U4(2) 1</a:t>
            </a:r>
            <a:r>
              <a:rPr lang="en-US" altLang="zh-CN" sz="3600" b="1" dirty="0">
                <a:solidFill>
                  <a:srgbClr val="FF0000"/>
                </a:solidFill>
              </a:rPr>
              <a:t>. bend v. </a:t>
            </a:r>
            <a:r>
              <a:rPr lang="en-US" altLang="zh-CN" sz="3600" b="1" dirty="0">
                <a:solidFill>
                  <a:srgbClr val="FF0000"/>
                </a:solidFill>
                <a:highlight>
                  <a:srgbClr val="FFFF00"/>
                </a:highlight>
              </a:rPr>
              <a:t>(bent, bent)(</a:t>
            </a:r>
            <a:r>
              <a:rPr lang="zh-CN" altLang="zh-CN" sz="3600" b="1" dirty="0"/>
              <a:t>使</a:t>
            </a:r>
            <a:r>
              <a:rPr lang="en-US" altLang="zh-CN" sz="3600" b="1" dirty="0"/>
              <a:t>)</a:t>
            </a:r>
            <a:r>
              <a:rPr lang="zh-CN" altLang="zh-CN" sz="3600" b="1" dirty="0"/>
              <a:t>拐弯</a:t>
            </a:r>
            <a:r>
              <a:rPr lang="en-US" altLang="zh-CN" sz="3600" b="1" dirty="0"/>
              <a:t>,</a:t>
            </a:r>
            <a:r>
              <a:rPr lang="zh-CN" altLang="zh-CN" sz="3600" b="1" dirty="0"/>
              <a:t>弯曲</a:t>
            </a:r>
            <a:r>
              <a:rPr lang="en-US" altLang="zh-CN" sz="3600" b="1" dirty="0"/>
              <a:t>n. </a:t>
            </a:r>
            <a:r>
              <a:rPr lang="zh-CN" altLang="zh-CN" sz="3600" b="1" dirty="0"/>
              <a:t>拐弯</a:t>
            </a:r>
            <a:r>
              <a:rPr lang="en-US" altLang="zh-CN" sz="3600" b="1" dirty="0"/>
              <a:t>,</a:t>
            </a:r>
            <a:r>
              <a:rPr lang="zh-CN" altLang="zh-CN" sz="3600" b="1" dirty="0"/>
              <a:t>弯道</a:t>
            </a:r>
          </a:p>
          <a:p>
            <a:r>
              <a:rPr lang="en-US" altLang="zh-CN" sz="3600" b="1" dirty="0"/>
              <a:t>2. </a:t>
            </a:r>
            <a:r>
              <a:rPr lang="en-US" altLang="zh-CN" sz="3600" b="1" dirty="0">
                <a:solidFill>
                  <a:srgbClr val="FF0000"/>
                </a:solidFill>
              </a:rPr>
              <a:t>striking</a:t>
            </a:r>
            <a:r>
              <a:rPr lang="en-US" altLang="zh-CN" sz="3600" b="1" dirty="0"/>
              <a:t> adj. </a:t>
            </a:r>
            <a:r>
              <a:rPr lang="zh-CN" altLang="zh-CN" sz="3600" b="1" dirty="0"/>
              <a:t>引人注目的，显著的；妩媚动人的，标致的</a:t>
            </a:r>
            <a:r>
              <a:rPr lang="en-US" altLang="zh-CN" sz="3600" b="1" dirty="0"/>
              <a:t>→</a:t>
            </a:r>
            <a:r>
              <a:rPr lang="en-US" altLang="zh-CN" sz="3600" b="1" dirty="0">
                <a:solidFill>
                  <a:srgbClr val="FF0000"/>
                </a:solidFill>
                <a:highlight>
                  <a:srgbClr val="FFFF00"/>
                </a:highlight>
              </a:rPr>
              <a:t>strike v.(struck, struck)</a:t>
            </a:r>
            <a:endParaRPr lang="zh-CN" altLang="zh-CN" sz="3600" b="1" dirty="0">
              <a:solidFill>
                <a:srgbClr val="FF0000"/>
              </a:solidFill>
              <a:highlight>
                <a:srgbClr val="FFFF00"/>
              </a:highlight>
            </a:endParaRPr>
          </a:p>
          <a:p>
            <a:r>
              <a:rPr lang="en-US" altLang="zh-CN" sz="3600" b="1" dirty="0"/>
              <a:t>3.</a:t>
            </a:r>
            <a:r>
              <a:rPr lang="en-US" altLang="zh-CN" sz="3600" b="1" dirty="0">
                <a:solidFill>
                  <a:srgbClr val="FF0000"/>
                </a:solidFill>
              </a:rPr>
              <a:t>characterize</a:t>
            </a:r>
            <a:r>
              <a:rPr lang="en-US" altLang="zh-CN" sz="3600" b="1" dirty="0"/>
              <a:t> (also </a:t>
            </a:r>
            <a:r>
              <a:rPr lang="en-US" altLang="zh-CN" sz="3600" b="1" dirty="0" err="1"/>
              <a:t>characterise</a:t>
            </a:r>
            <a:r>
              <a:rPr lang="en-US" altLang="zh-CN" sz="3600" b="1" dirty="0"/>
              <a:t>)</a:t>
            </a:r>
            <a:r>
              <a:rPr lang="en-US" altLang="zh-CN" sz="3600" b="1" dirty="0" err="1"/>
              <a:t>vt.</a:t>
            </a:r>
            <a:r>
              <a:rPr lang="en-US" altLang="zh-CN" sz="3600" b="1" dirty="0"/>
              <a:t> </a:t>
            </a:r>
            <a:r>
              <a:rPr lang="zh-CN" altLang="zh-CN" sz="3600" b="1" dirty="0"/>
              <a:t>是</a:t>
            </a:r>
            <a:r>
              <a:rPr lang="en-US" altLang="zh-CN" sz="3600" b="1" dirty="0"/>
              <a:t>…</a:t>
            </a:r>
            <a:r>
              <a:rPr lang="zh-CN" altLang="zh-CN" sz="3600" b="1" dirty="0"/>
              <a:t>的特征</a:t>
            </a:r>
            <a:r>
              <a:rPr lang="en-US" altLang="zh-CN" sz="3600" b="1" dirty="0"/>
              <a:t>,</a:t>
            </a:r>
            <a:r>
              <a:rPr lang="zh-CN" altLang="zh-CN" sz="3600" b="1" dirty="0"/>
              <a:t>以</a:t>
            </a:r>
            <a:r>
              <a:rPr lang="en-US" altLang="zh-CN" sz="3600" b="1" dirty="0"/>
              <a:t>…</a:t>
            </a:r>
            <a:r>
              <a:rPr lang="zh-CN" altLang="zh-CN" sz="3600" b="1" dirty="0"/>
              <a:t>为典型</a:t>
            </a:r>
            <a:r>
              <a:rPr lang="en-US" altLang="zh-CN" sz="3600" b="1" dirty="0"/>
              <a:t>;</a:t>
            </a:r>
            <a:r>
              <a:rPr lang="zh-CN" altLang="zh-CN" sz="3600" b="1" dirty="0"/>
              <a:t>使</a:t>
            </a:r>
            <a:r>
              <a:rPr lang="en-US" altLang="zh-CN" sz="3600" b="1" dirty="0"/>
              <a:t>…</a:t>
            </a:r>
            <a:r>
              <a:rPr lang="zh-CN" altLang="zh-CN" sz="3600" b="1" dirty="0"/>
              <a:t>具有特点</a:t>
            </a:r>
            <a:r>
              <a:rPr lang="en-US" altLang="zh-CN" sz="3600" b="1" dirty="0"/>
              <a:t>;</a:t>
            </a:r>
            <a:r>
              <a:rPr lang="zh-CN" altLang="zh-CN" sz="3600" b="1" dirty="0"/>
              <a:t>描述</a:t>
            </a:r>
            <a:r>
              <a:rPr lang="en-US" altLang="zh-CN" sz="3600" b="1" dirty="0"/>
              <a:t>→</a:t>
            </a:r>
            <a:r>
              <a:rPr lang="en-US" altLang="zh-CN" sz="3600" b="1" dirty="0">
                <a:solidFill>
                  <a:srgbClr val="FF0000"/>
                </a:solidFill>
                <a:highlight>
                  <a:srgbClr val="FFFF00"/>
                </a:highlight>
              </a:rPr>
              <a:t>character</a:t>
            </a:r>
            <a:r>
              <a:rPr lang="en-US" altLang="zh-CN" sz="3600" b="1" dirty="0"/>
              <a:t> n.</a:t>
            </a:r>
            <a:r>
              <a:rPr lang="zh-CN" altLang="zh-CN" sz="3600" b="1" dirty="0"/>
              <a:t>性格</a:t>
            </a:r>
            <a:r>
              <a:rPr lang="en-US" altLang="zh-CN" sz="3600" b="1" dirty="0"/>
              <a:t>;</a:t>
            </a:r>
            <a:r>
              <a:rPr lang="zh-CN" altLang="zh-CN" sz="3600" b="1" dirty="0"/>
              <a:t>特色</a:t>
            </a:r>
            <a:r>
              <a:rPr lang="en-US" altLang="zh-CN" sz="3600" b="1" dirty="0"/>
              <a:t>;</a:t>
            </a:r>
            <a:r>
              <a:rPr lang="zh-CN" altLang="zh-CN" sz="3600" b="1" dirty="0"/>
              <a:t>角色</a:t>
            </a:r>
            <a:r>
              <a:rPr lang="en-US" altLang="zh-CN" sz="3600" b="1" dirty="0"/>
              <a:t>→ </a:t>
            </a:r>
            <a:r>
              <a:rPr lang="en-US" altLang="zh-CN" sz="3600" b="1" dirty="0">
                <a:solidFill>
                  <a:srgbClr val="FF0000"/>
                </a:solidFill>
                <a:highlight>
                  <a:srgbClr val="FFFF00"/>
                </a:highlight>
              </a:rPr>
              <a:t>characteristic</a:t>
            </a:r>
            <a:r>
              <a:rPr lang="en-US" altLang="zh-CN" sz="3600" b="1" dirty="0"/>
              <a:t>   n.</a:t>
            </a:r>
            <a:r>
              <a:rPr lang="zh-CN" altLang="zh-CN" sz="3600" b="1" dirty="0"/>
              <a:t>特点</a:t>
            </a:r>
            <a:r>
              <a:rPr lang="en-US" altLang="zh-CN" sz="3600" b="1" dirty="0"/>
              <a:t>;</a:t>
            </a:r>
            <a:r>
              <a:rPr lang="zh-CN" altLang="zh-CN" sz="3600" b="1" dirty="0"/>
              <a:t>特性</a:t>
            </a:r>
            <a:r>
              <a:rPr lang="en-US" altLang="zh-CN" sz="3600" b="1" dirty="0"/>
              <a:t>;</a:t>
            </a:r>
            <a:r>
              <a:rPr lang="zh-CN" altLang="zh-CN" sz="3600" b="1" dirty="0"/>
              <a:t>品质</a:t>
            </a:r>
            <a:r>
              <a:rPr lang="en-US" altLang="zh-CN" sz="3600" b="1" dirty="0"/>
              <a:t> </a:t>
            </a:r>
            <a:r>
              <a:rPr lang="en-US" altLang="zh-CN" sz="3600" b="1" dirty="0">
                <a:highlight>
                  <a:srgbClr val="FFFF00"/>
                </a:highlight>
              </a:rPr>
              <a:t>adj.</a:t>
            </a:r>
            <a:r>
              <a:rPr lang="zh-CN" altLang="zh-CN" sz="3600" b="1" dirty="0"/>
              <a:t>典型的</a:t>
            </a:r>
            <a:r>
              <a:rPr lang="en-US" altLang="zh-CN" sz="3600" b="1" dirty="0"/>
              <a:t>;</a:t>
            </a:r>
            <a:r>
              <a:rPr lang="zh-CN" altLang="zh-CN" sz="3600" b="1" dirty="0"/>
              <a:t>特有的</a:t>
            </a:r>
          </a:p>
          <a:p>
            <a:r>
              <a:rPr lang="en-US" altLang="zh-CN" sz="3600" b="1" dirty="0"/>
              <a:t>4.</a:t>
            </a:r>
            <a:r>
              <a:rPr lang="en-US" altLang="zh-CN" sz="3600" b="1" dirty="0">
                <a:solidFill>
                  <a:srgbClr val="FF0000"/>
                </a:solidFill>
              </a:rPr>
              <a:t>legend</a:t>
            </a:r>
            <a:r>
              <a:rPr lang="en-US" altLang="zh-CN" sz="3600" b="1" dirty="0"/>
              <a:t> (n.) </a:t>
            </a:r>
            <a:r>
              <a:rPr lang="zh-CN" altLang="zh-CN" sz="3600" b="1" dirty="0"/>
              <a:t>传说，传奇故事</a:t>
            </a:r>
            <a:r>
              <a:rPr lang="en-US" altLang="zh-CN" sz="3600" b="1" dirty="0"/>
              <a:t>→</a:t>
            </a:r>
            <a:r>
              <a:rPr lang="en-US" altLang="zh-CN" sz="3600" b="1" dirty="0">
                <a:solidFill>
                  <a:srgbClr val="FF0000"/>
                </a:solidFill>
                <a:highlight>
                  <a:srgbClr val="FFFF00"/>
                </a:highlight>
              </a:rPr>
              <a:t>legendary</a:t>
            </a:r>
            <a:r>
              <a:rPr lang="en-US" altLang="zh-CN" sz="3600" b="1" dirty="0"/>
              <a:t> (adj.) </a:t>
            </a:r>
            <a:r>
              <a:rPr lang="zh-CN" altLang="zh-CN" sz="3600" b="1" dirty="0"/>
              <a:t>非常著名的</a:t>
            </a:r>
            <a:r>
              <a:rPr lang="en-US" altLang="zh-CN" sz="3600" b="1" dirty="0"/>
              <a:t>;</a:t>
            </a:r>
            <a:r>
              <a:rPr lang="zh-CN" altLang="zh-CN" sz="3600" b="1" dirty="0"/>
              <a:t>传奇的</a:t>
            </a:r>
            <a:r>
              <a:rPr lang="en-US" altLang="zh-CN" sz="3600" b="1" dirty="0"/>
              <a:t>;</a:t>
            </a:r>
            <a:r>
              <a:rPr lang="zh-CN" altLang="zh-CN" sz="3600" b="1" dirty="0"/>
              <a:t>传说的</a:t>
            </a:r>
          </a:p>
          <a:p>
            <a:r>
              <a:rPr lang="en-US" altLang="zh-CN" sz="3600" b="1" dirty="0"/>
              <a:t>5.</a:t>
            </a:r>
            <a:r>
              <a:rPr lang="en-US" altLang="zh-CN" sz="3600" b="1" dirty="0">
                <a:solidFill>
                  <a:srgbClr val="FF0000"/>
                </a:solidFill>
              </a:rPr>
              <a:t>glorious</a:t>
            </a:r>
            <a:r>
              <a:rPr lang="en-US" altLang="zh-CN" sz="3600" b="1" dirty="0"/>
              <a:t> (adj.) </a:t>
            </a:r>
            <a:r>
              <a:rPr lang="zh-CN" altLang="zh-CN" sz="3600" b="1" dirty="0"/>
              <a:t>荣耀的</a:t>
            </a:r>
            <a:r>
              <a:rPr lang="en-US" altLang="zh-CN" sz="3600" b="1" dirty="0"/>
              <a:t>,</a:t>
            </a:r>
            <a:r>
              <a:rPr lang="zh-CN" altLang="zh-CN" sz="3600" b="1" dirty="0"/>
              <a:t>光荣的</a:t>
            </a:r>
            <a:r>
              <a:rPr lang="en-US" altLang="zh-CN" sz="3600" b="1" dirty="0"/>
              <a:t>;</a:t>
            </a:r>
            <a:r>
              <a:rPr lang="zh-CN" altLang="zh-CN" sz="3600" b="1" dirty="0"/>
              <a:t>壮丽的</a:t>
            </a:r>
            <a:r>
              <a:rPr lang="en-US" altLang="zh-CN" sz="3600" b="1" dirty="0"/>
              <a:t>,</a:t>
            </a:r>
            <a:r>
              <a:rPr lang="zh-CN" altLang="zh-CN" sz="3600" b="1" dirty="0"/>
              <a:t>辉煌的</a:t>
            </a:r>
            <a:r>
              <a:rPr lang="en-US" altLang="zh-CN" sz="3600" b="1" dirty="0"/>
              <a:t>→</a:t>
            </a:r>
            <a:r>
              <a:rPr lang="en-US" altLang="zh-CN" sz="3600" b="1" dirty="0">
                <a:solidFill>
                  <a:srgbClr val="FF0000"/>
                </a:solidFill>
                <a:highlight>
                  <a:srgbClr val="FFFF00"/>
                </a:highlight>
              </a:rPr>
              <a:t>glory</a:t>
            </a:r>
            <a:r>
              <a:rPr lang="en-US" altLang="zh-CN" sz="3600" b="1" dirty="0"/>
              <a:t> (n.) </a:t>
            </a:r>
            <a:r>
              <a:rPr lang="zh-CN" altLang="zh-CN" sz="3600" b="1" dirty="0"/>
              <a:t>荣誉</a:t>
            </a:r>
            <a:r>
              <a:rPr lang="en-US" altLang="zh-CN" sz="3600" b="1" dirty="0"/>
              <a:t>;</a:t>
            </a:r>
            <a:r>
              <a:rPr lang="zh-CN" altLang="zh-CN" sz="3600" b="1" dirty="0"/>
              <a:t>光荣</a:t>
            </a:r>
          </a:p>
          <a:p>
            <a:r>
              <a:rPr lang="en-US" altLang="zh-CN" sz="3600" b="1" dirty="0"/>
              <a:t>6.</a:t>
            </a:r>
            <a:r>
              <a:rPr lang="en-US" altLang="zh-CN" sz="3600" b="1" dirty="0">
                <a:solidFill>
                  <a:srgbClr val="FF0000"/>
                </a:solidFill>
              </a:rPr>
              <a:t>stability</a:t>
            </a:r>
            <a:r>
              <a:rPr lang="en-US" altLang="zh-CN" sz="3600" b="1" dirty="0"/>
              <a:t> n.</a:t>
            </a:r>
            <a:r>
              <a:rPr lang="zh-CN" altLang="zh-CN" sz="3600" b="1" dirty="0"/>
              <a:t>稳定</a:t>
            </a:r>
            <a:r>
              <a:rPr lang="en-US" altLang="zh-CN" sz="3600" b="1" dirty="0"/>
              <a:t>/</a:t>
            </a:r>
            <a:r>
              <a:rPr lang="zh-CN" altLang="zh-CN" sz="3600" b="1" dirty="0"/>
              <a:t>固</a:t>
            </a:r>
            <a:r>
              <a:rPr lang="en-US" altLang="zh-CN" sz="3600" b="1" dirty="0"/>
              <a:t>(</a:t>
            </a:r>
            <a:r>
              <a:rPr lang="zh-CN" altLang="zh-CN" sz="3600" b="1" dirty="0"/>
              <a:t>性</a:t>
            </a:r>
            <a:r>
              <a:rPr lang="en-US" altLang="zh-CN" sz="3600" b="1" dirty="0"/>
              <a:t>)→</a:t>
            </a:r>
            <a:r>
              <a:rPr lang="en-US" altLang="zh-CN" sz="3600" b="1" dirty="0">
                <a:solidFill>
                  <a:srgbClr val="FF0000"/>
                </a:solidFill>
                <a:highlight>
                  <a:srgbClr val="FFFF00"/>
                </a:highlight>
              </a:rPr>
              <a:t>stable</a:t>
            </a:r>
            <a:r>
              <a:rPr lang="en-US" altLang="zh-CN" sz="3600" b="1" dirty="0"/>
              <a:t> adj.</a:t>
            </a:r>
            <a:r>
              <a:rPr lang="zh-CN" altLang="zh-CN" sz="3600" b="1" dirty="0"/>
              <a:t>稳定的</a:t>
            </a:r>
            <a:r>
              <a:rPr lang="en-US" altLang="zh-CN" sz="3600" b="1" dirty="0"/>
              <a:t>→</a:t>
            </a:r>
            <a:r>
              <a:rPr lang="en-US" altLang="zh-CN" sz="3600" b="1" dirty="0">
                <a:solidFill>
                  <a:srgbClr val="FF0000"/>
                </a:solidFill>
                <a:highlight>
                  <a:srgbClr val="FFFF00"/>
                </a:highlight>
              </a:rPr>
              <a:t>stably</a:t>
            </a:r>
            <a:r>
              <a:rPr lang="en-US" altLang="zh-CN" sz="3600" b="1" dirty="0"/>
              <a:t> adv.</a:t>
            </a:r>
            <a:r>
              <a:rPr lang="zh-CN" altLang="zh-CN" sz="3600" b="1" dirty="0"/>
              <a:t>稳定地</a:t>
            </a:r>
          </a:p>
          <a:p>
            <a:pPr marL="0" indent="0">
              <a:buNone/>
            </a:pPr>
            <a:endParaRPr lang="zh-CN" altLang="en-US" sz="3600" b="1" dirty="0">
              <a:solidFill>
                <a:srgbClr val="FF0000"/>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dirty="0"/>
              <a:t>7. </a:t>
            </a:r>
            <a:r>
              <a:rPr lang="en-US" altLang="zh-CN" sz="3600" b="1" dirty="0">
                <a:solidFill>
                  <a:srgbClr val="FF0000"/>
                </a:solidFill>
              </a:rPr>
              <a:t>tolerant</a:t>
            </a:r>
            <a:r>
              <a:rPr lang="en-US" altLang="zh-CN" sz="3600" b="1" dirty="0"/>
              <a:t> adj.</a:t>
            </a:r>
            <a:r>
              <a:rPr lang="zh-CN" altLang="zh-CN" sz="3600" b="1" dirty="0"/>
              <a:t>宽容的</a:t>
            </a:r>
            <a:r>
              <a:rPr lang="en-US" altLang="zh-CN" sz="3600" b="1" dirty="0"/>
              <a:t>,</a:t>
            </a:r>
            <a:r>
              <a:rPr lang="zh-CN" altLang="zh-CN" sz="3600" b="1" dirty="0"/>
              <a:t>容忍的</a:t>
            </a:r>
            <a:r>
              <a:rPr lang="en-US" altLang="zh-CN" sz="3600" b="1" dirty="0"/>
              <a:t>→</a:t>
            </a:r>
            <a:r>
              <a:rPr lang="en-US" altLang="zh-CN" sz="3600" b="1" dirty="0">
                <a:solidFill>
                  <a:srgbClr val="FF0000"/>
                </a:solidFill>
                <a:highlight>
                  <a:srgbClr val="FFFF00"/>
                </a:highlight>
              </a:rPr>
              <a:t>tolerate</a:t>
            </a:r>
            <a:r>
              <a:rPr lang="en-US" altLang="zh-CN" sz="3600" b="1" dirty="0"/>
              <a:t> </a:t>
            </a:r>
            <a:r>
              <a:rPr lang="en-US" altLang="zh-CN" sz="3600" b="1" dirty="0" err="1"/>
              <a:t>vt.</a:t>
            </a:r>
            <a:r>
              <a:rPr lang="zh-CN" altLang="zh-CN" sz="3600" b="1" dirty="0"/>
              <a:t>容许</a:t>
            </a:r>
            <a:r>
              <a:rPr lang="en-US" altLang="zh-CN" sz="3600" b="1" dirty="0"/>
              <a:t>,</a:t>
            </a:r>
            <a:r>
              <a:rPr lang="zh-CN" altLang="zh-CN" sz="3600" b="1" dirty="0"/>
              <a:t>允许</a:t>
            </a:r>
            <a:r>
              <a:rPr lang="en-US" altLang="zh-CN" sz="3600" b="1" dirty="0"/>
              <a:t>→</a:t>
            </a:r>
            <a:r>
              <a:rPr lang="en-US" altLang="zh-CN" sz="3600" b="1" dirty="0">
                <a:solidFill>
                  <a:srgbClr val="FF0000"/>
                </a:solidFill>
                <a:highlight>
                  <a:srgbClr val="FFFF00"/>
                </a:highlight>
              </a:rPr>
              <a:t>tolerance</a:t>
            </a:r>
            <a:r>
              <a:rPr lang="en-US" altLang="zh-CN" sz="3600" b="1" dirty="0"/>
              <a:t> n.</a:t>
            </a:r>
            <a:r>
              <a:rPr lang="zh-CN" altLang="zh-CN" sz="3600" b="1" dirty="0"/>
              <a:t>忍受</a:t>
            </a:r>
            <a:r>
              <a:rPr lang="en-US" altLang="zh-CN" sz="3600" b="1" dirty="0"/>
              <a:t>;</a:t>
            </a:r>
            <a:r>
              <a:rPr lang="zh-CN" altLang="zh-CN" sz="3600" b="1" dirty="0"/>
              <a:t>容忍</a:t>
            </a:r>
            <a:r>
              <a:rPr lang="en-US" altLang="zh-CN" sz="3600" b="1" dirty="0"/>
              <a:t>;</a:t>
            </a:r>
            <a:r>
              <a:rPr lang="zh-CN" altLang="zh-CN" sz="3600" b="1" dirty="0"/>
              <a:t>宽容</a:t>
            </a:r>
            <a:r>
              <a:rPr lang="en-US" altLang="zh-CN" sz="3600" b="1" dirty="0"/>
              <a:t>→</a:t>
            </a:r>
            <a:r>
              <a:rPr lang="en-US" altLang="zh-CN" sz="3600" b="1" dirty="0">
                <a:solidFill>
                  <a:srgbClr val="FF0000"/>
                </a:solidFill>
                <a:highlight>
                  <a:srgbClr val="FFFF00"/>
                </a:highlight>
              </a:rPr>
              <a:t>intolerant</a:t>
            </a:r>
            <a:r>
              <a:rPr lang="en-US" altLang="zh-CN" sz="3600" b="1" dirty="0"/>
              <a:t> adj.</a:t>
            </a:r>
            <a:r>
              <a:rPr lang="zh-CN" altLang="zh-CN" sz="3600" b="1" dirty="0"/>
              <a:t>无法忍受的</a:t>
            </a:r>
          </a:p>
          <a:p>
            <a:r>
              <a:rPr lang="en-US" altLang="zh-CN" sz="3600" b="1" dirty="0"/>
              <a:t>8. </a:t>
            </a:r>
            <a:r>
              <a:rPr lang="en-US" altLang="zh-CN" sz="3600" b="1" dirty="0">
                <a:solidFill>
                  <a:srgbClr val="FF0000"/>
                </a:solidFill>
              </a:rPr>
              <a:t>vitality</a:t>
            </a:r>
            <a:r>
              <a:rPr lang="en-US" altLang="zh-CN" sz="3600" b="1" dirty="0"/>
              <a:t> n.</a:t>
            </a:r>
            <a:r>
              <a:rPr lang="zh-CN" altLang="zh-CN" sz="3600" b="1" dirty="0"/>
              <a:t>生命力，活力，热情</a:t>
            </a:r>
            <a:r>
              <a:rPr lang="en-US" altLang="zh-CN" sz="3600" b="1" dirty="0"/>
              <a:t>→</a:t>
            </a:r>
            <a:r>
              <a:rPr lang="en-US" altLang="zh-CN" sz="3600" b="1" dirty="0">
                <a:solidFill>
                  <a:srgbClr val="FF0000"/>
                </a:solidFill>
                <a:highlight>
                  <a:srgbClr val="FFFF00"/>
                </a:highlight>
              </a:rPr>
              <a:t>vital</a:t>
            </a:r>
            <a:r>
              <a:rPr lang="en-US" altLang="zh-CN" sz="3600" b="1" dirty="0"/>
              <a:t> adj.</a:t>
            </a:r>
            <a:r>
              <a:rPr lang="zh-CN" altLang="zh-CN" sz="3600" b="1" dirty="0"/>
              <a:t>必不可少的，对</a:t>
            </a:r>
            <a:r>
              <a:rPr lang="en-US" altLang="zh-CN" sz="3600" b="1" dirty="0"/>
              <a:t>…</a:t>
            </a:r>
            <a:r>
              <a:rPr lang="zh-CN" altLang="zh-CN" sz="3600" b="1" dirty="0"/>
              <a:t>极重要的</a:t>
            </a:r>
            <a:r>
              <a:rPr lang="en-US" altLang="zh-CN" sz="3600" b="1" dirty="0"/>
              <a:t>;</a:t>
            </a:r>
            <a:r>
              <a:rPr lang="zh-CN" altLang="zh-CN" sz="3600" b="1" dirty="0"/>
              <a:t>维持生命所必需的</a:t>
            </a:r>
            <a:r>
              <a:rPr lang="en-US" altLang="zh-CN" sz="3600" b="1" dirty="0"/>
              <a:t>;</a:t>
            </a:r>
            <a:r>
              <a:rPr lang="zh-CN" altLang="zh-CN" sz="3600" b="1" dirty="0"/>
              <a:t>热情洋溢的</a:t>
            </a:r>
            <a:r>
              <a:rPr lang="en-US" altLang="zh-CN" sz="3600" b="1" dirty="0"/>
              <a:t>→</a:t>
            </a:r>
            <a:r>
              <a:rPr lang="en-US" altLang="zh-CN" sz="3600" b="1" dirty="0">
                <a:solidFill>
                  <a:srgbClr val="FF0000"/>
                </a:solidFill>
                <a:highlight>
                  <a:srgbClr val="FFFF00"/>
                </a:highlight>
              </a:rPr>
              <a:t>vitally</a:t>
            </a:r>
            <a:r>
              <a:rPr lang="en-US" altLang="zh-CN" sz="3600" b="1" dirty="0"/>
              <a:t> adv.</a:t>
            </a:r>
            <a:endParaRPr lang="zh-CN" altLang="zh-CN" sz="3600" b="1" dirty="0"/>
          </a:p>
          <a:p>
            <a:r>
              <a:rPr lang="en-US" altLang="zh-CN" sz="3600" b="1" dirty="0"/>
              <a:t>9.</a:t>
            </a:r>
            <a:r>
              <a:rPr lang="en-US" altLang="zh-CN" sz="3600" b="1" dirty="0">
                <a:solidFill>
                  <a:srgbClr val="FF0000"/>
                </a:solidFill>
              </a:rPr>
              <a:t>distinguish</a:t>
            </a:r>
            <a:r>
              <a:rPr lang="en-US" altLang="zh-CN" sz="3600" b="1" dirty="0"/>
              <a:t> </a:t>
            </a:r>
            <a:r>
              <a:rPr lang="en-US" altLang="zh-CN" sz="3600" b="1" dirty="0" err="1"/>
              <a:t>vt</a:t>
            </a:r>
            <a:r>
              <a:rPr lang="en-US" altLang="zh-CN" sz="3600" b="1" dirty="0"/>
              <a:t>.&amp;vi.</a:t>
            </a:r>
            <a:r>
              <a:rPr lang="zh-CN" altLang="zh-CN" sz="3600" b="1" dirty="0"/>
              <a:t>成为</a:t>
            </a:r>
            <a:r>
              <a:rPr lang="en-US" altLang="zh-CN" sz="3600" b="1" dirty="0"/>
              <a:t>…</a:t>
            </a:r>
            <a:r>
              <a:rPr lang="zh-CN" altLang="zh-CN" sz="3600" b="1" dirty="0"/>
              <a:t>的特征</a:t>
            </a:r>
            <a:r>
              <a:rPr lang="en-US" altLang="zh-CN" sz="3600" b="1" dirty="0"/>
              <a:t>,</a:t>
            </a:r>
            <a:r>
              <a:rPr lang="zh-CN" altLang="zh-CN" sz="3600" b="1" dirty="0"/>
              <a:t>使有别于</a:t>
            </a:r>
            <a:r>
              <a:rPr lang="en-US" altLang="zh-CN" sz="3600" b="1" dirty="0"/>
              <a:t>;</a:t>
            </a:r>
            <a:r>
              <a:rPr lang="zh-CN" altLang="zh-CN" sz="3600" b="1" dirty="0"/>
              <a:t>区分，辨别</a:t>
            </a:r>
            <a:r>
              <a:rPr lang="en-US" altLang="zh-CN" sz="3600" b="1" dirty="0"/>
              <a:t>→</a:t>
            </a:r>
            <a:r>
              <a:rPr lang="en-US" altLang="zh-CN" sz="3600" b="1" dirty="0">
                <a:solidFill>
                  <a:srgbClr val="FF0000"/>
                </a:solidFill>
                <a:highlight>
                  <a:srgbClr val="FFFF00"/>
                </a:highlight>
              </a:rPr>
              <a:t>distinguished</a:t>
            </a:r>
            <a:r>
              <a:rPr lang="en-US" altLang="zh-CN" sz="3600" b="1" dirty="0"/>
              <a:t> adj.</a:t>
            </a:r>
            <a:r>
              <a:rPr lang="zh-CN" altLang="zh-CN" sz="3600" b="1" dirty="0"/>
              <a:t>卓越的</a:t>
            </a:r>
            <a:r>
              <a:rPr lang="en-US" altLang="zh-CN" sz="3600" b="1" dirty="0"/>
              <a:t>;</a:t>
            </a:r>
            <a:r>
              <a:rPr lang="zh-CN" altLang="zh-CN" sz="3600" b="1" dirty="0"/>
              <a:t>杰出的</a:t>
            </a:r>
            <a:r>
              <a:rPr lang="en-US" altLang="zh-CN" sz="3600" b="1" dirty="0"/>
              <a:t>;</a:t>
            </a:r>
            <a:r>
              <a:rPr lang="zh-CN" altLang="zh-CN" sz="3600" b="1" dirty="0"/>
              <a:t>著名的</a:t>
            </a:r>
            <a:r>
              <a:rPr lang="en-US" altLang="zh-CN" sz="3600" b="1" dirty="0"/>
              <a:t>;</a:t>
            </a:r>
            <a:r>
              <a:rPr lang="zh-CN" altLang="zh-CN" sz="3600" b="1" dirty="0"/>
              <a:t>高贵的</a:t>
            </a:r>
            <a:r>
              <a:rPr lang="en-US" altLang="zh-CN" sz="3600" b="1" dirty="0"/>
              <a:t>;</a:t>
            </a:r>
            <a:r>
              <a:rPr lang="zh-CN" altLang="zh-CN" sz="3600" b="1" dirty="0"/>
              <a:t>有尊严</a:t>
            </a:r>
          </a:p>
          <a:p>
            <a:r>
              <a:rPr lang="en-US" altLang="zh-CN" sz="3600" b="1" dirty="0"/>
              <a:t>10.</a:t>
            </a:r>
            <a:r>
              <a:rPr lang="en-US" altLang="zh-CN" sz="3600" b="1" dirty="0">
                <a:solidFill>
                  <a:srgbClr val="FF0000"/>
                </a:solidFill>
              </a:rPr>
              <a:t>exaggeration</a:t>
            </a:r>
            <a:r>
              <a:rPr lang="en-US" altLang="zh-CN" sz="3600" b="1" dirty="0"/>
              <a:t> n.</a:t>
            </a:r>
            <a:r>
              <a:rPr lang="zh-CN" altLang="zh-CN" sz="3600" b="1" dirty="0"/>
              <a:t>夸张</a:t>
            </a:r>
            <a:r>
              <a:rPr lang="en-US" altLang="zh-CN" sz="3600" b="1" dirty="0"/>
              <a:t>/</a:t>
            </a:r>
            <a:r>
              <a:rPr lang="zh-CN" altLang="zh-CN" sz="3600" b="1" dirty="0"/>
              <a:t>大</a:t>
            </a:r>
            <a:r>
              <a:rPr lang="en-US" altLang="zh-CN" sz="3600" b="1" dirty="0"/>
              <a:t>→</a:t>
            </a:r>
            <a:r>
              <a:rPr lang="en-US" altLang="zh-CN" sz="3600" b="1" dirty="0">
                <a:solidFill>
                  <a:srgbClr val="FF0000"/>
                </a:solidFill>
                <a:highlight>
                  <a:srgbClr val="FFFF00"/>
                </a:highlight>
              </a:rPr>
              <a:t>exaggerate</a:t>
            </a:r>
            <a:r>
              <a:rPr lang="en-US" altLang="zh-CN" sz="3600" b="1" dirty="0"/>
              <a:t> v.</a:t>
            </a:r>
            <a:r>
              <a:rPr lang="zh-CN" altLang="zh-CN" sz="3600" b="1" dirty="0"/>
              <a:t>夸张</a:t>
            </a:r>
            <a:r>
              <a:rPr lang="en-US" altLang="zh-CN" sz="3600" b="1" dirty="0"/>
              <a:t>/</a:t>
            </a:r>
            <a:r>
              <a:rPr lang="zh-CN" altLang="zh-CN" sz="3600" b="1" dirty="0"/>
              <a:t>大</a:t>
            </a:r>
          </a:p>
          <a:p>
            <a:r>
              <a:rPr lang="en-US" altLang="zh-CN" sz="3600" b="1" dirty="0"/>
              <a:t>11.</a:t>
            </a:r>
            <a:r>
              <a:rPr lang="en-US" altLang="zh-CN" sz="3600" b="1" dirty="0">
                <a:solidFill>
                  <a:srgbClr val="FF0000"/>
                </a:solidFill>
              </a:rPr>
              <a:t>representative</a:t>
            </a:r>
            <a:r>
              <a:rPr lang="en-US" altLang="zh-CN" sz="3600" b="1" dirty="0"/>
              <a:t> adj.</a:t>
            </a:r>
            <a:r>
              <a:rPr lang="zh-CN" altLang="zh-CN" sz="3600" b="1" dirty="0"/>
              <a:t>典型的</a:t>
            </a:r>
            <a:r>
              <a:rPr lang="en-US" altLang="zh-CN" sz="3600" b="1" dirty="0"/>
              <a:t>,</a:t>
            </a:r>
            <a:r>
              <a:rPr lang="zh-CN" altLang="zh-CN" sz="3600" b="1" dirty="0"/>
              <a:t>有代表性的</a:t>
            </a:r>
            <a:r>
              <a:rPr lang="en-US" altLang="zh-CN" sz="3600" b="1" dirty="0"/>
              <a:t>n.</a:t>
            </a:r>
            <a:r>
              <a:rPr lang="zh-CN" altLang="zh-CN" sz="3600" b="1" dirty="0"/>
              <a:t>典型人物</a:t>
            </a:r>
            <a:r>
              <a:rPr lang="en-US" altLang="zh-CN" sz="3600" b="1" dirty="0"/>
              <a:t>→</a:t>
            </a:r>
            <a:r>
              <a:rPr lang="en-US" altLang="zh-CN" sz="3600" b="1" dirty="0">
                <a:solidFill>
                  <a:srgbClr val="FF0000"/>
                </a:solidFill>
                <a:highlight>
                  <a:srgbClr val="FFFF00"/>
                </a:highlight>
              </a:rPr>
              <a:t>represent</a:t>
            </a:r>
            <a:r>
              <a:rPr lang="en-US" altLang="zh-CN" sz="3600" b="1" dirty="0"/>
              <a:t> </a:t>
            </a:r>
            <a:r>
              <a:rPr lang="en-US" altLang="zh-CN" sz="3600" b="1" dirty="0" err="1"/>
              <a:t>vt.</a:t>
            </a:r>
            <a:r>
              <a:rPr lang="zh-CN" altLang="zh-CN" sz="3600" b="1" dirty="0"/>
              <a:t>代表</a:t>
            </a:r>
            <a:r>
              <a:rPr lang="en-US" altLang="zh-CN" sz="3600" b="1" dirty="0"/>
              <a:t>;</a:t>
            </a:r>
            <a:r>
              <a:rPr lang="zh-CN" altLang="zh-CN" sz="3600" b="1" dirty="0"/>
              <a:t>作为</a:t>
            </a:r>
            <a:r>
              <a:rPr lang="en-US" altLang="zh-CN" sz="3600" b="1" dirty="0"/>
              <a:t>…</a:t>
            </a:r>
            <a:r>
              <a:rPr lang="zh-CN" altLang="zh-CN" sz="3600" b="1" dirty="0"/>
              <a:t>的象征</a:t>
            </a:r>
            <a:r>
              <a:rPr lang="en-US" altLang="zh-CN" sz="3600" b="1" dirty="0"/>
              <a:t>; </a:t>
            </a:r>
            <a:r>
              <a:rPr lang="zh-CN" altLang="zh-CN" sz="3600" b="1" dirty="0"/>
              <a:t>意味着</a:t>
            </a:r>
            <a:r>
              <a:rPr lang="en-US" altLang="zh-CN" sz="3600" b="1" dirty="0"/>
              <a:t>→ </a:t>
            </a:r>
            <a:r>
              <a:rPr lang="en-US" altLang="zh-CN" sz="3600" b="1" dirty="0">
                <a:solidFill>
                  <a:srgbClr val="FF0000"/>
                </a:solidFill>
                <a:highlight>
                  <a:srgbClr val="FFFF00"/>
                </a:highlight>
              </a:rPr>
              <a:t>representation</a:t>
            </a:r>
            <a:r>
              <a:rPr lang="en-US" altLang="zh-CN" sz="3600" b="1" dirty="0"/>
              <a:t> n.</a:t>
            </a:r>
            <a:r>
              <a:rPr lang="zh-CN" altLang="zh-CN" sz="3600" b="1" dirty="0"/>
              <a:t>表现</a:t>
            </a:r>
            <a:r>
              <a:rPr lang="en-US" altLang="zh-CN" sz="3600" b="1" dirty="0"/>
              <a:t>;</a:t>
            </a:r>
            <a:r>
              <a:rPr lang="zh-CN" altLang="zh-CN" sz="3600" b="1" dirty="0"/>
              <a:t>描述</a:t>
            </a:r>
            <a:r>
              <a:rPr lang="en-US" altLang="zh-CN" sz="3600" b="1" dirty="0"/>
              <a:t>/</a:t>
            </a:r>
            <a:r>
              <a:rPr lang="zh-CN" altLang="zh-CN" sz="3600" b="1" dirty="0"/>
              <a:t>绘</a:t>
            </a:r>
          </a:p>
          <a:p>
            <a:r>
              <a:rPr lang="en-US" altLang="zh-CN" sz="3600" b="1" dirty="0"/>
              <a:t>12.</a:t>
            </a:r>
            <a:r>
              <a:rPr lang="en-US" altLang="zh-CN" sz="3600" b="1" dirty="0">
                <a:solidFill>
                  <a:srgbClr val="FF0000"/>
                </a:solidFill>
              </a:rPr>
              <a:t>frost</a:t>
            </a:r>
            <a:r>
              <a:rPr lang="en-US" altLang="zh-CN" sz="3600" b="1" dirty="0"/>
              <a:t> n.</a:t>
            </a:r>
            <a:r>
              <a:rPr lang="zh-CN" altLang="zh-CN" sz="3600" b="1" dirty="0"/>
              <a:t>霜冻</a:t>
            </a:r>
            <a:r>
              <a:rPr lang="en-US" altLang="zh-CN" sz="3600" b="1" dirty="0"/>
              <a:t>→</a:t>
            </a:r>
            <a:r>
              <a:rPr lang="en-US" altLang="zh-CN" sz="3600" b="1" dirty="0">
                <a:solidFill>
                  <a:srgbClr val="FF0000"/>
                </a:solidFill>
                <a:highlight>
                  <a:srgbClr val="FFFF00"/>
                </a:highlight>
              </a:rPr>
              <a:t>frosty</a:t>
            </a:r>
            <a:r>
              <a:rPr lang="en-US" altLang="zh-CN" sz="3600" b="1" dirty="0"/>
              <a:t> adj.</a:t>
            </a:r>
            <a:r>
              <a:rPr lang="zh-CN" altLang="zh-CN" sz="3600" b="1" dirty="0"/>
              <a:t>严寒的</a:t>
            </a:r>
            <a:r>
              <a:rPr lang="en-US" altLang="zh-CN" sz="3600" b="1" dirty="0"/>
              <a:t>;</a:t>
            </a:r>
            <a:r>
              <a:rPr lang="zh-CN" altLang="zh-CN" sz="3600" b="1" dirty="0"/>
              <a:t>霜冻的</a:t>
            </a:r>
          </a:p>
          <a:p>
            <a:endParaRPr lang="zh-CN" altLang="en-US" sz="3600" b="1" dirty="0">
              <a:solidFill>
                <a:srgbClr val="FF0000"/>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dirty="0"/>
              <a:t>13.</a:t>
            </a:r>
            <a:r>
              <a:rPr lang="en-US" altLang="zh-CN" sz="3600" b="1" dirty="0">
                <a:solidFill>
                  <a:srgbClr val="FF0000"/>
                </a:solidFill>
                <a:highlight>
                  <a:srgbClr val="FFFF00"/>
                </a:highlight>
              </a:rPr>
              <a:t>cast </a:t>
            </a:r>
            <a:r>
              <a:rPr lang="en-US" altLang="zh-CN" sz="3600" b="1" dirty="0" err="1">
                <a:solidFill>
                  <a:srgbClr val="FF0000"/>
                </a:solidFill>
                <a:highlight>
                  <a:srgbClr val="FFFF00"/>
                </a:highlight>
              </a:rPr>
              <a:t>vt.</a:t>
            </a:r>
            <a:r>
              <a:rPr lang="en-US" altLang="zh-CN" sz="3600" b="1" dirty="0">
                <a:solidFill>
                  <a:srgbClr val="FF0000"/>
                </a:solidFill>
                <a:highlight>
                  <a:srgbClr val="FFFF00"/>
                </a:highlight>
              </a:rPr>
              <a:t> (cast, cast) </a:t>
            </a:r>
            <a:r>
              <a:rPr lang="zh-CN" altLang="zh-CN" sz="3600" b="1" dirty="0"/>
              <a:t>投射</a:t>
            </a:r>
            <a:r>
              <a:rPr lang="en-US" altLang="zh-CN" sz="3600" b="1" dirty="0"/>
              <a:t>;</a:t>
            </a:r>
            <a:r>
              <a:rPr lang="zh-CN" altLang="zh-CN" sz="3600" b="1" dirty="0"/>
              <a:t>向</a:t>
            </a:r>
            <a:r>
              <a:rPr lang="en-US" altLang="zh-CN" sz="3600" b="1" dirty="0"/>
              <a:t>…</a:t>
            </a:r>
            <a:r>
              <a:rPr lang="zh-CN" altLang="zh-CN" sz="3600" b="1" dirty="0"/>
              <a:t>投以</a:t>
            </a:r>
            <a:r>
              <a:rPr lang="en-US" altLang="zh-CN" sz="3600" b="1" dirty="0"/>
              <a:t>(</a:t>
            </a:r>
            <a:r>
              <a:rPr lang="zh-CN" altLang="zh-CN" sz="3600" b="1" dirty="0"/>
              <a:t>视线</a:t>
            </a:r>
            <a:r>
              <a:rPr lang="en-US" altLang="zh-CN" sz="3600" b="1" dirty="0"/>
              <a:t>,</a:t>
            </a:r>
            <a:r>
              <a:rPr lang="zh-CN" altLang="zh-CN" sz="3600" b="1" dirty="0"/>
              <a:t>笑容等</a:t>
            </a:r>
            <a:r>
              <a:rPr lang="en-US" altLang="zh-CN" sz="3600" b="1" dirty="0"/>
              <a:t>);</a:t>
            </a:r>
            <a:r>
              <a:rPr lang="zh-CN" altLang="zh-CN" sz="3600" b="1" dirty="0"/>
              <a:t>投抛</a:t>
            </a:r>
            <a:r>
              <a:rPr lang="en-US" altLang="zh-CN" sz="3600" b="1" dirty="0"/>
              <a:t>;</a:t>
            </a:r>
            <a:r>
              <a:rPr lang="zh-CN" altLang="zh-CN" sz="3600" b="1" dirty="0"/>
              <a:t>选派</a:t>
            </a:r>
            <a:r>
              <a:rPr lang="en-US" altLang="zh-CN" sz="3600" b="1" dirty="0"/>
              <a:t>	n. </a:t>
            </a:r>
            <a:r>
              <a:rPr lang="zh-CN" altLang="zh-CN" sz="3600" b="1" dirty="0"/>
              <a:t>全体演员；投，抛</a:t>
            </a:r>
          </a:p>
          <a:p>
            <a:r>
              <a:rPr lang="en-US" altLang="zh-CN" sz="3600" b="1" dirty="0"/>
              <a:t>14.</a:t>
            </a:r>
            <a:r>
              <a:rPr lang="en-US" altLang="zh-CN" sz="3600" b="1" dirty="0">
                <a:solidFill>
                  <a:srgbClr val="FF0000"/>
                </a:solidFill>
              </a:rPr>
              <a:t>fascinate</a:t>
            </a:r>
            <a:r>
              <a:rPr lang="en-US" altLang="zh-CN" sz="3600" b="1" dirty="0"/>
              <a:t> (</a:t>
            </a:r>
            <a:r>
              <a:rPr lang="en-US" altLang="zh-CN" sz="3600" b="1" dirty="0" err="1"/>
              <a:t>vt</a:t>
            </a:r>
            <a:r>
              <a:rPr lang="en-US" altLang="zh-CN" sz="3600" b="1" dirty="0"/>
              <a:t>.&amp;vi.)</a:t>
            </a:r>
            <a:r>
              <a:rPr lang="zh-CN" altLang="zh-CN" sz="3600" b="1" dirty="0"/>
              <a:t>深深吸引，迷住</a:t>
            </a:r>
            <a:r>
              <a:rPr lang="en-US" altLang="zh-CN" sz="3600" b="1" dirty="0"/>
              <a:t>→</a:t>
            </a:r>
            <a:r>
              <a:rPr lang="en-US" altLang="zh-CN" sz="3600" b="1" dirty="0">
                <a:solidFill>
                  <a:srgbClr val="FF0000"/>
                </a:solidFill>
                <a:highlight>
                  <a:srgbClr val="FFFF00"/>
                </a:highlight>
              </a:rPr>
              <a:t>fascination</a:t>
            </a:r>
            <a:r>
              <a:rPr lang="en-US" altLang="zh-CN" sz="3600" b="1" dirty="0"/>
              <a:t> n.</a:t>
            </a:r>
            <a:r>
              <a:rPr lang="zh-CN" altLang="zh-CN" sz="3600" b="1" dirty="0"/>
              <a:t>魅力</a:t>
            </a:r>
            <a:r>
              <a:rPr lang="en-US" altLang="zh-CN" sz="3600" b="1" dirty="0"/>
              <a:t>;</a:t>
            </a:r>
            <a:r>
              <a:rPr lang="zh-CN" altLang="zh-CN" sz="3600" b="1" dirty="0"/>
              <a:t>极大的吸引力</a:t>
            </a:r>
            <a:r>
              <a:rPr lang="en-US" altLang="zh-CN" sz="3600" b="1" dirty="0"/>
              <a:t>;</a:t>
            </a:r>
            <a:r>
              <a:rPr lang="zh-CN" altLang="zh-CN" sz="3600" b="1" dirty="0"/>
              <a:t>入迷</a:t>
            </a:r>
            <a:r>
              <a:rPr lang="en-US" altLang="zh-CN" sz="3600" b="1" dirty="0"/>
              <a:t>;</a:t>
            </a:r>
            <a:r>
              <a:rPr lang="zh-CN" altLang="zh-CN" sz="3600" b="1" dirty="0"/>
              <a:t>着迷</a:t>
            </a:r>
            <a:r>
              <a:rPr lang="en-US" altLang="zh-CN" sz="3600" b="1" dirty="0"/>
              <a:t>→</a:t>
            </a:r>
            <a:r>
              <a:rPr lang="en-US" altLang="zh-CN" sz="3600" b="1" dirty="0">
                <a:solidFill>
                  <a:srgbClr val="FF0000"/>
                </a:solidFill>
                <a:highlight>
                  <a:srgbClr val="FFFF00"/>
                </a:highlight>
              </a:rPr>
              <a:t>fascinated</a:t>
            </a:r>
            <a:r>
              <a:rPr lang="en-US" altLang="zh-CN" sz="3600" b="1" dirty="0"/>
              <a:t> adj.</a:t>
            </a:r>
            <a:r>
              <a:rPr lang="zh-CN" altLang="zh-CN" sz="3600" b="1" dirty="0"/>
              <a:t>入迷的</a:t>
            </a:r>
            <a:r>
              <a:rPr lang="en-US" altLang="zh-CN" sz="3600" b="1" dirty="0"/>
              <a:t>;</a:t>
            </a:r>
            <a:r>
              <a:rPr lang="zh-CN" altLang="zh-CN" sz="3600" b="1" dirty="0"/>
              <a:t>极感兴趣的</a:t>
            </a:r>
            <a:r>
              <a:rPr lang="en-US" altLang="zh-CN" sz="3600" b="1" dirty="0"/>
              <a:t>→</a:t>
            </a:r>
            <a:r>
              <a:rPr lang="en-US" altLang="zh-CN" sz="3600" b="1" dirty="0">
                <a:solidFill>
                  <a:srgbClr val="FF0000"/>
                </a:solidFill>
                <a:highlight>
                  <a:srgbClr val="FFFF00"/>
                </a:highlight>
              </a:rPr>
              <a:t>fascinating</a:t>
            </a:r>
            <a:r>
              <a:rPr lang="en-US" altLang="zh-CN" sz="3600" b="1" dirty="0"/>
              <a:t> adj.</a:t>
            </a:r>
            <a:r>
              <a:rPr lang="zh-CN" altLang="zh-CN" sz="3600" b="1" dirty="0"/>
              <a:t>极有吸引力的</a:t>
            </a:r>
            <a:r>
              <a:rPr lang="en-US" altLang="zh-CN" sz="3600" b="1" dirty="0"/>
              <a:t>;</a:t>
            </a:r>
            <a:r>
              <a:rPr lang="zh-CN" altLang="zh-CN" sz="3600" b="1" dirty="0"/>
              <a:t>迷人的</a:t>
            </a:r>
          </a:p>
          <a:p>
            <a:r>
              <a:rPr lang="en-US" altLang="zh-CN" sz="3600" b="1" dirty="0"/>
              <a:t>15.</a:t>
            </a:r>
            <a:r>
              <a:rPr lang="en-US" altLang="zh-CN" sz="3600" b="1" dirty="0">
                <a:solidFill>
                  <a:srgbClr val="FF0000"/>
                </a:solidFill>
              </a:rPr>
              <a:t>entitle</a:t>
            </a:r>
            <a:r>
              <a:rPr lang="en-US" altLang="zh-CN" sz="3600" b="1" dirty="0"/>
              <a:t> </a:t>
            </a:r>
            <a:r>
              <a:rPr lang="en-US" altLang="zh-CN" sz="3600" b="1" dirty="0" err="1"/>
              <a:t>vt.</a:t>
            </a:r>
            <a:r>
              <a:rPr lang="zh-CN" altLang="zh-CN" sz="3600" b="1" dirty="0"/>
              <a:t>给</a:t>
            </a:r>
            <a:r>
              <a:rPr lang="en-US" altLang="zh-CN" sz="3600" b="1" dirty="0"/>
              <a:t>…</a:t>
            </a:r>
            <a:r>
              <a:rPr lang="zh-CN" altLang="zh-CN" sz="3600" b="1" dirty="0"/>
              <a:t>命名</a:t>
            </a:r>
            <a:r>
              <a:rPr lang="en-US" altLang="zh-CN" sz="3600" b="1" dirty="0"/>
              <a:t>;</a:t>
            </a:r>
            <a:r>
              <a:rPr lang="zh-CN" altLang="zh-CN" sz="3600" b="1" dirty="0"/>
              <a:t>使享有权利</a:t>
            </a:r>
            <a:r>
              <a:rPr lang="en-US" altLang="zh-CN" sz="3600" b="1" dirty="0"/>
              <a:t>,</a:t>
            </a:r>
            <a:r>
              <a:rPr lang="zh-CN" altLang="zh-CN" sz="3600" b="1" dirty="0"/>
              <a:t>使符合资格</a:t>
            </a:r>
            <a:r>
              <a:rPr lang="en-US" altLang="zh-CN" sz="3600" b="1" dirty="0"/>
              <a:t>→</a:t>
            </a:r>
            <a:r>
              <a:rPr lang="en-US" altLang="zh-CN" sz="3600" b="1" dirty="0">
                <a:solidFill>
                  <a:srgbClr val="FF0000"/>
                </a:solidFill>
                <a:highlight>
                  <a:srgbClr val="FFFF00"/>
                </a:highlight>
              </a:rPr>
              <a:t>title</a:t>
            </a:r>
            <a:r>
              <a:rPr lang="en-US" altLang="zh-CN" sz="3600" b="1" dirty="0"/>
              <a:t> n.</a:t>
            </a:r>
            <a:r>
              <a:rPr lang="zh-CN" altLang="zh-CN" sz="3600" b="1" dirty="0"/>
              <a:t>标题，权利</a:t>
            </a:r>
            <a:r>
              <a:rPr lang="en-US" altLang="zh-CN" sz="3600" b="1" dirty="0"/>
              <a:t>,</a:t>
            </a:r>
            <a:r>
              <a:rPr lang="zh-CN" altLang="zh-CN" sz="3600" b="1" dirty="0"/>
              <a:t>头衔</a:t>
            </a:r>
            <a:r>
              <a:rPr lang="en-US" altLang="zh-CN" sz="3600" b="1" dirty="0"/>
              <a:t> v.</a:t>
            </a:r>
            <a:r>
              <a:rPr lang="zh-CN" altLang="zh-CN" sz="3600" b="1" dirty="0"/>
              <a:t>加标题</a:t>
            </a:r>
            <a:r>
              <a:rPr lang="en-US" altLang="zh-CN" sz="3600" b="1" dirty="0"/>
              <a:t>,</a:t>
            </a:r>
            <a:r>
              <a:rPr lang="zh-CN" altLang="zh-CN" sz="3600" b="1" dirty="0"/>
              <a:t>定题目</a:t>
            </a:r>
          </a:p>
          <a:p>
            <a:r>
              <a:rPr lang="en-US" altLang="zh-CN" sz="3600" b="1" dirty="0"/>
              <a:t>16.</a:t>
            </a:r>
            <a:r>
              <a:rPr lang="en-US" altLang="zh-CN" sz="3600" b="1" dirty="0">
                <a:solidFill>
                  <a:srgbClr val="FF0000"/>
                </a:solidFill>
              </a:rPr>
              <a:t>allowance</a:t>
            </a:r>
            <a:r>
              <a:rPr lang="en-US" altLang="zh-CN" sz="3600" b="1" dirty="0"/>
              <a:t> n.</a:t>
            </a:r>
            <a:r>
              <a:rPr lang="zh-CN" altLang="zh-CN" sz="3600" b="1" dirty="0"/>
              <a:t>津贴，补助</a:t>
            </a:r>
            <a:r>
              <a:rPr lang="en-US" altLang="zh-CN" sz="3600" b="1" dirty="0"/>
              <a:t>→</a:t>
            </a:r>
            <a:r>
              <a:rPr lang="en-US" altLang="zh-CN" sz="3600" b="1" dirty="0">
                <a:solidFill>
                  <a:srgbClr val="FF0000"/>
                </a:solidFill>
                <a:highlight>
                  <a:srgbClr val="FFFF00"/>
                </a:highlight>
              </a:rPr>
              <a:t>allow</a:t>
            </a:r>
            <a:r>
              <a:rPr lang="en-US" altLang="zh-CN" sz="3600" b="1" dirty="0"/>
              <a:t> </a:t>
            </a:r>
            <a:r>
              <a:rPr lang="en-US" altLang="zh-CN" sz="3600" b="1" dirty="0" err="1"/>
              <a:t>vt.</a:t>
            </a:r>
            <a:r>
              <a:rPr lang="zh-CN" altLang="zh-CN" sz="3600" b="1" dirty="0"/>
              <a:t>允许</a:t>
            </a:r>
          </a:p>
          <a:p>
            <a:r>
              <a:rPr lang="en-US" altLang="zh-CN" sz="3600" b="1" dirty="0"/>
              <a:t>17.</a:t>
            </a:r>
            <a:r>
              <a:rPr lang="en-US" altLang="zh-CN" sz="3600" b="1" dirty="0">
                <a:solidFill>
                  <a:srgbClr val="FF0000"/>
                </a:solidFill>
              </a:rPr>
              <a:t>unforgiving</a:t>
            </a:r>
            <a:r>
              <a:rPr lang="en-US" altLang="zh-CN" sz="3600" b="1" dirty="0"/>
              <a:t> adj.</a:t>
            </a:r>
            <a:r>
              <a:rPr lang="zh-CN" altLang="zh-CN" sz="3600" b="1" dirty="0"/>
              <a:t>棘手的</a:t>
            </a:r>
            <a:r>
              <a:rPr lang="en-US" altLang="zh-CN" sz="3600" b="1" dirty="0"/>
              <a:t>;</a:t>
            </a:r>
            <a:r>
              <a:rPr lang="zh-CN" altLang="zh-CN" sz="3600" b="1" dirty="0"/>
              <a:t>不饶人的</a:t>
            </a:r>
            <a:r>
              <a:rPr lang="en-US" altLang="zh-CN" sz="3600" b="1" dirty="0"/>
              <a:t>→</a:t>
            </a:r>
            <a:r>
              <a:rPr lang="en-US" altLang="zh-CN" sz="3600" b="1" dirty="0">
                <a:solidFill>
                  <a:srgbClr val="FF0000"/>
                </a:solidFill>
                <a:highlight>
                  <a:srgbClr val="FFFF00"/>
                </a:highlight>
              </a:rPr>
              <a:t>forgive</a:t>
            </a:r>
            <a:r>
              <a:rPr lang="en-US" altLang="zh-CN" sz="3600" b="1" dirty="0"/>
              <a:t> v.</a:t>
            </a:r>
            <a:r>
              <a:rPr lang="zh-CN" altLang="zh-CN" sz="3600" b="1" dirty="0"/>
              <a:t>原谅</a:t>
            </a:r>
            <a:r>
              <a:rPr lang="en-US" altLang="zh-CN" sz="3600" b="1" dirty="0">
                <a:solidFill>
                  <a:srgbClr val="FF0000"/>
                </a:solidFill>
                <a:highlight>
                  <a:srgbClr val="FFFF00"/>
                </a:highlight>
              </a:rPr>
              <a:t>(forgave, forgiven)</a:t>
            </a:r>
            <a:endParaRPr lang="zh-CN" altLang="zh-CN" sz="3600" b="1" dirty="0">
              <a:solidFill>
                <a:srgbClr val="FF0000"/>
              </a:solidFill>
              <a:highlight>
                <a:srgbClr val="FFFF00"/>
              </a:highlight>
            </a:endParaRPr>
          </a:p>
          <a:p>
            <a:endParaRPr lang="zh-CN" altLang="en-US" sz="3600" b="1" dirty="0">
              <a:solidFill>
                <a:srgbClr val="FF0000"/>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zh-CN" sz="3600" b="1" i="1" dirty="0"/>
              <a:t>二、动词过去式</a:t>
            </a:r>
            <a:r>
              <a:rPr lang="en-US" altLang="zh-CN" sz="3600" b="1" i="1" dirty="0"/>
              <a:t>&amp;</a:t>
            </a:r>
            <a:r>
              <a:rPr lang="zh-CN" altLang="zh-CN" sz="3600" b="1" i="1" dirty="0"/>
              <a:t>过去分词变化</a:t>
            </a:r>
            <a:endParaRPr lang="zh-CN" altLang="zh-CN" sz="3600" b="1" dirty="0"/>
          </a:p>
          <a:p>
            <a:r>
              <a:rPr lang="en-US" altLang="zh-CN" sz="3600" b="1" dirty="0">
                <a:solidFill>
                  <a:srgbClr val="FF0000"/>
                </a:solidFill>
                <a:highlight>
                  <a:srgbClr val="FFFF00"/>
                </a:highlight>
              </a:rPr>
              <a:t>1. </a:t>
            </a:r>
            <a:r>
              <a:rPr lang="en-US" altLang="zh-CN" sz="3600" b="1" dirty="0" err="1">
                <a:solidFill>
                  <a:srgbClr val="FF0000"/>
                </a:solidFill>
                <a:highlight>
                  <a:srgbClr val="FFFF00"/>
                </a:highlight>
              </a:rPr>
              <a:t>bend→bent</a:t>
            </a:r>
            <a:r>
              <a:rPr lang="en-US" altLang="zh-CN" sz="3600" b="1" dirty="0">
                <a:solidFill>
                  <a:srgbClr val="FF0000"/>
                </a:solidFill>
                <a:highlight>
                  <a:srgbClr val="FFFF00"/>
                </a:highlight>
              </a:rPr>
              <a:t>→ bent  2. </a:t>
            </a:r>
            <a:r>
              <a:rPr lang="en-US" altLang="zh-CN" sz="3600" b="1" dirty="0" err="1">
                <a:solidFill>
                  <a:srgbClr val="FF0000"/>
                </a:solidFill>
                <a:highlight>
                  <a:srgbClr val="FFFF00"/>
                </a:highlight>
              </a:rPr>
              <a:t>cast→cast→cast</a:t>
            </a:r>
            <a:endParaRPr lang="zh-CN" altLang="zh-CN" sz="3600" b="1" dirty="0">
              <a:solidFill>
                <a:srgbClr val="FF0000"/>
              </a:solidFill>
              <a:highlight>
                <a:srgbClr val="FFFF00"/>
              </a:highlight>
            </a:endParaRPr>
          </a:p>
          <a:p>
            <a:r>
              <a:rPr lang="en-US" altLang="zh-CN" sz="3600" b="1" dirty="0">
                <a:solidFill>
                  <a:srgbClr val="FF0000"/>
                </a:solidFill>
                <a:highlight>
                  <a:srgbClr val="FFFF00"/>
                </a:highlight>
              </a:rPr>
              <a:t>3. </a:t>
            </a:r>
            <a:r>
              <a:rPr lang="en-US" altLang="zh-CN" sz="3600" b="1" dirty="0" err="1">
                <a:solidFill>
                  <a:srgbClr val="FF0000"/>
                </a:solidFill>
                <a:highlight>
                  <a:srgbClr val="FFFF00"/>
                </a:highlight>
              </a:rPr>
              <a:t>strike→struck→struck</a:t>
            </a:r>
            <a:r>
              <a:rPr lang="en-US" altLang="zh-CN" sz="3600" b="1" dirty="0">
                <a:solidFill>
                  <a:srgbClr val="FF0000"/>
                </a:solidFill>
                <a:highlight>
                  <a:srgbClr val="FFFF00"/>
                </a:highlight>
              </a:rPr>
              <a:t> 4. </a:t>
            </a:r>
            <a:r>
              <a:rPr lang="en-US" altLang="zh-CN" sz="3600" b="1" dirty="0" err="1">
                <a:solidFill>
                  <a:srgbClr val="FF0000"/>
                </a:solidFill>
                <a:highlight>
                  <a:srgbClr val="FFFF00"/>
                </a:highlight>
              </a:rPr>
              <a:t>forgive→forgave→forgiven</a:t>
            </a:r>
            <a:endParaRPr lang="zh-CN" altLang="zh-CN" sz="3600" b="1" dirty="0">
              <a:solidFill>
                <a:srgbClr val="FF0000"/>
              </a:solidFill>
              <a:highlight>
                <a:srgbClr val="FFFF00"/>
              </a:highlight>
            </a:endParaRPr>
          </a:p>
          <a:p>
            <a:r>
              <a:rPr lang="en-US" altLang="zh-CN" sz="3600" b="1" dirty="0">
                <a:solidFill>
                  <a:srgbClr val="FF0000"/>
                </a:solidFill>
                <a:highlight>
                  <a:srgbClr val="FFFF00"/>
                </a:highlight>
              </a:rPr>
              <a:t>5. tread vi. &amp; </a:t>
            </a:r>
            <a:r>
              <a:rPr lang="en-US" altLang="zh-CN" sz="3600" b="1" dirty="0" err="1">
                <a:solidFill>
                  <a:srgbClr val="FF0000"/>
                </a:solidFill>
                <a:highlight>
                  <a:srgbClr val="FFFF00"/>
                </a:highlight>
              </a:rPr>
              <a:t>vt.</a:t>
            </a:r>
            <a:r>
              <a:rPr lang="en-US" altLang="zh-CN" sz="3600" b="1" dirty="0">
                <a:solidFill>
                  <a:srgbClr val="FF0000"/>
                </a:solidFill>
                <a:highlight>
                  <a:srgbClr val="FFFF00"/>
                </a:highlight>
              </a:rPr>
              <a:t> (trod, trodden) </a:t>
            </a:r>
            <a:r>
              <a:rPr lang="zh-CN" altLang="zh-CN" sz="3600" b="1" dirty="0"/>
              <a:t>踩</a:t>
            </a:r>
            <a:r>
              <a:rPr lang="en-US" altLang="zh-CN" sz="3600" b="1" dirty="0"/>
              <a:t>,</a:t>
            </a:r>
            <a:r>
              <a:rPr lang="zh-CN" altLang="zh-CN" sz="3600" b="1" dirty="0"/>
              <a:t>踏</a:t>
            </a:r>
            <a:r>
              <a:rPr lang="en-US" altLang="zh-CN" sz="3600" b="1" dirty="0"/>
              <a:t>;</a:t>
            </a:r>
            <a:r>
              <a:rPr lang="zh-CN" altLang="zh-CN" sz="3600" b="1" dirty="0"/>
              <a:t>行走</a:t>
            </a:r>
          </a:p>
          <a:p>
            <a:r>
              <a:rPr lang="zh-CN" altLang="zh-CN" sz="3600" b="1" i="1" dirty="0"/>
              <a:t>三、重点短语</a:t>
            </a:r>
            <a:endParaRPr lang="zh-CN" altLang="zh-CN" sz="3600" b="1" dirty="0"/>
          </a:p>
          <a:p>
            <a:r>
              <a:rPr lang="en-US" altLang="zh-CN" sz="3600" b="1" dirty="0"/>
              <a:t>1.</a:t>
            </a:r>
            <a:r>
              <a:rPr lang="en-US" altLang="zh-CN" sz="3600" b="1" dirty="0">
                <a:solidFill>
                  <a:srgbClr val="FF0000"/>
                </a:solidFill>
                <a:highlight>
                  <a:srgbClr val="FFFF00"/>
                </a:highlight>
              </a:rPr>
              <a:t>make allowance for</a:t>
            </a:r>
            <a:r>
              <a:rPr lang="zh-CN" altLang="zh-CN" sz="3600" b="1" dirty="0"/>
              <a:t>体谅；考虑到</a:t>
            </a:r>
            <a:r>
              <a:rPr lang="en-US" altLang="zh-CN" sz="3600" b="1" dirty="0"/>
              <a:t> </a:t>
            </a:r>
            <a:r>
              <a:rPr lang="en-US" altLang="zh-CN" sz="3600" b="1" dirty="0">
                <a:solidFill>
                  <a:srgbClr val="FF0000"/>
                </a:solidFill>
                <a:highlight>
                  <a:srgbClr val="FFFF00"/>
                </a:highlight>
              </a:rPr>
              <a:t>(made, made)</a:t>
            </a:r>
            <a:endParaRPr lang="zh-CN" altLang="zh-CN" sz="3600" b="1" dirty="0">
              <a:solidFill>
                <a:srgbClr val="FF0000"/>
              </a:solidFill>
              <a:highlight>
                <a:srgbClr val="FFFF00"/>
              </a:highlight>
            </a:endParaRPr>
          </a:p>
          <a:p>
            <a:endParaRPr lang="zh-CN" altLang="en-US" sz="3600" b="1" dirty="0">
              <a:solidFill>
                <a:srgbClr val="FF0000"/>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a:bodyPr>
          <a:lstStyle/>
          <a:p>
            <a:r>
              <a:rPr lang="zh-CN" altLang="en-US" sz="3600" b="1" dirty="0">
                <a:solidFill>
                  <a:srgbClr val="FF0000"/>
                </a:solidFill>
              </a:rPr>
              <a:t>卷四</a:t>
            </a:r>
            <a:r>
              <a:rPr lang="en-US" altLang="zh-CN" sz="3600" b="1" dirty="0">
                <a:solidFill>
                  <a:srgbClr val="FF0000"/>
                </a:solidFill>
              </a:rPr>
              <a:t> </a:t>
            </a:r>
          </a:p>
          <a:p>
            <a:r>
              <a:rPr lang="en-US" altLang="zh-CN" sz="3600" b="1" dirty="0">
                <a:solidFill>
                  <a:srgbClr val="FF0000"/>
                </a:solidFill>
              </a:rPr>
              <a:t>entry</a:t>
            </a:r>
            <a:r>
              <a:rPr lang="zh-CN" altLang="en-US" sz="3600" b="1" dirty="0">
                <a:solidFill>
                  <a:srgbClr val="FF0000"/>
                </a:solidFill>
              </a:rPr>
              <a:t>参赛作品</a:t>
            </a:r>
            <a:r>
              <a:rPr lang="en-US" altLang="zh-CN" sz="3600" b="1" dirty="0">
                <a:solidFill>
                  <a:srgbClr val="FF0000"/>
                </a:solidFill>
              </a:rPr>
              <a:t>/</a:t>
            </a:r>
            <a:r>
              <a:rPr lang="zh-CN" altLang="en-US" sz="3600" b="1" dirty="0">
                <a:solidFill>
                  <a:srgbClr val="FF0000"/>
                </a:solidFill>
              </a:rPr>
              <a:t>人数</a:t>
            </a:r>
            <a:r>
              <a:rPr lang="en-US" altLang="zh-CN" sz="3600" b="1" dirty="0">
                <a:solidFill>
                  <a:srgbClr val="FF0000"/>
                </a:solidFill>
              </a:rPr>
              <a:t>;</a:t>
            </a:r>
            <a:r>
              <a:rPr lang="zh-CN" altLang="en-US" sz="3600" b="1" dirty="0">
                <a:solidFill>
                  <a:srgbClr val="FF0000"/>
                </a:solidFill>
              </a:rPr>
              <a:t>进入</a:t>
            </a:r>
            <a:r>
              <a:rPr lang="en-US" altLang="zh-CN" sz="3600" b="1" dirty="0">
                <a:solidFill>
                  <a:srgbClr val="FF0000"/>
                </a:solidFill>
              </a:rPr>
              <a:t>;</a:t>
            </a:r>
            <a:r>
              <a:rPr lang="zh-CN" altLang="en-US" sz="3600" b="1" dirty="0">
                <a:solidFill>
                  <a:srgbClr val="FF0000"/>
                </a:solidFill>
              </a:rPr>
              <a:t>条目</a:t>
            </a:r>
            <a:r>
              <a:rPr lang="en-US" altLang="zh-CN" sz="3600" b="1" dirty="0">
                <a:solidFill>
                  <a:srgbClr val="FF0000"/>
                </a:solidFill>
              </a:rPr>
              <a:t> enclose </a:t>
            </a:r>
            <a:r>
              <a:rPr lang="zh-CN" altLang="en-US" sz="3600" b="1" dirty="0">
                <a:solidFill>
                  <a:srgbClr val="FF0000"/>
                </a:solidFill>
              </a:rPr>
              <a:t>随信附上</a:t>
            </a:r>
            <a:r>
              <a:rPr lang="en-US" altLang="zh-CN" sz="3600" b="1" dirty="0">
                <a:solidFill>
                  <a:srgbClr val="FF0000"/>
                </a:solidFill>
              </a:rPr>
              <a:t>;</a:t>
            </a:r>
            <a:r>
              <a:rPr lang="zh-CN" altLang="en-US" sz="3600" b="1" dirty="0">
                <a:solidFill>
                  <a:srgbClr val="FF0000"/>
                </a:solidFill>
              </a:rPr>
              <a:t>包围</a:t>
            </a:r>
            <a:endParaRPr lang="en-US" altLang="zh-CN" sz="3600" b="1" dirty="0">
              <a:solidFill>
                <a:srgbClr val="FF0000"/>
              </a:solidFill>
            </a:endParaRPr>
          </a:p>
          <a:p>
            <a:r>
              <a:rPr lang="en-US" altLang="zh-CN" sz="3600" b="1" dirty="0">
                <a:solidFill>
                  <a:srgbClr val="FF0000"/>
                </a:solidFill>
              </a:rPr>
              <a:t> legal guardian</a:t>
            </a:r>
            <a:r>
              <a:rPr lang="zh-CN" altLang="en-US" sz="3600" b="1" dirty="0">
                <a:solidFill>
                  <a:srgbClr val="FF0000"/>
                </a:solidFill>
              </a:rPr>
              <a:t>法定监护人 </a:t>
            </a:r>
            <a:r>
              <a:rPr lang="en-US" altLang="zh-CN" sz="3600" b="1" dirty="0">
                <a:solidFill>
                  <a:srgbClr val="FF0000"/>
                </a:solidFill>
              </a:rPr>
              <a:t>original</a:t>
            </a:r>
            <a:r>
              <a:rPr lang="zh-CN" altLang="en-US" sz="3600" b="1" dirty="0">
                <a:solidFill>
                  <a:srgbClr val="FF0000"/>
                </a:solidFill>
              </a:rPr>
              <a:t>独创的</a:t>
            </a:r>
            <a:r>
              <a:rPr lang="en-US" altLang="zh-CN" sz="3600" b="1" dirty="0">
                <a:solidFill>
                  <a:srgbClr val="FF0000"/>
                </a:solidFill>
              </a:rPr>
              <a:t> </a:t>
            </a:r>
          </a:p>
          <a:p>
            <a:r>
              <a:rPr lang="en-US" altLang="zh-CN" sz="3600" b="1" dirty="0">
                <a:solidFill>
                  <a:srgbClr val="FF0000"/>
                </a:solidFill>
              </a:rPr>
              <a:t> signature n.</a:t>
            </a:r>
            <a:r>
              <a:rPr lang="zh-CN" altLang="en-US" sz="3600" b="1" dirty="0">
                <a:solidFill>
                  <a:srgbClr val="FF0000"/>
                </a:solidFill>
              </a:rPr>
              <a:t>签名</a:t>
            </a:r>
            <a:endParaRPr lang="en-US" altLang="zh-CN" sz="3600" b="1" dirty="0">
              <a:solidFill>
                <a:srgbClr val="FF0000"/>
              </a:solidFill>
            </a:endParaRPr>
          </a:p>
          <a:p>
            <a:r>
              <a:rPr lang="en-US" altLang="zh-CN" sz="3600" b="1" dirty="0">
                <a:solidFill>
                  <a:srgbClr val="FF0000"/>
                </a:solidFill>
              </a:rPr>
              <a:t> cast one’s eyes on plant diversity</a:t>
            </a:r>
            <a:r>
              <a:rPr lang="zh-CN" altLang="en-US" dirty="0"/>
              <a:t>关注植物的多样性</a:t>
            </a:r>
            <a:endParaRPr lang="en-US" altLang="zh-CN" sz="3600" b="1" dirty="0">
              <a:solidFill>
                <a:srgbClr val="FF0000"/>
              </a:solidFill>
            </a:endParaRPr>
          </a:p>
          <a:p>
            <a:r>
              <a:rPr lang="en-US" altLang="zh-CN" sz="3600" b="1" dirty="0">
                <a:solidFill>
                  <a:srgbClr val="FF0000"/>
                </a:solidFill>
              </a:rPr>
              <a:t> take little notice of</a:t>
            </a:r>
            <a:r>
              <a:rPr lang="zh-CN" altLang="en-US" sz="3600" b="1" dirty="0">
                <a:solidFill>
                  <a:srgbClr val="FF0000"/>
                </a:solidFill>
              </a:rPr>
              <a:t>很少注意到</a:t>
            </a:r>
            <a:r>
              <a:rPr lang="en-US" altLang="zh-CN" sz="3600" b="1" dirty="0">
                <a:solidFill>
                  <a:srgbClr val="FF0000"/>
                </a:solidFill>
              </a:rPr>
              <a:t>=be blind to</a:t>
            </a:r>
          </a:p>
          <a:p>
            <a:r>
              <a:rPr lang="en-US" altLang="zh-CN" sz="3600" b="1" dirty="0">
                <a:solidFill>
                  <a:srgbClr val="FF0000"/>
                </a:solidFill>
              </a:rPr>
              <a:t> conduct fieldwork on endangered species and their conservation</a:t>
            </a:r>
            <a:r>
              <a:rPr lang="zh-CN" altLang="en-US" dirty="0"/>
              <a:t>对濒危物种进行实地调查和保护</a:t>
            </a:r>
            <a:endParaRPr lang="en-US" altLang="zh-CN" sz="3600" b="1" dirty="0">
              <a:solidFill>
                <a:srgbClr val="FF0000"/>
              </a:solidFill>
            </a:endParaRPr>
          </a:p>
          <a:p>
            <a:r>
              <a:rPr lang="en-US" altLang="zh-CN" sz="3600" b="1" dirty="0">
                <a:solidFill>
                  <a:srgbClr val="FF0000"/>
                </a:solidFill>
              </a:rPr>
              <a:t> primitive cabin</a:t>
            </a:r>
            <a:r>
              <a:rPr lang="zh-CN" altLang="en-US" sz="3600" b="1" dirty="0">
                <a:solidFill>
                  <a:srgbClr val="FF0000"/>
                </a:solidFill>
              </a:rPr>
              <a:t>原始简陋的小屋</a:t>
            </a:r>
            <a:r>
              <a:rPr lang="en-US" altLang="zh-CN" sz="3600" b="1" dirty="0">
                <a:solidFill>
                  <a:srgbClr val="FF0000"/>
                </a:solidFill>
              </a:rPr>
              <a:t>nature reserve</a:t>
            </a:r>
            <a:r>
              <a:rPr lang="zh-CN" altLang="en-US" sz="3600" b="1" dirty="0">
                <a:solidFill>
                  <a:srgbClr val="FF0000"/>
                </a:solidFill>
              </a:rPr>
              <a:t>自然保护区</a:t>
            </a:r>
            <a:endParaRPr lang="en-US" altLang="zh-CN" sz="3600" b="1" dirty="0">
              <a:solidFill>
                <a:srgbClr val="FF0000"/>
              </a:solidFill>
            </a:endParaRPr>
          </a:p>
          <a:p>
            <a:r>
              <a:rPr lang="en-US" altLang="zh-CN" sz="3600" b="1" dirty="0">
                <a:solidFill>
                  <a:srgbClr val="FF0000"/>
                </a:solidFill>
              </a:rPr>
              <a:t> tough</a:t>
            </a:r>
            <a:r>
              <a:rPr lang="zh-CN" altLang="en-US" sz="3600" b="1" dirty="0">
                <a:solidFill>
                  <a:srgbClr val="FF0000"/>
                </a:solidFill>
              </a:rPr>
              <a:t>坚韧的</a:t>
            </a:r>
            <a:r>
              <a:rPr lang="en-US" altLang="zh-CN" sz="3600" b="1" dirty="0">
                <a:solidFill>
                  <a:srgbClr val="FF0000"/>
                </a:solidFill>
              </a:rPr>
              <a:t>;</a:t>
            </a:r>
            <a:r>
              <a:rPr lang="zh-CN" altLang="en-US" sz="3600" b="1" dirty="0">
                <a:solidFill>
                  <a:srgbClr val="FF0000"/>
                </a:solidFill>
              </a:rPr>
              <a:t>固执的</a:t>
            </a:r>
            <a:r>
              <a:rPr lang="en-US" altLang="zh-CN" sz="3600" b="1" dirty="0">
                <a:solidFill>
                  <a:srgbClr val="FF0000"/>
                </a:solidFill>
              </a:rPr>
              <a:t>;</a:t>
            </a:r>
            <a:r>
              <a:rPr lang="zh-CN" altLang="en-US" sz="3600" b="1" dirty="0">
                <a:solidFill>
                  <a:srgbClr val="FF0000"/>
                </a:solidFill>
              </a:rPr>
              <a:t>艰难的</a:t>
            </a:r>
            <a:r>
              <a:rPr lang="en-US" altLang="zh-CN" sz="3600" b="1" dirty="0">
                <a:solidFill>
                  <a:srgbClr val="FF0000"/>
                </a:solidFill>
              </a:rPr>
              <a:t>unpredictable</a:t>
            </a:r>
            <a:r>
              <a:rPr lang="zh-CN" altLang="en-US" sz="3600" b="1" dirty="0">
                <a:solidFill>
                  <a:srgbClr val="FF0000"/>
                </a:solidFill>
              </a:rPr>
              <a:t>无法预测的</a:t>
            </a:r>
            <a:endParaRPr lang="en-US" altLang="zh-CN" sz="3600" b="1" dirty="0">
              <a:solidFill>
                <a:srgbClr val="FF0000"/>
              </a:solidFill>
            </a:endParaRPr>
          </a:p>
          <a:p>
            <a:r>
              <a:rPr lang="en-US" altLang="zh-CN" sz="3600" b="1" dirty="0">
                <a:solidFill>
                  <a:srgbClr val="FF0000"/>
                </a:solidFill>
              </a:rPr>
              <a:t> do a favor for sb.</a:t>
            </a:r>
            <a:r>
              <a:rPr lang="zh-CN" altLang="en-US" sz="3600" b="1" dirty="0">
                <a:solidFill>
                  <a:srgbClr val="FF0000"/>
                </a:solidFill>
              </a:rPr>
              <a:t>帮某人一个忙 </a:t>
            </a:r>
            <a:r>
              <a:rPr lang="en-US" altLang="zh-CN" sz="3600" b="1" dirty="0">
                <a:solidFill>
                  <a:srgbClr val="FF0000"/>
                </a:solidFill>
              </a:rPr>
              <a:t>win sb. over</a:t>
            </a:r>
            <a:r>
              <a:rPr lang="zh-CN" altLang="en-US" sz="3600" b="1" dirty="0">
                <a:solidFill>
                  <a:srgbClr val="FF0000"/>
                </a:solidFill>
              </a:rPr>
              <a:t>赢得某人的支持</a:t>
            </a:r>
            <a:endParaRPr lang="en-US" altLang="zh-CN" sz="3600" b="1" dirty="0">
              <a:solidFill>
                <a:srgbClr val="FF0000"/>
              </a:solidFill>
            </a:endParaRPr>
          </a:p>
          <a:p>
            <a:r>
              <a:rPr lang="en-US" altLang="zh-CN" sz="3600" b="1" dirty="0">
                <a:solidFill>
                  <a:srgbClr val="FF0000"/>
                </a:solidFill>
              </a:rPr>
              <a:t> alter one’s attitude</a:t>
            </a:r>
            <a:r>
              <a:rPr lang="zh-CN" altLang="en-US" sz="3600" b="1" dirty="0">
                <a:solidFill>
                  <a:srgbClr val="FF0000"/>
                </a:solidFill>
              </a:rPr>
              <a:t>改变态度</a:t>
            </a:r>
            <a:r>
              <a:rPr lang="en-US" altLang="zh-CN" sz="3600" b="1" dirty="0">
                <a:solidFill>
                  <a:srgbClr val="FF0000"/>
                </a:solidFill>
              </a:rPr>
              <a:t> pay the way for</a:t>
            </a:r>
            <a:r>
              <a:rPr lang="zh-CN" altLang="en-US" sz="3600" b="1" dirty="0">
                <a:solidFill>
                  <a:srgbClr val="FF0000"/>
                </a:solidFill>
              </a:rPr>
              <a:t>为</a:t>
            </a:r>
            <a:r>
              <a:rPr lang="en-US" altLang="zh-CN" sz="3600" b="1" dirty="0">
                <a:solidFill>
                  <a:srgbClr val="FF0000"/>
                </a:solidFill>
              </a:rPr>
              <a:t>…</a:t>
            </a:r>
            <a:r>
              <a:rPr lang="zh-CN" altLang="en-US" sz="3600" b="1" dirty="0">
                <a:solidFill>
                  <a:srgbClr val="FF0000"/>
                </a:solidFill>
              </a:rPr>
              <a:t>铺平道路</a:t>
            </a:r>
            <a:endParaRPr lang="en-US" altLang="zh-CN" sz="3600" b="1" dirty="0">
              <a:solidFill>
                <a:srgbClr val="FF0000"/>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resolve the tension</a:t>
            </a:r>
            <a:r>
              <a:rPr lang="zh-CN" altLang="en-US" sz="3600" b="1" dirty="0">
                <a:solidFill>
                  <a:srgbClr val="FF0000"/>
                </a:solidFill>
              </a:rPr>
              <a:t>化解紧张</a:t>
            </a:r>
            <a:endParaRPr lang="en-US" altLang="zh-CN" sz="3600" b="1" dirty="0">
              <a:solidFill>
                <a:srgbClr val="FF0000"/>
              </a:solidFill>
            </a:endParaRPr>
          </a:p>
          <a:p>
            <a:r>
              <a:rPr lang="en-US" altLang="zh-CN" sz="3600" b="1" dirty="0">
                <a:solidFill>
                  <a:srgbClr val="FF0000"/>
                </a:solidFill>
              </a:rPr>
              <a:t>strike up friendships</a:t>
            </a:r>
            <a:r>
              <a:rPr lang="zh-CN" altLang="en-US" sz="3600" b="1" dirty="0">
                <a:solidFill>
                  <a:srgbClr val="FF0000"/>
                </a:solidFill>
              </a:rPr>
              <a:t>建立友谊</a:t>
            </a:r>
            <a:r>
              <a:rPr lang="en-US" altLang="zh-CN" sz="3600" b="1" dirty="0">
                <a:solidFill>
                  <a:srgbClr val="FF0000"/>
                </a:solidFill>
              </a:rPr>
              <a:t>(struck*2)</a:t>
            </a:r>
          </a:p>
          <a:p>
            <a:r>
              <a:rPr lang="en-US" altLang="zh-CN" sz="3600" b="1" dirty="0">
                <a:solidFill>
                  <a:srgbClr val="FF0000"/>
                </a:solidFill>
              </a:rPr>
              <a:t> strategic request</a:t>
            </a:r>
            <a:r>
              <a:rPr lang="zh-CN" altLang="en-US" sz="3600" b="1" dirty="0">
                <a:solidFill>
                  <a:srgbClr val="FF0000"/>
                </a:solidFill>
              </a:rPr>
              <a:t>战略要求</a:t>
            </a:r>
            <a:endParaRPr lang="en-US" altLang="zh-CN" sz="3600" b="1" dirty="0">
              <a:solidFill>
                <a:srgbClr val="FF0000"/>
              </a:solidFill>
            </a:endParaRPr>
          </a:p>
          <a:p>
            <a:r>
              <a:rPr lang="en-US" altLang="zh-CN" sz="3600" b="1" dirty="0">
                <a:solidFill>
                  <a:srgbClr val="FF0000"/>
                </a:solidFill>
              </a:rPr>
              <a:t> discomfort  n.</a:t>
            </a:r>
            <a:r>
              <a:rPr lang="zh-CN" altLang="en-US" sz="3600" b="1" dirty="0">
                <a:solidFill>
                  <a:srgbClr val="FF0000"/>
                </a:solidFill>
              </a:rPr>
              <a:t>不适</a:t>
            </a:r>
            <a:r>
              <a:rPr lang="en-US" altLang="zh-CN" sz="3600" b="1" dirty="0">
                <a:solidFill>
                  <a:srgbClr val="FF0000"/>
                </a:solidFill>
              </a:rPr>
              <a:t>;</a:t>
            </a:r>
            <a:r>
              <a:rPr lang="zh-CN" altLang="en-US" sz="3600" b="1" dirty="0">
                <a:solidFill>
                  <a:srgbClr val="FF0000"/>
                </a:solidFill>
              </a:rPr>
              <a:t>不安</a:t>
            </a:r>
            <a:r>
              <a:rPr lang="en-US" altLang="zh-CN" sz="3600" b="1" dirty="0">
                <a:solidFill>
                  <a:srgbClr val="FF0000"/>
                </a:solidFill>
              </a:rPr>
              <a:t> uncomfortable adj.</a:t>
            </a:r>
            <a:r>
              <a:rPr lang="zh-CN" altLang="en-US" sz="3600" b="1" dirty="0">
                <a:solidFill>
                  <a:srgbClr val="FF0000"/>
                </a:solidFill>
              </a:rPr>
              <a:t>不舒服的</a:t>
            </a:r>
            <a:endParaRPr lang="en-US" altLang="zh-CN" sz="3600" b="1" dirty="0">
              <a:solidFill>
                <a:srgbClr val="FF0000"/>
              </a:solidFill>
            </a:endParaRPr>
          </a:p>
          <a:p>
            <a:r>
              <a:rPr lang="en-US" altLang="zh-CN" sz="3600" b="1" dirty="0">
                <a:solidFill>
                  <a:srgbClr val="FF0000"/>
                </a:solidFill>
              </a:rPr>
              <a:t> conflicting thoughts</a:t>
            </a:r>
            <a:r>
              <a:rPr lang="zh-CN" altLang="en-US" sz="3600" b="1" dirty="0">
                <a:solidFill>
                  <a:srgbClr val="FF0000"/>
                </a:solidFill>
              </a:rPr>
              <a:t>矛盾的思想</a:t>
            </a:r>
            <a:endParaRPr lang="en-US" altLang="zh-CN" sz="3600" b="1" dirty="0">
              <a:solidFill>
                <a:srgbClr val="FF0000"/>
              </a:solidFill>
            </a:endParaRPr>
          </a:p>
          <a:p>
            <a:r>
              <a:rPr lang="en-US" altLang="zh-CN" sz="3600" b="1" dirty="0">
                <a:solidFill>
                  <a:srgbClr val="FF0000"/>
                </a:solidFill>
              </a:rPr>
              <a:t> cooperative adj.</a:t>
            </a:r>
            <a:r>
              <a:rPr lang="zh-CN" altLang="en-US" sz="3600" b="1" dirty="0">
                <a:solidFill>
                  <a:srgbClr val="FF0000"/>
                </a:solidFill>
              </a:rPr>
              <a:t>合作的</a:t>
            </a:r>
            <a:r>
              <a:rPr lang="en-US" altLang="zh-CN" sz="3600" b="1" dirty="0">
                <a:solidFill>
                  <a:srgbClr val="FF0000"/>
                </a:solidFill>
              </a:rPr>
              <a:t> community</a:t>
            </a:r>
            <a:r>
              <a:rPr lang="zh-CN" altLang="en-US" sz="3600" b="1" dirty="0">
                <a:solidFill>
                  <a:srgbClr val="FF0000"/>
                </a:solidFill>
              </a:rPr>
              <a:t>社区</a:t>
            </a:r>
            <a:endParaRPr lang="en-US" altLang="zh-CN" sz="3600" b="1" dirty="0">
              <a:solidFill>
                <a:srgbClr val="FF0000"/>
              </a:solidFill>
            </a:endParaRPr>
          </a:p>
          <a:p>
            <a:r>
              <a:rPr lang="en-US" altLang="zh-CN" sz="3600" b="1" dirty="0">
                <a:solidFill>
                  <a:srgbClr val="FF0000"/>
                </a:solidFill>
              </a:rPr>
              <a:t> altruistic </a:t>
            </a:r>
            <a:r>
              <a:rPr lang="zh-CN" altLang="en-US" sz="3600" b="1" dirty="0">
                <a:solidFill>
                  <a:srgbClr val="FF0000"/>
                </a:solidFill>
              </a:rPr>
              <a:t>利他的无私的</a:t>
            </a:r>
            <a:r>
              <a:rPr lang="en-US" altLang="zh-CN" sz="3600" b="1" dirty="0">
                <a:solidFill>
                  <a:srgbClr val="FF0000"/>
                </a:solidFill>
              </a:rPr>
              <a:t>= selfless</a:t>
            </a:r>
          </a:p>
          <a:p>
            <a:r>
              <a:rPr lang="en-US" altLang="zh-CN" sz="3600" b="1" dirty="0">
                <a:solidFill>
                  <a:srgbClr val="FF0000"/>
                </a:solidFill>
              </a:rPr>
              <a:t> aggressive</a:t>
            </a:r>
            <a:r>
              <a:rPr lang="zh-CN" altLang="en-US" sz="3600" b="1" dirty="0">
                <a:solidFill>
                  <a:srgbClr val="FF0000"/>
                </a:solidFill>
              </a:rPr>
              <a:t>好斗的</a:t>
            </a:r>
            <a:r>
              <a:rPr lang="en-US" altLang="zh-CN" sz="3600" b="1" dirty="0">
                <a:solidFill>
                  <a:srgbClr val="FF0000"/>
                </a:solidFill>
              </a:rPr>
              <a:t>;</a:t>
            </a:r>
            <a:r>
              <a:rPr lang="zh-CN" altLang="en-US" sz="3600" b="1" dirty="0">
                <a:solidFill>
                  <a:srgbClr val="FF0000"/>
                </a:solidFill>
              </a:rPr>
              <a:t>有进取心的 </a:t>
            </a:r>
            <a:endParaRPr lang="en-US" altLang="zh-CN" sz="3600" b="1" dirty="0">
              <a:solidFill>
                <a:srgbClr val="FF0000"/>
              </a:solidFill>
            </a:endParaRPr>
          </a:p>
          <a:p>
            <a:r>
              <a:rPr lang="en-US" altLang="zh-CN" sz="3600" b="1" dirty="0">
                <a:solidFill>
                  <a:srgbClr val="FF0000"/>
                </a:solidFill>
              </a:rPr>
              <a:t> empirical stance</a:t>
            </a:r>
            <a:r>
              <a:rPr lang="zh-CN" altLang="en-US" sz="3600" b="1" dirty="0">
                <a:solidFill>
                  <a:srgbClr val="FF0000"/>
                </a:solidFill>
              </a:rPr>
              <a:t>经验主义立场</a:t>
            </a:r>
            <a:endParaRPr lang="en-US" altLang="zh-CN" sz="3600" b="1" dirty="0">
              <a:solidFill>
                <a:srgbClr val="FF0000"/>
              </a:solidFill>
            </a:endParaRPr>
          </a:p>
          <a:p>
            <a:r>
              <a:rPr lang="en-US" altLang="zh-CN" sz="3600" b="1" dirty="0">
                <a:solidFill>
                  <a:srgbClr val="FF0000"/>
                </a:solidFill>
              </a:rPr>
              <a:t> Initially</a:t>
            </a:r>
            <a:r>
              <a:rPr lang="zh-CN" altLang="en-US" sz="3600" b="1" dirty="0">
                <a:solidFill>
                  <a:srgbClr val="FF0000"/>
                </a:solidFill>
              </a:rPr>
              <a:t>开始最初</a:t>
            </a:r>
            <a:r>
              <a:rPr lang="en-US" altLang="zh-CN" sz="3600" b="1" dirty="0">
                <a:solidFill>
                  <a:srgbClr val="FF0000"/>
                </a:solidFill>
              </a:rPr>
              <a:t> systematically</a:t>
            </a:r>
            <a:r>
              <a:rPr lang="zh-CN" altLang="en-US" sz="3600" b="1" dirty="0">
                <a:solidFill>
                  <a:srgbClr val="FF0000"/>
                </a:solidFill>
              </a:rPr>
              <a:t>系统地</a:t>
            </a:r>
            <a:r>
              <a:rPr lang="en-US" altLang="zh-CN" sz="3600" b="1" dirty="0">
                <a:solidFill>
                  <a:srgbClr val="FF0000"/>
                </a:solidFill>
              </a:rPr>
              <a:t>generate v.</a:t>
            </a:r>
            <a:r>
              <a:rPr lang="zh-CN" altLang="en-US" sz="3600" b="1" dirty="0">
                <a:solidFill>
                  <a:srgbClr val="FF0000"/>
                </a:solidFill>
              </a:rPr>
              <a:t>产生</a:t>
            </a:r>
            <a:endParaRPr lang="en-US" altLang="zh-CN" sz="3600" b="1" dirty="0">
              <a:solidFill>
                <a:srgbClr val="FF0000"/>
              </a:solidFill>
            </a:endParaRPr>
          </a:p>
          <a:p>
            <a:r>
              <a:rPr lang="en-US" altLang="zh-CN" sz="3600" b="1" dirty="0">
                <a:solidFill>
                  <a:srgbClr val="FF0000"/>
                </a:solidFill>
              </a:rPr>
              <a:t> methodology</a:t>
            </a:r>
            <a:r>
              <a:rPr lang="zh-CN" altLang="en-US" sz="3600" b="1" dirty="0">
                <a:solidFill>
                  <a:srgbClr val="FF0000"/>
                </a:solidFill>
              </a:rPr>
              <a:t>研究方法</a:t>
            </a:r>
            <a:r>
              <a:rPr lang="en-US" altLang="zh-CN" sz="3600" b="1" dirty="0">
                <a:solidFill>
                  <a:srgbClr val="FF0000"/>
                </a:solidFill>
              </a:rPr>
              <a:t>;</a:t>
            </a:r>
            <a:r>
              <a:rPr lang="zh-CN" altLang="en-US" sz="3600" b="1" dirty="0">
                <a:solidFill>
                  <a:srgbClr val="FF0000"/>
                </a:solidFill>
              </a:rPr>
              <a:t>方法论 </a:t>
            </a:r>
            <a:r>
              <a:rPr lang="en-US" altLang="zh-CN" sz="3600" b="1" dirty="0">
                <a:solidFill>
                  <a:srgbClr val="FF0000"/>
                </a:solidFill>
              </a:rPr>
              <a:t>theoretical basis</a:t>
            </a:r>
            <a:r>
              <a:rPr lang="zh-CN" altLang="en-US" sz="3600" b="1" dirty="0">
                <a:solidFill>
                  <a:srgbClr val="FF0000"/>
                </a:solidFill>
              </a:rPr>
              <a:t>理论基础</a:t>
            </a:r>
            <a:endParaRPr lang="en-US" altLang="zh-CN" sz="3600" b="1" dirty="0">
              <a:solidFill>
                <a:srgbClr val="FF0000"/>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200" b="1" dirty="0">
                <a:solidFill>
                  <a:srgbClr val="FF0000"/>
                </a:solidFill>
              </a:rPr>
              <a:t>卷四 </a:t>
            </a:r>
            <a:r>
              <a:rPr lang="en-US" altLang="zh-CN" sz="3200" b="1" dirty="0"/>
              <a:t>my interpretation was </a:t>
            </a:r>
            <a:r>
              <a:rPr lang="en-US" altLang="zh-CN" sz="3200" b="1" dirty="0">
                <a:solidFill>
                  <a:srgbClr val="FF0000"/>
                </a:solidFill>
              </a:rPr>
              <a:t>literal</a:t>
            </a:r>
            <a:r>
              <a:rPr lang="zh-CN" altLang="en-US" sz="3200" b="1" dirty="0">
                <a:solidFill>
                  <a:srgbClr val="FF0000"/>
                </a:solidFill>
              </a:rPr>
              <a:t>字面上的  </a:t>
            </a:r>
            <a:r>
              <a:rPr lang="en-US" altLang="zh-CN" sz="3200" b="1" dirty="0">
                <a:solidFill>
                  <a:srgbClr val="FF0000"/>
                </a:solidFill>
              </a:rPr>
              <a:t>tune in</a:t>
            </a:r>
            <a:r>
              <a:rPr lang="zh-CN" altLang="en-US" sz="3200" b="1" dirty="0">
                <a:solidFill>
                  <a:srgbClr val="FF0000"/>
                </a:solidFill>
              </a:rPr>
              <a:t>收看</a:t>
            </a:r>
            <a:r>
              <a:rPr lang="en-US" altLang="zh-CN" sz="3200" b="1" dirty="0">
                <a:solidFill>
                  <a:srgbClr val="FF0000"/>
                </a:solidFill>
              </a:rPr>
              <a:t>;</a:t>
            </a:r>
            <a:r>
              <a:rPr lang="zh-CN" altLang="en-US" sz="3200" b="1" dirty="0">
                <a:solidFill>
                  <a:srgbClr val="FF0000"/>
                </a:solidFill>
              </a:rPr>
              <a:t>关注</a:t>
            </a:r>
            <a:endParaRPr lang="en-US" altLang="zh-CN" sz="3200" b="1" dirty="0">
              <a:solidFill>
                <a:srgbClr val="FF0000"/>
              </a:solidFill>
            </a:endParaRPr>
          </a:p>
          <a:p>
            <a:r>
              <a:rPr lang="en-US" altLang="zh-CN" sz="3200" b="1" dirty="0">
                <a:solidFill>
                  <a:srgbClr val="FF0000"/>
                </a:solidFill>
              </a:rPr>
              <a:t>line</a:t>
            </a:r>
            <a:r>
              <a:rPr lang="zh-CN" altLang="en-US" sz="3200" b="1" dirty="0">
                <a:solidFill>
                  <a:srgbClr val="FF0000"/>
                </a:solidFill>
              </a:rPr>
              <a:t>沿</a:t>
            </a:r>
            <a:r>
              <a:rPr lang="en-US" altLang="zh-CN" sz="3200" b="1" dirty="0">
                <a:solidFill>
                  <a:srgbClr val="FF0000"/>
                </a:solidFill>
              </a:rPr>
              <a:t>…</a:t>
            </a:r>
            <a:r>
              <a:rPr lang="zh-CN" altLang="en-US" sz="3200" b="1" dirty="0">
                <a:solidFill>
                  <a:srgbClr val="FF0000"/>
                </a:solidFill>
              </a:rPr>
              <a:t>形成行</a:t>
            </a:r>
            <a:r>
              <a:rPr lang="en-US" altLang="zh-CN" sz="3200" b="1" dirty="0">
                <a:solidFill>
                  <a:srgbClr val="FF0000"/>
                </a:solidFill>
              </a:rPr>
              <a:t>/</a:t>
            </a:r>
            <a:r>
              <a:rPr lang="zh-CN" altLang="en-US" sz="3200" b="1" dirty="0">
                <a:solidFill>
                  <a:srgbClr val="FF0000"/>
                </a:solidFill>
              </a:rPr>
              <a:t>列</a:t>
            </a:r>
            <a:r>
              <a:rPr lang="en-US" altLang="zh-CN" sz="3200" b="1" dirty="0">
                <a:solidFill>
                  <a:srgbClr val="FF0000"/>
                </a:solidFill>
              </a:rPr>
              <a:t>/</a:t>
            </a:r>
            <a:r>
              <a:rPr lang="zh-CN" altLang="en-US" sz="3200" b="1" dirty="0">
                <a:solidFill>
                  <a:srgbClr val="FF0000"/>
                </a:solidFill>
              </a:rPr>
              <a:t>排</a:t>
            </a:r>
            <a:r>
              <a:rPr lang="en-US" altLang="zh-CN" sz="3200" b="1" dirty="0">
                <a:solidFill>
                  <a:srgbClr val="FF0000"/>
                </a:solidFill>
              </a:rPr>
              <a:t> Tourists lined the streets</a:t>
            </a:r>
            <a:r>
              <a:rPr lang="zh-CN" altLang="en-US" b="1" dirty="0">
                <a:solidFill>
                  <a:srgbClr val="FF0000"/>
                </a:solidFill>
              </a:rPr>
              <a:t>游客们站在街道两旁</a:t>
            </a:r>
            <a:endParaRPr lang="en-US" altLang="zh-CN" sz="3200" b="1" dirty="0">
              <a:solidFill>
                <a:srgbClr val="FF0000"/>
              </a:solidFill>
            </a:endParaRPr>
          </a:p>
          <a:p>
            <a:r>
              <a:rPr lang="en-US" altLang="zh-CN" sz="3200" b="1" dirty="0">
                <a:solidFill>
                  <a:srgbClr val="7030A0"/>
                </a:solidFill>
              </a:rPr>
              <a:t>preserve</a:t>
            </a:r>
            <a:r>
              <a:rPr lang="zh-CN" altLang="en-US" sz="3200" b="1" dirty="0">
                <a:solidFill>
                  <a:srgbClr val="7030A0"/>
                </a:solidFill>
              </a:rPr>
              <a:t>保护</a:t>
            </a:r>
            <a:r>
              <a:rPr lang="en-US" altLang="zh-CN" sz="3200" b="1" dirty="0">
                <a:solidFill>
                  <a:srgbClr val="7030A0"/>
                </a:solidFill>
              </a:rPr>
              <a:t>/</a:t>
            </a:r>
            <a:r>
              <a:rPr lang="zh-CN" altLang="en-US" sz="3200" b="1" dirty="0">
                <a:solidFill>
                  <a:srgbClr val="7030A0"/>
                </a:solidFill>
              </a:rPr>
              <a:t>存</a:t>
            </a:r>
            <a:r>
              <a:rPr lang="en-US" altLang="zh-CN" sz="3200" b="1" dirty="0">
                <a:solidFill>
                  <a:srgbClr val="7030A0"/>
                </a:solidFill>
              </a:rPr>
              <a:t> depart</a:t>
            </a:r>
            <a:r>
              <a:rPr lang="zh-CN" altLang="en-US" sz="3200" b="1" dirty="0">
                <a:solidFill>
                  <a:srgbClr val="7030A0"/>
                </a:solidFill>
              </a:rPr>
              <a:t>离开→</a:t>
            </a:r>
            <a:r>
              <a:rPr lang="en-US" altLang="zh-CN" sz="3200" b="1" dirty="0">
                <a:solidFill>
                  <a:srgbClr val="FF0000"/>
                </a:solidFill>
              </a:rPr>
              <a:t>departure n.</a:t>
            </a:r>
          </a:p>
          <a:p>
            <a:r>
              <a:rPr lang="zh-CN" altLang="en-US" sz="3200" b="1" dirty="0">
                <a:solidFill>
                  <a:srgbClr val="FF0000"/>
                </a:solidFill>
              </a:rPr>
              <a:t> </a:t>
            </a:r>
            <a:r>
              <a:rPr lang="en-US" altLang="zh-CN" sz="3200" b="1" dirty="0">
                <a:solidFill>
                  <a:srgbClr val="FF0000"/>
                </a:solidFill>
              </a:rPr>
              <a:t>Their eyes widened in recognition</a:t>
            </a:r>
            <a:r>
              <a:rPr lang="zh-CN" altLang="en-US" sz="3200" b="1" dirty="0">
                <a:solidFill>
                  <a:srgbClr val="FF0000"/>
                </a:solidFill>
              </a:rPr>
              <a:t>认出来了</a:t>
            </a:r>
            <a:r>
              <a:rPr lang="zh-CN" altLang="en-US" sz="3200" dirty="0"/>
              <a:t>眼睛睁得大大的</a:t>
            </a:r>
            <a:endParaRPr lang="en-US" altLang="zh-CN" sz="3200" dirty="0"/>
          </a:p>
          <a:p>
            <a:r>
              <a:rPr lang="en-US" altLang="zh-CN" sz="3200" b="1" dirty="0">
                <a:solidFill>
                  <a:srgbClr val="FF0000"/>
                </a:solidFill>
              </a:rPr>
              <a:t> </a:t>
            </a:r>
            <a:r>
              <a:rPr lang="en-US" altLang="zh-CN" b="1" dirty="0">
                <a:solidFill>
                  <a:srgbClr val="7030A0"/>
                </a:solidFill>
              </a:rPr>
              <a:t>cooperation</a:t>
            </a:r>
            <a:r>
              <a:rPr lang="zh-CN" altLang="en-US" b="1" dirty="0">
                <a:solidFill>
                  <a:srgbClr val="7030A0"/>
                </a:solidFill>
              </a:rPr>
              <a:t>合作</a:t>
            </a:r>
            <a:r>
              <a:rPr lang="en-US" altLang="zh-CN" b="1" dirty="0">
                <a:solidFill>
                  <a:srgbClr val="7030A0"/>
                </a:solidFill>
              </a:rPr>
              <a:t> sorrow</a:t>
            </a:r>
            <a:r>
              <a:rPr lang="zh-CN" altLang="en-US" b="1" dirty="0">
                <a:solidFill>
                  <a:srgbClr val="7030A0"/>
                </a:solidFill>
              </a:rPr>
              <a:t>悲伤 </a:t>
            </a:r>
            <a:r>
              <a:rPr lang="en-US" altLang="zh-CN" sz="3200" b="1" dirty="0">
                <a:solidFill>
                  <a:srgbClr val="FF0000"/>
                </a:solidFill>
              </a:rPr>
              <a:t>redden</a:t>
            </a:r>
            <a:r>
              <a:rPr lang="zh-CN" altLang="en-US" sz="3200" b="1" dirty="0">
                <a:solidFill>
                  <a:srgbClr val="FF0000"/>
                </a:solidFill>
              </a:rPr>
              <a:t>变红</a:t>
            </a:r>
            <a:r>
              <a:rPr lang="en-US" altLang="zh-CN" sz="3200" b="1" dirty="0">
                <a:solidFill>
                  <a:srgbClr val="7030A0"/>
                </a:solidFill>
              </a:rPr>
              <a:t>worsen</a:t>
            </a:r>
            <a:r>
              <a:rPr lang="zh-CN" altLang="en-US" sz="3200" b="1" dirty="0">
                <a:solidFill>
                  <a:srgbClr val="7030A0"/>
                </a:solidFill>
              </a:rPr>
              <a:t>恶化</a:t>
            </a:r>
            <a:r>
              <a:rPr lang="en-US" altLang="zh-CN" sz="3200" b="1" dirty="0">
                <a:solidFill>
                  <a:srgbClr val="FF0000"/>
                </a:solidFill>
              </a:rPr>
              <a:t>soften</a:t>
            </a:r>
            <a:r>
              <a:rPr lang="zh-CN" altLang="en-US" sz="3200" b="1" dirty="0">
                <a:solidFill>
                  <a:srgbClr val="FF0000"/>
                </a:solidFill>
              </a:rPr>
              <a:t>变温和 </a:t>
            </a:r>
            <a:endParaRPr lang="en-US" altLang="zh-CN" sz="3200" b="1" dirty="0">
              <a:solidFill>
                <a:srgbClr val="7030A0"/>
              </a:solidFill>
            </a:endParaRPr>
          </a:p>
          <a:p>
            <a:r>
              <a:rPr lang="zh-CN" altLang="en-US" sz="3200" b="1" dirty="0">
                <a:solidFill>
                  <a:srgbClr val="FF0000"/>
                </a:solidFill>
              </a:rPr>
              <a:t> </a:t>
            </a:r>
            <a:r>
              <a:rPr lang="en-US" altLang="zh-CN" sz="3200" b="1" u="sng" dirty="0">
                <a:solidFill>
                  <a:srgbClr val="FF0000"/>
                </a:solidFill>
              </a:rPr>
              <a:t>Seeing</a:t>
            </a:r>
            <a:r>
              <a:rPr lang="en-US" altLang="zh-CN" sz="3200" b="1" dirty="0">
                <a:solidFill>
                  <a:srgbClr val="FF0000"/>
                </a:solidFill>
              </a:rPr>
              <a:t>…, sb’s serious face </a:t>
            </a:r>
            <a:r>
              <a:rPr lang="en-US" altLang="zh-CN" sz="3200" b="1" u="sng" dirty="0">
                <a:solidFill>
                  <a:srgbClr val="FF0000"/>
                </a:solidFill>
              </a:rPr>
              <a:t>softened into </a:t>
            </a:r>
            <a:r>
              <a:rPr lang="en-US" altLang="zh-CN" sz="3200" b="1" dirty="0">
                <a:solidFill>
                  <a:srgbClr val="FF0000"/>
                </a:solidFill>
              </a:rPr>
              <a:t>a smile</a:t>
            </a:r>
            <a:r>
              <a:rPr lang="zh-CN" altLang="en-US" sz="2400" b="1" dirty="0"/>
              <a:t>严肃的脸变成了微笑</a:t>
            </a:r>
            <a:endParaRPr lang="zh-CN" altLang="en-US" sz="3200" b="1" dirty="0">
              <a:solidFill>
                <a:srgbClr val="FF0000"/>
              </a:solidFill>
            </a:endParaRPr>
          </a:p>
          <a:p>
            <a:r>
              <a:rPr lang="en-US" altLang="zh-CN" sz="3200" b="1" dirty="0">
                <a:solidFill>
                  <a:srgbClr val="FF0000"/>
                </a:solidFill>
              </a:rPr>
              <a:t> a bystander called out</a:t>
            </a:r>
            <a:r>
              <a:rPr lang="zh-CN" altLang="en-US" sz="3200" dirty="0"/>
              <a:t>一个旁观者喊道 </a:t>
            </a:r>
            <a:endParaRPr lang="en-US" altLang="zh-CN" sz="3200" dirty="0"/>
          </a:p>
          <a:p>
            <a:r>
              <a:rPr lang="en-US" altLang="zh-CN" sz="3200" b="1" dirty="0">
                <a:solidFill>
                  <a:srgbClr val="FF0000"/>
                </a:solidFill>
              </a:rPr>
              <a:t> emotional exchange</a:t>
            </a:r>
            <a:r>
              <a:rPr lang="zh-CN" altLang="en-US" sz="3200" b="1" dirty="0">
                <a:solidFill>
                  <a:srgbClr val="FF0000"/>
                </a:solidFill>
              </a:rPr>
              <a:t>感情交流      </a:t>
            </a:r>
            <a:r>
              <a:rPr lang="en-US" altLang="zh-CN" sz="3200" b="1" dirty="0">
                <a:solidFill>
                  <a:srgbClr val="FF0000"/>
                </a:solidFill>
              </a:rPr>
              <a:t>murmur </a:t>
            </a:r>
            <a:r>
              <a:rPr lang="en-US" altLang="zh-CN" sz="3200" b="1" dirty="0" err="1">
                <a:solidFill>
                  <a:srgbClr val="FF0000"/>
                </a:solidFill>
              </a:rPr>
              <a:t>v.n.</a:t>
            </a:r>
            <a:r>
              <a:rPr lang="zh-CN" altLang="en-US" sz="3200" b="1" dirty="0">
                <a:solidFill>
                  <a:srgbClr val="FF0000"/>
                </a:solidFill>
              </a:rPr>
              <a:t>低语</a:t>
            </a:r>
            <a:r>
              <a:rPr lang="en-US" altLang="zh-CN" sz="3200" b="1" dirty="0">
                <a:solidFill>
                  <a:srgbClr val="FF0000"/>
                </a:solidFill>
              </a:rPr>
              <a:t>;</a:t>
            </a:r>
            <a:r>
              <a:rPr lang="zh-CN" altLang="en-US" sz="3200" b="1" dirty="0">
                <a:solidFill>
                  <a:srgbClr val="FF0000"/>
                </a:solidFill>
              </a:rPr>
              <a:t>私下抱怨</a:t>
            </a:r>
            <a:endParaRPr lang="en-US" altLang="zh-CN" sz="3200" b="1" dirty="0">
              <a:solidFill>
                <a:srgbClr val="FF0000"/>
              </a:solidFill>
            </a:endParaRPr>
          </a:p>
          <a:p>
            <a:r>
              <a:rPr lang="en-US" altLang="zh-CN" sz="3200" b="1" dirty="0">
                <a:solidFill>
                  <a:srgbClr val="FF0000"/>
                </a:solidFill>
              </a:rPr>
              <a:t> curiosity and awe</a:t>
            </a:r>
            <a:r>
              <a:rPr lang="zh-CN" altLang="en-US" sz="3200" b="1" dirty="0">
                <a:solidFill>
                  <a:srgbClr val="FF0000"/>
                </a:solidFill>
              </a:rPr>
              <a:t>好奇和敬畏       </a:t>
            </a:r>
            <a:r>
              <a:rPr lang="en-US" altLang="zh-CN" sz="3200" b="1" dirty="0"/>
              <a:t>anxiety</a:t>
            </a:r>
            <a:r>
              <a:rPr lang="zh-CN" altLang="en-US" sz="3200" b="1" dirty="0"/>
              <a:t>焦虑→</a:t>
            </a:r>
            <a:r>
              <a:rPr lang="en-US" altLang="zh-CN" sz="3200" b="1" dirty="0"/>
              <a:t>anxious a.</a:t>
            </a:r>
          </a:p>
          <a:p>
            <a:r>
              <a:rPr lang="en-US" altLang="zh-CN" sz="3200" b="1" dirty="0">
                <a:solidFill>
                  <a:srgbClr val="FF0000"/>
                </a:solidFill>
              </a:rPr>
              <a:t> harmony</a:t>
            </a:r>
            <a:r>
              <a:rPr lang="zh-CN" altLang="en-US" sz="3200" b="1" dirty="0">
                <a:solidFill>
                  <a:srgbClr val="FF0000"/>
                </a:solidFill>
              </a:rPr>
              <a:t>和谐→</a:t>
            </a:r>
            <a:r>
              <a:rPr lang="en-US" altLang="zh-CN" sz="3200" b="1" dirty="0">
                <a:solidFill>
                  <a:srgbClr val="FF0000"/>
                </a:solidFill>
              </a:rPr>
              <a:t>harmonious a.      panic(panicked*2) </a:t>
            </a:r>
            <a:r>
              <a:rPr lang="en-US" altLang="zh-CN" sz="3200" b="1" dirty="0" err="1">
                <a:solidFill>
                  <a:srgbClr val="FF0000"/>
                </a:solidFill>
              </a:rPr>
              <a:t>v.n.</a:t>
            </a:r>
            <a:r>
              <a:rPr lang="zh-CN" altLang="en-US" sz="3200" b="1" dirty="0">
                <a:solidFill>
                  <a:srgbClr val="FF0000"/>
                </a:solidFill>
              </a:rPr>
              <a:t>恐慌</a:t>
            </a:r>
            <a:endParaRPr lang="en-US" altLang="zh-CN" sz="3200" b="1" dirty="0">
              <a:solidFill>
                <a:srgbClr val="FF0000"/>
              </a:solidFill>
            </a:endParaRPr>
          </a:p>
          <a:p>
            <a:r>
              <a:rPr lang="en-US" altLang="zh-CN" sz="3200" b="1" dirty="0">
                <a:solidFill>
                  <a:srgbClr val="FF0000"/>
                </a:solidFill>
              </a:rPr>
              <a:t> reach out</a:t>
            </a:r>
            <a:r>
              <a:rPr lang="zh-CN" altLang="en-US" sz="3200" b="1" dirty="0">
                <a:solidFill>
                  <a:srgbClr val="FF0000"/>
                </a:solidFill>
              </a:rPr>
              <a:t>伸出手</a:t>
            </a:r>
            <a:r>
              <a:rPr lang="en-US" altLang="zh-CN" sz="3200" b="1" dirty="0">
                <a:solidFill>
                  <a:srgbClr val="7030A0"/>
                </a:solidFill>
              </a:rPr>
              <a:t>to touch              look out</a:t>
            </a:r>
            <a:r>
              <a:rPr lang="zh-CN" altLang="en-US" sz="3200" b="1" dirty="0">
                <a:solidFill>
                  <a:srgbClr val="7030A0"/>
                </a:solidFill>
              </a:rPr>
              <a:t>小心注意 </a:t>
            </a:r>
            <a:endParaRPr lang="en-US" altLang="zh-CN" sz="3200" b="1" dirty="0">
              <a:solidFill>
                <a:srgbClr val="7030A0"/>
              </a:solidFill>
            </a:endParaRPr>
          </a:p>
          <a:p>
            <a:r>
              <a:rPr lang="en-US" altLang="zh-CN" sz="3200" b="1" dirty="0">
                <a:solidFill>
                  <a:srgbClr val="FF0000"/>
                </a:solidFill>
              </a:rPr>
              <a:t> bring out(brought*2)</a:t>
            </a:r>
            <a:r>
              <a:rPr lang="zh-CN" altLang="en-US" b="1" dirty="0">
                <a:solidFill>
                  <a:srgbClr val="FF0000"/>
                </a:solidFill>
              </a:rPr>
              <a:t>使显现</a:t>
            </a:r>
            <a:r>
              <a:rPr lang="en-US" altLang="zh-CN" b="1" dirty="0">
                <a:solidFill>
                  <a:srgbClr val="FF0000"/>
                </a:solidFill>
              </a:rPr>
              <a:t>;</a:t>
            </a:r>
            <a:r>
              <a:rPr lang="zh-CN" altLang="en-US" b="1" dirty="0">
                <a:solidFill>
                  <a:srgbClr val="FF0000"/>
                </a:solidFill>
              </a:rPr>
              <a:t>发布</a:t>
            </a:r>
            <a:r>
              <a:rPr lang="en-US" altLang="zh-CN" b="1" dirty="0">
                <a:solidFill>
                  <a:srgbClr val="FF0000"/>
                </a:solidFill>
              </a:rPr>
              <a:t>   </a:t>
            </a:r>
            <a:r>
              <a:rPr lang="en-US" altLang="zh-CN" sz="3200" b="1" dirty="0">
                <a:solidFill>
                  <a:srgbClr val="FF0000"/>
                </a:solidFill>
              </a:rPr>
              <a:t>stand out(stood*)</a:t>
            </a:r>
            <a:r>
              <a:rPr lang="zh-CN" altLang="en-US" b="1" dirty="0">
                <a:solidFill>
                  <a:srgbClr val="FF0000"/>
                </a:solidFill>
              </a:rPr>
              <a:t>突出显眼出色</a:t>
            </a:r>
            <a:endParaRPr lang="zh-CN" altLang="en-US" sz="3200" b="1" dirty="0">
              <a:solidFill>
                <a:srgbClr val="FF0000"/>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200" b="1" dirty="0">
                <a:solidFill>
                  <a:srgbClr val="FF0000"/>
                </a:solidFill>
              </a:rPr>
              <a:t>break down(broke, broken)</a:t>
            </a:r>
            <a:r>
              <a:rPr lang="zh-CN" altLang="en-US" sz="3200" b="1" dirty="0">
                <a:solidFill>
                  <a:srgbClr val="FF0000"/>
                </a:solidFill>
              </a:rPr>
              <a:t>感情失控 </a:t>
            </a:r>
            <a:r>
              <a:rPr lang="en-US" altLang="zh-CN" sz="3200" b="1" dirty="0">
                <a:solidFill>
                  <a:srgbClr val="FF0000"/>
                </a:solidFill>
              </a:rPr>
              <a:t>in tears</a:t>
            </a:r>
            <a:r>
              <a:rPr lang="zh-CN" altLang="en-US" sz="3200" b="1" dirty="0">
                <a:solidFill>
                  <a:srgbClr val="FF0000"/>
                </a:solidFill>
              </a:rPr>
              <a:t>流泪  </a:t>
            </a:r>
            <a:endParaRPr lang="en-US" altLang="zh-CN" sz="3200" b="1" dirty="0">
              <a:solidFill>
                <a:srgbClr val="FF0000"/>
              </a:solidFill>
            </a:endParaRPr>
          </a:p>
          <a:p>
            <a:r>
              <a:rPr lang="en-US" altLang="zh-CN" sz="3200" b="1" dirty="0">
                <a:solidFill>
                  <a:srgbClr val="FF0000"/>
                </a:solidFill>
              </a:rPr>
              <a:t>turn down</a:t>
            </a:r>
            <a:r>
              <a:rPr lang="zh-CN" altLang="en-US" sz="3200" b="1" dirty="0">
                <a:solidFill>
                  <a:srgbClr val="FF0000"/>
                </a:solidFill>
              </a:rPr>
              <a:t>调低</a:t>
            </a:r>
            <a:r>
              <a:rPr lang="en-US" altLang="zh-CN" sz="3200" b="1" dirty="0">
                <a:solidFill>
                  <a:srgbClr val="FF0000"/>
                </a:solidFill>
              </a:rPr>
              <a:t>;</a:t>
            </a:r>
            <a:r>
              <a:rPr lang="zh-CN" altLang="en-US" sz="3200" b="1" dirty="0">
                <a:solidFill>
                  <a:srgbClr val="FF0000"/>
                </a:solidFill>
              </a:rPr>
              <a:t>拒绝 </a:t>
            </a:r>
            <a:r>
              <a:rPr lang="en-US" altLang="zh-CN" sz="3200" b="1" dirty="0">
                <a:solidFill>
                  <a:srgbClr val="FF0000"/>
                </a:solidFill>
              </a:rPr>
              <a:t>cut down</a:t>
            </a:r>
            <a:r>
              <a:rPr lang="zh-CN" altLang="en-US" sz="3200" b="1" dirty="0">
                <a:solidFill>
                  <a:srgbClr val="FF0000"/>
                </a:solidFill>
              </a:rPr>
              <a:t>削减</a:t>
            </a:r>
            <a:r>
              <a:rPr lang="en-US" altLang="zh-CN" sz="3200" b="1" dirty="0">
                <a:solidFill>
                  <a:srgbClr val="FF0000"/>
                </a:solidFill>
              </a:rPr>
              <a:t>;</a:t>
            </a:r>
            <a:r>
              <a:rPr lang="zh-CN" altLang="en-US" sz="3200" b="1" dirty="0">
                <a:solidFill>
                  <a:srgbClr val="FF0000"/>
                </a:solidFill>
              </a:rPr>
              <a:t>砍到</a:t>
            </a:r>
            <a:r>
              <a:rPr lang="en-US" altLang="zh-CN" sz="3200" b="1" dirty="0">
                <a:solidFill>
                  <a:srgbClr val="FF0000"/>
                </a:solidFill>
              </a:rPr>
              <a:t>(cut*2)—cutting   </a:t>
            </a:r>
          </a:p>
          <a:p>
            <a:r>
              <a:rPr lang="en-US" altLang="zh-CN" sz="3200" b="1" dirty="0">
                <a:solidFill>
                  <a:srgbClr val="FF0000"/>
                </a:solidFill>
              </a:rPr>
              <a:t>put down</a:t>
            </a:r>
            <a:r>
              <a:rPr lang="zh-CN" altLang="en-US" sz="3200" b="1" dirty="0">
                <a:solidFill>
                  <a:srgbClr val="FF0000"/>
                </a:solidFill>
              </a:rPr>
              <a:t>放下</a:t>
            </a:r>
            <a:r>
              <a:rPr lang="en-US" altLang="zh-CN" sz="3200" b="1" dirty="0">
                <a:solidFill>
                  <a:srgbClr val="FF0000"/>
                </a:solidFill>
              </a:rPr>
              <a:t>,</a:t>
            </a:r>
            <a:r>
              <a:rPr lang="zh-CN" altLang="en-US" sz="3200" b="1" dirty="0">
                <a:solidFill>
                  <a:srgbClr val="FF0000"/>
                </a:solidFill>
              </a:rPr>
              <a:t>写下</a:t>
            </a:r>
            <a:r>
              <a:rPr lang="en-US" altLang="zh-CN" sz="3200" b="1" dirty="0">
                <a:solidFill>
                  <a:srgbClr val="FF0000"/>
                </a:solidFill>
              </a:rPr>
              <a:t>(put*2)—putting</a:t>
            </a:r>
            <a:endParaRPr lang="zh-CN" altLang="en-US" sz="3200" b="1" dirty="0">
              <a:solidFill>
                <a:srgbClr val="FF0000"/>
              </a:solidFill>
            </a:endParaRPr>
          </a:p>
          <a:p>
            <a:r>
              <a:rPr lang="en-US" altLang="zh-CN" sz="3200" b="1" dirty="0">
                <a:solidFill>
                  <a:srgbClr val="FF0000"/>
                </a:solidFill>
              </a:rPr>
              <a:t>wipe</a:t>
            </a:r>
            <a:r>
              <a:rPr lang="zh-CN" altLang="en-US" sz="3200" b="1" dirty="0">
                <a:solidFill>
                  <a:srgbClr val="FF0000"/>
                </a:solidFill>
              </a:rPr>
              <a:t>擦拭  </a:t>
            </a:r>
            <a:r>
              <a:rPr lang="en-US" altLang="zh-CN" sz="3200" b="1" dirty="0">
                <a:solidFill>
                  <a:srgbClr val="FF0000"/>
                </a:solidFill>
              </a:rPr>
              <a:t>widen</a:t>
            </a:r>
            <a:r>
              <a:rPr lang="zh-CN" altLang="en-US" sz="3200" b="1" dirty="0">
                <a:solidFill>
                  <a:srgbClr val="FF0000"/>
                </a:solidFill>
              </a:rPr>
              <a:t>拓宽  </a:t>
            </a:r>
            <a:r>
              <a:rPr lang="en-US" altLang="zh-CN" sz="3200" b="1" dirty="0">
                <a:solidFill>
                  <a:srgbClr val="FF0000"/>
                </a:solidFill>
              </a:rPr>
              <a:t>tender scene</a:t>
            </a:r>
            <a:r>
              <a:rPr lang="zh-CN" altLang="en-US" sz="3200" b="1" dirty="0">
                <a:solidFill>
                  <a:srgbClr val="FF0000"/>
                </a:solidFill>
              </a:rPr>
              <a:t>温柔的场景</a:t>
            </a:r>
          </a:p>
          <a:p>
            <a:r>
              <a:rPr lang="en-US" altLang="zh-CN" sz="3200" b="1" dirty="0">
                <a:solidFill>
                  <a:srgbClr val="FF0000"/>
                </a:solidFill>
              </a:rPr>
              <a:t>submit(submitted*2)--submitting</a:t>
            </a:r>
            <a:r>
              <a:rPr lang="zh-CN" altLang="en-US" sz="3200" b="1" dirty="0">
                <a:solidFill>
                  <a:srgbClr val="FF0000"/>
                </a:solidFill>
              </a:rPr>
              <a:t>提交→</a:t>
            </a:r>
            <a:r>
              <a:rPr lang="en-US" altLang="zh-CN" sz="3200" b="1" dirty="0">
                <a:solidFill>
                  <a:srgbClr val="FF0000"/>
                </a:solidFill>
              </a:rPr>
              <a:t>submission n.</a:t>
            </a:r>
          </a:p>
          <a:p>
            <a:r>
              <a:rPr lang="en-US" altLang="zh-CN" sz="3200" b="1" dirty="0">
                <a:solidFill>
                  <a:srgbClr val="FF0000"/>
                </a:solidFill>
              </a:rPr>
              <a:t>hatch</a:t>
            </a:r>
            <a:r>
              <a:rPr lang="zh-CN" altLang="en-US" sz="3200" b="1" dirty="0">
                <a:solidFill>
                  <a:srgbClr val="FF0000"/>
                </a:solidFill>
              </a:rPr>
              <a:t>策划孵化 </a:t>
            </a:r>
            <a:r>
              <a:rPr lang="en-US" altLang="zh-CN" sz="3200" b="1" dirty="0">
                <a:solidFill>
                  <a:srgbClr val="FF0000"/>
                </a:solidFill>
              </a:rPr>
              <a:t>film</a:t>
            </a:r>
            <a:r>
              <a:rPr lang="zh-CN" altLang="en-US" sz="3200" b="1" dirty="0">
                <a:solidFill>
                  <a:srgbClr val="FF0000"/>
                </a:solidFill>
              </a:rPr>
              <a:t>拍摄录制 </a:t>
            </a:r>
            <a:r>
              <a:rPr lang="en-US" altLang="zh-CN" sz="3200" b="1" dirty="0">
                <a:solidFill>
                  <a:srgbClr val="FF0000"/>
                </a:solidFill>
              </a:rPr>
              <a:t>facilitate</a:t>
            </a:r>
            <a:r>
              <a:rPr lang="zh-CN" altLang="en-US" sz="3200" b="1" dirty="0">
                <a:solidFill>
                  <a:srgbClr val="FF0000"/>
                </a:solidFill>
              </a:rPr>
              <a:t>促进</a:t>
            </a:r>
            <a:r>
              <a:rPr lang="en-US" altLang="zh-CN" sz="3200" b="1" dirty="0">
                <a:solidFill>
                  <a:srgbClr val="FF0000"/>
                </a:solidFill>
              </a:rPr>
              <a:t>;</a:t>
            </a:r>
            <a:r>
              <a:rPr lang="zh-CN" altLang="en-US" sz="3200" b="1" dirty="0">
                <a:solidFill>
                  <a:srgbClr val="FF0000"/>
                </a:solidFill>
              </a:rPr>
              <a:t>使便利 </a:t>
            </a:r>
            <a:r>
              <a:rPr lang="en-US" altLang="zh-CN" sz="3200" b="1" dirty="0">
                <a:solidFill>
                  <a:srgbClr val="FF0000"/>
                </a:solidFill>
              </a:rPr>
              <a:t>facility</a:t>
            </a:r>
            <a:r>
              <a:rPr lang="zh-CN" altLang="en-US" sz="3200" b="1" dirty="0">
                <a:solidFill>
                  <a:srgbClr val="FF0000"/>
                </a:solidFill>
              </a:rPr>
              <a:t>设施</a:t>
            </a:r>
            <a:endParaRPr lang="en-US" altLang="zh-CN" sz="3200" b="1" dirty="0">
              <a:solidFill>
                <a:srgbClr val="FF0000"/>
              </a:solidFill>
            </a:endParaRPr>
          </a:p>
          <a:p>
            <a:r>
              <a:rPr lang="en-US" altLang="zh-CN" sz="3200" b="1" dirty="0">
                <a:solidFill>
                  <a:srgbClr val="FF0000"/>
                </a:solidFill>
              </a:rPr>
              <a:t>find one’s way</a:t>
            </a:r>
            <a:r>
              <a:rPr lang="zh-CN" altLang="en-US" sz="3200" b="1" dirty="0">
                <a:solidFill>
                  <a:srgbClr val="FF0000"/>
                </a:solidFill>
              </a:rPr>
              <a:t>传播到</a:t>
            </a:r>
            <a:r>
              <a:rPr lang="en-US" altLang="zh-CN" sz="3200" b="1" dirty="0">
                <a:solidFill>
                  <a:srgbClr val="FF0000"/>
                </a:solidFill>
              </a:rPr>
              <a:t>…,</a:t>
            </a:r>
            <a:r>
              <a:rPr lang="zh-CN" altLang="en-US" sz="3200" b="1" dirty="0">
                <a:solidFill>
                  <a:srgbClr val="FF0000"/>
                </a:solidFill>
              </a:rPr>
              <a:t>进入</a:t>
            </a:r>
            <a:r>
              <a:rPr lang="en-US" altLang="zh-CN" sz="3200" b="1" dirty="0">
                <a:solidFill>
                  <a:srgbClr val="FF0000"/>
                </a:solidFill>
              </a:rPr>
              <a:t>…</a:t>
            </a:r>
          </a:p>
          <a:p>
            <a:r>
              <a:rPr lang="en-US" altLang="zh-CN" sz="3200" b="1" dirty="0">
                <a:solidFill>
                  <a:srgbClr val="FF0000"/>
                </a:solidFill>
              </a:rPr>
              <a:t>spread warmth across the digital landscape</a:t>
            </a:r>
            <a:r>
              <a:rPr lang="zh-CN" altLang="en-US" sz="3200" b="1" dirty="0">
                <a:solidFill>
                  <a:srgbClr val="FF0000"/>
                </a:solidFill>
              </a:rPr>
              <a:t>在数字领域传播温暖</a:t>
            </a:r>
          </a:p>
          <a:p>
            <a:r>
              <a:rPr lang="en-US" altLang="zh-CN" sz="3200" b="1" dirty="0">
                <a:solidFill>
                  <a:srgbClr val="FF0000"/>
                </a:solidFill>
              </a:rPr>
              <a:t>pull back</a:t>
            </a:r>
            <a:r>
              <a:rPr lang="zh-CN" altLang="en-US" sz="3200" b="1" dirty="0">
                <a:solidFill>
                  <a:srgbClr val="FF0000"/>
                </a:solidFill>
              </a:rPr>
              <a:t>拉回撤退 </a:t>
            </a:r>
            <a:r>
              <a:rPr lang="en-US" altLang="zh-CN" sz="3200" b="1" dirty="0">
                <a:solidFill>
                  <a:srgbClr val="FF0000"/>
                </a:solidFill>
              </a:rPr>
              <a:t>blink </a:t>
            </a:r>
            <a:r>
              <a:rPr lang="en-US" altLang="zh-CN" sz="3200" b="1" dirty="0" err="1">
                <a:solidFill>
                  <a:srgbClr val="FF0000"/>
                </a:solidFill>
              </a:rPr>
              <a:t>n.v.</a:t>
            </a:r>
            <a:r>
              <a:rPr lang="zh-CN" altLang="en-US" sz="3200" b="1" dirty="0">
                <a:solidFill>
                  <a:srgbClr val="FF0000"/>
                </a:solidFill>
              </a:rPr>
              <a:t>眨眼</a:t>
            </a:r>
            <a:r>
              <a:rPr lang="en-US" altLang="zh-CN" sz="3200" b="1" dirty="0">
                <a:solidFill>
                  <a:srgbClr val="FF0000"/>
                </a:solidFill>
              </a:rPr>
              <a:t>;</a:t>
            </a:r>
            <a:r>
              <a:rPr lang="zh-CN" altLang="en-US" sz="3200" b="1" dirty="0">
                <a:solidFill>
                  <a:srgbClr val="FF0000"/>
                </a:solidFill>
              </a:rPr>
              <a:t>闪烁 </a:t>
            </a:r>
            <a:r>
              <a:rPr lang="en-US" altLang="zh-CN" sz="3200" b="1" dirty="0">
                <a:solidFill>
                  <a:srgbClr val="FF0000"/>
                </a:solidFill>
              </a:rPr>
              <a:t>initial reaction</a:t>
            </a:r>
            <a:r>
              <a:rPr lang="zh-CN" altLang="en-US" sz="3200" b="1" dirty="0">
                <a:solidFill>
                  <a:srgbClr val="FF0000"/>
                </a:solidFill>
              </a:rPr>
              <a:t>最初的反应</a:t>
            </a:r>
          </a:p>
          <a:p>
            <a:r>
              <a:rPr lang="en-US" altLang="zh-CN" sz="3200" b="1" dirty="0">
                <a:solidFill>
                  <a:srgbClr val="FF0000"/>
                </a:solidFill>
              </a:rPr>
              <a:t>watch</a:t>
            </a:r>
            <a:r>
              <a:rPr lang="zh-CN" altLang="en-US" sz="3200" b="1" dirty="0">
                <a:solidFill>
                  <a:srgbClr val="FF0000"/>
                </a:solidFill>
              </a:rPr>
              <a:t>值班站岗 </a:t>
            </a:r>
            <a:r>
              <a:rPr lang="en-US" altLang="zh-CN" sz="3200" b="1" dirty="0">
                <a:solidFill>
                  <a:srgbClr val="FF0000"/>
                </a:solidFill>
              </a:rPr>
              <a:t>inquiry n.</a:t>
            </a:r>
            <a:r>
              <a:rPr lang="zh-CN" altLang="en-US" sz="3200" b="1" dirty="0">
                <a:solidFill>
                  <a:srgbClr val="FF0000"/>
                </a:solidFill>
              </a:rPr>
              <a:t>询问调查→</a:t>
            </a:r>
            <a:r>
              <a:rPr lang="en-US" altLang="zh-CN" sz="3200" b="1" dirty="0">
                <a:solidFill>
                  <a:srgbClr val="FF0000"/>
                </a:solidFill>
              </a:rPr>
              <a:t>inquire v.</a:t>
            </a:r>
            <a:r>
              <a:rPr lang="zh-CN" altLang="en-US" sz="3200" b="1" dirty="0">
                <a:solidFill>
                  <a:srgbClr val="FF0000"/>
                </a:solidFill>
              </a:rPr>
              <a:t>  </a:t>
            </a:r>
            <a:endParaRPr lang="en-US" altLang="zh-CN" sz="3200" b="1" dirty="0">
              <a:solidFill>
                <a:srgbClr val="FF0000"/>
              </a:solidFill>
            </a:endParaRPr>
          </a:p>
          <a:p>
            <a:r>
              <a:rPr lang="en-US" altLang="zh-CN" sz="3200" b="1" dirty="0"/>
              <a:t>promise </a:t>
            </a:r>
            <a:r>
              <a:rPr lang="en-US" altLang="zh-CN" sz="3200" b="1" dirty="0" err="1"/>
              <a:t>n.v.</a:t>
            </a:r>
            <a:r>
              <a:rPr lang="zh-CN" altLang="en-US" sz="3200" b="1" dirty="0"/>
              <a:t>承诺 </a:t>
            </a:r>
            <a:r>
              <a:rPr lang="en-US" altLang="zh-CN" sz="3200" b="1" dirty="0"/>
              <a:t>cautious</a:t>
            </a:r>
            <a:r>
              <a:rPr lang="zh-CN" altLang="en-US" sz="3200" b="1" dirty="0"/>
              <a:t>小心谨慎的</a:t>
            </a:r>
            <a:r>
              <a:rPr lang="en-US" altLang="zh-CN" sz="3200" b="1" dirty="0"/>
              <a:t> mindful</a:t>
            </a:r>
            <a:r>
              <a:rPr lang="zh-CN" altLang="en-US" sz="3200" b="1" dirty="0"/>
              <a:t>留心的</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survival n.</a:t>
            </a:r>
            <a:r>
              <a:rPr lang="zh-CN" altLang="en-US" sz="3600" b="1" dirty="0">
                <a:solidFill>
                  <a:srgbClr val="FF0000"/>
                </a:solidFill>
              </a:rPr>
              <a:t>幸存  </a:t>
            </a:r>
            <a:r>
              <a:rPr lang="en-US" altLang="zh-CN" sz="3600" b="1" dirty="0">
                <a:solidFill>
                  <a:srgbClr val="FF0000"/>
                </a:solidFill>
              </a:rPr>
              <a:t>survivor n.</a:t>
            </a:r>
            <a:r>
              <a:rPr lang="zh-CN" altLang="en-US" sz="3600" b="1" dirty="0">
                <a:solidFill>
                  <a:srgbClr val="FF0000"/>
                </a:solidFill>
              </a:rPr>
              <a:t>幸存者</a:t>
            </a:r>
            <a:endParaRPr lang="en-US" altLang="zh-CN" sz="3600" b="1" dirty="0">
              <a:solidFill>
                <a:srgbClr val="FF0000"/>
              </a:solidFill>
            </a:endParaRPr>
          </a:p>
          <a:p>
            <a:r>
              <a:rPr lang="en-US" altLang="zh-CN" sz="3600" b="1" dirty="0">
                <a:solidFill>
                  <a:srgbClr val="FF0000"/>
                </a:solidFill>
              </a:rPr>
              <a:t> the</a:t>
            </a:r>
            <a:r>
              <a:rPr lang="zh-CN" altLang="en-US" sz="3600" b="1" dirty="0">
                <a:solidFill>
                  <a:srgbClr val="FF0000"/>
                </a:solidFill>
              </a:rPr>
              <a:t> </a:t>
            </a:r>
            <a:r>
              <a:rPr lang="en-US" altLang="zh-CN" sz="3600" b="1" dirty="0">
                <a:solidFill>
                  <a:srgbClr val="FF0000"/>
                </a:solidFill>
              </a:rPr>
              <a:t>survival</a:t>
            </a:r>
            <a:r>
              <a:rPr lang="zh-CN" altLang="en-US" sz="3600" b="1" dirty="0">
                <a:solidFill>
                  <a:srgbClr val="FF0000"/>
                </a:solidFill>
              </a:rPr>
              <a:t> </a:t>
            </a:r>
            <a:r>
              <a:rPr lang="en-US" altLang="zh-CN" sz="3600" b="1" dirty="0">
                <a:solidFill>
                  <a:srgbClr val="FF0000"/>
                </a:solidFill>
              </a:rPr>
              <a:t>of the fittest</a:t>
            </a:r>
            <a:r>
              <a:rPr lang="zh-CN" altLang="en-US" sz="3600" b="1" dirty="0">
                <a:solidFill>
                  <a:srgbClr val="FF0000"/>
                </a:solidFill>
              </a:rPr>
              <a:t>适者生存</a:t>
            </a:r>
            <a:endParaRPr lang="en-US" altLang="zh-CN" sz="3600" b="1" dirty="0">
              <a:solidFill>
                <a:srgbClr val="FF0000"/>
              </a:solidFill>
            </a:endParaRPr>
          </a:p>
          <a:p>
            <a:r>
              <a:rPr lang="en-US" altLang="zh-CN" sz="3600" b="1" dirty="0">
                <a:solidFill>
                  <a:srgbClr val="FF0000"/>
                </a:solidFill>
              </a:rPr>
              <a:t>hold(held*2)</a:t>
            </a:r>
          </a:p>
          <a:p>
            <a:r>
              <a:rPr lang="en-US" altLang="zh-CN" sz="3600" b="1" dirty="0">
                <a:solidFill>
                  <a:srgbClr val="FF0000"/>
                </a:solidFill>
              </a:rPr>
              <a:t> 59.are rewarded</a:t>
            </a:r>
            <a:r>
              <a:rPr lang="zh-CN" altLang="en-US" sz="3600" b="1" dirty="0">
                <a:solidFill>
                  <a:srgbClr val="FF0000"/>
                </a:solidFill>
              </a:rPr>
              <a:t>得到回报</a:t>
            </a:r>
            <a:r>
              <a:rPr lang="en-US" altLang="zh-CN" sz="3600" b="1" dirty="0">
                <a:solidFill>
                  <a:srgbClr val="FF0000"/>
                </a:solidFill>
              </a:rPr>
              <a:t> 60.a rush of</a:t>
            </a:r>
            <a:r>
              <a:rPr lang="zh-CN" altLang="en-US" sz="3600" b="1" dirty="0">
                <a:solidFill>
                  <a:srgbClr val="FF0000"/>
                </a:solidFill>
              </a:rPr>
              <a:t>一股</a:t>
            </a:r>
            <a:r>
              <a:rPr lang="en-US" altLang="zh-CN" sz="3600" b="1" dirty="0">
                <a:solidFill>
                  <a:srgbClr val="FF0000"/>
                </a:solidFill>
              </a:rPr>
              <a:t> </a:t>
            </a:r>
          </a:p>
          <a:p>
            <a:r>
              <a:rPr lang="en-US" altLang="zh-CN" sz="3600" b="1" dirty="0">
                <a:solidFill>
                  <a:srgbClr val="FF0000"/>
                </a:solidFill>
              </a:rPr>
              <a:t>62.It is not until…that…    </a:t>
            </a:r>
            <a:r>
              <a:rPr lang="zh-CN" altLang="en-US" sz="3600" b="1" dirty="0">
                <a:solidFill>
                  <a:srgbClr val="FF0000"/>
                </a:solidFill>
              </a:rPr>
              <a:t>强调句型</a:t>
            </a:r>
            <a:r>
              <a:rPr lang="en-US" altLang="zh-CN" sz="3600" b="1" dirty="0">
                <a:solidFill>
                  <a:srgbClr val="FF0000"/>
                </a:solidFill>
              </a:rPr>
              <a:t>+not until</a:t>
            </a:r>
          </a:p>
          <a:p>
            <a:r>
              <a:rPr lang="en-US" altLang="zh-CN" sz="3600" b="1" dirty="0">
                <a:solidFill>
                  <a:srgbClr val="FF0000"/>
                </a:solidFill>
              </a:rPr>
              <a:t>64.experience abuse</a:t>
            </a:r>
            <a:r>
              <a:rPr lang="zh-CN" altLang="en-US" sz="3600" b="1" dirty="0">
                <a:solidFill>
                  <a:srgbClr val="FF0000"/>
                </a:solidFill>
              </a:rPr>
              <a:t>经历虐待 </a:t>
            </a:r>
            <a:r>
              <a:rPr lang="en-US" altLang="zh-CN" sz="3600" b="1" dirty="0">
                <a:solidFill>
                  <a:srgbClr val="FF0000"/>
                </a:solidFill>
              </a:rPr>
              <a:t>unpleasant</a:t>
            </a:r>
            <a:r>
              <a:rPr lang="zh-CN" altLang="en-US" sz="3600" b="1" dirty="0">
                <a:solidFill>
                  <a:srgbClr val="FF0000"/>
                </a:solidFill>
              </a:rPr>
              <a:t>令人不快的</a:t>
            </a:r>
            <a:endParaRPr lang="en-US" altLang="zh-CN" sz="3600" b="1" dirty="0">
              <a:solidFill>
                <a:srgbClr val="FF0000"/>
              </a:solidFill>
            </a:endParaRPr>
          </a:p>
          <a:p>
            <a:r>
              <a:rPr lang="en-US" altLang="zh-CN" sz="3600" b="1" dirty="0">
                <a:solidFill>
                  <a:srgbClr val="FF0000"/>
                </a:solidFill>
              </a:rPr>
              <a:t> 65.separate from</a:t>
            </a:r>
            <a:r>
              <a:rPr lang="zh-CN" altLang="en-US" sz="3600" b="1" dirty="0">
                <a:solidFill>
                  <a:srgbClr val="FF0000"/>
                </a:solidFill>
              </a:rPr>
              <a:t>分开</a:t>
            </a:r>
            <a:r>
              <a:rPr lang="en-US" altLang="zh-CN" sz="3600" b="1" dirty="0">
                <a:solidFill>
                  <a:srgbClr val="FF0000"/>
                </a:solidFill>
              </a:rPr>
              <a:t>/</a:t>
            </a:r>
            <a:r>
              <a:rPr lang="zh-CN" altLang="en-US" sz="3600" b="1" dirty="0">
                <a:solidFill>
                  <a:srgbClr val="FF0000"/>
                </a:solidFill>
              </a:rPr>
              <a:t>离  </a:t>
            </a:r>
            <a:r>
              <a:rPr lang="en-US" altLang="zh-CN" sz="3600" b="1" dirty="0">
                <a:solidFill>
                  <a:srgbClr val="FF0000"/>
                </a:solidFill>
              </a:rPr>
              <a:t>separate into</a:t>
            </a:r>
            <a:r>
              <a:rPr lang="zh-CN" altLang="en-US" sz="3600" b="1" dirty="0">
                <a:solidFill>
                  <a:srgbClr val="FF0000"/>
                </a:solidFill>
              </a:rPr>
              <a:t>分成</a:t>
            </a:r>
            <a:endParaRPr lang="en-US" altLang="zh-CN" sz="3600" b="1" dirty="0">
              <a:solidFill>
                <a:srgbClr val="FF0000"/>
              </a:solidFill>
            </a:endParaRPr>
          </a:p>
          <a:p>
            <a:r>
              <a:rPr lang="zh-CN" altLang="en-US" sz="3600" b="1" dirty="0">
                <a:solidFill>
                  <a:srgbClr val="FF0000"/>
                </a:solidFill>
              </a:rPr>
              <a:t>→</a:t>
            </a:r>
            <a:r>
              <a:rPr lang="en-US" altLang="zh-CN" sz="3600" b="1" dirty="0">
                <a:solidFill>
                  <a:srgbClr val="FF0000"/>
                </a:solidFill>
              </a:rPr>
              <a:t>separation between A and B</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3195955" y="154305"/>
            <a:ext cx="6064250" cy="583565"/>
          </a:xfrm>
          <a:prstGeom prst="rect">
            <a:avLst/>
          </a:prstGeom>
          <a:noFill/>
        </p:spPr>
        <p:txBody>
          <a:bodyPr wrap="square" rtlCol="0">
            <a:spAutoFit/>
          </a:bodyPr>
          <a:lstStyle/>
          <a:p>
            <a:r>
              <a:rPr lang="en-US" altLang="zh-CN" sz="3200" b="1">
                <a:solidFill>
                  <a:srgbClr val="FFC000"/>
                </a:solidFill>
                <a:latin typeface="Arial" panose="020B0604020202020204" pitchFamily="34" charset="0"/>
                <a:cs typeface="Arial" panose="020B0604020202020204" pitchFamily="34" charset="0"/>
              </a:rPr>
              <a:t>What is predicative(</a:t>
            </a:r>
            <a:r>
              <a:rPr lang="zh-CN" altLang="zh-CN" sz="3200" b="1">
                <a:solidFill>
                  <a:srgbClr val="FFC000"/>
                </a:solidFill>
                <a:latin typeface="Arial" panose="020B0604020202020204" pitchFamily="34" charset="0"/>
                <a:cs typeface="Arial" panose="020B0604020202020204" pitchFamily="34" charset="0"/>
              </a:rPr>
              <a:t>表语</a:t>
            </a:r>
            <a:r>
              <a:rPr lang="en-US" altLang="zh-CN" sz="3200" b="1">
                <a:solidFill>
                  <a:srgbClr val="FFC000"/>
                </a:solidFill>
                <a:latin typeface="Arial" panose="020B0604020202020204" pitchFamily="34" charset="0"/>
                <a:cs typeface="Arial" panose="020B0604020202020204" pitchFamily="34" charset="0"/>
              </a:rPr>
              <a:t>)?</a:t>
            </a:r>
          </a:p>
        </p:txBody>
      </p:sp>
      <p:sp>
        <p:nvSpPr>
          <p:cNvPr id="2" name="文本框 1"/>
          <p:cNvSpPr txBox="1"/>
          <p:nvPr>
            <p:custDataLst>
              <p:tags r:id="rId3"/>
            </p:custDataLst>
          </p:nvPr>
        </p:nvSpPr>
        <p:spPr>
          <a:xfrm>
            <a:off x="709819" y="1303211"/>
            <a:ext cx="10883467" cy="1272540"/>
          </a:xfrm>
          <a:prstGeom prst="rect">
            <a:avLst/>
          </a:prstGeom>
          <a:noFill/>
        </p:spPr>
        <p:txBody>
          <a:bodyPr wrap="square" rtlCol="0">
            <a:spAutoFit/>
          </a:bodyPr>
          <a:lstStyle/>
          <a:p>
            <a:pPr>
              <a:lnSpc>
                <a:spcPct val="120000"/>
              </a:lnSpc>
            </a:pPr>
            <a:r>
              <a:rPr lang="en-US" altLang="zh-CN" sz="3200" b="1">
                <a:solidFill>
                  <a:srgbClr val="0000FF"/>
                </a:solidFill>
                <a:latin typeface="Times New Roman" panose="02020603050405020304" pitchFamily="18" charset="0"/>
                <a:cs typeface="Times New Roman" panose="02020603050405020304" pitchFamily="18" charset="0"/>
              </a:rPr>
              <a:t>Predicative </a:t>
            </a:r>
            <a:r>
              <a:rPr lang="en-US" altLang="zh-CN" sz="3200" b="1">
                <a:latin typeface="Times New Roman" panose="02020603050405020304" pitchFamily="18" charset="0"/>
                <a:cs typeface="Times New Roman" panose="02020603050405020304" pitchFamily="18" charset="0"/>
              </a:rPr>
              <a:t>is after </a:t>
            </a:r>
            <a:r>
              <a:rPr lang="en-US" altLang="zh-CN" sz="3200" b="1">
                <a:solidFill>
                  <a:srgbClr val="FF0000"/>
                </a:solidFill>
                <a:latin typeface="Times New Roman" panose="02020603050405020304" pitchFamily="18" charset="0"/>
                <a:cs typeface="Times New Roman" panose="02020603050405020304" pitchFamily="18" charset="0"/>
              </a:rPr>
              <a:t>a linking verb </a:t>
            </a:r>
            <a:r>
              <a:rPr lang="en-US" altLang="zh-CN" sz="3200" b="1">
                <a:latin typeface="Times New Roman" panose="02020603050405020304" pitchFamily="18" charset="0"/>
                <a:cs typeface="Times New Roman" panose="02020603050405020304" pitchFamily="18" charset="0"/>
              </a:rPr>
              <a:t>to describe the </a:t>
            </a:r>
            <a:r>
              <a:rPr lang="en-US" altLang="zh-CN" sz="3200" b="1">
                <a:solidFill>
                  <a:srgbClr val="0000FF"/>
                </a:solidFill>
                <a:latin typeface="Times New Roman" panose="02020603050405020304" pitchFamily="18" charset="0"/>
                <a:cs typeface="Times New Roman" panose="02020603050405020304" pitchFamily="18" charset="0"/>
              </a:rPr>
              <a:t>nature</a:t>
            </a:r>
            <a:r>
              <a:rPr lang="en-US" altLang="zh-CN" sz="3200" b="1">
                <a:latin typeface="Times New Roman" panose="02020603050405020304" pitchFamily="18" charset="0"/>
                <a:cs typeface="Times New Roman" panose="02020603050405020304" pitchFamily="18" charset="0"/>
              </a:rPr>
              <a:t> and </a:t>
            </a:r>
            <a:r>
              <a:rPr lang="en-US" altLang="zh-CN" sz="3200" b="1">
                <a:solidFill>
                  <a:srgbClr val="0000FF"/>
                </a:solidFill>
                <a:latin typeface="Times New Roman" panose="02020603050405020304" pitchFamily="18" charset="0"/>
                <a:cs typeface="Times New Roman" panose="02020603050405020304" pitchFamily="18" charset="0"/>
              </a:rPr>
              <a:t>characteristics </a:t>
            </a:r>
            <a:r>
              <a:rPr lang="en-US" altLang="zh-CN" sz="3200" b="1">
                <a:latin typeface="Times New Roman" panose="02020603050405020304" pitchFamily="18" charset="0"/>
                <a:cs typeface="Times New Roman" panose="02020603050405020304" pitchFamily="18" charset="0"/>
              </a:rPr>
              <a:t>of the subject.</a:t>
            </a:r>
          </a:p>
        </p:txBody>
      </p:sp>
      <p:grpSp>
        <p:nvGrpSpPr>
          <p:cNvPr id="8" name="组合 7"/>
          <p:cNvGrpSpPr/>
          <p:nvPr>
            <p:custDataLst>
              <p:tags r:id="rId4"/>
            </p:custDataLst>
          </p:nvPr>
        </p:nvGrpSpPr>
        <p:grpSpPr>
          <a:xfrm>
            <a:off x="3287485" y="2579914"/>
            <a:ext cx="8447405" cy="2468880"/>
            <a:chOff x="3265713" y="2928257"/>
            <a:chExt cx="8447405" cy="2468880"/>
          </a:xfrm>
        </p:grpSpPr>
        <p:sp>
          <p:nvSpPr>
            <p:cNvPr id="4" name="椭圆形标注 3"/>
            <p:cNvSpPr/>
            <p:nvPr>
              <p:custDataLst>
                <p:tags r:id="rId7"/>
              </p:custDataLst>
            </p:nvPr>
          </p:nvSpPr>
          <p:spPr>
            <a:xfrm>
              <a:off x="3265713" y="2928257"/>
              <a:ext cx="8447405" cy="2054860"/>
            </a:xfrm>
            <a:prstGeom prst="wedgeEllipseCallout">
              <a:avLst>
                <a:gd name="adj1" fmla="val -15971"/>
                <a:gd name="adj2" fmla="val -79630"/>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3000" b="1">
                <a:latin typeface="Times New Roman" panose="02020603050405020304" pitchFamily="18" charset="0"/>
                <a:cs typeface="Times New Roman" panose="02020603050405020304" pitchFamily="18" charset="0"/>
              </a:endParaRPr>
            </a:p>
          </p:txBody>
        </p:sp>
        <p:sp>
          <p:nvSpPr>
            <p:cNvPr id="7" name="矩形 6"/>
            <p:cNvSpPr/>
            <p:nvPr>
              <p:custDataLst>
                <p:tags r:id="rId8"/>
              </p:custDataLst>
            </p:nvPr>
          </p:nvSpPr>
          <p:spPr>
            <a:xfrm>
              <a:off x="3881028" y="3144157"/>
              <a:ext cx="7772400" cy="2252980"/>
            </a:xfrm>
            <a:prstGeom prst="rect">
              <a:avLst/>
            </a:prstGeom>
          </p:spPr>
          <p:txBody>
            <a:bodyPr wrap="square">
              <a:noAutofit/>
            </a:bodyPr>
            <a:lstStyle/>
            <a:p>
              <a:pPr lvl="0"/>
              <a:r>
                <a:rPr lang="en-US" altLang="zh-CN" sz="3000" b="1">
                  <a:latin typeface="Times New Roman" panose="02020603050405020304" pitchFamily="18" charset="0"/>
                  <a:cs typeface="Times New Roman" panose="02020603050405020304" pitchFamily="18" charset="0"/>
                </a:rPr>
                <a:t>        </a:t>
              </a:r>
              <a:r>
                <a:rPr lang="en-US" altLang="zh-CN" sz="3200" b="1">
                  <a:solidFill>
                    <a:srgbClr val="FF0000"/>
                  </a:solidFill>
                  <a:latin typeface="Times New Roman" panose="02020603050405020304" pitchFamily="18" charset="0"/>
                  <a:cs typeface="Times New Roman" panose="02020603050405020304" pitchFamily="18" charset="0"/>
                </a:rPr>
                <a:t>A linking verb</a:t>
              </a:r>
              <a:r>
                <a:rPr lang="en-US" altLang="zh-CN" sz="3000" b="1">
                  <a:latin typeface="Times New Roman" panose="02020603050405020304" pitchFamily="18" charset="0"/>
                  <a:cs typeface="Times New Roman" panose="02020603050405020304" pitchFamily="18" charset="0"/>
                </a:rPr>
                <a:t> is a verb which </a:t>
              </a:r>
            </a:p>
            <a:p>
              <a:pPr indent="0">
                <a:buFont typeface="+mj-ea"/>
                <a:buNone/>
              </a:pPr>
              <a:r>
                <a:rPr lang="en-US" altLang="zh-CN" sz="3000" b="1">
                  <a:latin typeface="Times New Roman" panose="02020603050405020304" pitchFamily="18" charset="0"/>
                  <a:cs typeface="Times New Roman" panose="02020603050405020304" pitchFamily="18" charset="0"/>
                </a:rPr>
                <a:t>links the subject and the predicative.</a:t>
              </a:r>
            </a:p>
            <a:p>
              <a:pPr indent="0">
                <a:buFont typeface="+mj-ea"/>
                <a:buNone/>
              </a:pPr>
              <a:r>
                <a:rPr lang="zh-CN" altLang="en-US" sz="2400" b="1">
                  <a:latin typeface="Arial" panose="020B0604020202020204"/>
                </a:rPr>
                <a:t>系动</a:t>
              </a:r>
              <a:r>
                <a:rPr lang="zh-CN" altLang="en-US" sz="2400" b="1">
                  <a:latin typeface="Arial" panose="020B0604020202020204"/>
                  <a:sym typeface="+mn-ea"/>
                </a:rPr>
                <a:t>词的功能主要是把表语和它的主语联系在一起</a:t>
              </a:r>
              <a:endParaRPr lang="zh-CN" altLang="en-US" sz="2400" b="1">
                <a:latin typeface="Arial" panose="020B0604020202020204"/>
              </a:endParaRPr>
            </a:p>
            <a:p>
              <a:pPr lvl="0"/>
              <a:endParaRPr lang="en-US" altLang="zh-CN" sz="3000" b="1">
                <a:latin typeface="Times New Roman" panose="02020603050405020304" pitchFamily="18" charset="0"/>
                <a:cs typeface="Times New Roman" panose="02020603050405020304" pitchFamily="18" charset="0"/>
              </a:endParaRPr>
            </a:p>
            <a:p>
              <a:pPr lvl="0"/>
              <a:endParaRPr lang="en-US" altLang="zh-CN" sz="3000" b="1">
                <a:latin typeface="Times New Roman" panose="02020603050405020304" pitchFamily="18" charset="0"/>
                <a:cs typeface="Times New Roman" panose="02020603050405020304" pitchFamily="18" charset="0"/>
              </a:endParaRPr>
            </a:p>
            <a:p>
              <a:pPr lvl="0"/>
              <a:endParaRPr lang="en-US" altLang="zh-CN" sz="3000" b="1">
                <a:latin typeface="Times New Roman" panose="02020603050405020304" pitchFamily="18" charset="0"/>
                <a:cs typeface="Times New Roman" panose="02020603050405020304" pitchFamily="18" charset="0"/>
              </a:endParaRPr>
            </a:p>
            <a:p>
              <a:pPr lvl="0"/>
              <a:endParaRPr lang="zh-CN" altLang="en-US" sz="3000" b="1">
                <a:latin typeface="Times New Roman" panose="02020603050405020304" pitchFamily="18" charset="0"/>
                <a:cs typeface="Times New Roman" panose="02020603050405020304" pitchFamily="18" charset="0"/>
              </a:endParaRPr>
            </a:p>
          </p:txBody>
        </p:sp>
      </p:grpSp>
      <p:sp>
        <p:nvSpPr>
          <p:cNvPr id="9" name="文本框 8"/>
          <p:cNvSpPr txBox="1"/>
          <p:nvPr>
            <p:custDataLst>
              <p:tags r:id="rId5"/>
            </p:custDataLst>
          </p:nvPr>
        </p:nvSpPr>
        <p:spPr>
          <a:xfrm>
            <a:off x="767715" y="808355"/>
            <a:ext cx="11312525" cy="534035"/>
          </a:xfrm>
          <a:prstGeom prst="rect">
            <a:avLst/>
          </a:prstGeom>
          <a:noFill/>
        </p:spPr>
        <p:txBody>
          <a:bodyPr wrap="square" rtlCol="0">
            <a:spAutoFit/>
          </a:bodyPr>
          <a:lstStyle/>
          <a:p>
            <a:pPr indent="457200">
              <a:lnSpc>
                <a:spcPct val="120000"/>
              </a:lnSpc>
            </a:pPr>
            <a:r>
              <a:rPr lang="zh-CN" altLang="en-US" sz="2400" b="1">
                <a:solidFill>
                  <a:srgbClr val="FF0000"/>
                </a:solidFill>
                <a:latin typeface="Arial" panose="020B0604020202020204"/>
              </a:rPr>
              <a:t>表语</a:t>
            </a:r>
            <a:r>
              <a:rPr lang="zh-CN" altLang="en-US" sz="2400" b="1">
                <a:latin typeface="Arial" panose="020B0604020202020204"/>
              </a:rPr>
              <a:t>是说明</a:t>
            </a:r>
            <a:r>
              <a:rPr lang="zh-CN" altLang="en-US" sz="2400" b="1">
                <a:solidFill>
                  <a:srgbClr val="FF0000"/>
                </a:solidFill>
                <a:latin typeface="Arial" panose="020B0604020202020204"/>
              </a:rPr>
              <a:t>主语</a:t>
            </a:r>
            <a:r>
              <a:rPr lang="zh-CN" altLang="en-US" sz="2400" b="1">
                <a:latin typeface="Arial" panose="020B0604020202020204"/>
              </a:rPr>
              <a:t>的</a:t>
            </a:r>
            <a:r>
              <a:rPr lang="zh-CN" altLang="en-US" sz="2400" b="1">
                <a:solidFill>
                  <a:srgbClr val="FF0000"/>
                </a:solidFill>
                <a:latin typeface="Arial" panose="020B0604020202020204"/>
              </a:rPr>
              <a:t>身份、性质、特征</a:t>
            </a:r>
            <a:r>
              <a:rPr lang="zh-CN" altLang="en-US" sz="2400" b="1">
                <a:latin typeface="Arial" panose="020B0604020202020204"/>
              </a:rPr>
              <a:t>的，位于</a:t>
            </a:r>
            <a:r>
              <a:rPr lang="zh-CN" altLang="en-US" sz="2400" b="1">
                <a:latin typeface="Arial" panose="020B0604020202020204"/>
                <a:hlinkClick r:id="rId10"/>
              </a:rPr>
              <a:t>系动词</a:t>
            </a:r>
            <a:r>
              <a:rPr lang="zh-CN" altLang="en-US" sz="2400" b="1">
                <a:latin typeface="Arial" panose="020B0604020202020204"/>
              </a:rPr>
              <a:t>之后。</a:t>
            </a:r>
            <a:endParaRPr lang="en-US" altLang="zh-CN" sz="2400" b="1">
              <a:latin typeface="Times New Roman" panose="02020603050405020304" pitchFamily="18" charset="0"/>
              <a:cs typeface="Times New Roman" panose="02020603050405020304" pitchFamily="18" charset="0"/>
            </a:endParaRPr>
          </a:p>
        </p:txBody>
      </p:sp>
      <p:sp>
        <p:nvSpPr>
          <p:cNvPr id="11" name="文本框 1"/>
          <p:cNvSpPr txBox="1"/>
          <p:nvPr>
            <p:custDataLst>
              <p:tags r:id="rId6"/>
            </p:custDataLst>
          </p:nvPr>
        </p:nvSpPr>
        <p:spPr>
          <a:xfrm>
            <a:off x="893445" y="3883660"/>
            <a:ext cx="10971530" cy="2306955"/>
          </a:xfrm>
          <a:prstGeom prst="rect">
            <a:avLst/>
          </a:prstGeom>
          <a:noFill/>
        </p:spPr>
        <p:txBody>
          <a:bodyPr wrap="square" rtlCol="0">
            <a:spAutoFit/>
          </a:bodyPr>
          <a:lstStyle/>
          <a:p>
            <a:pPr marL="457200" indent="-457200">
              <a:buFont typeface="+mj-ea"/>
              <a:buAutoNum type="circleNumDbPlain"/>
            </a:pPr>
            <a:r>
              <a:rPr lang="zh-CN" altLang="en-US" sz="2400" b="1">
                <a:solidFill>
                  <a:srgbClr val="FF0000"/>
                </a:solidFill>
                <a:latin typeface="Times New Roman" panose="02020603050405020304" pitchFamily="18" charset="0"/>
                <a:cs typeface="Times New Roman" panose="02020603050405020304" pitchFamily="18" charset="0"/>
              </a:rPr>
              <a:t>一是：</a:t>
            </a:r>
            <a:r>
              <a:rPr lang="en-US" altLang="zh-CN" sz="2400" b="1">
                <a:solidFill>
                  <a:srgbClr val="FF0000"/>
                </a:solidFill>
                <a:latin typeface="Times New Roman" panose="02020603050405020304" pitchFamily="18" charset="0"/>
                <a:cs typeface="Times New Roman" panose="02020603050405020304" pitchFamily="18" charset="0"/>
              </a:rPr>
              <a:t>be</a:t>
            </a:r>
            <a:endParaRPr lang="zh-CN" altLang="en-US" sz="2400" b="1">
              <a:latin typeface="Arial" panose="020B0604020202020204"/>
            </a:endParaRPr>
          </a:p>
          <a:p>
            <a:pPr marL="457200" indent="-457200">
              <a:buFont typeface="+mj-ea"/>
              <a:buAutoNum type="circleNumDbPlain"/>
            </a:pPr>
            <a:r>
              <a:rPr lang="en-US" altLang="zh-CN" sz="2400" b="1" err="1">
                <a:solidFill>
                  <a:srgbClr val="FF0000"/>
                </a:solidFill>
                <a:latin typeface="Times New Roman" panose="02020603050405020304" pitchFamily="18" charset="0"/>
                <a:cs typeface="Times New Roman" panose="02020603050405020304" pitchFamily="18" charset="0"/>
              </a:rPr>
              <a:t>两似乎：seem, </a:t>
            </a:r>
            <a:r>
              <a:rPr lang="en-US" altLang="zh-CN" sz="2400" b="1">
                <a:solidFill>
                  <a:srgbClr val="FF0000"/>
                </a:solidFill>
                <a:latin typeface="Times New Roman" panose="02020603050405020304" pitchFamily="18" charset="0"/>
                <a:cs typeface="Times New Roman" panose="02020603050405020304" pitchFamily="18" charset="0"/>
              </a:rPr>
              <a:t>appear</a:t>
            </a:r>
          </a:p>
          <a:p>
            <a:pPr marL="457200" indent="-457200">
              <a:buFont typeface="+mj-ea"/>
              <a:buAutoNum type="circleNumDbPlain"/>
            </a:pPr>
            <a:r>
              <a:rPr lang="en-US" altLang="zh-CN" sz="2400" b="1" err="1">
                <a:solidFill>
                  <a:srgbClr val="FF0000"/>
                </a:solidFill>
                <a:latin typeface="Times New Roman" panose="02020603050405020304" pitchFamily="18" charset="0"/>
                <a:cs typeface="Times New Roman" panose="02020603050405020304" pitchFamily="18" charset="0"/>
              </a:rPr>
              <a:t>三保持：keep, stay, remain</a:t>
            </a:r>
          </a:p>
          <a:p>
            <a:pPr marL="457200" indent="-457200">
              <a:buFont typeface="+mj-ea"/>
              <a:buAutoNum type="circleNumDbPlain"/>
            </a:pPr>
            <a:r>
              <a:rPr lang="en-US" altLang="zh-CN" sz="2400" b="1" err="1">
                <a:solidFill>
                  <a:srgbClr val="FF0000"/>
                </a:solidFill>
                <a:latin typeface="Times New Roman" panose="02020603050405020304" pitchFamily="18" charset="0"/>
                <a:cs typeface="Times New Roman" panose="02020603050405020304" pitchFamily="18" charset="0"/>
              </a:rPr>
              <a:t>四变</a:t>
            </a:r>
            <a:r>
              <a:rPr lang="zh-CN" altLang="en-US" sz="2400" b="1">
                <a:solidFill>
                  <a:srgbClr val="FF0000"/>
                </a:solidFill>
                <a:latin typeface="Times New Roman" panose="02020603050405020304" pitchFamily="18" charset="0"/>
                <a:cs typeface="Times New Roman" panose="02020603050405020304" pitchFamily="18" charset="0"/>
              </a:rPr>
              <a:t>得</a:t>
            </a:r>
            <a:r>
              <a:rPr lang="en-US" altLang="zh-CN" sz="2400" b="1">
                <a:solidFill>
                  <a:srgbClr val="FF0000"/>
                </a:solidFill>
                <a:latin typeface="Times New Roman" panose="02020603050405020304" pitchFamily="18" charset="0"/>
                <a:cs typeface="Times New Roman" panose="02020603050405020304" pitchFamily="18" charset="0"/>
              </a:rPr>
              <a:t>：become, get, turn, go</a:t>
            </a:r>
          </a:p>
          <a:p>
            <a:pPr marL="457200" indent="-457200">
              <a:buFont typeface="+mj-ea"/>
              <a:buAutoNum type="circleNumDbPlain"/>
            </a:pPr>
            <a:r>
              <a:rPr lang="en-US" altLang="zh-CN" sz="2400" b="1" err="1">
                <a:solidFill>
                  <a:srgbClr val="FF0000"/>
                </a:solidFill>
                <a:latin typeface="Times New Roman" panose="02020603050405020304" pitchFamily="18" charset="0"/>
                <a:cs typeface="Times New Roman" panose="02020603050405020304" pitchFamily="18" charset="0"/>
              </a:rPr>
              <a:t>五感</a:t>
            </a:r>
            <a:r>
              <a:rPr lang="zh-CN" altLang="en-US" sz="2400" b="1">
                <a:solidFill>
                  <a:srgbClr val="FF0000"/>
                </a:solidFill>
                <a:latin typeface="Times New Roman" panose="02020603050405020304" pitchFamily="18" charset="0"/>
                <a:cs typeface="Times New Roman" panose="02020603050405020304" pitchFamily="18" charset="0"/>
              </a:rPr>
              <a:t>觉</a:t>
            </a:r>
            <a:r>
              <a:rPr lang="en-US" altLang="zh-CN" sz="2400" b="1">
                <a:solidFill>
                  <a:srgbClr val="FF0000"/>
                </a:solidFill>
                <a:latin typeface="Times New Roman" panose="02020603050405020304" pitchFamily="18" charset="0"/>
                <a:cs typeface="Times New Roman" panose="02020603050405020304" pitchFamily="18" charset="0"/>
              </a:rPr>
              <a:t>：look, smell, taste, sound, feel</a:t>
            </a:r>
          </a:p>
          <a:p>
            <a:pPr marL="457200" indent="-457200">
              <a:buFont typeface="+mj-ea"/>
              <a:buAutoNum type="circleNumDbPlain"/>
            </a:pPr>
            <a:r>
              <a:rPr lang="zh-CN" altLang="en-US" sz="2400" b="1">
                <a:solidFill>
                  <a:srgbClr val="FF0000"/>
                </a:solidFill>
                <a:latin typeface="Times New Roman" panose="02020603050405020304" pitchFamily="18" charset="0"/>
                <a:cs typeface="Times New Roman" panose="02020603050405020304" pitchFamily="18" charset="0"/>
              </a:rPr>
              <a:t>六</a:t>
            </a:r>
            <a:r>
              <a:rPr lang="en-US" altLang="zh-CN" sz="2400" b="1" err="1">
                <a:solidFill>
                  <a:srgbClr val="FF0000"/>
                </a:solidFill>
                <a:latin typeface="Times New Roman" panose="02020603050405020304" pitchFamily="18" charset="0"/>
                <a:cs typeface="Times New Roman" panose="02020603050405020304" pitchFamily="18" charset="0"/>
              </a:rPr>
              <a:t>证明：prove</a:t>
            </a:r>
            <a:endParaRPr lang="en-US" altLang="zh-CN" sz="2400" b="1">
              <a:solidFill>
                <a:srgbClr val="FF0000"/>
              </a:solidFill>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ircle(in)">
                                      <p:cBhvr>
                                        <p:cTn id="16" dur="75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1" grpId="0" uiExpand="1"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77500" lnSpcReduction="20000"/>
          </a:bodyPr>
          <a:lstStyle/>
          <a:p>
            <a:r>
              <a:rPr lang="en-US" altLang="zh-CN" sz="3600" b="1" dirty="0">
                <a:solidFill>
                  <a:srgbClr val="FF0000"/>
                </a:solidFill>
              </a:rPr>
              <a:t>10</a:t>
            </a:r>
            <a:r>
              <a:rPr lang="zh-CN" altLang="en-US" sz="3600" b="1" dirty="0">
                <a:solidFill>
                  <a:srgbClr val="FF0000"/>
                </a:solidFill>
              </a:rPr>
              <a:t>月卷</a:t>
            </a:r>
            <a:r>
              <a:rPr lang="en-US" altLang="zh-CN" sz="3600" b="1" dirty="0">
                <a:solidFill>
                  <a:srgbClr val="FF0000"/>
                </a:solidFill>
              </a:rPr>
              <a:t>1  consumer-driven society</a:t>
            </a:r>
            <a:r>
              <a:rPr lang="zh-CN" altLang="en-US" sz="3600" b="1" dirty="0">
                <a:solidFill>
                  <a:srgbClr val="FF0000"/>
                </a:solidFill>
              </a:rPr>
              <a:t>消费驱动的社会</a:t>
            </a:r>
            <a:endParaRPr lang="en-US" altLang="zh-CN" sz="3600" b="1" dirty="0">
              <a:solidFill>
                <a:srgbClr val="FF0000"/>
              </a:solidFill>
            </a:endParaRPr>
          </a:p>
          <a:p>
            <a:r>
              <a:rPr lang="en-US" altLang="zh-CN" sz="3600" b="1" dirty="0">
                <a:solidFill>
                  <a:srgbClr val="FF0000"/>
                </a:solidFill>
              </a:rPr>
              <a:t> credit card</a:t>
            </a:r>
            <a:r>
              <a:rPr lang="zh-CN" altLang="en-US" sz="3600" b="1" dirty="0">
                <a:solidFill>
                  <a:srgbClr val="FF0000"/>
                </a:solidFill>
              </a:rPr>
              <a:t>信用卡</a:t>
            </a:r>
            <a:r>
              <a:rPr lang="en-US" altLang="zh-CN" sz="3600" b="1" dirty="0">
                <a:solidFill>
                  <a:srgbClr val="FF0000"/>
                </a:solidFill>
              </a:rPr>
              <a:t>an essential financial tool</a:t>
            </a:r>
            <a:r>
              <a:rPr lang="zh-CN" altLang="zh-CN" sz="3600" b="1" dirty="0">
                <a:solidFill>
                  <a:srgbClr val="FF0000"/>
                </a:solidFill>
              </a:rPr>
              <a:t>必不可少的</a:t>
            </a:r>
            <a:r>
              <a:rPr lang="zh-CN" altLang="en-US" sz="3600" b="1" dirty="0">
                <a:solidFill>
                  <a:srgbClr val="FF0000"/>
                </a:solidFill>
              </a:rPr>
              <a:t>金融工具</a:t>
            </a:r>
            <a:r>
              <a:rPr lang="en-US" altLang="zh-CN" sz="3600" b="1" dirty="0">
                <a:solidFill>
                  <a:srgbClr val="FF0000"/>
                </a:solidFill>
              </a:rPr>
              <a:t> </a:t>
            </a:r>
          </a:p>
          <a:p>
            <a:r>
              <a:rPr lang="en-US" altLang="zh-CN" sz="3600" b="1" dirty="0">
                <a:solidFill>
                  <a:srgbClr val="FF0000"/>
                </a:solidFill>
              </a:rPr>
              <a:t>offer convenience, flexibility, and rewards</a:t>
            </a:r>
            <a:r>
              <a:rPr lang="zh-CN" altLang="zh-CN" sz="3600" b="1" dirty="0">
                <a:solidFill>
                  <a:srgbClr val="FF0000"/>
                </a:solidFill>
              </a:rPr>
              <a:t>提供便利性、灵活性和奖励</a:t>
            </a:r>
            <a:endParaRPr lang="en-US" altLang="zh-CN" sz="3600" b="1" dirty="0">
              <a:solidFill>
                <a:srgbClr val="FF0000"/>
              </a:solidFill>
            </a:endParaRPr>
          </a:p>
          <a:p>
            <a:r>
              <a:rPr lang="en-US" altLang="zh-CN" sz="3600" b="1" dirty="0">
                <a:solidFill>
                  <a:srgbClr val="FF0000"/>
                </a:solidFill>
              </a:rPr>
              <a:t> minimum payment</a:t>
            </a:r>
            <a:r>
              <a:rPr lang="zh-CN" altLang="en-US" sz="3600" b="1" dirty="0">
                <a:solidFill>
                  <a:srgbClr val="FF0000"/>
                </a:solidFill>
              </a:rPr>
              <a:t>最低还款额</a:t>
            </a:r>
            <a:endParaRPr lang="en-US" altLang="zh-CN" sz="3600" b="1" dirty="0">
              <a:solidFill>
                <a:srgbClr val="FF0000"/>
              </a:solidFill>
            </a:endParaRPr>
          </a:p>
          <a:p>
            <a:r>
              <a:rPr lang="en-US" altLang="zh-CN" sz="3600" b="1" dirty="0">
                <a:solidFill>
                  <a:srgbClr val="FF0000"/>
                </a:solidFill>
              </a:rPr>
              <a:t> </a:t>
            </a:r>
            <a:r>
              <a:rPr lang="en-US" altLang="zh-CN" sz="3600" b="1" dirty="0"/>
              <a:t>a mirage</a:t>
            </a:r>
            <a:r>
              <a:rPr lang="zh-CN" altLang="en-US" sz="3600" b="1" dirty="0"/>
              <a:t>海市蜃楼</a:t>
            </a:r>
            <a:r>
              <a:rPr lang="en-US" altLang="zh-CN" dirty="0"/>
              <a:t>This </a:t>
            </a:r>
            <a:r>
              <a:rPr lang="en-US" altLang="zh-CN" b="1" dirty="0">
                <a:highlight>
                  <a:srgbClr val="FFFF00"/>
                </a:highlight>
              </a:rPr>
              <a:t>seemingly</a:t>
            </a:r>
            <a:r>
              <a:rPr lang="en-US" altLang="zh-CN" dirty="0"/>
              <a:t> manageable sum can make cardholders form a false sense of security, leading them to believe that they’re making progress toward paying off their debt(</a:t>
            </a:r>
            <a:r>
              <a:rPr lang="zh-CN" altLang="zh-CN" dirty="0"/>
              <a:t>这笔</a:t>
            </a:r>
            <a:r>
              <a:rPr lang="zh-CN" altLang="zh-CN" b="1" dirty="0"/>
              <a:t>看似</a:t>
            </a:r>
            <a:r>
              <a:rPr lang="zh-CN" altLang="zh-CN" dirty="0"/>
              <a:t>可控的金额可能会让持卡人形成一种虚假的安全感，让他们相信自己在偿还债务方面取得了进展</a:t>
            </a:r>
            <a:r>
              <a:rPr lang="en-US" altLang="zh-CN" sz="3600" b="1" dirty="0">
                <a:solidFill>
                  <a:srgbClr val="FF0000"/>
                </a:solidFill>
              </a:rPr>
              <a:t>--17B </a:t>
            </a:r>
            <a:r>
              <a:rPr lang="en-US" altLang="zh-CN" sz="3600" b="1" u="sng" dirty="0">
                <a:solidFill>
                  <a:srgbClr val="FF0000"/>
                </a:solidFill>
                <a:highlight>
                  <a:srgbClr val="FFFF00"/>
                </a:highlight>
              </a:rPr>
              <a:t>Actually,</a:t>
            </a:r>
            <a:r>
              <a:rPr lang="zh-CN" altLang="en-US" sz="3600" b="1" u="sng" dirty="0">
                <a:solidFill>
                  <a:srgbClr val="FF0000"/>
                </a:solidFill>
                <a:highlight>
                  <a:srgbClr val="FFFF00"/>
                </a:highlight>
              </a:rPr>
              <a:t> </a:t>
            </a:r>
            <a:r>
              <a:rPr lang="en-US" altLang="zh-CN" sz="3600" b="1" u="sng" dirty="0">
                <a:solidFill>
                  <a:srgbClr val="FF0000"/>
                </a:solidFill>
                <a:highlight>
                  <a:srgbClr val="FFFF00"/>
                </a:highlight>
              </a:rPr>
              <a:t>the reality </a:t>
            </a:r>
            <a:r>
              <a:rPr lang="en-US" altLang="zh-CN" sz="3600" b="1" dirty="0"/>
              <a:t>is much more concerning.</a:t>
            </a:r>
            <a:r>
              <a:rPr lang="zh-CN" altLang="en-US" dirty="0"/>
              <a:t>事实上，现实更令人担忧。</a:t>
            </a:r>
            <a:endParaRPr lang="en-US" altLang="zh-CN" dirty="0"/>
          </a:p>
          <a:p>
            <a:r>
              <a:rPr lang="en-US" altLang="zh-CN" sz="3600" b="1" dirty="0">
                <a:solidFill>
                  <a:srgbClr val="FF0000"/>
                </a:solidFill>
              </a:rPr>
              <a:t> far from</a:t>
            </a:r>
            <a:r>
              <a:rPr lang="zh-CN" altLang="en-US" sz="3600" b="1" dirty="0">
                <a:solidFill>
                  <a:srgbClr val="FF0000"/>
                </a:solidFill>
              </a:rPr>
              <a:t> </a:t>
            </a:r>
            <a:r>
              <a:rPr lang="en-US" altLang="zh-CN" sz="3600" b="1" dirty="0">
                <a:solidFill>
                  <a:srgbClr val="FF0000"/>
                </a:solidFill>
              </a:rPr>
              <a:t>our</a:t>
            </a:r>
            <a:r>
              <a:rPr lang="zh-CN" altLang="en-US" sz="3600" b="1" dirty="0">
                <a:solidFill>
                  <a:srgbClr val="FF0000"/>
                </a:solidFill>
              </a:rPr>
              <a:t> </a:t>
            </a:r>
            <a:r>
              <a:rPr lang="en-US" altLang="zh-CN" sz="3600" b="1" dirty="0">
                <a:solidFill>
                  <a:srgbClr val="FF0000"/>
                </a:solidFill>
              </a:rPr>
              <a:t>expectations</a:t>
            </a:r>
            <a:r>
              <a:rPr lang="zh-CN" altLang="en-US" sz="3600" b="1" dirty="0">
                <a:solidFill>
                  <a:srgbClr val="FF0000"/>
                </a:solidFill>
              </a:rPr>
              <a:t>与我们的期望相去甚远</a:t>
            </a:r>
            <a:endParaRPr lang="en-US" altLang="zh-CN" sz="3600" b="1" dirty="0">
              <a:solidFill>
                <a:srgbClr val="FF0000"/>
              </a:solidFill>
            </a:endParaRPr>
          </a:p>
          <a:p>
            <a:r>
              <a:rPr lang="en-US" altLang="zh-CN" sz="3600" b="1" dirty="0">
                <a:solidFill>
                  <a:srgbClr val="FF0000"/>
                </a:solidFill>
              </a:rPr>
              <a:t> barely cover the interest</a:t>
            </a:r>
            <a:r>
              <a:rPr lang="zh-CN" altLang="en-US" sz="3600" b="1" dirty="0">
                <a:solidFill>
                  <a:srgbClr val="FF0000"/>
                </a:solidFill>
              </a:rPr>
              <a:t>几乎无法支付利息</a:t>
            </a:r>
            <a:endParaRPr lang="en-US" altLang="zh-CN" sz="3600" b="1" dirty="0">
              <a:solidFill>
                <a:srgbClr val="FF0000"/>
              </a:solidFill>
            </a:endParaRPr>
          </a:p>
          <a:p>
            <a:r>
              <a:rPr lang="en-US" altLang="zh-CN" sz="3600" b="1" dirty="0">
                <a:solidFill>
                  <a:srgbClr val="FF0000"/>
                </a:solidFill>
              </a:rPr>
              <a:t> balance n.</a:t>
            </a:r>
            <a:r>
              <a:rPr lang="zh-CN" altLang="en-US" sz="3600" b="1" dirty="0">
                <a:solidFill>
                  <a:srgbClr val="FF0000"/>
                </a:solidFill>
              </a:rPr>
              <a:t>余额</a:t>
            </a:r>
            <a:r>
              <a:rPr lang="en-US" altLang="zh-CN" sz="3600" b="1" dirty="0">
                <a:solidFill>
                  <a:srgbClr val="FF0000"/>
                </a:solidFill>
              </a:rPr>
              <a:t>check your bank balance; </a:t>
            </a:r>
            <a:r>
              <a:rPr lang="zh-CN" altLang="en-US" sz="3600" b="1" dirty="0">
                <a:solidFill>
                  <a:srgbClr val="FF0000"/>
                </a:solidFill>
              </a:rPr>
              <a:t>结欠</a:t>
            </a:r>
            <a:r>
              <a:rPr lang="en-US" altLang="zh-CN" sz="3600" b="1" dirty="0">
                <a:solidFill>
                  <a:srgbClr val="FF0000"/>
                </a:solidFill>
              </a:rPr>
              <a:t>/</a:t>
            </a:r>
            <a:r>
              <a:rPr lang="zh-CN" altLang="en-US" sz="3600" b="1" dirty="0">
                <a:solidFill>
                  <a:srgbClr val="FF0000"/>
                </a:solidFill>
              </a:rPr>
              <a:t>未偿还余额</a:t>
            </a:r>
            <a:endParaRPr lang="en-US" altLang="zh-CN" sz="3600" b="1" dirty="0">
              <a:solidFill>
                <a:srgbClr val="FF0000"/>
              </a:solidFill>
            </a:endParaRPr>
          </a:p>
          <a:p>
            <a:r>
              <a:rPr lang="en-US" altLang="zh-CN" sz="3600" b="1" dirty="0">
                <a:solidFill>
                  <a:srgbClr val="FF0000"/>
                </a:solidFill>
              </a:rPr>
              <a:t>The balance </a:t>
            </a:r>
            <a:r>
              <a:rPr lang="en-US" altLang="zh-CN" sz="3600" b="1" dirty="0"/>
              <a:t>of $500 must be paid within 90 days.500</a:t>
            </a:r>
            <a:r>
              <a:rPr lang="zh-CN" altLang="en-US" sz="3600" b="1" dirty="0"/>
              <a:t>元</a:t>
            </a:r>
            <a:r>
              <a:rPr lang="zh-CN" altLang="en-US" sz="3600" b="1" dirty="0">
                <a:solidFill>
                  <a:srgbClr val="FF0000"/>
                </a:solidFill>
              </a:rPr>
              <a:t>结欠款</a:t>
            </a:r>
            <a:r>
              <a:rPr lang="zh-CN" altLang="en-US" sz="3600" b="1" dirty="0"/>
              <a:t>必须于</a:t>
            </a:r>
            <a:r>
              <a:rPr lang="en-US" altLang="zh-CN" sz="3600" b="1" dirty="0"/>
              <a:t>90</a:t>
            </a:r>
            <a:r>
              <a:rPr lang="zh-CN" altLang="en-US" sz="3600" b="1" dirty="0"/>
              <a:t>天之内付清</a:t>
            </a:r>
            <a:r>
              <a:rPr lang="zh-CN" altLang="en-US" sz="3600" b="1" dirty="0">
                <a:solidFill>
                  <a:srgbClr val="FF0000"/>
                </a:solidFill>
              </a:rPr>
              <a:t>。</a:t>
            </a:r>
            <a:endParaRPr lang="en-US" altLang="zh-CN" sz="3600" b="1" dirty="0">
              <a:solidFill>
                <a:srgbClr val="FF0000"/>
              </a:solidFill>
            </a:endParaRPr>
          </a:p>
          <a:p>
            <a:r>
              <a:rPr lang="en-US" altLang="zh-CN" sz="3600" b="1" dirty="0">
                <a:solidFill>
                  <a:srgbClr val="FF0000"/>
                </a:solidFill>
              </a:rPr>
              <a:t> let alone reduce the principal amount owed</a:t>
            </a:r>
            <a:r>
              <a:rPr lang="zh-CN" altLang="en-US" sz="3600" b="1" dirty="0">
                <a:solidFill>
                  <a:srgbClr val="FF0000"/>
                </a:solidFill>
              </a:rPr>
              <a:t>更不用说减少所欠的本金</a:t>
            </a:r>
            <a:endParaRPr lang="en-US" altLang="zh-CN" sz="3600" b="1" dirty="0">
              <a:solidFill>
                <a:srgbClr val="FF0000"/>
              </a:solidFill>
            </a:endParaRPr>
          </a:p>
          <a:p>
            <a:r>
              <a:rPr lang="en-US" altLang="zh-CN" sz="3600" b="1" dirty="0">
                <a:solidFill>
                  <a:srgbClr val="FF0000"/>
                </a:solidFill>
              </a:rPr>
              <a:t> apply relatively high interest rates</a:t>
            </a:r>
            <a:r>
              <a:rPr lang="zh-CN" altLang="en-US" sz="3600" b="1" dirty="0">
                <a:solidFill>
                  <a:srgbClr val="FF0000"/>
                </a:solidFill>
              </a:rPr>
              <a:t>实施执行相对较高的利率</a:t>
            </a:r>
            <a:endParaRPr lang="en-US" altLang="zh-CN" sz="3600" b="1" dirty="0">
              <a:solidFill>
                <a:srgbClr val="FF0000"/>
              </a:solidFill>
            </a:endParaRPr>
          </a:p>
          <a:p>
            <a:r>
              <a:rPr lang="en-US" altLang="zh-CN" sz="3600" b="1" dirty="0">
                <a:solidFill>
                  <a:srgbClr val="FF0000"/>
                </a:solidFill>
              </a:rPr>
              <a:t> 19.a snowball effect</a:t>
            </a:r>
            <a:r>
              <a:rPr lang="zh-CN" altLang="en-US" sz="3600" b="1" dirty="0">
                <a:solidFill>
                  <a:srgbClr val="FF0000"/>
                </a:solidFill>
              </a:rPr>
              <a:t>连锁反应</a:t>
            </a:r>
            <a:r>
              <a:rPr lang="en-US" altLang="zh-CN" sz="3600" b="1" dirty="0">
                <a:solidFill>
                  <a:srgbClr val="FF0000"/>
                </a:solidFill>
              </a:rPr>
              <a:t>As the cycle continues,</a:t>
            </a:r>
            <a:r>
              <a:rPr lang="zh-CN" altLang="en-US" dirty="0"/>
              <a:t>随着循环的继续</a:t>
            </a:r>
            <a:endParaRPr lang="en-US" altLang="zh-CN" dirty="0"/>
          </a:p>
          <a:p>
            <a:r>
              <a:rPr lang="en-US" altLang="zh-CN" sz="3600" b="1" dirty="0">
                <a:solidFill>
                  <a:srgbClr val="FF0000"/>
                </a:solidFill>
              </a:rPr>
              <a:t> psychological problems</a:t>
            </a:r>
            <a:r>
              <a:rPr lang="zh-CN" altLang="en-US" sz="3600" b="1" dirty="0">
                <a:solidFill>
                  <a:srgbClr val="FF0000"/>
                </a:solidFill>
              </a:rPr>
              <a:t>心理问题 </a:t>
            </a:r>
            <a:r>
              <a:rPr lang="en-US" altLang="zh-CN" sz="3600" b="1" dirty="0">
                <a:solidFill>
                  <a:srgbClr val="FF0000"/>
                </a:solidFill>
              </a:rPr>
              <a:t>in debt</a:t>
            </a:r>
            <a:r>
              <a:rPr lang="zh-CN" altLang="en-US" sz="3600" b="1" dirty="0">
                <a:solidFill>
                  <a:srgbClr val="FF0000"/>
                </a:solidFill>
              </a:rPr>
              <a:t>欠债</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en-US" altLang="zh-CN" sz="3600" b="1" dirty="0">
                <a:solidFill>
                  <a:srgbClr val="FF0000"/>
                </a:solidFill>
              </a:rPr>
              <a:t> physical fitness</a:t>
            </a:r>
            <a:r>
              <a:rPr lang="zh-CN" altLang="en-US" sz="3600" b="1" dirty="0">
                <a:solidFill>
                  <a:srgbClr val="FF0000"/>
                </a:solidFill>
              </a:rPr>
              <a:t>身体健康 </a:t>
            </a:r>
            <a:r>
              <a:rPr lang="en-US" altLang="zh-CN" sz="3600" b="1" dirty="0">
                <a:solidFill>
                  <a:srgbClr val="FF0000"/>
                </a:solidFill>
              </a:rPr>
              <a:t>fitness equipment</a:t>
            </a:r>
            <a:r>
              <a:rPr lang="zh-CN" altLang="en-US" sz="3600" b="1" dirty="0">
                <a:solidFill>
                  <a:srgbClr val="FF0000"/>
                </a:solidFill>
              </a:rPr>
              <a:t>健身器材</a:t>
            </a:r>
            <a:endParaRPr lang="en-US" altLang="zh-CN" sz="3600" b="1" dirty="0">
              <a:solidFill>
                <a:srgbClr val="FF0000"/>
              </a:solidFill>
            </a:endParaRPr>
          </a:p>
          <a:p>
            <a:r>
              <a:rPr lang="en-US" altLang="zh-CN" sz="3600" b="1" dirty="0">
                <a:solidFill>
                  <a:srgbClr val="FF0000"/>
                </a:solidFill>
              </a:rPr>
              <a:t> welcoming</a:t>
            </a:r>
            <a:r>
              <a:rPr lang="zh-CN" altLang="en-US" sz="3600" b="1" dirty="0">
                <a:solidFill>
                  <a:srgbClr val="FF0000"/>
                </a:solidFill>
              </a:rPr>
              <a:t>人情友好的</a:t>
            </a:r>
            <a:r>
              <a:rPr lang="en-US" altLang="zh-CN" sz="3600" b="1" dirty="0">
                <a:solidFill>
                  <a:srgbClr val="FF0000"/>
                </a:solidFill>
              </a:rPr>
              <a:t>;</a:t>
            </a:r>
            <a:r>
              <a:rPr lang="zh-CN" altLang="en-US" sz="3600" b="1" dirty="0">
                <a:solidFill>
                  <a:srgbClr val="FF0000"/>
                </a:solidFill>
              </a:rPr>
              <a:t>令人感到舒适的</a:t>
            </a:r>
            <a:endParaRPr lang="en-US" altLang="zh-CN" sz="3600" b="1" dirty="0">
              <a:solidFill>
                <a:srgbClr val="FF0000"/>
              </a:solidFill>
            </a:endParaRPr>
          </a:p>
          <a:p>
            <a:r>
              <a:rPr lang="en-US" altLang="zh-CN" sz="3600" b="1" dirty="0">
                <a:solidFill>
                  <a:srgbClr val="FF0000"/>
                </a:solidFill>
              </a:rPr>
              <a:t> body diversity</a:t>
            </a:r>
            <a:r>
              <a:rPr lang="zh-CN" altLang="en-US" sz="3600" b="1" dirty="0">
                <a:solidFill>
                  <a:srgbClr val="FF0000"/>
                </a:solidFill>
              </a:rPr>
              <a:t>身体多样性</a:t>
            </a:r>
            <a:endParaRPr lang="en-US" altLang="zh-CN" sz="3600" b="1" dirty="0">
              <a:solidFill>
                <a:srgbClr val="FF0000"/>
              </a:solidFill>
            </a:endParaRPr>
          </a:p>
          <a:p>
            <a:r>
              <a:rPr lang="en-US" altLang="zh-CN" sz="3600" b="1" dirty="0">
                <a:solidFill>
                  <a:srgbClr val="FF0000"/>
                </a:solidFill>
              </a:rPr>
              <a:t> model</a:t>
            </a:r>
            <a:r>
              <a:rPr lang="zh-CN" altLang="en-US" sz="3600" b="1" dirty="0">
                <a:solidFill>
                  <a:srgbClr val="FF0000"/>
                </a:solidFill>
              </a:rPr>
              <a:t>模特</a:t>
            </a:r>
            <a:r>
              <a:rPr lang="en-US" altLang="zh-CN" sz="3600" b="1" dirty="0">
                <a:solidFill>
                  <a:srgbClr val="FF0000"/>
                </a:solidFill>
              </a:rPr>
              <a:t>;</a:t>
            </a:r>
            <a:r>
              <a:rPr lang="zh-CN" altLang="en-US" sz="3600" b="1" dirty="0">
                <a:solidFill>
                  <a:srgbClr val="FF0000"/>
                </a:solidFill>
              </a:rPr>
              <a:t>模范</a:t>
            </a:r>
            <a:r>
              <a:rPr lang="en-US" altLang="zh-CN" sz="3600" b="1" dirty="0">
                <a:solidFill>
                  <a:srgbClr val="FF0000"/>
                </a:solidFill>
              </a:rPr>
              <a:t>  a</a:t>
            </a:r>
            <a:r>
              <a:rPr lang="zh-CN" altLang="en-US" sz="3600" b="1" dirty="0">
                <a:solidFill>
                  <a:srgbClr val="FF0000"/>
                </a:solidFill>
              </a:rPr>
              <a:t> </a:t>
            </a:r>
            <a:r>
              <a:rPr lang="en-US" altLang="zh-CN" sz="3600" b="1" dirty="0">
                <a:solidFill>
                  <a:srgbClr val="FF0000"/>
                </a:solidFill>
              </a:rPr>
              <a:t>disability advocate</a:t>
            </a:r>
            <a:r>
              <a:rPr lang="zh-CN" altLang="en-US" dirty="0"/>
              <a:t>残疾人权益倡导者</a:t>
            </a:r>
            <a:endParaRPr lang="en-US" altLang="zh-CN" sz="3600" b="1" dirty="0">
              <a:solidFill>
                <a:srgbClr val="FF0000"/>
              </a:solidFill>
            </a:endParaRPr>
          </a:p>
          <a:p>
            <a:r>
              <a:rPr lang="en-US" altLang="zh-CN" sz="3600" b="1" dirty="0">
                <a:solidFill>
                  <a:srgbClr val="FF0000"/>
                </a:solidFill>
              </a:rPr>
              <a:t> resolve/attempt to do</a:t>
            </a:r>
            <a:r>
              <a:rPr lang="zh-CN" altLang="en-US" sz="3600" b="1" dirty="0">
                <a:solidFill>
                  <a:srgbClr val="FF0000"/>
                </a:solidFill>
              </a:rPr>
              <a:t>决心</a:t>
            </a:r>
            <a:r>
              <a:rPr lang="en-US" altLang="zh-CN" sz="3600" b="1" dirty="0">
                <a:solidFill>
                  <a:srgbClr val="FF0000"/>
                </a:solidFill>
              </a:rPr>
              <a:t>/</a:t>
            </a:r>
            <a:r>
              <a:rPr lang="zh-CN" altLang="en-US" sz="3600" b="1" dirty="0">
                <a:solidFill>
                  <a:srgbClr val="FF0000"/>
                </a:solidFill>
              </a:rPr>
              <a:t>尝试做</a:t>
            </a:r>
            <a:endParaRPr lang="en-US" altLang="zh-CN" sz="3600" b="1" dirty="0">
              <a:solidFill>
                <a:srgbClr val="FF0000"/>
              </a:solidFill>
            </a:endParaRPr>
          </a:p>
          <a:p>
            <a:r>
              <a:rPr lang="en-US" altLang="zh-CN" sz="3600" b="1" dirty="0">
                <a:solidFill>
                  <a:srgbClr val="FF0000"/>
                </a:solidFill>
              </a:rPr>
              <a:t> refuse to do</a:t>
            </a:r>
            <a:r>
              <a:rPr lang="zh-CN" altLang="en-US" sz="3600" b="1" dirty="0">
                <a:solidFill>
                  <a:srgbClr val="FF0000"/>
                </a:solidFill>
              </a:rPr>
              <a:t>拒绝做</a:t>
            </a:r>
            <a:r>
              <a:rPr lang="en-US" altLang="zh-CN" sz="3600" b="1" dirty="0">
                <a:solidFill>
                  <a:srgbClr val="FF0000"/>
                </a:solidFill>
              </a:rPr>
              <a:t> hold back</a:t>
            </a:r>
            <a:r>
              <a:rPr lang="zh-CN" altLang="en-US" sz="3600" b="1" dirty="0">
                <a:solidFill>
                  <a:srgbClr val="FF0000"/>
                </a:solidFill>
              </a:rPr>
              <a:t>阻止抑制隐瞒</a:t>
            </a:r>
            <a:endParaRPr lang="en-US" altLang="zh-CN" sz="3600" b="1" dirty="0">
              <a:solidFill>
                <a:srgbClr val="FF0000"/>
              </a:solidFill>
            </a:endParaRPr>
          </a:p>
          <a:p>
            <a:r>
              <a:rPr lang="en-US" altLang="zh-CN" sz="3600" b="1" dirty="0">
                <a:solidFill>
                  <a:srgbClr val="FF0000"/>
                </a:solidFill>
              </a:rPr>
              <a:t> an incredible source of strength</a:t>
            </a:r>
            <a:r>
              <a:rPr lang="zh-CN" altLang="en-US" dirty="0"/>
              <a:t>不可思议的力量源泉</a:t>
            </a:r>
            <a:endParaRPr lang="en-US" altLang="zh-CN" dirty="0"/>
          </a:p>
          <a:p>
            <a:r>
              <a:rPr lang="en-US" altLang="zh-CN" sz="3600" b="1" dirty="0">
                <a:solidFill>
                  <a:srgbClr val="FF0000"/>
                </a:solidFill>
              </a:rPr>
              <a:t> initially</a:t>
            </a:r>
            <a:r>
              <a:rPr lang="zh-CN" altLang="en-US" sz="3600" b="1" dirty="0">
                <a:solidFill>
                  <a:srgbClr val="FF0000"/>
                </a:solidFill>
              </a:rPr>
              <a:t>起初</a:t>
            </a:r>
            <a:r>
              <a:rPr lang="en-US" altLang="zh-CN" sz="3600" b="1" dirty="0">
                <a:solidFill>
                  <a:srgbClr val="FF0000"/>
                </a:solidFill>
              </a:rPr>
              <a:t>out of place</a:t>
            </a:r>
            <a:r>
              <a:rPr lang="zh-CN" altLang="en-US" sz="3600" b="1" dirty="0">
                <a:solidFill>
                  <a:srgbClr val="FF0000"/>
                </a:solidFill>
              </a:rPr>
              <a:t>不适当的</a:t>
            </a:r>
            <a:r>
              <a:rPr lang="en-US" altLang="zh-CN" sz="3600" b="1" dirty="0">
                <a:solidFill>
                  <a:srgbClr val="FF0000"/>
                </a:solidFill>
              </a:rPr>
              <a:t>;</a:t>
            </a:r>
            <a:r>
              <a:rPr lang="zh-CN" altLang="en-US" sz="3600" b="1" dirty="0">
                <a:solidFill>
                  <a:srgbClr val="FF0000"/>
                </a:solidFill>
              </a:rPr>
              <a:t>不协调的</a:t>
            </a:r>
            <a:endParaRPr lang="en-US" altLang="zh-CN" sz="3600" b="1" dirty="0">
              <a:solidFill>
                <a:srgbClr val="FF0000"/>
              </a:solidFill>
            </a:endParaRPr>
          </a:p>
          <a:p>
            <a:r>
              <a:rPr lang="en-US" altLang="zh-CN" sz="3600" b="1" dirty="0">
                <a:solidFill>
                  <a:srgbClr val="FF0000"/>
                </a:solidFill>
              </a:rPr>
              <a:t> in the case</a:t>
            </a:r>
            <a:r>
              <a:rPr lang="zh-CN" altLang="en-US" sz="3600" b="1" dirty="0">
                <a:solidFill>
                  <a:srgbClr val="FF0000"/>
                </a:solidFill>
              </a:rPr>
              <a:t>在</a:t>
            </a:r>
            <a:r>
              <a:rPr lang="en-US" altLang="zh-CN" sz="3600" b="1" dirty="0">
                <a:solidFill>
                  <a:srgbClr val="FF0000"/>
                </a:solidFill>
              </a:rPr>
              <a:t>…</a:t>
            </a:r>
            <a:r>
              <a:rPr lang="zh-CN" altLang="en-US" sz="3600" b="1" dirty="0">
                <a:solidFill>
                  <a:srgbClr val="FF0000"/>
                </a:solidFill>
              </a:rPr>
              <a:t>情况下</a:t>
            </a:r>
            <a:r>
              <a:rPr lang="en-US" altLang="zh-CN" sz="3600" b="1" dirty="0">
                <a:solidFill>
                  <a:srgbClr val="FF0000"/>
                </a:solidFill>
              </a:rPr>
              <a:t> in the way</a:t>
            </a:r>
            <a:r>
              <a:rPr lang="zh-CN" altLang="en-US" sz="3600" b="1" dirty="0">
                <a:solidFill>
                  <a:srgbClr val="FF0000"/>
                </a:solidFill>
              </a:rPr>
              <a:t>挡道</a:t>
            </a:r>
            <a:r>
              <a:rPr lang="en-US" altLang="zh-CN" sz="3600" b="1" dirty="0">
                <a:solidFill>
                  <a:srgbClr val="FF0000"/>
                </a:solidFill>
              </a:rPr>
              <a:t>out of sight</a:t>
            </a:r>
            <a:r>
              <a:rPr lang="zh-CN" altLang="en-US" sz="3600" b="1" dirty="0">
                <a:solidFill>
                  <a:srgbClr val="FF0000"/>
                </a:solidFill>
              </a:rPr>
              <a:t>看不见</a:t>
            </a:r>
            <a:endParaRPr lang="en-US" altLang="zh-CN" sz="3600" b="1" dirty="0">
              <a:solidFill>
                <a:srgbClr val="FF0000"/>
              </a:solidFill>
            </a:endParaRPr>
          </a:p>
          <a:p>
            <a:r>
              <a:rPr lang="en-US" altLang="zh-CN" sz="3600" b="1" dirty="0">
                <a:solidFill>
                  <a:srgbClr val="FF0000"/>
                </a:solidFill>
              </a:rPr>
              <a:t> handle a challenge</a:t>
            </a:r>
            <a:r>
              <a:rPr lang="zh-CN" altLang="en-US" sz="3600" b="1" dirty="0">
                <a:solidFill>
                  <a:srgbClr val="FF0000"/>
                </a:solidFill>
              </a:rPr>
              <a:t>应对挑战</a:t>
            </a:r>
            <a:endParaRPr lang="en-US" altLang="zh-CN" sz="3600" b="1" dirty="0">
              <a:solidFill>
                <a:srgbClr val="FF0000"/>
              </a:solidFill>
            </a:endParaRPr>
          </a:p>
          <a:p>
            <a:r>
              <a:rPr lang="en-US" altLang="zh-CN" sz="3600" b="1" dirty="0">
                <a:solidFill>
                  <a:srgbClr val="FF0000"/>
                </a:solidFill>
              </a:rPr>
              <a:t> reject</a:t>
            </a:r>
            <a:r>
              <a:rPr lang="zh-CN" altLang="en-US" sz="3600" b="1" dirty="0">
                <a:solidFill>
                  <a:srgbClr val="FF0000"/>
                </a:solidFill>
              </a:rPr>
              <a:t>拒绝接受不予考虑 </a:t>
            </a:r>
            <a:r>
              <a:rPr lang="en-US" altLang="zh-CN" sz="3600" b="1" dirty="0">
                <a:solidFill>
                  <a:srgbClr val="FF0000"/>
                </a:solidFill>
              </a:rPr>
              <a:t>issue</a:t>
            </a:r>
            <a:r>
              <a:rPr lang="zh-CN" altLang="en-US" sz="3600" b="1" dirty="0">
                <a:solidFill>
                  <a:srgbClr val="FF0000"/>
                </a:solidFill>
              </a:rPr>
              <a:t>发表</a:t>
            </a:r>
            <a:r>
              <a:rPr lang="en-US" altLang="zh-CN" sz="3600" b="1" dirty="0">
                <a:solidFill>
                  <a:srgbClr val="FF0000"/>
                </a:solidFill>
              </a:rPr>
              <a:t>/</a:t>
            </a:r>
            <a:r>
              <a:rPr lang="zh-CN" altLang="en-US" sz="3600" b="1" dirty="0">
                <a:solidFill>
                  <a:srgbClr val="FF0000"/>
                </a:solidFill>
              </a:rPr>
              <a:t>行</a:t>
            </a:r>
            <a:r>
              <a:rPr lang="en-US" altLang="zh-CN" sz="3600" b="1" dirty="0">
                <a:solidFill>
                  <a:srgbClr val="FF0000"/>
                </a:solidFill>
              </a:rPr>
              <a:t>,</a:t>
            </a:r>
            <a:r>
              <a:rPr lang="zh-CN" altLang="en-US" sz="3600" b="1" dirty="0">
                <a:solidFill>
                  <a:srgbClr val="FF0000"/>
                </a:solidFill>
              </a:rPr>
              <a:t>分发</a:t>
            </a:r>
            <a:r>
              <a:rPr lang="en-US" altLang="zh-CN" sz="3600" b="1" dirty="0">
                <a:solidFill>
                  <a:srgbClr val="FF0000"/>
                </a:solidFill>
              </a:rPr>
              <a:t> identify</a:t>
            </a:r>
            <a:r>
              <a:rPr lang="zh-CN" altLang="en-US" sz="3600" b="1" dirty="0">
                <a:solidFill>
                  <a:srgbClr val="FF0000"/>
                </a:solidFill>
              </a:rPr>
              <a:t>认出识别理解</a:t>
            </a:r>
            <a:endParaRPr lang="en-US" altLang="zh-CN" sz="3600" b="1" dirty="0">
              <a:solidFill>
                <a:srgbClr val="FF0000"/>
              </a:solidFill>
            </a:endParaRPr>
          </a:p>
          <a:p>
            <a:r>
              <a:rPr lang="en-US" altLang="zh-CN" sz="3600" b="1" dirty="0">
                <a:solidFill>
                  <a:srgbClr val="FF0000"/>
                </a:solidFill>
              </a:rPr>
              <a:t> philosophy</a:t>
            </a:r>
            <a:r>
              <a:rPr lang="zh-CN" altLang="en-US" sz="3600" b="1" dirty="0">
                <a:solidFill>
                  <a:srgbClr val="FF0000"/>
                </a:solidFill>
              </a:rPr>
              <a:t>人生哲学生活准则 </a:t>
            </a:r>
            <a:r>
              <a:rPr lang="en-US" altLang="zh-CN" sz="3600" b="1" dirty="0">
                <a:solidFill>
                  <a:srgbClr val="FF0000"/>
                </a:solidFill>
              </a:rPr>
              <a:t>demand</a:t>
            </a:r>
            <a:r>
              <a:rPr lang="zh-CN" altLang="en-US" sz="3600" b="1" dirty="0">
                <a:solidFill>
                  <a:srgbClr val="FF0000"/>
                </a:solidFill>
              </a:rPr>
              <a:t>强烈要求</a:t>
            </a:r>
            <a:endParaRPr lang="en-US" altLang="zh-CN" sz="3600" b="1" dirty="0">
              <a:solidFill>
                <a:srgbClr val="FF0000"/>
              </a:solidFill>
            </a:endParaRPr>
          </a:p>
          <a:p>
            <a:r>
              <a:rPr lang="en-US" altLang="zh-CN" sz="3600" b="1" dirty="0">
                <a:solidFill>
                  <a:srgbClr val="FF0000"/>
                </a:solidFill>
              </a:rPr>
              <a:t> tricky </a:t>
            </a:r>
            <a:r>
              <a:rPr lang="zh-CN" altLang="en-US" sz="3600" b="1" dirty="0">
                <a:solidFill>
                  <a:srgbClr val="FF0000"/>
                </a:solidFill>
              </a:rPr>
              <a:t>难对付的</a:t>
            </a:r>
            <a:r>
              <a:rPr lang="en-US" altLang="zh-CN" sz="3600" b="1" dirty="0">
                <a:solidFill>
                  <a:srgbClr val="FF0000"/>
                </a:solidFill>
              </a:rPr>
              <a:t>;</a:t>
            </a:r>
            <a:r>
              <a:rPr lang="zh-CN" altLang="en-US" sz="3600" b="1" dirty="0">
                <a:solidFill>
                  <a:srgbClr val="FF0000"/>
                </a:solidFill>
              </a:rPr>
              <a:t>诡计多端的</a:t>
            </a:r>
            <a:r>
              <a:rPr lang="en-US" altLang="zh-CN" sz="3600" b="1" dirty="0">
                <a:solidFill>
                  <a:srgbClr val="FF0000"/>
                </a:solidFill>
              </a:rPr>
              <a:t> tolerable</a:t>
            </a:r>
            <a:r>
              <a:rPr lang="zh-CN" altLang="en-US" sz="3600" b="1" dirty="0">
                <a:solidFill>
                  <a:srgbClr val="FF0000"/>
                </a:solidFill>
              </a:rPr>
              <a:t>可忍受的</a:t>
            </a:r>
            <a:r>
              <a:rPr lang="en-US" altLang="zh-CN" sz="3600" b="1" dirty="0">
                <a:solidFill>
                  <a:srgbClr val="FF0000"/>
                </a:solidFill>
              </a:rPr>
              <a:t>;</a:t>
            </a:r>
            <a:r>
              <a:rPr lang="zh-CN" altLang="en-US" sz="3600" b="1" dirty="0">
                <a:solidFill>
                  <a:srgbClr val="FF0000"/>
                </a:solidFill>
              </a:rPr>
              <a:t>过得去的</a:t>
            </a:r>
            <a:endParaRPr lang="en-US" altLang="zh-CN" sz="3600" b="1" dirty="0">
              <a:solidFill>
                <a:srgbClr val="FF0000"/>
              </a:solidFill>
            </a:endParaRPr>
          </a:p>
          <a:p>
            <a:r>
              <a:rPr lang="en-US" altLang="zh-CN" sz="3600" b="1" dirty="0">
                <a:solidFill>
                  <a:srgbClr val="FF0000"/>
                </a:solidFill>
              </a:rPr>
              <a:t> pull through</a:t>
            </a:r>
            <a:r>
              <a:rPr lang="zh-CN" altLang="en-US" sz="3600" b="1" dirty="0">
                <a:solidFill>
                  <a:srgbClr val="FF0000"/>
                </a:solidFill>
              </a:rPr>
              <a:t>渡过难关 </a:t>
            </a:r>
            <a:r>
              <a:rPr lang="en-US" altLang="zh-CN" sz="3600" b="1" dirty="0">
                <a:solidFill>
                  <a:srgbClr val="FF0000"/>
                </a:solidFill>
              </a:rPr>
              <a:t>break boundaries</a:t>
            </a:r>
            <a:r>
              <a:rPr lang="zh-CN" altLang="en-US" sz="3600" b="1" dirty="0">
                <a:solidFill>
                  <a:srgbClr val="FF0000"/>
                </a:solidFill>
              </a:rPr>
              <a:t>打破界限</a:t>
            </a:r>
            <a:endParaRPr lang="en-US" altLang="zh-CN" sz="3600" b="1" dirty="0">
              <a:solidFill>
                <a:srgbClr val="FF0000"/>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en-US" altLang="zh-CN" sz="3600" b="1" dirty="0">
                <a:solidFill>
                  <a:srgbClr val="FF0000"/>
                </a:solidFill>
              </a:rPr>
              <a:t> historically</a:t>
            </a:r>
            <a:r>
              <a:rPr lang="zh-CN" altLang="en-US" sz="3600" b="1" dirty="0">
                <a:solidFill>
                  <a:srgbClr val="FF0000"/>
                </a:solidFill>
              </a:rPr>
              <a:t>在历史上 </a:t>
            </a:r>
            <a:r>
              <a:rPr lang="en-US" altLang="zh-CN" sz="3600" b="1" dirty="0">
                <a:solidFill>
                  <a:srgbClr val="FF0000"/>
                </a:solidFill>
              </a:rPr>
              <a:t>be occupied by</a:t>
            </a:r>
            <a:r>
              <a:rPr lang="zh-CN" altLang="en-US" sz="3600" b="1" dirty="0">
                <a:solidFill>
                  <a:srgbClr val="FF0000"/>
                </a:solidFill>
              </a:rPr>
              <a:t>被占据</a:t>
            </a:r>
            <a:endParaRPr lang="en-US" altLang="zh-CN" sz="3600" b="1" dirty="0">
              <a:solidFill>
                <a:srgbClr val="FF0000"/>
              </a:solidFill>
            </a:endParaRPr>
          </a:p>
          <a:p>
            <a:r>
              <a:rPr lang="en-US" altLang="zh-CN" sz="3600" b="1" dirty="0">
                <a:solidFill>
                  <a:srgbClr val="FF0000"/>
                </a:solidFill>
              </a:rPr>
              <a:t> a narrow beauty ideal</a:t>
            </a:r>
            <a:r>
              <a:rPr lang="zh-CN" altLang="en-US" dirty="0"/>
              <a:t>狭隘的美的理想</a:t>
            </a:r>
            <a:endParaRPr lang="en-US" altLang="zh-CN" sz="3600" b="1" dirty="0">
              <a:solidFill>
                <a:srgbClr val="FF0000"/>
              </a:solidFill>
            </a:endParaRPr>
          </a:p>
          <a:p>
            <a:r>
              <a:rPr lang="en-US" altLang="zh-CN" sz="3600" b="1" dirty="0">
                <a:solidFill>
                  <a:srgbClr val="FF0000"/>
                </a:solidFill>
              </a:rPr>
              <a:t> modeling for big brands</a:t>
            </a:r>
            <a:r>
              <a:rPr lang="zh-CN" altLang="en-US" dirty="0"/>
              <a:t>为大牌做模特</a:t>
            </a:r>
            <a:endParaRPr lang="en-US" altLang="zh-CN" dirty="0"/>
          </a:p>
          <a:p>
            <a:r>
              <a:rPr lang="en-US" altLang="zh-CN" sz="3600" b="1" dirty="0">
                <a:solidFill>
                  <a:srgbClr val="FF0000"/>
                </a:solidFill>
              </a:rPr>
              <a:t> temporarily</a:t>
            </a:r>
            <a:r>
              <a:rPr lang="zh-CN" altLang="en-US" sz="3600" b="1" dirty="0">
                <a:solidFill>
                  <a:srgbClr val="FF0000"/>
                </a:solidFill>
              </a:rPr>
              <a:t>暂时地</a:t>
            </a:r>
            <a:r>
              <a:rPr lang="en-US" altLang="zh-CN" sz="3600" b="1" dirty="0">
                <a:solidFill>
                  <a:srgbClr val="FF0000"/>
                </a:solidFill>
              </a:rPr>
              <a:t> eventually</a:t>
            </a:r>
            <a:r>
              <a:rPr lang="zh-CN" altLang="en-US" sz="3600" b="1" dirty="0">
                <a:solidFill>
                  <a:srgbClr val="FF0000"/>
                </a:solidFill>
              </a:rPr>
              <a:t>最终</a:t>
            </a:r>
            <a:r>
              <a:rPr lang="en-US" altLang="zh-CN" sz="3600" b="1" dirty="0">
                <a:solidFill>
                  <a:srgbClr val="FF0000"/>
                </a:solidFill>
              </a:rPr>
              <a:t> accidentally</a:t>
            </a:r>
            <a:r>
              <a:rPr lang="zh-CN" altLang="en-US" sz="3600" b="1" dirty="0">
                <a:solidFill>
                  <a:srgbClr val="FF0000"/>
                </a:solidFill>
              </a:rPr>
              <a:t>意外偶然地</a:t>
            </a:r>
            <a:r>
              <a:rPr lang="en-US" altLang="zh-CN" sz="3600" b="1" dirty="0">
                <a:solidFill>
                  <a:srgbClr val="FF0000"/>
                </a:solidFill>
              </a:rPr>
              <a:t> </a:t>
            </a:r>
          </a:p>
          <a:p>
            <a:r>
              <a:rPr lang="en-US" altLang="zh-CN" sz="3600" b="1" dirty="0">
                <a:solidFill>
                  <a:srgbClr val="FF0000"/>
                </a:solidFill>
              </a:rPr>
              <a:t> sympathy</a:t>
            </a:r>
            <a:r>
              <a:rPr lang="zh-CN" altLang="en-US" sz="3600" b="1" dirty="0">
                <a:solidFill>
                  <a:srgbClr val="FF0000"/>
                </a:solidFill>
              </a:rPr>
              <a:t>同情同感共鸣理解</a:t>
            </a:r>
            <a:r>
              <a:rPr lang="en-US" altLang="zh-CN" sz="3600" b="1" dirty="0">
                <a:solidFill>
                  <a:srgbClr val="FF0000"/>
                </a:solidFill>
              </a:rPr>
              <a:t> reliability</a:t>
            </a:r>
            <a:r>
              <a:rPr lang="zh-CN" altLang="en-US" sz="3600" b="1" dirty="0">
                <a:solidFill>
                  <a:srgbClr val="FF0000"/>
                </a:solidFill>
              </a:rPr>
              <a:t>可靠 </a:t>
            </a:r>
            <a:endParaRPr lang="en-US" altLang="zh-CN" sz="3600" b="1" dirty="0">
              <a:solidFill>
                <a:srgbClr val="FF0000"/>
              </a:solidFill>
            </a:endParaRPr>
          </a:p>
          <a:p>
            <a:r>
              <a:rPr lang="en-US" altLang="zh-CN" sz="3600" b="1" dirty="0">
                <a:solidFill>
                  <a:srgbClr val="FF0000"/>
                </a:solidFill>
              </a:rPr>
              <a:t> determination</a:t>
            </a:r>
            <a:r>
              <a:rPr lang="zh-CN" altLang="en-US" sz="3600" b="1" dirty="0">
                <a:solidFill>
                  <a:srgbClr val="FF0000"/>
                </a:solidFill>
              </a:rPr>
              <a:t>决心</a:t>
            </a:r>
            <a:r>
              <a:rPr lang="en-US" altLang="zh-CN" sz="3600" b="1" dirty="0">
                <a:solidFill>
                  <a:srgbClr val="FF0000"/>
                </a:solidFill>
              </a:rPr>
              <a:t> imagination</a:t>
            </a:r>
            <a:r>
              <a:rPr lang="zh-CN" altLang="en-US" sz="3600" b="1" dirty="0">
                <a:solidFill>
                  <a:srgbClr val="FF0000"/>
                </a:solidFill>
              </a:rPr>
              <a:t>想象力</a:t>
            </a:r>
            <a:endParaRPr lang="en-US" altLang="zh-CN" sz="3600" b="1" dirty="0">
              <a:solidFill>
                <a:srgbClr val="FF0000"/>
              </a:solidFill>
            </a:endParaRPr>
          </a:p>
          <a:p>
            <a:r>
              <a:rPr lang="en-US" altLang="zh-CN" sz="3600" b="1" dirty="0">
                <a:solidFill>
                  <a:srgbClr val="FF0000"/>
                </a:solidFill>
              </a:rPr>
              <a:t> a genuine wellspring of resilience</a:t>
            </a:r>
            <a:r>
              <a:rPr lang="zh-CN" altLang="en-US" sz="3600" b="1" dirty="0">
                <a:solidFill>
                  <a:srgbClr val="FF0000"/>
                </a:solidFill>
              </a:rPr>
              <a:t>适应力的真正源泉</a:t>
            </a:r>
            <a:endParaRPr lang="en-US" altLang="zh-CN" sz="3600" b="1" dirty="0">
              <a:solidFill>
                <a:srgbClr val="FF0000"/>
              </a:solidFill>
            </a:endParaRPr>
          </a:p>
          <a:p>
            <a:r>
              <a:rPr lang="en-US" altLang="zh-CN" sz="3600" b="1" dirty="0">
                <a:solidFill>
                  <a:srgbClr val="FF0000"/>
                </a:solidFill>
              </a:rPr>
              <a:t> consistently</a:t>
            </a:r>
            <a:r>
              <a:rPr lang="zh-CN" altLang="en-US" sz="3600" b="1" dirty="0">
                <a:solidFill>
                  <a:srgbClr val="FF0000"/>
                </a:solidFill>
              </a:rPr>
              <a:t>始终如一地</a:t>
            </a:r>
            <a:r>
              <a:rPr lang="en-US" altLang="zh-CN" sz="3600" b="1" dirty="0">
                <a:solidFill>
                  <a:srgbClr val="FF0000"/>
                </a:solidFill>
              </a:rPr>
              <a:t>;</a:t>
            </a:r>
            <a:r>
              <a:rPr lang="zh-CN" altLang="en-US" sz="3600" b="1" dirty="0">
                <a:solidFill>
                  <a:srgbClr val="FF0000"/>
                </a:solidFill>
              </a:rPr>
              <a:t>一致地</a:t>
            </a:r>
            <a:endParaRPr lang="en-US" altLang="zh-CN" sz="3600" b="1" dirty="0">
              <a:solidFill>
                <a:srgbClr val="FF0000"/>
              </a:solidFill>
            </a:endParaRPr>
          </a:p>
          <a:p>
            <a:r>
              <a:rPr lang="en-US" altLang="zh-CN" sz="3600" b="1" dirty="0">
                <a:solidFill>
                  <a:srgbClr val="FF0000"/>
                </a:solidFill>
              </a:rPr>
              <a:t> innovative</a:t>
            </a:r>
            <a:r>
              <a:rPr lang="zh-CN" altLang="en-US" sz="3600" b="1" dirty="0">
                <a:solidFill>
                  <a:srgbClr val="FF0000"/>
                </a:solidFill>
              </a:rPr>
              <a:t>革新的新颖的</a:t>
            </a:r>
            <a:r>
              <a:rPr lang="en-US" altLang="zh-CN" sz="3600" b="1" dirty="0">
                <a:solidFill>
                  <a:srgbClr val="FF0000"/>
                </a:solidFill>
              </a:rPr>
              <a:t> classic</a:t>
            </a:r>
            <a:r>
              <a:rPr lang="zh-CN" altLang="en-US" sz="3600" b="1" dirty="0">
                <a:solidFill>
                  <a:srgbClr val="FF0000"/>
                </a:solidFill>
              </a:rPr>
              <a:t>典型的经典的</a:t>
            </a:r>
            <a:r>
              <a:rPr lang="en-US" altLang="zh-CN" sz="3600" b="1" dirty="0">
                <a:solidFill>
                  <a:srgbClr val="FF0000"/>
                </a:solidFill>
              </a:rPr>
              <a:t>fashionable</a:t>
            </a:r>
            <a:r>
              <a:rPr lang="zh-CN" altLang="zh-CN" sz="3600" b="1" dirty="0">
                <a:solidFill>
                  <a:srgbClr val="FF0000"/>
                </a:solidFill>
              </a:rPr>
              <a:t>时尚的</a:t>
            </a:r>
            <a:endParaRPr lang="en-US" altLang="zh-CN" sz="3600" b="1" dirty="0">
              <a:solidFill>
                <a:srgbClr val="FF0000"/>
              </a:solidFill>
            </a:endParaRPr>
          </a:p>
          <a:p>
            <a:r>
              <a:rPr lang="en-US" altLang="zh-CN" sz="3600" b="1" dirty="0">
                <a:solidFill>
                  <a:srgbClr val="FF0000"/>
                </a:solidFill>
              </a:rPr>
              <a:t> limit</a:t>
            </a:r>
            <a:r>
              <a:rPr lang="zh-CN" altLang="en-US" sz="3600" b="1" dirty="0">
                <a:solidFill>
                  <a:srgbClr val="FF0000"/>
                </a:solidFill>
              </a:rPr>
              <a:t>限制 </a:t>
            </a:r>
            <a:r>
              <a:rPr lang="en-US" altLang="zh-CN" sz="3600" b="1" dirty="0">
                <a:solidFill>
                  <a:srgbClr val="FF0000"/>
                </a:solidFill>
              </a:rPr>
              <a:t>a regular in the gym</a:t>
            </a:r>
            <a:r>
              <a:rPr lang="zh-CN" altLang="en-US" sz="3600" b="1" dirty="0">
                <a:solidFill>
                  <a:srgbClr val="FF0000"/>
                </a:solidFill>
              </a:rPr>
              <a:t>健身房的常客 </a:t>
            </a:r>
            <a:r>
              <a:rPr lang="en-US" altLang="zh-CN" sz="3600" b="1" dirty="0">
                <a:solidFill>
                  <a:srgbClr val="FF0000"/>
                </a:solidFill>
              </a:rPr>
              <a:t>exception</a:t>
            </a:r>
            <a:r>
              <a:rPr lang="zh-CN" altLang="en-US" sz="3600" b="1" dirty="0">
                <a:solidFill>
                  <a:srgbClr val="FF0000"/>
                </a:solidFill>
              </a:rPr>
              <a:t>例外</a:t>
            </a:r>
            <a:endParaRPr lang="en-US" altLang="zh-CN" sz="3600" b="1" dirty="0">
              <a:solidFill>
                <a:srgbClr val="FF0000"/>
              </a:solidFill>
            </a:endParaRPr>
          </a:p>
          <a:p>
            <a:r>
              <a:rPr lang="en-US" altLang="zh-CN" sz="3600" b="1" dirty="0">
                <a:solidFill>
                  <a:srgbClr val="FF0000"/>
                </a:solidFill>
              </a:rPr>
              <a:t> depart v.</a:t>
            </a:r>
            <a:r>
              <a:rPr lang="zh-CN" altLang="en-US" sz="3600" b="1" dirty="0">
                <a:solidFill>
                  <a:srgbClr val="FF0000"/>
                </a:solidFill>
              </a:rPr>
              <a:t>出发离开</a:t>
            </a:r>
            <a:r>
              <a:rPr lang="en-US" altLang="zh-CN" sz="3600" b="1" dirty="0">
                <a:solidFill>
                  <a:srgbClr val="FF0000"/>
                </a:solidFill>
              </a:rPr>
              <a:t>;</a:t>
            </a:r>
            <a:r>
              <a:rPr lang="zh-CN" altLang="en-US" sz="3600" b="1" dirty="0">
                <a:solidFill>
                  <a:srgbClr val="FF0000"/>
                </a:solidFill>
              </a:rPr>
              <a:t>背离违背 </a:t>
            </a:r>
            <a:r>
              <a:rPr lang="en-US" altLang="zh-CN" sz="3600" b="1" dirty="0">
                <a:solidFill>
                  <a:srgbClr val="FF0000"/>
                </a:solidFill>
              </a:rPr>
              <a:t>departure n.</a:t>
            </a:r>
          </a:p>
          <a:p>
            <a:r>
              <a:rPr lang="en-US" altLang="zh-CN" sz="3600" b="1" dirty="0">
                <a:solidFill>
                  <a:srgbClr val="FF0000"/>
                </a:solidFill>
              </a:rPr>
              <a:t> give in to traditional fitness norms</a:t>
            </a:r>
            <a:r>
              <a:rPr lang="zh-CN" altLang="en-US" dirty="0"/>
              <a:t>向传统的健身标准屈服</a:t>
            </a:r>
            <a:endParaRPr lang="en-US" altLang="zh-CN" sz="3600" b="1" dirty="0">
              <a:solidFill>
                <a:srgbClr val="FF0000"/>
              </a:solidFill>
            </a:endParaRPr>
          </a:p>
          <a:p>
            <a:r>
              <a:rPr lang="en-US" altLang="zh-CN" sz="3600" b="1" dirty="0">
                <a:solidFill>
                  <a:srgbClr val="FF0000"/>
                </a:solidFill>
              </a:rPr>
              <a:t> make up</a:t>
            </a:r>
            <a:r>
              <a:rPr lang="zh-CN" altLang="en-US" sz="3600" b="1" dirty="0">
                <a:solidFill>
                  <a:srgbClr val="FF0000"/>
                </a:solidFill>
              </a:rPr>
              <a:t>构成编造弥补和好 </a:t>
            </a:r>
            <a:r>
              <a:rPr lang="en-US" altLang="zh-CN" sz="3600" b="1" dirty="0">
                <a:solidFill>
                  <a:srgbClr val="FF0000"/>
                </a:solidFill>
              </a:rPr>
              <a:t>check out</a:t>
            </a:r>
            <a:r>
              <a:rPr lang="zh-CN" altLang="en-US" sz="3600" b="1" dirty="0">
                <a:solidFill>
                  <a:srgbClr val="FF0000"/>
                </a:solidFill>
              </a:rPr>
              <a:t>结账退房离开</a:t>
            </a:r>
            <a:endParaRPr lang="en-US" altLang="zh-CN" sz="3600" b="1" dirty="0">
              <a:solidFill>
                <a:srgbClr val="FF0000"/>
              </a:solidFill>
            </a:endParaRPr>
          </a:p>
          <a:p>
            <a:r>
              <a:rPr lang="en-US" altLang="zh-CN" sz="3600" b="1" dirty="0">
                <a:solidFill>
                  <a:srgbClr val="FF0000"/>
                </a:solidFill>
              </a:rPr>
              <a:t> set aside</a:t>
            </a:r>
            <a:r>
              <a:rPr lang="zh-CN" altLang="en-US" sz="3600" b="1" dirty="0">
                <a:solidFill>
                  <a:srgbClr val="FF0000"/>
                </a:solidFill>
              </a:rPr>
              <a:t>留出</a:t>
            </a:r>
            <a:r>
              <a:rPr lang="en-US" altLang="zh-CN" sz="3600" b="1" dirty="0">
                <a:solidFill>
                  <a:srgbClr val="FF0000"/>
                </a:solidFill>
              </a:rPr>
              <a:t>,</a:t>
            </a:r>
            <a:r>
              <a:rPr lang="zh-CN" altLang="en-US" sz="3600" b="1" dirty="0">
                <a:solidFill>
                  <a:srgbClr val="FF0000"/>
                </a:solidFill>
              </a:rPr>
              <a:t>搁置 </a:t>
            </a:r>
            <a:r>
              <a:rPr lang="en-US" altLang="zh-CN" sz="3600" b="1" dirty="0">
                <a:solidFill>
                  <a:srgbClr val="FF0000"/>
                </a:solidFill>
              </a:rPr>
              <a:t>break barriers</a:t>
            </a:r>
            <a:r>
              <a:rPr lang="zh-CN" altLang="en-US" sz="3600" b="1" dirty="0">
                <a:solidFill>
                  <a:srgbClr val="FF0000"/>
                </a:solidFill>
              </a:rPr>
              <a:t>打破障碍</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dirty="0">
                <a:solidFill>
                  <a:srgbClr val="FF0000"/>
                </a:solidFill>
              </a:rPr>
              <a:t> 10</a:t>
            </a:r>
            <a:r>
              <a:rPr lang="zh-CN" altLang="en-US" sz="3600" b="1" dirty="0">
                <a:solidFill>
                  <a:srgbClr val="FF0000"/>
                </a:solidFill>
              </a:rPr>
              <a:t>月卷</a:t>
            </a:r>
            <a:r>
              <a:rPr lang="en-US" altLang="zh-CN" sz="3600" b="1" dirty="0">
                <a:solidFill>
                  <a:srgbClr val="FF0000"/>
                </a:solidFill>
              </a:rPr>
              <a:t>1 lead </a:t>
            </a:r>
            <a:r>
              <a:rPr lang="en-US" altLang="zh-CN" sz="3600" b="1" dirty="0">
                <a:solidFill>
                  <a:srgbClr val="FF0000"/>
                </a:solidFill>
                <a:highlight>
                  <a:srgbClr val="FFFF00"/>
                </a:highlight>
              </a:rPr>
              <a:t>(led, led) </a:t>
            </a:r>
          </a:p>
          <a:p>
            <a:r>
              <a:rPr lang="en-US" altLang="zh-CN" sz="3600" b="1" dirty="0">
                <a:solidFill>
                  <a:srgbClr val="FF0000"/>
                </a:solidFill>
              </a:rPr>
              <a:t> </a:t>
            </a:r>
            <a:r>
              <a:rPr lang="en-US" altLang="zh-CN" sz="3600" b="1" u="sng" dirty="0">
                <a:solidFill>
                  <a:srgbClr val="FF0000"/>
                </a:solidFill>
              </a:rPr>
              <a:t>in recent years</a:t>
            </a:r>
            <a:r>
              <a:rPr lang="en-US" altLang="zh-CN" sz="3600" b="1" dirty="0">
                <a:solidFill>
                  <a:srgbClr val="FF0000"/>
                </a:solidFill>
              </a:rPr>
              <a:t>=recently+</a:t>
            </a:r>
            <a:r>
              <a:rPr lang="zh-CN" altLang="en-US" sz="3600" b="1" u="sng" dirty="0">
                <a:solidFill>
                  <a:srgbClr val="FF0000"/>
                </a:solidFill>
              </a:rPr>
              <a:t>现完</a:t>
            </a:r>
            <a:r>
              <a:rPr lang="en-US" altLang="zh-CN" sz="3600" b="1" u="sng" dirty="0">
                <a:solidFill>
                  <a:srgbClr val="FF0000"/>
                </a:solidFill>
              </a:rPr>
              <a:t> </a:t>
            </a:r>
          </a:p>
          <a:p>
            <a:r>
              <a:rPr lang="en-US" altLang="zh-CN" sz="3600" b="1" dirty="0">
                <a:solidFill>
                  <a:srgbClr val="FF0000"/>
                </a:solidFill>
              </a:rPr>
              <a:t> </a:t>
            </a:r>
            <a:r>
              <a:rPr lang="en-US" altLang="zh-CN" sz="3600" b="1" u="sng" dirty="0">
                <a:solidFill>
                  <a:srgbClr val="FF0000"/>
                </a:solidFill>
              </a:rPr>
              <a:t>a combination of</a:t>
            </a:r>
            <a:r>
              <a:rPr lang="en-US" altLang="zh-CN" sz="3600" b="1" dirty="0">
                <a:solidFill>
                  <a:srgbClr val="FF0000"/>
                </a:solidFill>
              </a:rPr>
              <a:t> A and B+</a:t>
            </a:r>
            <a:r>
              <a:rPr lang="zh-CN" altLang="en-US" sz="3600" b="1" dirty="0">
                <a:solidFill>
                  <a:srgbClr val="FF0000"/>
                </a:solidFill>
              </a:rPr>
              <a:t>谓语</a:t>
            </a:r>
            <a:r>
              <a:rPr lang="en-US" altLang="zh-CN" sz="3600" b="1" dirty="0">
                <a:solidFill>
                  <a:srgbClr val="FF0000"/>
                </a:solidFill>
              </a:rPr>
              <a:t>V.</a:t>
            </a:r>
            <a:r>
              <a:rPr lang="zh-CN" altLang="en-US" sz="3600" b="1" dirty="0">
                <a:solidFill>
                  <a:srgbClr val="FF0000"/>
                </a:solidFill>
              </a:rPr>
              <a:t>用</a:t>
            </a:r>
            <a:r>
              <a:rPr lang="zh-CN" altLang="en-US" sz="3600" b="1" u="sng" dirty="0">
                <a:solidFill>
                  <a:srgbClr val="FF0000"/>
                </a:solidFill>
              </a:rPr>
              <a:t>单数</a:t>
            </a:r>
            <a:endParaRPr lang="en-US" altLang="zh-CN" sz="3600" b="1" u="sng" dirty="0">
              <a:solidFill>
                <a:srgbClr val="FF0000"/>
              </a:solidFill>
            </a:endParaRPr>
          </a:p>
          <a:p>
            <a:r>
              <a:rPr lang="en-US" altLang="zh-CN" sz="3600" b="1" dirty="0">
                <a:solidFill>
                  <a:srgbClr val="FF0000"/>
                </a:solidFill>
              </a:rPr>
              <a:t> adapt from</a:t>
            </a:r>
            <a:r>
              <a:rPr lang="zh-CN" altLang="en-US" sz="3600" b="1" dirty="0">
                <a:solidFill>
                  <a:srgbClr val="FF0000"/>
                </a:solidFill>
              </a:rPr>
              <a:t>改编自</a:t>
            </a:r>
            <a:r>
              <a:rPr lang="en-US" altLang="zh-CN" sz="3600" b="1" dirty="0">
                <a:solidFill>
                  <a:srgbClr val="FF0000"/>
                </a:solidFill>
              </a:rPr>
              <a:t>;</a:t>
            </a:r>
            <a:r>
              <a:rPr lang="zh-CN" altLang="en-US" sz="3600" b="1" dirty="0">
                <a:solidFill>
                  <a:srgbClr val="FF0000"/>
                </a:solidFill>
              </a:rPr>
              <a:t>根据</a:t>
            </a:r>
            <a:r>
              <a:rPr lang="en-US" altLang="zh-CN" sz="3600" b="1" dirty="0">
                <a:solidFill>
                  <a:srgbClr val="FF0000"/>
                </a:solidFill>
              </a:rPr>
              <a:t>…</a:t>
            </a:r>
            <a:r>
              <a:rPr lang="zh-CN" altLang="en-US" sz="3600" b="1" dirty="0">
                <a:solidFill>
                  <a:srgbClr val="FF0000"/>
                </a:solidFill>
              </a:rPr>
              <a:t>改编  </a:t>
            </a:r>
            <a:endParaRPr lang="en-US" altLang="zh-CN" sz="3600" b="1" dirty="0">
              <a:solidFill>
                <a:srgbClr val="FF0000"/>
              </a:solidFill>
            </a:endParaRPr>
          </a:p>
          <a:p>
            <a:r>
              <a:rPr lang="en-US" altLang="zh-CN" sz="3600" b="1" dirty="0">
                <a:solidFill>
                  <a:srgbClr val="FF0000"/>
                </a:solidFill>
              </a:rPr>
              <a:t> adapt into</a:t>
            </a:r>
            <a:r>
              <a:rPr lang="zh-CN" altLang="en-US" sz="3600" b="1" dirty="0">
                <a:solidFill>
                  <a:srgbClr val="FF0000"/>
                </a:solidFill>
              </a:rPr>
              <a:t>改编成 </a:t>
            </a:r>
            <a:r>
              <a:rPr lang="en-US" altLang="zh-CN" sz="3600" b="1" dirty="0">
                <a:solidFill>
                  <a:srgbClr val="FF0000"/>
                </a:solidFill>
              </a:rPr>
              <a:t>adapt to</a:t>
            </a:r>
            <a:r>
              <a:rPr lang="zh-CN" altLang="en-US" sz="3600" b="1" dirty="0">
                <a:solidFill>
                  <a:srgbClr val="FF0000"/>
                </a:solidFill>
              </a:rPr>
              <a:t>适应</a:t>
            </a:r>
            <a:endParaRPr lang="en-US" altLang="zh-CN" sz="3600" b="1" dirty="0">
              <a:solidFill>
                <a:srgbClr val="FF0000"/>
              </a:solidFill>
            </a:endParaRPr>
          </a:p>
          <a:p>
            <a:r>
              <a:rPr lang="en-US" altLang="zh-CN" sz="3600" b="1" dirty="0">
                <a:solidFill>
                  <a:srgbClr val="FF0000"/>
                </a:solidFill>
              </a:rPr>
              <a:t> adaptation n.</a:t>
            </a:r>
            <a:r>
              <a:rPr lang="zh-CN" altLang="en-US" sz="3600" b="1" dirty="0">
                <a:solidFill>
                  <a:srgbClr val="FF0000"/>
                </a:solidFill>
              </a:rPr>
              <a:t>改编</a:t>
            </a:r>
            <a:r>
              <a:rPr lang="en-US" altLang="zh-CN" sz="3600" b="1" dirty="0">
                <a:solidFill>
                  <a:srgbClr val="FF0000"/>
                </a:solidFill>
              </a:rPr>
              <a:t>(</a:t>
            </a:r>
            <a:r>
              <a:rPr lang="zh-CN" altLang="en-US" sz="3600" b="1" dirty="0">
                <a:solidFill>
                  <a:srgbClr val="FF0000"/>
                </a:solidFill>
              </a:rPr>
              <a:t>本</a:t>
            </a:r>
            <a:r>
              <a:rPr lang="en-US" altLang="zh-CN" sz="3600" b="1" dirty="0">
                <a:solidFill>
                  <a:srgbClr val="FF0000"/>
                </a:solidFill>
              </a:rPr>
              <a:t>),</a:t>
            </a:r>
            <a:r>
              <a:rPr lang="zh-CN" altLang="en-US" sz="3600" b="1" dirty="0">
                <a:solidFill>
                  <a:srgbClr val="FF0000"/>
                </a:solidFill>
              </a:rPr>
              <a:t>适应</a:t>
            </a:r>
            <a:r>
              <a:rPr lang="en-US" altLang="zh-CN" sz="3600" b="1" dirty="0">
                <a:solidFill>
                  <a:srgbClr val="FF0000"/>
                </a:solidFill>
              </a:rPr>
              <a:t>(</a:t>
            </a:r>
            <a:r>
              <a:rPr lang="zh-CN" altLang="en-US" sz="3600" b="1" dirty="0">
                <a:solidFill>
                  <a:srgbClr val="FF0000"/>
                </a:solidFill>
              </a:rPr>
              <a:t>性</a:t>
            </a:r>
            <a:r>
              <a:rPr lang="en-US" altLang="zh-CN" sz="3600" b="1" dirty="0">
                <a:solidFill>
                  <a:srgbClr val="FF0000"/>
                </a:solidFill>
              </a:rPr>
              <a:t>)</a:t>
            </a:r>
          </a:p>
          <a:p>
            <a:r>
              <a:rPr lang="en-US" altLang="zh-CN" sz="3600" b="1" dirty="0">
                <a:solidFill>
                  <a:srgbClr val="FF0000"/>
                </a:solidFill>
              </a:rPr>
              <a:t> 39.a scene</a:t>
            </a:r>
            <a:r>
              <a:rPr lang="zh-CN" altLang="en-US" sz="3600" b="1" dirty="0">
                <a:solidFill>
                  <a:srgbClr val="FF0000"/>
                </a:solidFill>
              </a:rPr>
              <a:t>场景</a:t>
            </a:r>
            <a:r>
              <a:rPr lang="en-US" altLang="zh-CN" sz="3600" b="1" dirty="0">
                <a:solidFill>
                  <a:srgbClr val="FF0000"/>
                </a:solidFill>
              </a:rPr>
              <a:t> (where</a:t>
            </a:r>
            <a:r>
              <a:rPr lang="zh-CN" altLang="en-US" sz="3600" b="1" dirty="0">
                <a:solidFill>
                  <a:srgbClr val="FF0000"/>
                </a:solidFill>
              </a:rPr>
              <a:t>定从</a:t>
            </a:r>
            <a:r>
              <a:rPr lang="en-US" altLang="zh-CN" sz="3600" b="1" dirty="0">
                <a:solidFill>
                  <a:srgbClr val="FF0000"/>
                </a:solidFill>
              </a:rPr>
              <a:t>+ SVO)  </a:t>
            </a:r>
            <a:r>
              <a:rPr lang="zh-CN" altLang="en-US" sz="3600" b="1" dirty="0">
                <a:solidFill>
                  <a:srgbClr val="FF0000"/>
                </a:solidFill>
              </a:rPr>
              <a:t>模糊地点</a:t>
            </a:r>
            <a:endParaRPr lang="en-US" altLang="zh-CN" sz="3600" b="1" dirty="0">
              <a:solidFill>
                <a:srgbClr val="FF0000"/>
              </a:solidFill>
            </a:endParaRPr>
          </a:p>
          <a:p>
            <a:r>
              <a:rPr lang="en-US" altLang="zh-CN" sz="3600" b="1" dirty="0">
                <a:solidFill>
                  <a:srgbClr val="FF0000"/>
                </a:solidFill>
              </a:rPr>
              <a:t> 40. take a unique approach</a:t>
            </a:r>
            <a:r>
              <a:rPr lang="zh-CN" altLang="en-US" sz="3600" b="1" dirty="0">
                <a:solidFill>
                  <a:srgbClr val="FF0000"/>
                </a:solidFill>
              </a:rPr>
              <a:t>采取独特的方法</a:t>
            </a:r>
            <a:endParaRPr lang="en-US" altLang="zh-CN" sz="3600" b="1" dirty="0">
              <a:solidFill>
                <a:srgbClr val="FF0000"/>
              </a:solidFill>
            </a:endParaRPr>
          </a:p>
          <a:p>
            <a:r>
              <a:rPr lang="en-US" altLang="zh-CN" sz="3600" b="1" dirty="0">
                <a:solidFill>
                  <a:srgbClr val="FF0000"/>
                </a:solidFill>
              </a:rPr>
              <a:t>a+</a:t>
            </a:r>
            <a:r>
              <a:rPr lang="en-US" altLang="zh-CN" dirty="0"/>
              <a:t> </a:t>
            </a:r>
            <a:r>
              <a:rPr lang="en-US" altLang="zh-CN" b="1" dirty="0">
                <a:solidFill>
                  <a:srgbClr val="FF0000"/>
                </a:solidFill>
              </a:rPr>
              <a:t>u</a:t>
            </a:r>
            <a:r>
              <a:rPr lang="en-US" altLang="zh-CN" dirty="0"/>
              <a:t>nique</a:t>
            </a:r>
            <a:r>
              <a:rPr lang="zh-CN" altLang="zh-CN" dirty="0"/>
              <a:t>以</a:t>
            </a:r>
            <a:r>
              <a:rPr lang="zh-CN" altLang="zh-CN" b="1" dirty="0">
                <a:solidFill>
                  <a:srgbClr val="FF0000"/>
                </a:solidFill>
              </a:rPr>
              <a:t>辅音音素</a:t>
            </a:r>
            <a:r>
              <a:rPr lang="zh-CN" altLang="zh-CN" dirty="0"/>
              <a:t>开头</a:t>
            </a:r>
            <a:r>
              <a:rPr lang="en-US" altLang="zh-CN" dirty="0"/>
              <a:t>         </a:t>
            </a:r>
            <a:r>
              <a:rPr lang="en-US" altLang="zh-CN" sz="3600" b="1" dirty="0" err="1">
                <a:solidFill>
                  <a:srgbClr val="FF0000"/>
                </a:solidFill>
              </a:rPr>
              <a:t>an+u</a:t>
            </a:r>
            <a:r>
              <a:rPr lang="en-US" altLang="zh-CN" dirty="0" err="1"/>
              <a:t>mbrella</a:t>
            </a:r>
            <a:r>
              <a:rPr lang="zh-CN" altLang="zh-CN" dirty="0"/>
              <a:t>以</a:t>
            </a:r>
            <a:r>
              <a:rPr lang="zh-CN" altLang="en-US" b="1" dirty="0">
                <a:solidFill>
                  <a:srgbClr val="FF0000"/>
                </a:solidFill>
              </a:rPr>
              <a:t>元</a:t>
            </a:r>
            <a:r>
              <a:rPr lang="zh-CN" altLang="zh-CN" b="1" dirty="0">
                <a:solidFill>
                  <a:srgbClr val="FF0000"/>
                </a:solidFill>
              </a:rPr>
              <a:t>音音素</a:t>
            </a:r>
            <a:r>
              <a:rPr lang="zh-CN" altLang="zh-CN" dirty="0"/>
              <a:t>开头</a:t>
            </a:r>
            <a:endParaRPr lang="en-US" altLang="zh-CN" dirty="0"/>
          </a:p>
          <a:p>
            <a:r>
              <a:rPr lang="en-US" altLang="zh-CN" sz="3600" b="1" dirty="0">
                <a:solidFill>
                  <a:srgbClr val="FF0000"/>
                </a:solidFill>
              </a:rPr>
              <a:t>42. …titled “…” </a:t>
            </a:r>
            <a:r>
              <a:rPr lang="zh-CN" altLang="en-US" sz="3600" b="1" dirty="0">
                <a:solidFill>
                  <a:srgbClr val="FF0000"/>
                </a:solidFill>
              </a:rPr>
              <a:t>名为</a:t>
            </a:r>
            <a:r>
              <a:rPr lang="en-US" altLang="zh-CN" sz="3600" b="1" dirty="0">
                <a:solidFill>
                  <a:srgbClr val="FF0000"/>
                </a:solidFill>
              </a:rPr>
              <a:t> “…”   </a:t>
            </a:r>
            <a:r>
              <a:rPr lang="en-US" altLang="zh-CN" sz="3600" b="1" dirty="0"/>
              <a:t>43.effectively</a:t>
            </a:r>
            <a:r>
              <a:rPr lang="zh-CN" altLang="zh-CN" sz="3600" b="1" dirty="0"/>
              <a:t>有效地</a:t>
            </a:r>
            <a:endParaRPr lang="en-US" altLang="zh-CN" sz="3600" b="1" dirty="0"/>
          </a:p>
          <a:p>
            <a:r>
              <a:rPr lang="en-US" altLang="zh-CN" sz="3600" b="1" dirty="0"/>
              <a:t> 44.</a:t>
            </a:r>
            <a:r>
              <a:rPr lang="en-US" altLang="zh-CN" sz="3600" b="1" dirty="0">
                <a:solidFill>
                  <a:srgbClr val="FF0000"/>
                </a:solidFill>
              </a:rPr>
              <a:t>a growing recognition</a:t>
            </a:r>
            <a:r>
              <a:rPr lang="zh-CN" altLang="en-US" sz="3600" b="1" dirty="0">
                <a:solidFill>
                  <a:srgbClr val="FF0000"/>
                </a:solidFill>
              </a:rPr>
              <a:t>越来越多的人认识到</a:t>
            </a:r>
            <a:endParaRPr lang="en-US" altLang="zh-CN" sz="3600" b="1" dirty="0">
              <a:solidFill>
                <a:srgbClr val="FF0000"/>
              </a:solidFill>
            </a:endParaRPr>
          </a:p>
          <a:p>
            <a:r>
              <a:rPr lang="en-US" altLang="zh-CN" sz="3600" b="1" dirty="0">
                <a:solidFill>
                  <a:srgbClr val="FF0000"/>
                </a:solidFill>
              </a:rPr>
              <a:t> </a:t>
            </a:r>
            <a:r>
              <a:rPr lang="en-US" altLang="zh-CN" sz="3600" b="1" dirty="0"/>
              <a:t>45.</a:t>
            </a:r>
            <a:r>
              <a:rPr lang="en-US" altLang="zh-CN" sz="3600" b="1" dirty="0">
                <a:solidFill>
                  <a:srgbClr val="FF0000"/>
                </a:solidFill>
              </a:rPr>
              <a:t>the capacity to chart new pathways</a:t>
            </a:r>
            <a:r>
              <a:rPr lang="zh-CN" altLang="zh-CN" sz="3600" b="1" dirty="0">
                <a:solidFill>
                  <a:srgbClr val="FF0000"/>
                </a:solidFill>
              </a:rPr>
              <a:t>开辟新路径的能力</a:t>
            </a:r>
            <a:endParaRPr lang="en-US" altLang="zh-CN" sz="3600" b="1" dirty="0">
              <a:solidFill>
                <a:srgbClr val="FF0000"/>
              </a:solidFill>
            </a:endParaRPr>
          </a:p>
          <a:p>
            <a:r>
              <a:rPr lang="en-US" altLang="zh-CN" sz="3600" b="1" dirty="0">
                <a:solidFill>
                  <a:srgbClr val="FF0000"/>
                </a:solidFill>
              </a:rPr>
              <a:t> chart n.</a:t>
            </a:r>
            <a:r>
              <a:rPr lang="zh-CN" altLang="en-US" sz="3600" b="1" dirty="0">
                <a:solidFill>
                  <a:srgbClr val="FF0000"/>
                </a:solidFill>
              </a:rPr>
              <a:t>图表</a:t>
            </a:r>
            <a:r>
              <a:rPr lang="en-US" altLang="zh-CN" sz="3600" b="1" dirty="0">
                <a:solidFill>
                  <a:srgbClr val="FF0000"/>
                </a:solidFill>
              </a:rPr>
              <a:t>v.</a:t>
            </a:r>
            <a:r>
              <a:rPr lang="zh-CN" altLang="en-US" sz="3600" b="1" dirty="0">
                <a:solidFill>
                  <a:srgbClr val="FF0000"/>
                </a:solidFill>
              </a:rPr>
              <a:t>绘制</a:t>
            </a:r>
            <a:r>
              <a:rPr lang="en-US" altLang="zh-CN" sz="3600" b="1" dirty="0">
                <a:solidFill>
                  <a:srgbClr val="FF0000"/>
                </a:solidFill>
              </a:rPr>
              <a:t>,</a:t>
            </a:r>
            <a:r>
              <a:rPr lang="zh-CN" altLang="en-US" sz="3600" b="1" dirty="0">
                <a:solidFill>
                  <a:srgbClr val="FF0000"/>
                </a:solidFill>
              </a:rPr>
              <a:t>制定   </a:t>
            </a:r>
            <a:r>
              <a:rPr lang="en-US" altLang="zh-CN" sz="3600" b="1" dirty="0">
                <a:solidFill>
                  <a:srgbClr val="FF0000"/>
                </a:solidFill>
              </a:rPr>
              <a:t>the capacity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做某事的能力</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en-US" altLang="zh-CN" sz="3600" b="1" dirty="0">
                <a:solidFill>
                  <a:srgbClr val="FF0000"/>
                </a:solidFill>
              </a:rPr>
              <a:t>10</a:t>
            </a:r>
            <a:r>
              <a:rPr lang="zh-CN" altLang="en-US" sz="3600" b="1" dirty="0">
                <a:solidFill>
                  <a:srgbClr val="FF0000"/>
                </a:solidFill>
              </a:rPr>
              <a:t>月卷</a:t>
            </a:r>
            <a:r>
              <a:rPr lang="en-US" altLang="zh-CN" sz="3600" b="1">
                <a:solidFill>
                  <a:srgbClr val="FF0000"/>
                </a:solidFill>
              </a:rPr>
              <a:t>1 </a:t>
            </a:r>
            <a:r>
              <a:rPr lang="en-US" altLang="zh-CN" sz="3600" b="1" dirty="0"/>
              <a:t>terrain</a:t>
            </a:r>
            <a:r>
              <a:rPr lang="en-US" altLang="zh-CN" sz="3600" b="1" dirty="0">
                <a:solidFill>
                  <a:srgbClr val="FF0000"/>
                </a:solidFill>
              </a:rPr>
              <a:t> shifts</a:t>
            </a:r>
            <a:r>
              <a:rPr lang="zh-CN" altLang="en-US" sz="3600" b="1" dirty="0"/>
              <a:t>地形</a:t>
            </a:r>
            <a:r>
              <a:rPr lang="zh-CN" altLang="en-US" sz="3600" b="1" dirty="0">
                <a:solidFill>
                  <a:srgbClr val="FF0000"/>
                </a:solidFill>
              </a:rPr>
              <a:t>变化</a:t>
            </a:r>
            <a:r>
              <a:rPr lang="en-US" altLang="zh-CN" sz="3600" b="1" dirty="0">
                <a:solidFill>
                  <a:srgbClr val="FF0000"/>
                </a:solidFill>
              </a:rPr>
              <a:t> </a:t>
            </a:r>
            <a:r>
              <a:rPr lang="en-US" altLang="zh-CN" sz="3600" b="1" dirty="0"/>
              <a:t>rugged canyons</a:t>
            </a:r>
            <a:r>
              <a:rPr lang="zh-CN" altLang="en-US" sz="3600" b="1" dirty="0"/>
              <a:t>崎岖的峡谷 </a:t>
            </a:r>
            <a:r>
              <a:rPr lang="en-US" altLang="zh-CN" sz="3600" b="1" dirty="0"/>
              <a:t> </a:t>
            </a:r>
          </a:p>
          <a:p>
            <a:r>
              <a:rPr lang="en-US" altLang="zh-CN" sz="3600" b="1" dirty="0">
                <a:solidFill>
                  <a:srgbClr val="FF0000"/>
                </a:solidFill>
              </a:rPr>
              <a:t> breathtaking views</a:t>
            </a:r>
            <a:r>
              <a:rPr lang="zh-CN" altLang="en-US" sz="3600" b="1" dirty="0">
                <a:solidFill>
                  <a:srgbClr val="FF0000"/>
                </a:solidFill>
              </a:rPr>
              <a:t>令人惊叹的景色      </a:t>
            </a:r>
            <a:r>
              <a:rPr lang="en-US" altLang="zh-CN" sz="3600" b="1" dirty="0">
                <a:solidFill>
                  <a:srgbClr val="FF0000"/>
                </a:solidFill>
              </a:rPr>
              <a:t> a bird’s-eye view</a:t>
            </a:r>
            <a:r>
              <a:rPr lang="zh-CN" altLang="en-US" sz="3600" b="1" dirty="0">
                <a:solidFill>
                  <a:srgbClr val="FF0000"/>
                </a:solidFill>
              </a:rPr>
              <a:t>鸟瞰</a:t>
            </a:r>
            <a:endParaRPr lang="en-US" altLang="zh-CN" sz="3600" b="1" dirty="0">
              <a:solidFill>
                <a:srgbClr val="FF0000"/>
              </a:solidFill>
            </a:endParaRPr>
          </a:p>
          <a:p>
            <a:r>
              <a:rPr lang="en-US" altLang="zh-CN" sz="3600" b="1" dirty="0">
                <a:solidFill>
                  <a:srgbClr val="FF0000"/>
                </a:solidFill>
              </a:rPr>
              <a:t> ever-changing landscapes</a:t>
            </a:r>
            <a:r>
              <a:rPr lang="zh-CN" altLang="en-US" sz="3600" b="1" dirty="0">
                <a:solidFill>
                  <a:srgbClr val="FF0000"/>
                </a:solidFill>
              </a:rPr>
              <a:t>不断变化的风景</a:t>
            </a:r>
            <a:endParaRPr lang="en-US" altLang="zh-CN" sz="3600" b="1" dirty="0">
              <a:solidFill>
                <a:srgbClr val="FF0000"/>
              </a:solidFill>
            </a:endParaRPr>
          </a:p>
          <a:p>
            <a:r>
              <a:rPr lang="en-US" altLang="zh-CN" sz="3600" b="1" dirty="0">
                <a:solidFill>
                  <a:srgbClr val="FF0000"/>
                </a:solidFill>
              </a:rPr>
              <a:t> safety considerations</a:t>
            </a:r>
            <a:r>
              <a:rPr lang="zh-CN" altLang="en-US" sz="3600" b="1" dirty="0">
                <a:solidFill>
                  <a:srgbClr val="FF0000"/>
                </a:solidFill>
              </a:rPr>
              <a:t>安全考虑              </a:t>
            </a:r>
            <a:r>
              <a:rPr lang="en-US" altLang="zh-CN" sz="3600" b="1" dirty="0">
                <a:solidFill>
                  <a:srgbClr val="FF0000"/>
                </a:solidFill>
              </a:rPr>
              <a:t>helmet</a:t>
            </a:r>
            <a:r>
              <a:rPr lang="zh-CN" altLang="en-US" sz="3600" b="1" dirty="0">
                <a:solidFill>
                  <a:srgbClr val="FF0000"/>
                </a:solidFill>
              </a:rPr>
              <a:t>头盔</a:t>
            </a:r>
            <a:endParaRPr lang="en-US" altLang="zh-CN" sz="3600" b="1" dirty="0">
              <a:solidFill>
                <a:srgbClr val="FF0000"/>
              </a:solidFill>
            </a:endParaRPr>
          </a:p>
          <a:p>
            <a:r>
              <a:rPr lang="en-US" altLang="zh-CN" sz="3600" b="1" dirty="0">
                <a:solidFill>
                  <a:srgbClr val="FF0000"/>
                </a:solidFill>
              </a:rPr>
              <a:t> submission procedures</a:t>
            </a:r>
            <a:r>
              <a:rPr lang="zh-CN" altLang="en-US" sz="3600" b="1" dirty="0">
                <a:solidFill>
                  <a:srgbClr val="FF0000"/>
                </a:solidFill>
              </a:rPr>
              <a:t>提交程序</a:t>
            </a:r>
            <a:endParaRPr lang="en-US" altLang="zh-CN" sz="3600" b="1" dirty="0">
              <a:solidFill>
                <a:srgbClr val="FF0000"/>
              </a:solidFill>
            </a:endParaRPr>
          </a:p>
          <a:p>
            <a:r>
              <a:rPr lang="en-US" altLang="zh-CN" sz="3600" b="1" dirty="0">
                <a:solidFill>
                  <a:srgbClr val="FF0000"/>
                </a:solidFill>
              </a:rPr>
              <a:t> requirements for registration</a:t>
            </a:r>
            <a:r>
              <a:rPr lang="zh-CN" altLang="en-US" sz="3600" b="1" dirty="0">
                <a:solidFill>
                  <a:srgbClr val="FF0000"/>
                </a:solidFill>
              </a:rPr>
              <a:t>注册要求</a:t>
            </a:r>
            <a:endParaRPr lang="en-US" altLang="zh-CN" sz="3600" b="1" dirty="0">
              <a:solidFill>
                <a:srgbClr val="FF0000"/>
              </a:solidFill>
            </a:endParaRPr>
          </a:p>
          <a:p>
            <a:r>
              <a:rPr lang="en-US" altLang="zh-CN" sz="3600" b="1" dirty="0">
                <a:solidFill>
                  <a:srgbClr val="FF0000"/>
                </a:solidFill>
              </a:rPr>
              <a:t> be content/discontent with</a:t>
            </a:r>
            <a:r>
              <a:rPr lang="zh-CN" altLang="en-US" sz="3600" b="1" dirty="0">
                <a:solidFill>
                  <a:srgbClr val="FF0000"/>
                </a:solidFill>
              </a:rPr>
              <a:t>对</a:t>
            </a:r>
            <a:r>
              <a:rPr lang="en-US" altLang="zh-CN" sz="3600" b="1" dirty="0">
                <a:solidFill>
                  <a:srgbClr val="FF0000"/>
                </a:solidFill>
              </a:rPr>
              <a:t>…</a:t>
            </a:r>
            <a:r>
              <a:rPr lang="zh-CN" altLang="en-US" sz="3600" b="1" dirty="0">
                <a:solidFill>
                  <a:srgbClr val="FF0000"/>
                </a:solidFill>
              </a:rPr>
              <a:t>满意</a:t>
            </a:r>
            <a:r>
              <a:rPr lang="en-US" altLang="zh-CN" sz="3600" b="1" dirty="0">
                <a:solidFill>
                  <a:srgbClr val="FF0000"/>
                </a:solidFill>
              </a:rPr>
              <a:t>/</a:t>
            </a:r>
            <a:r>
              <a:rPr lang="zh-CN" altLang="en-US" sz="3600" b="1" dirty="0">
                <a:solidFill>
                  <a:srgbClr val="FF0000"/>
                </a:solidFill>
              </a:rPr>
              <a:t>不满</a:t>
            </a:r>
            <a:endParaRPr lang="en-US" altLang="zh-CN" sz="3600" b="1" dirty="0">
              <a:solidFill>
                <a:srgbClr val="FF0000"/>
              </a:solidFill>
            </a:endParaRPr>
          </a:p>
          <a:p>
            <a:r>
              <a:rPr lang="en-US" altLang="zh-CN" sz="3600" b="1" dirty="0">
                <a:solidFill>
                  <a:srgbClr val="FF0000"/>
                </a:solidFill>
              </a:rPr>
              <a:t> far from being practicable</a:t>
            </a:r>
            <a:r>
              <a:rPr lang="zh-CN" altLang="en-US" sz="3600" b="1" dirty="0">
                <a:solidFill>
                  <a:srgbClr val="FF0000"/>
                </a:solidFill>
              </a:rPr>
              <a:t>一点都不可行</a:t>
            </a:r>
            <a:endParaRPr lang="en-US" altLang="zh-CN" sz="3600" b="1" dirty="0">
              <a:solidFill>
                <a:srgbClr val="FF0000"/>
              </a:solidFill>
            </a:endParaRPr>
          </a:p>
          <a:p>
            <a:r>
              <a:rPr lang="en-US" altLang="zh-CN" sz="3600" b="1" dirty="0">
                <a:solidFill>
                  <a:srgbClr val="FF0000"/>
                </a:solidFill>
              </a:rPr>
              <a:t> win one’s favor</a:t>
            </a:r>
            <a:r>
              <a:rPr lang="zh-CN" altLang="en-US" sz="3600" b="1" dirty="0">
                <a:solidFill>
                  <a:srgbClr val="FF0000"/>
                </a:solidFill>
              </a:rPr>
              <a:t>赢得某人的好感  </a:t>
            </a:r>
            <a:r>
              <a:rPr lang="en-US" altLang="zh-CN" sz="3600" b="1" dirty="0">
                <a:solidFill>
                  <a:srgbClr val="FF0000"/>
                </a:solidFill>
              </a:rPr>
              <a:t>be tailored for</a:t>
            </a:r>
            <a:r>
              <a:rPr lang="zh-CN" altLang="en-US" sz="3600" b="1" dirty="0">
                <a:solidFill>
                  <a:srgbClr val="FF0000"/>
                </a:solidFill>
              </a:rPr>
              <a:t>为</a:t>
            </a:r>
            <a:r>
              <a:rPr lang="en-US" altLang="zh-CN" sz="3600" b="1" dirty="0">
                <a:solidFill>
                  <a:srgbClr val="FF0000"/>
                </a:solidFill>
              </a:rPr>
              <a:t>…</a:t>
            </a:r>
            <a:r>
              <a:rPr lang="zh-CN" altLang="en-US" sz="3600" b="1" dirty="0">
                <a:solidFill>
                  <a:srgbClr val="FF0000"/>
                </a:solidFill>
              </a:rPr>
              <a:t>量身定制</a:t>
            </a:r>
            <a:endParaRPr lang="en-US" altLang="zh-CN" sz="3600" b="1" dirty="0">
              <a:solidFill>
                <a:srgbClr val="FF0000"/>
              </a:solidFill>
            </a:endParaRPr>
          </a:p>
          <a:p>
            <a:r>
              <a:rPr lang="en-US" altLang="zh-CN" sz="3600" b="1" dirty="0">
                <a:solidFill>
                  <a:srgbClr val="FF0000"/>
                </a:solidFill>
              </a:rPr>
              <a:t> secure funding</a:t>
            </a:r>
            <a:r>
              <a:rPr lang="zh-CN" altLang="en-US" sz="3600" b="1" dirty="0">
                <a:solidFill>
                  <a:srgbClr val="FF0000"/>
                </a:solidFill>
              </a:rPr>
              <a:t>获得资金 </a:t>
            </a:r>
            <a:r>
              <a:rPr lang="en-US" altLang="zh-CN" sz="3600" b="1" dirty="0">
                <a:solidFill>
                  <a:srgbClr val="FF0000"/>
                </a:solidFill>
              </a:rPr>
              <a:t>financial investment</a:t>
            </a:r>
            <a:r>
              <a:rPr lang="zh-CN" altLang="en-US" sz="3600" b="1" dirty="0">
                <a:solidFill>
                  <a:srgbClr val="FF0000"/>
                </a:solidFill>
              </a:rPr>
              <a:t>金融投资         </a:t>
            </a:r>
            <a:endParaRPr lang="en-US" altLang="zh-CN" sz="3600" b="1" dirty="0">
              <a:solidFill>
                <a:srgbClr val="FF0000"/>
              </a:solidFill>
            </a:endParaRPr>
          </a:p>
          <a:p>
            <a:r>
              <a:rPr lang="en-US" altLang="zh-CN" sz="3600" b="1" dirty="0">
                <a:solidFill>
                  <a:srgbClr val="FF0000"/>
                </a:solidFill>
              </a:rPr>
              <a:t> time-consuming</a:t>
            </a:r>
            <a:r>
              <a:rPr lang="zh-CN" altLang="en-US" sz="3600" b="1" dirty="0">
                <a:solidFill>
                  <a:srgbClr val="FF0000"/>
                </a:solidFill>
              </a:rPr>
              <a:t>耗时的  </a:t>
            </a:r>
            <a:r>
              <a:rPr lang="en-US" altLang="zh-CN" sz="3600" b="1" dirty="0"/>
              <a:t>a</a:t>
            </a:r>
            <a:r>
              <a:rPr lang="en-US" altLang="zh-CN" sz="3600" b="1" dirty="0">
                <a:solidFill>
                  <a:srgbClr val="FF0000"/>
                </a:solidFill>
              </a:rPr>
              <a:t> consistent </a:t>
            </a:r>
            <a:r>
              <a:rPr lang="en-US" altLang="zh-CN" sz="3600" b="1" dirty="0"/>
              <a:t>shape</a:t>
            </a:r>
            <a:r>
              <a:rPr lang="zh-CN" altLang="en-US" sz="3600" b="1" dirty="0">
                <a:solidFill>
                  <a:srgbClr val="FF0000"/>
                </a:solidFill>
              </a:rPr>
              <a:t>一致的形状  </a:t>
            </a:r>
            <a:r>
              <a:rPr lang="en-US" altLang="zh-CN" sz="3600" b="1" dirty="0">
                <a:solidFill>
                  <a:srgbClr val="FF0000"/>
                </a:solidFill>
              </a:rPr>
              <a:t>be fed into</a:t>
            </a:r>
            <a:r>
              <a:rPr lang="zh-CN" altLang="en-US" sz="3600" b="1" dirty="0">
                <a:solidFill>
                  <a:srgbClr val="FF0000"/>
                </a:solidFill>
              </a:rPr>
              <a:t>被输入</a:t>
            </a:r>
            <a:r>
              <a:rPr lang="en-US" altLang="zh-CN" sz="3600" b="1" dirty="0">
                <a:solidFill>
                  <a:srgbClr val="FF0000"/>
                </a:solidFill>
              </a:rPr>
              <a:t> brainstorm</a:t>
            </a:r>
            <a:r>
              <a:rPr lang="zh-CN" altLang="en-US" sz="3600" b="1" dirty="0">
                <a:solidFill>
                  <a:srgbClr val="FF0000"/>
                </a:solidFill>
              </a:rPr>
              <a:t>集思广益    </a:t>
            </a:r>
            <a:endParaRPr lang="en-US" altLang="zh-CN" sz="3600" b="1" dirty="0">
              <a:solidFill>
                <a:srgbClr val="FF0000"/>
              </a:solidFill>
            </a:endParaRPr>
          </a:p>
          <a:p>
            <a:r>
              <a:rPr lang="en-US" altLang="zh-CN" sz="3600" b="1" dirty="0">
                <a:solidFill>
                  <a:srgbClr val="FF0000"/>
                </a:solidFill>
              </a:rPr>
              <a:t> sustainable</a:t>
            </a:r>
            <a:r>
              <a:rPr lang="zh-CN" altLang="en-US" sz="3600" b="1" dirty="0">
                <a:solidFill>
                  <a:srgbClr val="FF0000"/>
                </a:solidFill>
              </a:rPr>
              <a:t>可持续的</a:t>
            </a:r>
            <a:r>
              <a:rPr lang="en-US" altLang="zh-CN" sz="3600" b="1" dirty="0">
                <a:solidFill>
                  <a:srgbClr val="FF0000"/>
                </a:solidFill>
              </a:rPr>
              <a:t>  a flexible mind</a:t>
            </a:r>
            <a:r>
              <a:rPr lang="zh-CN" altLang="en-US" sz="3600" b="1" dirty="0">
                <a:solidFill>
                  <a:srgbClr val="FF0000"/>
                </a:solidFill>
              </a:rPr>
              <a:t>灵活的头脑</a:t>
            </a:r>
            <a:endParaRPr lang="en-US" altLang="zh-CN" sz="3600" b="1" dirty="0">
              <a:solidFill>
                <a:srgbClr val="FF0000"/>
              </a:solidFill>
            </a:endParaRPr>
          </a:p>
          <a:p>
            <a:r>
              <a:rPr lang="en-US" altLang="zh-CN" sz="3600" b="1" dirty="0">
                <a:solidFill>
                  <a:srgbClr val="FF0000"/>
                </a:solidFill>
              </a:rPr>
              <a:t> take a step back and look for other solutions</a:t>
            </a:r>
            <a:r>
              <a:rPr lang="zh-CN" altLang="en-US" dirty="0">
                <a:solidFill>
                  <a:srgbClr val="FF0000"/>
                </a:solidFill>
              </a:rPr>
              <a:t>退后一步寻找其他解决方案</a:t>
            </a:r>
            <a:endParaRPr lang="en-US" altLang="zh-CN" sz="3600" b="1" dirty="0">
              <a:solidFill>
                <a:srgbClr val="FF0000"/>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consistency</a:t>
            </a:r>
            <a:r>
              <a:rPr lang="zh-CN" altLang="en-US" sz="3600" b="1" dirty="0">
                <a:solidFill>
                  <a:srgbClr val="FF0000"/>
                </a:solidFill>
              </a:rPr>
              <a:t> 一致连贯性</a:t>
            </a:r>
            <a:r>
              <a:rPr lang="en-US" altLang="zh-CN" sz="3600" b="1" dirty="0">
                <a:solidFill>
                  <a:srgbClr val="FF0000"/>
                </a:solidFill>
              </a:rPr>
              <a:t>=continuity</a:t>
            </a:r>
          </a:p>
          <a:p>
            <a:r>
              <a:rPr lang="en-US" altLang="zh-CN" sz="3600" b="1" dirty="0">
                <a:solidFill>
                  <a:srgbClr val="FF0000"/>
                </a:solidFill>
              </a:rPr>
              <a:t> take note of</a:t>
            </a:r>
            <a:r>
              <a:rPr lang="zh-CN" altLang="en-US" sz="3600" b="1" dirty="0">
                <a:solidFill>
                  <a:srgbClr val="FF0000"/>
                </a:solidFill>
              </a:rPr>
              <a:t>注意到 </a:t>
            </a:r>
            <a:r>
              <a:rPr lang="en-US" altLang="zh-CN" sz="3600" b="1" dirty="0">
                <a:solidFill>
                  <a:srgbClr val="FF0000"/>
                </a:solidFill>
              </a:rPr>
              <a:t> document n.</a:t>
            </a:r>
            <a:r>
              <a:rPr lang="zh-CN" altLang="en-US" sz="3600" b="1" dirty="0">
                <a:solidFill>
                  <a:srgbClr val="FF0000"/>
                </a:solidFill>
              </a:rPr>
              <a:t>文件</a:t>
            </a:r>
            <a:r>
              <a:rPr lang="en-US" altLang="zh-CN" sz="3600" b="1" dirty="0">
                <a:solidFill>
                  <a:srgbClr val="FF0000"/>
                </a:solidFill>
              </a:rPr>
              <a:t>v.</a:t>
            </a:r>
            <a:r>
              <a:rPr lang="zh-CN" altLang="en-US" sz="3600" b="1" dirty="0">
                <a:solidFill>
                  <a:srgbClr val="FF0000"/>
                </a:solidFill>
              </a:rPr>
              <a:t>记录</a:t>
            </a:r>
            <a:r>
              <a:rPr lang="en-US" altLang="zh-CN" sz="3600" b="1" dirty="0">
                <a:solidFill>
                  <a:srgbClr val="FF0000"/>
                </a:solidFill>
              </a:rPr>
              <a:t>integrate…into</a:t>
            </a:r>
            <a:r>
              <a:rPr lang="zh-CN" altLang="en-US" sz="3600" b="1" dirty="0">
                <a:solidFill>
                  <a:srgbClr val="FF0000"/>
                </a:solidFill>
              </a:rPr>
              <a:t>融入加入</a:t>
            </a:r>
            <a:r>
              <a:rPr lang="en-US" altLang="zh-CN" sz="3600" b="1" dirty="0">
                <a:solidFill>
                  <a:srgbClr val="FF0000"/>
                </a:solidFill>
              </a:rPr>
              <a:t> track the number of consecutive days</a:t>
            </a:r>
            <a:r>
              <a:rPr lang="zh-CN" altLang="en-US" sz="3600" b="1" dirty="0">
                <a:solidFill>
                  <a:srgbClr val="FF0000"/>
                </a:solidFill>
              </a:rPr>
              <a:t>记录连续天数    </a:t>
            </a:r>
            <a:r>
              <a:rPr lang="en-US" altLang="zh-CN" sz="3600" b="1" dirty="0">
                <a:solidFill>
                  <a:srgbClr val="FF0000"/>
                </a:solidFill>
              </a:rPr>
              <a:t>motivate sb.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激励</a:t>
            </a:r>
            <a:endParaRPr lang="en-US" altLang="zh-CN" sz="3600" b="1" dirty="0">
              <a:solidFill>
                <a:srgbClr val="FF0000"/>
              </a:solidFill>
            </a:endParaRPr>
          </a:p>
          <a:p>
            <a:r>
              <a:rPr lang="en-US" altLang="zh-CN" sz="3600" b="1" dirty="0">
                <a:solidFill>
                  <a:srgbClr val="FF0000"/>
                </a:solidFill>
              </a:rPr>
              <a:t> efficiency  n.</a:t>
            </a:r>
            <a:r>
              <a:rPr lang="zh-CN" altLang="en-US" sz="3600" b="1" dirty="0">
                <a:solidFill>
                  <a:srgbClr val="FF0000"/>
                </a:solidFill>
              </a:rPr>
              <a:t>效率</a:t>
            </a:r>
            <a:r>
              <a:rPr lang="en-US" altLang="zh-CN" sz="3600" b="1" dirty="0">
                <a:solidFill>
                  <a:srgbClr val="FF0000"/>
                </a:solidFill>
              </a:rPr>
              <a:t>    capacity n.</a:t>
            </a:r>
            <a:r>
              <a:rPr lang="zh-CN" altLang="en-US" sz="3600" b="1" dirty="0">
                <a:solidFill>
                  <a:srgbClr val="FF0000"/>
                </a:solidFill>
              </a:rPr>
              <a:t>能力   </a:t>
            </a:r>
            <a:r>
              <a:rPr lang="en-US" altLang="zh-CN" sz="3600" b="1" dirty="0">
                <a:solidFill>
                  <a:srgbClr val="FF0000"/>
                </a:solidFill>
              </a:rPr>
              <a:t>usability n.</a:t>
            </a:r>
            <a:r>
              <a:rPr lang="zh-CN" altLang="en-US" sz="3600" b="1" dirty="0">
                <a:solidFill>
                  <a:srgbClr val="FF0000"/>
                </a:solidFill>
              </a:rPr>
              <a:t>可用性</a:t>
            </a:r>
            <a:endParaRPr lang="en-US" altLang="zh-CN" sz="3600" b="1" dirty="0">
              <a:solidFill>
                <a:srgbClr val="FF0000"/>
              </a:solidFill>
            </a:endParaRPr>
          </a:p>
          <a:p>
            <a:r>
              <a:rPr lang="en-US" altLang="zh-CN" sz="3600" b="1" dirty="0">
                <a:solidFill>
                  <a:srgbClr val="FF0000"/>
                </a:solidFill>
              </a:rPr>
              <a:t>distinguish </a:t>
            </a:r>
            <a:r>
              <a:rPr lang="en-US" altLang="zh-CN" sz="3600" b="1" dirty="0"/>
              <a:t>a streak </a:t>
            </a:r>
            <a:r>
              <a:rPr lang="en-US" altLang="zh-CN" sz="3600" b="1" dirty="0">
                <a:solidFill>
                  <a:srgbClr val="FF0000"/>
                </a:solidFill>
              </a:rPr>
              <a:t>from </a:t>
            </a:r>
            <a:r>
              <a:rPr lang="en-US" altLang="zh-CN" sz="3600" b="1" dirty="0"/>
              <a:t>a habit  </a:t>
            </a:r>
            <a:r>
              <a:rPr lang="zh-CN" altLang="en-US" sz="3600" b="1" dirty="0">
                <a:solidFill>
                  <a:srgbClr val="FF0000"/>
                </a:solidFill>
              </a:rPr>
              <a:t>区分</a:t>
            </a:r>
            <a:endParaRPr lang="en-US" altLang="zh-CN" sz="3600" b="1" dirty="0">
              <a:solidFill>
                <a:srgbClr val="FF0000"/>
              </a:solidFill>
            </a:endParaRPr>
          </a:p>
          <a:p>
            <a:r>
              <a:rPr lang="en-US" altLang="zh-CN" sz="3600" b="1" dirty="0">
                <a:solidFill>
                  <a:srgbClr val="FF0000"/>
                </a:solidFill>
              </a:rPr>
              <a:t>automatic responses</a:t>
            </a:r>
            <a:r>
              <a:rPr lang="zh-CN" altLang="en-US" sz="3600" b="1" dirty="0">
                <a:solidFill>
                  <a:srgbClr val="FF0000"/>
                </a:solidFill>
              </a:rPr>
              <a:t>自动反应 </a:t>
            </a:r>
            <a:r>
              <a:rPr lang="en-US" altLang="zh-CN" sz="3600" b="1" dirty="0">
                <a:solidFill>
                  <a:srgbClr val="FF0000"/>
                </a:solidFill>
              </a:rPr>
              <a:t>conscious efforts</a:t>
            </a:r>
            <a:r>
              <a:rPr lang="zh-CN" altLang="en-US" sz="3600" b="1" dirty="0">
                <a:solidFill>
                  <a:srgbClr val="FF0000"/>
                </a:solidFill>
              </a:rPr>
              <a:t>有意识的努力</a:t>
            </a:r>
            <a:r>
              <a:rPr lang="en-US" altLang="zh-CN" sz="3600" b="1" dirty="0">
                <a:solidFill>
                  <a:srgbClr val="FF0000"/>
                </a:solidFill>
              </a:rPr>
              <a:t>  on occasion</a:t>
            </a:r>
            <a:r>
              <a:rPr lang="zh-CN" altLang="en-US" sz="3600" b="1" dirty="0">
                <a:solidFill>
                  <a:srgbClr val="FF0000"/>
                </a:solidFill>
              </a:rPr>
              <a:t>偶尔        </a:t>
            </a:r>
            <a:r>
              <a:rPr lang="en-US" altLang="zh-CN" sz="3600" b="1" dirty="0">
                <a:solidFill>
                  <a:srgbClr val="FF0000"/>
                </a:solidFill>
              </a:rPr>
              <a:t>Contrarily, </a:t>
            </a:r>
            <a:r>
              <a:rPr lang="zh-CN" altLang="en-US" sz="3600" b="1" dirty="0">
                <a:solidFill>
                  <a:srgbClr val="FF0000"/>
                </a:solidFill>
              </a:rPr>
              <a:t>相反，</a:t>
            </a:r>
            <a:endParaRPr lang="en-US" altLang="zh-CN" sz="3600" b="1" dirty="0">
              <a:solidFill>
                <a:srgbClr val="FF0000"/>
              </a:solidFill>
            </a:endParaRPr>
          </a:p>
          <a:p>
            <a:r>
              <a:rPr lang="en-US" altLang="zh-CN" sz="3600" b="1" dirty="0">
                <a:solidFill>
                  <a:srgbClr val="FF0000"/>
                </a:solidFill>
              </a:rPr>
              <a:t> terminate v.</a:t>
            </a:r>
            <a:r>
              <a:rPr lang="zh-CN" altLang="en-US" sz="3600" b="1" dirty="0">
                <a:solidFill>
                  <a:srgbClr val="FF0000"/>
                </a:solidFill>
              </a:rPr>
              <a:t>终止</a:t>
            </a:r>
            <a:r>
              <a:rPr lang="en-US" altLang="zh-CN" sz="3600" b="1" dirty="0">
                <a:solidFill>
                  <a:srgbClr val="FF0000"/>
                </a:solidFill>
              </a:rPr>
              <a:t>=discontinue</a:t>
            </a:r>
          </a:p>
          <a:p>
            <a:r>
              <a:rPr lang="en-US" altLang="zh-CN" sz="3600" b="1" dirty="0">
                <a:solidFill>
                  <a:srgbClr val="FF0000"/>
                </a:solidFill>
              </a:rPr>
              <a:t> highlight v.</a:t>
            </a:r>
            <a:r>
              <a:rPr lang="zh-CN" altLang="en-US" sz="3600" b="1" dirty="0">
                <a:solidFill>
                  <a:srgbClr val="FF0000"/>
                </a:solidFill>
              </a:rPr>
              <a:t>突出强调</a:t>
            </a:r>
            <a:r>
              <a:rPr lang="en-US" altLang="zh-CN" sz="3600" b="1" dirty="0">
                <a:solidFill>
                  <a:srgbClr val="FF0000"/>
                </a:solidFill>
              </a:rPr>
              <a:t>n.</a:t>
            </a:r>
            <a:r>
              <a:rPr lang="zh-CN" altLang="en-US" sz="3600" b="1" dirty="0">
                <a:solidFill>
                  <a:srgbClr val="FF0000"/>
                </a:solidFill>
              </a:rPr>
              <a:t>最好的部分</a:t>
            </a:r>
            <a:endParaRPr lang="en-US" altLang="zh-CN" sz="3600" b="1" dirty="0">
              <a:solidFill>
                <a:srgbClr val="FF0000"/>
              </a:solidFill>
            </a:endParaRPr>
          </a:p>
          <a:p>
            <a:r>
              <a:rPr lang="en-US" altLang="zh-CN" sz="3600" b="1" dirty="0">
                <a:solidFill>
                  <a:srgbClr val="FF0000"/>
                </a:solidFill>
              </a:rPr>
              <a:t> structure n. </a:t>
            </a:r>
            <a:r>
              <a:rPr lang="zh-CN" altLang="en-US" sz="3600" b="1" dirty="0">
                <a:solidFill>
                  <a:srgbClr val="FF0000"/>
                </a:solidFill>
              </a:rPr>
              <a:t>结构</a:t>
            </a:r>
            <a:r>
              <a:rPr lang="en-US" altLang="zh-CN" sz="3600" b="1" dirty="0">
                <a:solidFill>
                  <a:srgbClr val="FF0000"/>
                </a:solidFill>
              </a:rPr>
              <a:t>;</a:t>
            </a:r>
            <a:r>
              <a:rPr lang="zh-CN" altLang="en-US" sz="3600" b="1" dirty="0">
                <a:solidFill>
                  <a:srgbClr val="FF0000"/>
                </a:solidFill>
              </a:rPr>
              <a:t>组织机构</a:t>
            </a:r>
            <a:r>
              <a:rPr lang="en-US" altLang="zh-CN" sz="3600" b="1" dirty="0">
                <a:solidFill>
                  <a:srgbClr val="FF0000"/>
                </a:solidFill>
              </a:rPr>
              <a:t>,</a:t>
            </a:r>
            <a:r>
              <a:rPr lang="zh-CN" altLang="en-US" sz="3600" b="1" dirty="0">
                <a:solidFill>
                  <a:srgbClr val="FF0000"/>
                </a:solidFill>
              </a:rPr>
              <a:t>体系 </a:t>
            </a:r>
            <a:r>
              <a:rPr lang="en-US" altLang="zh-CN" sz="3600" b="1" dirty="0">
                <a:solidFill>
                  <a:srgbClr val="FF0000"/>
                </a:solidFill>
              </a:rPr>
              <a:t>v.</a:t>
            </a:r>
            <a:r>
              <a:rPr lang="zh-CN" altLang="en-US" sz="3600" b="1" dirty="0">
                <a:solidFill>
                  <a:srgbClr val="FF0000"/>
                </a:solidFill>
              </a:rPr>
              <a:t>组织</a:t>
            </a:r>
            <a:r>
              <a:rPr lang="en-US" altLang="zh-CN" sz="3600" b="1" dirty="0">
                <a:solidFill>
                  <a:srgbClr val="FF0000"/>
                </a:solidFill>
              </a:rPr>
              <a:t>,</a:t>
            </a:r>
            <a:r>
              <a:rPr lang="zh-CN" altLang="en-US" sz="3600" b="1" dirty="0">
                <a:solidFill>
                  <a:srgbClr val="FF0000"/>
                </a:solidFill>
              </a:rPr>
              <a:t>安排</a:t>
            </a:r>
            <a:endParaRPr lang="en-US" altLang="zh-CN" sz="3600" b="1" dirty="0">
              <a:solidFill>
                <a:srgbClr val="FF0000"/>
              </a:solidFill>
            </a:endParaRPr>
          </a:p>
          <a:p>
            <a:r>
              <a:rPr lang="en-US" altLang="zh-CN" sz="4400" b="1" dirty="0">
                <a:solidFill>
                  <a:srgbClr val="FF0000"/>
                </a:solidFill>
              </a:rPr>
              <a:t>complexity n.</a:t>
            </a:r>
            <a:r>
              <a:rPr lang="zh-CN" altLang="en-US" sz="3600" b="1" dirty="0">
                <a:solidFill>
                  <a:srgbClr val="FF0000"/>
                </a:solidFill>
              </a:rPr>
              <a:t>复杂性  </a:t>
            </a:r>
            <a:r>
              <a:rPr lang="en-US" altLang="zh-CN" sz="3600" b="1" dirty="0">
                <a:solidFill>
                  <a:srgbClr val="FF0000"/>
                </a:solidFill>
              </a:rPr>
              <a:t>tolerant</a:t>
            </a:r>
            <a:r>
              <a:rPr lang="zh-CN" altLang="en-US" sz="3600" b="1" dirty="0">
                <a:solidFill>
                  <a:srgbClr val="FF0000"/>
                </a:solidFill>
              </a:rPr>
              <a:t>容忍的</a:t>
            </a:r>
          </a:p>
          <a:p>
            <a:endParaRPr lang="en-US" altLang="zh-CN" sz="3600" b="1" dirty="0">
              <a:solidFill>
                <a:srgbClr val="FF0000"/>
              </a:solidFill>
            </a:endParaRPr>
          </a:p>
          <a:p>
            <a:pPr marL="0" indent="0">
              <a:buNone/>
            </a:pPr>
            <a:endParaRPr lang="en-US" altLang="zh-CN"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500" b="1" dirty="0">
                <a:solidFill>
                  <a:srgbClr val="FF0000"/>
                </a:solidFill>
              </a:rPr>
              <a:t>U4(</a:t>
            </a:r>
            <a:r>
              <a:rPr lang="zh-CN" altLang="en-US" sz="3500" b="1" dirty="0">
                <a:solidFill>
                  <a:srgbClr val="FF0000"/>
                </a:solidFill>
              </a:rPr>
              <a:t>一</a:t>
            </a:r>
            <a:r>
              <a:rPr lang="en-US" altLang="zh-CN" sz="3500" b="1" dirty="0">
                <a:solidFill>
                  <a:srgbClr val="FF0000"/>
                </a:solidFill>
              </a:rPr>
              <a:t>)1.frozen adj.</a:t>
            </a:r>
            <a:r>
              <a:rPr lang="zh-CN" altLang="en-US" sz="3500" b="1" dirty="0">
                <a:solidFill>
                  <a:srgbClr val="FF0000"/>
                </a:solidFill>
              </a:rPr>
              <a:t>结冰的</a:t>
            </a:r>
            <a:r>
              <a:rPr lang="en-US" altLang="zh-CN" sz="3500" b="1" dirty="0">
                <a:solidFill>
                  <a:srgbClr val="FF0000"/>
                </a:solidFill>
              </a:rPr>
              <a:t>;</a:t>
            </a:r>
            <a:r>
              <a:rPr lang="zh-CN" altLang="en-US" sz="3500" b="1" dirty="0">
                <a:solidFill>
                  <a:srgbClr val="FF0000"/>
                </a:solidFill>
              </a:rPr>
              <a:t>冷冻的</a:t>
            </a:r>
            <a:r>
              <a:rPr lang="en-US" altLang="zh-CN" sz="3500" b="1" dirty="0">
                <a:solidFill>
                  <a:srgbClr val="FF0000"/>
                </a:solidFill>
              </a:rPr>
              <a:t>;</a:t>
            </a:r>
            <a:r>
              <a:rPr lang="zh-CN" altLang="en-US" sz="3500" b="1" dirty="0">
                <a:solidFill>
                  <a:srgbClr val="FF0000"/>
                </a:solidFill>
              </a:rPr>
              <a:t>冻僵的</a:t>
            </a:r>
            <a:r>
              <a:rPr lang="en-US" altLang="en-US" sz="3500" b="1" dirty="0">
                <a:solidFill>
                  <a:srgbClr val="FF0000"/>
                </a:solidFill>
              </a:rPr>
              <a:t>→</a:t>
            </a:r>
            <a:r>
              <a:rPr lang="en-US" altLang="zh-CN" sz="3500" b="1" dirty="0">
                <a:solidFill>
                  <a:srgbClr val="FF0000"/>
                </a:solidFill>
                <a:highlight>
                  <a:srgbClr val="FFFF00"/>
                </a:highlight>
              </a:rPr>
              <a:t>freeze </a:t>
            </a:r>
            <a:r>
              <a:rPr lang="en-US" altLang="zh-CN" sz="3500" b="1" dirty="0">
                <a:solidFill>
                  <a:srgbClr val="FF0000"/>
                </a:solidFill>
              </a:rPr>
              <a:t>v.</a:t>
            </a:r>
            <a:r>
              <a:rPr lang="zh-CN" altLang="en-US" sz="3500" b="1" dirty="0">
                <a:solidFill>
                  <a:srgbClr val="FF0000"/>
                </a:solidFill>
              </a:rPr>
              <a:t>结冰</a:t>
            </a:r>
            <a:r>
              <a:rPr lang="en-US" altLang="en-US" sz="3500" b="1" dirty="0">
                <a:solidFill>
                  <a:srgbClr val="FF0000"/>
                </a:solidFill>
              </a:rPr>
              <a:t>→</a:t>
            </a:r>
            <a:r>
              <a:rPr lang="en-US" altLang="zh-CN" sz="3500" b="1" dirty="0">
                <a:solidFill>
                  <a:srgbClr val="FF0000"/>
                </a:solidFill>
                <a:highlight>
                  <a:srgbClr val="FFFF00"/>
                </a:highlight>
              </a:rPr>
              <a:t>freezing </a:t>
            </a:r>
            <a:r>
              <a:rPr lang="en-US" altLang="zh-CN" sz="3500" b="1" dirty="0">
                <a:solidFill>
                  <a:srgbClr val="FF0000"/>
                </a:solidFill>
              </a:rPr>
              <a:t>adj.</a:t>
            </a:r>
            <a:r>
              <a:rPr lang="zh-CN" altLang="en-US" sz="3500" b="1" dirty="0">
                <a:solidFill>
                  <a:srgbClr val="FF0000"/>
                </a:solidFill>
              </a:rPr>
              <a:t>极冷的</a:t>
            </a:r>
          </a:p>
          <a:p>
            <a:r>
              <a:rPr lang="en-US" altLang="zh-CN" sz="3500" b="1" dirty="0">
                <a:solidFill>
                  <a:srgbClr val="FF0000"/>
                </a:solidFill>
              </a:rPr>
              <a:t>2.imply vt.</a:t>
            </a:r>
            <a:r>
              <a:rPr lang="zh-CN" altLang="en-US" sz="3500" b="1" dirty="0">
                <a:solidFill>
                  <a:srgbClr val="FF0000"/>
                </a:solidFill>
              </a:rPr>
              <a:t>含有</a:t>
            </a:r>
            <a:r>
              <a:rPr lang="en-US" altLang="zh-CN" sz="3500" b="1" dirty="0">
                <a:solidFill>
                  <a:srgbClr val="FF0000"/>
                </a:solidFill>
              </a:rPr>
              <a:t>……</a:t>
            </a:r>
            <a:r>
              <a:rPr lang="zh-CN" altLang="en-US" sz="3500" b="1" dirty="0">
                <a:solidFill>
                  <a:srgbClr val="FF0000"/>
                </a:solidFill>
              </a:rPr>
              <a:t>的意思，暗示，暗指</a:t>
            </a:r>
            <a:r>
              <a:rPr lang="en-US" altLang="en-US" sz="3500" b="1" dirty="0">
                <a:solidFill>
                  <a:srgbClr val="FF0000"/>
                </a:solidFill>
              </a:rPr>
              <a:t>→</a:t>
            </a:r>
            <a:r>
              <a:rPr lang="en-US" altLang="zh-CN" sz="3500" b="1" dirty="0">
                <a:solidFill>
                  <a:srgbClr val="FF0000"/>
                </a:solidFill>
                <a:highlight>
                  <a:srgbClr val="FFFF00"/>
                </a:highlight>
              </a:rPr>
              <a:t>implication </a:t>
            </a:r>
            <a:r>
              <a:rPr lang="en-US" altLang="zh-CN" sz="3500" b="1" dirty="0">
                <a:solidFill>
                  <a:srgbClr val="FF0000"/>
                </a:solidFill>
              </a:rPr>
              <a:t>n</a:t>
            </a:r>
            <a:r>
              <a:rPr lang="zh-CN" altLang="en-US" sz="3500" b="1" dirty="0">
                <a:solidFill>
                  <a:srgbClr val="FF0000"/>
                </a:solidFill>
              </a:rPr>
              <a:t>．含义；暗示；影响</a:t>
            </a:r>
          </a:p>
          <a:p>
            <a:r>
              <a:rPr lang="en-US" altLang="zh-CN" sz="3500" b="1" dirty="0">
                <a:solidFill>
                  <a:srgbClr val="FF0000"/>
                </a:solidFill>
              </a:rPr>
              <a:t>3.detect vt.</a:t>
            </a:r>
            <a:r>
              <a:rPr lang="zh-CN" altLang="en-US" sz="3500" b="1" dirty="0">
                <a:solidFill>
                  <a:srgbClr val="FF0000"/>
                </a:solidFill>
              </a:rPr>
              <a:t>发现</a:t>
            </a:r>
            <a:r>
              <a:rPr lang="en-US" altLang="zh-CN" sz="3500" b="1" dirty="0">
                <a:solidFill>
                  <a:srgbClr val="FF0000"/>
                </a:solidFill>
              </a:rPr>
              <a:t>,</a:t>
            </a:r>
            <a:r>
              <a:rPr lang="zh-CN" altLang="en-US" sz="3500" b="1" dirty="0">
                <a:solidFill>
                  <a:srgbClr val="FF0000"/>
                </a:solidFill>
              </a:rPr>
              <a:t>查明</a:t>
            </a:r>
            <a:r>
              <a:rPr lang="en-US" altLang="zh-CN" sz="3500" b="1" dirty="0">
                <a:solidFill>
                  <a:srgbClr val="FF0000"/>
                </a:solidFill>
              </a:rPr>
              <a:t>,</a:t>
            </a:r>
            <a:r>
              <a:rPr lang="zh-CN" altLang="en-US" sz="3500" b="1" dirty="0">
                <a:solidFill>
                  <a:srgbClr val="FF0000"/>
                </a:solidFill>
              </a:rPr>
              <a:t>侦察出</a:t>
            </a:r>
            <a:r>
              <a:rPr lang="en-US" altLang="en-US" sz="3500" b="1" dirty="0">
                <a:solidFill>
                  <a:srgbClr val="FF0000"/>
                </a:solidFill>
              </a:rPr>
              <a:t>→</a:t>
            </a:r>
            <a:r>
              <a:rPr lang="en-US" altLang="zh-CN" sz="3500" b="1" dirty="0">
                <a:solidFill>
                  <a:srgbClr val="FF0000"/>
                </a:solidFill>
                <a:highlight>
                  <a:srgbClr val="FFFF00"/>
                </a:highlight>
              </a:rPr>
              <a:t>detective </a:t>
            </a:r>
            <a:r>
              <a:rPr lang="en-US" altLang="zh-CN" sz="3500" b="1" dirty="0">
                <a:solidFill>
                  <a:srgbClr val="FF0000"/>
                </a:solidFill>
              </a:rPr>
              <a:t>n.</a:t>
            </a:r>
            <a:r>
              <a:rPr lang="zh-CN" altLang="en-US" sz="3500" b="1" dirty="0">
                <a:solidFill>
                  <a:srgbClr val="FF0000"/>
                </a:solidFill>
              </a:rPr>
              <a:t>侦探</a:t>
            </a:r>
            <a:r>
              <a:rPr lang="en-US" altLang="zh-CN" sz="3500" b="1" dirty="0">
                <a:solidFill>
                  <a:srgbClr val="FF0000"/>
                </a:solidFill>
              </a:rPr>
              <a:t>,</a:t>
            </a:r>
            <a:r>
              <a:rPr lang="zh-CN" altLang="en-US" sz="3500" b="1" dirty="0">
                <a:solidFill>
                  <a:srgbClr val="FF0000"/>
                </a:solidFill>
              </a:rPr>
              <a:t>警探</a:t>
            </a:r>
            <a:r>
              <a:rPr lang="en-US" altLang="en-US" sz="3500" b="1" dirty="0">
                <a:solidFill>
                  <a:srgbClr val="FF0000"/>
                </a:solidFill>
              </a:rPr>
              <a:t>→</a:t>
            </a:r>
            <a:r>
              <a:rPr lang="en-US" altLang="zh-CN" sz="3500" b="1" dirty="0">
                <a:solidFill>
                  <a:srgbClr val="FF0000"/>
                </a:solidFill>
                <a:highlight>
                  <a:srgbClr val="FFFF00"/>
                </a:highlight>
              </a:rPr>
              <a:t>detection </a:t>
            </a:r>
            <a:r>
              <a:rPr lang="en-US" altLang="zh-CN" sz="3500" b="1" dirty="0">
                <a:solidFill>
                  <a:srgbClr val="FF0000"/>
                </a:solidFill>
              </a:rPr>
              <a:t>n.</a:t>
            </a:r>
            <a:r>
              <a:rPr lang="zh-CN" altLang="en-US" sz="3500" b="1" dirty="0">
                <a:solidFill>
                  <a:srgbClr val="FF0000"/>
                </a:solidFill>
              </a:rPr>
              <a:t>察觉</a:t>
            </a:r>
            <a:r>
              <a:rPr lang="en-US" altLang="zh-CN" sz="3500" b="1" dirty="0">
                <a:solidFill>
                  <a:srgbClr val="FF0000"/>
                </a:solidFill>
              </a:rPr>
              <a:t>;</a:t>
            </a:r>
            <a:r>
              <a:rPr lang="zh-CN" altLang="en-US" sz="3500" b="1" dirty="0">
                <a:solidFill>
                  <a:srgbClr val="FF0000"/>
                </a:solidFill>
              </a:rPr>
              <a:t>侦破</a:t>
            </a:r>
            <a:r>
              <a:rPr lang="en-US" altLang="zh-CN" sz="3500" b="1" dirty="0">
                <a:solidFill>
                  <a:srgbClr val="FF0000"/>
                </a:solidFill>
              </a:rPr>
              <a:t>(</a:t>
            </a:r>
            <a:r>
              <a:rPr lang="zh-CN" altLang="en-US" sz="3500" b="1" dirty="0">
                <a:solidFill>
                  <a:srgbClr val="FF0000"/>
                </a:solidFill>
              </a:rPr>
              <a:t>案件</a:t>
            </a:r>
            <a:r>
              <a:rPr lang="en-US" altLang="zh-CN" sz="3500" b="1" dirty="0">
                <a:solidFill>
                  <a:srgbClr val="FF0000"/>
                </a:solidFill>
              </a:rPr>
              <a:t>)</a:t>
            </a:r>
            <a:r>
              <a:rPr lang="en-US" altLang="en-US" sz="3500" b="1" dirty="0">
                <a:solidFill>
                  <a:srgbClr val="FF0000"/>
                </a:solidFill>
              </a:rPr>
              <a:t>→</a:t>
            </a:r>
            <a:r>
              <a:rPr lang="en-US" altLang="zh-CN" sz="3500" b="1" dirty="0">
                <a:solidFill>
                  <a:srgbClr val="FF0000"/>
                </a:solidFill>
                <a:highlight>
                  <a:srgbClr val="FFFF00"/>
                </a:highlight>
              </a:rPr>
              <a:t>detector </a:t>
            </a:r>
            <a:r>
              <a:rPr lang="en-US" altLang="zh-CN" sz="3500" b="1" dirty="0">
                <a:solidFill>
                  <a:srgbClr val="FF0000"/>
                </a:solidFill>
              </a:rPr>
              <a:t>n.</a:t>
            </a:r>
            <a:r>
              <a:rPr lang="zh-CN" altLang="en-US" sz="3500" b="1" dirty="0">
                <a:solidFill>
                  <a:srgbClr val="FF0000"/>
                </a:solidFill>
              </a:rPr>
              <a:t>探测器</a:t>
            </a:r>
            <a:r>
              <a:rPr lang="en-US" altLang="zh-CN" sz="3500" b="1" dirty="0">
                <a:solidFill>
                  <a:srgbClr val="FF0000"/>
                </a:solidFill>
              </a:rPr>
              <a:t>;</a:t>
            </a:r>
            <a:r>
              <a:rPr lang="zh-CN" altLang="en-US" sz="3500" b="1" dirty="0">
                <a:solidFill>
                  <a:srgbClr val="FF0000"/>
                </a:solidFill>
              </a:rPr>
              <a:t>发现者</a:t>
            </a:r>
          </a:p>
          <a:p>
            <a:r>
              <a:rPr lang="en-US" altLang="zh-CN" sz="3500" b="1" dirty="0">
                <a:solidFill>
                  <a:srgbClr val="FF0000"/>
                </a:solidFill>
              </a:rPr>
              <a:t>4. contradictory adj.</a:t>
            </a:r>
            <a:r>
              <a:rPr lang="zh-CN" altLang="en-US" sz="3500" b="1" dirty="0">
                <a:solidFill>
                  <a:srgbClr val="FF0000"/>
                </a:solidFill>
              </a:rPr>
              <a:t>相互矛盾的</a:t>
            </a:r>
            <a:r>
              <a:rPr lang="en-US" altLang="zh-CN" sz="3500" b="1" dirty="0">
                <a:solidFill>
                  <a:srgbClr val="FF0000"/>
                </a:solidFill>
              </a:rPr>
              <a:t>,</a:t>
            </a:r>
            <a:r>
              <a:rPr lang="zh-CN" altLang="en-US" sz="3500" b="1" dirty="0">
                <a:solidFill>
                  <a:srgbClr val="FF0000"/>
                </a:solidFill>
              </a:rPr>
              <a:t>对立的</a:t>
            </a:r>
            <a:r>
              <a:rPr lang="en-US" altLang="en-US" sz="3500" b="1" dirty="0">
                <a:solidFill>
                  <a:srgbClr val="FF0000"/>
                </a:solidFill>
              </a:rPr>
              <a:t>→</a:t>
            </a:r>
            <a:r>
              <a:rPr lang="en-US" altLang="zh-CN" sz="3500" b="1" dirty="0">
                <a:solidFill>
                  <a:srgbClr val="FF0000"/>
                </a:solidFill>
                <a:highlight>
                  <a:srgbClr val="FFFF00"/>
                </a:highlight>
              </a:rPr>
              <a:t>contradict </a:t>
            </a:r>
            <a:r>
              <a:rPr lang="en-US" altLang="zh-CN" sz="3500" b="1" dirty="0">
                <a:solidFill>
                  <a:srgbClr val="FF0000"/>
                </a:solidFill>
              </a:rPr>
              <a:t>vt.</a:t>
            </a:r>
            <a:r>
              <a:rPr lang="zh-CN" altLang="en-US" sz="3500" b="1" dirty="0">
                <a:solidFill>
                  <a:srgbClr val="FF0000"/>
                </a:solidFill>
              </a:rPr>
              <a:t>与</a:t>
            </a:r>
            <a:r>
              <a:rPr lang="en-US" altLang="zh-CN" sz="3500" b="1" dirty="0">
                <a:solidFill>
                  <a:srgbClr val="FF0000"/>
                </a:solidFill>
              </a:rPr>
              <a:t>…</a:t>
            </a:r>
            <a:r>
              <a:rPr lang="zh-CN" altLang="en-US" sz="3500" b="1" dirty="0">
                <a:solidFill>
                  <a:srgbClr val="FF0000"/>
                </a:solidFill>
              </a:rPr>
              <a:t>矛盾</a:t>
            </a:r>
            <a:r>
              <a:rPr lang="en-US" altLang="en-US" sz="3500" b="1" dirty="0">
                <a:solidFill>
                  <a:srgbClr val="FF0000"/>
                </a:solidFill>
              </a:rPr>
              <a:t>→</a:t>
            </a:r>
            <a:r>
              <a:rPr lang="en-US" altLang="zh-CN" sz="3500" b="1" dirty="0">
                <a:solidFill>
                  <a:srgbClr val="FF0000"/>
                </a:solidFill>
                <a:highlight>
                  <a:srgbClr val="FFFF00"/>
                </a:highlight>
              </a:rPr>
              <a:t>contradiction </a:t>
            </a:r>
            <a:r>
              <a:rPr lang="en-US" altLang="zh-CN" sz="3500" b="1" dirty="0">
                <a:solidFill>
                  <a:srgbClr val="FF0000"/>
                </a:solidFill>
              </a:rPr>
              <a:t>n.</a:t>
            </a:r>
            <a:r>
              <a:rPr lang="zh-CN" altLang="en-US" sz="3500" b="1" dirty="0">
                <a:solidFill>
                  <a:srgbClr val="FF0000"/>
                </a:solidFill>
              </a:rPr>
              <a:t>矛盾</a:t>
            </a:r>
            <a:r>
              <a:rPr lang="en-US" altLang="en-US" sz="3500" b="1" dirty="0">
                <a:solidFill>
                  <a:srgbClr val="FF0000"/>
                </a:solidFill>
              </a:rPr>
              <a:t>→</a:t>
            </a:r>
            <a:r>
              <a:rPr lang="en-US" altLang="zh-CN" sz="3500" b="1" dirty="0">
                <a:solidFill>
                  <a:srgbClr val="FF0000"/>
                </a:solidFill>
                <a:highlight>
                  <a:srgbClr val="FFFF00"/>
                </a:highlight>
              </a:rPr>
              <a:t>contradictorily </a:t>
            </a:r>
            <a:r>
              <a:rPr lang="en-US" altLang="zh-CN" sz="3500" b="1" dirty="0">
                <a:solidFill>
                  <a:srgbClr val="FF0000"/>
                </a:solidFill>
              </a:rPr>
              <a:t>adv.</a:t>
            </a:r>
            <a:r>
              <a:rPr lang="zh-CN" altLang="en-US" sz="3500" b="1" dirty="0">
                <a:solidFill>
                  <a:srgbClr val="FF0000"/>
                </a:solidFill>
              </a:rPr>
              <a:t>矛盾地</a:t>
            </a:r>
          </a:p>
          <a:p>
            <a:r>
              <a:rPr lang="en-US" altLang="zh-CN" sz="3500" b="1" dirty="0">
                <a:solidFill>
                  <a:srgbClr val="FF0000"/>
                </a:solidFill>
              </a:rPr>
              <a:t>5.interpret vt.</a:t>
            </a:r>
            <a:r>
              <a:rPr lang="zh-CN" altLang="en-US" sz="3500" b="1" dirty="0">
                <a:solidFill>
                  <a:srgbClr val="FF0000"/>
                </a:solidFill>
              </a:rPr>
              <a:t>解释</a:t>
            </a:r>
            <a:r>
              <a:rPr lang="en-US" altLang="zh-CN" sz="3500" b="1" dirty="0">
                <a:solidFill>
                  <a:srgbClr val="FF0000"/>
                </a:solidFill>
              </a:rPr>
              <a:t>,</a:t>
            </a:r>
            <a:r>
              <a:rPr lang="zh-CN" altLang="en-US" sz="3500" b="1" dirty="0">
                <a:solidFill>
                  <a:srgbClr val="FF0000"/>
                </a:solidFill>
              </a:rPr>
              <a:t>阐释；把</a:t>
            </a:r>
            <a:r>
              <a:rPr lang="en-US" altLang="zh-CN" sz="3500" b="1" dirty="0">
                <a:solidFill>
                  <a:srgbClr val="FF0000"/>
                </a:solidFill>
              </a:rPr>
              <a:t>…</a:t>
            </a:r>
            <a:r>
              <a:rPr lang="zh-CN" altLang="en-US" sz="3500" b="1" dirty="0">
                <a:solidFill>
                  <a:srgbClr val="FF0000"/>
                </a:solidFill>
              </a:rPr>
              <a:t>理解为</a:t>
            </a:r>
            <a:r>
              <a:rPr lang="en-US" altLang="en-US" sz="3500" b="1" dirty="0">
                <a:solidFill>
                  <a:srgbClr val="FF0000"/>
                </a:solidFill>
              </a:rPr>
              <a:t>→</a:t>
            </a:r>
            <a:r>
              <a:rPr lang="en-US" altLang="zh-CN" sz="3500" b="1" dirty="0">
                <a:solidFill>
                  <a:srgbClr val="FF0000"/>
                </a:solidFill>
                <a:highlight>
                  <a:srgbClr val="FFFF00"/>
                </a:highlight>
              </a:rPr>
              <a:t>interpreter </a:t>
            </a:r>
            <a:r>
              <a:rPr lang="en-US" altLang="zh-CN" sz="3500" b="1" dirty="0">
                <a:solidFill>
                  <a:srgbClr val="FF0000"/>
                </a:solidFill>
              </a:rPr>
              <a:t>n.</a:t>
            </a:r>
            <a:r>
              <a:rPr lang="zh-CN" altLang="en-US" sz="3500" b="1" dirty="0">
                <a:solidFill>
                  <a:srgbClr val="FF0000"/>
                </a:solidFill>
              </a:rPr>
              <a:t>口译人员</a:t>
            </a:r>
            <a:r>
              <a:rPr lang="en-US" altLang="en-US" sz="3500" b="1" dirty="0">
                <a:solidFill>
                  <a:srgbClr val="FF0000"/>
                </a:solidFill>
              </a:rPr>
              <a:t>→</a:t>
            </a:r>
            <a:r>
              <a:rPr lang="en-US" altLang="zh-CN" sz="3500" b="1" dirty="0">
                <a:solidFill>
                  <a:srgbClr val="FF0000"/>
                </a:solidFill>
                <a:highlight>
                  <a:srgbClr val="FFFF00"/>
                </a:highlight>
              </a:rPr>
              <a:t>interpretation </a:t>
            </a:r>
            <a:r>
              <a:rPr lang="en-US" altLang="zh-CN" sz="3500" b="1" dirty="0">
                <a:solidFill>
                  <a:srgbClr val="FF0000"/>
                </a:solidFill>
              </a:rPr>
              <a:t>n.</a:t>
            </a:r>
            <a:r>
              <a:rPr lang="zh-CN" altLang="en-US" sz="3500" b="1" dirty="0">
                <a:solidFill>
                  <a:srgbClr val="FF0000"/>
                </a:solidFill>
              </a:rPr>
              <a:t>解释</a:t>
            </a:r>
          </a:p>
          <a:p>
            <a:r>
              <a:rPr lang="en-US" altLang="zh-CN" sz="3500" b="1" dirty="0">
                <a:solidFill>
                  <a:srgbClr val="FF0000"/>
                </a:solidFill>
              </a:rPr>
              <a:t>6. patience n</a:t>
            </a:r>
            <a:r>
              <a:rPr lang="zh-CN" altLang="en-US" sz="3500" b="1" dirty="0">
                <a:solidFill>
                  <a:srgbClr val="FF0000"/>
                </a:solidFill>
              </a:rPr>
              <a:t>．耐心；忍耐力</a:t>
            </a:r>
            <a:r>
              <a:rPr lang="en-US" altLang="en-US" sz="3500" b="1" dirty="0">
                <a:solidFill>
                  <a:srgbClr val="FF0000"/>
                </a:solidFill>
              </a:rPr>
              <a:t>→</a:t>
            </a:r>
            <a:r>
              <a:rPr lang="en-US" altLang="zh-CN" sz="3500" b="1" dirty="0">
                <a:solidFill>
                  <a:srgbClr val="FF0000"/>
                </a:solidFill>
                <a:highlight>
                  <a:srgbClr val="FFFF00"/>
                </a:highlight>
              </a:rPr>
              <a:t>patient </a:t>
            </a:r>
            <a:r>
              <a:rPr lang="en-US" altLang="zh-CN" sz="3500" b="1" dirty="0">
                <a:solidFill>
                  <a:srgbClr val="FF0000"/>
                </a:solidFill>
              </a:rPr>
              <a:t>adj.</a:t>
            </a:r>
            <a:r>
              <a:rPr lang="zh-CN" altLang="en-US" sz="3500" b="1" dirty="0">
                <a:solidFill>
                  <a:srgbClr val="FF0000"/>
                </a:solidFill>
              </a:rPr>
              <a:t>有耐心的</a:t>
            </a:r>
            <a:r>
              <a:rPr lang="en-US" altLang="zh-CN" sz="3500" b="1" dirty="0">
                <a:solidFill>
                  <a:srgbClr val="FF0000"/>
                </a:solidFill>
              </a:rPr>
              <a:t> n.</a:t>
            </a:r>
            <a:r>
              <a:rPr lang="zh-CN" altLang="en-US" sz="3500" b="1" dirty="0">
                <a:solidFill>
                  <a:srgbClr val="FF0000"/>
                </a:solidFill>
              </a:rPr>
              <a:t>病人</a:t>
            </a:r>
            <a:r>
              <a:rPr lang="en-US" altLang="en-US" sz="3500" b="1" dirty="0">
                <a:solidFill>
                  <a:srgbClr val="FF0000"/>
                </a:solidFill>
              </a:rPr>
              <a:t>→</a:t>
            </a:r>
            <a:r>
              <a:rPr lang="en-US" altLang="zh-CN" sz="3500" b="1" dirty="0">
                <a:solidFill>
                  <a:srgbClr val="FF0000"/>
                </a:solidFill>
                <a:highlight>
                  <a:srgbClr val="FFFF00"/>
                </a:highlight>
              </a:rPr>
              <a:t>impatient </a:t>
            </a:r>
            <a:r>
              <a:rPr lang="en-US" altLang="zh-CN" sz="3500" b="1" dirty="0">
                <a:solidFill>
                  <a:srgbClr val="FF0000"/>
                </a:solidFill>
              </a:rPr>
              <a:t>adj.</a:t>
            </a:r>
            <a:r>
              <a:rPr lang="zh-CN" altLang="en-US" sz="3500" b="1" dirty="0">
                <a:solidFill>
                  <a:srgbClr val="FF0000"/>
                </a:solidFill>
              </a:rPr>
              <a:t>不耐烦的</a:t>
            </a:r>
            <a:r>
              <a:rPr lang="en-US" altLang="en-US" sz="3500" b="1" dirty="0">
                <a:solidFill>
                  <a:srgbClr val="FF0000"/>
                </a:solidFill>
              </a:rPr>
              <a:t>→</a:t>
            </a:r>
            <a:r>
              <a:rPr lang="en-US" altLang="zh-CN" sz="3500" b="1" dirty="0">
                <a:solidFill>
                  <a:srgbClr val="FF0000"/>
                </a:solidFill>
                <a:highlight>
                  <a:srgbClr val="FFFF00"/>
                </a:highlight>
              </a:rPr>
              <a:t>patiently </a:t>
            </a:r>
            <a:r>
              <a:rPr lang="en-US" altLang="zh-CN" sz="3500" b="1" dirty="0">
                <a:solidFill>
                  <a:srgbClr val="FF0000"/>
                </a:solidFill>
              </a:rPr>
              <a:t>adv.</a:t>
            </a:r>
            <a:r>
              <a:rPr lang="zh-CN" altLang="en-US" sz="3500" b="1" dirty="0">
                <a:solidFill>
                  <a:srgbClr val="FF0000"/>
                </a:solidFill>
              </a:rPr>
              <a:t>耐心地</a:t>
            </a:r>
          </a:p>
          <a:p>
            <a:endParaRPr lang="en-US" altLang="zh-CN" sz="3500" b="1" dirty="0">
              <a:solidFill>
                <a:srgbClr val="FF0000"/>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500" b="1" dirty="0">
                <a:solidFill>
                  <a:srgbClr val="FF0000"/>
                </a:solidFill>
              </a:rPr>
              <a:t>7.reward vt.&amp;n.</a:t>
            </a:r>
            <a:r>
              <a:rPr lang="zh-CN" altLang="en-US" sz="3500" b="1" dirty="0">
                <a:solidFill>
                  <a:srgbClr val="FF0000"/>
                </a:solidFill>
              </a:rPr>
              <a:t>奖励</a:t>
            </a:r>
            <a:r>
              <a:rPr lang="en-US" altLang="zh-CN" sz="3500" b="1" dirty="0">
                <a:solidFill>
                  <a:srgbClr val="FF0000"/>
                </a:solidFill>
              </a:rPr>
              <a:t>,</a:t>
            </a:r>
            <a:r>
              <a:rPr lang="zh-CN" altLang="en-US" sz="3500" b="1" dirty="0">
                <a:solidFill>
                  <a:srgbClr val="FF0000"/>
                </a:solidFill>
              </a:rPr>
              <a:t>奖赏</a:t>
            </a:r>
            <a:r>
              <a:rPr lang="en-US" altLang="en-US" sz="3500" b="1" dirty="0">
                <a:solidFill>
                  <a:srgbClr val="FF0000"/>
                </a:solidFill>
              </a:rPr>
              <a:t>→</a:t>
            </a:r>
            <a:r>
              <a:rPr lang="en-US" altLang="zh-CN" sz="3500" b="1" dirty="0">
                <a:solidFill>
                  <a:srgbClr val="FF0000"/>
                </a:solidFill>
                <a:highlight>
                  <a:srgbClr val="FFFF00"/>
                </a:highlight>
              </a:rPr>
              <a:t>rewarding </a:t>
            </a:r>
            <a:r>
              <a:rPr lang="en-US" altLang="zh-CN" sz="3500" b="1" dirty="0">
                <a:solidFill>
                  <a:srgbClr val="FF0000"/>
                </a:solidFill>
              </a:rPr>
              <a:t>adj.</a:t>
            </a:r>
            <a:r>
              <a:rPr lang="zh-CN" altLang="en-US" sz="3500" b="1" dirty="0">
                <a:solidFill>
                  <a:srgbClr val="FF0000"/>
                </a:solidFill>
              </a:rPr>
              <a:t>值得做的</a:t>
            </a:r>
            <a:r>
              <a:rPr lang="en-US" altLang="zh-CN" sz="3500" b="1" dirty="0">
                <a:solidFill>
                  <a:srgbClr val="FF0000"/>
                </a:solidFill>
              </a:rPr>
              <a:t>; </a:t>
            </a:r>
            <a:r>
              <a:rPr lang="zh-CN" altLang="en-US" sz="3500" b="1" dirty="0">
                <a:solidFill>
                  <a:srgbClr val="FF0000"/>
                </a:solidFill>
              </a:rPr>
              <a:t>有益的</a:t>
            </a:r>
            <a:r>
              <a:rPr lang="en-US" altLang="zh-CN" sz="3500" b="1" dirty="0">
                <a:solidFill>
                  <a:srgbClr val="FF0000"/>
                </a:solidFill>
              </a:rPr>
              <a:t>; </a:t>
            </a:r>
            <a:r>
              <a:rPr lang="zh-CN" altLang="en-US" sz="3500" b="1" dirty="0">
                <a:solidFill>
                  <a:srgbClr val="FF0000"/>
                </a:solidFill>
              </a:rPr>
              <a:t>报酬高的</a:t>
            </a:r>
          </a:p>
          <a:p>
            <a:r>
              <a:rPr lang="en-US" altLang="zh-CN" sz="3500" b="1" dirty="0">
                <a:solidFill>
                  <a:srgbClr val="FF0000"/>
                </a:solidFill>
              </a:rPr>
              <a:t>8.constant adj.</a:t>
            </a:r>
            <a:r>
              <a:rPr lang="zh-CN" altLang="en-US" sz="3500" b="1" dirty="0">
                <a:solidFill>
                  <a:srgbClr val="FF0000"/>
                </a:solidFill>
              </a:rPr>
              <a:t>持续不断的；重复的</a:t>
            </a:r>
            <a:r>
              <a:rPr lang="en-US" altLang="en-US" sz="3500" b="1" dirty="0">
                <a:solidFill>
                  <a:srgbClr val="FF0000"/>
                </a:solidFill>
              </a:rPr>
              <a:t>→</a:t>
            </a:r>
            <a:r>
              <a:rPr lang="en-US" altLang="zh-CN" sz="3500" b="1" dirty="0">
                <a:solidFill>
                  <a:srgbClr val="FF0000"/>
                </a:solidFill>
                <a:highlight>
                  <a:srgbClr val="FFFF00"/>
                </a:highlight>
              </a:rPr>
              <a:t>constantly </a:t>
            </a:r>
            <a:r>
              <a:rPr lang="en-US" altLang="zh-CN" sz="3500" b="1" dirty="0">
                <a:solidFill>
                  <a:srgbClr val="FF0000"/>
                </a:solidFill>
              </a:rPr>
              <a:t>adv.</a:t>
            </a:r>
            <a:r>
              <a:rPr lang="zh-CN" altLang="en-US" sz="3500" b="1" dirty="0">
                <a:solidFill>
                  <a:srgbClr val="FF0000"/>
                </a:solidFill>
              </a:rPr>
              <a:t>不断地；始终，一直</a:t>
            </a:r>
          </a:p>
          <a:p>
            <a:r>
              <a:rPr lang="en-US" altLang="zh-CN" sz="3500" b="1" dirty="0">
                <a:solidFill>
                  <a:srgbClr val="FF0000"/>
                </a:solidFill>
              </a:rPr>
              <a:t>9.logical adj.</a:t>
            </a:r>
            <a:r>
              <a:rPr lang="zh-CN" altLang="en-US" sz="3500" b="1" dirty="0">
                <a:solidFill>
                  <a:srgbClr val="FF0000"/>
                </a:solidFill>
              </a:rPr>
              <a:t>符合逻辑的；必然的；合乎情理的</a:t>
            </a:r>
            <a:r>
              <a:rPr lang="en-US" altLang="en-US" sz="3500" b="1" dirty="0">
                <a:solidFill>
                  <a:srgbClr val="FF0000"/>
                </a:solidFill>
              </a:rPr>
              <a:t>→</a:t>
            </a:r>
            <a:r>
              <a:rPr lang="en-US" altLang="zh-CN" sz="3500" b="1" dirty="0">
                <a:solidFill>
                  <a:srgbClr val="FF0000"/>
                </a:solidFill>
                <a:highlight>
                  <a:srgbClr val="FFFF00"/>
                </a:highlight>
              </a:rPr>
              <a:t>logically </a:t>
            </a:r>
            <a:r>
              <a:rPr lang="en-US" altLang="zh-CN" sz="3500" b="1" dirty="0">
                <a:solidFill>
                  <a:srgbClr val="FF0000"/>
                </a:solidFill>
              </a:rPr>
              <a:t>adv.</a:t>
            </a:r>
            <a:r>
              <a:rPr lang="zh-CN" altLang="en-US" sz="3500" b="1" dirty="0">
                <a:solidFill>
                  <a:srgbClr val="FF0000"/>
                </a:solidFill>
              </a:rPr>
              <a:t>逻辑上；符合逻辑地</a:t>
            </a:r>
            <a:r>
              <a:rPr lang="en-US" altLang="en-US" sz="3500" b="1" dirty="0">
                <a:solidFill>
                  <a:srgbClr val="FF0000"/>
                </a:solidFill>
              </a:rPr>
              <a:t>→</a:t>
            </a:r>
            <a:r>
              <a:rPr lang="en-US" altLang="zh-CN" sz="3500" b="1" dirty="0">
                <a:solidFill>
                  <a:srgbClr val="FF0000"/>
                </a:solidFill>
                <a:highlight>
                  <a:srgbClr val="FFFF00"/>
                </a:highlight>
              </a:rPr>
              <a:t>logic </a:t>
            </a:r>
            <a:r>
              <a:rPr lang="en-US" altLang="zh-CN" sz="3500" b="1" dirty="0">
                <a:solidFill>
                  <a:srgbClr val="FF0000"/>
                </a:solidFill>
              </a:rPr>
              <a:t>n.</a:t>
            </a:r>
            <a:r>
              <a:rPr lang="zh-CN" altLang="en-US" sz="3500" b="1" dirty="0">
                <a:solidFill>
                  <a:srgbClr val="FF0000"/>
                </a:solidFill>
              </a:rPr>
              <a:t>逻辑</a:t>
            </a:r>
            <a:r>
              <a:rPr lang="en-US" altLang="en-US" sz="3500" b="1" dirty="0">
                <a:solidFill>
                  <a:srgbClr val="FF0000"/>
                </a:solidFill>
              </a:rPr>
              <a:t>→</a:t>
            </a:r>
            <a:r>
              <a:rPr lang="en-US" altLang="zh-CN" sz="3500" b="1" dirty="0">
                <a:solidFill>
                  <a:srgbClr val="FF0000"/>
                </a:solidFill>
                <a:highlight>
                  <a:srgbClr val="FFFF00"/>
                </a:highlight>
              </a:rPr>
              <a:t>illogical </a:t>
            </a:r>
            <a:r>
              <a:rPr lang="en-US" altLang="zh-CN" sz="3500" b="1" dirty="0">
                <a:solidFill>
                  <a:srgbClr val="FF0000"/>
                </a:solidFill>
              </a:rPr>
              <a:t>adj.</a:t>
            </a:r>
            <a:r>
              <a:rPr lang="zh-CN" altLang="en-US" sz="3500" b="1" dirty="0">
                <a:solidFill>
                  <a:srgbClr val="FF0000"/>
                </a:solidFill>
              </a:rPr>
              <a:t>不合逻辑的</a:t>
            </a:r>
          </a:p>
          <a:p>
            <a:r>
              <a:rPr lang="en-US" altLang="zh-CN" sz="3500" b="1" dirty="0">
                <a:solidFill>
                  <a:srgbClr val="FF0000"/>
                </a:solidFill>
              </a:rPr>
              <a:t>10.perceive vt. </a:t>
            </a:r>
            <a:r>
              <a:rPr lang="zh-CN" altLang="en-US" sz="3500" b="1" dirty="0">
                <a:solidFill>
                  <a:srgbClr val="FF0000"/>
                </a:solidFill>
              </a:rPr>
              <a:t>注意到，意识到；将</a:t>
            </a:r>
            <a:r>
              <a:rPr lang="en-US" altLang="zh-CN" sz="3500" b="1" dirty="0">
                <a:solidFill>
                  <a:srgbClr val="FF0000"/>
                </a:solidFill>
              </a:rPr>
              <a:t>…</a:t>
            </a:r>
            <a:r>
              <a:rPr lang="zh-CN" altLang="en-US" sz="3500" b="1" dirty="0">
                <a:solidFill>
                  <a:srgbClr val="FF0000"/>
                </a:solidFill>
              </a:rPr>
              <a:t>理解为，将</a:t>
            </a:r>
            <a:r>
              <a:rPr lang="en-US" altLang="zh-CN" sz="3500" b="1" dirty="0">
                <a:solidFill>
                  <a:srgbClr val="FF0000"/>
                </a:solidFill>
              </a:rPr>
              <a:t>…</a:t>
            </a:r>
            <a:r>
              <a:rPr lang="zh-CN" altLang="en-US" sz="3500" b="1" dirty="0">
                <a:solidFill>
                  <a:srgbClr val="FF0000"/>
                </a:solidFill>
              </a:rPr>
              <a:t>视为</a:t>
            </a:r>
            <a:r>
              <a:rPr lang="en-US" altLang="en-US" sz="3500" b="1" dirty="0">
                <a:solidFill>
                  <a:srgbClr val="FF0000"/>
                </a:solidFill>
              </a:rPr>
              <a:t>→</a:t>
            </a:r>
            <a:r>
              <a:rPr lang="en-US" altLang="zh-CN" sz="3500" b="1" dirty="0">
                <a:solidFill>
                  <a:srgbClr val="FF0000"/>
                </a:solidFill>
                <a:highlight>
                  <a:srgbClr val="FFFF00"/>
                </a:highlight>
              </a:rPr>
              <a:t>perception </a:t>
            </a:r>
            <a:r>
              <a:rPr lang="en-US" altLang="zh-CN" sz="3500" b="1" dirty="0">
                <a:solidFill>
                  <a:srgbClr val="FF0000"/>
                </a:solidFill>
              </a:rPr>
              <a:t>n.</a:t>
            </a:r>
            <a:r>
              <a:rPr lang="zh-CN" altLang="en-US" sz="3500" b="1" dirty="0">
                <a:solidFill>
                  <a:srgbClr val="FF0000"/>
                </a:solidFill>
              </a:rPr>
              <a:t>知觉</a:t>
            </a:r>
            <a:r>
              <a:rPr lang="en-US" altLang="zh-CN" sz="3500" b="1" dirty="0">
                <a:solidFill>
                  <a:srgbClr val="FF0000"/>
                </a:solidFill>
              </a:rPr>
              <a:t>,</a:t>
            </a:r>
            <a:r>
              <a:rPr lang="zh-CN" altLang="en-US" sz="3500" b="1" dirty="0">
                <a:solidFill>
                  <a:srgbClr val="FF0000"/>
                </a:solidFill>
              </a:rPr>
              <a:t>感知</a:t>
            </a:r>
            <a:r>
              <a:rPr lang="en-US" altLang="zh-CN" sz="3500" b="1" dirty="0">
                <a:solidFill>
                  <a:srgbClr val="FF0000"/>
                </a:solidFill>
              </a:rPr>
              <a:t>;</a:t>
            </a:r>
            <a:r>
              <a:rPr lang="zh-CN" altLang="en-US" sz="3500" b="1" dirty="0">
                <a:solidFill>
                  <a:srgbClr val="FF0000"/>
                </a:solidFill>
              </a:rPr>
              <a:t>洞察力</a:t>
            </a:r>
            <a:r>
              <a:rPr lang="en-US" altLang="zh-CN" sz="3500" b="1" dirty="0">
                <a:solidFill>
                  <a:srgbClr val="FF0000"/>
                </a:solidFill>
              </a:rPr>
              <a:t>;</a:t>
            </a:r>
            <a:r>
              <a:rPr lang="zh-CN" altLang="en-US" sz="3500" b="1" dirty="0">
                <a:solidFill>
                  <a:srgbClr val="FF0000"/>
                </a:solidFill>
              </a:rPr>
              <a:t>看法见解</a:t>
            </a:r>
          </a:p>
          <a:p>
            <a:r>
              <a:rPr lang="en-US" altLang="zh-CN" sz="3500" b="1" dirty="0">
                <a:solidFill>
                  <a:srgbClr val="FF0000"/>
                </a:solidFill>
              </a:rPr>
              <a:t>11.reality n</a:t>
            </a:r>
            <a:r>
              <a:rPr lang="zh-CN" altLang="en-US" sz="3500" b="1" dirty="0">
                <a:solidFill>
                  <a:srgbClr val="FF0000"/>
                </a:solidFill>
              </a:rPr>
              <a:t>．事实，实际经历；现实；实际情况</a:t>
            </a:r>
            <a:r>
              <a:rPr lang="en-US" altLang="en-US" sz="3500" b="1" dirty="0">
                <a:solidFill>
                  <a:srgbClr val="FF0000"/>
                </a:solidFill>
              </a:rPr>
              <a:t>→</a:t>
            </a:r>
            <a:r>
              <a:rPr lang="en-US" altLang="zh-CN" sz="3500" b="1" dirty="0">
                <a:solidFill>
                  <a:srgbClr val="FF0000"/>
                </a:solidFill>
                <a:highlight>
                  <a:srgbClr val="FFFF00"/>
                </a:highlight>
              </a:rPr>
              <a:t>realistic </a:t>
            </a:r>
            <a:r>
              <a:rPr lang="en-US" altLang="zh-CN" sz="3500" b="1" dirty="0">
                <a:solidFill>
                  <a:srgbClr val="FF0000"/>
                </a:solidFill>
              </a:rPr>
              <a:t>adj.</a:t>
            </a:r>
            <a:r>
              <a:rPr lang="zh-CN" altLang="en-US" sz="3500" b="1" dirty="0">
                <a:solidFill>
                  <a:srgbClr val="FF0000"/>
                </a:solidFill>
              </a:rPr>
              <a:t>现实的</a:t>
            </a:r>
            <a:r>
              <a:rPr lang="en-US" altLang="zh-CN" sz="3500" b="1" dirty="0">
                <a:solidFill>
                  <a:srgbClr val="FF0000"/>
                </a:solidFill>
              </a:rPr>
              <a:t>;</a:t>
            </a:r>
            <a:r>
              <a:rPr lang="zh-CN" altLang="en-US" sz="3500" b="1" dirty="0">
                <a:solidFill>
                  <a:srgbClr val="FF0000"/>
                </a:solidFill>
              </a:rPr>
              <a:t>实际的</a:t>
            </a:r>
            <a:r>
              <a:rPr lang="en-US" altLang="en-US" sz="3500" b="1" dirty="0">
                <a:solidFill>
                  <a:srgbClr val="FF0000"/>
                </a:solidFill>
              </a:rPr>
              <a:t>→</a:t>
            </a:r>
            <a:r>
              <a:rPr lang="en-US" altLang="zh-CN" sz="3500" b="1" dirty="0">
                <a:solidFill>
                  <a:srgbClr val="FF0000"/>
                </a:solidFill>
                <a:highlight>
                  <a:srgbClr val="FFFF00"/>
                </a:highlight>
              </a:rPr>
              <a:t>realistically </a:t>
            </a:r>
            <a:r>
              <a:rPr lang="en-US" altLang="zh-CN" sz="3500" b="1" dirty="0">
                <a:solidFill>
                  <a:srgbClr val="FF0000"/>
                </a:solidFill>
              </a:rPr>
              <a:t>adv.</a:t>
            </a:r>
            <a:r>
              <a:rPr lang="zh-CN" altLang="en-US" sz="3500" b="1" dirty="0">
                <a:solidFill>
                  <a:srgbClr val="FF0000"/>
                </a:solidFill>
              </a:rPr>
              <a:t>现实地</a:t>
            </a:r>
            <a:r>
              <a:rPr lang="en-US" altLang="zh-CN" sz="3500" b="1" dirty="0">
                <a:solidFill>
                  <a:srgbClr val="FF0000"/>
                </a:solidFill>
              </a:rPr>
              <a:t>;</a:t>
            </a:r>
            <a:r>
              <a:rPr lang="zh-CN" altLang="en-US" sz="3500" b="1" dirty="0">
                <a:solidFill>
                  <a:srgbClr val="FF0000"/>
                </a:solidFill>
              </a:rPr>
              <a:t>实际地</a:t>
            </a:r>
          </a:p>
          <a:p>
            <a:r>
              <a:rPr lang="en-US" altLang="en-US" sz="3500" b="1" dirty="0">
                <a:solidFill>
                  <a:srgbClr val="FF0000"/>
                </a:solidFill>
              </a:rPr>
              <a:t>→</a:t>
            </a:r>
            <a:r>
              <a:rPr lang="en-US" altLang="zh-CN" sz="3500" b="1" dirty="0">
                <a:solidFill>
                  <a:srgbClr val="FF0000"/>
                </a:solidFill>
              </a:rPr>
              <a:t>real adj.</a:t>
            </a:r>
            <a:r>
              <a:rPr lang="zh-CN" altLang="en-US" sz="3500" b="1" dirty="0">
                <a:solidFill>
                  <a:srgbClr val="FF0000"/>
                </a:solidFill>
              </a:rPr>
              <a:t>真的</a:t>
            </a:r>
            <a:r>
              <a:rPr lang="en-US" altLang="en-US" sz="3500" b="1" dirty="0">
                <a:solidFill>
                  <a:srgbClr val="FF0000"/>
                </a:solidFill>
              </a:rPr>
              <a:t>→</a:t>
            </a:r>
            <a:r>
              <a:rPr lang="en-US" altLang="zh-CN" sz="3500" b="1" dirty="0">
                <a:solidFill>
                  <a:srgbClr val="FF0000"/>
                </a:solidFill>
                <a:highlight>
                  <a:srgbClr val="FFFF00"/>
                </a:highlight>
              </a:rPr>
              <a:t>really </a:t>
            </a:r>
            <a:r>
              <a:rPr lang="en-US" altLang="zh-CN" sz="3500" b="1" dirty="0">
                <a:solidFill>
                  <a:srgbClr val="FF0000"/>
                </a:solidFill>
              </a:rPr>
              <a:t>adv.</a:t>
            </a:r>
            <a:r>
              <a:rPr lang="zh-CN" altLang="en-US" sz="3500" b="1" dirty="0">
                <a:solidFill>
                  <a:srgbClr val="FF0000"/>
                </a:solidFill>
              </a:rPr>
              <a:t>真正地；实际上</a:t>
            </a:r>
          </a:p>
          <a:p>
            <a:endParaRPr lang="en-US" altLang="zh-CN" sz="3500" b="1" dirty="0">
              <a:solidFill>
                <a:srgbClr val="FF0000"/>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500" b="1" dirty="0">
                <a:solidFill>
                  <a:srgbClr val="FF0000"/>
                </a:solidFill>
              </a:rPr>
              <a:t>12.mist n.</a:t>
            </a:r>
            <a:r>
              <a:rPr lang="zh-CN" altLang="en-US" sz="3500" b="1" dirty="0">
                <a:solidFill>
                  <a:srgbClr val="FF0000"/>
                </a:solidFill>
              </a:rPr>
              <a:t>薄雾</a:t>
            </a:r>
            <a:r>
              <a:rPr lang="en-US" altLang="zh-CN" sz="3500" b="1" dirty="0">
                <a:solidFill>
                  <a:srgbClr val="FF0000"/>
                </a:solidFill>
              </a:rPr>
              <a:t>;</a:t>
            </a:r>
            <a:r>
              <a:rPr lang="zh-CN" altLang="en-US" sz="3500" b="1" dirty="0">
                <a:solidFill>
                  <a:srgbClr val="FF0000"/>
                </a:solidFill>
              </a:rPr>
              <a:t>水汽</a:t>
            </a:r>
            <a:r>
              <a:rPr lang="en-US" altLang="en-US" sz="3500" b="1" dirty="0">
                <a:solidFill>
                  <a:srgbClr val="FF0000"/>
                </a:solidFill>
              </a:rPr>
              <a:t>→</a:t>
            </a:r>
            <a:r>
              <a:rPr lang="en-US" altLang="zh-CN" sz="3500" b="1" dirty="0">
                <a:solidFill>
                  <a:srgbClr val="FF0000"/>
                </a:solidFill>
                <a:highlight>
                  <a:srgbClr val="FFFF00"/>
                </a:highlight>
              </a:rPr>
              <a:t>misty </a:t>
            </a:r>
            <a:r>
              <a:rPr lang="en-US" altLang="zh-CN" sz="3500" b="1" dirty="0">
                <a:solidFill>
                  <a:srgbClr val="FF0000"/>
                </a:solidFill>
              </a:rPr>
              <a:t>adj.</a:t>
            </a:r>
            <a:r>
              <a:rPr lang="zh-CN" altLang="en-US" sz="3500" b="1" dirty="0">
                <a:solidFill>
                  <a:srgbClr val="FF0000"/>
                </a:solidFill>
              </a:rPr>
              <a:t>多雾的</a:t>
            </a:r>
            <a:r>
              <a:rPr lang="en-US" altLang="zh-CN" sz="3500" b="1" dirty="0">
                <a:solidFill>
                  <a:srgbClr val="FF0000"/>
                </a:solidFill>
              </a:rPr>
              <a:t>;</a:t>
            </a:r>
            <a:r>
              <a:rPr lang="zh-CN" altLang="en-US" sz="3500" b="1" dirty="0">
                <a:solidFill>
                  <a:srgbClr val="FF0000"/>
                </a:solidFill>
              </a:rPr>
              <a:t>模糊的</a:t>
            </a:r>
            <a:r>
              <a:rPr lang="en-US" altLang="zh-CN" sz="3500" b="1" dirty="0">
                <a:solidFill>
                  <a:srgbClr val="FF0000"/>
                </a:solidFill>
              </a:rPr>
              <a:t>;</a:t>
            </a:r>
            <a:r>
              <a:rPr lang="zh-CN" altLang="en-US" sz="3500" b="1" dirty="0">
                <a:solidFill>
                  <a:srgbClr val="FF0000"/>
                </a:solidFill>
              </a:rPr>
              <a:t>朦胧的</a:t>
            </a:r>
          </a:p>
          <a:p>
            <a:r>
              <a:rPr lang="en-US" altLang="zh-CN" sz="3500" b="1" dirty="0">
                <a:solidFill>
                  <a:srgbClr val="FF0000"/>
                </a:solidFill>
              </a:rPr>
              <a:t>13.novelist n.</a:t>
            </a:r>
            <a:r>
              <a:rPr lang="zh-CN" altLang="en-US" sz="3500" b="1" dirty="0">
                <a:solidFill>
                  <a:srgbClr val="FF0000"/>
                </a:solidFill>
              </a:rPr>
              <a:t>小说家</a:t>
            </a:r>
            <a:r>
              <a:rPr lang="en-US" altLang="en-US" sz="3500" b="1" dirty="0">
                <a:solidFill>
                  <a:srgbClr val="FF0000"/>
                </a:solidFill>
              </a:rPr>
              <a:t>→</a:t>
            </a:r>
            <a:r>
              <a:rPr lang="en-US" altLang="zh-CN" sz="3500" b="1" dirty="0">
                <a:solidFill>
                  <a:srgbClr val="FF0000"/>
                </a:solidFill>
                <a:highlight>
                  <a:srgbClr val="FFFF00"/>
                </a:highlight>
              </a:rPr>
              <a:t>novel </a:t>
            </a:r>
            <a:r>
              <a:rPr lang="en-US" altLang="zh-CN" sz="3500" b="1" dirty="0">
                <a:solidFill>
                  <a:srgbClr val="FF0000"/>
                </a:solidFill>
              </a:rPr>
              <a:t>n.</a:t>
            </a:r>
            <a:r>
              <a:rPr lang="zh-CN" altLang="en-US" sz="3500" b="1" dirty="0">
                <a:solidFill>
                  <a:srgbClr val="FF0000"/>
                </a:solidFill>
              </a:rPr>
              <a:t>小说</a:t>
            </a:r>
            <a:r>
              <a:rPr lang="en-US" altLang="zh-CN" sz="3500" b="1" dirty="0">
                <a:solidFill>
                  <a:srgbClr val="FF0000"/>
                </a:solidFill>
              </a:rPr>
              <a:t> </a:t>
            </a:r>
            <a:r>
              <a:rPr lang="en-US" altLang="zh-CN" sz="3500" b="1" dirty="0">
                <a:solidFill>
                  <a:srgbClr val="FF0000"/>
                </a:solidFill>
                <a:highlight>
                  <a:srgbClr val="FFFF00"/>
                </a:highlight>
              </a:rPr>
              <a:t>adj.</a:t>
            </a:r>
            <a:r>
              <a:rPr lang="zh-CN" altLang="en-US" sz="3500" b="1" dirty="0">
                <a:solidFill>
                  <a:srgbClr val="FF0000"/>
                </a:solidFill>
                <a:highlight>
                  <a:srgbClr val="FFFF00"/>
                </a:highlight>
              </a:rPr>
              <a:t>新颖的</a:t>
            </a:r>
            <a:endParaRPr lang="zh-CN" altLang="en-US" sz="3500" b="1" dirty="0">
              <a:solidFill>
                <a:srgbClr val="FF0000"/>
              </a:solidFill>
            </a:endParaRPr>
          </a:p>
          <a:p>
            <a:r>
              <a:rPr lang="en-US" altLang="zh-CN" sz="3500" b="1" dirty="0">
                <a:solidFill>
                  <a:srgbClr val="FF0000"/>
                </a:solidFill>
              </a:rPr>
              <a:t>14.ideal n.</a:t>
            </a:r>
            <a:r>
              <a:rPr lang="zh-CN" altLang="en-US" sz="3500" b="1" dirty="0">
                <a:solidFill>
                  <a:srgbClr val="FF0000"/>
                </a:solidFill>
              </a:rPr>
              <a:t>理想</a:t>
            </a:r>
            <a:r>
              <a:rPr lang="en-US" altLang="zh-CN" sz="3500" b="1" dirty="0">
                <a:solidFill>
                  <a:srgbClr val="FF0000"/>
                </a:solidFill>
              </a:rPr>
              <a:t>;</a:t>
            </a:r>
            <a:r>
              <a:rPr lang="zh-CN" altLang="en-US" sz="3500" b="1" dirty="0">
                <a:solidFill>
                  <a:srgbClr val="FF0000"/>
                </a:solidFill>
              </a:rPr>
              <a:t>典范</a:t>
            </a:r>
            <a:r>
              <a:rPr lang="en-US" altLang="zh-CN" sz="3500" b="1" dirty="0">
                <a:solidFill>
                  <a:srgbClr val="FF0000"/>
                </a:solidFill>
              </a:rPr>
              <a:t>adj.</a:t>
            </a:r>
            <a:r>
              <a:rPr lang="zh-CN" altLang="en-US" sz="3500" b="1" dirty="0">
                <a:solidFill>
                  <a:srgbClr val="FF0000"/>
                </a:solidFill>
              </a:rPr>
              <a:t>完美的</a:t>
            </a:r>
            <a:r>
              <a:rPr lang="en-US" altLang="zh-CN" sz="3500" b="1" dirty="0">
                <a:solidFill>
                  <a:srgbClr val="FF0000"/>
                </a:solidFill>
              </a:rPr>
              <a:t>,</a:t>
            </a:r>
            <a:r>
              <a:rPr lang="zh-CN" altLang="en-US" sz="3500" b="1" dirty="0">
                <a:solidFill>
                  <a:srgbClr val="FF0000"/>
                </a:solidFill>
              </a:rPr>
              <a:t>理想的</a:t>
            </a:r>
            <a:r>
              <a:rPr lang="en-US" altLang="en-US" sz="3500" b="1" dirty="0">
                <a:solidFill>
                  <a:srgbClr val="FF0000"/>
                </a:solidFill>
              </a:rPr>
              <a:t>→</a:t>
            </a:r>
            <a:r>
              <a:rPr lang="en-US" altLang="zh-CN" sz="3500" b="1" dirty="0">
                <a:solidFill>
                  <a:srgbClr val="FF0000"/>
                </a:solidFill>
                <a:highlight>
                  <a:srgbClr val="FFFF00"/>
                </a:highlight>
              </a:rPr>
              <a:t>idealistic </a:t>
            </a:r>
            <a:r>
              <a:rPr lang="en-US" altLang="zh-CN" sz="3500" b="1" dirty="0">
                <a:solidFill>
                  <a:srgbClr val="FF0000"/>
                </a:solidFill>
              </a:rPr>
              <a:t>adj.</a:t>
            </a:r>
            <a:r>
              <a:rPr lang="zh-CN" altLang="en-US" sz="3500" b="1" dirty="0">
                <a:solidFill>
                  <a:srgbClr val="FF0000"/>
                </a:solidFill>
              </a:rPr>
              <a:t>理想主义的</a:t>
            </a:r>
          </a:p>
          <a:p>
            <a:r>
              <a:rPr lang="en-US" altLang="zh-CN" sz="3500" b="1" dirty="0">
                <a:solidFill>
                  <a:srgbClr val="FF0000"/>
                </a:solidFill>
              </a:rPr>
              <a:t>15. rigid adj. </a:t>
            </a:r>
            <a:r>
              <a:rPr lang="zh-CN" altLang="en-US" sz="3500" b="1" dirty="0">
                <a:solidFill>
                  <a:srgbClr val="FF0000"/>
                </a:solidFill>
              </a:rPr>
              <a:t>死板的，僵硬的；固执的，僵化的</a:t>
            </a:r>
            <a:r>
              <a:rPr lang="en-US" altLang="en-US" sz="3500" b="1" dirty="0">
                <a:solidFill>
                  <a:srgbClr val="FF0000"/>
                </a:solidFill>
              </a:rPr>
              <a:t>→</a:t>
            </a:r>
            <a:r>
              <a:rPr lang="en-US" altLang="zh-CN" sz="3500" b="1" dirty="0">
                <a:solidFill>
                  <a:srgbClr val="FF0000"/>
                </a:solidFill>
                <a:highlight>
                  <a:srgbClr val="FFFF00"/>
                </a:highlight>
              </a:rPr>
              <a:t>rigidity </a:t>
            </a:r>
            <a:r>
              <a:rPr lang="en-US" altLang="zh-CN" sz="3500" b="1" dirty="0">
                <a:solidFill>
                  <a:srgbClr val="FF0000"/>
                </a:solidFill>
              </a:rPr>
              <a:t>n.</a:t>
            </a:r>
            <a:r>
              <a:rPr lang="zh-CN" altLang="en-US" sz="3500" b="1" dirty="0">
                <a:solidFill>
                  <a:srgbClr val="FF0000"/>
                </a:solidFill>
              </a:rPr>
              <a:t>僵硬</a:t>
            </a:r>
            <a:r>
              <a:rPr lang="en-US" altLang="zh-CN" sz="3500" b="1" dirty="0">
                <a:solidFill>
                  <a:srgbClr val="FF0000"/>
                </a:solidFill>
              </a:rPr>
              <a:t>;</a:t>
            </a:r>
            <a:r>
              <a:rPr lang="zh-CN" altLang="en-US" sz="3500" b="1" dirty="0">
                <a:solidFill>
                  <a:srgbClr val="FF0000"/>
                </a:solidFill>
              </a:rPr>
              <a:t>硬度</a:t>
            </a:r>
            <a:r>
              <a:rPr lang="en-US" altLang="zh-CN" sz="3500" b="1" dirty="0">
                <a:solidFill>
                  <a:srgbClr val="FF0000"/>
                </a:solidFill>
              </a:rPr>
              <a:t>;</a:t>
            </a:r>
            <a:r>
              <a:rPr lang="zh-CN" altLang="en-US" sz="3500" b="1" dirty="0">
                <a:solidFill>
                  <a:srgbClr val="FF0000"/>
                </a:solidFill>
              </a:rPr>
              <a:t>僵化死板</a:t>
            </a:r>
            <a:r>
              <a:rPr lang="en-US" altLang="zh-CN" sz="3500" b="1" dirty="0">
                <a:solidFill>
                  <a:srgbClr val="FF0000"/>
                </a:solidFill>
              </a:rPr>
              <a:t>;</a:t>
            </a:r>
            <a:r>
              <a:rPr lang="zh-CN" altLang="en-US" sz="3500" b="1" dirty="0">
                <a:solidFill>
                  <a:srgbClr val="FF0000"/>
                </a:solidFill>
              </a:rPr>
              <a:t>严格</a:t>
            </a:r>
            <a:r>
              <a:rPr lang="en-US" altLang="en-US" sz="3500" b="1" dirty="0">
                <a:solidFill>
                  <a:srgbClr val="FF0000"/>
                </a:solidFill>
              </a:rPr>
              <a:t>→</a:t>
            </a:r>
            <a:r>
              <a:rPr lang="en-US" altLang="zh-CN" sz="3500" b="1" dirty="0">
                <a:solidFill>
                  <a:srgbClr val="FF0000"/>
                </a:solidFill>
                <a:highlight>
                  <a:srgbClr val="FFFF00"/>
                </a:highlight>
              </a:rPr>
              <a:t>rigidly </a:t>
            </a:r>
            <a:r>
              <a:rPr lang="en-US" altLang="zh-CN" sz="3500" b="1" dirty="0">
                <a:solidFill>
                  <a:srgbClr val="FF0000"/>
                </a:solidFill>
              </a:rPr>
              <a:t>adv.</a:t>
            </a:r>
            <a:r>
              <a:rPr lang="zh-CN" altLang="en-US" sz="3500" b="1" dirty="0">
                <a:solidFill>
                  <a:srgbClr val="FF0000"/>
                </a:solidFill>
              </a:rPr>
              <a:t>严格地，严厉地；僵硬地，坚硬地</a:t>
            </a:r>
          </a:p>
          <a:p>
            <a:r>
              <a:rPr lang="en-US" altLang="zh-CN" sz="3500" b="1" dirty="0">
                <a:solidFill>
                  <a:srgbClr val="FF0000"/>
                </a:solidFill>
              </a:rPr>
              <a:t>16. advocate vt. </a:t>
            </a:r>
            <a:r>
              <a:rPr lang="zh-CN" altLang="en-US" sz="3500" b="1" dirty="0">
                <a:solidFill>
                  <a:srgbClr val="FF0000"/>
                </a:solidFill>
              </a:rPr>
              <a:t>拥护，支持，提倡</a:t>
            </a:r>
            <a:r>
              <a:rPr lang="en-US" altLang="zh-CN" sz="3500" b="1" dirty="0">
                <a:solidFill>
                  <a:srgbClr val="FF0000"/>
                </a:solidFill>
              </a:rPr>
              <a:t> n. </a:t>
            </a:r>
            <a:r>
              <a:rPr lang="zh-CN" altLang="en-US" sz="3500" b="1" dirty="0">
                <a:solidFill>
                  <a:srgbClr val="FF0000"/>
                </a:solidFill>
              </a:rPr>
              <a:t>拥护者，支持者；辩护律师</a:t>
            </a:r>
            <a:r>
              <a:rPr lang="en-US" altLang="en-US" sz="3500" b="1" dirty="0">
                <a:solidFill>
                  <a:srgbClr val="FF0000"/>
                </a:solidFill>
              </a:rPr>
              <a:t>→</a:t>
            </a:r>
            <a:r>
              <a:rPr lang="en-US" altLang="zh-CN" sz="3500" b="1" dirty="0">
                <a:solidFill>
                  <a:srgbClr val="FF0000"/>
                </a:solidFill>
                <a:highlight>
                  <a:srgbClr val="FFFF00"/>
                </a:highlight>
              </a:rPr>
              <a:t>advocation </a:t>
            </a:r>
            <a:r>
              <a:rPr lang="en-US" altLang="zh-CN" sz="3500" b="1" dirty="0">
                <a:solidFill>
                  <a:srgbClr val="FF0000"/>
                </a:solidFill>
              </a:rPr>
              <a:t>n.</a:t>
            </a:r>
            <a:r>
              <a:rPr lang="zh-CN" altLang="en-US" sz="3500" b="1" dirty="0">
                <a:solidFill>
                  <a:srgbClr val="FF0000"/>
                </a:solidFill>
              </a:rPr>
              <a:t>拥护，支持，提倡</a:t>
            </a:r>
          </a:p>
          <a:p>
            <a:r>
              <a:rPr lang="en-US" altLang="zh-CN" sz="3500" b="1" dirty="0">
                <a:solidFill>
                  <a:srgbClr val="FF0000"/>
                </a:solidFill>
              </a:rPr>
              <a:t>17. belief n. </a:t>
            </a:r>
            <a:r>
              <a:rPr lang="zh-CN" altLang="en-US" sz="3500" b="1" dirty="0">
                <a:solidFill>
                  <a:srgbClr val="FF0000"/>
                </a:solidFill>
              </a:rPr>
              <a:t>看法，信念；信仰；相信，信心</a:t>
            </a:r>
            <a:r>
              <a:rPr lang="en-US" altLang="en-US" sz="3500" b="1" dirty="0">
                <a:solidFill>
                  <a:srgbClr val="FF0000"/>
                </a:solidFill>
              </a:rPr>
              <a:t>→</a:t>
            </a:r>
            <a:r>
              <a:rPr lang="en-US" altLang="zh-CN" sz="3500" b="1" dirty="0">
                <a:solidFill>
                  <a:srgbClr val="FF0000"/>
                </a:solidFill>
                <a:highlight>
                  <a:srgbClr val="FFFF00"/>
                </a:highlight>
              </a:rPr>
              <a:t>believe </a:t>
            </a:r>
            <a:r>
              <a:rPr lang="en-US" altLang="zh-CN" sz="3500" b="1" dirty="0">
                <a:solidFill>
                  <a:srgbClr val="FF0000"/>
                </a:solidFill>
              </a:rPr>
              <a:t>v.</a:t>
            </a:r>
            <a:r>
              <a:rPr lang="zh-CN" altLang="en-US" sz="3500" b="1" dirty="0">
                <a:solidFill>
                  <a:srgbClr val="FF0000"/>
                </a:solidFill>
              </a:rPr>
              <a:t>相信</a:t>
            </a:r>
            <a:r>
              <a:rPr lang="en-US" altLang="en-US" sz="3500" b="1" dirty="0">
                <a:solidFill>
                  <a:srgbClr val="FF0000"/>
                </a:solidFill>
              </a:rPr>
              <a:t>→</a:t>
            </a:r>
            <a:r>
              <a:rPr lang="en-US" altLang="zh-CN" sz="3500" b="1" dirty="0">
                <a:solidFill>
                  <a:srgbClr val="FF0000"/>
                </a:solidFill>
              </a:rPr>
              <a:t> </a:t>
            </a:r>
            <a:r>
              <a:rPr lang="en-US" altLang="zh-CN" sz="3500" b="1" dirty="0">
                <a:solidFill>
                  <a:srgbClr val="FF0000"/>
                </a:solidFill>
                <a:highlight>
                  <a:srgbClr val="FFFF00"/>
                </a:highlight>
              </a:rPr>
              <a:t>believable   </a:t>
            </a:r>
            <a:r>
              <a:rPr lang="en-US" altLang="zh-CN" sz="3500" b="1" dirty="0">
                <a:solidFill>
                  <a:srgbClr val="FF0000"/>
                </a:solidFill>
              </a:rPr>
              <a:t>adj.</a:t>
            </a:r>
            <a:r>
              <a:rPr lang="zh-CN" altLang="en-US" sz="3500" b="1" dirty="0">
                <a:solidFill>
                  <a:srgbClr val="FF0000"/>
                </a:solidFill>
              </a:rPr>
              <a:t>可信的</a:t>
            </a:r>
            <a:r>
              <a:rPr lang="en-US" altLang="en-US" sz="3500" b="1" dirty="0">
                <a:solidFill>
                  <a:srgbClr val="FF0000"/>
                </a:solidFill>
              </a:rPr>
              <a:t>→</a:t>
            </a:r>
            <a:r>
              <a:rPr lang="en-US" altLang="zh-CN" sz="3500" b="1" dirty="0">
                <a:solidFill>
                  <a:srgbClr val="FF0000"/>
                </a:solidFill>
              </a:rPr>
              <a:t> </a:t>
            </a:r>
            <a:r>
              <a:rPr lang="en-US" altLang="zh-CN" sz="3500" b="1" dirty="0">
                <a:solidFill>
                  <a:srgbClr val="FF0000"/>
                </a:solidFill>
                <a:highlight>
                  <a:srgbClr val="FFFF00"/>
                </a:highlight>
              </a:rPr>
              <a:t>unbelievable   </a:t>
            </a:r>
            <a:r>
              <a:rPr lang="en-US" altLang="zh-CN" sz="3500" b="1" dirty="0">
                <a:solidFill>
                  <a:srgbClr val="FF0000"/>
                </a:solidFill>
              </a:rPr>
              <a:t>adj.  </a:t>
            </a:r>
            <a:r>
              <a:rPr lang="zh-CN" altLang="en-US" sz="3500" b="1" dirty="0">
                <a:solidFill>
                  <a:srgbClr val="FF0000"/>
                </a:solidFill>
              </a:rPr>
              <a:t>难以置信的</a:t>
            </a:r>
          </a:p>
          <a:p>
            <a:endParaRPr lang="en-US" altLang="zh-CN" sz="3500" b="1" dirty="0">
              <a:solidFill>
                <a:srgbClr val="FF0000"/>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500" b="1" dirty="0">
                <a:solidFill>
                  <a:srgbClr val="FF0000"/>
                </a:solidFill>
              </a:rPr>
              <a:t>18.industrialization   n. </a:t>
            </a:r>
            <a:r>
              <a:rPr lang="zh-CN" altLang="en-US" sz="3500" b="1" dirty="0">
                <a:solidFill>
                  <a:srgbClr val="FF0000"/>
                </a:solidFill>
              </a:rPr>
              <a:t>工业化</a:t>
            </a:r>
            <a:r>
              <a:rPr lang="en-US" altLang="en-US" sz="3500" b="1" dirty="0">
                <a:solidFill>
                  <a:srgbClr val="FF0000"/>
                </a:solidFill>
              </a:rPr>
              <a:t>→</a:t>
            </a:r>
            <a:r>
              <a:rPr lang="en-US" altLang="zh-CN" sz="3500" b="1" dirty="0">
                <a:solidFill>
                  <a:srgbClr val="FF0000"/>
                </a:solidFill>
              </a:rPr>
              <a:t> </a:t>
            </a:r>
            <a:r>
              <a:rPr lang="en-US" altLang="zh-CN" sz="3500" b="1" dirty="0">
                <a:solidFill>
                  <a:srgbClr val="FF0000"/>
                </a:solidFill>
                <a:highlight>
                  <a:srgbClr val="FFFF00"/>
                </a:highlight>
              </a:rPr>
              <a:t>industry   </a:t>
            </a:r>
            <a:r>
              <a:rPr lang="en-US" altLang="zh-CN" sz="3500" b="1" dirty="0">
                <a:solidFill>
                  <a:srgbClr val="FF0000"/>
                </a:solidFill>
              </a:rPr>
              <a:t>n.</a:t>
            </a:r>
            <a:r>
              <a:rPr lang="zh-CN" altLang="en-US" sz="3500" b="1" dirty="0">
                <a:solidFill>
                  <a:srgbClr val="FF0000"/>
                </a:solidFill>
              </a:rPr>
              <a:t>工业</a:t>
            </a:r>
            <a:r>
              <a:rPr lang="en-US" altLang="zh-CN" sz="3500" b="1" dirty="0">
                <a:solidFill>
                  <a:srgbClr val="FF0000"/>
                </a:solidFill>
              </a:rPr>
              <a:t>;</a:t>
            </a:r>
            <a:r>
              <a:rPr lang="zh-CN" altLang="en-US" sz="3500" b="1" dirty="0">
                <a:solidFill>
                  <a:srgbClr val="FF0000"/>
                </a:solidFill>
              </a:rPr>
              <a:t>行业</a:t>
            </a:r>
            <a:r>
              <a:rPr lang="en-US" altLang="en-US" sz="3500" b="1" dirty="0">
                <a:solidFill>
                  <a:srgbClr val="FF0000"/>
                </a:solidFill>
              </a:rPr>
              <a:t>→</a:t>
            </a:r>
            <a:r>
              <a:rPr lang="en-US" altLang="zh-CN" sz="3500" b="1" dirty="0">
                <a:solidFill>
                  <a:srgbClr val="FF0000"/>
                </a:solidFill>
              </a:rPr>
              <a:t> </a:t>
            </a:r>
            <a:r>
              <a:rPr lang="en-US" altLang="zh-CN" sz="3500" b="1" dirty="0">
                <a:solidFill>
                  <a:srgbClr val="FF0000"/>
                </a:solidFill>
                <a:highlight>
                  <a:srgbClr val="FFFF00"/>
                </a:highlight>
              </a:rPr>
              <a:t>industrial   </a:t>
            </a:r>
            <a:r>
              <a:rPr lang="en-US" altLang="zh-CN" sz="3500" b="1" dirty="0">
                <a:solidFill>
                  <a:srgbClr val="FF0000"/>
                </a:solidFill>
              </a:rPr>
              <a:t>adj.</a:t>
            </a:r>
            <a:r>
              <a:rPr lang="zh-CN" altLang="en-US" sz="3500" b="1" dirty="0">
                <a:solidFill>
                  <a:srgbClr val="FF0000"/>
                </a:solidFill>
              </a:rPr>
              <a:t>工业的</a:t>
            </a:r>
            <a:r>
              <a:rPr lang="en-US" altLang="zh-CN" sz="3500" b="1" dirty="0">
                <a:solidFill>
                  <a:srgbClr val="FF0000"/>
                </a:solidFill>
              </a:rPr>
              <a:t>;</a:t>
            </a:r>
            <a:r>
              <a:rPr lang="zh-CN" altLang="en-US" sz="3500" b="1" dirty="0">
                <a:solidFill>
                  <a:srgbClr val="FF0000"/>
                </a:solidFill>
              </a:rPr>
              <a:t>产业的</a:t>
            </a:r>
          </a:p>
          <a:p>
            <a:r>
              <a:rPr lang="zh-CN" altLang="en-US" sz="3500" b="1" dirty="0">
                <a:solidFill>
                  <a:srgbClr val="FF0000"/>
                </a:solidFill>
              </a:rPr>
              <a:t>二、动词过去式</a:t>
            </a:r>
            <a:r>
              <a:rPr lang="en-US" altLang="zh-CN" sz="3500" b="1" dirty="0">
                <a:solidFill>
                  <a:srgbClr val="FF0000"/>
                </a:solidFill>
              </a:rPr>
              <a:t>&amp;</a:t>
            </a:r>
            <a:r>
              <a:rPr lang="zh-CN" altLang="en-US" sz="3500" b="1" dirty="0">
                <a:solidFill>
                  <a:srgbClr val="FF0000"/>
                </a:solidFill>
              </a:rPr>
              <a:t>过去分词变化</a:t>
            </a:r>
          </a:p>
          <a:p>
            <a:r>
              <a:rPr lang="en-US" altLang="zh-CN" sz="3500" b="1" dirty="0">
                <a:solidFill>
                  <a:srgbClr val="FF0000"/>
                </a:solidFill>
              </a:rPr>
              <a:t>1. freeze</a:t>
            </a:r>
            <a:r>
              <a:rPr lang="en-US" altLang="en-US" sz="3500" b="1" dirty="0">
                <a:solidFill>
                  <a:srgbClr val="FF0000"/>
                </a:solidFill>
              </a:rPr>
              <a:t>→</a:t>
            </a:r>
            <a:r>
              <a:rPr lang="en-US" altLang="zh-CN" sz="3500" b="1" dirty="0">
                <a:solidFill>
                  <a:srgbClr val="FF0000"/>
                </a:solidFill>
                <a:highlight>
                  <a:srgbClr val="FFFF00"/>
                </a:highlight>
              </a:rPr>
              <a:t>froze </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 frozen </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 freezing</a:t>
            </a:r>
            <a:r>
              <a:rPr lang="en-US" altLang="zh-CN" sz="3500" b="1" dirty="0">
                <a:solidFill>
                  <a:srgbClr val="FF0000"/>
                </a:solidFill>
              </a:rPr>
              <a:t>  </a:t>
            </a:r>
          </a:p>
          <a:p>
            <a:r>
              <a:rPr lang="en-US" altLang="zh-CN" sz="3500" b="1" dirty="0">
                <a:solidFill>
                  <a:srgbClr val="FF0000"/>
                </a:solidFill>
              </a:rPr>
              <a:t>2. imply</a:t>
            </a:r>
            <a:r>
              <a:rPr lang="en-US" altLang="en-US" sz="3500" b="1" dirty="0">
                <a:solidFill>
                  <a:srgbClr val="FF0000"/>
                </a:solidFill>
              </a:rPr>
              <a:t>→</a:t>
            </a:r>
            <a:r>
              <a:rPr lang="en-US" altLang="zh-CN" sz="3500" b="1" dirty="0">
                <a:solidFill>
                  <a:srgbClr val="FF0000"/>
                </a:solidFill>
                <a:highlight>
                  <a:srgbClr val="FFFF00"/>
                </a:highlight>
              </a:rPr>
              <a:t>implied </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 implied</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implying</a:t>
            </a:r>
            <a:endParaRPr lang="en-US" altLang="zh-CN" sz="3500" b="1" dirty="0">
              <a:solidFill>
                <a:srgbClr val="FF0000"/>
              </a:solidFill>
            </a:endParaRPr>
          </a:p>
          <a:p>
            <a:r>
              <a:rPr lang="en-US" altLang="zh-CN" sz="3500" b="1" dirty="0">
                <a:solidFill>
                  <a:srgbClr val="FF0000"/>
                </a:solidFill>
              </a:rPr>
              <a:t>3. dig</a:t>
            </a:r>
            <a:r>
              <a:rPr lang="en-US" altLang="en-US" sz="3500" b="1" dirty="0">
                <a:solidFill>
                  <a:srgbClr val="FF0000"/>
                </a:solidFill>
              </a:rPr>
              <a:t>→</a:t>
            </a:r>
            <a:r>
              <a:rPr lang="en-US" altLang="zh-CN" sz="3500" b="1" dirty="0">
                <a:solidFill>
                  <a:srgbClr val="FF0000"/>
                </a:solidFill>
                <a:highlight>
                  <a:srgbClr val="FFFF00"/>
                </a:highlight>
              </a:rPr>
              <a:t>dug</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dug</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digging</a:t>
            </a:r>
            <a:r>
              <a:rPr lang="en-US" altLang="zh-CN" sz="3500" b="1" dirty="0">
                <a:solidFill>
                  <a:srgbClr val="FF0000"/>
                </a:solidFill>
              </a:rPr>
              <a:t>          </a:t>
            </a:r>
          </a:p>
          <a:p>
            <a:r>
              <a:rPr lang="en-US" altLang="zh-CN" sz="3500" b="1" dirty="0">
                <a:solidFill>
                  <a:srgbClr val="FF0000"/>
                </a:solidFill>
              </a:rPr>
              <a:t>4.set</a:t>
            </a:r>
            <a:r>
              <a:rPr lang="en-US" altLang="en-US" sz="3500" b="1" dirty="0">
                <a:solidFill>
                  <a:srgbClr val="FF0000"/>
                </a:solidFill>
              </a:rPr>
              <a:t>→</a:t>
            </a:r>
            <a:r>
              <a:rPr lang="en-US" altLang="zh-CN" sz="3500" b="1" dirty="0">
                <a:solidFill>
                  <a:srgbClr val="FF0000"/>
                </a:solidFill>
                <a:highlight>
                  <a:srgbClr val="FFFF00"/>
                </a:highlight>
              </a:rPr>
              <a:t>set</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set</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setting </a:t>
            </a:r>
          </a:p>
          <a:p>
            <a:r>
              <a:rPr lang="en-US" altLang="zh-CN" sz="3500" b="1" dirty="0">
                <a:solidFill>
                  <a:srgbClr val="FF0000"/>
                </a:solidFill>
              </a:rPr>
              <a:t>5.undergo</a:t>
            </a:r>
            <a:r>
              <a:rPr lang="en-US" altLang="en-US" sz="3500" b="1" dirty="0">
                <a:solidFill>
                  <a:srgbClr val="FF0000"/>
                </a:solidFill>
              </a:rPr>
              <a:t>→</a:t>
            </a:r>
            <a:r>
              <a:rPr lang="en-US" altLang="zh-CN" sz="3500" b="1" dirty="0">
                <a:solidFill>
                  <a:srgbClr val="FF0000"/>
                </a:solidFill>
                <a:highlight>
                  <a:srgbClr val="FFFF00"/>
                </a:highlight>
              </a:rPr>
              <a:t> underwent </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 undergone </a:t>
            </a:r>
            <a:r>
              <a:rPr lang="en-US" altLang="zh-CN" sz="3500" b="1" dirty="0">
                <a:solidFill>
                  <a:srgbClr val="FF0000"/>
                </a:solidFill>
              </a:rPr>
              <a:t> </a:t>
            </a:r>
          </a:p>
          <a:p>
            <a:r>
              <a:rPr lang="en-US" altLang="zh-CN" sz="3500" b="1" dirty="0">
                <a:solidFill>
                  <a:srgbClr val="FF0000"/>
                </a:solidFill>
              </a:rPr>
              <a:t>6. break</a:t>
            </a:r>
            <a:r>
              <a:rPr lang="en-US" altLang="en-US" sz="3500" b="1" dirty="0">
                <a:solidFill>
                  <a:srgbClr val="FF0000"/>
                </a:solidFill>
              </a:rPr>
              <a:t>→</a:t>
            </a:r>
            <a:r>
              <a:rPr lang="en-US" altLang="zh-CN" sz="3500" b="1" dirty="0">
                <a:solidFill>
                  <a:srgbClr val="FF0000"/>
                </a:solidFill>
                <a:highlight>
                  <a:srgbClr val="FFFF00"/>
                </a:highlight>
              </a:rPr>
              <a:t>broke</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broken</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u="sng" dirty="0">
                <a:solidFill>
                  <a:srgbClr val="FF0000"/>
                </a:solidFill>
              </a:rPr>
              <a:t>1.He looked away, swallowing down a lump</a:t>
            </a:r>
            <a:r>
              <a:rPr lang="zh-CN" altLang="en-US" dirty="0"/>
              <a:t>他把目光移开</a:t>
            </a:r>
            <a:r>
              <a:rPr lang="en-US" altLang="zh-CN" dirty="0"/>
              <a:t>,</a:t>
            </a:r>
            <a:r>
              <a:rPr lang="zh-CN" altLang="en-US" sz="3600" b="1" u="sng" dirty="0">
                <a:solidFill>
                  <a:srgbClr val="FF0000"/>
                </a:solidFill>
              </a:rPr>
              <a:t>吞下肿块</a:t>
            </a:r>
            <a:r>
              <a:rPr lang="en-US" altLang="zh-CN" sz="3600" b="1" u="sng" dirty="0">
                <a:solidFill>
                  <a:srgbClr val="FF0000"/>
                </a:solidFill>
              </a:rPr>
              <a:t> </a:t>
            </a:r>
            <a:r>
              <a:rPr lang="en-US" altLang="zh-CN" sz="3600" b="1" dirty="0"/>
              <a:t>2.Ted looked up at him and </a:t>
            </a:r>
            <a:r>
              <a:rPr lang="en-US" altLang="zh-CN" sz="3600" b="1" dirty="0">
                <a:solidFill>
                  <a:srgbClr val="FF0000"/>
                </a:solidFill>
              </a:rPr>
              <a:t>saw his own disappointment mirrored in his father’s </a:t>
            </a:r>
            <a:r>
              <a:rPr lang="en-US" altLang="zh-CN" sz="3600" b="1" dirty="0" err="1">
                <a:solidFill>
                  <a:srgbClr val="FF0000"/>
                </a:solidFill>
              </a:rPr>
              <a:t>eyes.</a:t>
            </a:r>
            <a:r>
              <a:rPr lang="en-US" altLang="zh-CN" sz="3600" b="1" dirty="0" err="1"/>
              <a:t>Ted</a:t>
            </a:r>
            <a:r>
              <a:rPr lang="zh-CN" altLang="en-US" dirty="0"/>
              <a:t>抬头看着他</a:t>
            </a:r>
            <a:r>
              <a:rPr lang="en-US" altLang="zh-CN" dirty="0"/>
              <a:t>,</a:t>
            </a:r>
            <a:r>
              <a:rPr lang="zh-CN" altLang="en-US" sz="3600" b="1" dirty="0">
                <a:solidFill>
                  <a:srgbClr val="FF0000"/>
                </a:solidFill>
              </a:rPr>
              <a:t>从父亲的眼中看到了自己的失望</a:t>
            </a:r>
            <a:r>
              <a:rPr lang="en-US" altLang="zh-CN" sz="3600" b="1" dirty="0">
                <a:solidFill>
                  <a:srgbClr val="FF0000"/>
                </a:solidFill>
              </a:rPr>
              <a:t>3.</a:t>
            </a:r>
            <a:r>
              <a:rPr lang="en-US" altLang="zh-CN" sz="3600" b="1" u="sng" dirty="0">
                <a:solidFill>
                  <a:srgbClr val="FF0000"/>
                </a:solidFill>
              </a:rPr>
              <a:t>His heart sank </a:t>
            </a:r>
            <a:r>
              <a:rPr lang="en-US" altLang="zh-CN" sz="3600" b="1" dirty="0">
                <a:solidFill>
                  <a:srgbClr val="FF0000"/>
                </a:solidFill>
              </a:rPr>
              <a:t>as he looked at </a:t>
            </a:r>
            <a:r>
              <a:rPr lang="en-US" altLang="zh-CN" sz="3600" dirty="0"/>
              <a:t>the secondhand bike. </a:t>
            </a:r>
            <a:r>
              <a:rPr lang="zh-CN" altLang="en-US" dirty="0"/>
              <a:t>他看着那辆二手自行车</a:t>
            </a:r>
            <a:r>
              <a:rPr lang="en-US" altLang="zh-CN" dirty="0"/>
              <a:t>,</a:t>
            </a:r>
            <a:r>
              <a:rPr lang="zh-CN" altLang="en-US" dirty="0"/>
              <a:t>心一沉一</a:t>
            </a:r>
            <a:r>
              <a:rPr lang="en-US" altLang="zh-CN" dirty="0"/>
              <a:t>4.</a:t>
            </a:r>
            <a:r>
              <a:rPr lang="en-US" altLang="zh-CN" sz="3600" b="1" dirty="0">
                <a:solidFill>
                  <a:srgbClr val="FF0000"/>
                </a:solidFill>
              </a:rPr>
              <a:t>He felt </a:t>
            </a:r>
            <a:r>
              <a:rPr lang="en-US" altLang="zh-CN" sz="3600" b="1" u="sng" dirty="0">
                <a:solidFill>
                  <a:srgbClr val="FF0000"/>
                </a:solidFill>
              </a:rPr>
              <a:t>a wave of </a:t>
            </a:r>
            <a:r>
              <a:rPr lang="en-US" altLang="zh-CN" sz="3600" b="1" u="sng" dirty="0">
                <a:solidFill>
                  <a:srgbClr val="FF0000"/>
                </a:solidFill>
                <a:highlight>
                  <a:srgbClr val="FFFF00"/>
                </a:highlight>
              </a:rPr>
              <a:t>disappointment</a:t>
            </a:r>
            <a:r>
              <a:rPr lang="en-US" altLang="zh-CN" sz="3600" b="1" u="sng" dirty="0">
                <a:solidFill>
                  <a:srgbClr val="FF0000"/>
                </a:solidFill>
              </a:rPr>
              <a:t> </a:t>
            </a:r>
            <a:r>
              <a:rPr lang="en-US" altLang="zh-CN" sz="3600" b="1" dirty="0">
                <a:solidFill>
                  <a:srgbClr val="FF0000"/>
                </a:solidFill>
              </a:rPr>
              <a:t>wash over him.</a:t>
            </a:r>
            <a:r>
              <a:rPr lang="zh-CN" altLang="en-US" sz="3600" dirty="0"/>
              <a:t>他感到一阵失望的情绪涌上心头</a:t>
            </a:r>
            <a:r>
              <a:rPr lang="en-US" altLang="zh-CN" sz="3600" dirty="0"/>
              <a:t>5.</a:t>
            </a:r>
            <a:r>
              <a:rPr lang="en-US" altLang="zh-CN" sz="3600" b="1" dirty="0">
                <a:solidFill>
                  <a:srgbClr val="FF0000"/>
                </a:solidFill>
              </a:rPr>
              <a:t>A wave of bitter disappointment surged in his chest, tightening his throat.</a:t>
            </a:r>
            <a:r>
              <a:rPr lang="zh-CN" altLang="en-US" sz="3600" dirty="0"/>
              <a:t>一股苦涩的失望情绪涌上他的胸膛，他的喉咙也绷紧了</a:t>
            </a:r>
            <a:endParaRPr lang="en-US" altLang="zh-CN" sz="3600" b="1" dirty="0">
              <a:solidFill>
                <a:srgbClr val="FF0000"/>
              </a:solidFill>
            </a:endParaRPr>
          </a:p>
          <a:p>
            <a:pPr marL="0" indent="0">
              <a:buNone/>
            </a:pPr>
            <a:r>
              <a:rPr lang="en-US" altLang="zh-CN" sz="3600" b="1" dirty="0">
                <a:solidFill>
                  <a:srgbClr val="FF0000"/>
                </a:solidFill>
              </a:rPr>
              <a:t>6.</a:t>
            </a:r>
            <a:r>
              <a:rPr lang="en-US" altLang="zh-CN" sz="3600" b="1" dirty="0"/>
              <a:t>He realized how </a:t>
            </a:r>
            <a:r>
              <a:rPr lang="en-US" altLang="zh-CN" sz="3600" b="1" dirty="0">
                <a:solidFill>
                  <a:srgbClr val="FF0000"/>
                </a:solidFill>
                <a:highlight>
                  <a:srgbClr val="FFFF00"/>
                </a:highlight>
              </a:rPr>
              <a:t>selfish</a:t>
            </a:r>
            <a:r>
              <a:rPr lang="en-US" altLang="zh-CN" sz="3600" b="1" dirty="0"/>
              <a:t> he</a:t>
            </a:r>
            <a:r>
              <a:rPr lang="zh-CN" altLang="en-US" sz="3600" b="1" dirty="0"/>
              <a:t>’</a:t>
            </a:r>
            <a:r>
              <a:rPr lang="en-US" altLang="zh-CN" sz="3600" b="1" dirty="0"/>
              <a:t>d been, only thinking about his    own wish and not considering their difficulties.</a:t>
            </a:r>
            <a:r>
              <a:rPr lang="en-US" altLang="zh-CN" sz="3600" dirty="0"/>
              <a:t> </a:t>
            </a:r>
            <a:r>
              <a:rPr lang="zh-CN" altLang="en-US" dirty="0"/>
              <a:t>他意识到自己是多么自私只考虑自己的愿望，而不考虑他们的困难</a:t>
            </a:r>
            <a:endParaRPr lang="en-US" altLang="zh-CN" sz="3600" dirty="0"/>
          </a:p>
          <a:p>
            <a:pPr marL="0" indent="0">
              <a:buNone/>
            </a:pPr>
            <a:r>
              <a:rPr lang="en-US" altLang="zh-CN" sz="3600" b="1" dirty="0">
                <a:solidFill>
                  <a:srgbClr val="FF0000"/>
                </a:solidFill>
              </a:rPr>
              <a:t>7.With a </a:t>
            </a:r>
            <a:r>
              <a:rPr lang="en-US" altLang="zh-CN" sz="3600" b="1" dirty="0">
                <a:solidFill>
                  <a:srgbClr val="FF0000"/>
                </a:solidFill>
                <a:highlight>
                  <a:srgbClr val="FFFF00"/>
                </a:highlight>
              </a:rPr>
              <a:t>grateful</a:t>
            </a:r>
            <a:r>
              <a:rPr lang="en-US" altLang="zh-CN" sz="3600" b="1" dirty="0">
                <a:solidFill>
                  <a:srgbClr val="FF0000"/>
                </a:solidFill>
              </a:rPr>
              <a:t> smile, he hugged his dad.</a:t>
            </a:r>
            <a:r>
              <a:rPr lang="zh-CN" altLang="en-US" sz="3600" dirty="0"/>
              <a:t>带着感激的微笑他拥抱父亲</a:t>
            </a:r>
            <a:r>
              <a:rPr lang="en-US" altLang="zh-CN" sz="3600" b="1" dirty="0">
                <a:solidFill>
                  <a:srgbClr val="FF0000"/>
                </a:solidFill>
              </a:rPr>
              <a:t>8.A genuine smile spread across his face</a:t>
            </a:r>
            <a:r>
              <a:rPr lang="zh-CN" altLang="en-US" sz="3600" dirty="0"/>
              <a:t>脸上绽开了真诚的笑容</a:t>
            </a:r>
            <a:endParaRPr lang="zh-CN" altLang="en-US"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u="sng" dirty="0">
                <a:solidFill>
                  <a:srgbClr val="FF0000"/>
                </a:solidFill>
              </a:rPr>
              <a:t>1. </a:t>
            </a:r>
            <a:r>
              <a:rPr lang="zh-CN" altLang="en-US" sz="3600" b="1" dirty="0"/>
              <a:t>他把目光移开</a:t>
            </a:r>
            <a:r>
              <a:rPr lang="en-US" altLang="zh-CN" sz="3600" b="1" dirty="0"/>
              <a:t>,</a:t>
            </a:r>
            <a:r>
              <a:rPr lang="zh-CN" altLang="en-US" sz="3600" b="1" u="sng" dirty="0">
                <a:solidFill>
                  <a:srgbClr val="FF0000"/>
                </a:solidFill>
              </a:rPr>
              <a:t>吞下肿块</a:t>
            </a:r>
            <a:r>
              <a:rPr lang="en-US" altLang="zh-CN" sz="3600" b="1" u="sng" dirty="0">
                <a:solidFill>
                  <a:srgbClr val="FF0000"/>
                </a:solidFill>
              </a:rPr>
              <a:t> </a:t>
            </a:r>
            <a:r>
              <a:rPr lang="en-US" altLang="zh-CN" sz="3600" b="1" dirty="0"/>
              <a:t>2.Ted</a:t>
            </a:r>
            <a:r>
              <a:rPr lang="zh-CN" altLang="en-US" sz="3600" b="1" dirty="0"/>
              <a:t>抬头看着他</a:t>
            </a:r>
            <a:r>
              <a:rPr lang="en-US" altLang="zh-CN" sz="3600" b="1" dirty="0"/>
              <a:t>,</a:t>
            </a:r>
            <a:r>
              <a:rPr lang="zh-CN" altLang="en-US" sz="3600" b="1" dirty="0">
                <a:solidFill>
                  <a:srgbClr val="FF0000"/>
                </a:solidFill>
              </a:rPr>
              <a:t>从父亲的眼中看到了自己的失望</a:t>
            </a:r>
            <a:r>
              <a:rPr lang="en-US" altLang="zh-CN" sz="3600" b="1" dirty="0">
                <a:solidFill>
                  <a:srgbClr val="FF0000"/>
                </a:solidFill>
              </a:rPr>
              <a:t>3.</a:t>
            </a:r>
            <a:r>
              <a:rPr lang="zh-CN" altLang="en-US" sz="3600" b="1" dirty="0"/>
              <a:t>他看着那辆二手自行车</a:t>
            </a:r>
            <a:r>
              <a:rPr lang="en-US" altLang="zh-CN" sz="3600" b="1" dirty="0"/>
              <a:t>,</a:t>
            </a:r>
            <a:r>
              <a:rPr lang="zh-CN" altLang="en-US" sz="3600" b="1" dirty="0"/>
              <a:t>心一沉</a:t>
            </a:r>
            <a:r>
              <a:rPr lang="en-US" altLang="zh-CN" sz="3600" b="1" dirty="0"/>
              <a:t>4.</a:t>
            </a:r>
            <a:r>
              <a:rPr lang="en-US" altLang="zh-CN" sz="3600" b="1" dirty="0">
                <a:solidFill>
                  <a:srgbClr val="FF0000"/>
                </a:solidFill>
              </a:rPr>
              <a:t> </a:t>
            </a:r>
            <a:r>
              <a:rPr lang="zh-CN" altLang="en-US" sz="3600" b="1" dirty="0"/>
              <a:t>他感到一阵失望的情绪涌上心头</a:t>
            </a:r>
            <a:r>
              <a:rPr lang="en-US" altLang="zh-CN" sz="3600" b="1" dirty="0"/>
              <a:t>5.</a:t>
            </a:r>
            <a:r>
              <a:rPr lang="en-US" altLang="zh-CN" sz="3600" b="1" dirty="0">
                <a:solidFill>
                  <a:srgbClr val="FF0000"/>
                </a:solidFill>
              </a:rPr>
              <a:t> </a:t>
            </a:r>
            <a:r>
              <a:rPr lang="zh-CN" altLang="en-US" sz="3600" b="1" dirty="0"/>
              <a:t>一股苦涩的失望情绪涌上他的胸膛，他的喉咙也绷紧了</a:t>
            </a:r>
            <a:r>
              <a:rPr lang="en-US" altLang="zh-CN" sz="3600" b="1" dirty="0">
                <a:solidFill>
                  <a:srgbClr val="FF0000"/>
                </a:solidFill>
              </a:rPr>
              <a:t>6.</a:t>
            </a:r>
            <a:r>
              <a:rPr lang="en-US" altLang="zh-CN" sz="3600" b="1" dirty="0"/>
              <a:t> </a:t>
            </a:r>
            <a:r>
              <a:rPr lang="zh-CN" altLang="en-US" sz="3600" b="1" dirty="0"/>
              <a:t>他意识到自己是多么自私只考虑自己的愿望，而不考虑他们的困难</a:t>
            </a:r>
            <a:r>
              <a:rPr lang="en-US" altLang="zh-CN" sz="3600" b="1" dirty="0">
                <a:solidFill>
                  <a:srgbClr val="FF0000"/>
                </a:solidFill>
              </a:rPr>
              <a:t>7. </a:t>
            </a:r>
            <a:r>
              <a:rPr lang="zh-CN" altLang="en-US" sz="3600" b="1" dirty="0"/>
              <a:t>带着感激的微笑他拥抱父亲</a:t>
            </a:r>
            <a:r>
              <a:rPr lang="en-US" altLang="zh-CN" sz="3600" b="1" dirty="0">
                <a:solidFill>
                  <a:srgbClr val="FF0000"/>
                </a:solidFill>
              </a:rPr>
              <a:t>8.</a:t>
            </a:r>
            <a:r>
              <a:rPr lang="zh-CN" altLang="en-US" sz="3600" b="1" dirty="0"/>
              <a:t>脸上绽开了真诚的笑容</a:t>
            </a:r>
            <a:endParaRPr lang="en-US" altLang="zh-CN" sz="3600" b="1" dirty="0"/>
          </a:p>
          <a:p>
            <a:r>
              <a:rPr lang="en-US" altLang="zh-CN" sz="3600" b="1" dirty="0"/>
              <a:t>1.</a:t>
            </a:r>
            <a:r>
              <a:rPr lang="zh-CN" altLang="en-US" sz="3600" b="1" dirty="0"/>
              <a:t>拥抱美好</a:t>
            </a:r>
            <a:r>
              <a:rPr lang="en-US" altLang="zh-CN" sz="3600" b="1" dirty="0"/>
              <a:t> 2.</a:t>
            </a:r>
            <a:r>
              <a:rPr lang="zh-CN" altLang="en-US" sz="3600" b="1" dirty="0"/>
              <a:t>亲爱的同学们</a:t>
            </a:r>
            <a:endParaRPr lang="en-US" altLang="zh-CN" sz="3600" b="1" dirty="0"/>
          </a:p>
          <a:p>
            <a:r>
              <a:rPr lang="en-US" altLang="zh-CN" sz="3600" b="1" dirty="0"/>
              <a:t>3.</a:t>
            </a:r>
            <a:r>
              <a:rPr lang="zh-CN" altLang="en-US" sz="3600" b="1" dirty="0"/>
              <a:t>为了给我们的校园生活增添更多色彩，并响应美育倡议，学生会非常高兴地推出即将举行的“艺术周”活动。</a:t>
            </a:r>
            <a:endParaRPr lang="en-US" altLang="zh-CN" sz="3600" b="1" dirty="0"/>
          </a:p>
          <a:p>
            <a:r>
              <a:rPr lang="en-US" altLang="zh-CN" sz="3600" b="1" dirty="0"/>
              <a:t>4.</a:t>
            </a:r>
            <a:r>
              <a:rPr lang="zh-CN" altLang="en-US" sz="3600" b="1" dirty="0"/>
              <a:t>一系列精彩活动正等待着您：</a:t>
            </a:r>
            <a:endParaRPr lang="en-US" altLang="zh-CN" sz="3600" b="1" dirty="0"/>
          </a:p>
          <a:p>
            <a:r>
              <a:rPr lang="en-US" altLang="zh-CN" sz="3600" b="1" dirty="0"/>
              <a:t>5.</a:t>
            </a:r>
            <a:r>
              <a:rPr lang="zh-CN" altLang="en-US" sz="3600" b="1" dirty="0"/>
              <a:t>艺术不仅能悦目，还能塑造心灵。让我们携手共进，共同创造一个充满创造力和欢乐的周。您的参与是使这次活动取得辉煌成功的关键</a:t>
            </a:r>
            <a:r>
              <a:rPr lang="zh-CN" altLang="en-US" sz="3600" b="1" dirty="0">
                <a:solidFill>
                  <a:srgbClr val="FF0000"/>
                </a:solidFill>
              </a:rPr>
              <a:t>。</a:t>
            </a:r>
          </a:p>
          <a:p>
            <a:endParaRPr lang="zh-CN" altLang="en-US" sz="3600" b="1" dirty="0">
              <a:solidFill>
                <a:srgbClr val="FF0000"/>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solidFill>
                  <a:srgbClr val="FF0000"/>
                </a:solidFill>
              </a:rPr>
              <a:t>单元卷一</a:t>
            </a:r>
            <a:endParaRPr lang="en-US" altLang="zh-CN" sz="3600" b="1" dirty="0">
              <a:solidFill>
                <a:srgbClr val="FF0000"/>
              </a:solidFill>
            </a:endParaRPr>
          </a:p>
          <a:p>
            <a:r>
              <a:rPr lang="en-US" altLang="zh-CN" sz="3600" b="1" dirty="0">
                <a:solidFill>
                  <a:srgbClr val="FF0000"/>
                </a:solidFill>
              </a:rPr>
              <a:t> removal from</a:t>
            </a:r>
            <a:r>
              <a:rPr lang="zh-CN" altLang="en-US" sz="3600" b="1" dirty="0">
                <a:solidFill>
                  <a:srgbClr val="FF0000"/>
                </a:solidFill>
              </a:rPr>
              <a:t>从</a:t>
            </a:r>
            <a:r>
              <a:rPr lang="en-US" altLang="zh-CN" sz="3600" b="1" dirty="0">
                <a:solidFill>
                  <a:srgbClr val="FF0000"/>
                </a:solidFill>
              </a:rPr>
              <a:t>…</a:t>
            </a:r>
            <a:r>
              <a:rPr lang="zh-CN" altLang="en-US" sz="3600" b="1" dirty="0">
                <a:solidFill>
                  <a:srgbClr val="FF0000"/>
                </a:solidFill>
              </a:rPr>
              <a:t>移除</a:t>
            </a:r>
            <a:r>
              <a:rPr lang="en-US" altLang="zh-CN" sz="3600" b="1" dirty="0">
                <a:solidFill>
                  <a:srgbClr val="FF0000"/>
                </a:solidFill>
              </a:rPr>
              <a:t> </a:t>
            </a:r>
          </a:p>
          <a:p>
            <a:r>
              <a:rPr lang="en-US" altLang="zh-CN" sz="3600" b="1" dirty="0">
                <a:solidFill>
                  <a:srgbClr val="FF0000"/>
                </a:solidFill>
              </a:rPr>
              <a:t> review </a:t>
            </a:r>
            <a:r>
              <a:rPr lang="en-US" altLang="zh-CN" sz="3600" b="1" dirty="0" err="1">
                <a:solidFill>
                  <a:srgbClr val="FF0000"/>
                </a:solidFill>
              </a:rPr>
              <a:t>n.v.</a:t>
            </a:r>
            <a:r>
              <a:rPr lang="zh-CN" altLang="en-US" sz="3600" b="1" dirty="0">
                <a:solidFill>
                  <a:srgbClr val="FF0000"/>
                </a:solidFill>
              </a:rPr>
              <a:t>评论</a:t>
            </a:r>
            <a:r>
              <a:rPr lang="en-US" altLang="zh-CN" sz="3600" b="1" dirty="0">
                <a:solidFill>
                  <a:srgbClr val="FF0000"/>
                </a:solidFill>
              </a:rPr>
              <a:t> theater </a:t>
            </a:r>
            <a:r>
              <a:rPr lang="en-US" altLang="zh-CN" sz="3600" b="1" dirty="0" err="1">
                <a:solidFill>
                  <a:srgbClr val="FF0000"/>
                </a:solidFill>
              </a:rPr>
              <a:t>programme</a:t>
            </a:r>
            <a:r>
              <a:rPr lang="zh-CN" altLang="en-US" sz="3600" b="1" dirty="0">
                <a:solidFill>
                  <a:srgbClr val="FF0000"/>
                </a:solidFill>
              </a:rPr>
              <a:t>戏剧节目</a:t>
            </a:r>
            <a:endParaRPr lang="en-US" altLang="zh-CN" sz="3600" b="1" dirty="0">
              <a:solidFill>
                <a:srgbClr val="FF0000"/>
              </a:solidFill>
            </a:endParaRPr>
          </a:p>
          <a:p>
            <a:r>
              <a:rPr lang="en-US" altLang="zh-CN" sz="3600" b="1" dirty="0">
                <a:solidFill>
                  <a:srgbClr val="FF0000"/>
                </a:solidFill>
              </a:rPr>
              <a:t> activity announcement</a:t>
            </a:r>
            <a:r>
              <a:rPr lang="zh-CN" altLang="en-US" sz="3600" b="1" dirty="0">
                <a:solidFill>
                  <a:srgbClr val="FF0000"/>
                </a:solidFill>
              </a:rPr>
              <a:t>活动通告</a:t>
            </a:r>
            <a:endParaRPr lang="en-US" altLang="zh-CN" sz="3600" b="1" dirty="0">
              <a:solidFill>
                <a:srgbClr val="FF0000"/>
              </a:solidFill>
            </a:endParaRPr>
          </a:p>
          <a:p>
            <a:r>
              <a:rPr lang="en-US" altLang="zh-CN" sz="3600" b="1" dirty="0">
                <a:solidFill>
                  <a:srgbClr val="FF0000"/>
                </a:solidFill>
              </a:rPr>
              <a:t> distinguish between A and B </a:t>
            </a:r>
            <a:r>
              <a:rPr lang="zh-CN" altLang="en-US" sz="3600" b="1" dirty="0">
                <a:solidFill>
                  <a:srgbClr val="FF0000"/>
                </a:solidFill>
              </a:rPr>
              <a:t>区分</a:t>
            </a:r>
            <a:r>
              <a:rPr lang="en-US" altLang="zh-CN" sz="3600" b="1" dirty="0">
                <a:solidFill>
                  <a:srgbClr val="FF0000"/>
                </a:solidFill>
              </a:rPr>
              <a:t>A</a:t>
            </a:r>
            <a:r>
              <a:rPr lang="zh-CN" altLang="en-US" sz="3600" b="1" dirty="0">
                <a:solidFill>
                  <a:srgbClr val="FF0000"/>
                </a:solidFill>
              </a:rPr>
              <a:t>和</a:t>
            </a:r>
            <a:r>
              <a:rPr lang="en-US" altLang="zh-CN" sz="3600" b="1" dirty="0">
                <a:solidFill>
                  <a:srgbClr val="FF0000"/>
                </a:solidFill>
              </a:rPr>
              <a:t>B=tell apart</a:t>
            </a:r>
          </a:p>
          <a:p>
            <a:r>
              <a:rPr lang="en-US" altLang="zh-CN" sz="3600" b="1" dirty="0">
                <a:solidFill>
                  <a:srgbClr val="FF0000"/>
                </a:solidFill>
              </a:rPr>
              <a:t> speed up</a:t>
            </a:r>
            <a:r>
              <a:rPr lang="zh-CN" altLang="en-US" sz="3600" b="1" dirty="0">
                <a:solidFill>
                  <a:srgbClr val="FF0000"/>
                </a:solidFill>
              </a:rPr>
              <a:t>加速</a:t>
            </a:r>
            <a:r>
              <a:rPr lang="en-US" altLang="zh-CN" sz="3600" b="1" dirty="0">
                <a:solidFill>
                  <a:srgbClr val="FF0000"/>
                </a:solidFill>
              </a:rPr>
              <a:t>  engage one’s focus</a:t>
            </a:r>
            <a:r>
              <a:rPr lang="zh-CN" altLang="en-US" sz="3600" b="1" dirty="0">
                <a:solidFill>
                  <a:srgbClr val="FF0000"/>
                </a:solidFill>
              </a:rPr>
              <a:t>集中注意力</a:t>
            </a:r>
            <a:endParaRPr lang="en-US" altLang="zh-CN" sz="3600" b="1" dirty="0">
              <a:solidFill>
                <a:srgbClr val="FF0000"/>
              </a:solidFill>
            </a:endParaRPr>
          </a:p>
          <a:p>
            <a:r>
              <a:rPr lang="en-US" altLang="zh-CN" sz="3600" b="1" dirty="0">
                <a:solidFill>
                  <a:srgbClr val="FF0000"/>
                </a:solidFill>
              </a:rPr>
              <a:t> raise the topic</a:t>
            </a:r>
            <a:r>
              <a:rPr lang="zh-CN" altLang="en-US" sz="3600" b="1" dirty="0">
                <a:solidFill>
                  <a:srgbClr val="FF0000"/>
                </a:solidFill>
              </a:rPr>
              <a:t>提出话题</a:t>
            </a:r>
            <a:r>
              <a:rPr lang="en-US" altLang="zh-CN" sz="3600" b="1" dirty="0">
                <a:solidFill>
                  <a:srgbClr val="FF0000"/>
                </a:solidFill>
              </a:rPr>
              <a:t> the access to</a:t>
            </a:r>
            <a:r>
              <a:rPr lang="zh-CN" altLang="en-US" sz="3600" b="1" dirty="0">
                <a:solidFill>
                  <a:srgbClr val="FF0000"/>
                </a:solidFill>
              </a:rPr>
              <a:t>通往</a:t>
            </a:r>
            <a:r>
              <a:rPr lang="en-US" altLang="zh-CN" sz="3600" b="1" dirty="0">
                <a:solidFill>
                  <a:srgbClr val="FF0000"/>
                </a:solidFill>
              </a:rPr>
              <a:t>…</a:t>
            </a:r>
            <a:r>
              <a:rPr lang="zh-CN" altLang="en-US" sz="3600" b="1" dirty="0">
                <a:solidFill>
                  <a:srgbClr val="FF0000"/>
                </a:solidFill>
              </a:rPr>
              <a:t>的途径</a:t>
            </a:r>
            <a:r>
              <a:rPr lang="en-US" altLang="zh-CN" sz="3600" b="1" dirty="0">
                <a:solidFill>
                  <a:srgbClr val="FF0000"/>
                </a:solidFill>
              </a:rPr>
              <a:t>/</a:t>
            </a:r>
            <a:r>
              <a:rPr lang="zh-CN" altLang="en-US" sz="3600" b="1" dirty="0">
                <a:solidFill>
                  <a:srgbClr val="FF0000"/>
                </a:solidFill>
              </a:rPr>
              <a:t>通道</a:t>
            </a:r>
            <a:endParaRPr lang="en-US" altLang="zh-CN" sz="3600" b="1" dirty="0">
              <a:solidFill>
                <a:srgbClr val="FF0000"/>
              </a:solidFill>
            </a:endParaRPr>
          </a:p>
          <a:p>
            <a:r>
              <a:rPr lang="en-US" altLang="zh-CN" sz="3600" b="1" dirty="0">
                <a:solidFill>
                  <a:srgbClr val="FF0000"/>
                </a:solidFill>
              </a:rPr>
              <a:t> flexible</a:t>
            </a:r>
            <a:r>
              <a:rPr lang="zh-CN" altLang="en-US" sz="3600" b="1" dirty="0">
                <a:solidFill>
                  <a:srgbClr val="FF0000"/>
                </a:solidFill>
              </a:rPr>
              <a:t>灵活的</a:t>
            </a:r>
            <a:r>
              <a:rPr lang="en-US" altLang="zh-CN" sz="3600" b="1" dirty="0">
                <a:solidFill>
                  <a:srgbClr val="FF0000"/>
                </a:solidFill>
              </a:rPr>
              <a:t> determined</a:t>
            </a:r>
            <a:r>
              <a:rPr lang="zh-CN" altLang="en-US" sz="3600" b="1" dirty="0">
                <a:solidFill>
                  <a:srgbClr val="FF0000"/>
                </a:solidFill>
              </a:rPr>
              <a:t>坚决的</a:t>
            </a:r>
            <a:r>
              <a:rPr lang="en-US" altLang="zh-CN" sz="3600" b="1" dirty="0">
                <a:solidFill>
                  <a:srgbClr val="FF0000"/>
                </a:solidFill>
              </a:rPr>
              <a:t> cautious</a:t>
            </a:r>
            <a:r>
              <a:rPr lang="zh-CN" altLang="en-US" sz="3600" b="1" dirty="0">
                <a:solidFill>
                  <a:srgbClr val="FF0000"/>
                </a:solidFill>
              </a:rPr>
              <a:t>小心谨慎的</a:t>
            </a:r>
            <a:endParaRPr lang="en-US" altLang="zh-CN" sz="3600" b="1" dirty="0">
              <a:solidFill>
                <a:srgbClr val="FF0000"/>
              </a:solidFill>
            </a:endParaRPr>
          </a:p>
          <a:p>
            <a:r>
              <a:rPr lang="en-US" altLang="zh-CN" sz="3600" b="1" dirty="0">
                <a:solidFill>
                  <a:srgbClr val="FF0000"/>
                </a:solidFill>
              </a:rPr>
              <a:t> casual</a:t>
            </a:r>
            <a:r>
              <a:rPr lang="zh-CN" altLang="en-US" sz="3600" b="1" dirty="0">
                <a:solidFill>
                  <a:srgbClr val="FF0000"/>
                </a:solidFill>
              </a:rPr>
              <a:t>随便的非正式的</a:t>
            </a:r>
            <a:r>
              <a:rPr lang="en-US" altLang="zh-CN" sz="3600" b="1" dirty="0">
                <a:solidFill>
                  <a:srgbClr val="FF0000"/>
                </a:solidFill>
              </a:rPr>
              <a:t> leaking information</a:t>
            </a:r>
            <a:r>
              <a:rPr lang="zh-CN" altLang="en-US" sz="3600" b="1" dirty="0">
                <a:solidFill>
                  <a:srgbClr val="FF0000"/>
                </a:solidFill>
              </a:rPr>
              <a:t>信息泄露</a:t>
            </a:r>
            <a:endParaRPr lang="en-US" altLang="zh-CN" sz="3600" b="1" dirty="0">
              <a:solidFill>
                <a:srgbClr val="FF0000"/>
              </a:solidFill>
            </a:endParaRPr>
          </a:p>
          <a:p>
            <a:r>
              <a:rPr lang="en-US" altLang="zh-CN" sz="3600" b="1" dirty="0">
                <a:solidFill>
                  <a:srgbClr val="FF0000"/>
                </a:solidFill>
              </a:rPr>
              <a:t> strengthen social connections</a:t>
            </a:r>
            <a:r>
              <a:rPr lang="zh-CN" altLang="en-US" sz="3600" b="1" dirty="0">
                <a:solidFill>
                  <a:srgbClr val="FF0000"/>
                </a:solidFill>
              </a:rPr>
              <a:t>加强社会联系</a:t>
            </a:r>
            <a:endParaRPr lang="en-US" altLang="zh-CN" sz="3600" b="1" dirty="0">
              <a:solidFill>
                <a:srgbClr val="FF0000"/>
              </a:solidFill>
            </a:endParaRPr>
          </a:p>
          <a:p>
            <a:r>
              <a:rPr lang="en-US" altLang="zh-CN" sz="3600" b="1" dirty="0">
                <a:solidFill>
                  <a:srgbClr val="FF0000"/>
                </a:solidFill>
              </a:rPr>
              <a:t> reach the highest potential</a:t>
            </a:r>
            <a:r>
              <a:rPr lang="zh-CN" altLang="en-US" sz="3600" b="1">
                <a:solidFill>
                  <a:srgbClr val="FF0000"/>
                </a:solidFill>
              </a:rPr>
              <a:t>发挥最大潜能</a:t>
            </a:r>
            <a:endParaRPr lang="en-US" altLang="zh-CN" sz="3600" b="1" dirty="0">
              <a:solidFill>
                <a:srgbClr val="FF0000"/>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solidFill>
                  <a:srgbClr val="FF0000"/>
                </a:solidFill>
              </a:rPr>
              <a:t>单元测试卷</a:t>
            </a:r>
            <a:r>
              <a:rPr lang="en-US" altLang="zh-CN" sz="3600" b="1" dirty="0">
                <a:solidFill>
                  <a:srgbClr val="FF0000"/>
                </a:solidFill>
              </a:rPr>
              <a:t>2  </a:t>
            </a:r>
          </a:p>
          <a:p>
            <a:r>
              <a:rPr lang="en-US" altLang="zh-CN" sz="3600" b="1" dirty="0">
                <a:solidFill>
                  <a:srgbClr val="FF0000"/>
                </a:solidFill>
              </a:rPr>
              <a:t> remove the barrier</a:t>
            </a:r>
            <a:r>
              <a:rPr lang="zh-CN" altLang="en-US" sz="3600" b="1" dirty="0">
                <a:solidFill>
                  <a:srgbClr val="FF0000"/>
                </a:solidFill>
              </a:rPr>
              <a:t>消除障碍</a:t>
            </a:r>
            <a:endParaRPr lang="en-US" altLang="zh-CN" sz="3600" b="1" dirty="0">
              <a:solidFill>
                <a:srgbClr val="FF0000"/>
              </a:solidFill>
            </a:endParaRPr>
          </a:p>
          <a:p>
            <a:r>
              <a:rPr lang="en-US" altLang="zh-CN" sz="3600" b="1" dirty="0">
                <a:solidFill>
                  <a:srgbClr val="FF0000"/>
                </a:solidFill>
              </a:rPr>
              <a:t> lift sb. up</a:t>
            </a:r>
            <a:r>
              <a:rPr lang="zh-CN" altLang="en-US" sz="3600" b="1" dirty="0">
                <a:solidFill>
                  <a:srgbClr val="FF0000"/>
                </a:solidFill>
              </a:rPr>
              <a:t>扶起某人</a:t>
            </a:r>
            <a:r>
              <a:rPr lang="en-US" altLang="zh-CN" sz="3600" b="1" dirty="0">
                <a:solidFill>
                  <a:srgbClr val="FF0000"/>
                </a:solidFill>
              </a:rPr>
              <a:t>;</a:t>
            </a:r>
            <a:r>
              <a:rPr lang="zh-CN" altLang="en-US" sz="3600" b="1" dirty="0">
                <a:solidFill>
                  <a:srgbClr val="FF0000"/>
                </a:solidFill>
              </a:rPr>
              <a:t>振奋提升</a:t>
            </a:r>
            <a:r>
              <a:rPr lang="en-US" altLang="zh-CN" sz="3600" b="1" dirty="0">
                <a:solidFill>
                  <a:srgbClr val="FF0000"/>
                </a:solidFill>
              </a:rPr>
              <a:t> reserve a seat</a:t>
            </a:r>
            <a:r>
              <a:rPr lang="zh-CN" altLang="en-US" sz="3600" b="1" dirty="0">
                <a:solidFill>
                  <a:srgbClr val="FF0000"/>
                </a:solidFill>
              </a:rPr>
              <a:t>预留座位</a:t>
            </a:r>
            <a:endParaRPr lang="en-US" altLang="zh-CN" sz="3600" b="1" dirty="0">
              <a:solidFill>
                <a:srgbClr val="FF0000"/>
              </a:solidFill>
            </a:endParaRPr>
          </a:p>
          <a:p>
            <a:r>
              <a:rPr lang="en-US" altLang="zh-CN" sz="3600" b="1" dirty="0">
                <a:solidFill>
                  <a:srgbClr val="FF0000"/>
                </a:solidFill>
              </a:rPr>
              <a:t> one’s commitment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承诺投身于做某事</a:t>
            </a:r>
            <a:endParaRPr lang="en-US" altLang="zh-CN" sz="3600" b="1" dirty="0">
              <a:solidFill>
                <a:srgbClr val="FF0000"/>
              </a:solidFill>
            </a:endParaRPr>
          </a:p>
          <a:p>
            <a:r>
              <a:rPr lang="en-US" altLang="zh-CN" sz="3600" b="1" dirty="0">
                <a:solidFill>
                  <a:srgbClr val="FF0000"/>
                </a:solidFill>
              </a:rPr>
              <a:t> …be familiar to sb. …</a:t>
            </a:r>
            <a:r>
              <a:rPr lang="zh-CN" altLang="en-US" sz="3600" b="1" dirty="0">
                <a:solidFill>
                  <a:srgbClr val="FF0000"/>
                </a:solidFill>
              </a:rPr>
              <a:t>为某人所熟悉</a:t>
            </a:r>
            <a:endParaRPr lang="en-US" altLang="zh-CN" sz="3600" b="1" dirty="0">
              <a:solidFill>
                <a:srgbClr val="FF0000"/>
              </a:solidFill>
            </a:endParaRPr>
          </a:p>
          <a:p>
            <a:r>
              <a:rPr lang="en-US" altLang="zh-CN" sz="3600" b="1" dirty="0">
                <a:solidFill>
                  <a:srgbClr val="FF0000"/>
                </a:solidFill>
              </a:rPr>
              <a:t> sb. be familiar with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某人熟悉某事</a:t>
            </a:r>
            <a:endParaRPr lang="en-US" altLang="zh-CN" sz="3600" b="1" dirty="0">
              <a:solidFill>
                <a:srgbClr val="FF0000"/>
              </a:solidFill>
            </a:endParaRPr>
          </a:p>
          <a:p>
            <a:r>
              <a:rPr lang="en-US" altLang="zh-CN" sz="3600" b="1" dirty="0">
                <a:solidFill>
                  <a:srgbClr val="FF0000"/>
                </a:solidFill>
              </a:rPr>
              <a:t> creation n.</a:t>
            </a:r>
            <a:r>
              <a:rPr lang="zh-CN" altLang="en-US" sz="3600" b="1" dirty="0">
                <a:solidFill>
                  <a:srgbClr val="FF0000"/>
                </a:solidFill>
              </a:rPr>
              <a:t>创造</a:t>
            </a:r>
            <a:r>
              <a:rPr lang="en-US" altLang="zh-CN" sz="3600" b="1" dirty="0">
                <a:solidFill>
                  <a:srgbClr val="FF0000"/>
                </a:solidFill>
              </a:rPr>
              <a:t>;</a:t>
            </a:r>
            <a:r>
              <a:rPr lang="zh-CN" altLang="en-US" sz="3600" b="1" dirty="0">
                <a:solidFill>
                  <a:srgbClr val="FF0000"/>
                </a:solidFill>
              </a:rPr>
              <a:t>作品</a:t>
            </a:r>
            <a:r>
              <a:rPr lang="en-US" altLang="zh-CN" sz="3600" b="1" dirty="0">
                <a:solidFill>
                  <a:srgbClr val="FF0000"/>
                </a:solidFill>
              </a:rPr>
              <a:t>  creativity n.</a:t>
            </a:r>
            <a:r>
              <a:rPr lang="zh-CN" altLang="en-US" sz="3600" b="1" dirty="0">
                <a:solidFill>
                  <a:srgbClr val="FF0000"/>
                </a:solidFill>
              </a:rPr>
              <a:t>创造力</a:t>
            </a:r>
            <a:r>
              <a:rPr lang="en-US" altLang="zh-CN" sz="3600" b="1" dirty="0">
                <a:solidFill>
                  <a:srgbClr val="FF0000"/>
                </a:solidFill>
              </a:rPr>
              <a:t>;</a:t>
            </a:r>
            <a:r>
              <a:rPr lang="zh-CN" altLang="en-US" sz="3600" b="1" dirty="0">
                <a:solidFill>
                  <a:srgbClr val="FF0000"/>
                </a:solidFill>
              </a:rPr>
              <a:t>独创性</a:t>
            </a:r>
            <a:endParaRPr lang="en-US" altLang="zh-CN" sz="3600" b="1" dirty="0">
              <a:solidFill>
                <a:srgbClr val="FF0000"/>
              </a:solidFill>
            </a:endParaRPr>
          </a:p>
          <a:p>
            <a:endParaRPr lang="en-US" altLang="zh-CN" sz="3600" b="1"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zh-CN" altLang="en-US" sz="3600" b="1" dirty="0">
                <a:solidFill>
                  <a:srgbClr val="FF0000"/>
                </a:solidFill>
              </a:rPr>
              <a:t>单元测试卷</a:t>
            </a:r>
            <a:r>
              <a:rPr lang="en-US" altLang="zh-CN" sz="3600" b="1" dirty="0">
                <a:solidFill>
                  <a:srgbClr val="FF0000"/>
                </a:solidFill>
              </a:rPr>
              <a:t>3 </a:t>
            </a:r>
          </a:p>
          <a:p>
            <a:r>
              <a:rPr lang="en-US" altLang="zh-CN" sz="3600" b="1" dirty="0">
                <a:solidFill>
                  <a:srgbClr val="FF0000"/>
                </a:solidFill>
              </a:rPr>
              <a:t>at a competitive collegiate level</a:t>
            </a:r>
            <a:r>
              <a:rPr lang="zh-CN" altLang="en-US" sz="3600" dirty="0"/>
              <a:t>竞争激烈的大学水平</a:t>
            </a:r>
            <a:endParaRPr lang="en-US" altLang="zh-CN" sz="3600" b="1" dirty="0">
              <a:solidFill>
                <a:srgbClr val="FF0000"/>
              </a:solidFill>
            </a:endParaRPr>
          </a:p>
          <a:p>
            <a:r>
              <a:rPr lang="en-US" altLang="zh-CN" sz="3600" b="1" dirty="0">
                <a:solidFill>
                  <a:srgbClr val="FF0000"/>
                </a:solidFill>
              </a:rPr>
              <a:t>tryout</a:t>
            </a:r>
            <a:r>
              <a:rPr lang="zh-CN" altLang="en-US" sz="3600" b="1" dirty="0">
                <a:solidFill>
                  <a:srgbClr val="FF0000"/>
                </a:solidFill>
              </a:rPr>
              <a:t>实验</a:t>
            </a:r>
            <a:r>
              <a:rPr lang="en-US" altLang="zh-CN" sz="3600" b="1" dirty="0">
                <a:solidFill>
                  <a:srgbClr val="FF0000"/>
                </a:solidFill>
              </a:rPr>
              <a:t>,</a:t>
            </a:r>
            <a:r>
              <a:rPr lang="zh-CN" altLang="en-US" sz="3600" b="1" dirty="0">
                <a:solidFill>
                  <a:srgbClr val="FF0000"/>
                </a:solidFill>
              </a:rPr>
              <a:t>选拔赛</a:t>
            </a:r>
            <a:r>
              <a:rPr lang="en-US" altLang="zh-CN" sz="3600" b="1" dirty="0">
                <a:solidFill>
                  <a:srgbClr val="FF0000"/>
                </a:solidFill>
              </a:rPr>
              <a:t>  every other day</a:t>
            </a:r>
            <a:r>
              <a:rPr lang="zh-CN" altLang="en-US" sz="3600" b="1" dirty="0">
                <a:solidFill>
                  <a:srgbClr val="FF0000"/>
                </a:solidFill>
              </a:rPr>
              <a:t>每隔一天</a:t>
            </a:r>
            <a:endParaRPr lang="en-US" altLang="zh-CN" sz="3600" b="1" dirty="0">
              <a:solidFill>
                <a:srgbClr val="FF0000"/>
              </a:solidFill>
            </a:endParaRPr>
          </a:p>
          <a:p>
            <a:r>
              <a:rPr lang="en-US" altLang="zh-CN" sz="3600" b="1" dirty="0">
                <a:solidFill>
                  <a:srgbClr val="FF0000"/>
                </a:solidFill>
              </a:rPr>
              <a:t> get caught in</a:t>
            </a:r>
            <a:r>
              <a:rPr lang="zh-CN" altLang="en-US" sz="3600" b="1" dirty="0">
                <a:solidFill>
                  <a:srgbClr val="FF0000"/>
                </a:solidFill>
              </a:rPr>
              <a:t>陷入</a:t>
            </a:r>
            <a:r>
              <a:rPr lang="en-US" altLang="zh-CN" sz="3600" b="1" dirty="0">
                <a:solidFill>
                  <a:srgbClr val="FF0000"/>
                </a:solidFill>
              </a:rPr>
              <a:t> get the hang of</a:t>
            </a:r>
            <a:r>
              <a:rPr lang="zh-CN" altLang="en-US" sz="3600" b="1" dirty="0">
                <a:solidFill>
                  <a:srgbClr val="FF0000"/>
                </a:solidFill>
              </a:rPr>
              <a:t>熟悉理解掌握</a:t>
            </a:r>
            <a:endParaRPr lang="en-US" altLang="zh-CN" sz="3600" b="1" dirty="0">
              <a:solidFill>
                <a:srgbClr val="FF0000"/>
              </a:solidFill>
            </a:endParaRPr>
          </a:p>
          <a:p>
            <a:r>
              <a:rPr lang="en-US" altLang="zh-CN" sz="3600" b="1" dirty="0">
                <a:solidFill>
                  <a:srgbClr val="FF0000"/>
                </a:solidFill>
              </a:rPr>
              <a:t> an influential figure</a:t>
            </a:r>
            <a:r>
              <a:rPr lang="zh-CN" altLang="en-US" sz="3600" b="1" dirty="0">
                <a:solidFill>
                  <a:srgbClr val="FF0000"/>
                </a:solidFill>
              </a:rPr>
              <a:t>有影响力的人物</a:t>
            </a:r>
            <a:endParaRPr lang="en-US" altLang="zh-CN" sz="3600" b="1" dirty="0">
              <a:solidFill>
                <a:srgbClr val="FF0000"/>
              </a:solidFill>
            </a:endParaRPr>
          </a:p>
          <a:p>
            <a:r>
              <a:rPr lang="en-US" altLang="zh-CN" sz="3600" b="1" dirty="0">
                <a:solidFill>
                  <a:srgbClr val="FF0000"/>
                </a:solidFill>
              </a:rPr>
              <a:t> go to great lengths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竭尽全力做某事</a:t>
            </a:r>
            <a:endParaRPr lang="en-US" altLang="zh-CN" sz="3600" b="1" dirty="0">
              <a:solidFill>
                <a:srgbClr val="FF0000"/>
              </a:solidFill>
            </a:endParaRPr>
          </a:p>
          <a:p>
            <a:r>
              <a:rPr lang="en-US" altLang="zh-CN" sz="3600" b="1" dirty="0">
                <a:solidFill>
                  <a:srgbClr val="FF0000"/>
                </a:solidFill>
              </a:rPr>
              <a:t> after trial and error</a:t>
            </a:r>
            <a:r>
              <a:rPr lang="zh-CN" altLang="en-US" sz="3600" b="1" dirty="0">
                <a:solidFill>
                  <a:srgbClr val="FF0000"/>
                </a:solidFill>
              </a:rPr>
              <a:t>经过反复试验</a:t>
            </a:r>
            <a:endParaRPr lang="en-US" altLang="zh-CN" sz="3600" b="1" dirty="0">
              <a:solidFill>
                <a:srgbClr val="FF0000"/>
              </a:solidFill>
            </a:endParaRPr>
          </a:p>
          <a:p>
            <a:r>
              <a:rPr lang="en-US" altLang="zh-CN" sz="3600" b="1" dirty="0">
                <a:solidFill>
                  <a:srgbClr val="FF0000"/>
                </a:solidFill>
              </a:rPr>
              <a:t> controversy n.</a:t>
            </a:r>
            <a:r>
              <a:rPr lang="zh-CN" altLang="en-US" sz="3600" b="1" dirty="0">
                <a:solidFill>
                  <a:srgbClr val="FF0000"/>
                </a:solidFill>
              </a:rPr>
              <a:t>争论</a:t>
            </a:r>
            <a:r>
              <a:rPr lang="en-US" altLang="zh-CN" sz="3600" b="1" dirty="0">
                <a:solidFill>
                  <a:srgbClr val="FF0000"/>
                </a:solidFill>
              </a:rPr>
              <a:t>/</a:t>
            </a:r>
            <a:r>
              <a:rPr lang="zh-CN" altLang="en-US" sz="3600" b="1" dirty="0">
                <a:solidFill>
                  <a:srgbClr val="FF0000"/>
                </a:solidFill>
              </a:rPr>
              <a:t>议  </a:t>
            </a:r>
            <a:r>
              <a:rPr lang="en-US" altLang="zh-CN" sz="3600" b="1" dirty="0">
                <a:solidFill>
                  <a:srgbClr val="FF0000"/>
                </a:solidFill>
              </a:rPr>
              <a:t>denial n.</a:t>
            </a:r>
            <a:r>
              <a:rPr lang="zh-CN" altLang="en-US" sz="3600" b="1" dirty="0">
                <a:solidFill>
                  <a:srgbClr val="FF0000"/>
                </a:solidFill>
              </a:rPr>
              <a:t>否认</a:t>
            </a:r>
            <a:r>
              <a:rPr lang="en-US" altLang="zh-CN" sz="3600" b="1" dirty="0">
                <a:solidFill>
                  <a:srgbClr val="FF0000"/>
                </a:solidFill>
              </a:rPr>
              <a:t>;</a:t>
            </a:r>
            <a:r>
              <a:rPr lang="zh-CN" altLang="en-US" sz="3600" b="1" dirty="0">
                <a:solidFill>
                  <a:srgbClr val="FF0000"/>
                </a:solidFill>
              </a:rPr>
              <a:t>拒绝接受</a:t>
            </a:r>
            <a:endParaRPr lang="en-US" altLang="zh-CN" sz="3600" b="1" dirty="0">
              <a:solidFill>
                <a:srgbClr val="FF0000"/>
              </a:solidFill>
            </a:endParaRPr>
          </a:p>
          <a:p>
            <a:r>
              <a:rPr lang="en-US" altLang="zh-CN" sz="3600" b="1" dirty="0">
                <a:solidFill>
                  <a:srgbClr val="FF0000"/>
                </a:solidFill>
              </a:rPr>
              <a:t> prolonged grief</a:t>
            </a:r>
            <a:r>
              <a:rPr lang="zh-CN" altLang="en-US" sz="3600" b="1" dirty="0">
                <a:solidFill>
                  <a:srgbClr val="FF0000"/>
                </a:solidFill>
              </a:rPr>
              <a:t>长期的悲伤</a:t>
            </a:r>
            <a:endParaRPr lang="en-US" altLang="zh-CN" sz="3600" b="1" dirty="0">
              <a:solidFill>
                <a:srgbClr val="FF0000"/>
              </a:solidFill>
            </a:endParaRPr>
          </a:p>
          <a:p>
            <a:r>
              <a:rPr lang="en-US" altLang="zh-CN" sz="3600" b="1" dirty="0">
                <a:solidFill>
                  <a:srgbClr val="FF0000"/>
                </a:solidFill>
              </a:rPr>
              <a:t> prioritize A over B</a:t>
            </a:r>
            <a:r>
              <a:rPr lang="zh-CN" altLang="en-US" sz="3600" b="1" dirty="0">
                <a:solidFill>
                  <a:srgbClr val="FF0000"/>
                </a:solidFill>
              </a:rPr>
              <a:t>优先考虑</a:t>
            </a:r>
            <a:r>
              <a:rPr lang="en-US" altLang="zh-CN" sz="3600" b="1" dirty="0">
                <a:solidFill>
                  <a:srgbClr val="FF0000"/>
                </a:solidFill>
              </a:rPr>
              <a:t>A</a:t>
            </a:r>
            <a:r>
              <a:rPr lang="zh-CN" altLang="en-US" sz="3600" b="1" dirty="0">
                <a:solidFill>
                  <a:srgbClr val="FF0000"/>
                </a:solidFill>
              </a:rPr>
              <a:t>而不是</a:t>
            </a:r>
            <a:r>
              <a:rPr lang="en-US" altLang="zh-CN" sz="3600" b="1" dirty="0">
                <a:solidFill>
                  <a:srgbClr val="FF0000"/>
                </a:solidFill>
              </a:rPr>
              <a:t>B</a:t>
            </a:r>
          </a:p>
          <a:p>
            <a:r>
              <a:rPr lang="en-US" altLang="zh-CN" sz="3600" b="1" dirty="0">
                <a:solidFill>
                  <a:srgbClr val="FF0000"/>
                </a:solidFill>
              </a:rPr>
              <a:t> resurrection n.</a:t>
            </a:r>
            <a:r>
              <a:rPr lang="zh-CN" altLang="en-US" sz="3600" b="1" dirty="0">
                <a:solidFill>
                  <a:srgbClr val="FF0000"/>
                </a:solidFill>
              </a:rPr>
              <a:t>复活</a:t>
            </a:r>
            <a:r>
              <a:rPr lang="en-US" altLang="zh-CN" sz="3600" b="1" dirty="0">
                <a:solidFill>
                  <a:srgbClr val="FF0000"/>
                </a:solidFill>
              </a:rPr>
              <a:t>;</a:t>
            </a:r>
            <a:r>
              <a:rPr lang="zh-CN" altLang="en-US" sz="3600" b="1" dirty="0">
                <a:solidFill>
                  <a:srgbClr val="FF0000"/>
                </a:solidFill>
              </a:rPr>
              <a:t>复苏  </a:t>
            </a:r>
            <a:r>
              <a:rPr lang="en-US" altLang="zh-CN" sz="3600" b="1" dirty="0">
                <a:solidFill>
                  <a:srgbClr val="FF0000"/>
                </a:solidFill>
              </a:rPr>
              <a:t>be outweighed by</a:t>
            </a:r>
            <a:r>
              <a:rPr lang="zh-CN" altLang="en-US" sz="3600" b="1" dirty="0">
                <a:solidFill>
                  <a:srgbClr val="FF0000"/>
                </a:solidFill>
              </a:rPr>
              <a:t>被</a:t>
            </a:r>
            <a:r>
              <a:rPr lang="en-US" altLang="zh-CN" sz="3600" b="1" dirty="0">
                <a:solidFill>
                  <a:srgbClr val="FF0000"/>
                </a:solidFill>
              </a:rPr>
              <a:t>…</a:t>
            </a:r>
            <a:r>
              <a:rPr lang="zh-CN" altLang="en-US" sz="3600" b="1" dirty="0">
                <a:solidFill>
                  <a:srgbClr val="FF0000"/>
                </a:solidFill>
              </a:rPr>
              <a:t>超过</a:t>
            </a:r>
            <a:endParaRPr lang="en-US" altLang="zh-CN" sz="3600" b="1" dirty="0">
              <a:solidFill>
                <a:srgbClr val="FF0000"/>
              </a:solidFill>
            </a:endParaRPr>
          </a:p>
          <a:p>
            <a:r>
              <a:rPr lang="en-US" altLang="zh-CN" sz="3600" b="1" dirty="0">
                <a:solidFill>
                  <a:srgbClr val="FF0000"/>
                </a:solidFill>
              </a:rPr>
              <a:t> skip over</a:t>
            </a:r>
            <a:r>
              <a:rPr lang="zh-CN" altLang="en-US" sz="3600" b="1" dirty="0">
                <a:solidFill>
                  <a:srgbClr val="FF0000"/>
                </a:solidFill>
              </a:rPr>
              <a:t>跳过</a:t>
            </a:r>
            <a:r>
              <a:rPr lang="en-US" altLang="zh-CN" sz="3600" b="1" dirty="0">
                <a:solidFill>
                  <a:srgbClr val="FF0000"/>
                </a:solidFill>
              </a:rPr>
              <a:t>;</a:t>
            </a:r>
            <a:r>
              <a:rPr lang="zh-CN" altLang="en-US" sz="3600" b="1" dirty="0">
                <a:solidFill>
                  <a:srgbClr val="FF0000"/>
                </a:solidFill>
              </a:rPr>
              <a:t>略过</a:t>
            </a:r>
            <a:r>
              <a:rPr lang="en-US" altLang="zh-CN" sz="3600" b="1" dirty="0">
                <a:solidFill>
                  <a:srgbClr val="FF0000"/>
                </a:solidFill>
              </a:rPr>
              <a:t>(skipped*2)</a:t>
            </a:r>
          </a:p>
          <a:p>
            <a:pPr marL="0" indent="0">
              <a:buNone/>
            </a:pPr>
            <a:endParaRPr lang="zh-CN" altLang="en-US" sz="3600" b="1" dirty="0">
              <a:solidFill>
                <a:srgbClr val="FF0000"/>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 Legend has it that…</a:t>
            </a:r>
            <a:r>
              <a:rPr lang="zh-CN" altLang="en-US" sz="3600" b="1" dirty="0">
                <a:solidFill>
                  <a:srgbClr val="FF0000"/>
                </a:solidFill>
              </a:rPr>
              <a:t>传说</a:t>
            </a:r>
            <a:endParaRPr lang="en-US" altLang="zh-CN" sz="3600" b="1" dirty="0">
              <a:solidFill>
                <a:srgbClr val="FF0000"/>
              </a:solidFill>
            </a:endParaRPr>
          </a:p>
          <a:p>
            <a:r>
              <a:rPr lang="en-US" altLang="zh-CN" sz="3600" b="1" dirty="0">
                <a:solidFill>
                  <a:srgbClr val="FF0000"/>
                </a:solidFill>
              </a:rPr>
              <a:t> fall down</a:t>
            </a:r>
            <a:r>
              <a:rPr lang="zh-CN" altLang="en-US" sz="3600" b="1" dirty="0">
                <a:solidFill>
                  <a:srgbClr val="FF0000"/>
                </a:solidFill>
              </a:rPr>
              <a:t>摔倒</a:t>
            </a:r>
            <a:r>
              <a:rPr lang="en-US" altLang="zh-CN" sz="3600" b="1" dirty="0">
                <a:solidFill>
                  <a:srgbClr val="FF0000"/>
                </a:solidFill>
              </a:rPr>
              <a:t>;</a:t>
            </a:r>
            <a:r>
              <a:rPr lang="zh-CN" altLang="en-US" sz="3600" b="1" dirty="0">
                <a:solidFill>
                  <a:srgbClr val="FF0000"/>
                </a:solidFill>
              </a:rPr>
              <a:t>失败</a:t>
            </a:r>
            <a:r>
              <a:rPr lang="en-US" altLang="zh-CN" sz="3600" b="1" dirty="0">
                <a:solidFill>
                  <a:srgbClr val="FF0000"/>
                </a:solidFill>
              </a:rPr>
              <a:t>   pass down</a:t>
            </a:r>
            <a:r>
              <a:rPr lang="zh-CN" altLang="en-US" sz="3600" b="1" dirty="0">
                <a:solidFill>
                  <a:srgbClr val="FF0000"/>
                </a:solidFill>
              </a:rPr>
              <a:t>传承</a:t>
            </a:r>
            <a:endParaRPr lang="en-US" altLang="zh-CN" sz="3600" b="1" dirty="0">
              <a:solidFill>
                <a:srgbClr val="FF0000"/>
              </a:solidFill>
            </a:endParaRPr>
          </a:p>
          <a:p>
            <a:r>
              <a:rPr lang="en-US" altLang="zh-CN" sz="3600" b="1" dirty="0">
                <a:solidFill>
                  <a:srgbClr val="FF0000"/>
                </a:solidFill>
              </a:rPr>
              <a:t> pass away</a:t>
            </a:r>
            <a:r>
              <a:rPr lang="zh-CN" altLang="en-US" sz="3600" b="1" dirty="0">
                <a:solidFill>
                  <a:srgbClr val="FF0000"/>
                </a:solidFill>
              </a:rPr>
              <a:t>去世</a:t>
            </a:r>
            <a:r>
              <a:rPr lang="en-US" altLang="zh-CN" sz="3600" b="1" dirty="0">
                <a:solidFill>
                  <a:srgbClr val="FF0000"/>
                </a:solidFill>
              </a:rPr>
              <a:t>;</a:t>
            </a:r>
            <a:r>
              <a:rPr lang="zh-CN" altLang="en-US" sz="3600" b="1" dirty="0">
                <a:solidFill>
                  <a:srgbClr val="FF0000"/>
                </a:solidFill>
              </a:rPr>
              <a:t>消失</a:t>
            </a:r>
            <a:r>
              <a:rPr lang="en-US" altLang="zh-CN" sz="3600" b="1" dirty="0">
                <a:solidFill>
                  <a:srgbClr val="FF0000"/>
                </a:solidFill>
              </a:rPr>
              <a:t>  carry away</a:t>
            </a:r>
            <a:r>
              <a:rPr lang="zh-CN" altLang="en-US" sz="3600" b="1" dirty="0">
                <a:solidFill>
                  <a:srgbClr val="FF0000"/>
                </a:solidFill>
              </a:rPr>
              <a:t>带走</a:t>
            </a:r>
            <a:r>
              <a:rPr lang="en-US" altLang="zh-CN" sz="3600" b="1" dirty="0">
                <a:solidFill>
                  <a:srgbClr val="FF0000"/>
                </a:solidFill>
              </a:rPr>
              <a:t>;</a:t>
            </a:r>
            <a:r>
              <a:rPr lang="zh-CN" altLang="en-US" sz="3600" b="1" dirty="0">
                <a:solidFill>
                  <a:srgbClr val="FF0000"/>
                </a:solidFill>
              </a:rPr>
              <a:t>失去自控力</a:t>
            </a:r>
            <a:endParaRPr lang="en-US" altLang="zh-CN" sz="3600" b="1" dirty="0">
              <a:solidFill>
                <a:srgbClr val="FF0000"/>
              </a:solidFill>
            </a:endParaRPr>
          </a:p>
          <a:p>
            <a:r>
              <a:rPr lang="en-US" altLang="zh-CN" sz="3600" b="1" dirty="0">
                <a:solidFill>
                  <a:srgbClr val="FF0000"/>
                </a:solidFill>
              </a:rPr>
              <a:t> express one’s appreciation of the talent</a:t>
            </a:r>
            <a:r>
              <a:rPr lang="zh-CN" altLang="en-US" sz="3600" b="1" dirty="0">
                <a:solidFill>
                  <a:srgbClr val="FF0000"/>
                </a:solidFill>
              </a:rPr>
              <a:t>表达对人才的欣赏</a:t>
            </a:r>
            <a:endParaRPr lang="en-US" altLang="zh-CN" sz="3600" b="1" dirty="0">
              <a:solidFill>
                <a:srgbClr val="FF0000"/>
              </a:solidFill>
            </a:endParaRPr>
          </a:p>
          <a:p>
            <a:r>
              <a:rPr lang="en-US" altLang="zh-CN" sz="3600" b="1" dirty="0">
                <a:solidFill>
                  <a:srgbClr val="FF0000"/>
                </a:solidFill>
              </a:rPr>
              <a:t> personally</a:t>
            </a:r>
            <a:r>
              <a:rPr lang="zh-CN" altLang="en-US" sz="3600" b="1" dirty="0">
                <a:solidFill>
                  <a:srgbClr val="FF0000"/>
                </a:solidFill>
              </a:rPr>
              <a:t>亲自当面地</a:t>
            </a:r>
            <a:r>
              <a:rPr lang="en-US" altLang="zh-CN" sz="3600" b="1" dirty="0">
                <a:solidFill>
                  <a:srgbClr val="FF0000"/>
                </a:solidFill>
              </a:rPr>
              <a:t> confirm</a:t>
            </a:r>
            <a:r>
              <a:rPr lang="zh-CN" altLang="en-US" sz="3600" b="1" dirty="0">
                <a:solidFill>
                  <a:srgbClr val="FF0000"/>
                </a:solidFill>
              </a:rPr>
              <a:t>确认</a:t>
            </a:r>
            <a:r>
              <a:rPr lang="en-US" altLang="zh-CN" sz="3600" b="1" dirty="0">
                <a:solidFill>
                  <a:srgbClr val="FF0000"/>
                </a:solidFill>
              </a:rPr>
              <a:t>;</a:t>
            </a:r>
            <a:r>
              <a:rPr lang="zh-CN" altLang="en-US" sz="3600" b="1" dirty="0">
                <a:solidFill>
                  <a:srgbClr val="FF0000"/>
                </a:solidFill>
              </a:rPr>
              <a:t>证实</a:t>
            </a:r>
            <a:endParaRPr lang="en-US" altLang="zh-CN" sz="3600" b="1" dirty="0">
              <a:solidFill>
                <a:srgbClr val="FF0000"/>
              </a:solidFill>
            </a:endParaRPr>
          </a:p>
          <a:p>
            <a:r>
              <a:rPr lang="en-US" altLang="zh-CN" sz="3600" b="1" dirty="0">
                <a:solidFill>
                  <a:srgbClr val="FF0000"/>
                </a:solidFill>
              </a:rPr>
              <a:t> other than</a:t>
            </a:r>
            <a:r>
              <a:rPr lang="zh-CN" altLang="en-US" sz="3600" b="1" dirty="0">
                <a:solidFill>
                  <a:srgbClr val="FF0000"/>
                </a:solidFill>
              </a:rPr>
              <a:t>除了</a:t>
            </a:r>
            <a:r>
              <a:rPr lang="en-US" altLang="zh-CN" sz="3600" b="1" dirty="0">
                <a:solidFill>
                  <a:srgbClr val="FF0000"/>
                </a:solidFill>
              </a:rPr>
              <a:t>…</a:t>
            </a:r>
            <a:r>
              <a:rPr lang="zh-CN" altLang="en-US" sz="3600" b="1" dirty="0">
                <a:solidFill>
                  <a:srgbClr val="FF0000"/>
                </a:solidFill>
              </a:rPr>
              <a:t>之外</a:t>
            </a:r>
            <a:endParaRPr lang="en-US" altLang="zh-CN" sz="3600" b="1" dirty="0">
              <a:solidFill>
                <a:srgbClr val="FF0000"/>
              </a:solidFill>
            </a:endParaRPr>
          </a:p>
          <a:p>
            <a:r>
              <a:rPr lang="en-US" altLang="zh-CN" sz="3600" b="1" dirty="0">
                <a:solidFill>
                  <a:srgbClr val="FF0000"/>
                </a:solidFill>
              </a:rPr>
              <a:t> 36.</a:t>
            </a:r>
            <a:r>
              <a:rPr lang="en-US" altLang="zh-CN" sz="3600" b="1" u="sng" dirty="0">
                <a:solidFill>
                  <a:srgbClr val="FF0000"/>
                </a:solidFill>
              </a:rPr>
              <a:t>with </a:t>
            </a:r>
            <a:r>
              <a:rPr lang="en-US" altLang="zh-CN" sz="3600" b="1" u="sng" dirty="0"/>
              <a:t>attention</a:t>
            </a:r>
            <a:r>
              <a:rPr lang="en-US" altLang="zh-CN" sz="3600" b="1" u="sng" dirty="0">
                <a:solidFill>
                  <a:srgbClr val="FF0000"/>
                </a:solidFill>
              </a:rPr>
              <a:t> concentrated</a:t>
            </a:r>
            <a:r>
              <a:rPr lang="en-US" altLang="zh-CN" sz="3600" b="1" dirty="0">
                <a:solidFill>
                  <a:srgbClr val="FF0000"/>
                </a:solidFill>
              </a:rPr>
              <a:t> </a:t>
            </a:r>
            <a:r>
              <a:rPr lang="en-US" altLang="zh-CN" sz="3600" b="1" dirty="0"/>
              <a:t>on…</a:t>
            </a:r>
          </a:p>
          <a:p>
            <a:r>
              <a:rPr lang="en-US" altLang="zh-CN" sz="3600" b="1" dirty="0">
                <a:solidFill>
                  <a:srgbClr val="FF0000"/>
                </a:solidFill>
              </a:rPr>
              <a:t> 37.to deal</a:t>
            </a:r>
            <a:r>
              <a:rPr lang="zh-CN" altLang="en-US" sz="3600" b="1" dirty="0">
                <a:solidFill>
                  <a:srgbClr val="FF0000"/>
                </a:solidFill>
              </a:rPr>
              <a:t>表目的</a:t>
            </a:r>
            <a:r>
              <a:rPr lang="en-US" altLang="zh-CN" sz="3600" b="1" dirty="0">
                <a:solidFill>
                  <a:srgbClr val="FF0000"/>
                </a:solidFill>
              </a:rPr>
              <a:t> 38.or/otherwise</a:t>
            </a:r>
            <a:r>
              <a:rPr lang="zh-CN" altLang="en-US" sz="3600" b="1" dirty="0">
                <a:solidFill>
                  <a:srgbClr val="FF0000"/>
                </a:solidFill>
              </a:rPr>
              <a:t>否则的话</a:t>
            </a:r>
            <a:endParaRPr lang="en-US" altLang="zh-CN" sz="3600" b="1" dirty="0">
              <a:solidFill>
                <a:srgbClr val="FF0000"/>
              </a:solidFill>
            </a:endParaRPr>
          </a:p>
          <a:p>
            <a:r>
              <a:rPr lang="en-US" altLang="zh-CN" sz="3600" b="1" dirty="0">
                <a:solidFill>
                  <a:srgbClr val="FF0000"/>
                </a:solidFill>
              </a:rPr>
              <a:t> 39.the </a:t>
            </a:r>
            <a:r>
              <a:rPr lang="en-US" altLang="zh-CN" sz="3600" b="1" dirty="0" err="1">
                <a:solidFill>
                  <a:srgbClr val="FF0000"/>
                </a:solidFill>
              </a:rPr>
              <a:t>first+to</a:t>
            </a:r>
            <a:r>
              <a:rPr lang="en-US" altLang="zh-CN" sz="3600" b="1" dirty="0">
                <a:solidFill>
                  <a:srgbClr val="FF0000"/>
                </a:solidFill>
              </a:rPr>
              <a:t> forbid 40.walking 41.though/although </a:t>
            </a:r>
          </a:p>
          <a:p>
            <a:r>
              <a:rPr lang="en-US" altLang="zh-CN" sz="3600" b="1" dirty="0">
                <a:solidFill>
                  <a:srgbClr val="FF0000"/>
                </a:solidFill>
              </a:rPr>
              <a:t> 42.have </a:t>
            </a:r>
            <a:r>
              <a:rPr lang="en-US" altLang="zh-CN" sz="3600" b="1" dirty="0" err="1">
                <a:solidFill>
                  <a:srgbClr val="FF0000"/>
                </a:solidFill>
              </a:rPr>
              <a:t>increased+in</a:t>
            </a:r>
            <a:r>
              <a:rPr lang="en-US" altLang="zh-CN" sz="3600" b="1" dirty="0">
                <a:solidFill>
                  <a:srgbClr val="FF0000"/>
                </a:solidFill>
              </a:rPr>
              <a:t> the past 5 years </a:t>
            </a:r>
          </a:p>
          <a:p>
            <a:r>
              <a:rPr lang="en-US" altLang="zh-CN" sz="3600" b="1" dirty="0">
                <a:solidFill>
                  <a:srgbClr val="FF0000"/>
                </a:solidFill>
              </a:rPr>
              <a:t> 43.so 44.injured 45.by</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dirty="0">
                <a:solidFill>
                  <a:srgbClr val="FF0000"/>
                </a:solidFill>
              </a:rPr>
              <a:t>10</a:t>
            </a:r>
            <a:r>
              <a:rPr lang="zh-CN" altLang="en-US" sz="3600" b="1" dirty="0">
                <a:solidFill>
                  <a:srgbClr val="FF0000"/>
                </a:solidFill>
              </a:rPr>
              <a:t>月月考卷</a:t>
            </a:r>
            <a:endParaRPr lang="en-US" altLang="zh-CN" sz="3600" b="1" dirty="0">
              <a:solidFill>
                <a:srgbClr val="FF0000"/>
              </a:solidFill>
            </a:endParaRPr>
          </a:p>
          <a:p>
            <a:pPr eaLnBrk="0" hangingPunct="0"/>
            <a:r>
              <a:rPr lang="en-US" altLang="zh-CN" sz="3600" b="1" dirty="0"/>
              <a:t>1-5 BACBC	6-10 ACBCA	11-15BBACA 16-20 BBCAA</a:t>
            </a:r>
            <a:endParaRPr lang="zh-CN" altLang="zh-CN" sz="3600" b="1" dirty="0"/>
          </a:p>
          <a:p>
            <a:r>
              <a:rPr lang="en-US" altLang="zh-CN" sz="3600" b="1" dirty="0"/>
              <a:t>21-25 ACDAB    26-30 DDADB     31-35 BCBDC</a:t>
            </a:r>
          </a:p>
          <a:p>
            <a:r>
              <a:rPr lang="en-US" altLang="zh-CN" sz="3600" b="1" dirty="0"/>
              <a:t>36-40 DAEGB</a:t>
            </a:r>
            <a:endParaRPr lang="zh-CN" altLang="zh-CN" sz="3600" b="1" dirty="0"/>
          </a:p>
          <a:p>
            <a:pPr fontAlgn="ctr"/>
            <a:r>
              <a:rPr lang="en-US" altLang="zh-CN" sz="3600" b="1" dirty="0">
                <a:solidFill>
                  <a:srgbClr val="FF0000"/>
                </a:solidFill>
              </a:rPr>
              <a:t> all-access pass</a:t>
            </a:r>
            <a:r>
              <a:rPr lang="zh-CN" altLang="en-US" sz="3600" b="1" dirty="0">
                <a:solidFill>
                  <a:srgbClr val="FF0000"/>
                </a:solidFill>
              </a:rPr>
              <a:t>通票   </a:t>
            </a:r>
            <a:r>
              <a:rPr lang="en-US" altLang="zh-CN" sz="3600" b="1" dirty="0">
                <a:solidFill>
                  <a:srgbClr val="FF0000"/>
                </a:solidFill>
              </a:rPr>
              <a:t>enroll v.</a:t>
            </a:r>
            <a:r>
              <a:rPr lang="zh-CN" altLang="en-US" sz="3600" b="1" dirty="0">
                <a:solidFill>
                  <a:srgbClr val="FF0000"/>
                </a:solidFill>
              </a:rPr>
              <a:t>登记</a:t>
            </a:r>
            <a:r>
              <a:rPr lang="en-US" altLang="zh-CN" sz="3600" b="1" dirty="0">
                <a:solidFill>
                  <a:srgbClr val="FF0000"/>
                </a:solidFill>
              </a:rPr>
              <a:t>;</a:t>
            </a:r>
            <a:r>
              <a:rPr lang="zh-CN" altLang="en-US" sz="3600" b="1" dirty="0">
                <a:solidFill>
                  <a:srgbClr val="FF0000"/>
                </a:solidFill>
              </a:rPr>
              <a:t>注册</a:t>
            </a:r>
            <a:r>
              <a:rPr lang="en-US" altLang="zh-CN" sz="3600" b="1" dirty="0">
                <a:solidFill>
                  <a:srgbClr val="FF0000"/>
                </a:solidFill>
              </a:rPr>
              <a:t>=register</a:t>
            </a:r>
          </a:p>
          <a:p>
            <a:pPr eaLnBrk="0" hangingPunct="0"/>
            <a:r>
              <a:rPr lang="en-US" altLang="zh-CN" sz="3600" b="1" dirty="0">
                <a:solidFill>
                  <a:srgbClr val="FF0000"/>
                </a:solidFill>
              </a:rPr>
              <a:t> office staff</a:t>
            </a:r>
            <a:r>
              <a:rPr lang="zh-CN" altLang="en-US" sz="3600" b="1" dirty="0">
                <a:solidFill>
                  <a:srgbClr val="FF0000"/>
                </a:solidFill>
              </a:rPr>
              <a:t>工作人员  </a:t>
            </a:r>
            <a:r>
              <a:rPr lang="en-US" altLang="zh-CN" sz="3600" b="1" dirty="0">
                <a:solidFill>
                  <a:srgbClr val="FF0000"/>
                </a:solidFill>
              </a:rPr>
              <a:t>drop-in</a:t>
            </a:r>
            <a:r>
              <a:rPr lang="zh-CN" altLang="en-US" sz="3600" b="1" dirty="0">
                <a:solidFill>
                  <a:srgbClr val="FF0000"/>
                </a:solidFill>
              </a:rPr>
              <a:t>无需预约的 </a:t>
            </a:r>
            <a:endParaRPr lang="en-US" altLang="zh-CN" sz="3600" b="1" dirty="0">
              <a:solidFill>
                <a:srgbClr val="FF0000"/>
              </a:solidFill>
            </a:endParaRPr>
          </a:p>
          <a:p>
            <a:pPr eaLnBrk="0" hangingPunct="0"/>
            <a:r>
              <a:rPr lang="en-US" altLang="zh-CN" sz="3600" b="1" dirty="0">
                <a:solidFill>
                  <a:srgbClr val="FF0000"/>
                </a:solidFill>
              </a:rPr>
              <a:t> drop in</a:t>
            </a:r>
            <a:r>
              <a:rPr lang="zh-CN" altLang="en-US" sz="3600" b="1" dirty="0">
                <a:solidFill>
                  <a:srgbClr val="FF0000"/>
                </a:solidFill>
              </a:rPr>
              <a:t>突然拜访        </a:t>
            </a:r>
            <a:r>
              <a:rPr lang="en-US" altLang="zh-CN" sz="3600" b="1" dirty="0">
                <a:solidFill>
                  <a:srgbClr val="FF0000"/>
                </a:solidFill>
              </a:rPr>
              <a:t>drop in on sb.</a:t>
            </a:r>
            <a:r>
              <a:rPr lang="zh-CN" altLang="en-US" sz="3600" b="1" dirty="0">
                <a:solidFill>
                  <a:srgbClr val="FF0000"/>
                </a:solidFill>
              </a:rPr>
              <a:t>顺道拜访某人</a:t>
            </a:r>
            <a:endParaRPr lang="en-US" altLang="zh-CN" sz="3600" b="1" dirty="0">
              <a:solidFill>
                <a:srgbClr val="FF0000"/>
              </a:solidFill>
            </a:endParaRPr>
          </a:p>
          <a:p>
            <a:pPr eaLnBrk="0" hangingPunct="0"/>
            <a:r>
              <a:rPr lang="en-US" altLang="zh-CN" sz="3600" b="1" dirty="0">
                <a:solidFill>
                  <a:srgbClr val="FF0000"/>
                </a:solidFill>
              </a:rPr>
              <a:t> make up for</a:t>
            </a:r>
            <a:r>
              <a:rPr lang="zh-CN" altLang="en-US" sz="3600" b="1" dirty="0">
                <a:solidFill>
                  <a:srgbClr val="FF0000"/>
                </a:solidFill>
              </a:rPr>
              <a:t>弥补</a:t>
            </a:r>
            <a:r>
              <a:rPr lang="en-US" altLang="zh-CN" sz="3600" b="1" dirty="0">
                <a:solidFill>
                  <a:srgbClr val="FF0000"/>
                </a:solidFill>
              </a:rPr>
              <a:t>=compensate for</a:t>
            </a:r>
            <a:r>
              <a:rPr lang="zh-CN" altLang="en-US" sz="3600" b="1" dirty="0">
                <a:solidFill>
                  <a:srgbClr val="FF0000"/>
                </a:solidFill>
              </a:rPr>
              <a:t> </a:t>
            </a:r>
            <a:endParaRPr lang="en-US" altLang="zh-CN" sz="3600" b="1" dirty="0">
              <a:solidFill>
                <a:srgbClr val="FF0000"/>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eaLnBrk="0" hangingPunct="0"/>
            <a:r>
              <a:rPr lang="en-US" altLang="zh-CN" sz="3600" b="1" dirty="0">
                <a:solidFill>
                  <a:srgbClr val="FF0000"/>
                </a:solidFill>
              </a:rPr>
              <a:t> challenge the prejudice</a:t>
            </a:r>
            <a:r>
              <a:rPr lang="zh-CN" altLang="en-US" sz="3600" b="1" dirty="0">
                <a:solidFill>
                  <a:srgbClr val="FF0000"/>
                </a:solidFill>
              </a:rPr>
              <a:t>挑战偏见</a:t>
            </a:r>
            <a:endParaRPr lang="en-US" altLang="zh-CN" sz="3600" b="1" dirty="0">
              <a:solidFill>
                <a:srgbClr val="FF0000"/>
              </a:solidFill>
            </a:endParaRPr>
          </a:p>
          <a:p>
            <a:pPr eaLnBrk="0" hangingPunct="0"/>
            <a:r>
              <a:rPr lang="en-US" altLang="zh-CN" sz="3600" b="1" dirty="0">
                <a:solidFill>
                  <a:srgbClr val="FF0000"/>
                </a:solidFill>
              </a:rPr>
              <a:t> express worry regarding…</a:t>
            </a:r>
            <a:r>
              <a:rPr lang="zh-CN" altLang="en-US" sz="3600" b="1" dirty="0">
                <a:solidFill>
                  <a:srgbClr val="FF0000"/>
                </a:solidFill>
              </a:rPr>
              <a:t>表达对</a:t>
            </a:r>
            <a:r>
              <a:rPr lang="en-US" altLang="zh-CN" sz="3600" b="1" dirty="0">
                <a:solidFill>
                  <a:srgbClr val="FF0000"/>
                </a:solidFill>
              </a:rPr>
              <a:t>…</a:t>
            </a:r>
            <a:r>
              <a:rPr lang="zh-CN" altLang="en-US" sz="3600" b="1" dirty="0">
                <a:solidFill>
                  <a:srgbClr val="FF0000"/>
                </a:solidFill>
              </a:rPr>
              <a:t>的担忧</a:t>
            </a:r>
            <a:endParaRPr lang="en-US" altLang="zh-CN" sz="3600" b="1" dirty="0">
              <a:solidFill>
                <a:srgbClr val="FF0000"/>
              </a:solidFill>
            </a:endParaRPr>
          </a:p>
          <a:p>
            <a:pPr eaLnBrk="0" hangingPunct="0"/>
            <a:r>
              <a:rPr lang="en-US" altLang="zh-CN" sz="3600" b="1" dirty="0">
                <a:solidFill>
                  <a:srgbClr val="FF0000"/>
                </a:solidFill>
              </a:rPr>
              <a:t> be hesitant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对做某事犹豫不决</a:t>
            </a:r>
            <a:endParaRPr lang="en-US" altLang="zh-CN" sz="3600" b="1" dirty="0">
              <a:solidFill>
                <a:srgbClr val="FF0000"/>
              </a:solidFill>
            </a:endParaRPr>
          </a:p>
          <a:p>
            <a:pPr eaLnBrk="0" hangingPunct="0"/>
            <a:r>
              <a:rPr lang="en-US" altLang="zh-CN" sz="3600" b="1" dirty="0">
                <a:solidFill>
                  <a:srgbClr val="FF0000"/>
                </a:solidFill>
              </a:rPr>
              <a:t>=hesitate to do </a:t>
            </a:r>
            <a:r>
              <a:rPr lang="en-US" altLang="zh-CN" sz="3600" b="1" dirty="0" err="1">
                <a:solidFill>
                  <a:srgbClr val="FF0000"/>
                </a:solidFill>
              </a:rPr>
              <a:t>sth</a:t>
            </a:r>
            <a:r>
              <a:rPr lang="en-US" altLang="zh-CN" sz="3600" b="1" dirty="0">
                <a:solidFill>
                  <a:srgbClr val="FF0000"/>
                </a:solidFill>
              </a:rPr>
              <a:t>.</a:t>
            </a:r>
          </a:p>
          <a:p>
            <a:pPr eaLnBrk="0" hangingPunct="0"/>
            <a:r>
              <a:rPr lang="en-US" altLang="zh-CN" sz="3600" b="1" dirty="0">
                <a:solidFill>
                  <a:srgbClr val="FF0000"/>
                </a:solidFill>
              </a:rPr>
              <a:t> the forerunner of…</a:t>
            </a:r>
            <a:r>
              <a:rPr lang="zh-CN" altLang="en-US" sz="3600" b="1" dirty="0">
                <a:solidFill>
                  <a:srgbClr val="FF0000"/>
                </a:solidFill>
              </a:rPr>
              <a:t>先驱  </a:t>
            </a:r>
            <a:endParaRPr lang="en-US" altLang="zh-CN" sz="3600" b="1" dirty="0">
              <a:solidFill>
                <a:srgbClr val="FF0000"/>
              </a:solidFill>
            </a:endParaRPr>
          </a:p>
          <a:p>
            <a:pPr eaLnBrk="0" hangingPunct="0"/>
            <a:r>
              <a:rPr lang="en-US" altLang="zh-CN" sz="3600" b="1" dirty="0">
                <a:solidFill>
                  <a:srgbClr val="FF0000"/>
                </a:solidFill>
              </a:rPr>
              <a:t> groundbreaking adj.</a:t>
            </a:r>
            <a:r>
              <a:rPr lang="zh-CN" altLang="en-US" sz="3600" b="1" dirty="0">
                <a:solidFill>
                  <a:srgbClr val="FF0000"/>
                </a:solidFill>
              </a:rPr>
              <a:t>开创性的  </a:t>
            </a:r>
            <a:r>
              <a:rPr lang="en-US" altLang="zh-CN" sz="3600" b="1" dirty="0">
                <a:solidFill>
                  <a:srgbClr val="FF0000"/>
                </a:solidFill>
              </a:rPr>
              <a:t>break ground</a:t>
            </a:r>
            <a:r>
              <a:rPr lang="zh-CN" altLang="en-US" sz="3600" b="1" dirty="0">
                <a:solidFill>
                  <a:srgbClr val="FF0000"/>
                </a:solidFill>
              </a:rPr>
              <a:t>开创</a:t>
            </a:r>
            <a:endParaRPr lang="en-US" altLang="zh-CN" sz="3600" b="1" dirty="0">
              <a:solidFill>
                <a:srgbClr val="FF0000"/>
              </a:solidFill>
            </a:endParaRPr>
          </a:p>
          <a:p>
            <a:pPr eaLnBrk="0" hangingPunct="0"/>
            <a:r>
              <a:rPr lang="en-US" altLang="zh-CN" sz="3600" b="1" dirty="0"/>
              <a:t> You </a:t>
            </a:r>
            <a:r>
              <a:rPr lang="en-US" altLang="zh-CN" sz="3600" b="1" u="sng" dirty="0">
                <a:solidFill>
                  <a:srgbClr val="FF0000"/>
                </a:solidFill>
              </a:rPr>
              <a:t>have no grounds for </a:t>
            </a:r>
            <a:r>
              <a:rPr lang="en-US" altLang="zh-CN" sz="3600" b="1" dirty="0">
                <a:solidFill>
                  <a:srgbClr val="FF0000"/>
                </a:solidFill>
              </a:rPr>
              <a:t>complaint.</a:t>
            </a:r>
            <a:r>
              <a:rPr lang="zh-CN" altLang="en-US" sz="3600" b="1" dirty="0"/>
              <a:t>你</a:t>
            </a:r>
            <a:r>
              <a:rPr lang="zh-CN" altLang="en-US" sz="3600" b="1" u="sng" dirty="0">
                <a:solidFill>
                  <a:srgbClr val="FF0000"/>
                </a:solidFill>
              </a:rPr>
              <a:t>没有理由</a:t>
            </a:r>
            <a:r>
              <a:rPr lang="zh-CN" altLang="en-US" sz="3600" b="1" dirty="0">
                <a:solidFill>
                  <a:srgbClr val="FF0000"/>
                </a:solidFill>
              </a:rPr>
              <a:t>抱怨。</a:t>
            </a:r>
            <a:endParaRPr lang="en-US" altLang="zh-CN" sz="3600" b="1" dirty="0">
              <a:solidFill>
                <a:srgbClr val="FF0000"/>
              </a:solidFill>
            </a:endParaRPr>
          </a:p>
          <a:p>
            <a:pPr eaLnBrk="0" hangingPunct="0"/>
            <a:r>
              <a:rPr lang="en-US" altLang="zh-CN" sz="3600" b="1" dirty="0">
                <a:solidFill>
                  <a:srgbClr val="FF0000"/>
                </a:solidFill>
              </a:rPr>
              <a:t> caring</a:t>
            </a:r>
            <a:r>
              <a:rPr lang="zh-CN" altLang="en-US" sz="3600" b="1" dirty="0">
                <a:solidFill>
                  <a:srgbClr val="FF0000"/>
                </a:solidFill>
              </a:rPr>
              <a:t>关心他人的体贴的</a:t>
            </a:r>
            <a:r>
              <a:rPr lang="en-US" altLang="zh-CN" sz="3600" b="1" dirty="0">
                <a:solidFill>
                  <a:srgbClr val="FF0000"/>
                </a:solidFill>
              </a:rPr>
              <a:t>=considerate=thoughtful  </a:t>
            </a:r>
          </a:p>
          <a:p>
            <a:pPr eaLnBrk="0" hangingPunct="0"/>
            <a:r>
              <a:rPr lang="en-US" altLang="zh-CN" sz="3600" b="1" dirty="0">
                <a:solidFill>
                  <a:srgbClr val="FF0000"/>
                </a:solidFill>
              </a:rPr>
              <a:t> </a:t>
            </a:r>
            <a:r>
              <a:rPr lang="en-US" altLang="zh-CN" sz="3600" b="1" dirty="0"/>
              <a:t>determined</a:t>
            </a:r>
            <a:r>
              <a:rPr lang="zh-CN" altLang="en-US" sz="3600" b="1" dirty="0"/>
              <a:t>坚决的</a:t>
            </a:r>
            <a:endParaRPr lang="en-US" altLang="zh-CN" sz="3600" b="1" dirty="0"/>
          </a:p>
          <a:p>
            <a:pPr eaLnBrk="0" hangingPunct="0"/>
            <a:r>
              <a:rPr lang="en-US" altLang="zh-CN" sz="3600" b="1" dirty="0">
                <a:solidFill>
                  <a:srgbClr val="FF0000"/>
                </a:solidFill>
              </a:rPr>
              <a:t> accessible</a:t>
            </a:r>
            <a:r>
              <a:rPr lang="zh-CN" altLang="en-US" sz="3600" b="1" dirty="0">
                <a:solidFill>
                  <a:srgbClr val="FF0000"/>
                </a:solidFill>
              </a:rPr>
              <a:t>易懂的</a:t>
            </a:r>
            <a:r>
              <a:rPr lang="en-US" altLang="zh-CN" sz="3600" b="1" dirty="0">
                <a:solidFill>
                  <a:srgbClr val="FF0000"/>
                </a:solidFill>
              </a:rPr>
              <a:t>;</a:t>
            </a:r>
            <a:r>
              <a:rPr lang="zh-CN" altLang="en-US" sz="3600" b="1" dirty="0">
                <a:solidFill>
                  <a:srgbClr val="FF0000"/>
                </a:solidFill>
              </a:rPr>
              <a:t>易到达的</a:t>
            </a:r>
            <a:r>
              <a:rPr lang="en-US" altLang="zh-CN" sz="3600" b="1" dirty="0">
                <a:solidFill>
                  <a:srgbClr val="FF0000"/>
                </a:solidFill>
              </a:rPr>
              <a:t>;</a:t>
            </a:r>
            <a:r>
              <a:rPr lang="zh-CN" altLang="en-US" sz="3600" b="1" dirty="0">
                <a:solidFill>
                  <a:srgbClr val="FF0000"/>
                </a:solidFill>
              </a:rPr>
              <a:t>平易近人的</a:t>
            </a:r>
            <a:endParaRPr lang="en-US" altLang="zh-CN" sz="3600" b="1" dirty="0">
              <a:solidFill>
                <a:srgbClr val="FF0000"/>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eaLnBrk="0" hangingPunct="0"/>
            <a:r>
              <a:rPr lang="en-US" altLang="zh-CN" sz="3600" b="1" u="sng" dirty="0">
                <a:solidFill>
                  <a:srgbClr val="FF0000"/>
                </a:solidFill>
                <a:highlight>
                  <a:srgbClr val="FFFF00"/>
                </a:highlight>
              </a:rPr>
              <a:t>Human cognition </a:t>
            </a:r>
            <a:r>
              <a:rPr lang="en-US" altLang="zh-CN" sz="3600" b="1" u="sng" dirty="0">
                <a:solidFill>
                  <a:srgbClr val="FF0000"/>
                </a:solidFill>
              </a:rPr>
              <a:t>originates from </a:t>
            </a:r>
            <a:r>
              <a:rPr lang="en-US" altLang="zh-CN" sz="3600" b="1" dirty="0"/>
              <a:t>brain</a:t>
            </a:r>
            <a:r>
              <a:rPr lang="zh-CN" altLang="en-US" sz="3600" b="1" u="sng" dirty="0">
                <a:solidFill>
                  <a:srgbClr val="FF0000"/>
                </a:solidFill>
              </a:rPr>
              <a:t>认知来源于</a:t>
            </a:r>
            <a:r>
              <a:rPr lang="zh-CN" altLang="en-US" sz="3600" b="1" dirty="0"/>
              <a:t>大脑</a:t>
            </a:r>
            <a:r>
              <a:rPr lang="en-US" altLang="zh-CN" sz="3600" b="1" dirty="0"/>
              <a:t>  body?</a:t>
            </a:r>
          </a:p>
          <a:p>
            <a:pPr eaLnBrk="0" hangingPunct="0"/>
            <a:r>
              <a:rPr lang="en-US" altLang="zh-CN" sz="3600" b="1" dirty="0"/>
              <a:t>EC theory:</a:t>
            </a:r>
            <a:r>
              <a:rPr lang="en-US" altLang="zh-CN" sz="3600" b="1" dirty="0">
                <a:solidFill>
                  <a:srgbClr val="FF0000"/>
                </a:solidFill>
              </a:rPr>
              <a:t> </a:t>
            </a:r>
            <a:r>
              <a:rPr lang="en-US" altLang="zh-CN" sz="3600" b="1" u="sng" dirty="0">
                <a:solidFill>
                  <a:srgbClr val="FF0000"/>
                </a:solidFill>
                <a:highlight>
                  <a:srgbClr val="FFFF00"/>
                </a:highlight>
              </a:rPr>
              <a:t>body</a:t>
            </a:r>
            <a:r>
              <a:rPr lang="en-US" altLang="zh-CN" sz="3600" b="1" dirty="0">
                <a:solidFill>
                  <a:srgbClr val="FF0000"/>
                </a:solidFill>
                <a:highlight>
                  <a:srgbClr val="FFFF00"/>
                </a:highlight>
              </a:rPr>
              <a:t> is also responsible for thinking</a:t>
            </a:r>
            <a:r>
              <a:rPr lang="en-US" altLang="zh-CN" sz="3600" b="1" dirty="0">
                <a:solidFill>
                  <a:srgbClr val="FF0000"/>
                </a:solidFill>
              </a:rPr>
              <a:t>.</a:t>
            </a:r>
            <a:r>
              <a:rPr lang="zh-CN" altLang="en-US" sz="3600" b="1" dirty="0"/>
              <a:t>身体也负责思考</a:t>
            </a:r>
            <a:endParaRPr lang="en-US" altLang="zh-CN" sz="3600" b="1" dirty="0"/>
          </a:p>
          <a:p>
            <a:pPr eaLnBrk="0" hangingPunct="0"/>
            <a:r>
              <a:rPr lang="en-US" altLang="zh-CN" sz="3600" b="1" dirty="0">
                <a:solidFill>
                  <a:srgbClr val="FF0000"/>
                </a:solidFill>
              </a:rPr>
              <a:t>More precisely</a:t>
            </a:r>
            <a:r>
              <a:rPr lang="zh-CN" altLang="en-US" sz="3600" b="1" dirty="0">
                <a:solidFill>
                  <a:srgbClr val="FF0000"/>
                </a:solidFill>
              </a:rPr>
              <a:t>更准确地说</a:t>
            </a:r>
            <a:r>
              <a:rPr lang="en-US" altLang="zh-CN" sz="3600" b="1" dirty="0"/>
              <a:t>,</a:t>
            </a:r>
            <a:r>
              <a:rPr lang="zh-CN" altLang="en-US" sz="3600" b="1" dirty="0">
                <a:solidFill>
                  <a:srgbClr val="FF0000"/>
                </a:solidFill>
              </a:rPr>
              <a:t> </a:t>
            </a:r>
            <a:r>
              <a:rPr lang="en-US" altLang="zh-CN" sz="3600" b="1" u="sng" dirty="0"/>
              <a:t>the mind </a:t>
            </a:r>
            <a:r>
              <a:rPr lang="en-US" altLang="zh-CN" sz="3600" b="1" dirty="0"/>
              <a:t>shapes </a:t>
            </a:r>
            <a:r>
              <a:rPr lang="en-US" altLang="zh-CN" sz="3600" b="1" u="sng" dirty="0"/>
              <a:t>the body </a:t>
            </a:r>
            <a:r>
              <a:rPr lang="en-US" altLang="zh-CN" sz="3600" b="1" dirty="0"/>
              <a:t>and </a:t>
            </a:r>
            <a:r>
              <a:rPr lang="en-US" altLang="zh-CN" sz="3600" b="1" u="sng" dirty="0">
                <a:highlight>
                  <a:srgbClr val="FFFF00"/>
                </a:highlight>
              </a:rPr>
              <a:t>the body </a:t>
            </a:r>
            <a:r>
              <a:rPr lang="en-US" altLang="zh-CN" sz="3600" b="1" dirty="0">
                <a:highlight>
                  <a:srgbClr val="FFFF00"/>
                </a:highlight>
              </a:rPr>
              <a:t>shapes </a:t>
            </a:r>
            <a:r>
              <a:rPr lang="en-US" altLang="zh-CN" sz="3600" b="1" u="sng" dirty="0">
                <a:highlight>
                  <a:srgbClr val="FFFF00"/>
                </a:highlight>
              </a:rPr>
              <a:t>the mind </a:t>
            </a:r>
            <a:r>
              <a:rPr lang="en-US" altLang="zh-CN" sz="3600" b="1" dirty="0">
                <a:solidFill>
                  <a:srgbClr val="FF0000"/>
                </a:solidFill>
              </a:rPr>
              <a:t>in equal measure</a:t>
            </a:r>
            <a:r>
              <a:rPr lang="en-US" altLang="zh-CN" sz="3600" b="1" dirty="0"/>
              <a:t>.</a:t>
            </a:r>
            <a:r>
              <a:rPr lang="zh-CN" altLang="en-US" b="1" dirty="0">
                <a:solidFill>
                  <a:srgbClr val="FF0000"/>
                </a:solidFill>
              </a:rPr>
              <a:t> 同样</a:t>
            </a:r>
            <a:endParaRPr lang="en-US" altLang="zh-CN" sz="3600" b="1" dirty="0"/>
          </a:p>
          <a:p>
            <a:pPr eaLnBrk="0" hangingPunct="0"/>
            <a:r>
              <a:rPr lang="en-US" altLang="zh-CN" sz="3600" b="1" dirty="0"/>
              <a:t> </a:t>
            </a:r>
            <a:r>
              <a:rPr lang="en-US" altLang="zh-CN" sz="3600" b="1" dirty="0">
                <a:solidFill>
                  <a:srgbClr val="7030A0"/>
                </a:solidFill>
              </a:rPr>
              <a:t>psychology </a:t>
            </a:r>
            <a:r>
              <a:rPr lang="zh-CN" altLang="en-US" sz="3600" b="1" dirty="0">
                <a:solidFill>
                  <a:srgbClr val="7030A0"/>
                </a:solidFill>
              </a:rPr>
              <a:t>心理学</a:t>
            </a:r>
            <a:endParaRPr lang="en-US" altLang="zh-CN" sz="3600" b="1" dirty="0">
              <a:solidFill>
                <a:srgbClr val="7030A0"/>
              </a:solidFill>
            </a:endParaRPr>
          </a:p>
          <a:p>
            <a:pPr eaLnBrk="0" hangingPunct="0"/>
            <a:r>
              <a:rPr lang="en-US" altLang="zh-CN" sz="3600" b="1" dirty="0"/>
              <a:t> </a:t>
            </a:r>
            <a:r>
              <a:rPr lang="en-US" altLang="zh-CN" sz="3600" b="1" dirty="0">
                <a:solidFill>
                  <a:srgbClr val="FF0000"/>
                </a:solidFill>
              </a:rPr>
              <a:t>physical feelings</a:t>
            </a:r>
            <a:r>
              <a:rPr lang="zh-CN" altLang="en-US" sz="3600" b="1" dirty="0">
                <a:solidFill>
                  <a:srgbClr val="FF0000"/>
                </a:solidFill>
              </a:rPr>
              <a:t>身体感受 </a:t>
            </a:r>
            <a:r>
              <a:rPr lang="en-US" altLang="zh-CN" sz="3600" b="1" dirty="0">
                <a:solidFill>
                  <a:srgbClr val="FF0000"/>
                </a:solidFill>
              </a:rPr>
              <a:t>human senses</a:t>
            </a:r>
            <a:r>
              <a:rPr lang="zh-CN" altLang="en-US" sz="3600" b="1" dirty="0">
                <a:solidFill>
                  <a:srgbClr val="FF0000"/>
                </a:solidFill>
              </a:rPr>
              <a:t>人类感官</a:t>
            </a:r>
            <a:endParaRPr lang="en-US" altLang="zh-CN" sz="3600" b="1" dirty="0">
              <a:solidFill>
                <a:srgbClr val="FF0000"/>
              </a:solidFill>
            </a:endParaRPr>
          </a:p>
          <a:p>
            <a:pPr eaLnBrk="0" hangingPunct="0"/>
            <a:r>
              <a:rPr lang="en-US" altLang="zh-CN" sz="3600" b="1" dirty="0"/>
              <a:t> </a:t>
            </a:r>
            <a:r>
              <a:rPr lang="en-US" altLang="zh-CN" sz="3600" b="1" dirty="0">
                <a:solidFill>
                  <a:srgbClr val="FF0000"/>
                </a:solidFill>
              </a:rPr>
              <a:t>back up</a:t>
            </a:r>
            <a:r>
              <a:rPr lang="zh-CN" altLang="en-US" sz="3600" b="1" dirty="0">
                <a:solidFill>
                  <a:srgbClr val="FF0000"/>
                </a:solidFill>
              </a:rPr>
              <a:t>支持</a:t>
            </a:r>
            <a:r>
              <a:rPr lang="en-US" altLang="zh-CN" sz="3600" b="1" dirty="0">
                <a:solidFill>
                  <a:srgbClr val="FF0000"/>
                </a:solidFill>
              </a:rPr>
              <a:t>;</a:t>
            </a:r>
            <a:r>
              <a:rPr lang="zh-CN" altLang="en-US" sz="3600" b="1" dirty="0">
                <a:solidFill>
                  <a:srgbClr val="FF0000"/>
                </a:solidFill>
              </a:rPr>
              <a:t>备份</a:t>
            </a:r>
            <a:r>
              <a:rPr lang="en-US" altLang="zh-CN" sz="3600" b="1" dirty="0">
                <a:solidFill>
                  <a:srgbClr val="FF0000"/>
                </a:solidFill>
              </a:rPr>
              <a:t>;</a:t>
            </a:r>
            <a:r>
              <a:rPr lang="zh-CN" altLang="en-US" sz="3600" b="1" dirty="0">
                <a:solidFill>
                  <a:srgbClr val="FF0000"/>
                </a:solidFill>
              </a:rPr>
              <a:t>堵塞</a:t>
            </a:r>
            <a:r>
              <a:rPr lang="en-US" altLang="zh-CN" sz="3600" b="1" dirty="0">
                <a:solidFill>
                  <a:srgbClr val="FF0000"/>
                </a:solidFill>
              </a:rPr>
              <a:t>;</a:t>
            </a:r>
            <a:r>
              <a:rPr lang="zh-CN" altLang="en-US" sz="3600" b="1" dirty="0">
                <a:solidFill>
                  <a:srgbClr val="FF0000"/>
                </a:solidFill>
              </a:rPr>
              <a:t>阻止</a:t>
            </a:r>
            <a:endParaRPr lang="en-US" altLang="zh-CN" sz="3600" b="1" dirty="0">
              <a:solidFill>
                <a:srgbClr val="FF0000"/>
              </a:solidFill>
            </a:endParaRPr>
          </a:p>
          <a:p>
            <a:pPr eaLnBrk="0" hangingPunct="0"/>
            <a:r>
              <a:rPr lang="en-US" altLang="zh-CN" sz="3600" b="1" dirty="0"/>
              <a:t> mind-body </a:t>
            </a:r>
            <a:r>
              <a:rPr lang="en-US" altLang="zh-CN" sz="3600" b="1" dirty="0">
                <a:solidFill>
                  <a:srgbClr val="FF0000"/>
                </a:solidFill>
              </a:rPr>
              <a:t>interaction</a:t>
            </a:r>
            <a:r>
              <a:rPr lang="zh-CN" altLang="en-US" sz="3600" b="1" dirty="0"/>
              <a:t>身心</a:t>
            </a:r>
            <a:r>
              <a:rPr lang="zh-CN" altLang="en-US" sz="3600" b="1" dirty="0">
                <a:solidFill>
                  <a:srgbClr val="FF0000"/>
                </a:solidFill>
              </a:rPr>
              <a:t>相互作用</a:t>
            </a:r>
            <a:endParaRPr lang="en-US" altLang="zh-CN" sz="3600" b="1" dirty="0">
              <a:solidFill>
                <a:srgbClr val="FF0000"/>
              </a:solidFill>
            </a:endParaRPr>
          </a:p>
          <a:p>
            <a:pPr eaLnBrk="0" hangingPunct="0"/>
            <a:r>
              <a:rPr lang="zh-CN" altLang="en-US" sz="3600" b="1" dirty="0"/>
              <a:t> </a:t>
            </a:r>
            <a:r>
              <a:rPr lang="en-US" altLang="zh-CN" sz="3600" b="1" dirty="0">
                <a:solidFill>
                  <a:srgbClr val="FF0000"/>
                </a:solidFill>
              </a:rPr>
              <a:t>sympathetic</a:t>
            </a:r>
            <a:r>
              <a:rPr lang="zh-CN" altLang="en-US" sz="3600" b="1" dirty="0">
                <a:solidFill>
                  <a:srgbClr val="FF0000"/>
                </a:solidFill>
              </a:rPr>
              <a:t>有同情心的  </a:t>
            </a:r>
            <a:r>
              <a:rPr lang="en-US" altLang="zh-CN" sz="3600" b="1" dirty="0">
                <a:solidFill>
                  <a:srgbClr val="FF0000"/>
                </a:solidFill>
              </a:rPr>
              <a:t>sympathy n.</a:t>
            </a:r>
            <a:r>
              <a:rPr lang="zh-CN" altLang="en-US" sz="3600" b="1" dirty="0">
                <a:solidFill>
                  <a:srgbClr val="FF0000"/>
                </a:solidFill>
              </a:rPr>
              <a:t>同情心</a:t>
            </a:r>
            <a:r>
              <a:rPr lang="en-US" altLang="zh-CN" sz="3600" b="1" dirty="0">
                <a:solidFill>
                  <a:srgbClr val="FF0000"/>
                </a:solidFill>
              </a:rPr>
              <a:t>;</a:t>
            </a:r>
            <a:r>
              <a:rPr lang="zh-CN" altLang="en-US" sz="3600" b="1" dirty="0">
                <a:solidFill>
                  <a:srgbClr val="FF0000"/>
                </a:solidFill>
              </a:rPr>
              <a:t>理解赞同</a:t>
            </a:r>
            <a:endParaRPr lang="en-US" altLang="zh-CN" sz="3600" b="1" dirty="0">
              <a:solidFill>
                <a:srgbClr val="FF0000"/>
              </a:solidFill>
            </a:endParaRPr>
          </a:p>
          <a:p>
            <a:pPr eaLnBrk="0" hangingPunct="0"/>
            <a:r>
              <a:rPr lang="en-US" altLang="zh-CN" sz="3600" b="1" dirty="0">
                <a:solidFill>
                  <a:srgbClr val="FF0000"/>
                </a:solidFill>
              </a:rPr>
              <a:t> put…into practice</a:t>
            </a:r>
            <a:r>
              <a:rPr lang="zh-CN" altLang="en-US" sz="3600" b="1" dirty="0">
                <a:solidFill>
                  <a:srgbClr val="FF0000"/>
                </a:solidFill>
              </a:rPr>
              <a:t>付诸实践</a:t>
            </a:r>
          </a:p>
          <a:p>
            <a:endParaRPr lang="zh-CN" altLang="en-US" sz="3600" b="1" dirty="0">
              <a:solidFill>
                <a:srgbClr val="FF0000"/>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ctr"/>
            <a:r>
              <a:rPr lang="en-US" altLang="zh-CN" sz="3600" b="1" dirty="0">
                <a:solidFill>
                  <a:srgbClr val="FF0000"/>
                </a:solidFill>
              </a:rPr>
              <a:t> D</a:t>
            </a:r>
          </a:p>
          <a:p>
            <a:r>
              <a:rPr lang="en-US" altLang="zh-CN" sz="3600" b="1" dirty="0">
                <a:solidFill>
                  <a:srgbClr val="FF0000"/>
                </a:solidFill>
              </a:rPr>
              <a:t> in other respects</a:t>
            </a:r>
            <a:r>
              <a:rPr lang="zh-CN" altLang="en-US" sz="3600" b="1" dirty="0">
                <a:solidFill>
                  <a:srgbClr val="FF0000"/>
                </a:solidFill>
              </a:rPr>
              <a:t>在其他方面</a:t>
            </a:r>
            <a:endParaRPr lang="en-US" altLang="zh-CN" sz="3600" b="1" dirty="0">
              <a:solidFill>
                <a:srgbClr val="FF0000"/>
              </a:solidFill>
            </a:endParaRPr>
          </a:p>
          <a:p>
            <a:r>
              <a:rPr lang="en-US" altLang="zh-CN" sz="3600" b="1" dirty="0">
                <a:solidFill>
                  <a:srgbClr val="FF0000"/>
                </a:solidFill>
              </a:rPr>
              <a:t> raise moral concerns</a:t>
            </a:r>
            <a:r>
              <a:rPr lang="zh-CN" altLang="en-US" sz="3600" b="1" dirty="0">
                <a:solidFill>
                  <a:srgbClr val="FF0000"/>
                </a:solidFill>
              </a:rPr>
              <a:t>引起道德担忧</a:t>
            </a:r>
            <a:endParaRPr lang="en-US" altLang="zh-CN" sz="3600" b="1" dirty="0">
              <a:solidFill>
                <a:srgbClr val="FF0000"/>
              </a:solidFill>
            </a:endParaRPr>
          </a:p>
          <a:p>
            <a:r>
              <a:rPr lang="en-US" altLang="zh-CN" sz="3600" b="1" dirty="0">
                <a:solidFill>
                  <a:srgbClr val="FF0000"/>
                </a:solidFill>
              </a:rPr>
              <a:t> objective</a:t>
            </a:r>
            <a:r>
              <a:rPr lang="zh-CN" altLang="en-US" sz="3600" b="1" dirty="0">
                <a:solidFill>
                  <a:srgbClr val="FF0000"/>
                </a:solidFill>
              </a:rPr>
              <a:t>客观的  </a:t>
            </a:r>
            <a:r>
              <a:rPr lang="en-US" altLang="zh-CN" sz="3600" b="1" dirty="0" err="1">
                <a:solidFill>
                  <a:srgbClr val="FF0000"/>
                </a:solidFill>
              </a:rPr>
              <a:t>favourable</a:t>
            </a:r>
            <a:r>
              <a:rPr lang="zh-CN" altLang="en-US" sz="3600" b="1" dirty="0">
                <a:solidFill>
                  <a:srgbClr val="FF0000"/>
                </a:solidFill>
              </a:rPr>
              <a:t>赞成的</a:t>
            </a:r>
            <a:r>
              <a:rPr lang="en-US" altLang="zh-CN" sz="3600" b="1" dirty="0">
                <a:solidFill>
                  <a:srgbClr val="FF0000"/>
                </a:solidFill>
              </a:rPr>
              <a:t> disapproving</a:t>
            </a:r>
            <a:r>
              <a:rPr lang="zh-CN" altLang="en-US" sz="3600" b="1" dirty="0">
                <a:solidFill>
                  <a:srgbClr val="FF0000"/>
                </a:solidFill>
              </a:rPr>
              <a:t>反对的</a:t>
            </a:r>
            <a:endParaRPr lang="en-US" altLang="zh-CN" sz="3600" b="1" dirty="0">
              <a:solidFill>
                <a:srgbClr val="FF0000"/>
              </a:solidFill>
            </a:endParaRPr>
          </a:p>
          <a:p>
            <a:r>
              <a:rPr lang="en-US" altLang="zh-CN" sz="3600" b="1" dirty="0">
                <a:solidFill>
                  <a:srgbClr val="FF0000"/>
                </a:solidFill>
              </a:rPr>
              <a:t> struggle to say</a:t>
            </a:r>
            <a:r>
              <a:rPr lang="zh-CN" altLang="en-US" sz="3600" b="1" dirty="0">
                <a:solidFill>
                  <a:srgbClr val="FF0000"/>
                </a:solidFill>
              </a:rPr>
              <a:t>难以启齿</a:t>
            </a:r>
            <a:endParaRPr lang="en-US" altLang="zh-CN" sz="3600" b="1" dirty="0">
              <a:solidFill>
                <a:srgbClr val="FF0000"/>
              </a:solidFill>
            </a:endParaRPr>
          </a:p>
          <a:p>
            <a:r>
              <a:rPr lang="en-US" altLang="zh-CN" sz="3600" b="1" dirty="0">
                <a:solidFill>
                  <a:srgbClr val="FF0000"/>
                </a:solidFill>
              </a:rPr>
              <a:t> the original</a:t>
            </a:r>
            <a:r>
              <a:rPr lang="zh-CN" altLang="en-US" sz="3600" b="1" dirty="0">
                <a:solidFill>
                  <a:srgbClr val="FF0000"/>
                </a:solidFill>
              </a:rPr>
              <a:t>原件</a:t>
            </a:r>
            <a:r>
              <a:rPr lang="en-US" altLang="zh-CN" sz="3600" b="1" dirty="0">
                <a:solidFill>
                  <a:srgbClr val="FF0000"/>
                </a:solidFill>
              </a:rPr>
              <a:t>/</a:t>
            </a:r>
            <a:r>
              <a:rPr lang="zh-CN" altLang="en-US" sz="3600" b="1" dirty="0">
                <a:solidFill>
                  <a:srgbClr val="FF0000"/>
                </a:solidFill>
              </a:rPr>
              <a:t>版</a:t>
            </a:r>
            <a:r>
              <a:rPr lang="en-US" altLang="zh-CN" sz="3600" b="1" dirty="0">
                <a:solidFill>
                  <a:srgbClr val="FF0000"/>
                </a:solidFill>
              </a:rPr>
              <a:t>   the specific nature of</a:t>
            </a:r>
            <a:r>
              <a:rPr lang="zh-CN" altLang="en-US" sz="3600" b="1" dirty="0">
                <a:solidFill>
                  <a:srgbClr val="FF0000"/>
                </a:solidFill>
              </a:rPr>
              <a:t>具体性质</a:t>
            </a:r>
            <a:endParaRPr lang="en-US" altLang="zh-CN" sz="3600" b="1" dirty="0">
              <a:solidFill>
                <a:srgbClr val="FF0000"/>
              </a:solidFill>
            </a:endParaRPr>
          </a:p>
          <a:p>
            <a:r>
              <a:rPr lang="en-US" altLang="zh-CN" sz="3600" b="1" dirty="0">
                <a:solidFill>
                  <a:srgbClr val="FF0000"/>
                </a:solidFill>
              </a:rPr>
              <a:t> </a:t>
            </a:r>
            <a:r>
              <a:rPr lang="en-US" altLang="zh-CN" sz="3600" b="1" dirty="0"/>
              <a:t>the desire was </a:t>
            </a:r>
            <a:r>
              <a:rPr lang="en-US" altLang="zh-CN" sz="3600" b="1" u="sng" dirty="0"/>
              <a:t>less </a:t>
            </a:r>
            <a:r>
              <a:rPr lang="en-US" altLang="zh-CN" sz="3600" b="1" dirty="0"/>
              <a:t>about A </a:t>
            </a:r>
            <a:r>
              <a:rPr lang="en-US" altLang="zh-CN" sz="3600" b="1" u="sng" dirty="0"/>
              <a:t>than</a:t>
            </a:r>
            <a:r>
              <a:rPr lang="en-US" altLang="zh-CN" sz="3600" b="1" dirty="0"/>
              <a:t> about </a:t>
            </a:r>
            <a:r>
              <a:rPr lang="en-US" altLang="zh-CN" sz="3600" b="1" dirty="0">
                <a:solidFill>
                  <a:srgbClr val="FF0000"/>
                </a:solidFill>
              </a:rPr>
              <a:t>B</a:t>
            </a:r>
            <a:r>
              <a:rPr lang="zh-CN" altLang="en-US" dirty="0"/>
              <a:t>对</a:t>
            </a:r>
            <a:r>
              <a:rPr lang="en-US" altLang="zh-CN" dirty="0"/>
              <a:t>A</a:t>
            </a:r>
            <a:r>
              <a:rPr lang="zh-CN" altLang="en-US" dirty="0"/>
              <a:t>的渴望比对</a:t>
            </a:r>
            <a:r>
              <a:rPr lang="en-US" altLang="zh-CN" dirty="0"/>
              <a:t>B</a:t>
            </a:r>
            <a:r>
              <a:rPr lang="zh-CN" altLang="en-US" dirty="0"/>
              <a:t>的渴望要少</a:t>
            </a:r>
            <a:r>
              <a:rPr lang="en-US" altLang="zh-CN" sz="3600" b="1" dirty="0">
                <a:solidFill>
                  <a:srgbClr val="FF0000"/>
                </a:solidFill>
              </a:rPr>
              <a:t>bring back the unique relationship</a:t>
            </a:r>
            <a:r>
              <a:rPr lang="zh-CN" altLang="en-US" sz="3600" b="1" dirty="0">
                <a:solidFill>
                  <a:srgbClr val="FF0000"/>
                </a:solidFill>
              </a:rPr>
              <a:t>找回独特的关系</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ctr"/>
            <a:r>
              <a:rPr lang="en-US" altLang="zh-CN" sz="3600" b="1" dirty="0">
                <a:solidFill>
                  <a:srgbClr val="FF0000"/>
                </a:solidFill>
              </a:rPr>
              <a:t> </a:t>
            </a:r>
            <a:r>
              <a:rPr lang="en-US" altLang="zh-CN" sz="3600" b="1" dirty="0"/>
              <a:t>36-40 DAEGB</a:t>
            </a:r>
            <a:endParaRPr lang="en-US" altLang="zh-CN" sz="3600" b="1" dirty="0">
              <a:solidFill>
                <a:srgbClr val="FF0000"/>
              </a:solidFill>
            </a:endParaRPr>
          </a:p>
          <a:p>
            <a:r>
              <a:rPr lang="en-US" altLang="zh-CN" sz="3600" b="1" dirty="0">
                <a:solidFill>
                  <a:srgbClr val="FF0000"/>
                </a:solidFill>
              </a:rPr>
              <a:t> </a:t>
            </a:r>
            <a:r>
              <a:rPr lang="en-US" altLang="zh-CN" sz="3600" b="1" dirty="0"/>
              <a:t>many of us </a:t>
            </a:r>
            <a:r>
              <a:rPr lang="en-US" altLang="zh-CN" sz="3600" b="1" u="sng" dirty="0">
                <a:solidFill>
                  <a:srgbClr val="FF0000"/>
                </a:solidFill>
              </a:rPr>
              <a:t>are tired out</a:t>
            </a:r>
            <a:r>
              <a:rPr lang="zh-CN" altLang="en-US" sz="3600" b="1" u="sng" dirty="0">
                <a:solidFill>
                  <a:srgbClr val="FF0000"/>
                </a:solidFill>
              </a:rPr>
              <a:t>劳累的</a:t>
            </a:r>
            <a:r>
              <a:rPr lang="en-US" altLang="zh-CN" sz="3600" b="1" u="sng" dirty="0">
                <a:solidFill>
                  <a:srgbClr val="FF0000"/>
                </a:solidFill>
              </a:rPr>
              <a:t>.</a:t>
            </a:r>
          </a:p>
          <a:p>
            <a:r>
              <a:rPr lang="en-US" altLang="zh-CN" sz="3600" b="1" dirty="0">
                <a:solidFill>
                  <a:srgbClr val="FF0000"/>
                </a:solidFill>
              </a:rPr>
              <a:t> </a:t>
            </a:r>
            <a:r>
              <a:rPr lang="en-US" altLang="zh-CN" sz="3600" b="1" u="sng" dirty="0">
                <a:solidFill>
                  <a:srgbClr val="FF0000"/>
                </a:solidFill>
              </a:rPr>
              <a:t>36D</a:t>
            </a:r>
            <a:r>
              <a:rPr lang="zh-CN" altLang="en-US" sz="3600" b="1" u="sng" dirty="0">
                <a:solidFill>
                  <a:srgbClr val="FF0000"/>
                </a:solidFill>
              </a:rPr>
              <a:t>启下</a:t>
            </a:r>
            <a:r>
              <a:rPr lang="zh-CN" altLang="en-US" sz="3600" b="1" dirty="0">
                <a:solidFill>
                  <a:srgbClr val="FF0000"/>
                </a:solidFill>
              </a:rPr>
              <a:t>，</a:t>
            </a:r>
            <a:r>
              <a:rPr lang="en-US" altLang="zh-CN" sz="3600" b="1" u="sng" dirty="0"/>
              <a:t>spending time near oceans</a:t>
            </a:r>
            <a:r>
              <a:rPr lang="en-US" altLang="zh-CN" sz="3600" b="1" dirty="0"/>
              <a:t>…can provide…</a:t>
            </a:r>
          </a:p>
          <a:p>
            <a:r>
              <a:rPr lang="en-US" altLang="zh-CN" sz="3600" b="1" dirty="0"/>
              <a:t> 37.</a:t>
            </a:r>
            <a:r>
              <a:rPr lang="zh-CN" altLang="en-US" sz="3600" b="1" dirty="0"/>
              <a:t>祈使句</a:t>
            </a:r>
            <a:r>
              <a:rPr lang="en-US" altLang="zh-CN" sz="3600" b="1" dirty="0"/>
              <a:t>all water </a:t>
            </a:r>
            <a:r>
              <a:rPr lang="en-US" altLang="zh-CN" sz="3600" b="1" dirty="0">
                <a:solidFill>
                  <a:srgbClr val="FF0000"/>
                </a:solidFill>
              </a:rPr>
              <a:t>counts</a:t>
            </a:r>
            <a:r>
              <a:rPr lang="zh-CN" altLang="en-US" sz="3600" b="1" dirty="0">
                <a:solidFill>
                  <a:srgbClr val="FF0000"/>
                </a:solidFill>
              </a:rPr>
              <a:t>重要</a:t>
            </a:r>
            <a:r>
              <a:rPr lang="zh-CN" altLang="en-US" sz="3600" b="1" dirty="0"/>
              <a:t> </a:t>
            </a:r>
            <a:r>
              <a:rPr lang="en-US" altLang="zh-CN" sz="3600" b="1" dirty="0"/>
              <a:t>38.So does…</a:t>
            </a:r>
            <a:r>
              <a:rPr lang="zh-CN" altLang="en-US" sz="3600" b="1" dirty="0"/>
              <a:t>亦然</a:t>
            </a:r>
            <a:endParaRPr lang="en-US" altLang="zh-CN" sz="3600" b="1" dirty="0"/>
          </a:p>
          <a:p>
            <a:r>
              <a:rPr lang="en-US" altLang="zh-CN" sz="3600" b="1" dirty="0"/>
              <a:t> </a:t>
            </a:r>
            <a:r>
              <a:rPr lang="en-US" altLang="zh-CN" sz="3600" b="1" u="sng" dirty="0"/>
              <a:t>Go often</a:t>
            </a:r>
            <a:r>
              <a:rPr lang="en-US" altLang="zh-CN" sz="3600" b="1" dirty="0"/>
              <a:t>. </a:t>
            </a:r>
            <a:r>
              <a:rPr lang="en-US" altLang="zh-CN" sz="3600" b="1" u="sng" dirty="0"/>
              <a:t>39G</a:t>
            </a:r>
            <a:r>
              <a:rPr lang="zh-CN" altLang="en-US" sz="3600" b="1" u="sng" dirty="0"/>
              <a:t>承上启下</a:t>
            </a:r>
            <a:r>
              <a:rPr lang="en-US" altLang="zh-CN" sz="3600" b="1" dirty="0"/>
              <a:t> </a:t>
            </a:r>
            <a:r>
              <a:rPr lang="en-US" altLang="zh-CN" sz="3600" b="1" u="sng" dirty="0">
                <a:solidFill>
                  <a:srgbClr val="FF0000"/>
                </a:solidFill>
                <a:highlight>
                  <a:srgbClr val="FFFF00"/>
                </a:highlight>
              </a:rPr>
              <a:t>2 hours a week </a:t>
            </a:r>
            <a:r>
              <a:rPr lang="en-US" altLang="zh-CN" sz="3600" b="1" u="sng" dirty="0">
                <a:highlight>
                  <a:srgbClr val="FFFF00"/>
                </a:highlight>
              </a:rPr>
              <a:t>in nature can…  </a:t>
            </a:r>
          </a:p>
          <a:p>
            <a:r>
              <a:rPr lang="en-US" altLang="zh-CN" sz="3600" b="1" dirty="0">
                <a:solidFill>
                  <a:srgbClr val="FF0000"/>
                </a:solidFill>
              </a:rPr>
              <a:t> But </a:t>
            </a:r>
            <a:r>
              <a:rPr lang="en-US" altLang="zh-CN" sz="3600" b="1" u="sng" dirty="0">
                <a:solidFill>
                  <a:srgbClr val="FF0000"/>
                </a:solidFill>
              </a:rPr>
              <a:t>a similar amount of time</a:t>
            </a:r>
            <a:r>
              <a:rPr lang="en-US" altLang="zh-CN" sz="3600" b="1" dirty="0">
                <a:solidFill>
                  <a:srgbClr val="FF0000"/>
                </a:solidFill>
              </a:rPr>
              <a:t> </a:t>
            </a:r>
            <a:r>
              <a:rPr lang="en-US" altLang="zh-CN" sz="3600" b="1" dirty="0"/>
              <a:t>has the </a:t>
            </a:r>
            <a:r>
              <a:rPr lang="en-US" altLang="zh-CN" sz="3600" b="1" u="sng" dirty="0">
                <a:solidFill>
                  <a:srgbClr val="FF0000"/>
                </a:solidFill>
              </a:rPr>
              <a:t>same benefits</a:t>
            </a:r>
            <a:r>
              <a:rPr lang="en-US" altLang="zh-CN" sz="3600" b="1" dirty="0"/>
              <a:t>.</a:t>
            </a:r>
            <a:endParaRPr lang="zh-CN" altLang="en-US" sz="3600" b="1"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pPr fontAlgn="ctr"/>
            <a:r>
              <a:rPr lang="en-US" altLang="zh-CN" sz="3600" b="1" dirty="0"/>
              <a:t>41-45 BACAD	46-50 DACBA	51-55 CDABB</a:t>
            </a:r>
          </a:p>
          <a:p>
            <a:pPr fontAlgn="ctr"/>
            <a:r>
              <a:rPr lang="en-US" altLang="zh-CN" sz="3600" b="1" dirty="0"/>
              <a:t> </a:t>
            </a:r>
            <a:r>
              <a:rPr lang="en-US" altLang="zh-CN" sz="3600" b="1" dirty="0">
                <a:solidFill>
                  <a:srgbClr val="FF0000"/>
                </a:solidFill>
              </a:rPr>
              <a:t>workaholic</a:t>
            </a:r>
            <a:r>
              <a:rPr lang="zh-CN" altLang="en-US" sz="3600" b="1" dirty="0">
                <a:solidFill>
                  <a:srgbClr val="FF0000"/>
                </a:solidFill>
              </a:rPr>
              <a:t>工作狂 </a:t>
            </a:r>
            <a:r>
              <a:rPr lang="en-US" altLang="zh-CN" sz="3600" b="1" dirty="0">
                <a:solidFill>
                  <a:srgbClr val="FF0000"/>
                </a:solidFill>
              </a:rPr>
              <a:t>perfectionist</a:t>
            </a:r>
            <a:r>
              <a:rPr lang="zh-CN" altLang="en-US" sz="3600" b="1" dirty="0">
                <a:solidFill>
                  <a:srgbClr val="FF0000"/>
                </a:solidFill>
              </a:rPr>
              <a:t>完美主义者  </a:t>
            </a:r>
            <a:r>
              <a:rPr lang="en-US" altLang="zh-CN" sz="3600" b="1" dirty="0">
                <a:solidFill>
                  <a:srgbClr val="FF0000"/>
                </a:solidFill>
              </a:rPr>
              <a:t>be valued</a:t>
            </a:r>
            <a:r>
              <a:rPr lang="zh-CN" altLang="en-US" sz="3600" b="1" dirty="0">
                <a:solidFill>
                  <a:srgbClr val="FF0000"/>
                </a:solidFill>
              </a:rPr>
              <a:t>被重视</a:t>
            </a:r>
            <a:endParaRPr lang="en-US" altLang="zh-CN" sz="3600" b="1" dirty="0">
              <a:solidFill>
                <a:srgbClr val="FF0000"/>
              </a:solidFill>
            </a:endParaRPr>
          </a:p>
          <a:p>
            <a:pPr fontAlgn="ctr"/>
            <a:r>
              <a:rPr lang="en-US" altLang="zh-CN" sz="3600" b="1" dirty="0">
                <a:solidFill>
                  <a:srgbClr val="FF0000"/>
                </a:solidFill>
              </a:rPr>
              <a:t> philosophy</a:t>
            </a:r>
            <a:r>
              <a:rPr lang="zh-CN" altLang="en-US" sz="3600" b="1" dirty="0">
                <a:solidFill>
                  <a:srgbClr val="FF0000"/>
                </a:solidFill>
              </a:rPr>
              <a:t>哲学</a:t>
            </a:r>
            <a:r>
              <a:rPr lang="en-US" altLang="zh-CN" sz="3600" b="1" dirty="0">
                <a:solidFill>
                  <a:srgbClr val="FF0000"/>
                </a:solidFill>
              </a:rPr>
              <a:t>;</a:t>
            </a:r>
            <a:r>
              <a:rPr lang="zh-CN" altLang="en-US" sz="3600" b="1" dirty="0">
                <a:solidFill>
                  <a:srgbClr val="FF0000"/>
                </a:solidFill>
              </a:rPr>
              <a:t>生活准则 </a:t>
            </a:r>
            <a:r>
              <a:rPr lang="en-US" altLang="zh-CN" sz="3600" b="1" dirty="0">
                <a:solidFill>
                  <a:srgbClr val="FF0000"/>
                </a:solidFill>
              </a:rPr>
              <a:t>apply to</a:t>
            </a:r>
            <a:r>
              <a:rPr lang="zh-CN" altLang="en-US" sz="3600" b="1" dirty="0">
                <a:solidFill>
                  <a:srgbClr val="FF0000"/>
                </a:solidFill>
              </a:rPr>
              <a:t>适用于 </a:t>
            </a:r>
            <a:endParaRPr lang="en-US" altLang="zh-CN" sz="3600" b="1" dirty="0">
              <a:solidFill>
                <a:srgbClr val="FF0000"/>
              </a:solidFill>
            </a:endParaRPr>
          </a:p>
          <a:p>
            <a:pPr fontAlgn="ctr"/>
            <a:r>
              <a:rPr lang="en-US" altLang="zh-CN" sz="3600" b="1" dirty="0">
                <a:solidFill>
                  <a:srgbClr val="FF0000"/>
                </a:solidFill>
              </a:rPr>
              <a:t> adapt to</a:t>
            </a:r>
            <a:r>
              <a:rPr lang="zh-CN" altLang="en-US" sz="3600" b="1" dirty="0">
                <a:solidFill>
                  <a:srgbClr val="FF0000"/>
                </a:solidFill>
              </a:rPr>
              <a:t>适应</a:t>
            </a:r>
            <a:r>
              <a:rPr lang="en-US" altLang="zh-CN" sz="3600" b="1" dirty="0">
                <a:solidFill>
                  <a:srgbClr val="FF0000"/>
                </a:solidFill>
              </a:rPr>
              <a:t> relate to</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有关</a:t>
            </a:r>
            <a:endParaRPr lang="en-US" altLang="zh-CN" sz="3600" b="1" dirty="0">
              <a:solidFill>
                <a:srgbClr val="FF0000"/>
              </a:solidFill>
            </a:endParaRPr>
          </a:p>
          <a:p>
            <a:pPr fontAlgn="ctr"/>
            <a:r>
              <a:rPr lang="en-US" altLang="zh-CN" sz="3600" b="1" dirty="0">
                <a:solidFill>
                  <a:srgbClr val="FF0000"/>
                </a:solidFill>
              </a:rPr>
              <a:t> gain one’s praise/agreement/sympathy</a:t>
            </a:r>
            <a:r>
              <a:rPr lang="zh-CN" altLang="en-US" sz="3600" b="1" dirty="0">
                <a:solidFill>
                  <a:srgbClr val="FF0000"/>
                </a:solidFill>
              </a:rPr>
              <a:t>获得赞扬</a:t>
            </a:r>
            <a:r>
              <a:rPr lang="en-US" altLang="zh-CN" sz="3600" b="1" dirty="0">
                <a:solidFill>
                  <a:srgbClr val="FF0000"/>
                </a:solidFill>
              </a:rPr>
              <a:t>/</a:t>
            </a:r>
            <a:r>
              <a:rPr lang="zh-CN" altLang="en-US" sz="3600" b="1" dirty="0">
                <a:solidFill>
                  <a:srgbClr val="FF0000"/>
                </a:solidFill>
              </a:rPr>
              <a:t>同意</a:t>
            </a:r>
            <a:r>
              <a:rPr lang="en-US" altLang="zh-CN" sz="3600" b="1" dirty="0">
                <a:solidFill>
                  <a:srgbClr val="FF0000"/>
                </a:solidFill>
              </a:rPr>
              <a:t>/</a:t>
            </a:r>
            <a:r>
              <a:rPr lang="zh-CN" altLang="en-US" sz="3600" b="1" dirty="0">
                <a:solidFill>
                  <a:srgbClr val="FF0000"/>
                </a:solidFill>
              </a:rPr>
              <a:t>同情</a:t>
            </a:r>
            <a:endParaRPr lang="en-US" altLang="zh-CN" sz="3600" b="1" dirty="0">
              <a:solidFill>
                <a:srgbClr val="FF0000"/>
              </a:solidFill>
            </a:endParaRPr>
          </a:p>
          <a:p>
            <a:pPr fontAlgn="ctr"/>
            <a:r>
              <a:rPr lang="en-US" altLang="zh-CN" sz="3600" b="1" dirty="0"/>
              <a:t> </a:t>
            </a:r>
            <a:r>
              <a:rPr lang="en-US" altLang="zh-CN" sz="3600" b="1" u="sng" dirty="0"/>
              <a:t>follow sb. into </a:t>
            </a:r>
            <a:r>
              <a:rPr lang="en-US" altLang="zh-CN" sz="3600" b="1" dirty="0"/>
              <a:t>marriage</a:t>
            </a:r>
            <a:r>
              <a:rPr lang="zh-CN" altLang="en-US" sz="3600" b="1" dirty="0"/>
              <a:t>跟随某人进入</a:t>
            </a:r>
            <a:endParaRPr lang="en-US" altLang="zh-CN" sz="3600" b="1" dirty="0"/>
          </a:p>
          <a:p>
            <a:pPr fontAlgn="ctr"/>
            <a:r>
              <a:rPr lang="en-US" altLang="zh-CN" sz="3600" b="1" dirty="0"/>
              <a:t> </a:t>
            </a:r>
            <a:r>
              <a:rPr lang="en-US" altLang="zh-CN" sz="3600" b="1" u="sng" dirty="0"/>
              <a:t>teach oneself </a:t>
            </a:r>
            <a:r>
              <a:rPr lang="en-US" altLang="zh-CN" sz="3600" b="1" dirty="0"/>
              <a:t>the poses</a:t>
            </a:r>
            <a:r>
              <a:rPr lang="zh-CN" altLang="en-US" sz="3600" b="1" u="sng" dirty="0"/>
              <a:t>自学</a:t>
            </a:r>
            <a:r>
              <a:rPr lang="zh-CN" altLang="en-US" sz="3600" b="1" dirty="0"/>
              <a:t>这些姿势</a:t>
            </a:r>
            <a:r>
              <a:rPr lang="en-US" altLang="zh-CN" sz="3600" b="1" dirty="0"/>
              <a:t> </a:t>
            </a:r>
            <a:r>
              <a:rPr lang="en-US" altLang="zh-CN" sz="3600" b="1" u="sng" dirty="0"/>
              <a:t>and learned…</a:t>
            </a:r>
          </a:p>
          <a:p>
            <a:pPr fontAlgn="ctr"/>
            <a:r>
              <a:rPr lang="en-US" altLang="zh-CN" sz="3600" b="1" dirty="0"/>
              <a:t> </a:t>
            </a:r>
            <a:r>
              <a:rPr lang="en-US" altLang="zh-CN" sz="3600" b="1" dirty="0">
                <a:solidFill>
                  <a:srgbClr val="FF0000"/>
                </a:solidFill>
              </a:rPr>
              <a:t>stillness</a:t>
            </a:r>
            <a:r>
              <a:rPr lang="zh-CN" altLang="en-US" sz="3600" b="1" dirty="0">
                <a:solidFill>
                  <a:srgbClr val="FF0000"/>
                </a:solidFill>
              </a:rPr>
              <a:t>静止</a:t>
            </a:r>
            <a:r>
              <a:rPr lang="en-US" altLang="zh-CN" sz="3600" b="1" dirty="0">
                <a:solidFill>
                  <a:srgbClr val="FF0000"/>
                </a:solidFill>
              </a:rPr>
              <a:t>;</a:t>
            </a:r>
            <a:r>
              <a:rPr lang="zh-CN" altLang="en-US" sz="3600" b="1" dirty="0">
                <a:solidFill>
                  <a:srgbClr val="FF0000"/>
                </a:solidFill>
              </a:rPr>
              <a:t>沉静</a:t>
            </a:r>
            <a:endParaRPr lang="en-US" altLang="zh-CN" sz="3600" b="1" dirty="0">
              <a:solidFill>
                <a:srgbClr val="FF0000"/>
              </a:solidFill>
            </a:endParaRPr>
          </a:p>
          <a:p>
            <a:pPr fontAlgn="ctr"/>
            <a:r>
              <a:rPr lang="en-US" altLang="zh-CN" sz="3600" b="1" dirty="0"/>
              <a:t> </a:t>
            </a:r>
            <a:r>
              <a:rPr lang="en-US" altLang="zh-CN" sz="3600" b="1" u="sng" dirty="0"/>
              <a:t>unhappiness</a:t>
            </a:r>
            <a:r>
              <a:rPr lang="en-US" altLang="zh-CN" sz="3600" b="1" dirty="0"/>
              <a:t>…</a:t>
            </a:r>
            <a:r>
              <a:rPr lang="en-US" altLang="zh-CN" sz="3600" b="1" u="sng" dirty="0"/>
              <a:t>for</a:t>
            </a:r>
            <a:r>
              <a:rPr lang="zh-CN" altLang="en-US" sz="3600" b="1" u="sng" dirty="0"/>
              <a:t>因为</a:t>
            </a:r>
            <a:r>
              <a:rPr lang="en-US" altLang="zh-CN" sz="3600" b="1" dirty="0"/>
              <a:t> I could hear my father </a:t>
            </a:r>
            <a:r>
              <a:rPr lang="en-US" altLang="zh-CN" sz="3600" b="1" u="sng" dirty="0"/>
              <a:t>blaming me for </a:t>
            </a:r>
            <a:r>
              <a:rPr lang="en-US" altLang="zh-CN" sz="3600" b="1" dirty="0"/>
              <a:t>being </a:t>
            </a:r>
            <a:r>
              <a:rPr lang="en-US" altLang="zh-CN" sz="3600" b="1" dirty="0">
                <a:solidFill>
                  <a:srgbClr val="FF0000"/>
                </a:solidFill>
              </a:rPr>
              <a:t>inactive.</a:t>
            </a:r>
            <a:r>
              <a:rPr lang="zh-CN" altLang="en-US" sz="3600" b="1" dirty="0">
                <a:solidFill>
                  <a:srgbClr val="FF0000"/>
                </a:solidFill>
              </a:rPr>
              <a:t>不活跃不活动的</a:t>
            </a:r>
            <a:endParaRPr lang="en-US" altLang="zh-CN" sz="3600" b="1" dirty="0">
              <a:solidFill>
                <a:srgbClr val="FF0000"/>
              </a:solidFill>
            </a:endParaRPr>
          </a:p>
          <a:p>
            <a:pPr fontAlgn="ctr"/>
            <a:r>
              <a:rPr lang="en-US" altLang="zh-CN" sz="3600" b="1" dirty="0"/>
              <a:t> </a:t>
            </a:r>
            <a:r>
              <a:rPr lang="en-US" altLang="zh-CN" sz="3600" b="1" dirty="0">
                <a:solidFill>
                  <a:srgbClr val="FF0000"/>
                </a:solidFill>
              </a:rPr>
              <a:t>confusion</a:t>
            </a:r>
            <a:r>
              <a:rPr lang="zh-CN" altLang="en-US" sz="3600" b="1" dirty="0">
                <a:solidFill>
                  <a:srgbClr val="FF0000"/>
                </a:solidFill>
              </a:rPr>
              <a:t>困惑</a:t>
            </a:r>
            <a:r>
              <a:rPr lang="en-US" altLang="zh-CN" sz="3600" b="1" dirty="0">
                <a:solidFill>
                  <a:srgbClr val="FF0000"/>
                </a:solidFill>
              </a:rPr>
              <a:t>;</a:t>
            </a:r>
            <a:r>
              <a:rPr lang="zh-CN" altLang="en-US" sz="3600" b="1" dirty="0">
                <a:solidFill>
                  <a:srgbClr val="FF0000"/>
                </a:solidFill>
              </a:rPr>
              <a:t>混乱 </a:t>
            </a:r>
            <a:r>
              <a:rPr lang="en-US" altLang="zh-CN" sz="3600" b="1" dirty="0">
                <a:solidFill>
                  <a:srgbClr val="FF0000"/>
                </a:solidFill>
              </a:rPr>
              <a:t>annoyance</a:t>
            </a:r>
            <a:r>
              <a:rPr lang="zh-CN" altLang="en-US" sz="3600" b="1" dirty="0">
                <a:solidFill>
                  <a:srgbClr val="FF0000"/>
                </a:solidFill>
              </a:rPr>
              <a:t>烦恼</a:t>
            </a:r>
            <a:r>
              <a:rPr lang="en-US" altLang="zh-CN" sz="3600" b="1" dirty="0">
                <a:solidFill>
                  <a:srgbClr val="FF0000"/>
                </a:solidFill>
              </a:rPr>
              <a:t>;</a:t>
            </a:r>
            <a:r>
              <a:rPr lang="zh-CN" altLang="en-US" sz="3600" b="1" dirty="0">
                <a:solidFill>
                  <a:srgbClr val="FF0000"/>
                </a:solidFill>
              </a:rPr>
              <a:t>气恼</a:t>
            </a:r>
            <a:endParaRPr lang="en-US" altLang="zh-CN" sz="3600" b="1" dirty="0">
              <a:solidFill>
                <a:srgbClr val="FF0000"/>
              </a:solidFill>
            </a:endParaRPr>
          </a:p>
          <a:p>
            <a:pPr fontAlgn="ctr"/>
            <a:r>
              <a:rPr lang="en-US" altLang="zh-CN" sz="3600" b="1" dirty="0"/>
              <a:t> </a:t>
            </a:r>
            <a:r>
              <a:rPr lang="en-US" altLang="zh-CN" sz="3600" b="1" dirty="0">
                <a:solidFill>
                  <a:srgbClr val="FF0000"/>
                </a:solidFill>
              </a:rPr>
              <a:t>shake off</a:t>
            </a:r>
            <a:r>
              <a:rPr lang="zh-CN" altLang="en-US" sz="3600" b="1" dirty="0">
                <a:solidFill>
                  <a:srgbClr val="FF0000"/>
                </a:solidFill>
              </a:rPr>
              <a:t>摆脱</a:t>
            </a:r>
            <a:r>
              <a:rPr lang="en-US" altLang="zh-CN" sz="3600" b="1" dirty="0">
                <a:solidFill>
                  <a:srgbClr val="FF0000"/>
                </a:solidFill>
              </a:rPr>
              <a:t>;</a:t>
            </a:r>
            <a:r>
              <a:rPr lang="zh-CN" altLang="en-US" sz="3600" b="1" dirty="0">
                <a:solidFill>
                  <a:srgbClr val="FF0000"/>
                </a:solidFill>
              </a:rPr>
              <a:t>抖落</a:t>
            </a:r>
            <a:r>
              <a:rPr lang="en-US" altLang="zh-CN" sz="3600" b="1" dirty="0">
                <a:solidFill>
                  <a:srgbClr val="FF0000"/>
                </a:solidFill>
              </a:rPr>
              <a:t> </a:t>
            </a:r>
            <a:r>
              <a:rPr lang="en-US" altLang="zh-CN" sz="3600" b="1" dirty="0"/>
              <a:t>one’s </a:t>
            </a:r>
            <a:r>
              <a:rPr lang="en-US" altLang="zh-CN" sz="3600" b="1" u="sng" dirty="0"/>
              <a:t>shame</a:t>
            </a:r>
            <a:r>
              <a:rPr lang="en-US" altLang="zh-CN" sz="3600" b="1" dirty="0"/>
              <a:t> about</a:t>
            </a:r>
          </a:p>
          <a:p>
            <a:pPr fontAlgn="ctr"/>
            <a:r>
              <a:rPr lang="en-US" altLang="zh-CN" sz="3600" b="1" dirty="0"/>
              <a:t> watch one’s breath</a:t>
            </a:r>
            <a:r>
              <a:rPr lang="zh-CN" altLang="en-US" sz="3600" b="1" dirty="0"/>
              <a:t>关注呼吸</a:t>
            </a:r>
            <a:endParaRPr lang="en-US" altLang="zh-CN" sz="3600" b="1" dirty="0"/>
          </a:p>
          <a:p>
            <a:pPr fontAlgn="ctr"/>
            <a:r>
              <a:rPr lang="en-US" altLang="zh-CN" sz="3600" b="1" dirty="0"/>
              <a:t> </a:t>
            </a:r>
            <a:r>
              <a:rPr lang="en-US" altLang="zh-CN" sz="3600" b="1" dirty="0">
                <a:solidFill>
                  <a:srgbClr val="FF0000"/>
                </a:solidFill>
              </a:rPr>
              <a:t>focus on what matters</a:t>
            </a:r>
            <a:r>
              <a:rPr lang="zh-CN" altLang="en-US" sz="3600" b="1" dirty="0">
                <a:solidFill>
                  <a:srgbClr val="FF0000"/>
                </a:solidFill>
              </a:rPr>
              <a:t>关注重要的事</a:t>
            </a:r>
            <a:endParaRPr lang="en-US" altLang="zh-CN" sz="3600" b="1" dirty="0">
              <a:solidFill>
                <a:srgbClr val="FF0000"/>
              </a:solidFill>
            </a:endParaRPr>
          </a:p>
          <a:p>
            <a:pPr fontAlgn="ctr"/>
            <a:r>
              <a:rPr lang="en-US" altLang="zh-CN" sz="3600" b="1" dirty="0">
                <a:solidFill>
                  <a:srgbClr val="FF0000"/>
                </a:solidFill>
              </a:rPr>
              <a:t> productive</a:t>
            </a:r>
            <a:r>
              <a:rPr lang="zh-CN" altLang="en-US" sz="3600" b="1" dirty="0">
                <a:solidFill>
                  <a:srgbClr val="FF0000"/>
                </a:solidFill>
              </a:rPr>
              <a:t>富有成效的</a:t>
            </a:r>
            <a:r>
              <a:rPr lang="en-US" altLang="zh-CN" sz="3600" b="1" dirty="0">
                <a:solidFill>
                  <a:srgbClr val="FF0000"/>
                </a:solidFill>
              </a:rPr>
              <a:t>;</a:t>
            </a:r>
            <a:r>
              <a:rPr lang="zh-CN" altLang="en-US" sz="3600" b="1" dirty="0">
                <a:solidFill>
                  <a:srgbClr val="FF0000"/>
                </a:solidFill>
              </a:rPr>
              <a:t>多产的</a:t>
            </a:r>
            <a:endParaRPr lang="en-US" altLang="zh-CN"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t>56. which</a:t>
            </a:r>
            <a:r>
              <a:rPr lang="zh-CN" altLang="en-US" sz="3600" b="1" dirty="0"/>
              <a:t>定从</a:t>
            </a:r>
            <a:r>
              <a:rPr lang="en-US" altLang="zh-CN" sz="3600" b="1" dirty="0"/>
              <a:t>     57. popularity</a:t>
            </a:r>
            <a:r>
              <a:rPr lang="zh-CN" altLang="en-US" sz="3600" b="1" dirty="0"/>
              <a:t>流行</a:t>
            </a:r>
            <a:r>
              <a:rPr lang="en-US" altLang="zh-CN" sz="3600" b="1" dirty="0"/>
              <a:t>   58. various   </a:t>
            </a:r>
          </a:p>
          <a:p>
            <a:r>
              <a:rPr lang="en-US" altLang="zh-CN" sz="3600" b="1" dirty="0"/>
              <a:t>59. </a:t>
            </a:r>
            <a:r>
              <a:rPr lang="en-US" altLang="zh-CN" sz="3600" b="1" dirty="0">
                <a:solidFill>
                  <a:srgbClr val="FF0000"/>
                </a:solidFill>
              </a:rPr>
              <a:t>landed </a:t>
            </a:r>
            <a:r>
              <a:rPr lang="zh-CN" altLang="en-US" sz="3600" b="1" dirty="0">
                <a:solidFill>
                  <a:srgbClr val="FF0000"/>
                </a:solidFill>
              </a:rPr>
              <a:t>着陆</a:t>
            </a:r>
            <a:r>
              <a:rPr lang="en-US" altLang="zh-CN" sz="3600" b="1" dirty="0">
                <a:solidFill>
                  <a:srgbClr val="FF0000"/>
                </a:solidFill>
              </a:rPr>
              <a:t>;</a:t>
            </a:r>
            <a:r>
              <a:rPr lang="zh-CN" altLang="en-US" sz="3600" b="1" dirty="0">
                <a:solidFill>
                  <a:srgbClr val="FF0000"/>
                </a:solidFill>
              </a:rPr>
              <a:t>登陆</a:t>
            </a:r>
            <a:r>
              <a:rPr lang="en-US" altLang="zh-CN" sz="3600" b="1" dirty="0">
                <a:solidFill>
                  <a:srgbClr val="FF0000"/>
                </a:solidFill>
              </a:rPr>
              <a:t>    </a:t>
            </a:r>
            <a:r>
              <a:rPr lang="en-US" altLang="zh-CN" sz="3600" b="1" dirty="0"/>
              <a:t>60. </a:t>
            </a:r>
            <a:r>
              <a:rPr lang="en-US" altLang="zh-CN" sz="3600" b="1" u="sng" dirty="0">
                <a:solidFill>
                  <a:srgbClr val="FF0000"/>
                </a:solidFill>
              </a:rPr>
              <a:t>for</a:t>
            </a:r>
            <a:r>
              <a:rPr lang="en-US" altLang="zh-CN" sz="3600" b="1" dirty="0"/>
              <a:t> the second time</a:t>
            </a:r>
            <a:r>
              <a:rPr lang="zh-CN" altLang="en-US" sz="3600" b="1" dirty="0"/>
              <a:t>第二次</a:t>
            </a:r>
            <a:endParaRPr lang="zh-CN" altLang="zh-CN" sz="3600" b="1" dirty="0"/>
          </a:p>
          <a:p>
            <a:r>
              <a:rPr lang="en-US" altLang="zh-CN" sz="3600" b="1" dirty="0"/>
              <a:t>61. </a:t>
            </a:r>
            <a:r>
              <a:rPr lang="en-US" altLang="zh-CN" sz="3600" b="1" u="sng" dirty="0"/>
              <a:t>Each event </a:t>
            </a:r>
            <a:r>
              <a:rPr lang="en-US" altLang="zh-CN" sz="3600" b="1" dirty="0">
                <a:solidFill>
                  <a:srgbClr val="FF0000"/>
                </a:solidFill>
              </a:rPr>
              <a:t>challenges</a:t>
            </a:r>
            <a:r>
              <a:rPr lang="en-US" altLang="zh-CN" sz="3600" b="1" dirty="0"/>
              <a:t> </a:t>
            </a:r>
            <a:r>
              <a:rPr lang="en-US" altLang="zh-CN" sz="3600" b="1" u="sng" dirty="0"/>
              <a:t>participants</a:t>
            </a:r>
            <a:r>
              <a:rPr lang="zh-CN" altLang="en-US" dirty="0"/>
              <a:t>每个活动都挑战参与者</a:t>
            </a:r>
            <a:r>
              <a:rPr lang="en-US" altLang="zh-CN" sz="3600" b="1" u="sng" dirty="0">
                <a:solidFill>
                  <a:srgbClr val="FF0000"/>
                </a:solidFill>
              </a:rPr>
              <a:t>ranging</a:t>
            </a:r>
            <a:r>
              <a:rPr lang="en-US" altLang="zh-CN" sz="3600" b="1" u="sng" dirty="0"/>
              <a:t> from…to…</a:t>
            </a:r>
            <a:r>
              <a:rPr lang="zh-CN" altLang="en-US" sz="3600" b="1" u="sng" dirty="0"/>
              <a:t>非谓语</a:t>
            </a:r>
            <a:r>
              <a:rPr lang="en-US" altLang="zh-CN" sz="3600" b="1" u="sng" dirty="0"/>
              <a:t> </a:t>
            </a:r>
            <a:endParaRPr lang="en-US" altLang="zh-CN" sz="3600" b="1" dirty="0"/>
          </a:p>
          <a:p>
            <a:r>
              <a:rPr lang="en-US" altLang="zh-CN" sz="3600" b="1" dirty="0"/>
              <a:t>62. extremely   </a:t>
            </a:r>
          </a:p>
          <a:p>
            <a:r>
              <a:rPr lang="en-US" altLang="zh-CN" sz="3600" b="1" dirty="0"/>
              <a:t>63. </a:t>
            </a:r>
            <a:r>
              <a:rPr lang="en-US" altLang="zh-CN" sz="3600" b="1" u="sng" dirty="0"/>
              <a:t>a total return</a:t>
            </a:r>
            <a:r>
              <a:rPr lang="en-US" altLang="zh-CN" sz="3600" b="1" dirty="0"/>
              <a:t> </a:t>
            </a:r>
            <a:r>
              <a:rPr lang="zh-CN" altLang="en-US" sz="3600" b="1" dirty="0"/>
              <a:t>同位语 “一个”</a:t>
            </a:r>
            <a:r>
              <a:rPr lang="en-US" altLang="zh-CN" sz="3600" b="1" dirty="0"/>
              <a:t>     </a:t>
            </a:r>
          </a:p>
          <a:p>
            <a:r>
              <a:rPr lang="en-US" altLang="zh-CN" sz="3600" b="1" dirty="0"/>
              <a:t>64. there’s </a:t>
            </a:r>
            <a:r>
              <a:rPr lang="en-US" altLang="zh-CN" sz="3600" b="1" u="sng" dirty="0"/>
              <a:t>a growing desire </a:t>
            </a:r>
            <a:r>
              <a:rPr lang="en-US" altLang="zh-CN" sz="3600" b="1" dirty="0">
                <a:solidFill>
                  <a:srgbClr val="FF0000"/>
                </a:solidFill>
              </a:rPr>
              <a:t>to break</a:t>
            </a:r>
            <a:r>
              <a:rPr lang="zh-CN" altLang="en-US" sz="3600" b="1" dirty="0">
                <a:solidFill>
                  <a:srgbClr val="FF0000"/>
                </a:solidFill>
              </a:rPr>
              <a:t>不定式解释名词内容</a:t>
            </a:r>
            <a:r>
              <a:rPr lang="en-US" altLang="zh-CN" sz="3600" b="1" dirty="0">
                <a:solidFill>
                  <a:srgbClr val="FF0000"/>
                </a:solidFill>
              </a:rPr>
              <a:t>   </a:t>
            </a:r>
          </a:p>
          <a:p>
            <a:r>
              <a:rPr lang="en-US" altLang="zh-CN" sz="3600" b="1" dirty="0"/>
              <a:t>65. </a:t>
            </a:r>
            <a:r>
              <a:rPr lang="en-US" altLang="zh-CN" sz="3600" b="1" dirty="0">
                <a:solidFill>
                  <a:srgbClr val="FF0000"/>
                </a:solidFill>
              </a:rPr>
              <a:t>not just…, but…  </a:t>
            </a:r>
            <a:r>
              <a:rPr lang="zh-CN" altLang="en-US" sz="3600" b="1" dirty="0">
                <a:solidFill>
                  <a:srgbClr val="FF0000"/>
                </a:solidFill>
              </a:rPr>
              <a:t>不仅</a:t>
            </a:r>
            <a:r>
              <a:rPr lang="en-US" altLang="zh-CN" sz="3600" b="1" dirty="0">
                <a:solidFill>
                  <a:srgbClr val="FF0000"/>
                </a:solidFill>
              </a:rPr>
              <a:t>…</a:t>
            </a:r>
            <a:r>
              <a:rPr lang="zh-CN" altLang="en-US" sz="3600" b="1" dirty="0">
                <a:solidFill>
                  <a:srgbClr val="FF0000"/>
                </a:solidFill>
              </a:rPr>
              <a:t>，还</a:t>
            </a:r>
            <a:r>
              <a:rPr lang="en-US" altLang="zh-CN" sz="3600" b="1" dirty="0">
                <a:solidFill>
                  <a:srgbClr val="FF0000"/>
                </a:solidFill>
              </a:rPr>
              <a:t>…</a:t>
            </a:r>
            <a:endParaRPr lang="zh-CN" altLang="zh-CN" sz="3600" b="1" dirty="0">
              <a:solidFill>
                <a:srgbClr val="FF0000"/>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66. variation n.</a:t>
            </a:r>
            <a:r>
              <a:rPr lang="zh-CN" altLang="en-US" sz="3600" b="1" dirty="0">
                <a:solidFill>
                  <a:srgbClr val="FF0000"/>
                </a:solidFill>
              </a:rPr>
              <a:t>变化</a:t>
            </a:r>
            <a:r>
              <a:rPr lang="en-US" altLang="zh-CN" sz="3600" b="1" dirty="0">
                <a:solidFill>
                  <a:srgbClr val="FF0000"/>
                </a:solidFill>
              </a:rPr>
              <a:t>;</a:t>
            </a:r>
            <a:r>
              <a:rPr lang="zh-CN" altLang="en-US" sz="3600" b="1" dirty="0">
                <a:solidFill>
                  <a:srgbClr val="FF0000"/>
                </a:solidFill>
              </a:rPr>
              <a:t>变异</a:t>
            </a:r>
            <a:r>
              <a:rPr lang="en-US" altLang="zh-CN" sz="3600" b="1" dirty="0">
                <a:solidFill>
                  <a:srgbClr val="FF0000"/>
                </a:solidFill>
              </a:rPr>
              <a:t>   67. enthusiasm n.</a:t>
            </a:r>
            <a:r>
              <a:rPr lang="zh-CN" altLang="en-US" sz="3600" b="1" dirty="0">
                <a:solidFill>
                  <a:srgbClr val="FF0000"/>
                </a:solidFill>
              </a:rPr>
              <a:t>热情</a:t>
            </a:r>
            <a:r>
              <a:rPr lang="en-US" altLang="zh-CN" sz="3600" b="1" dirty="0">
                <a:solidFill>
                  <a:srgbClr val="FF0000"/>
                </a:solidFill>
              </a:rPr>
              <a:t>           </a:t>
            </a:r>
          </a:p>
          <a:p>
            <a:r>
              <a:rPr lang="en-US" altLang="zh-CN" sz="3600" b="1" dirty="0">
                <a:solidFill>
                  <a:srgbClr val="FF0000"/>
                </a:solidFill>
              </a:rPr>
              <a:t>68. struck/stricken  69. expectation   70. critical                </a:t>
            </a:r>
          </a:p>
          <a:p>
            <a:r>
              <a:rPr lang="en-US" altLang="zh-CN" sz="3600" b="1" dirty="0"/>
              <a:t>71. about</a:t>
            </a:r>
            <a:r>
              <a:rPr lang="zh-CN" altLang="en-US" sz="3600" b="1" dirty="0">
                <a:solidFill>
                  <a:srgbClr val="FF0000"/>
                </a:solidFill>
              </a:rPr>
              <a:t>介词</a:t>
            </a:r>
            <a:r>
              <a:rPr lang="en-US" altLang="zh-CN" sz="3600" b="1" dirty="0"/>
              <a:t>+ </a:t>
            </a:r>
            <a:r>
              <a:rPr lang="en-US" altLang="zh-CN" sz="3600" b="1" dirty="0">
                <a:solidFill>
                  <a:srgbClr val="FF0000"/>
                </a:solidFill>
              </a:rPr>
              <a:t>being sent         </a:t>
            </a:r>
            <a:endParaRPr lang="zh-CN" altLang="zh-CN" sz="3600" b="1" dirty="0">
              <a:solidFill>
                <a:srgbClr val="FF0000"/>
              </a:solidFill>
            </a:endParaRPr>
          </a:p>
          <a:p>
            <a:r>
              <a:rPr lang="en-US" altLang="zh-CN" sz="3600" b="1" dirty="0"/>
              <a:t>72. </a:t>
            </a:r>
            <a:r>
              <a:rPr lang="en-US" altLang="zh-CN" sz="3600" b="1" dirty="0">
                <a:solidFill>
                  <a:srgbClr val="FF0000"/>
                </a:solidFill>
              </a:rPr>
              <a:t>occurring</a:t>
            </a:r>
            <a:r>
              <a:rPr lang="zh-CN" altLang="en-US" sz="3600" b="1" dirty="0"/>
              <a:t>无被动</a:t>
            </a:r>
            <a:r>
              <a:rPr lang="en-US" altLang="zh-CN" sz="3600" b="1" dirty="0"/>
              <a:t>                   </a:t>
            </a:r>
          </a:p>
          <a:p>
            <a:r>
              <a:rPr lang="en-US" altLang="zh-CN" sz="3600" b="1" dirty="0"/>
              <a:t>73. buying extra </a:t>
            </a:r>
            <a:r>
              <a:rPr lang="en-US" altLang="zh-CN" sz="3600" b="1" u="sng" dirty="0">
                <a:solidFill>
                  <a:srgbClr val="FF0000"/>
                </a:solidFill>
              </a:rPr>
              <a:t>to benefit</a:t>
            </a:r>
            <a:r>
              <a:rPr lang="zh-CN" altLang="en-US" sz="3600" b="1" u="sng" dirty="0">
                <a:solidFill>
                  <a:srgbClr val="FF0000"/>
                </a:solidFill>
              </a:rPr>
              <a:t>表目的</a:t>
            </a:r>
            <a:r>
              <a:rPr lang="en-US" altLang="zh-CN" sz="3600" b="1" u="sng" dirty="0">
                <a:solidFill>
                  <a:srgbClr val="FF0000"/>
                </a:solidFill>
              </a:rPr>
              <a:t> from </a:t>
            </a:r>
            <a:r>
              <a:rPr lang="en-US" altLang="zh-CN" sz="3600" b="1" dirty="0"/>
              <a:t>price reductions doesn’t make sense.</a:t>
            </a:r>
            <a:r>
              <a:rPr lang="zh-CN" altLang="en-US" dirty="0"/>
              <a:t>额外多购买以便从降价中获益是没有道理的。</a:t>
            </a:r>
            <a:r>
              <a:rPr lang="en-US" altLang="zh-CN" sz="3600" b="1" dirty="0"/>
              <a:t>        </a:t>
            </a:r>
          </a:p>
          <a:p>
            <a:r>
              <a:rPr lang="en-US" altLang="zh-CN" sz="3600" b="1" dirty="0"/>
              <a:t>74. If (it is) </a:t>
            </a:r>
            <a:r>
              <a:rPr lang="en-US" altLang="zh-CN" sz="3600" b="1" dirty="0">
                <a:solidFill>
                  <a:srgbClr val="FF0000"/>
                </a:solidFill>
              </a:rPr>
              <a:t>given</a:t>
            </a:r>
            <a:r>
              <a:rPr lang="zh-CN" altLang="en-US" sz="3600" b="1" dirty="0"/>
              <a:t>状从省略</a:t>
            </a:r>
            <a:endParaRPr lang="en-US" altLang="zh-CN" sz="3600" b="1" dirty="0"/>
          </a:p>
          <a:p>
            <a:r>
              <a:rPr lang="en-US" altLang="zh-CN" sz="3600" b="1" dirty="0"/>
              <a:t>75. </a:t>
            </a:r>
            <a:r>
              <a:rPr lang="en-US" altLang="zh-CN" sz="3600" b="1" u="sng" dirty="0">
                <a:solidFill>
                  <a:srgbClr val="FF0000"/>
                </a:solidFill>
              </a:rPr>
              <a:t>Having been declared</a:t>
            </a:r>
            <a:r>
              <a:rPr lang="en-US" altLang="zh-CN" sz="3600" b="1" dirty="0"/>
              <a:t>/ Declared </a:t>
            </a:r>
            <a:r>
              <a:rPr lang="zh-CN" altLang="en-US" sz="3600" b="1" dirty="0">
                <a:solidFill>
                  <a:srgbClr val="FF0000"/>
                </a:solidFill>
              </a:rPr>
              <a:t>被宣布</a:t>
            </a:r>
            <a:endParaRPr lang="en-US" altLang="zh-CN" sz="3600" b="1" dirty="0">
              <a:solidFill>
                <a:srgbClr val="FF0000"/>
              </a:solidFill>
            </a:endParaRPr>
          </a:p>
          <a:p>
            <a:r>
              <a:rPr lang="en-US" altLang="zh-CN" sz="3600" b="1" dirty="0"/>
              <a:t>Ebola-free </a:t>
            </a:r>
            <a:r>
              <a:rPr lang="en-US" altLang="zh-CN" sz="3600" b="1" u="sng" dirty="0">
                <a:solidFill>
                  <a:srgbClr val="FF0000"/>
                </a:solidFill>
              </a:rPr>
              <a:t>by</a:t>
            </a:r>
            <a:r>
              <a:rPr lang="en-US" altLang="zh-CN" sz="3600" b="1" dirty="0"/>
              <a:t> the WHO, Congo </a:t>
            </a:r>
            <a:r>
              <a:rPr lang="en-US" altLang="zh-CN" sz="3600" b="1" u="sng" dirty="0"/>
              <a:t>reopened</a:t>
            </a:r>
            <a:r>
              <a:rPr lang="en-US" altLang="zh-CN" sz="3600" b="1" dirty="0"/>
              <a:t>….</a:t>
            </a:r>
            <a:endParaRPr lang="zh-CN" altLang="zh-CN" sz="3600" b="1" dirty="0"/>
          </a:p>
          <a:p>
            <a:endParaRPr lang="zh-CN" altLang="en-US" sz="3600" b="1" dirty="0">
              <a:solidFill>
                <a:srgbClr val="FF0000"/>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algn="ctr" fontAlgn="ctr"/>
            <a:r>
              <a:rPr lang="en-US" altLang="zh-CN" dirty="0"/>
              <a:t> </a:t>
            </a:r>
            <a:r>
              <a:rPr lang="en-US" altLang="zh-CN" b="1" dirty="0">
                <a:solidFill>
                  <a:srgbClr val="FF0000"/>
                </a:solidFill>
              </a:rPr>
              <a:t>Embrace</a:t>
            </a:r>
            <a:r>
              <a:rPr lang="en-US" altLang="zh-CN" b="1" dirty="0"/>
              <a:t> the Beauty: Join Our Art Week!</a:t>
            </a:r>
            <a:endParaRPr lang="zh-CN" altLang="zh-CN" b="1" dirty="0"/>
          </a:p>
          <a:p>
            <a:r>
              <a:rPr lang="en-US" altLang="zh-CN" b="1" dirty="0"/>
              <a:t>Dear fellow students,</a:t>
            </a:r>
            <a:endParaRPr lang="zh-CN" altLang="zh-CN" b="1" dirty="0"/>
          </a:p>
          <a:p>
            <a:pPr algn="just"/>
            <a:r>
              <a:rPr lang="en-US" altLang="zh-CN" b="1" dirty="0">
                <a:solidFill>
                  <a:srgbClr val="FF0000"/>
                </a:solidFill>
              </a:rPr>
              <a:t>     </a:t>
            </a:r>
            <a:r>
              <a:rPr lang="en-US" altLang="zh-CN" sz="3600" b="1" dirty="0">
                <a:solidFill>
                  <a:srgbClr val="FF0000"/>
                </a:solidFill>
              </a:rPr>
              <a:t>To bring more color into our campus life, and in response to </a:t>
            </a:r>
            <a:r>
              <a:rPr lang="en-US" altLang="zh-CN" sz="3600" b="1" dirty="0"/>
              <a:t>the Aesthetic Education Initiative, the Student Union is thrilled to present our upcoming "Art Week."</a:t>
            </a:r>
            <a:endParaRPr lang="zh-CN" altLang="zh-CN" sz="3600" b="1" dirty="0"/>
          </a:p>
          <a:p>
            <a:pPr algn="just"/>
            <a:r>
              <a:rPr lang="en-US" altLang="zh-CN" sz="3600" b="1" dirty="0"/>
              <a:t>    </a:t>
            </a:r>
            <a:r>
              <a:rPr lang="en-US" altLang="zh-CN" sz="3600" b="1" dirty="0">
                <a:solidFill>
                  <a:srgbClr val="FF0000"/>
                </a:solidFill>
              </a:rPr>
              <a:t>A series of events</a:t>
            </a:r>
            <a:r>
              <a:rPr lang="en-US" altLang="zh-CN" sz="3600" b="1" dirty="0"/>
              <a:t> are waiting for you: a mini-concert where school bands play original songs, a graffiti wall for you to paint the future, and a drama club where you can act, laugh and create.</a:t>
            </a:r>
            <a:endParaRPr lang="zh-CN" altLang="zh-CN" sz="3600" b="1" dirty="0"/>
          </a:p>
          <a:p>
            <a:pPr algn="just"/>
            <a:r>
              <a:rPr lang="en-US" altLang="zh-CN" sz="3600" b="1" dirty="0"/>
              <a:t>    Art not only pleases the eye but also shapes the soul. Let's come together to create a week filled with creativity and joy. </a:t>
            </a:r>
            <a:r>
              <a:rPr lang="en-US" altLang="zh-CN" sz="3600" b="1" dirty="0">
                <a:solidFill>
                  <a:srgbClr val="FF0000"/>
                </a:solidFill>
              </a:rPr>
              <a:t>Your participation is the key to making this event a brilliant success. </a:t>
            </a:r>
            <a:endParaRPr lang="zh-CN" altLang="en-US" sz="3600" b="1" dirty="0">
              <a:solidFill>
                <a:srgbClr val="FF0000"/>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dirty="0"/>
              <a:t>It was not what he had hoped for. </a:t>
            </a:r>
            <a:r>
              <a:rPr lang="en-US" altLang="zh-CN" b="1" dirty="0"/>
              <a:t>There was a silence as he stared at the gift shining hopefully among the newspaper. </a:t>
            </a:r>
            <a:r>
              <a:rPr lang="en-US" altLang="zh-CN" b="1" u="sng" dirty="0">
                <a:solidFill>
                  <a:srgbClr val="FF0000"/>
                </a:solidFill>
              </a:rPr>
              <a:t>He looked away, swallowing down a lump</a:t>
            </a:r>
            <a:r>
              <a:rPr lang="zh-CN" altLang="en-US" b="1" u="sng" dirty="0">
                <a:solidFill>
                  <a:srgbClr val="FF0000"/>
                </a:solidFill>
              </a:rPr>
              <a:t>吞下肿块</a:t>
            </a:r>
            <a:r>
              <a:rPr lang="en-US" altLang="zh-CN" b="1" dirty="0"/>
              <a:t>. “Dad knows l wanted a new bike,” he thought, “not an old used one.” “I know it’s not exactly what you wanted, but ...” Ted looked up at him and </a:t>
            </a:r>
            <a:r>
              <a:rPr lang="en-US" altLang="zh-CN" b="1" dirty="0">
                <a:solidFill>
                  <a:srgbClr val="FF0000"/>
                </a:solidFill>
              </a:rPr>
              <a:t>saw his own disappointment mirrored in his father’s eyes.</a:t>
            </a:r>
            <a:r>
              <a:rPr lang="zh-CN" altLang="en-US" b="1" dirty="0">
                <a:solidFill>
                  <a:srgbClr val="FF0000"/>
                </a:solidFill>
              </a:rPr>
              <a:t>从父亲的眼中看到了自己的失望 </a:t>
            </a:r>
            <a:r>
              <a:rPr lang="en-US" altLang="zh-CN" b="1" dirty="0"/>
              <a:t>He </a:t>
            </a:r>
            <a:r>
              <a:rPr lang="en-US" altLang="zh-CN" b="1" u="sng" dirty="0">
                <a:solidFill>
                  <a:srgbClr val="FF0000"/>
                </a:solidFill>
              </a:rPr>
              <a:t>thought of the hours his father must have spent</a:t>
            </a:r>
            <a:r>
              <a:rPr lang="en-US" altLang="zh-CN" b="1" dirty="0">
                <a:solidFill>
                  <a:srgbClr val="FF0000"/>
                </a:solidFill>
              </a:rPr>
              <a:t> </a:t>
            </a:r>
            <a:r>
              <a:rPr lang="en-US" altLang="zh-CN" b="1" dirty="0"/>
              <a:t>sanding and painting shining and oiling it, to give his son something special.</a:t>
            </a:r>
            <a:r>
              <a:rPr lang="zh-CN" altLang="en-US" dirty="0"/>
              <a:t>他想起父亲一定花了多少时间打磨、粉刷、抛光、上油，才给儿子一件特别的东西</a:t>
            </a:r>
            <a:endParaRPr lang="zh-CN" altLang="zh-CN" b="1" dirty="0"/>
          </a:p>
          <a:p>
            <a:r>
              <a:rPr lang="en-US" altLang="zh-CN" dirty="0"/>
              <a:t>Suddenly, he </a:t>
            </a:r>
            <a:r>
              <a:rPr lang="en-US" altLang="zh-CN" b="1" u="sng" dirty="0">
                <a:solidFill>
                  <a:srgbClr val="FF0000"/>
                </a:solidFill>
              </a:rPr>
              <a:t>was ashamed of himself</a:t>
            </a:r>
            <a:r>
              <a:rPr lang="en-US" altLang="zh-CN" dirty="0"/>
              <a:t>. </a:t>
            </a:r>
            <a:r>
              <a:rPr lang="en-US" altLang="zh-CN" b="1" dirty="0"/>
              <a:t>“Are you kidding, Dad?” Ted hugged his father. “Hey, now I can get a paper route and help out around here. Thank you, Dad!” The phone rang, and Ted ran to answer </a:t>
            </a:r>
            <a:r>
              <a:rPr lang="en-US" altLang="zh-CN" b="1" dirty="0" err="1"/>
              <a:t>it.“Hi</a:t>
            </a:r>
            <a:r>
              <a:rPr lang="en-US" altLang="zh-CN" b="1" dirty="0"/>
              <a:t>, Sam! Come on over and see my new bike! We can </a:t>
            </a:r>
            <a:r>
              <a:rPr lang="en-US" altLang="zh-CN" b="1" dirty="0">
                <a:solidFill>
                  <a:srgbClr val="FF0000"/>
                </a:solidFill>
              </a:rPr>
              <a:t>go for a ride down to the lake</a:t>
            </a:r>
            <a:r>
              <a:rPr lang="zh-CN" altLang="en-US" b="1" dirty="0">
                <a:solidFill>
                  <a:srgbClr val="FF0000"/>
                </a:solidFill>
              </a:rPr>
              <a:t>骑车去湖边兜风</a:t>
            </a:r>
            <a:r>
              <a:rPr lang="en-US" altLang="zh-CN" b="1" dirty="0"/>
              <a:t>.” Ted looked over at his father, who smiled back as he picked up the paper.</a:t>
            </a:r>
            <a:endParaRPr lang="zh-CN" altLang="zh-CN" b="1"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dirty="0"/>
              <a:t>It was not what he had hoped for. </a:t>
            </a:r>
            <a:r>
              <a:rPr lang="en-US" altLang="zh-CN" sz="3600" b="1" u="sng" dirty="0">
                <a:solidFill>
                  <a:srgbClr val="FF0000"/>
                </a:solidFill>
              </a:rPr>
              <a:t>His heart sank </a:t>
            </a:r>
            <a:r>
              <a:rPr lang="en-US" altLang="zh-CN" sz="3600" b="1" dirty="0">
                <a:solidFill>
                  <a:srgbClr val="FF0000"/>
                </a:solidFill>
              </a:rPr>
              <a:t>as he looked at </a:t>
            </a:r>
            <a:r>
              <a:rPr lang="en-US" altLang="zh-CN" sz="3600" dirty="0"/>
              <a:t>the secondhand bike.   </a:t>
            </a:r>
          </a:p>
          <a:p>
            <a:pPr marL="0" indent="0">
              <a:buNone/>
            </a:pPr>
            <a:r>
              <a:rPr lang="en-US" altLang="zh-CN" sz="3600" dirty="0"/>
              <a:t>He </a:t>
            </a:r>
            <a:r>
              <a:rPr lang="en-US" altLang="zh-CN" sz="3600" b="1" dirty="0"/>
              <a:t>had dreamed of </a:t>
            </a:r>
            <a:r>
              <a:rPr lang="en-US" altLang="zh-CN" sz="3600" dirty="0"/>
              <a:t>that shiny metallic blue 21-speed racer, </a:t>
            </a:r>
            <a:r>
              <a:rPr lang="en-US" altLang="zh-CN" sz="3600" b="1" dirty="0"/>
              <a:t>imagining</a:t>
            </a:r>
            <a:r>
              <a:rPr lang="en-US" altLang="zh-CN" sz="3600" dirty="0"/>
              <a:t> all the places he could go on it.  </a:t>
            </a:r>
          </a:p>
          <a:p>
            <a:pPr marL="0" indent="0">
              <a:buNone/>
            </a:pPr>
            <a:r>
              <a:rPr lang="en-US" altLang="zh-CN" sz="3600" dirty="0"/>
              <a:t>This bike, though polished, wasn’t new, and it wasn’t the one  </a:t>
            </a:r>
            <a:r>
              <a:rPr lang="en-US" altLang="zh-CN" sz="3600" b="1" dirty="0"/>
              <a:t>he’d been longing for</a:t>
            </a:r>
            <a:r>
              <a:rPr lang="en-US" altLang="zh-CN" sz="3600" dirty="0"/>
              <a:t>. </a:t>
            </a:r>
          </a:p>
          <a:p>
            <a:pPr marL="0" indent="0">
              <a:buNone/>
            </a:pPr>
            <a:r>
              <a:rPr lang="en-US" altLang="zh-CN" sz="3600" b="1" dirty="0">
                <a:solidFill>
                  <a:srgbClr val="FF0000"/>
                </a:solidFill>
              </a:rPr>
              <a:t>He felt </a:t>
            </a:r>
            <a:r>
              <a:rPr lang="en-US" altLang="zh-CN" sz="3600" b="1" u="sng" dirty="0">
                <a:solidFill>
                  <a:srgbClr val="FF0000"/>
                </a:solidFill>
              </a:rPr>
              <a:t>a wave of </a:t>
            </a:r>
            <a:r>
              <a:rPr lang="en-US" altLang="zh-CN" sz="3600" b="1" u="sng" dirty="0">
                <a:solidFill>
                  <a:srgbClr val="FF0000"/>
                </a:solidFill>
                <a:highlight>
                  <a:srgbClr val="FFFF00"/>
                </a:highlight>
              </a:rPr>
              <a:t>disappointment</a:t>
            </a:r>
            <a:r>
              <a:rPr lang="en-US" altLang="zh-CN" sz="3600" b="1" u="sng" dirty="0">
                <a:solidFill>
                  <a:srgbClr val="FF0000"/>
                </a:solidFill>
              </a:rPr>
              <a:t> </a:t>
            </a:r>
            <a:r>
              <a:rPr lang="en-US" altLang="zh-CN" sz="3600" b="1" dirty="0">
                <a:solidFill>
                  <a:srgbClr val="FF0000"/>
                </a:solidFill>
              </a:rPr>
              <a:t>wash over him.</a:t>
            </a:r>
            <a:r>
              <a:rPr lang="zh-CN" altLang="en-US" dirty="0"/>
              <a:t>他感到一阵失望的情绪涌上心头</a:t>
            </a:r>
            <a:r>
              <a:rPr lang="en-US" altLang="zh-CN" sz="3600" b="1" dirty="0">
                <a:solidFill>
                  <a:srgbClr val="FF0000"/>
                </a:solidFill>
              </a:rPr>
              <a:t>A wave of bitter disappointment surged in his chest, tightening his throat.</a:t>
            </a:r>
            <a:r>
              <a:rPr lang="zh-CN" altLang="en-US" dirty="0"/>
              <a:t>一股苦涩的失望情绪涌上他的胸膛，他的喉咙也绷紧了</a:t>
            </a:r>
            <a:endParaRPr lang="en-US" altLang="zh-CN" sz="3600" b="1" dirty="0">
              <a:solidFill>
                <a:srgbClr val="FF0000"/>
              </a:solidFill>
            </a:endParaRPr>
          </a:p>
          <a:p>
            <a:pPr marL="0" indent="0">
              <a:buNone/>
            </a:pPr>
            <a:r>
              <a:rPr lang="en-US" altLang="zh-CN" sz="3600" b="1" dirty="0"/>
              <a:t>He managed a stiff “Thanks, Dad,” but the words felt hollow and forced.</a:t>
            </a:r>
            <a:r>
              <a:rPr lang="zh-CN" altLang="en-US" dirty="0"/>
              <a:t>勉强地说了一句</a:t>
            </a:r>
            <a:r>
              <a:rPr lang="en-US" altLang="zh-CN" sz="3600" b="1" dirty="0">
                <a:solidFill>
                  <a:srgbClr val="FF0000"/>
                </a:solidFill>
              </a:rPr>
              <a:t>His father’s expectant eyes dimmed slightly, noticing the restrained reaction.</a:t>
            </a:r>
            <a:r>
              <a:rPr lang="zh-CN" altLang="en-US" dirty="0"/>
              <a:t>父亲注意到孩子克制的反应，期待的目光稍稍暗淡下来</a:t>
            </a:r>
            <a:endParaRPr lang="zh-CN" altLang="en-US" sz="3600" b="1" dirty="0">
              <a:solidFill>
                <a:srgbClr val="FF0000"/>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dirty="0"/>
              <a:t>Suddenly, he was ashamed of himself. </a:t>
            </a:r>
            <a:r>
              <a:rPr lang="en-US" altLang="zh-CN" sz="3600" b="1" dirty="0"/>
              <a:t>He thought about  </a:t>
            </a:r>
            <a:r>
              <a:rPr lang="en-US" altLang="zh-CN" sz="3600" dirty="0"/>
              <a:t>his dad being out of work, about the words like “mortgage” </a:t>
            </a:r>
            <a:r>
              <a:rPr lang="en-US" altLang="zh-CN" sz="3600" dirty="0" err="1"/>
              <a:t>and“unemployment</a:t>
            </a:r>
            <a:r>
              <a:rPr lang="en-US" altLang="zh-CN" sz="3600" dirty="0"/>
              <a:t> checks” he</a:t>
            </a:r>
            <a:r>
              <a:rPr lang="zh-CN" altLang="en-US" sz="3600" dirty="0"/>
              <a:t>’</a:t>
            </a:r>
            <a:r>
              <a:rPr lang="en-US" altLang="zh-CN" sz="3600" dirty="0"/>
              <a:t>d overheard. His parents     had tried their best to get him a bike for his birthday,          putting in effort to make this secondhand bike nice. </a:t>
            </a:r>
          </a:p>
          <a:p>
            <a:pPr marL="0" indent="0">
              <a:buNone/>
            </a:pPr>
            <a:r>
              <a:rPr lang="en-US" altLang="zh-CN" sz="3600" b="1" dirty="0"/>
              <a:t>He realized how </a:t>
            </a:r>
            <a:r>
              <a:rPr lang="en-US" altLang="zh-CN" sz="3600" b="1" dirty="0">
                <a:solidFill>
                  <a:srgbClr val="FF0000"/>
                </a:solidFill>
                <a:highlight>
                  <a:srgbClr val="FFFF00"/>
                </a:highlight>
              </a:rPr>
              <a:t>selfish</a:t>
            </a:r>
            <a:r>
              <a:rPr lang="en-US" altLang="zh-CN" sz="3600" b="1" dirty="0"/>
              <a:t> he</a:t>
            </a:r>
            <a:r>
              <a:rPr lang="zh-CN" altLang="en-US" sz="3600" b="1" dirty="0"/>
              <a:t>’</a:t>
            </a:r>
            <a:r>
              <a:rPr lang="en-US" altLang="zh-CN" sz="3600" b="1" dirty="0"/>
              <a:t>d been, only thinking about his own wish and not considering their difficulties.</a:t>
            </a:r>
            <a:r>
              <a:rPr lang="en-US" altLang="zh-CN" sz="3600" dirty="0"/>
              <a:t> </a:t>
            </a:r>
          </a:p>
          <a:p>
            <a:pPr marL="0" indent="0">
              <a:buNone/>
            </a:pPr>
            <a:r>
              <a:rPr lang="en-US" altLang="zh-CN" sz="3600" b="1" dirty="0">
                <a:solidFill>
                  <a:srgbClr val="FF0000"/>
                </a:solidFill>
              </a:rPr>
              <a:t>With a </a:t>
            </a:r>
            <a:r>
              <a:rPr lang="en-US" altLang="zh-CN" sz="3600" b="1" dirty="0">
                <a:solidFill>
                  <a:srgbClr val="FF0000"/>
                </a:solidFill>
                <a:highlight>
                  <a:srgbClr val="FFFF00"/>
                </a:highlight>
              </a:rPr>
              <a:t>grateful</a:t>
            </a:r>
            <a:r>
              <a:rPr lang="en-US" altLang="zh-CN" sz="3600" b="1" dirty="0">
                <a:solidFill>
                  <a:srgbClr val="FF0000"/>
                </a:solidFill>
              </a:rPr>
              <a:t> smile, he hugged his dad.</a:t>
            </a:r>
            <a:r>
              <a:rPr lang="zh-CN" altLang="en-US" dirty="0"/>
              <a:t>带着感激的微笑他拥抱父亲</a:t>
            </a:r>
            <a:endParaRPr lang="en-US" altLang="zh-CN" dirty="0"/>
          </a:p>
          <a:p>
            <a:pPr marL="0" indent="0">
              <a:buNone/>
            </a:pPr>
            <a:r>
              <a:rPr lang="en-US" altLang="zh-CN" sz="3600" b="1" dirty="0"/>
              <a:t>Looking up, Ted met his dad’s gaze </a:t>
            </a:r>
            <a:r>
              <a:rPr lang="en-US" altLang="zh-CN" sz="3600" dirty="0"/>
              <a:t>and said </a:t>
            </a:r>
            <a:r>
              <a:rPr lang="en-US" altLang="zh-CN" sz="3600" b="1" dirty="0"/>
              <a:t>sincerely</a:t>
            </a:r>
            <a:r>
              <a:rPr lang="en-US" altLang="zh-CN" sz="3600" dirty="0"/>
              <a:t>,        "This is the best bike ever. </a:t>
            </a:r>
            <a:r>
              <a:rPr lang="en-US" altLang="zh-CN" sz="3600" b="1" dirty="0"/>
              <a:t>Let’s go for a ride together</a:t>
            </a:r>
            <a:r>
              <a:rPr lang="en-US" altLang="zh-CN" sz="3600" dirty="0"/>
              <a:t>." </a:t>
            </a:r>
          </a:p>
          <a:p>
            <a:pPr marL="0" indent="0">
              <a:buNone/>
            </a:pPr>
            <a:r>
              <a:rPr lang="en-US" altLang="zh-CN" sz="3600" b="1" dirty="0">
                <a:solidFill>
                  <a:srgbClr val="FF0000"/>
                </a:solidFill>
              </a:rPr>
              <a:t>A genuine smile spread across his face</a:t>
            </a:r>
            <a:r>
              <a:rPr lang="en-US" altLang="zh-CN" sz="3600" b="1" dirty="0"/>
              <a:t>, warmer and         brighter than any he had felt before</a:t>
            </a:r>
            <a:r>
              <a:rPr lang="en-US" altLang="zh-CN" sz="3600" dirty="0"/>
              <a:t>.</a:t>
            </a:r>
            <a:r>
              <a:rPr lang="zh-CN" altLang="en-US" dirty="0"/>
              <a:t>脸上绽开了真诚的笑容</a:t>
            </a:r>
            <a:endParaRPr lang="zh-CN" altLang="en-US" sz="3600" b="1" dirty="0">
              <a:solidFill>
                <a:srgbClr val="FF0000"/>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dirty="0"/>
              <a:t>P29-38 1.</a:t>
            </a:r>
            <a:r>
              <a:rPr lang="zh-CN" altLang="en-US" sz="3600" b="1" dirty="0"/>
              <a:t>游记 </a:t>
            </a:r>
            <a:r>
              <a:rPr lang="en-US" altLang="zh-CN" sz="3600" b="1" dirty="0"/>
              <a:t>2.</a:t>
            </a:r>
            <a:r>
              <a:rPr lang="zh-CN" altLang="en-US" sz="3600" b="1" dirty="0"/>
              <a:t>一次有益的经历 </a:t>
            </a:r>
            <a:r>
              <a:rPr lang="en-US" altLang="zh-CN" sz="3600" b="1" dirty="0"/>
              <a:t>3.</a:t>
            </a:r>
            <a:r>
              <a:rPr lang="zh-CN" altLang="en-US" sz="3600" b="1" dirty="0"/>
              <a:t>安置坐落在</a:t>
            </a:r>
            <a:r>
              <a:rPr lang="en-US" altLang="zh-CN" sz="3600" b="1" dirty="0"/>
              <a:t>4.</a:t>
            </a:r>
            <a:r>
              <a:rPr lang="zh-CN" altLang="en-US" sz="3600" b="1" dirty="0"/>
              <a:t>漫步于</a:t>
            </a:r>
            <a:r>
              <a:rPr lang="en-US" altLang="zh-CN" sz="3600" b="1" dirty="0"/>
              <a:t>5.</a:t>
            </a:r>
            <a:r>
              <a:rPr lang="zh-CN" altLang="en-US" sz="3600" b="1" dirty="0"/>
              <a:t>注视见到 </a:t>
            </a:r>
            <a:r>
              <a:rPr lang="en-US" altLang="zh-CN" sz="3600" b="1" dirty="0"/>
              <a:t>6.</a:t>
            </a:r>
            <a:r>
              <a:rPr lang="zh-CN" altLang="en-US" sz="3600" b="1" dirty="0"/>
              <a:t>挑选出 </a:t>
            </a:r>
            <a:r>
              <a:rPr lang="en-US" altLang="zh-CN" sz="3600" b="1" dirty="0"/>
              <a:t>7.</a:t>
            </a:r>
            <a:r>
              <a:rPr lang="zh-CN" altLang="en-US" sz="3600" b="1" dirty="0"/>
              <a:t>留下了最深的印象</a:t>
            </a:r>
            <a:r>
              <a:rPr lang="en-US" altLang="zh-CN" sz="3600" b="1" dirty="0"/>
              <a:t> 8.</a:t>
            </a:r>
            <a:r>
              <a:rPr lang="zh-CN" altLang="en-US" sz="3600" b="1" dirty="0"/>
              <a:t>深受大自然的启发 </a:t>
            </a:r>
            <a:r>
              <a:rPr lang="en-US" altLang="zh-CN" sz="3600" b="1" dirty="0"/>
              <a:t>9.</a:t>
            </a:r>
            <a:r>
              <a:rPr lang="zh-CN" altLang="en-US" sz="3600" b="1" dirty="0"/>
              <a:t>在他生命的最后三十年 </a:t>
            </a:r>
            <a:r>
              <a:rPr lang="en-US" altLang="zh-CN" sz="3600" b="1" dirty="0"/>
              <a:t>10.</a:t>
            </a:r>
            <a:r>
              <a:rPr lang="zh-CN" altLang="en-US" sz="3600" b="1" dirty="0"/>
              <a:t>端详了好一阵子 </a:t>
            </a:r>
            <a:r>
              <a:rPr lang="en-US" altLang="zh-CN" sz="3600" b="1" dirty="0"/>
              <a:t>11.</a:t>
            </a:r>
            <a:r>
              <a:rPr lang="zh-CN" altLang="en-US" sz="3600" b="1" dirty="0"/>
              <a:t>令人赞叹的是</a:t>
            </a:r>
            <a:r>
              <a:rPr lang="en-US" altLang="zh-CN" sz="3600" b="1" dirty="0"/>
              <a:t>12.</a:t>
            </a:r>
            <a:r>
              <a:rPr lang="zh-CN" altLang="en-US" sz="3600" b="1" dirty="0"/>
              <a:t>以独特的方式让它的美跃然于画布之上</a:t>
            </a:r>
            <a:r>
              <a:rPr lang="en-US" altLang="zh-CN" sz="3600" b="1" dirty="0"/>
              <a:t>13.</a:t>
            </a:r>
            <a:r>
              <a:rPr lang="zh-CN" altLang="en-US" sz="3600" b="1" dirty="0"/>
              <a:t>更喜欢做</a:t>
            </a:r>
            <a:r>
              <a:rPr lang="en-US" altLang="zh-CN" sz="3600" b="1" dirty="0"/>
              <a:t>…</a:t>
            </a:r>
            <a:r>
              <a:rPr lang="zh-CN" altLang="en-US" sz="3600" b="1" dirty="0"/>
              <a:t>而不是</a:t>
            </a:r>
            <a:r>
              <a:rPr lang="en-US" altLang="zh-CN" sz="3600" b="1" dirty="0"/>
              <a:t>…(2</a:t>
            </a:r>
            <a:r>
              <a:rPr lang="zh-CN" altLang="en-US" sz="3600" b="1" dirty="0"/>
              <a:t>个</a:t>
            </a:r>
            <a:r>
              <a:rPr lang="en-US" altLang="zh-CN" sz="3600" b="1" dirty="0"/>
              <a:t>)14.</a:t>
            </a:r>
            <a:r>
              <a:rPr lang="zh-CN" altLang="en-US" sz="3600" b="1" dirty="0"/>
              <a:t>一处热闹街区</a:t>
            </a:r>
            <a:r>
              <a:rPr lang="en-US" altLang="zh-CN" sz="3600" b="1" dirty="0"/>
              <a:t>15.</a:t>
            </a:r>
            <a:r>
              <a:rPr lang="zh-CN" altLang="en-US" sz="3600" b="1" dirty="0"/>
              <a:t>近距离</a:t>
            </a:r>
            <a:r>
              <a:rPr lang="en-US" altLang="zh-CN" sz="3600" b="1" dirty="0"/>
              <a:t>16.</a:t>
            </a:r>
            <a:r>
              <a:rPr lang="zh-CN" altLang="en-US" sz="3600" b="1" dirty="0"/>
              <a:t>令我大为震撼</a:t>
            </a:r>
            <a:r>
              <a:rPr lang="en-US" altLang="zh-CN" sz="3600" b="1" dirty="0"/>
              <a:t>17.</a:t>
            </a:r>
            <a:r>
              <a:rPr lang="zh-CN" altLang="en-US" sz="3600" b="1" dirty="0"/>
              <a:t>志趣相投的艺术家</a:t>
            </a:r>
            <a:r>
              <a:rPr lang="en-US" altLang="zh-CN" sz="3600" b="1" dirty="0"/>
              <a:t>18.</a:t>
            </a:r>
            <a:r>
              <a:rPr lang="zh-CN" altLang="en-US" sz="3600" b="1" dirty="0"/>
              <a:t>力求从</a:t>
            </a:r>
            <a:r>
              <a:rPr lang="en-US" altLang="zh-CN" sz="3600" b="1" dirty="0"/>
              <a:t>…</a:t>
            </a:r>
            <a:r>
              <a:rPr lang="zh-CN" altLang="en-US" sz="3600" b="1" dirty="0"/>
              <a:t>的束缚中挣脱出来</a:t>
            </a:r>
            <a:r>
              <a:rPr lang="en-US" altLang="zh-CN" sz="3600" b="1" dirty="0"/>
              <a:t>19.</a:t>
            </a:r>
            <a:r>
              <a:rPr lang="zh-CN" altLang="en-US" sz="3600" b="1" dirty="0"/>
              <a:t>与</a:t>
            </a:r>
            <a:r>
              <a:rPr lang="en-US" altLang="zh-CN" sz="3600" b="1" dirty="0"/>
              <a:t>…</a:t>
            </a:r>
            <a:r>
              <a:rPr lang="zh-CN" altLang="en-US" sz="3600" b="1" dirty="0"/>
              <a:t>不同 </a:t>
            </a:r>
            <a:r>
              <a:rPr lang="en-US" altLang="zh-CN" sz="3600" b="1" dirty="0"/>
              <a:t>20.</a:t>
            </a:r>
            <a:r>
              <a:rPr lang="zh-CN" altLang="en-US" sz="3600" b="1" dirty="0"/>
              <a:t>运用自由的笔法</a:t>
            </a:r>
            <a:r>
              <a:rPr lang="en-US" altLang="zh-CN" sz="3600" b="1" dirty="0"/>
              <a:t>21.…</a:t>
            </a:r>
            <a:r>
              <a:rPr lang="zh-CN" altLang="en-US" sz="3600" b="1" dirty="0"/>
              <a:t>的精髓</a:t>
            </a:r>
            <a:r>
              <a:rPr lang="en-US" altLang="zh-CN" sz="3600" b="1" dirty="0"/>
              <a:t>22.</a:t>
            </a:r>
            <a:r>
              <a:rPr lang="zh-CN" altLang="en-US" sz="3600" b="1" dirty="0"/>
              <a:t>迸发着鲜明的光彩</a:t>
            </a:r>
            <a:r>
              <a:rPr lang="en-US" altLang="zh-CN" sz="3600" b="1" dirty="0"/>
              <a:t>23.</a:t>
            </a:r>
            <a:r>
              <a:rPr lang="zh-CN" altLang="en-US" sz="3600" b="1" dirty="0"/>
              <a:t>启发了新一代的画家</a:t>
            </a:r>
            <a:r>
              <a:rPr lang="en-US" altLang="zh-CN" sz="3600" b="1" dirty="0"/>
              <a:t>24.</a:t>
            </a:r>
            <a:r>
              <a:rPr lang="zh-CN" altLang="en-US" sz="3600" b="1" dirty="0"/>
              <a:t>值得注意的是</a:t>
            </a:r>
            <a:r>
              <a:rPr lang="en-US" altLang="zh-CN" sz="3600" b="1" dirty="0"/>
              <a:t>25.</a:t>
            </a:r>
            <a:r>
              <a:rPr lang="zh-CN" altLang="en-US" sz="3600" b="1" dirty="0"/>
              <a:t>对</a:t>
            </a:r>
            <a:r>
              <a:rPr lang="en-US" altLang="zh-CN" sz="3600" b="1" dirty="0"/>
              <a:t>…</a:t>
            </a:r>
            <a:r>
              <a:rPr lang="zh-CN" altLang="en-US" sz="3600" b="1" dirty="0"/>
              <a:t>产生了持久的影响 </a:t>
            </a:r>
            <a:r>
              <a:rPr lang="en-US" altLang="zh-CN" sz="3600" b="1" dirty="0"/>
              <a:t>26.</a:t>
            </a:r>
            <a:r>
              <a:rPr lang="zh-CN" altLang="en-US" sz="3600" b="1" dirty="0"/>
              <a:t>鼓励着艺术家们从一个全新的视角去看待世界 </a:t>
            </a:r>
            <a:r>
              <a:rPr lang="en-US" altLang="zh-CN" sz="3600" b="1" dirty="0"/>
              <a:t>27.</a:t>
            </a:r>
            <a:r>
              <a:rPr lang="zh-CN" altLang="en-US" sz="3600" b="1" dirty="0"/>
              <a:t>给我留下了难忘的印象 </a:t>
            </a:r>
            <a:r>
              <a:rPr lang="en-US" altLang="zh-CN" sz="3600" b="1" dirty="0"/>
              <a:t>28.</a:t>
            </a:r>
            <a:r>
              <a:rPr lang="zh-CN" altLang="en-US" sz="3600" b="1" dirty="0"/>
              <a:t>从</a:t>
            </a:r>
            <a:r>
              <a:rPr lang="en-US" altLang="zh-CN" sz="3600" b="1" dirty="0"/>
              <a:t>…</a:t>
            </a:r>
            <a:r>
              <a:rPr lang="zh-CN" altLang="en-US" sz="3600" b="1" dirty="0"/>
              <a:t>种寻求安慰 </a:t>
            </a:r>
            <a:r>
              <a:rPr lang="en-US" altLang="zh-CN" sz="3600" b="1" dirty="0"/>
              <a:t>29.</a:t>
            </a:r>
            <a:r>
              <a:rPr lang="zh-CN" altLang="en-US" sz="3600" b="1" dirty="0"/>
              <a:t>展现</a:t>
            </a:r>
            <a:r>
              <a:rPr lang="en-US" altLang="zh-CN" sz="3600" b="1" dirty="0"/>
              <a:t>…</a:t>
            </a:r>
            <a:r>
              <a:rPr lang="zh-CN" altLang="en-US" sz="3600" b="1" dirty="0"/>
              <a:t>的天赋 </a:t>
            </a:r>
            <a:r>
              <a:rPr lang="en-US" altLang="zh-CN" sz="3600" b="1" dirty="0"/>
              <a:t>30.A</a:t>
            </a:r>
            <a:r>
              <a:rPr lang="zh-CN" altLang="en-US" sz="3600" b="1" dirty="0"/>
              <a:t>与</a:t>
            </a:r>
            <a:r>
              <a:rPr lang="en-US" altLang="zh-CN" sz="3600" b="1" dirty="0"/>
              <a:t>B</a:t>
            </a:r>
            <a:r>
              <a:rPr lang="zh-CN" altLang="en-US" sz="3600" b="1" dirty="0"/>
              <a:t>在某方面相似 </a:t>
            </a:r>
            <a:r>
              <a:rPr lang="en-US" altLang="zh-CN" sz="3600" b="1" dirty="0"/>
              <a:t>31.</a:t>
            </a:r>
            <a:r>
              <a:rPr lang="zh-CN" altLang="en-US" sz="3600" b="1" dirty="0"/>
              <a:t>扩大词汇量 </a:t>
            </a:r>
            <a:r>
              <a:rPr lang="en-US" altLang="zh-CN" sz="3600" b="1" dirty="0"/>
              <a:t>32.</a:t>
            </a:r>
            <a:r>
              <a:rPr lang="zh-CN" altLang="en-US" sz="3600" b="1" dirty="0"/>
              <a:t>与</a:t>
            </a:r>
            <a:r>
              <a:rPr lang="en-US" altLang="zh-CN" sz="3600" b="1" dirty="0"/>
              <a:t>…</a:t>
            </a:r>
            <a:r>
              <a:rPr lang="zh-CN" altLang="en-US" sz="3600" b="1" dirty="0"/>
              <a:t>相反 </a:t>
            </a:r>
            <a:r>
              <a:rPr lang="en-US" altLang="zh-CN" sz="3600" b="1" dirty="0"/>
              <a:t>33.</a:t>
            </a:r>
            <a:r>
              <a:rPr lang="zh-CN" altLang="en-US" sz="3600" b="1" dirty="0"/>
              <a:t>坐落在 </a:t>
            </a:r>
            <a:r>
              <a:rPr lang="en-US" altLang="zh-CN" sz="3600" b="1" dirty="0"/>
              <a:t>34.</a:t>
            </a:r>
            <a:r>
              <a:rPr lang="zh-CN" altLang="en-US" sz="3600" b="1" dirty="0"/>
              <a:t>范围从</a:t>
            </a:r>
            <a:r>
              <a:rPr lang="en-US" altLang="zh-CN" sz="3600" b="1" dirty="0"/>
              <a:t>…</a:t>
            </a:r>
            <a:r>
              <a:rPr lang="zh-CN" altLang="en-US" sz="3600" b="1" dirty="0"/>
              <a:t>到</a:t>
            </a:r>
            <a:r>
              <a:rPr lang="en-US" altLang="zh-CN" sz="3600" b="1" dirty="0"/>
              <a:t>… 35.</a:t>
            </a:r>
            <a:r>
              <a:rPr lang="zh-CN" altLang="en-US" sz="3600" b="1" dirty="0"/>
              <a:t>在数字时代 </a:t>
            </a:r>
            <a:r>
              <a:rPr lang="en-US" altLang="zh-CN" sz="3600" b="1" dirty="0"/>
              <a:t>36.</a:t>
            </a:r>
            <a:r>
              <a:rPr lang="zh-CN" altLang="en-US" sz="3600" b="1" dirty="0"/>
              <a:t>惊奇的看到 </a:t>
            </a:r>
            <a:r>
              <a:rPr lang="en-US" altLang="zh-CN" sz="3600" b="1" dirty="0"/>
              <a:t>37.</a:t>
            </a:r>
            <a:r>
              <a:rPr lang="zh-CN" altLang="en-US" sz="3600" b="1" dirty="0"/>
              <a:t>令人吃惊的发现 </a:t>
            </a:r>
            <a:r>
              <a:rPr lang="en-US" altLang="zh-CN" sz="3600" b="1" dirty="0"/>
              <a:t>38.</a:t>
            </a:r>
            <a:r>
              <a:rPr lang="zh-CN" altLang="en-US" sz="3600" b="1" dirty="0"/>
              <a:t>沐浴在</a:t>
            </a:r>
            <a:r>
              <a:rPr lang="en-US" altLang="zh-CN" sz="3600" b="1" dirty="0"/>
              <a:t>…</a:t>
            </a:r>
            <a:r>
              <a:rPr lang="zh-CN" altLang="en-US" sz="3600" b="1" dirty="0"/>
              <a:t>下 </a:t>
            </a:r>
            <a:r>
              <a:rPr lang="en-US" altLang="zh-CN" sz="3600" b="1" dirty="0"/>
              <a:t>39.</a:t>
            </a:r>
            <a:r>
              <a:rPr lang="zh-CN" altLang="en-US" sz="3600" b="1" dirty="0"/>
              <a:t>对拍照感兴趣 </a:t>
            </a:r>
            <a:r>
              <a:rPr lang="en-US" altLang="zh-CN" sz="3600" b="1" dirty="0"/>
              <a:t>40.</a:t>
            </a:r>
            <a:r>
              <a:rPr lang="zh-CN" altLang="en-US" sz="3600" b="1" dirty="0"/>
              <a:t>沦落到做某事 </a:t>
            </a:r>
            <a:r>
              <a:rPr lang="en-US" altLang="zh-CN" sz="3600" b="1" dirty="0"/>
              <a:t>41.</a:t>
            </a:r>
            <a:r>
              <a:rPr lang="zh-CN" altLang="en-US" sz="3600" b="1" dirty="0"/>
              <a:t>感受到微风拂面 </a:t>
            </a:r>
            <a:r>
              <a:rPr lang="en-US" altLang="zh-CN" sz="3600" b="1" dirty="0"/>
              <a:t>42.</a:t>
            </a:r>
            <a:r>
              <a:rPr lang="zh-CN" altLang="en-US" sz="3600" b="1" dirty="0"/>
              <a:t>下定决心做某事 </a:t>
            </a:r>
            <a:r>
              <a:rPr lang="en-US" altLang="zh-CN" sz="3600" b="1" dirty="0"/>
              <a:t>43.</a:t>
            </a:r>
            <a:r>
              <a:rPr lang="zh-CN" altLang="en-US" sz="3600" b="1" dirty="0"/>
              <a:t>免费参观 </a:t>
            </a:r>
            <a:r>
              <a:rPr lang="en-US" altLang="zh-CN" sz="3600" b="1" dirty="0"/>
              <a:t>44.</a:t>
            </a:r>
            <a:r>
              <a:rPr lang="zh-CN" altLang="en-US" sz="3600" b="1" dirty="0"/>
              <a:t>只不过仅仅 </a:t>
            </a:r>
            <a:r>
              <a:rPr lang="en-US" altLang="zh-CN" sz="3600" b="1" dirty="0"/>
              <a:t>45.</a:t>
            </a:r>
            <a:r>
              <a:rPr lang="zh-CN" altLang="en-US" sz="3600" b="1" dirty="0"/>
              <a:t>发布到社交媒体上 </a:t>
            </a:r>
            <a:r>
              <a:rPr lang="en-US" altLang="zh-CN" sz="3600" b="1" dirty="0"/>
              <a:t>46.</a:t>
            </a:r>
            <a:r>
              <a:rPr lang="zh-CN" altLang="en-US" sz="3600" b="1" dirty="0"/>
              <a:t>发起一场运动</a:t>
            </a:r>
            <a:r>
              <a:rPr lang="en-US" altLang="zh-CN" sz="3600" b="1" dirty="0"/>
              <a:t>47.</a:t>
            </a:r>
            <a:r>
              <a:rPr lang="zh-CN" altLang="en-US" sz="3600" b="1" dirty="0"/>
              <a:t>鼓励某人做某事</a:t>
            </a:r>
            <a:r>
              <a:rPr lang="en-US" altLang="zh-CN" sz="3600" b="1" dirty="0"/>
              <a:t>;</a:t>
            </a:r>
            <a:r>
              <a:rPr lang="zh-CN" altLang="en-US" sz="3600" b="1" dirty="0"/>
              <a:t>打消某人做某事的念头 </a:t>
            </a:r>
            <a:r>
              <a:rPr lang="en-US" altLang="zh-CN" sz="3600" b="1" dirty="0"/>
              <a:t>48.</a:t>
            </a:r>
            <a:r>
              <a:rPr lang="zh-CN" altLang="en-US" sz="3600" b="1" dirty="0"/>
              <a:t>有很长的路要走</a:t>
            </a:r>
            <a:r>
              <a:rPr lang="en-US" altLang="zh-CN" sz="3600" b="1" dirty="0"/>
              <a:t>49.</a:t>
            </a:r>
            <a:r>
              <a:rPr lang="zh-CN" altLang="en-US" sz="3600" b="1"/>
              <a:t>铺开陈列</a:t>
            </a:r>
            <a:r>
              <a:rPr lang="en-US" altLang="zh-CN" sz="3600" b="1"/>
              <a:t>50</a:t>
            </a:r>
            <a:r>
              <a:rPr lang="en-US" altLang="zh-CN" sz="3600" b="1" dirty="0"/>
              <a:t>.</a:t>
            </a:r>
            <a:r>
              <a:rPr lang="zh-CN" altLang="en-US" sz="3600" b="1" dirty="0"/>
              <a:t>原材料</a:t>
            </a:r>
            <a:r>
              <a:rPr lang="en-US" altLang="zh-CN" sz="3600" b="1" dirty="0"/>
              <a:t>51.</a:t>
            </a:r>
            <a:r>
              <a:rPr lang="zh-CN" altLang="en-US" sz="3600" b="1" dirty="0"/>
              <a:t>有很多品种</a:t>
            </a:r>
            <a:r>
              <a:rPr lang="en-US" altLang="zh-CN" sz="3600" b="1" dirty="0"/>
              <a:t>52.</a:t>
            </a:r>
            <a:r>
              <a:rPr lang="zh-CN" altLang="en-US" sz="3600" b="1" dirty="0"/>
              <a:t>粘贴</a:t>
            </a:r>
            <a:r>
              <a:rPr lang="en-US" altLang="zh-CN" sz="3600" b="1" dirty="0"/>
              <a:t>(__,__) 53.</a:t>
            </a:r>
            <a:r>
              <a:rPr lang="zh-CN" altLang="en-US" sz="3600" b="1" dirty="0"/>
              <a:t>开始</a:t>
            </a:r>
            <a:r>
              <a:rPr lang="en-US" altLang="zh-CN" sz="3600" b="1" dirty="0"/>
              <a:t>;</a:t>
            </a:r>
            <a:r>
              <a:rPr lang="zh-CN" altLang="en-US" sz="3600" b="1" dirty="0"/>
              <a:t>随后</a:t>
            </a:r>
            <a:r>
              <a:rPr lang="en-US" altLang="zh-CN" sz="3600" b="1" dirty="0"/>
              <a:t>;</a:t>
            </a:r>
            <a:r>
              <a:rPr lang="zh-CN" altLang="en-US" sz="3600" b="1" dirty="0"/>
              <a:t>最后</a:t>
            </a:r>
            <a:endParaRPr lang="zh-CN" altLang="en-US" sz="3600" b="1" dirty="0">
              <a:solidFill>
                <a:srgbClr val="FF0000"/>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First-Aid Kit</a:t>
            </a:r>
            <a:r>
              <a:rPr lang="zh-CN" altLang="en-US" sz="3600" b="1" dirty="0">
                <a:solidFill>
                  <a:srgbClr val="FF0000"/>
                </a:solidFill>
              </a:rPr>
              <a:t>急救箱</a:t>
            </a:r>
            <a:endParaRPr lang="en-US" altLang="zh-CN" sz="3600" b="1" dirty="0">
              <a:solidFill>
                <a:srgbClr val="FF0000"/>
              </a:solidFill>
            </a:endParaRPr>
          </a:p>
          <a:p>
            <a:r>
              <a:rPr lang="en-US" altLang="zh-CN" sz="3600" b="1" dirty="0">
                <a:solidFill>
                  <a:srgbClr val="FF0000"/>
                </a:solidFill>
              </a:rPr>
              <a:t> cleaning wipe</a:t>
            </a:r>
            <a:r>
              <a:rPr lang="zh-CN" altLang="en-US" sz="3600" b="1" dirty="0">
                <a:solidFill>
                  <a:srgbClr val="FF0000"/>
                </a:solidFill>
              </a:rPr>
              <a:t>清洁湿巾</a:t>
            </a:r>
            <a:endParaRPr lang="en-US" altLang="zh-CN" sz="3600" b="1" dirty="0">
              <a:solidFill>
                <a:srgbClr val="FF0000"/>
              </a:solidFill>
            </a:endParaRPr>
          </a:p>
          <a:p>
            <a:r>
              <a:rPr lang="en-US" altLang="zh-CN" sz="3600" b="1" dirty="0">
                <a:solidFill>
                  <a:srgbClr val="FF0000"/>
                </a:solidFill>
              </a:rPr>
              <a:t> alcohol wipe</a:t>
            </a:r>
            <a:r>
              <a:rPr lang="zh-CN" altLang="en-US" sz="3600" b="1" dirty="0">
                <a:solidFill>
                  <a:srgbClr val="FF0000"/>
                </a:solidFill>
              </a:rPr>
              <a:t>酒精湿巾</a:t>
            </a:r>
            <a:endParaRPr lang="en-US" altLang="zh-CN" sz="3600" b="1" dirty="0">
              <a:solidFill>
                <a:srgbClr val="FF0000"/>
              </a:solidFill>
            </a:endParaRPr>
          </a:p>
          <a:p>
            <a:r>
              <a:rPr lang="en-US" altLang="zh-CN" sz="3600" b="1" dirty="0">
                <a:solidFill>
                  <a:srgbClr val="FF0000"/>
                </a:solidFill>
              </a:rPr>
              <a:t> alcohol swab</a:t>
            </a:r>
            <a:r>
              <a:rPr lang="zh-CN" altLang="en-US" sz="3600" b="1" dirty="0">
                <a:solidFill>
                  <a:srgbClr val="FF0000"/>
                </a:solidFill>
              </a:rPr>
              <a:t>酒精棉签</a:t>
            </a:r>
            <a:endParaRPr lang="en-US" altLang="zh-CN" sz="3600" b="1" dirty="0">
              <a:solidFill>
                <a:srgbClr val="FF0000"/>
              </a:solidFill>
            </a:endParaRPr>
          </a:p>
          <a:p>
            <a:r>
              <a:rPr lang="en-US" altLang="zh-CN" sz="3600" b="1" dirty="0">
                <a:solidFill>
                  <a:srgbClr val="FF0000"/>
                </a:solidFill>
              </a:rPr>
              <a:t> bandage</a:t>
            </a:r>
            <a:r>
              <a:rPr lang="zh-CN" altLang="en-US" sz="3600" b="1" dirty="0">
                <a:solidFill>
                  <a:srgbClr val="FF0000"/>
                </a:solidFill>
              </a:rPr>
              <a:t>绷带  </a:t>
            </a:r>
            <a:r>
              <a:rPr lang="en-US" altLang="zh-CN" sz="3600" b="1" dirty="0">
                <a:solidFill>
                  <a:srgbClr val="FF0000"/>
                </a:solidFill>
              </a:rPr>
              <a:t>a sterile bandage</a:t>
            </a:r>
            <a:r>
              <a:rPr lang="zh-CN" altLang="en-US" sz="3600" b="1" dirty="0">
                <a:solidFill>
                  <a:srgbClr val="FF0000"/>
                </a:solidFill>
              </a:rPr>
              <a:t>无菌绷带</a:t>
            </a:r>
            <a:endParaRPr lang="en-US" altLang="zh-CN" sz="3600" b="1" dirty="0">
              <a:solidFill>
                <a:srgbClr val="FF0000"/>
              </a:solidFill>
            </a:endParaRPr>
          </a:p>
          <a:p>
            <a:r>
              <a:rPr lang="en-US" altLang="zh-CN" sz="3600" b="1" dirty="0">
                <a:solidFill>
                  <a:srgbClr val="FF0000"/>
                </a:solidFill>
              </a:rPr>
              <a:t> stop the bleeding</a:t>
            </a:r>
            <a:r>
              <a:rPr lang="zh-CN" altLang="en-US" sz="3600" b="1">
                <a:solidFill>
                  <a:srgbClr val="FF0000"/>
                </a:solidFill>
              </a:rPr>
              <a:t>止血</a:t>
            </a:r>
            <a:endParaRPr lang="en-US" altLang="zh-CN" sz="3600" b="1" dirty="0">
              <a:solidFill>
                <a:srgbClr val="FF0000"/>
              </a:solidFill>
            </a:endParaRPr>
          </a:p>
          <a:p>
            <a:r>
              <a:rPr lang="en-US" altLang="zh-CN" sz="3600" b="1" dirty="0">
                <a:solidFill>
                  <a:srgbClr val="FF0000"/>
                </a:solidFill>
              </a:rPr>
              <a:t>  lift/help sb. up</a:t>
            </a:r>
            <a:r>
              <a:rPr lang="zh-CN" altLang="en-US" sz="3600" b="1" dirty="0">
                <a:solidFill>
                  <a:srgbClr val="FF0000"/>
                </a:solidFill>
              </a:rPr>
              <a:t>扶起某人</a:t>
            </a:r>
            <a:endParaRPr lang="en-US" altLang="zh-CN" sz="3600" b="1" dirty="0">
              <a:solidFill>
                <a:srgbClr val="FF0000"/>
              </a:solidFill>
            </a:endParaRPr>
          </a:p>
          <a:p>
            <a:r>
              <a:rPr lang="en-US" altLang="zh-CN" sz="3600" b="1" dirty="0">
                <a:solidFill>
                  <a:srgbClr val="FF0000"/>
                </a:solidFill>
              </a:rPr>
              <a:t> timely</a:t>
            </a:r>
            <a:r>
              <a:rPr lang="zh-CN" altLang="en-US" sz="3600" b="1" dirty="0">
                <a:solidFill>
                  <a:srgbClr val="FF0000"/>
                </a:solidFill>
              </a:rPr>
              <a:t>及时的</a:t>
            </a:r>
            <a:endParaRPr lang="en-US" altLang="zh-CN" sz="3600" b="1" dirty="0">
              <a:solidFill>
                <a:srgbClr val="FF0000"/>
              </a:solidFill>
            </a:endParaRPr>
          </a:p>
          <a:p>
            <a:r>
              <a:rPr lang="en-US" altLang="zh-CN" sz="3600" b="1" dirty="0">
                <a:solidFill>
                  <a:srgbClr val="FF0000"/>
                </a:solidFill>
              </a:rPr>
              <a:t> deadly/ fatal </a:t>
            </a:r>
            <a:r>
              <a:rPr lang="zh-CN" altLang="en-US" sz="3600" b="1" dirty="0">
                <a:solidFill>
                  <a:srgbClr val="FF0000"/>
                </a:solidFill>
              </a:rPr>
              <a:t>致命的</a:t>
            </a:r>
            <a:endParaRPr lang="en-US" altLang="zh-CN" sz="3600" b="1" dirty="0">
              <a:solidFill>
                <a:srgbClr val="FF0000"/>
              </a:solidFill>
            </a:endParaRPr>
          </a:p>
          <a:p>
            <a:r>
              <a:rPr lang="en-US" altLang="zh-CN" sz="3600" b="1" dirty="0">
                <a:solidFill>
                  <a:srgbClr val="FF0000"/>
                </a:solidFill>
              </a:rPr>
              <a:t> It dawned on sb. that…</a:t>
            </a:r>
            <a:r>
              <a:rPr lang="zh-CN" altLang="en-US" sz="3600" b="1" dirty="0">
                <a:solidFill>
                  <a:srgbClr val="FF0000"/>
                </a:solidFill>
              </a:rPr>
              <a:t>某人突然意识到</a:t>
            </a:r>
            <a:endParaRPr lang="en-US" altLang="zh-CN" sz="3600" b="1" dirty="0">
              <a:solidFill>
                <a:srgbClr val="FF0000"/>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a:r>
              <a:rPr lang="en-US" altLang="zh-CN" sz="3600" b="1" u="sng" dirty="0"/>
              <a:t>Luckily,</a:t>
            </a:r>
            <a:r>
              <a:rPr lang="en-US" altLang="zh-CN" sz="3600" b="1" dirty="0"/>
              <a:t>_</a:t>
            </a:r>
            <a:r>
              <a:rPr lang="en-US" altLang="zh-CN" sz="3600" b="1" u="sng" dirty="0" err="1"/>
              <a:t>he</a:t>
            </a:r>
            <a:r>
              <a:rPr lang="en-US" altLang="zh-CN" sz="3600" b="1" dirty="0" err="1"/>
              <a:t>_</a:t>
            </a:r>
            <a:r>
              <a:rPr lang="en-US" altLang="zh-CN" sz="3600" b="1" u="sng" dirty="0" err="1"/>
              <a:t>had</a:t>
            </a:r>
            <a:r>
              <a:rPr lang="en-US" altLang="zh-CN" sz="3600" b="1" dirty="0" err="1"/>
              <a:t>_</a:t>
            </a:r>
            <a:r>
              <a:rPr lang="en-US" altLang="zh-CN" sz="3600" b="1" u="sng" dirty="0" err="1"/>
              <a:t>a</a:t>
            </a:r>
            <a:r>
              <a:rPr lang="en-US" altLang="zh-CN" sz="3600" b="1" dirty="0" err="1"/>
              <a:t>_</a:t>
            </a:r>
            <a:r>
              <a:rPr lang="en-US" altLang="zh-CN" sz="3600" b="1" u="sng" dirty="0" err="1"/>
              <a:t>first­aid</a:t>
            </a:r>
            <a:r>
              <a:rPr lang="en-US" altLang="zh-CN" sz="3600" b="1" dirty="0" err="1"/>
              <a:t>_</a:t>
            </a:r>
            <a:r>
              <a:rPr lang="en-US" altLang="zh-CN" sz="3600" b="1" u="sng" dirty="0" err="1"/>
              <a:t>kit</a:t>
            </a:r>
            <a:r>
              <a:rPr lang="en-US" altLang="zh-CN" sz="3600" b="1" dirty="0" err="1"/>
              <a:t>_</a:t>
            </a:r>
            <a:r>
              <a:rPr lang="en-US" altLang="zh-CN" sz="3600" b="1" u="sng" dirty="0" err="1"/>
              <a:t>in</a:t>
            </a:r>
            <a:r>
              <a:rPr lang="en-US" altLang="zh-CN" sz="3600" b="1" dirty="0" err="1"/>
              <a:t>_</a:t>
            </a:r>
            <a:r>
              <a:rPr lang="en-US" altLang="zh-CN" sz="3600" b="1" u="sng" dirty="0" err="1"/>
              <a:t>the</a:t>
            </a:r>
            <a:r>
              <a:rPr lang="en-US" altLang="zh-CN" sz="3600" b="1" dirty="0" err="1"/>
              <a:t>_</a:t>
            </a:r>
            <a:r>
              <a:rPr lang="en-US" altLang="zh-CN" sz="3600" b="1" u="sng" dirty="0" err="1"/>
              <a:t>car</a:t>
            </a:r>
            <a:r>
              <a:rPr lang="en-US" altLang="zh-CN" sz="3600" b="1" u="sng" dirty="0"/>
              <a:t>.</a:t>
            </a:r>
            <a:r>
              <a:rPr lang="en-US" altLang="zh-CN" sz="3600" b="1" dirty="0"/>
              <a:t> Immediately, he took out a bandage from the kit, and tied it lightly around the wound. Slowly, he got the disabled into the back seat of the car, while the younger brother sat beside to take care of him. Then the manager folded the wheelchair and put it into the trunk. Starting the car quickly again(</a:t>
            </a:r>
            <a:r>
              <a:rPr lang="zh-CN" altLang="zh-CN" sz="3600" b="1" dirty="0"/>
              <a:t>现在分词做状语</a:t>
            </a:r>
            <a:r>
              <a:rPr lang="en-US" altLang="zh-CN" sz="3600" b="1" dirty="0"/>
              <a:t>), he rushed toward the nearest hospital. On the way, he handed his smart phone to the younger brother to call their parents, and constantly comforted the two brothers to take it easy.</a:t>
            </a:r>
            <a:endParaRPr lang="zh-CN" altLang="zh-CN" sz="3600" b="1"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just"/>
            <a:r>
              <a:rPr lang="en-US" altLang="zh-CN" sz="3600" b="1" u="sng" dirty="0"/>
              <a:t>In</a:t>
            </a:r>
            <a:r>
              <a:rPr lang="en-US" altLang="zh-CN" sz="3600" b="1" dirty="0"/>
              <a:t>_</a:t>
            </a:r>
            <a:r>
              <a:rPr lang="en-US" altLang="zh-CN" sz="3600" b="1" u="sng" dirty="0"/>
              <a:t>fifteen</a:t>
            </a:r>
            <a:r>
              <a:rPr lang="en-US" altLang="zh-CN" sz="3600" b="1" dirty="0"/>
              <a:t>_</a:t>
            </a:r>
            <a:r>
              <a:rPr lang="en-US" altLang="zh-CN" sz="3600" b="1" u="sng" dirty="0"/>
              <a:t>minutes,</a:t>
            </a:r>
            <a:r>
              <a:rPr lang="en-US" altLang="zh-CN" sz="3600" b="1" dirty="0"/>
              <a:t>_</a:t>
            </a:r>
            <a:r>
              <a:rPr lang="en-US" altLang="zh-CN" sz="3600" b="1" u="sng" dirty="0" err="1"/>
              <a:t>they</a:t>
            </a:r>
            <a:r>
              <a:rPr lang="en-US" altLang="zh-CN" sz="3600" b="1" dirty="0" err="1"/>
              <a:t>_</a:t>
            </a:r>
            <a:r>
              <a:rPr lang="en-US" altLang="zh-CN" sz="3600" b="1" u="sng" dirty="0" err="1"/>
              <a:t>arrived</a:t>
            </a:r>
            <a:r>
              <a:rPr lang="en-US" altLang="zh-CN" sz="3600" b="1" dirty="0" err="1"/>
              <a:t>_</a:t>
            </a:r>
            <a:r>
              <a:rPr lang="en-US" altLang="zh-CN" sz="3600" b="1" u="sng" dirty="0" err="1"/>
              <a:t>at</a:t>
            </a:r>
            <a:r>
              <a:rPr lang="en-US" altLang="zh-CN" sz="3600" b="1" dirty="0" err="1"/>
              <a:t>_</a:t>
            </a:r>
            <a:r>
              <a:rPr lang="en-US" altLang="zh-CN" sz="3600" b="1" u="sng" dirty="0" err="1"/>
              <a:t>the</a:t>
            </a:r>
            <a:r>
              <a:rPr lang="en-US" altLang="zh-CN" sz="3600" b="1" dirty="0" err="1"/>
              <a:t>_</a:t>
            </a:r>
            <a:r>
              <a:rPr lang="en-US" altLang="zh-CN" sz="3600" b="1" u="sng" dirty="0" err="1"/>
              <a:t>nearest</a:t>
            </a:r>
            <a:r>
              <a:rPr lang="en-US" altLang="zh-CN" sz="3600" b="1" dirty="0" err="1"/>
              <a:t>_</a:t>
            </a:r>
            <a:r>
              <a:rPr lang="en-US" altLang="zh-CN" sz="3600" b="1" u="sng" dirty="0" err="1"/>
              <a:t>hospital</a:t>
            </a:r>
            <a:r>
              <a:rPr lang="en-US" altLang="zh-CN" sz="3600" b="1" u="sng" dirty="0"/>
              <a:t>.</a:t>
            </a:r>
            <a:r>
              <a:rPr lang="en-US" altLang="zh-CN" sz="3600" b="1" dirty="0"/>
              <a:t> The manager got the wheelchair out, lifted the disabled into it and hurriedly pushed him to the emergency center. When giving the injured boy to the medical workers(when</a:t>
            </a:r>
            <a:r>
              <a:rPr lang="zh-CN" altLang="zh-CN" sz="3600" b="1" dirty="0"/>
              <a:t>引导的时间状语从句的省略</a:t>
            </a:r>
            <a:r>
              <a:rPr lang="en-US" altLang="zh-CN" sz="3600" b="1" dirty="0"/>
              <a:t>), he got released. At this time, the younger boy and his parents came to him and gave him heartfelt thanks. Finally, he drove his car to work, with the side door still dented(with</a:t>
            </a:r>
            <a:r>
              <a:rPr lang="zh-CN" altLang="zh-CN" sz="3600" b="1" dirty="0"/>
              <a:t>的复合结构</a:t>
            </a:r>
            <a:r>
              <a:rPr lang="en-US" altLang="zh-CN" sz="3600" b="1" dirty="0"/>
              <a:t>).</a:t>
            </a:r>
            <a:endParaRPr lang="zh-CN" altLang="zh-CN" sz="3600" b="1" dirty="0"/>
          </a:p>
          <a:p>
            <a:pPr algn="just"/>
            <a:endParaRPr lang="zh-CN" altLang="en-US" sz="3600" b="1" dirty="0">
              <a:solidFill>
                <a:srgbClr val="FF0000"/>
              </a:solidFil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zh-CN" altLang="en-US" sz="3600" b="1" dirty="0">
                <a:solidFill>
                  <a:srgbClr val="FF0000"/>
                </a:solidFill>
              </a:rPr>
              <a:t>练习本</a:t>
            </a:r>
            <a:r>
              <a:rPr lang="en-US" altLang="zh-CN" sz="3600" b="1" dirty="0">
                <a:solidFill>
                  <a:srgbClr val="FF0000"/>
                </a:solidFill>
              </a:rPr>
              <a:t>P60-62</a:t>
            </a:r>
          </a:p>
          <a:p>
            <a:r>
              <a:rPr lang="en-US" altLang="zh-CN" sz="3600" b="1" dirty="0">
                <a:solidFill>
                  <a:srgbClr val="FF0000"/>
                </a:solidFill>
              </a:rPr>
              <a:t>be void of=be short of=be lacking in</a:t>
            </a:r>
            <a:r>
              <a:rPr lang="zh-CN" altLang="en-US" sz="3600" b="1" dirty="0">
                <a:solidFill>
                  <a:srgbClr val="FF0000"/>
                </a:solidFill>
              </a:rPr>
              <a:t>缺乏</a:t>
            </a:r>
            <a:endParaRPr lang="en-US" altLang="zh-CN" sz="3600" b="1" dirty="0">
              <a:solidFill>
                <a:srgbClr val="FF0000"/>
              </a:solidFill>
            </a:endParaRPr>
          </a:p>
          <a:p>
            <a:r>
              <a:rPr lang="en-US" altLang="zh-CN" sz="3600" b="1" dirty="0">
                <a:solidFill>
                  <a:srgbClr val="FF0000"/>
                </a:solidFill>
              </a:rPr>
              <a:t>in person</a:t>
            </a:r>
            <a:r>
              <a:rPr lang="zh-CN" altLang="en-US" sz="3600" b="1" dirty="0">
                <a:solidFill>
                  <a:srgbClr val="FF0000"/>
                </a:solidFill>
              </a:rPr>
              <a:t>亲自当面</a:t>
            </a:r>
            <a:endParaRPr lang="en-US" altLang="zh-CN" sz="3600" b="1" dirty="0">
              <a:solidFill>
                <a:srgbClr val="FF0000"/>
              </a:solidFill>
            </a:endParaRPr>
          </a:p>
          <a:p>
            <a:r>
              <a:rPr lang="en-US" altLang="zh-CN" sz="3600" b="1" dirty="0">
                <a:solidFill>
                  <a:srgbClr val="FF0000"/>
                </a:solidFill>
              </a:rPr>
              <a:t>objectively</a:t>
            </a:r>
            <a:r>
              <a:rPr lang="zh-CN" altLang="en-US" sz="3600" b="1" dirty="0">
                <a:solidFill>
                  <a:srgbClr val="FF0000"/>
                </a:solidFill>
              </a:rPr>
              <a:t>客观地</a:t>
            </a:r>
            <a:r>
              <a:rPr lang="en-US" altLang="zh-CN" sz="3600" b="1" dirty="0">
                <a:solidFill>
                  <a:srgbClr val="FF0000"/>
                </a:solidFill>
              </a:rPr>
              <a:t>  subjectively</a:t>
            </a:r>
            <a:r>
              <a:rPr lang="zh-CN" altLang="en-US" sz="3600" b="1" dirty="0">
                <a:solidFill>
                  <a:srgbClr val="FF0000"/>
                </a:solidFill>
              </a:rPr>
              <a:t>主观地</a:t>
            </a:r>
            <a:endParaRPr lang="en-US" altLang="zh-CN" sz="3600" b="1" dirty="0">
              <a:solidFill>
                <a:srgbClr val="FF0000"/>
              </a:solidFill>
            </a:endParaRPr>
          </a:p>
          <a:p>
            <a:r>
              <a:rPr lang="en-US" altLang="zh-CN" sz="3600" b="1" dirty="0">
                <a:solidFill>
                  <a:srgbClr val="FF0000"/>
                </a:solidFill>
              </a:rPr>
              <a:t>attribution n.</a:t>
            </a:r>
            <a:r>
              <a:rPr lang="zh-CN" altLang="en-US" sz="3600" b="1" dirty="0">
                <a:solidFill>
                  <a:srgbClr val="FF0000"/>
                </a:solidFill>
              </a:rPr>
              <a:t>归因 </a:t>
            </a:r>
            <a:r>
              <a:rPr lang="en-US" altLang="zh-CN" sz="3600" b="1" dirty="0">
                <a:solidFill>
                  <a:srgbClr val="FF0000"/>
                </a:solidFill>
              </a:rPr>
              <a:t>contexts of reception</a:t>
            </a:r>
            <a:r>
              <a:rPr lang="zh-CN" altLang="en-US" sz="3600" b="1" dirty="0">
                <a:solidFill>
                  <a:srgbClr val="FF0000"/>
                </a:solidFill>
              </a:rPr>
              <a:t>接收的语境</a:t>
            </a:r>
            <a:endParaRPr lang="en-US" altLang="zh-CN" sz="3600" b="1" dirty="0">
              <a:solidFill>
                <a:srgbClr val="FF0000"/>
              </a:solidFill>
            </a:endParaRPr>
          </a:p>
          <a:p>
            <a:r>
              <a:rPr lang="en-US" altLang="zh-CN" sz="3600" b="1" dirty="0">
                <a:solidFill>
                  <a:srgbClr val="FF0000"/>
                </a:solidFill>
              </a:rPr>
              <a:t>appreciation n.</a:t>
            </a:r>
            <a:r>
              <a:rPr lang="zh-CN" altLang="en-US" sz="3600" b="1" dirty="0">
                <a:solidFill>
                  <a:srgbClr val="FF0000"/>
                </a:solidFill>
              </a:rPr>
              <a:t>鉴赏</a:t>
            </a:r>
            <a:r>
              <a:rPr lang="en-US" altLang="zh-CN" sz="3600" b="1" dirty="0">
                <a:solidFill>
                  <a:srgbClr val="FF0000"/>
                </a:solidFill>
              </a:rPr>
              <a:t>;</a:t>
            </a:r>
            <a:r>
              <a:rPr lang="zh-CN" altLang="en-US" sz="3600" b="1" dirty="0">
                <a:solidFill>
                  <a:srgbClr val="FF0000"/>
                </a:solidFill>
              </a:rPr>
              <a:t>感激</a:t>
            </a:r>
            <a:r>
              <a:rPr lang="en-US" altLang="zh-CN" sz="3600" b="1" dirty="0">
                <a:solidFill>
                  <a:srgbClr val="FF0000"/>
                </a:solidFill>
              </a:rPr>
              <a:t> interpretation n.</a:t>
            </a:r>
            <a:r>
              <a:rPr lang="zh-CN" altLang="en-US" sz="3600" b="1" dirty="0">
                <a:solidFill>
                  <a:srgbClr val="FF0000"/>
                </a:solidFill>
              </a:rPr>
              <a:t>理解说明</a:t>
            </a:r>
            <a:endParaRPr lang="en-US" altLang="zh-CN" sz="3600" b="1" dirty="0">
              <a:solidFill>
                <a:srgbClr val="FF0000"/>
              </a:solidFill>
            </a:endParaRPr>
          </a:p>
          <a:p>
            <a:r>
              <a:rPr lang="en-US" altLang="zh-CN" sz="3600" b="1" dirty="0">
                <a:solidFill>
                  <a:srgbClr val="FF0000"/>
                </a:solidFill>
              </a:rPr>
              <a:t>Beauty is in the eye of the beholder.</a:t>
            </a:r>
            <a:r>
              <a:rPr lang="zh-CN" altLang="en-US" sz="3600" b="1" dirty="0">
                <a:solidFill>
                  <a:srgbClr val="FF0000"/>
                </a:solidFill>
              </a:rPr>
              <a:t>情人眼里出西施。</a:t>
            </a:r>
            <a:endParaRPr lang="en-US" altLang="zh-CN" sz="3600" b="1" dirty="0">
              <a:solidFill>
                <a:srgbClr val="FF0000"/>
              </a:solidFil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zh-CN" altLang="en-US" sz="3600" b="1" dirty="0">
                <a:solidFill>
                  <a:srgbClr val="FF0000"/>
                </a:solidFill>
              </a:rPr>
              <a:t>卷三</a:t>
            </a:r>
            <a:r>
              <a:rPr lang="en-US" altLang="zh-CN" sz="3600" b="1" dirty="0">
                <a:solidFill>
                  <a:srgbClr val="FF0000"/>
                </a:solidFill>
              </a:rPr>
              <a:t> </a:t>
            </a:r>
            <a:r>
              <a:rPr lang="en-US" altLang="zh-CN" sz="3600" b="1" dirty="0">
                <a:solidFill>
                  <a:srgbClr val="7030A0"/>
                </a:solidFill>
              </a:rPr>
              <a:t>our society favors the outgoing personality.</a:t>
            </a:r>
            <a:r>
              <a:rPr lang="zh-CN" altLang="en-US" sz="3600" b="1" dirty="0">
                <a:solidFill>
                  <a:srgbClr val="7030A0"/>
                </a:solidFill>
              </a:rPr>
              <a:t>社会喜欢外向的性格</a:t>
            </a:r>
            <a:r>
              <a:rPr lang="en-US" altLang="zh-CN" sz="3600" b="1" dirty="0">
                <a:solidFill>
                  <a:srgbClr val="7030A0"/>
                </a:solidFill>
              </a:rPr>
              <a:t> There is no fault in being introverted.</a:t>
            </a:r>
            <a:r>
              <a:rPr lang="zh-CN" altLang="en-US" sz="3600" b="1" dirty="0">
                <a:solidFill>
                  <a:srgbClr val="7030A0"/>
                </a:solidFill>
              </a:rPr>
              <a:t>内向没有错</a:t>
            </a:r>
            <a:r>
              <a:rPr lang="en-US" altLang="zh-CN" sz="3600" b="1" dirty="0">
                <a:solidFill>
                  <a:srgbClr val="FF0000"/>
                </a:solidFill>
              </a:rPr>
              <a:t> Instead,</a:t>
            </a:r>
            <a:r>
              <a:rPr lang="zh-CN" altLang="en-US" sz="3600" b="1" dirty="0">
                <a:solidFill>
                  <a:srgbClr val="FF0000"/>
                </a:solidFill>
              </a:rPr>
              <a:t>相反</a:t>
            </a:r>
            <a:r>
              <a:rPr lang="en-US" altLang="zh-CN" sz="3600" b="1" dirty="0">
                <a:solidFill>
                  <a:srgbClr val="FF0000"/>
                </a:solidFill>
              </a:rPr>
              <a:t> appreciate introverts </a:t>
            </a:r>
            <a:r>
              <a:rPr lang="en-US" altLang="zh-CN" sz="3600" b="1" dirty="0">
                <a:solidFill>
                  <a:srgbClr val="7030A0"/>
                </a:solidFill>
              </a:rPr>
              <a:t>for various reasons</a:t>
            </a:r>
            <a:r>
              <a:rPr lang="zh-CN" altLang="en-US" sz="3600" b="1" dirty="0">
                <a:solidFill>
                  <a:srgbClr val="7030A0"/>
                </a:solidFill>
              </a:rPr>
              <a:t>出于各种原因欣赏内向的人</a:t>
            </a:r>
          </a:p>
          <a:p>
            <a:r>
              <a:rPr lang="en-US" altLang="zh-CN" sz="3600" b="1" dirty="0">
                <a:solidFill>
                  <a:srgbClr val="7030A0"/>
                </a:solidFill>
              </a:rPr>
              <a:t>introverts have hidden powers</a:t>
            </a:r>
            <a:r>
              <a:rPr lang="zh-CN" altLang="en-US" sz="3600" b="1" dirty="0">
                <a:solidFill>
                  <a:srgbClr val="7030A0"/>
                </a:solidFill>
              </a:rPr>
              <a:t>内向的人有隐藏的力量</a:t>
            </a:r>
            <a:r>
              <a:rPr lang="en-US" altLang="zh-CN" sz="3600" b="1" dirty="0">
                <a:solidFill>
                  <a:srgbClr val="FF0000"/>
                </a:solidFill>
              </a:rPr>
              <a:t>---  </a:t>
            </a:r>
          </a:p>
          <a:p>
            <a:r>
              <a:rPr lang="en-US" altLang="zh-CN" sz="3600" b="1" dirty="0">
                <a:solidFill>
                  <a:srgbClr val="FF0000"/>
                </a:solidFill>
              </a:rPr>
              <a:t>be clueless about sth.</a:t>
            </a:r>
            <a:r>
              <a:rPr lang="zh-CN" altLang="en-US" sz="3600" b="1" dirty="0">
                <a:solidFill>
                  <a:srgbClr val="FF0000"/>
                </a:solidFill>
              </a:rPr>
              <a:t>对</a:t>
            </a:r>
            <a:r>
              <a:rPr lang="en-US" altLang="zh-CN" sz="3600" b="1" dirty="0">
                <a:solidFill>
                  <a:srgbClr val="FF0000"/>
                </a:solidFill>
              </a:rPr>
              <a:t>…</a:t>
            </a:r>
            <a:r>
              <a:rPr lang="zh-CN" altLang="en-US" sz="3600" b="1" dirty="0">
                <a:solidFill>
                  <a:srgbClr val="FF0000"/>
                </a:solidFill>
              </a:rPr>
              <a:t>一窍不通</a:t>
            </a:r>
            <a:r>
              <a:rPr lang="en-US" altLang="zh-CN" sz="3600" b="1" dirty="0">
                <a:solidFill>
                  <a:srgbClr val="FF0000"/>
                </a:solidFill>
              </a:rPr>
              <a:t>;</a:t>
            </a:r>
            <a:r>
              <a:rPr lang="zh-CN" altLang="en-US" sz="3600" b="1" dirty="0">
                <a:solidFill>
                  <a:srgbClr val="FF0000"/>
                </a:solidFill>
              </a:rPr>
              <a:t>蠢笨的</a:t>
            </a:r>
            <a:endParaRPr lang="en-US" altLang="zh-CN" sz="3600" b="1" dirty="0">
              <a:solidFill>
                <a:srgbClr val="FF0000"/>
              </a:solidFill>
            </a:endParaRPr>
          </a:p>
          <a:p>
            <a:r>
              <a:rPr lang="en-US" altLang="zh-CN" sz="3600" b="1" dirty="0">
                <a:solidFill>
                  <a:srgbClr val="FF0000"/>
                </a:solidFill>
              </a:rPr>
              <a:t> zone out</a:t>
            </a:r>
            <a:r>
              <a:rPr lang="zh-CN" altLang="en-US" sz="3600" b="1" dirty="0">
                <a:solidFill>
                  <a:srgbClr val="FF0000"/>
                </a:solidFill>
              </a:rPr>
              <a:t>走神</a:t>
            </a:r>
            <a:endParaRPr lang="en-US" altLang="zh-CN" sz="3600" b="1" dirty="0">
              <a:solidFill>
                <a:srgbClr val="FF0000"/>
              </a:solidFill>
            </a:endParaRPr>
          </a:p>
          <a:p>
            <a:r>
              <a:rPr lang="en-US" altLang="zh-CN" sz="3600" b="1" dirty="0">
                <a:solidFill>
                  <a:srgbClr val="FF0000"/>
                </a:solidFill>
                <a:highlight>
                  <a:srgbClr val="FFFF00"/>
                </a:highlight>
              </a:rPr>
              <a:t> </a:t>
            </a:r>
            <a:r>
              <a:rPr lang="en-US" altLang="zh-CN" sz="3600" b="1" u="sng" dirty="0">
                <a:solidFill>
                  <a:srgbClr val="FF0000"/>
                </a:solidFill>
                <a:highlight>
                  <a:srgbClr val="FFFF00"/>
                </a:highlight>
              </a:rPr>
              <a:t>the ability to </a:t>
            </a:r>
            <a:r>
              <a:rPr lang="en-US" altLang="zh-CN" sz="3600" b="1" dirty="0">
                <a:solidFill>
                  <a:schemeClr val="tx1"/>
                </a:solidFill>
              </a:rPr>
              <a:t>listen to---</a:t>
            </a:r>
            <a:r>
              <a:rPr lang="en-US" altLang="zh-CN" sz="3600" b="1" u="sng" dirty="0">
                <a:solidFill>
                  <a:srgbClr val="FF0000"/>
                </a:solidFill>
                <a:highlight>
                  <a:srgbClr val="FFFF00"/>
                </a:highlight>
              </a:rPr>
              <a:t>this is</a:t>
            </a:r>
            <a:r>
              <a:rPr lang="en-US" altLang="zh-CN" sz="3600" b="1" dirty="0">
                <a:solidFill>
                  <a:srgbClr val="FF0000"/>
                </a:solidFill>
                <a:highlight>
                  <a:srgbClr val="FFFF00"/>
                </a:highlight>
              </a:rPr>
              <a:t> </a:t>
            </a:r>
            <a:r>
              <a:rPr lang="en-US" altLang="zh-CN" sz="3600" b="1" dirty="0">
                <a:solidFill>
                  <a:schemeClr val="tx1"/>
                </a:solidFill>
              </a:rPr>
              <a:t>what our introverts</a:t>
            </a:r>
            <a:r>
              <a:rPr lang="en-US" altLang="zh-CN" sz="3600" b="1" dirty="0">
                <a:solidFill>
                  <a:srgbClr val="FF0000"/>
                </a:solidFill>
              </a:rPr>
              <a:t> </a:t>
            </a:r>
            <a:r>
              <a:rPr lang="en-US" altLang="zh-CN" sz="3600" b="1" dirty="0">
                <a:solidFill>
                  <a:srgbClr val="FF0000"/>
                </a:solidFill>
                <a:highlight>
                  <a:srgbClr val="FFFF00"/>
                </a:highlight>
              </a:rPr>
              <a:t>are born with</a:t>
            </a:r>
            <a:r>
              <a:rPr lang="zh-CN" altLang="en-US" sz="3600" b="1" dirty="0">
                <a:solidFill>
                  <a:srgbClr val="FF0000"/>
                </a:solidFill>
                <a:highlight>
                  <a:srgbClr val="FFFF00"/>
                </a:highlight>
              </a:rPr>
              <a:t>与生俱来的</a:t>
            </a:r>
            <a:endParaRPr lang="en-US" altLang="zh-CN" sz="3600" b="1" dirty="0">
              <a:solidFill>
                <a:srgbClr val="FF0000"/>
              </a:solidFill>
              <a:highlight>
                <a:srgbClr val="FFFF00"/>
              </a:highlight>
            </a:endParaRPr>
          </a:p>
          <a:p>
            <a:r>
              <a:rPr lang="en-US" altLang="zh-CN" sz="3600" b="1" dirty="0">
                <a:solidFill>
                  <a:srgbClr val="FF0000"/>
                </a:solidFill>
              </a:rPr>
              <a:t> assist sb in doing sth.</a:t>
            </a:r>
            <a:r>
              <a:rPr lang="zh-CN" altLang="en-US" sz="3600" b="1" dirty="0">
                <a:solidFill>
                  <a:srgbClr val="FF0000"/>
                </a:solidFill>
              </a:rPr>
              <a:t>协助某人做某事</a:t>
            </a:r>
            <a:endParaRPr lang="en-US" altLang="zh-CN" sz="3600" b="1" dirty="0">
              <a:solidFill>
                <a:srgbClr val="FF0000"/>
              </a:solidFill>
            </a:endParaRPr>
          </a:p>
          <a:p>
            <a:r>
              <a:rPr lang="en-US" altLang="zh-CN" sz="3600" b="1" u="sng" dirty="0">
                <a:solidFill>
                  <a:srgbClr val="FF0000"/>
                </a:solidFill>
                <a:highlight>
                  <a:srgbClr val="FFFF00"/>
                </a:highlight>
              </a:rPr>
              <a:t> Introverts</a:t>
            </a:r>
            <a:r>
              <a:rPr lang="en-US" altLang="zh-CN" sz="3600" b="1" u="sng" dirty="0">
                <a:solidFill>
                  <a:srgbClr val="FF0000"/>
                </a:solidFill>
              </a:rPr>
              <a:t> </a:t>
            </a:r>
            <a:r>
              <a:rPr lang="en-US" altLang="zh-CN" sz="3600" b="1" dirty="0">
                <a:solidFill>
                  <a:srgbClr val="FF0000"/>
                </a:solidFill>
              </a:rPr>
              <a:t>are self-recharge powerhouses.</a:t>
            </a:r>
            <a:r>
              <a:rPr lang="zh-CN" altLang="en-US" sz="3600" b="1" dirty="0">
                <a:solidFill>
                  <a:schemeClr val="tx1"/>
                </a:solidFill>
              </a:rPr>
              <a:t>内向的人是自我充电的能量源。</a:t>
            </a:r>
            <a:r>
              <a:rPr lang="en-US" altLang="zh-CN" sz="3600" b="1" u="sng" dirty="0">
                <a:solidFill>
                  <a:srgbClr val="FF0000"/>
                </a:solidFill>
              </a:rPr>
              <a:t> </a:t>
            </a:r>
            <a:r>
              <a:rPr lang="en-US" altLang="zh-CN" sz="3600" b="1" u="sng" dirty="0">
                <a:solidFill>
                  <a:srgbClr val="FF0000"/>
                </a:solidFill>
                <a:highlight>
                  <a:srgbClr val="FFFF00"/>
                </a:highlight>
              </a:rPr>
              <a:t>they</a:t>
            </a:r>
            <a:r>
              <a:rPr lang="en-US" altLang="zh-CN" sz="3600" b="1" dirty="0">
                <a:solidFill>
                  <a:srgbClr val="FF0000"/>
                </a:solidFill>
              </a:rPr>
              <a:t>... </a:t>
            </a:r>
            <a:r>
              <a:rPr lang="en-US" altLang="zh-CN" sz="3600" b="1" u="sng" dirty="0">
                <a:solidFill>
                  <a:srgbClr val="FF0000"/>
                </a:solidFill>
              </a:rPr>
              <a:t>their energy</a:t>
            </a:r>
            <a:r>
              <a:rPr lang="en-US" altLang="zh-CN" sz="3600" b="1" dirty="0">
                <a:solidFill>
                  <a:srgbClr val="FF0000"/>
                </a:solidFill>
              </a:rPr>
              <a:t> </a:t>
            </a:r>
            <a:r>
              <a:rPr lang="en-US" altLang="zh-CN" sz="3600" b="1" dirty="0">
                <a:solidFill>
                  <a:schemeClr val="tx1"/>
                </a:solidFill>
              </a:rPr>
              <a:t>is found through loneliness</a:t>
            </a:r>
            <a:r>
              <a:rPr lang="en-US" altLang="zh-CN" sz="3600" b="1" dirty="0">
                <a:solidFill>
                  <a:srgbClr val="FF0000"/>
                </a:solidFill>
              </a:rPr>
              <a:t>.</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7030A0"/>
                </a:solidFill>
              </a:rPr>
              <a:t> determined</a:t>
            </a:r>
            <a:r>
              <a:rPr lang="zh-CN" altLang="en-US" sz="3600" b="1" dirty="0">
                <a:solidFill>
                  <a:srgbClr val="7030A0"/>
                </a:solidFill>
              </a:rPr>
              <a:t>有决心的</a:t>
            </a:r>
            <a:r>
              <a:rPr lang="en-US" altLang="zh-CN" sz="3600" b="1" dirty="0">
                <a:solidFill>
                  <a:srgbClr val="7030A0"/>
                </a:solidFill>
              </a:rPr>
              <a:t> mindful</a:t>
            </a:r>
            <a:r>
              <a:rPr lang="zh-CN" altLang="en-US" sz="3600" b="1" dirty="0">
                <a:solidFill>
                  <a:srgbClr val="7030A0"/>
                </a:solidFill>
              </a:rPr>
              <a:t>留心的</a:t>
            </a:r>
            <a:r>
              <a:rPr lang="en-US" altLang="zh-CN" sz="3600" b="1" dirty="0">
                <a:solidFill>
                  <a:srgbClr val="7030A0"/>
                </a:solidFill>
              </a:rPr>
              <a:t>hardworking</a:t>
            </a:r>
            <a:r>
              <a:rPr lang="zh-CN" altLang="en-US" sz="3600" b="1" dirty="0">
                <a:solidFill>
                  <a:srgbClr val="7030A0"/>
                </a:solidFill>
              </a:rPr>
              <a:t>努力的</a:t>
            </a:r>
            <a:endParaRPr lang="en-US" altLang="zh-CN" sz="3600" b="1" dirty="0">
              <a:solidFill>
                <a:srgbClr val="7030A0"/>
              </a:solidFill>
            </a:endParaRPr>
          </a:p>
          <a:p>
            <a:r>
              <a:rPr lang="en-US" altLang="zh-CN" sz="3600" b="1" dirty="0">
                <a:solidFill>
                  <a:srgbClr val="FF0000"/>
                </a:solidFill>
              </a:rPr>
              <a:t> intelligence differs</a:t>
            </a:r>
            <a:r>
              <a:rPr lang="zh-CN" altLang="en-US" sz="3600" b="1" dirty="0">
                <a:solidFill>
                  <a:srgbClr val="FF0000"/>
                </a:solidFill>
              </a:rPr>
              <a:t>智商是不同的</a:t>
            </a:r>
            <a:endParaRPr lang="en-US" altLang="zh-CN" sz="3600" b="1" dirty="0">
              <a:solidFill>
                <a:srgbClr val="FF0000"/>
              </a:solidFill>
            </a:endParaRPr>
          </a:p>
          <a:p>
            <a:r>
              <a:rPr lang="en-US" altLang="zh-CN" sz="3600" b="1" dirty="0">
                <a:solidFill>
                  <a:srgbClr val="FF0000"/>
                </a:solidFill>
              </a:rPr>
              <a:t> in one’s interest</a:t>
            </a:r>
            <a:r>
              <a:rPr lang="zh-CN" altLang="en-US" sz="3600" b="1" dirty="0">
                <a:solidFill>
                  <a:srgbClr val="FF0000"/>
                </a:solidFill>
              </a:rPr>
              <a:t>为了某人的利益</a:t>
            </a:r>
            <a:r>
              <a:rPr lang="en-US" altLang="zh-CN" sz="3600" b="1" dirty="0">
                <a:solidFill>
                  <a:srgbClr val="FF0000"/>
                </a:solidFill>
              </a:rPr>
              <a:t>  </a:t>
            </a:r>
          </a:p>
          <a:p>
            <a:r>
              <a:rPr lang="en-US" altLang="zh-CN" sz="3600" b="1" dirty="0">
                <a:solidFill>
                  <a:srgbClr val="FF0000"/>
                </a:solidFill>
              </a:rPr>
              <a:t> be cruel to do</a:t>
            </a:r>
            <a:r>
              <a:rPr lang="zh-CN" altLang="en-US" sz="3600" b="1" dirty="0">
                <a:solidFill>
                  <a:srgbClr val="FF0000"/>
                </a:solidFill>
              </a:rPr>
              <a:t>残忍</a:t>
            </a:r>
            <a:r>
              <a:rPr lang="en-US" altLang="zh-CN" sz="3600" b="1" dirty="0">
                <a:solidFill>
                  <a:srgbClr val="FF0000"/>
                </a:solidFill>
              </a:rPr>
              <a:t> cruelty n.</a:t>
            </a:r>
          </a:p>
          <a:p>
            <a:r>
              <a:rPr lang="en-US" altLang="zh-CN" sz="3600" b="1" dirty="0">
                <a:solidFill>
                  <a:srgbClr val="FF0000"/>
                </a:solidFill>
              </a:rPr>
              <a:t> outstanding</a:t>
            </a:r>
            <a:r>
              <a:rPr lang="zh-CN" altLang="en-US" sz="3600" b="1" dirty="0">
                <a:solidFill>
                  <a:srgbClr val="FF0000"/>
                </a:solidFill>
              </a:rPr>
              <a:t>优秀杰出的</a:t>
            </a:r>
            <a:r>
              <a:rPr lang="en-US" altLang="zh-CN" sz="3600" b="1" dirty="0">
                <a:solidFill>
                  <a:srgbClr val="FF0000"/>
                </a:solidFill>
              </a:rPr>
              <a:t>  hit/blame sb.</a:t>
            </a:r>
            <a:r>
              <a:rPr lang="zh-CN" altLang="en-US" sz="3600" b="1" dirty="0">
                <a:solidFill>
                  <a:srgbClr val="FF0000"/>
                </a:solidFill>
              </a:rPr>
              <a:t>打击</a:t>
            </a:r>
            <a:r>
              <a:rPr lang="en-US" altLang="zh-CN" sz="3600" b="1" dirty="0">
                <a:solidFill>
                  <a:srgbClr val="FF0000"/>
                </a:solidFill>
              </a:rPr>
              <a:t>/</a:t>
            </a:r>
            <a:r>
              <a:rPr lang="zh-CN" altLang="en-US" sz="3600" b="1" dirty="0">
                <a:solidFill>
                  <a:srgbClr val="FF0000"/>
                </a:solidFill>
              </a:rPr>
              <a:t>谴责某人</a:t>
            </a:r>
            <a:endParaRPr lang="en-US" altLang="zh-CN" sz="3600" b="1" dirty="0">
              <a:solidFill>
                <a:srgbClr val="FF0000"/>
              </a:solidFill>
            </a:endParaRPr>
          </a:p>
          <a:p>
            <a:r>
              <a:rPr lang="en-US" altLang="zh-CN" sz="3600" b="1" dirty="0">
                <a:solidFill>
                  <a:srgbClr val="FF0000"/>
                </a:solidFill>
              </a:rPr>
              <a:t> reduce the burden</a:t>
            </a:r>
            <a:r>
              <a:rPr lang="zh-CN" altLang="en-US" sz="3600" b="1" dirty="0">
                <a:solidFill>
                  <a:srgbClr val="FF0000"/>
                </a:solidFill>
              </a:rPr>
              <a:t>减轻负担</a:t>
            </a:r>
            <a:endParaRPr lang="en-US" altLang="zh-CN" sz="3600" b="1" dirty="0">
              <a:solidFill>
                <a:srgbClr val="FF0000"/>
              </a:solidFill>
            </a:endParaRPr>
          </a:p>
          <a:p>
            <a:r>
              <a:rPr lang="en-US" altLang="zh-CN" sz="3600" b="1" dirty="0">
                <a:solidFill>
                  <a:srgbClr val="FF0000"/>
                </a:solidFill>
              </a:rPr>
              <a:t> suffer from the pains</a:t>
            </a:r>
            <a:r>
              <a:rPr lang="zh-CN" altLang="en-US" sz="3600" b="1" dirty="0">
                <a:solidFill>
                  <a:srgbClr val="FF0000"/>
                </a:solidFill>
              </a:rPr>
              <a:t>遭受痛苦</a:t>
            </a:r>
          </a:p>
          <a:p>
            <a:r>
              <a:rPr lang="en-US" altLang="zh-CN" sz="3600" b="1" dirty="0">
                <a:solidFill>
                  <a:schemeClr val="tx1"/>
                </a:solidFill>
              </a:rPr>
              <a:t> </a:t>
            </a:r>
            <a:r>
              <a:rPr lang="zh-CN" altLang="en-US" sz="3600" b="1" dirty="0">
                <a:solidFill>
                  <a:schemeClr val="tx1"/>
                </a:solidFill>
              </a:rPr>
              <a:t>小鸟可以快速飞高，避开浪潮</a:t>
            </a:r>
            <a:r>
              <a:rPr lang="en-US" altLang="zh-CN" sz="3600" b="1" dirty="0">
                <a:solidFill>
                  <a:schemeClr val="tx1"/>
                </a:solidFill>
              </a:rPr>
              <a:t> </a:t>
            </a:r>
            <a:r>
              <a:rPr lang="en-US" altLang="zh-CN" sz="3600" b="1" dirty="0">
                <a:solidFill>
                  <a:srgbClr val="FF0000"/>
                </a:solidFill>
                <a:sym typeface="+mn-ea"/>
              </a:rPr>
              <a:t>process</a:t>
            </a:r>
            <a:r>
              <a:rPr lang="zh-CN" altLang="en-US" sz="3600" b="1" dirty="0">
                <a:solidFill>
                  <a:srgbClr val="FF0000"/>
                </a:solidFill>
                <a:sym typeface="+mn-ea"/>
              </a:rPr>
              <a:t>过程</a:t>
            </a:r>
            <a:endParaRPr lang="zh-CN" altLang="en-US" sz="3600" b="1" dirty="0">
              <a:solidFill>
                <a:schemeClr val="tx1"/>
              </a:solidFill>
            </a:endParaRPr>
          </a:p>
          <a:p>
            <a:r>
              <a:rPr lang="en-US" altLang="zh-CN" sz="3600" b="1" dirty="0">
                <a:solidFill>
                  <a:srgbClr val="FF0000"/>
                </a:solidFill>
              </a:rPr>
              <a:t>assignment</a:t>
            </a:r>
            <a:r>
              <a:rPr lang="zh-CN" altLang="en-US" sz="3600" b="1" dirty="0">
                <a:solidFill>
                  <a:srgbClr val="FF0000"/>
                </a:solidFill>
              </a:rPr>
              <a:t>任务</a:t>
            </a:r>
            <a:r>
              <a:rPr lang="en-US" altLang="zh-CN" sz="3600" b="1" dirty="0">
                <a:solidFill>
                  <a:srgbClr val="FF0000"/>
                </a:solidFill>
              </a:rPr>
              <a:t> acquisition</a:t>
            </a:r>
            <a:r>
              <a:rPr lang="zh-CN" altLang="en-US" sz="3600" b="1" dirty="0">
                <a:solidFill>
                  <a:srgbClr val="FF0000"/>
                </a:solidFill>
              </a:rPr>
              <a:t>习得</a:t>
            </a:r>
            <a:r>
              <a:rPr lang="en-US" altLang="zh-CN" sz="3600" b="1" dirty="0">
                <a:solidFill>
                  <a:srgbClr val="FF0000"/>
                </a:solidFill>
              </a:rPr>
              <a:t> project</a:t>
            </a:r>
            <a:r>
              <a:rPr lang="zh-CN" altLang="en-US" sz="3600" b="1" dirty="0">
                <a:solidFill>
                  <a:srgbClr val="FF0000"/>
                </a:solidFill>
              </a:rPr>
              <a:t>项目</a:t>
            </a:r>
          </a:p>
          <a:p>
            <a:r>
              <a:rPr lang="zh-CN" altLang="en-US" sz="3600" b="1" dirty="0">
                <a:solidFill>
                  <a:schemeClr val="tx1"/>
                </a:solidFill>
              </a:rPr>
              <a:t>最终飞越无尽海洋的鸟正是笨拙的海鸥</a:t>
            </a:r>
          </a:p>
          <a:p>
            <a:r>
              <a:rPr lang="en-US" altLang="zh-CN" sz="3600" b="1" dirty="0">
                <a:solidFill>
                  <a:srgbClr val="FF0000"/>
                </a:solidFill>
              </a:rPr>
              <a:t>swifter</a:t>
            </a:r>
            <a:r>
              <a:rPr lang="zh-CN" altLang="en-US" sz="3600" b="1" dirty="0">
                <a:solidFill>
                  <a:srgbClr val="FF0000"/>
                </a:solidFill>
              </a:rPr>
              <a:t>更迅速的</a:t>
            </a:r>
            <a:r>
              <a:rPr lang="en-US" altLang="zh-CN" sz="3600" b="1" dirty="0">
                <a:solidFill>
                  <a:schemeClr val="tx1"/>
                </a:solidFill>
              </a:rPr>
              <a:t>  </a:t>
            </a:r>
            <a:r>
              <a:rPr lang="en-US" altLang="zh-CN" sz="3600" b="1" dirty="0">
                <a:solidFill>
                  <a:srgbClr val="FF0000"/>
                </a:solidFill>
                <a:sym typeface="+mn-ea"/>
              </a:rPr>
              <a:t>moving</a:t>
            </a:r>
            <a:r>
              <a:rPr lang="zh-CN" altLang="en-US" sz="3600" b="1" dirty="0">
                <a:solidFill>
                  <a:srgbClr val="FF0000"/>
                </a:solidFill>
                <a:sym typeface="+mn-ea"/>
              </a:rPr>
              <a:t>令人感动的</a:t>
            </a:r>
          </a:p>
          <a:p>
            <a:r>
              <a:rPr lang="en-US" altLang="zh-CN" sz="3600" b="1" dirty="0">
                <a:solidFill>
                  <a:schemeClr val="tx1"/>
                </a:solidFill>
              </a:rPr>
              <a:t>emotional</a:t>
            </a:r>
            <a:r>
              <a:rPr lang="zh-CN" altLang="en-US" sz="3600" b="1" dirty="0">
                <a:solidFill>
                  <a:schemeClr val="tx1"/>
                </a:solidFill>
              </a:rPr>
              <a:t>情感的</a:t>
            </a:r>
            <a:r>
              <a:rPr lang="en-US" altLang="zh-CN" sz="3600" b="1" dirty="0">
                <a:solidFill>
                  <a:schemeClr val="tx1"/>
                </a:solidFill>
              </a:rPr>
              <a:t>typical</a:t>
            </a:r>
            <a:r>
              <a:rPr lang="zh-CN" altLang="en-US" sz="3600" b="1" dirty="0">
                <a:solidFill>
                  <a:schemeClr val="tx1"/>
                </a:solidFill>
              </a:rPr>
              <a:t>典型的</a:t>
            </a:r>
            <a:r>
              <a:rPr lang="en-US" altLang="zh-CN" sz="3600" b="1" dirty="0">
                <a:solidFill>
                  <a:schemeClr val="tx1"/>
                </a:solidFill>
              </a:rPr>
              <a:t> continuous</a:t>
            </a:r>
            <a:r>
              <a:rPr lang="zh-CN" altLang="en-US" sz="3600" b="1" dirty="0">
                <a:solidFill>
                  <a:schemeClr val="tx1"/>
                </a:solidFill>
              </a:rPr>
              <a:t>连续不断的</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56 departed from</a:t>
            </a:r>
            <a:r>
              <a:rPr lang="zh-CN" altLang="en-US" sz="3600" b="1" dirty="0">
                <a:solidFill>
                  <a:srgbClr val="FF0000"/>
                </a:solidFill>
              </a:rPr>
              <a:t>从</a:t>
            </a:r>
            <a:r>
              <a:rPr lang="en-US" altLang="zh-CN" sz="3600" b="1" dirty="0">
                <a:solidFill>
                  <a:srgbClr val="FF0000"/>
                </a:solidFill>
              </a:rPr>
              <a:t>…</a:t>
            </a:r>
            <a:r>
              <a:rPr lang="zh-CN" altLang="en-US" sz="3600" b="1" dirty="0">
                <a:solidFill>
                  <a:srgbClr val="FF0000"/>
                </a:solidFill>
              </a:rPr>
              <a:t>离开　</a:t>
            </a:r>
            <a:r>
              <a:rPr lang="en-US" altLang="zh-CN" sz="3600" b="1" dirty="0">
                <a:solidFill>
                  <a:schemeClr val="tx1"/>
                </a:solidFill>
              </a:rPr>
              <a:t>and arrived at...</a:t>
            </a:r>
            <a:endParaRPr lang="zh-CN" altLang="en-US" sz="3600" b="1" dirty="0">
              <a:solidFill>
                <a:schemeClr val="tx1"/>
              </a:solidFill>
            </a:endParaRPr>
          </a:p>
          <a:p>
            <a:r>
              <a:rPr lang="en-US" altLang="zh-CN" sz="3600" b="1" dirty="0">
                <a:solidFill>
                  <a:srgbClr val="FF0000"/>
                </a:solidFill>
              </a:rPr>
              <a:t>57 f</a:t>
            </a:r>
            <a:r>
              <a:rPr lang="en-US" altLang="zh-CN" sz="3600" b="1" u="sng" dirty="0">
                <a:solidFill>
                  <a:srgbClr val="FF0000"/>
                </a:solidFill>
                <a:highlight>
                  <a:srgbClr val="FFFF00"/>
                </a:highlight>
              </a:rPr>
              <a:t>ur</a:t>
            </a:r>
            <a:r>
              <a:rPr lang="en-US" altLang="zh-CN" sz="3600" b="1" dirty="0">
                <a:solidFill>
                  <a:srgbClr val="FF0000"/>
                </a:solidFill>
              </a:rPr>
              <a:t>ther</a:t>
            </a:r>
            <a:r>
              <a:rPr lang="zh-CN" altLang="en-US" sz="3600" b="1" dirty="0">
                <a:solidFill>
                  <a:srgbClr val="FF0000"/>
                </a:solidFill>
              </a:rPr>
              <a:t>进一步</a:t>
            </a:r>
            <a:r>
              <a:rPr lang="en-US" altLang="zh-CN" sz="3600" b="1" dirty="0">
                <a:solidFill>
                  <a:srgbClr val="FF0000"/>
                </a:solidFill>
              </a:rPr>
              <a:t>facilitate the flow of trade</a:t>
            </a:r>
            <a:r>
              <a:rPr lang="zh-CN" altLang="en-US" sz="3600" b="1" dirty="0">
                <a:solidFill>
                  <a:srgbClr val="FF0000"/>
                </a:solidFill>
              </a:rPr>
              <a:t>促进贸易流通</a:t>
            </a:r>
          </a:p>
          <a:p>
            <a:r>
              <a:rPr lang="en-US" altLang="zh-CN" sz="3600" b="1" dirty="0">
                <a:solidFill>
                  <a:srgbClr val="FF0000"/>
                </a:solidFill>
              </a:rPr>
              <a:t>58 but</a:t>
            </a:r>
            <a:r>
              <a:rPr lang="zh-CN" altLang="en-US" sz="3600" b="1" dirty="0">
                <a:solidFill>
                  <a:srgbClr val="FF0000"/>
                </a:solidFill>
              </a:rPr>
              <a:t>　</a:t>
            </a:r>
            <a:r>
              <a:rPr lang="en-US" altLang="zh-CN" sz="3600" b="1" dirty="0">
                <a:solidFill>
                  <a:srgbClr val="FF0000"/>
                </a:solidFill>
              </a:rPr>
              <a:t>           </a:t>
            </a:r>
            <a:r>
              <a:rPr lang="en-US" altLang="zh-CN" sz="3600" b="1" u="sng" dirty="0">
                <a:solidFill>
                  <a:srgbClr val="FF0000"/>
                </a:solidFill>
              </a:rPr>
              <a:t>not only … but (also)</a:t>
            </a:r>
            <a:r>
              <a:rPr lang="en-US" altLang="zh-CN" sz="3600" b="1" dirty="0">
                <a:solidFill>
                  <a:srgbClr val="FF0000"/>
                </a:solidFill>
              </a:rPr>
              <a:t>…</a:t>
            </a:r>
          </a:p>
          <a:p>
            <a:r>
              <a:rPr lang="en-US" altLang="zh-CN" sz="3600" b="1" dirty="0">
                <a:solidFill>
                  <a:schemeClr val="tx1"/>
                </a:solidFill>
              </a:rPr>
              <a:t>59 industries</a:t>
            </a:r>
            <a:r>
              <a:rPr lang="zh-CN" altLang="en-US" sz="3600" b="1" dirty="0">
                <a:solidFill>
                  <a:schemeClr val="tx1"/>
                </a:solidFill>
              </a:rPr>
              <a:t>　</a:t>
            </a:r>
          </a:p>
          <a:p>
            <a:r>
              <a:rPr lang="en-US" altLang="zh-CN" sz="3600" b="1" dirty="0">
                <a:solidFill>
                  <a:srgbClr val="FF0000"/>
                </a:solidFill>
              </a:rPr>
              <a:t>60 regional economic integration</a:t>
            </a:r>
            <a:r>
              <a:rPr lang="zh-CN" altLang="en-US" sz="3600" b="1" dirty="0">
                <a:solidFill>
                  <a:srgbClr val="FF0000"/>
                </a:solidFill>
              </a:rPr>
              <a:t>区域的经济一体化　</a:t>
            </a:r>
          </a:p>
          <a:p>
            <a:r>
              <a:rPr lang="en-US" altLang="zh-CN" sz="3600" b="1" dirty="0">
                <a:solidFill>
                  <a:srgbClr val="FF0000"/>
                </a:solidFill>
              </a:rPr>
              <a:t>61 increase </a:t>
            </a:r>
            <a:r>
              <a:rPr lang="en-US" altLang="zh-CN" sz="3600" b="1" u="sng" dirty="0">
                <a:solidFill>
                  <a:srgbClr val="FF0000"/>
                </a:solidFill>
              </a:rPr>
              <a:t>by</a:t>
            </a:r>
            <a:r>
              <a:rPr lang="zh-CN" altLang="en-US" sz="3600" b="1" u="sng" dirty="0">
                <a:solidFill>
                  <a:srgbClr val="FF0000"/>
                </a:solidFill>
              </a:rPr>
              <a:t>增长了</a:t>
            </a:r>
            <a:r>
              <a:rPr lang="en-US" altLang="zh-CN" sz="3600" b="1" dirty="0">
                <a:solidFill>
                  <a:srgbClr val="FF0000"/>
                </a:solidFill>
              </a:rPr>
              <a:t>……</a:t>
            </a:r>
            <a:r>
              <a:rPr lang="zh-CN" altLang="en-US" sz="3600" b="1" dirty="0">
                <a:solidFill>
                  <a:srgbClr val="FF0000"/>
                </a:solidFill>
              </a:rPr>
              <a:t>　</a:t>
            </a:r>
            <a:r>
              <a:rPr lang="en-US" altLang="zh-CN" sz="3600" b="1" u="sng" dirty="0">
                <a:solidFill>
                  <a:srgbClr val="FF0000"/>
                </a:solidFill>
              </a:rPr>
              <a:t>to</a:t>
            </a:r>
            <a:r>
              <a:rPr lang="zh-CN" altLang="en-US" sz="3600" b="1" u="sng" dirty="0">
                <a:solidFill>
                  <a:srgbClr val="FF0000"/>
                </a:solidFill>
              </a:rPr>
              <a:t>增长至</a:t>
            </a:r>
            <a:endParaRPr lang="zh-CN" altLang="en-US" sz="3600" b="1" dirty="0">
              <a:solidFill>
                <a:srgbClr val="FF0000"/>
              </a:solidFill>
            </a:endParaRPr>
          </a:p>
          <a:p>
            <a:r>
              <a:rPr lang="en-US" altLang="zh-CN" sz="3600" b="1" dirty="0">
                <a:solidFill>
                  <a:srgbClr val="FF0000"/>
                </a:solidFill>
              </a:rPr>
              <a:t>62 </a:t>
            </a:r>
            <a:r>
              <a:rPr lang="zh-CN" altLang="en-US" sz="3600" b="1" dirty="0">
                <a:solidFill>
                  <a:srgbClr val="FF0000"/>
                </a:solidFill>
              </a:rPr>
              <a:t>，</a:t>
            </a:r>
            <a:r>
              <a:rPr lang="en-US" altLang="zh-CN" sz="3600" b="1" dirty="0">
                <a:solidFill>
                  <a:srgbClr val="FF0000"/>
                </a:solidFill>
              </a:rPr>
              <a:t>which</a:t>
            </a:r>
            <a:r>
              <a:rPr lang="zh-CN" altLang="en-US" sz="3600" b="1" dirty="0">
                <a:solidFill>
                  <a:srgbClr val="FF0000"/>
                </a:solidFill>
              </a:rPr>
              <a:t>非限　</a:t>
            </a:r>
          </a:p>
          <a:p>
            <a:r>
              <a:rPr lang="en-US" altLang="zh-CN" sz="3600" b="1" dirty="0">
                <a:solidFill>
                  <a:srgbClr val="FF0000"/>
                </a:solidFill>
              </a:rPr>
              <a:t>63 marks</a:t>
            </a:r>
            <a:r>
              <a:rPr lang="zh-CN" altLang="en-US" sz="3600" b="1" dirty="0">
                <a:solidFill>
                  <a:srgbClr val="FF0000"/>
                </a:solidFill>
              </a:rPr>
              <a:t>标志着</a:t>
            </a:r>
            <a:r>
              <a:rPr lang="en-US" altLang="zh-CN" sz="3600" b="1" dirty="0">
                <a:solidFill>
                  <a:srgbClr val="FF0000"/>
                </a:solidFill>
              </a:rPr>
              <a:t>(=indicates)</a:t>
            </a:r>
            <a:r>
              <a:rPr lang="zh-CN" altLang="en-US" sz="3600" b="1" dirty="0">
                <a:solidFill>
                  <a:srgbClr val="FF0000"/>
                </a:solidFill>
              </a:rPr>
              <a:t>　</a:t>
            </a:r>
          </a:p>
          <a:p>
            <a:r>
              <a:rPr lang="en-US" altLang="zh-CN" sz="3600" b="1" dirty="0">
                <a:solidFill>
                  <a:srgbClr val="FF0000"/>
                </a:solidFill>
              </a:rPr>
              <a:t>64 To promote the initiative,</a:t>
            </a:r>
            <a:r>
              <a:rPr lang="zh-CN" altLang="en-US" sz="3600" b="1" dirty="0">
                <a:solidFill>
                  <a:srgbClr val="FF0000"/>
                </a:solidFill>
              </a:rPr>
              <a:t>为了推动这一倡议，　</a:t>
            </a:r>
          </a:p>
          <a:p>
            <a:r>
              <a:rPr lang="en-US" altLang="zh-CN" sz="3600" b="1" dirty="0">
                <a:solidFill>
                  <a:srgbClr val="FF0000"/>
                </a:solidFill>
              </a:rPr>
              <a:t>65 benefi</a:t>
            </a:r>
            <a:r>
              <a:rPr lang="en-US" altLang="zh-CN" sz="3600" b="1" u="sng" dirty="0">
                <a:solidFill>
                  <a:srgbClr val="FF0000"/>
                </a:solidFill>
                <a:highlight>
                  <a:srgbClr val="FFFF00"/>
                </a:highlight>
              </a:rPr>
              <a:t>t</a:t>
            </a:r>
            <a:r>
              <a:rPr lang="en-US" altLang="zh-CN" sz="3600" b="1" dirty="0">
                <a:solidFill>
                  <a:srgbClr val="FF0000"/>
                </a:solidFill>
              </a:rPr>
              <a:t>ing        V-ing</a:t>
            </a:r>
            <a:r>
              <a:rPr lang="zh-CN" altLang="en-US" sz="3600" b="1" dirty="0">
                <a:solidFill>
                  <a:srgbClr val="FF0000"/>
                </a:solidFill>
              </a:rPr>
              <a:t>自然而然的结果</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35" y="160020"/>
            <a:ext cx="12192635" cy="6697980"/>
          </a:xfrm>
        </p:spPr>
        <p:txBody>
          <a:bodyPr>
            <a:noAutofit/>
          </a:bodyPr>
          <a:lstStyle/>
          <a:p>
            <a:pPr fontAlgn="auto">
              <a:lnSpc>
                <a:spcPts val="2540"/>
              </a:lnSpc>
            </a:pPr>
            <a:r>
              <a:rPr lang="zh-CN" altLang="en-US" sz="3300" b="1" dirty="0">
                <a:solidFill>
                  <a:srgbClr val="FF0000"/>
                </a:solidFill>
              </a:rPr>
              <a:t>卷三</a:t>
            </a:r>
            <a:r>
              <a:rPr lang="en-US" altLang="zh-CN" sz="3300" b="1" dirty="0">
                <a:solidFill>
                  <a:srgbClr val="FF0000"/>
                </a:solidFill>
              </a:rPr>
              <a:t>  </a:t>
            </a:r>
          </a:p>
          <a:p>
            <a:pPr fontAlgn="auto">
              <a:lnSpc>
                <a:spcPts val="2540"/>
              </a:lnSpc>
            </a:pPr>
            <a:r>
              <a:rPr lang="en-US" altLang="zh-CN" sz="3300" b="1" dirty="0">
                <a:solidFill>
                  <a:srgbClr val="FF0000"/>
                </a:solidFill>
              </a:rPr>
              <a:t>botanical magazine</a:t>
            </a:r>
            <a:r>
              <a:rPr lang="zh-CN" altLang="en-US" sz="3300" b="1" dirty="0">
                <a:solidFill>
                  <a:srgbClr val="FF0000"/>
                </a:solidFill>
              </a:rPr>
              <a:t>植物学杂志</a:t>
            </a:r>
            <a:r>
              <a:rPr lang="en-US" altLang="zh-CN" sz="3300" b="1" dirty="0">
                <a:solidFill>
                  <a:srgbClr val="FF0000"/>
                </a:solidFill>
              </a:rPr>
              <a:t> botany</a:t>
            </a:r>
            <a:r>
              <a:rPr lang="zh-CN" altLang="en-US" sz="3300" b="1" dirty="0">
                <a:solidFill>
                  <a:srgbClr val="FF0000"/>
                </a:solidFill>
              </a:rPr>
              <a:t>植物学</a:t>
            </a:r>
            <a:r>
              <a:rPr lang="en-US" altLang="zh-CN" sz="3300" b="1" dirty="0">
                <a:solidFill>
                  <a:srgbClr val="FF0000"/>
                </a:solidFill>
              </a:rPr>
              <a:t> swallow</a:t>
            </a:r>
            <a:r>
              <a:rPr lang="zh-CN" altLang="en-US" sz="3300" b="1" dirty="0">
                <a:solidFill>
                  <a:srgbClr val="FF0000"/>
                </a:solidFill>
              </a:rPr>
              <a:t>吞咽</a:t>
            </a:r>
            <a:r>
              <a:rPr lang="en-US" altLang="zh-CN" sz="3300" b="1" dirty="0">
                <a:solidFill>
                  <a:srgbClr val="FF0000"/>
                </a:solidFill>
              </a:rPr>
              <a:t> </a:t>
            </a:r>
          </a:p>
          <a:p>
            <a:pPr fontAlgn="auto">
              <a:lnSpc>
                <a:spcPts val="2540"/>
              </a:lnSpc>
            </a:pPr>
            <a:r>
              <a:rPr lang="en-US" altLang="zh-CN" sz="3300" b="1" dirty="0">
                <a:solidFill>
                  <a:srgbClr val="FF0000"/>
                </a:solidFill>
              </a:rPr>
              <a:t>be obsessed with</a:t>
            </a:r>
            <a:r>
              <a:rPr lang="zh-CN" altLang="en-US" sz="3300" b="1" dirty="0">
                <a:solidFill>
                  <a:srgbClr val="FF0000"/>
                </a:solidFill>
              </a:rPr>
              <a:t>对</a:t>
            </a:r>
            <a:r>
              <a:rPr lang="en-US" altLang="zh-CN" sz="3300" b="1" dirty="0">
                <a:solidFill>
                  <a:srgbClr val="FF0000"/>
                </a:solidFill>
              </a:rPr>
              <a:t>…</a:t>
            </a:r>
            <a:r>
              <a:rPr lang="zh-CN" altLang="en-US" sz="3300" b="1" dirty="0">
                <a:solidFill>
                  <a:srgbClr val="FF0000"/>
                </a:solidFill>
              </a:rPr>
              <a:t>着迷</a:t>
            </a:r>
            <a:r>
              <a:rPr lang="en-US" altLang="zh-CN" sz="3300" b="1" dirty="0">
                <a:solidFill>
                  <a:srgbClr val="FF0000"/>
                </a:solidFill>
              </a:rPr>
              <a:t> on a large scale</a:t>
            </a:r>
            <a:r>
              <a:rPr lang="zh-CN" altLang="en-US" sz="3300" b="1" dirty="0">
                <a:solidFill>
                  <a:srgbClr val="FF0000"/>
                </a:solidFill>
              </a:rPr>
              <a:t>大规模地</a:t>
            </a:r>
            <a:endParaRPr lang="en-US" altLang="zh-CN" sz="3300" b="1" dirty="0">
              <a:solidFill>
                <a:srgbClr val="FF0000"/>
              </a:solidFill>
            </a:endParaRPr>
          </a:p>
          <a:p>
            <a:pPr fontAlgn="auto">
              <a:lnSpc>
                <a:spcPts val="2540"/>
              </a:lnSpc>
            </a:pPr>
            <a:r>
              <a:rPr lang="en-US" altLang="zh-CN" sz="3300" b="1" dirty="0">
                <a:solidFill>
                  <a:srgbClr val="FF0000"/>
                </a:solidFill>
              </a:rPr>
              <a:t>strengthen the family bonds</a:t>
            </a:r>
            <a:r>
              <a:rPr lang="zh-CN" altLang="en-US" sz="3300" b="1" dirty="0">
                <a:solidFill>
                  <a:srgbClr val="FF0000"/>
                </a:solidFill>
              </a:rPr>
              <a:t>加强家庭纽带</a:t>
            </a:r>
            <a:r>
              <a:rPr lang="en-US" altLang="zh-CN" sz="3300" b="1" dirty="0">
                <a:solidFill>
                  <a:srgbClr val="FF0000"/>
                </a:solidFill>
              </a:rPr>
              <a:t>  initial a.</a:t>
            </a:r>
            <a:r>
              <a:rPr lang="zh-CN" altLang="en-US" sz="3300" b="1" dirty="0">
                <a:solidFill>
                  <a:srgbClr val="FF0000"/>
                </a:solidFill>
              </a:rPr>
              <a:t>最初的</a:t>
            </a:r>
            <a:endParaRPr lang="en-US" altLang="zh-CN" sz="3300" b="1" dirty="0">
              <a:solidFill>
                <a:srgbClr val="FF0000"/>
              </a:solidFill>
            </a:endParaRPr>
          </a:p>
          <a:p>
            <a:pPr fontAlgn="auto">
              <a:lnSpc>
                <a:spcPts val="2540"/>
              </a:lnSpc>
            </a:pPr>
            <a:r>
              <a:rPr lang="en-US" altLang="zh-CN" sz="3300" b="1" dirty="0">
                <a:solidFill>
                  <a:srgbClr val="FF0000"/>
                </a:solidFill>
              </a:rPr>
              <a:t>uncaring</a:t>
            </a:r>
            <a:r>
              <a:rPr lang="zh-CN" altLang="en-US" sz="3300" b="1" dirty="0">
                <a:solidFill>
                  <a:srgbClr val="FF0000"/>
                </a:solidFill>
              </a:rPr>
              <a:t>漠不关心的</a:t>
            </a:r>
            <a:r>
              <a:rPr lang="en-US" altLang="zh-CN" sz="3300" b="1" dirty="0">
                <a:solidFill>
                  <a:srgbClr val="FF0000"/>
                </a:solidFill>
              </a:rPr>
              <a:t>skeptical</a:t>
            </a:r>
            <a:r>
              <a:rPr lang="zh-CN" altLang="en-US" sz="3300" b="1" dirty="0">
                <a:solidFill>
                  <a:srgbClr val="FF0000"/>
                </a:solidFill>
              </a:rPr>
              <a:t>怀疑的</a:t>
            </a:r>
            <a:r>
              <a:rPr lang="en-US" altLang="zh-CN" sz="3300" b="1" dirty="0">
                <a:solidFill>
                  <a:srgbClr val="FF0000"/>
                </a:solidFill>
              </a:rPr>
              <a:t>dismissive</a:t>
            </a:r>
            <a:r>
              <a:rPr lang="zh-CN" altLang="en-US" sz="3300" b="1" dirty="0">
                <a:solidFill>
                  <a:srgbClr val="FF0000"/>
                </a:solidFill>
              </a:rPr>
              <a:t>轻蔑鄙视的</a:t>
            </a:r>
            <a:endParaRPr lang="en-US" altLang="zh-CN" sz="3300" b="1" dirty="0">
              <a:solidFill>
                <a:srgbClr val="FF0000"/>
              </a:solidFill>
            </a:endParaRPr>
          </a:p>
          <a:p>
            <a:pPr fontAlgn="auto">
              <a:lnSpc>
                <a:spcPts val="2540"/>
              </a:lnSpc>
            </a:pPr>
            <a:r>
              <a:rPr lang="en-US" altLang="zh-CN" sz="3300" b="1" dirty="0">
                <a:solidFill>
                  <a:srgbClr val="FF0000"/>
                </a:solidFill>
              </a:rPr>
              <a:t> </a:t>
            </a:r>
            <a:r>
              <a:rPr lang="en-US" altLang="zh-CN" sz="3300" b="1" dirty="0">
                <a:solidFill>
                  <a:srgbClr val="FF0000"/>
                </a:solidFill>
                <a:sym typeface="+mn-ea"/>
              </a:rPr>
              <a:t>coexisting</a:t>
            </a:r>
            <a:r>
              <a:rPr lang="zh-CN" altLang="en-US" sz="3300" b="1" dirty="0">
                <a:solidFill>
                  <a:srgbClr val="FF0000"/>
                </a:solidFill>
                <a:sym typeface="+mn-ea"/>
              </a:rPr>
              <a:t>共存的</a:t>
            </a:r>
            <a:r>
              <a:rPr lang="en-US" altLang="zh-CN" sz="3300" b="1" dirty="0">
                <a:sym typeface="+mn-ea"/>
              </a:rPr>
              <a:t>symbiotic</a:t>
            </a:r>
            <a:r>
              <a:rPr lang="zh-CN" altLang="en-US" sz="3300" b="1" dirty="0">
                <a:sym typeface="+mn-ea"/>
              </a:rPr>
              <a:t>共生的</a:t>
            </a:r>
            <a:r>
              <a:rPr lang="en-US" altLang="zh-CN" sz="3300" b="1" dirty="0">
                <a:sym typeface="+mn-ea"/>
              </a:rPr>
              <a:t> </a:t>
            </a:r>
            <a:r>
              <a:rPr lang="en-US" altLang="zh-CN" sz="3300" b="1" dirty="0">
                <a:solidFill>
                  <a:srgbClr val="FF0000"/>
                </a:solidFill>
              </a:rPr>
              <a:t>interdependent</a:t>
            </a:r>
            <a:r>
              <a:rPr lang="zh-CN" altLang="en-US" sz="3300" b="1" dirty="0">
                <a:solidFill>
                  <a:srgbClr val="FF0000"/>
                </a:solidFill>
              </a:rPr>
              <a:t>相互依赖的</a:t>
            </a:r>
            <a:r>
              <a:rPr lang="en-US" altLang="zh-CN" sz="3300" b="1" dirty="0">
                <a:solidFill>
                  <a:srgbClr val="FF0000"/>
                </a:solidFill>
              </a:rPr>
              <a:t> </a:t>
            </a:r>
          </a:p>
          <a:p>
            <a:pPr fontAlgn="auto">
              <a:lnSpc>
                <a:spcPts val="2540"/>
              </a:lnSpc>
            </a:pPr>
            <a:r>
              <a:rPr lang="en-US" altLang="zh-CN" sz="3300" b="1" dirty="0">
                <a:solidFill>
                  <a:srgbClr val="FF0000"/>
                </a:solidFill>
              </a:rPr>
              <a:t>regulate hormone</a:t>
            </a:r>
            <a:r>
              <a:rPr lang="zh-CN" altLang="en-US" sz="3300" b="1" dirty="0">
                <a:solidFill>
                  <a:srgbClr val="FF0000"/>
                </a:solidFill>
              </a:rPr>
              <a:t>调节激素</a:t>
            </a:r>
            <a:r>
              <a:rPr lang="en-US" altLang="zh-CN" sz="3300" b="1" dirty="0">
                <a:solidFill>
                  <a:srgbClr val="FF0000"/>
                </a:solidFill>
              </a:rPr>
              <a:t> boost immune system</a:t>
            </a:r>
            <a:r>
              <a:rPr lang="zh-CN" altLang="en-US" sz="3300" b="1" dirty="0">
                <a:solidFill>
                  <a:srgbClr val="FF0000"/>
                </a:solidFill>
              </a:rPr>
              <a:t>增强免疫力</a:t>
            </a:r>
            <a:endParaRPr lang="en-US" altLang="zh-CN" sz="3300" b="1" dirty="0">
              <a:solidFill>
                <a:srgbClr val="FF0000"/>
              </a:solidFill>
            </a:endParaRPr>
          </a:p>
          <a:p>
            <a:pPr fontAlgn="auto">
              <a:lnSpc>
                <a:spcPts val="2540"/>
              </a:lnSpc>
            </a:pPr>
            <a:r>
              <a:rPr lang="en-US" altLang="zh-CN" sz="3300" b="1" dirty="0">
                <a:solidFill>
                  <a:srgbClr val="FF0000"/>
                </a:solidFill>
              </a:rPr>
              <a:t>diverse</a:t>
            </a:r>
            <a:r>
              <a:rPr lang="zh-CN" altLang="en-US" sz="3300" b="1" dirty="0">
                <a:solidFill>
                  <a:srgbClr val="FF0000"/>
                </a:solidFill>
              </a:rPr>
              <a:t>多种多样的</a:t>
            </a:r>
            <a:r>
              <a:rPr lang="en-US" altLang="zh-CN" sz="3300" b="1" dirty="0">
                <a:solidFill>
                  <a:srgbClr val="FF0000"/>
                </a:solidFill>
              </a:rPr>
              <a:t> diversity n.</a:t>
            </a:r>
            <a:r>
              <a:rPr lang="zh-CN" altLang="en-US" sz="3300" b="1" dirty="0">
                <a:solidFill>
                  <a:srgbClr val="FF0000"/>
                </a:solidFill>
              </a:rPr>
              <a:t>多样性</a:t>
            </a:r>
            <a:r>
              <a:rPr lang="en-US" altLang="zh-CN" sz="3300" b="1" dirty="0">
                <a:solidFill>
                  <a:srgbClr val="FF0000"/>
                </a:solidFill>
              </a:rPr>
              <a:t>  a wide range of</a:t>
            </a:r>
            <a:r>
              <a:rPr lang="zh-CN" altLang="en-US" sz="3300" b="1" dirty="0">
                <a:solidFill>
                  <a:srgbClr val="FF0000"/>
                </a:solidFill>
              </a:rPr>
              <a:t>广泛的</a:t>
            </a:r>
            <a:endParaRPr lang="en-US" altLang="zh-CN" sz="3300" b="1" dirty="0">
              <a:solidFill>
                <a:schemeClr val="tx1"/>
              </a:solidFill>
            </a:endParaRPr>
          </a:p>
          <a:p>
            <a:pPr fontAlgn="auto">
              <a:lnSpc>
                <a:spcPts val="2540"/>
              </a:lnSpc>
            </a:pPr>
            <a:r>
              <a:rPr lang="en-US" altLang="zh-CN" sz="3300" b="1" dirty="0">
                <a:solidFill>
                  <a:srgbClr val="FF0000"/>
                </a:solidFill>
              </a:rPr>
              <a:t> contributor n.</a:t>
            </a:r>
            <a:r>
              <a:rPr lang="zh-CN" altLang="en-US" sz="3300" b="1" dirty="0">
                <a:solidFill>
                  <a:srgbClr val="FF0000"/>
                </a:solidFill>
              </a:rPr>
              <a:t>投稿者</a:t>
            </a:r>
            <a:r>
              <a:rPr lang="en-US" altLang="zh-CN" sz="3300" b="1" dirty="0">
                <a:solidFill>
                  <a:srgbClr val="FF0000"/>
                </a:solidFill>
              </a:rPr>
              <a:t>;</a:t>
            </a:r>
            <a:r>
              <a:rPr lang="zh-CN" altLang="en-US" sz="3300" b="1" dirty="0">
                <a:solidFill>
                  <a:srgbClr val="FF0000"/>
                </a:solidFill>
              </a:rPr>
              <a:t>捐献人</a:t>
            </a:r>
            <a:r>
              <a:rPr lang="en-US" altLang="zh-CN" sz="3300" b="1" dirty="0">
                <a:solidFill>
                  <a:srgbClr val="FF0000"/>
                </a:solidFill>
              </a:rPr>
              <a:t>;</a:t>
            </a:r>
            <a:r>
              <a:rPr lang="zh-CN" altLang="en-US" sz="3300" b="1" dirty="0">
                <a:solidFill>
                  <a:srgbClr val="FF0000"/>
                </a:solidFill>
              </a:rPr>
              <a:t>促成物</a:t>
            </a:r>
            <a:r>
              <a:rPr lang="en-US" altLang="zh-CN" sz="3300" b="1" dirty="0">
                <a:solidFill>
                  <a:srgbClr val="FF0000"/>
                </a:solidFill>
              </a:rPr>
              <a:t> contribute to</a:t>
            </a:r>
            <a:r>
              <a:rPr lang="zh-CN" altLang="en-US" sz="3300" b="1" dirty="0">
                <a:solidFill>
                  <a:srgbClr val="FF0000"/>
                </a:solidFill>
              </a:rPr>
              <a:t>有助于促成</a:t>
            </a:r>
            <a:endParaRPr lang="en-US" altLang="zh-CN" sz="3300" b="1" dirty="0">
              <a:solidFill>
                <a:srgbClr val="FF0000"/>
              </a:solidFill>
            </a:endParaRPr>
          </a:p>
          <a:p>
            <a:pPr fontAlgn="auto">
              <a:lnSpc>
                <a:spcPts val="2540"/>
              </a:lnSpc>
            </a:pPr>
            <a:r>
              <a:rPr lang="en-US" altLang="zh-CN" sz="3300" b="1" dirty="0">
                <a:solidFill>
                  <a:srgbClr val="FF0000"/>
                </a:solidFill>
              </a:rPr>
              <a:t> a screening tool</a:t>
            </a:r>
            <a:r>
              <a:rPr lang="zh-CN" altLang="en-US" sz="3300" b="1" dirty="0">
                <a:solidFill>
                  <a:srgbClr val="FF0000"/>
                </a:solidFill>
              </a:rPr>
              <a:t>筛选工具</a:t>
            </a:r>
            <a:r>
              <a:rPr lang="en-US" altLang="zh-CN" sz="3300" b="1" dirty="0">
                <a:solidFill>
                  <a:srgbClr val="FF0000"/>
                </a:solidFill>
              </a:rPr>
              <a:t>   screen v.</a:t>
            </a:r>
            <a:r>
              <a:rPr lang="zh-CN" altLang="en-US" sz="3300" b="1" dirty="0">
                <a:solidFill>
                  <a:srgbClr val="FF0000"/>
                </a:solidFill>
              </a:rPr>
              <a:t>筛查</a:t>
            </a:r>
            <a:endParaRPr lang="en-US" altLang="zh-CN" sz="3300" b="1" dirty="0">
              <a:solidFill>
                <a:srgbClr val="FF0000"/>
              </a:solidFill>
            </a:endParaRPr>
          </a:p>
          <a:p>
            <a:pPr fontAlgn="auto">
              <a:lnSpc>
                <a:spcPts val="2540"/>
              </a:lnSpc>
            </a:pPr>
            <a:r>
              <a:rPr lang="en-US" altLang="zh-CN" sz="3300" b="1" dirty="0">
                <a:solidFill>
                  <a:srgbClr val="FF0000"/>
                </a:solidFill>
              </a:rPr>
              <a:t> engage v.</a:t>
            </a:r>
            <a:r>
              <a:rPr lang="zh-CN" altLang="en-US" sz="3300" b="1" dirty="0">
                <a:solidFill>
                  <a:srgbClr val="FF0000"/>
                </a:solidFill>
              </a:rPr>
              <a:t>吸引</a:t>
            </a:r>
            <a:r>
              <a:rPr lang="en-US" altLang="zh-CN" sz="3300" b="1" dirty="0">
                <a:solidFill>
                  <a:srgbClr val="FF0000"/>
                </a:solidFill>
              </a:rPr>
              <a:t>;</a:t>
            </a:r>
            <a:r>
              <a:rPr lang="zh-CN" altLang="en-US" sz="3300" b="1" dirty="0">
                <a:solidFill>
                  <a:srgbClr val="FF0000"/>
                </a:solidFill>
              </a:rPr>
              <a:t>从事参加</a:t>
            </a:r>
            <a:r>
              <a:rPr lang="en-US" altLang="zh-CN" sz="3300" b="1" dirty="0">
                <a:solidFill>
                  <a:srgbClr val="FF0000"/>
                </a:solidFill>
              </a:rPr>
              <a:t>  assess v.</a:t>
            </a:r>
            <a:r>
              <a:rPr lang="zh-CN" altLang="en-US" sz="3300" b="1" dirty="0">
                <a:solidFill>
                  <a:srgbClr val="FF0000"/>
                </a:solidFill>
              </a:rPr>
              <a:t>评估</a:t>
            </a:r>
            <a:r>
              <a:rPr lang="en-US" altLang="zh-CN" sz="3300" b="1" dirty="0">
                <a:solidFill>
                  <a:srgbClr val="FF0000"/>
                </a:solidFill>
              </a:rPr>
              <a:t> assessment n.</a:t>
            </a:r>
          </a:p>
          <a:p>
            <a:pPr fontAlgn="auto">
              <a:lnSpc>
                <a:spcPts val="2540"/>
              </a:lnSpc>
            </a:pPr>
            <a:r>
              <a:rPr lang="en-US" altLang="zh-CN" sz="3300" b="1" dirty="0">
                <a:solidFill>
                  <a:srgbClr val="FF0000"/>
                </a:solidFill>
              </a:rPr>
              <a:t> literacy skills</a:t>
            </a:r>
            <a:r>
              <a:rPr lang="zh-CN" altLang="en-US" sz="3300" b="1" dirty="0">
                <a:solidFill>
                  <a:srgbClr val="FF0000"/>
                </a:solidFill>
              </a:rPr>
              <a:t>读写能力</a:t>
            </a:r>
            <a:r>
              <a:rPr lang="en-US" altLang="zh-CN" sz="3300" b="1" dirty="0">
                <a:solidFill>
                  <a:srgbClr val="FF0000"/>
                </a:solidFill>
              </a:rPr>
              <a:t> address a significant gap</a:t>
            </a:r>
            <a:r>
              <a:rPr lang="zh-CN" altLang="en-US" sz="3300" b="1" dirty="0">
                <a:solidFill>
                  <a:srgbClr val="FF0000"/>
                </a:solidFill>
              </a:rPr>
              <a:t>解决重大空白</a:t>
            </a:r>
            <a:endParaRPr lang="en-US" altLang="zh-CN" sz="3300" b="1" dirty="0">
              <a:solidFill>
                <a:srgbClr val="FF0000"/>
              </a:solidFill>
            </a:endParaRPr>
          </a:p>
          <a:p>
            <a:pPr fontAlgn="auto">
              <a:lnSpc>
                <a:spcPts val="2540"/>
              </a:lnSpc>
            </a:pPr>
            <a:r>
              <a:rPr lang="en-US" altLang="zh-CN" sz="3300" b="1" dirty="0">
                <a:solidFill>
                  <a:srgbClr val="FF0000"/>
                </a:solidFill>
              </a:rPr>
              <a:t> operational</a:t>
            </a:r>
            <a:r>
              <a:rPr lang="zh-CN" altLang="en-US" sz="3300" b="1" dirty="0">
                <a:solidFill>
                  <a:srgbClr val="FF0000"/>
                </a:solidFill>
              </a:rPr>
              <a:t>操作的</a:t>
            </a:r>
            <a:r>
              <a:rPr lang="en-US" altLang="zh-CN" sz="3300" b="1" dirty="0">
                <a:solidFill>
                  <a:srgbClr val="FF0000"/>
                </a:solidFill>
              </a:rPr>
              <a:t> favorable</a:t>
            </a:r>
            <a:r>
              <a:rPr lang="zh-CN" altLang="en-US" sz="3300" b="1" dirty="0">
                <a:solidFill>
                  <a:srgbClr val="FF0000"/>
                </a:solidFill>
              </a:rPr>
              <a:t>赞成有利的</a:t>
            </a:r>
            <a:r>
              <a:rPr lang="en-US" altLang="zh-CN" sz="3300" b="1" dirty="0">
                <a:solidFill>
                  <a:srgbClr val="FF0000"/>
                </a:solidFill>
              </a:rPr>
              <a:t>  conservative</a:t>
            </a:r>
            <a:r>
              <a:rPr lang="zh-CN" altLang="en-US" sz="3300" b="1" dirty="0">
                <a:solidFill>
                  <a:srgbClr val="FF0000"/>
                </a:solidFill>
              </a:rPr>
              <a:t>保守的</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pack/unpack one’s luggage</a:t>
            </a:r>
            <a:r>
              <a:rPr lang="zh-CN" altLang="en-US" sz="3600" b="1" dirty="0">
                <a:solidFill>
                  <a:srgbClr val="FF0000"/>
                </a:solidFill>
              </a:rPr>
              <a:t>收拾</a:t>
            </a:r>
            <a:r>
              <a:rPr lang="en-US" altLang="zh-CN" sz="3600" b="1" dirty="0">
                <a:solidFill>
                  <a:srgbClr val="FF0000"/>
                </a:solidFill>
              </a:rPr>
              <a:t>/</a:t>
            </a:r>
            <a:r>
              <a:rPr lang="zh-CN" altLang="en-US" sz="3600" b="1" dirty="0">
                <a:solidFill>
                  <a:srgbClr val="FF0000"/>
                </a:solidFill>
              </a:rPr>
              <a:t>打卡行李</a:t>
            </a:r>
            <a:endParaRPr lang="en-US" altLang="zh-CN" sz="3600" b="1" dirty="0">
              <a:solidFill>
                <a:srgbClr val="FF0000"/>
              </a:solidFill>
            </a:endParaRPr>
          </a:p>
          <a:p>
            <a:r>
              <a:rPr lang="en-US" altLang="zh-CN" sz="3600" b="1" dirty="0">
                <a:solidFill>
                  <a:srgbClr val="FF0000"/>
                </a:solidFill>
              </a:rPr>
              <a:t> a</a:t>
            </a:r>
            <a:r>
              <a:rPr lang="zh-CN" altLang="en-US" sz="3600" b="1" dirty="0">
                <a:solidFill>
                  <a:srgbClr val="FF0000"/>
                </a:solidFill>
              </a:rPr>
              <a:t> </a:t>
            </a:r>
            <a:r>
              <a:rPr lang="en-US" altLang="zh-CN" sz="3600" b="1" dirty="0">
                <a:solidFill>
                  <a:srgbClr val="FF0000"/>
                </a:solidFill>
              </a:rPr>
              <a:t>bit</a:t>
            </a:r>
            <a:r>
              <a:rPr lang="zh-CN" altLang="en-US" sz="3600" b="1" dirty="0">
                <a:solidFill>
                  <a:srgbClr val="FF0000"/>
                </a:solidFill>
              </a:rPr>
              <a:t> </a:t>
            </a:r>
            <a:r>
              <a:rPr lang="en-US" altLang="zh-CN" sz="3600" b="1" dirty="0">
                <a:solidFill>
                  <a:srgbClr val="FF0000"/>
                </a:solidFill>
              </a:rPr>
              <a:t>worn</a:t>
            </a:r>
            <a:r>
              <a:rPr lang="zh-CN" altLang="en-US" sz="3600" b="1">
                <a:solidFill>
                  <a:srgbClr val="FF0000"/>
                </a:solidFill>
              </a:rPr>
              <a:t>有点破旧</a:t>
            </a:r>
            <a:endParaRPr lang="en-US" altLang="zh-CN" sz="3600" b="1" dirty="0">
              <a:solidFill>
                <a:srgbClr val="FF0000"/>
              </a:solidFill>
            </a:endParaRPr>
          </a:p>
          <a:p>
            <a:r>
              <a:rPr lang="en-US" altLang="zh-CN" sz="3600" b="1" dirty="0">
                <a:solidFill>
                  <a:srgbClr val="FF0000"/>
                </a:solidFill>
              </a:rPr>
              <a:t> the very first hug</a:t>
            </a:r>
            <a:r>
              <a:rPr lang="zh-CN" altLang="en-US" sz="3600" b="1" dirty="0">
                <a:solidFill>
                  <a:srgbClr val="FF0000"/>
                </a:solidFill>
              </a:rPr>
              <a:t>第一个拥抱</a:t>
            </a:r>
            <a:endParaRPr lang="en-US" altLang="zh-CN" sz="3600" b="1" dirty="0">
              <a:solidFill>
                <a:srgbClr val="FF0000"/>
              </a:solidFill>
            </a:endParaRPr>
          </a:p>
          <a:p>
            <a:r>
              <a:rPr lang="en-US" altLang="zh-CN" sz="3600" b="1" dirty="0">
                <a:solidFill>
                  <a:srgbClr val="FF0000"/>
                </a:solidFill>
              </a:rPr>
              <a:t> </a:t>
            </a:r>
            <a:endParaRPr lang="zh-CN" altLang="en-US" sz="3600" b="1" dirty="0">
              <a:solidFill>
                <a:srgbClr val="FF0000"/>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zh-CN" altLang="en-US" sz="3600" b="1" dirty="0">
                <a:solidFill>
                  <a:srgbClr val="FF0000"/>
                </a:solidFill>
              </a:rPr>
              <a:t>卷二</a:t>
            </a:r>
          </a:p>
          <a:p>
            <a:r>
              <a:rPr lang="en-US" altLang="zh-CN" sz="3600" b="1" dirty="0">
                <a:solidFill>
                  <a:srgbClr val="FF0000"/>
                </a:solidFill>
              </a:rPr>
              <a:t> tutor v.</a:t>
            </a:r>
            <a:r>
              <a:rPr lang="zh-CN" altLang="en-US" sz="3600" b="1" dirty="0">
                <a:solidFill>
                  <a:srgbClr val="FF0000"/>
                </a:solidFill>
              </a:rPr>
              <a:t>指导</a:t>
            </a:r>
            <a:r>
              <a:rPr lang="en-US" altLang="zh-CN" sz="3600" b="1" dirty="0">
                <a:solidFill>
                  <a:srgbClr val="FF0000"/>
                </a:solidFill>
              </a:rPr>
              <a:t>n.</a:t>
            </a:r>
            <a:r>
              <a:rPr lang="zh-CN" altLang="en-US" sz="3600" b="1" dirty="0">
                <a:solidFill>
                  <a:srgbClr val="FF0000"/>
                </a:solidFill>
              </a:rPr>
              <a:t>指导教师</a:t>
            </a:r>
            <a:r>
              <a:rPr lang="en-US" altLang="zh-CN" sz="3600" b="1" dirty="0">
                <a:solidFill>
                  <a:srgbClr val="FF0000"/>
                </a:solidFill>
              </a:rPr>
              <a:t> to promote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推广</a:t>
            </a:r>
            <a:endParaRPr lang="en-US" altLang="zh-CN" sz="3600" b="1" dirty="0">
              <a:solidFill>
                <a:srgbClr val="FF0000"/>
              </a:solidFill>
            </a:endParaRPr>
          </a:p>
          <a:p>
            <a:r>
              <a:rPr lang="en-US" altLang="zh-CN" sz="3600" b="1" dirty="0">
                <a:solidFill>
                  <a:srgbClr val="FF0000"/>
                </a:solidFill>
              </a:rPr>
              <a:t> stamp one’s feet</a:t>
            </a:r>
            <a:r>
              <a:rPr lang="zh-CN" altLang="en-US" sz="3600" b="1" dirty="0">
                <a:solidFill>
                  <a:srgbClr val="FF0000"/>
                </a:solidFill>
              </a:rPr>
              <a:t>跺脚 </a:t>
            </a:r>
            <a:endParaRPr lang="en-US" altLang="zh-CN" sz="3600" b="1" dirty="0">
              <a:solidFill>
                <a:srgbClr val="FF0000"/>
              </a:solidFill>
            </a:endParaRPr>
          </a:p>
          <a:p>
            <a:r>
              <a:rPr lang="en-US" altLang="zh-CN" sz="3600" b="1" dirty="0">
                <a:solidFill>
                  <a:srgbClr val="FF0000"/>
                </a:solidFill>
              </a:rPr>
              <a:t> transformative adj.</a:t>
            </a:r>
            <a:r>
              <a:rPr lang="zh-CN" altLang="en-US" sz="3600" b="1" dirty="0">
                <a:solidFill>
                  <a:srgbClr val="FF0000"/>
                </a:solidFill>
              </a:rPr>
              <a:t>起改革作用的</a:t>
            </a:r>
            <a:r>
              <a:rPr lang="en-US" altLang="zh-CN" sz="3600" b="1" dirty="0">
                <a:solidFill>
                  <a:srgbClr val="FF0000"/>
                </a:solidFill>
              </a:rPr>
              <a:t>  </a:t>
            </a:r>
            <a:r>
              <a:rPr lang="en-US" altLang="zh-CN" sz="3600" b="1" dirty="0"/>
              <a:t>care home</a:t>
            </a:r>
            <a:r>
              <a:rPr lang="zh-CN" altLang="en-US" sz="3600" b="1" dirty="0"/>
              <a:t>疗养院 </a:t>
            </a:r>
            <a:endParaRPr lang="en-US" altLang="zh-CN" sz="3600" b="1" dirty="0"/>
          </a:p>
          <a:p>
            <a:r>
              <a:rPr lang="en-US" altLang="zh-CN" sz="3600" b="1" dirty="0">
                <a:solidFill>
                  <a:srgbClr val="FF0000"/>
                </a:solidFill>
              </a:rPr>
              <a:t> come to terms with</a:t>
            </a:r>
            <a:r>
              <a:rPr lang="zh-CN" altLang="en-US" sz="3600" b="1" dirty="0">
                <a:solidFill>
                  <a:srgbClr val="FF0000"/>
                </a:solidFill>
              </a:rPr>
              <a:t>妥协让步</a:t>
            </a:r>
            <a:r>
              <a:rPr lang="en-US" altLang="zh-CN" sz="3600" b="1" dirty="0">
                <a:solidFill>
                  <a:srgbClr val="FF0000"/>
                </a:solidFill>
              </a:rPr>
              <a:t>;</a:t>
            </a:r>
            <a:r>
              <a:rPr lang="zh-CN" altLang="en-US" sz="3600" b="1" dirty="0">
                <a:solidFill>
                  <a:srgbClr val="FF0000"/>
                </a:solidFill>
              </a:rPr>
              <a:t>达成协议</a:t>
            </a:r>
            <a:r>
              <a:rPr lang="en-US" altLang="zh-CN" sz="3600" b="1" dirty="0">
                <a:solidFill>
                  <a:srgbClr val="FF0000"/>
                </a:solidFill>
              </a:rPr>
              <a:t> outsider n.</a:t>
            </a:r>
            <a:r>
              <a:rPr lang="zh-CN" altLang="en-US" sz="3600" b="1" dirty="0">
                <a:solidFill>
                  <a:srgbClr val="FF0000"/>
                </a:solidFill>
              </a:rPr>
              <a:t>局外人</a:t>
            </a:r>
            <a:endParaRPr lang="en-US" altLang="zh-CN" sz="3600" b="1" dirty="0">
              <a:solidFill>
                <a:srgbClr val="FF0000"/>
              </a:solidFill>
            </a:endParaRPr>
          </a:p>
          <a:p>
            <a:r>
              <a:rPr lang="en-US" altLang="zh-CN" sz="3600" b="1" dirty="0">
                <a:solidFill>
                  <a:srgbClr val="FF0000"/>
                </a:solidFill>
              </a:rPr>
              <a:t> iron out wrinkles</a:t>
            </a:r>
            <a:r>
              <a:rPr lang="zh-CN" altLang="en-US" sz="3600" b="1" dirty="0">
                <a:solidFill>
                  <a:srgbClr val="FF0000"/>
                </a:solidFill>
              </a:rPr>
              <a:t>抚平皱纹</a:t>
            </a:r>
            <a:r>
              <a:rPr lang="en-US" altLang="zh-CN" sz="3600" b="1" dirty="0">
                <a:solidFill>
                  <a:srgbClr val="FF0000"/>
                </a:solidFill>
              </a:rPr>
              <a:t>  flaw</a:t>
            </a:r>
            <a:r>
              <a:rPr lang="zh-CN" altLang="en-US" sz="3600" b="1" dirty="0">
                <a:solidFill>
                  <a:srgbClr val="FF0000"/>
                </a:solidFill>
              </a:rPr>
              <a:t>缺点</a:t>
            </a:r>
            <a:r>
              <a:rPr lang="en-US" altLang="zh-CN" sz="3600" b="1" dirty="0">
                <a:solidFill>
                  <a:srgbClr val="FF0000"/>
                </a:solidFill>
              </a:rPr>
              <a:t>=weakness</a:t>
            </a:r>
          </a:p>
          <a:p>
            <a:r>
              <a:rPr lang="en-US" altLang="zh-CN" sz="3600" b="1" dirty="0">
                <a:solidFill>
                  <a:srgbClr val="FF0000"/>
                </a:solidFill>
              </a:rPr>
              <a:t> incredible a.</a:t>
            </a:r>
            <a:r>
              <a:rPr lang="zh-CN" altLang="en-US" sz="3600" b="1" dirty="0">
                <a:solidFill>
                  <a:srgbClr val="FF0000"/>
                </a:solidFill>
              </a:rPr>
              <a:t>难以置信的</a:t>
            </a:r>
            <a:r>
              <a:rPr lang="en-US" altLang="zh-CN" sz="3600" b="1" dirty="0">
                <a:solidFill>
                  <a:srgbClr val="FF0000"/>
                </a:solidFill>
              </a:rPr>
              <a:t>;</a:t>
            </a:r>
            <a:r>
              <a:rPr lang="zh-CN" altLang="en-US" sz="3600" b="1" dirty="0">
                <a:solidFill>
                  <a:srgbClr val="FF0000"/>
                </a:solidFill>
              </a:rPr>
              <a:t>惊人的</a:t>
            </a:r>
            <a:r>
              <a:rPr lang="en-US" altLang="zh-CN" sz="3600" b="1" dirty="0">
                <a:solidFill>
                  <a:srgbClr val="FF0000"/>
                </a:solidFill>
              </a:rPr>
              <a:t>;</a:t>
            </a:r>
            <a:r>
              <a:rPr lang="zh-CN" altLang="en-US" sz="3600" b="1" dirty="0">
                <a:solidFill>
                  <a:srgbClr val="FF0000"/>
                </a:solidFill>
              </a:rPr>
              <a:t>极好的</a:t>
            </a:r>
            <a:endParaRPr lang="en-US" altLang="zh-CN" sz="3600" b="1" dirty="0">
              <a:solidFill>
                <a:srgbClr val="FF0000"/>
              </a:solidFill>
            </a:endParaRPr>
          </a:p>
          <a:p>
            <a:r>
              <a:rPr lang="en-US" altLang="zh-CN" sz="3600" b="1" dirty="0">
                <a:solidFill>
                  <a:srgbClr val="FF0000"/>
                </a:solidFill>
              </a:rPr>
              <a:t> scarcity n.</a:t>
            </a:r>
            <a:r>
              <a:rPr lang="zh-CN" altLang="en-US" sz="3600" b="1" dirty="0">
                <a:solidFill>
                  <a:srgbClr val="FF0000"/>
                </a:solidFill>
              </a:rPr>
              <a:t>不足缺乏</a:t>
            </a:r>
            <a:r>
              <a:rPr lang="en-US" altLang="zh-CN" sz="3600" b="1" dirty="0">
                <a:solidFill>
                  <a:srgbClr val="FF0000"/>
                </a:solidFill>
              </a:rPr>
              <a:t> violation n.</a:t>
            </a:r>
            <a:r>
              <a:rPr lang="zh-CN" altLang="en-US" sz="3600" b="1" dirty="0">
                <a:solidFill>
                  <a:srgbClr val="FF0000"/>
                </a:solidFill>
              </a:rPr>
              <a:t>违反 </a:t>
            </a:r>
            <a:r>
              <a:rPr lang="en-US" altLang="zh-CN" sz="3600" b="1" dirty="0">
                <a:solidFill>
                  <a:srgbClr val="FF0000"/>
                </a:solidFill>
              </a:rPr>
              <a:t>violate v.</a:t>
            </a:r>
          </a:p>
          <a:p>
            <a:r>
              <a:rPr lang="en-US" altLang="zh-CN" sz="3600" b="1" dirty="0">
                <a:solidFill>
                  <a:srgbClr val="FF0000"/>
                </a:solidFill>
              </a:rPr>
              <a:t> complicate v.</a:t>
            </a:r>
            <a:r>
              <a:rPr lang="zh-CN" altLang="en-US" sz="3600" b="1" dirty="0">
                <a:solidFill>
                  <a:srgbClr val="FF0000"/>
                </a:solidFill>
              </a:rPr>
              <a:t>使复杂  </a:t>
            </a:r>
            <a:r>
              <a:rPr lang="en-US" altLang="zh-CN" sz="3600" b="1" dirty="0">
                <a:solidFill>
                  <a:srgbClr val="FF0000"/>
                </a:solidFill>
              </a:rPr>
              <a:t>complicated a.</a:t>
            </a:r>
          </a:p>
          <a:p>
            <a:r>
              <a:rPr lang="en-US" altLang="zh-CN" sz="3600" b="1" dirty="0">
                <a:solidFill>
                  <a:srgbClr val="FF0000"/>
                </a:solidFill>
              </a:rPr>
              <a:t> the</a:t>
            </a:r>
            <a:r>
              <a:rPr lang="zh-CN" altLang="en-US" sz="3600" b="1" dirty="0">
                <a:solidFill>
                  <a:srgbClr val="FF0000"/>
                </a:solidFill>
              </a:rPr>
              <a:t> </a:t>
            </a:r>
            <a:r>
              <a:rPr lang="en-US" altLang="zh-CN" sz="3600" b="1" dirty="0">
                <a:solidFill>
                  <a:srgbClr val="FF0000"/>
                </a:solidFill>
              </a:rPr>
              <a:t>merging</a:t>
            </a:r>
            <a:r>
              <a:rPr lang="zh-CN" altLang="en-US" sz="3600" b="1" dirty="0">
                <a:solidFill>
                  <a:srgbClr val="FF0000"/>
                </a:solidFill>
              </a:rPr>
              <a:t> </a:t>
            </a:r>
            <a:r>
              <a:rPr lang="en-US" altLang="zh-CN" sz="3600" b="1" dirty="0">
                <a:solidFill>
                  <a:srgbClr val="FF0000"/>
                </a:solidFill>
              </a:rPr>
              <a:t>of</a:t>
            </a:r>
            <a:r>
              <a:rPr lang="zh-CN" altLang="en-US" sz="3600" b="1" dirty="0">
                <a:solidFill>
                  <a:srgbClr val="FF0000"/>
                </a:solidFill>
              </a:rPr>
              <a:t>合并</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zh-CN" altLang="en-US" sz="3600" b="1" dirty="0">
                <a:solidFill>
                  <a:srgbClr val="FF0000"/>
                </a:solidFill>
              </a:rPr>
              <a:t>卷二</a:t>
            </a:r>
          </a:p>
          <a:p>
            <a:r>
              <a:rPr lang="en-US" altLang="zh-CN" sz="3600" b="1" dirty="0">
                <a:solidFill>
                  <a:srgbClr val="FF0000"/>
                </a:solidFill>
              </a:rPr>
              <a:t> slightly changed by evolution</a:t>
            </a:r>
            <a:r>
              <a:rPr lang="zh-CN" altLang="en-US" sz="3600" b="1" dirty="0">
                <a:solidFill>
                  <a:srgbClr val="FF0000"/>
                </a:solidFill>
              </a:rPr>
              <a:t>在进化过程中略有改变</a:t>
            </a:r>
          </a:p>
          <a:p>
            <a:r>
              <a:rPr lang="en-US" altLang="zh-CN" sz="3600" b="1" dirty="0">
                <a:solidFill>
                  <a:srgbClr val="FF0000"/>
                </a:solidFill>
              </a:rPr>
              <a:t> not fixed</a:t>
            </a:r>
            <a:r>
              <a:rPr lang="zh-CN" altLang="en-US" sz="3600" b="1" dirty="0">
                <a:solidFill>
                  <a:srgbClr val="FF0000"/>
                </a:solidFill>
              </a:rPr>
              <a:t>不是固定的</a:t>
            </a:r>
            <a:r>
              <a:rPr lang="en-US" altLang="zh-CN" sz="3600" b="1" dirty="0">
                <a:solidFill>
                  <a:srgbClr val="FF0000"/>
                </a:solidFill>
              </a:rPr>
              <a:t>in numbers and placing</a:t>
            </a:r>
          </a:p>
          <a:p>
            <a:r>
              <a:rPr lang="en-US" altLang="zh-CN" sz="3600" b="1" dirty="0">
                <a:solidFill>
                  <a:srgbClr val="FF0000"/>
                </a:solidFill>
              </a:rPr>
              <a:t> filter v.</a:t>
            </a:r>
            <a:r>
              <a:rPr lang="zh-CN" altLang="en-US" sz="3600" b="1" dirty="0">
                <a:solidFill>
                  <a:srgbClr val="FF0000"/>
                </a:solidFill>
              </a:rPr>
              <a:t>过滤</a:t>
            </a:r>
            <a:r>
              <a:rPr lang="en-US" altLang="zh-CN" sz="3600" b="1" dirty="0">
                <a:solidFill>
                  <a:srgbClr val="FF0000"/>
                </a:solidFill>
              </a:rPr>
              <a:t> scent n.</a:t>
            </a:r>
            <a:r>
              <a:rPr lang="zh-CN" altLang="en-US" sz="3600" b="1" dirty="0">
                <a:solidFill>
                  <a:srgbClr val="FF0000"/>
                </a:solidFill>
              </a:rPr>
              <a:t>香味</a:t>
            </a:r>
            <a:r>
              <a:rPr lang="en-US" altLang="zh-CN" sz="3600" b="1" dirty="0">
                <a:solidFill>
                  <a:srgbClr val="FF0000"/>
                </a:solidFill>
              </a:rPr>
              <a:t>  give away</a:t>
            </a:r>
            <a:r>
              <a:rPr lang="zh-CN" altLang="en-US" sz="3600" b="1" dirty="0">
                <a:solidFill>
                  <a:srgbClr val="FF0000"/>
                </a:solidFill>
              </a:rPr>
              <a:t>泄露</a:t>
            </a:r>
            <a:r>
              <a:rPr lang="en-US" altLang="zh-CN" sz="3600" b="1" dirty="0">
                <a:solidFill>
                  <a:srgbClr val="FF0000"/>
                </a:solidFill>
              </a:rPr>
              <a:t>;</a:t>
            </a:r>
            <a:r>
              <a:rPr lang="zh-CN" altLang="en-US" sz="3600" b="1" dirty="0">
                <a:solidFill>
                  <a:srgbClr val="FF0000"/>
                </a:solidFill>
              </a:rPr>
              <a:t>赠送</a:t>
            </a:r>
          </a:p>
          <a:p>
            <a:r>
              <a:rPr lang="en-US" altLang="zh-CN" sz="3600" b="1" dirty="0">
                <a:solidFill>
                  <a:srgbClr val="FF0000"/>
                </a:solidFill>
              </a:rPr>
              <a:t> for instance</a:t>
            </a:r>
            <a:r>
              <a:rPr lang="zh-CN" altLang="en-US" sz="3600" b="1" dirty="0">
                <a:solidFill>
                  <a:srgbClr val="FF0000"/>
                </a:solidFill>
              </a:rPr>
              <a:t>例如</a:t>
            </a:r>
            <a:r>
              <a:rPr lang="en-US" altLang="zh-CN" sz="3600" b="1" dirty="0">
                <a:solidFill>
                  <a:srgbClr val="FF0000"/>
                </a:solidFill>
              </a:rPr>
              <a:t> quote a theory</a:t>
            </a:r>
            <a:r>
              <a:rPr lang="zh-CN" altLang="en-US" sz="3600" b="1" dirty="0">
                <a:solidFill>
                  <a:srgbClr val="FF0000"/>
                </a:solidFill>
              </a:rPr>
              <a:t>引用理论</a:t>
            </a:r>
            <a:endParaRPr lang="en-US" altLang="zh-CN" sz="3600" b="1" dirty="0">
              <a:solidFill>
                <a:srgbClr val="FF0000"/>
              </a:solidFill>
            </a:endParaRPr>
          </a:p>
          <a:p>
            <a:r>
              <a:rPr lang="en-US" altLang="zh-CN" sz="3600" b="1" dirty="0">
                <a:solidFill>
                  <a:srgbClr val="FF0000"/>
                </a:solidFill>
              </a:rPr>
              <a:t> make a contrast</a:t>
            </a:r>
            <a:r>
              <a:rPr lang="zh-CN" altLang="en-US" sz="3600" b="1" dirty="0">
                <a:solidFill>
                  <a:srgbClr val="FF0000"/>
                </a:solidFill>
              </a:rPr>
              <a:t>作对比</a:t>
            </a:r>
            <a:r>
              <a:rPr lang="en-US" altLang="zh-CN" sz="3600" b="1" dirty="0">
                <a:solidFill>
                  <a:srgbClr val="FF0000"/>
                </a:solidFill>
              </a:rPr>
              <a:t> make inferences</a:t>
            </a:r>
            <a:r>
              <a:rPr lang="zh-CN" altLang="en-US" sz="3600" b="1" dirty="0">
                <a:solidFill>
                  <a:srgbClr val="FF0000"/>
                </a:solidFill>
              </a:rPr>
              <a:t>推断</a:t>
            </a:r>
          </a:p>
          <a:p>
            <a:r>
              <a:rPr lang="en-US" altLang="zh-CN" sz="3600" b="1" dirty="0">
                <a:solidFill>
                  <a:srgbClr val="FF0000"/>
                </a:solidFill>
              </a:rPr>
              <a:t> in general</a:t>
            </a:r>
            <a:r>
              <a:rPr lang="zh-CN" altLang="en-US" sz="3600" b="1" dirty="0">
                <a:solidFill>
                  <a:srgbClr val="FF0000"/>
                </a:solidFill>
              </a:rPr>
              <a:t>一般来说</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 primary inspiration</a:t>
            </a:r>
            <a:r>
              <a:rPr lang="zh-CN" altLang="en-US" sz="3600" b="1" dirty="0">
                <a:solidFill>
                  <a:srgbClr val="FF0000"/>
                </a:solidFill>
              </a:rPr>
              <a:t>主要的灵感</a:t>
            </a:r>
            <a:r>
              <a:rPr lang="en-US" altLang="zh-CN" sz="3600" b="1" dirty="0">
                <a:solidFill>
                  <a:srgbClr val="FF0000"/>
                </a:solidFill>
              </a:rPr>
              <a:t> manage it</a:t>
            </a:r>
            <a:r>
              <a:rPr lang="zh-CN" altLang="en-US" sz="3600" b="1" dirty="0">
                <a:solidFill>
                  <a:srgbClr val="FF0000"/>
                </a:solidFill>
              </a:rPr>
              <a:t>成功</a:t>
            </a:r>
            <a:endParaRPr lang="en-US" altLang="zh-CN" sz="3600" b="1" dirty="0">
              <a:solidFill>
                <a:srgbClr val="FF0000"/>
              </a:solidFill>
            </a:endParaRPr>
          </a:p>
          <a:p>
            <a:r>
              <a:rPr lang="en-US" altLang="zh-CN" sz="3600" b="1" dirty="0">
                <a:solidFill>
                  <a:srgbClr val="FF0000"/>
                </a:solidFill>
              </a:rPr>
              <a:t> As sb. put it, </a:t>
            </a:r>
            <a:r>
              <a:rPr lang="zh-CN" altLang="en-US" sz="3600" b="1" dirty="0">
                <a:solidFill>
                  <a:srgbClr val="FF0000"/>
                </a:solidFill>
              </a:rPr>
              <a:t>正如某人所说</a:t>
            </a:r>
          </a:p>
          <a:p>
            <a:r>
              <a:rPr lang="en-US" altLang="zh-CN" sz="3600" b="1" dirty="0">
                <a:solidFill>
                  <a:srgbClr val="FF0000"/>
                </a:solidFill>
              </a:rPr>
              <a:t> arouse awareness in sb.</a:t>
            </a:r>
            <a:r>
              <a:rPr lang="zh-CN" altLang="en-US" sz="3600" b="1" dirty="0">
                <a:solidFill>
                  <a:srgbClr val="FF0000"/>
                </a:solidFill>
              </a:rPr>
              <a:t>换气某人的意识</a:t>
            </a:r>
            <a:endParaRPr lang="en-US" altLang="zh-CN" sz="3600" b="1" dirty="0">
              <a:solidFill>
                <a:srgbClr val="FF0000"/>
              </a:solidFill>
            </a:endParaRPr>
          </a:p>
          <a:p>
            <a:r>
              <a:rPr lang="en-US" altLang="zh-CN" sz="3600" b="1" dirty="0">
                <a:solidFill>
                  <a:srgbClr val="FF0000"/>
                </a:solidFill>
              </a:rPr>
              <a:t> describe sth. to sb.</a:t>
            </a:r>
            <a:r>
              <a:rPr lang="zh-CN" altLang="en-US" sz="3600" b="1" dirty="0">
                <a:solidFill>
                  <a:srgbClr val="FF0000"/>
                </a:solidFill>
              </a:rPr>
              <a:t>描述</a:t>
            </a:r>
            <a:r>
              <a:rPr lang="en-US" altLang="zh-CN" sz="3600" b="1" dirty="0">
                <a:solidFill>
                  <a:srgbClr val="FF0000"/>
                </a:solidFill>
              </a:rPr>
              <a:t>  recall v.</a:t>
            </a:r>
            <a:r>
              <a:rPr lang="zh-CN" altLang="en-US" sz="3600" b="1" dirty="0">
                <a:solidFill>
                  <a:srgbClr val="FF0000"/>
                </a:solidFill>
              </a:rPr>
              <a:t>回忆起</a:t>
            </a:r>
            <a:endParaRPr lang="en-US" altLang="zh-CN" sz="3600" b="1" dirty="0">
              <a:solidFill>
                <a:srgbClr val="FF0000"/>
              </a:solidFill>
            </a:endParaRPr>
          </a:p>
          <a:p>
            <a:r>
              <a:rPr lang="en-US" altLang="zh-CN" sz="3600" b="1" dirty="0">
                <a:solidFill>
                  <a:srgbClr val="FF0000"/>
                </a:solidFill>
              </a:rPr>
              <a:t> set sth. right</a:t>
            </a:r>
            <a:r>
              <a:rPr lang="zh-CN" altLang="en-US" sz="3600" b="1" dirty="0">
                <a:solidFill>
                  <a:srgbClr val="FF0000"/>
                </a:solidFill>
              </a:rPr>
              <a:t>摆正</a:t>
            </a:r>
            <a:r>
              <a:rPr lang="en-US" altLang="zh-CN" sz="3600" b="1" dirty="0">
                <a:solidFill>
                  <a:srgbClr val="FF0000"/>
                </a:solidFill>
              </a:rPr>
              <a:t> set aside</a:t>
            </a:r>
            <a:r>
              <a:rPr lang="zh-CN" altLang="en-US" sz="3600" b="1" dirty="0">
                <a:solidFill>
                  <a:srgbClr val="FF0000"/>
                </a:solidFill>
              </a:rPr>
              <a:t>留出</a:t>
            </a:r>
            <a:r>
              <a:rPr lang="en-US" altLang="zh-CN" sz="3600" b="1" dirty="0">
                <a:solidFill>
                  <a:srgbClr val="FF0000"/>
                </a:solidFill>
              </a:rPr>
              <a:t>;</a:t>
            </a:r>
            <a:r>
              <a:rPr lang="zh-CN" altLang="en-US" sz="3600" b="1" dirty="0">
                <a:solidFill>
                  <a:srgbClr val="FF0000"/>
                </a:solidFill>
              </a:rPr>
              <a:t>搁置</a:t>
            </a:r>
            <a:endParaRPr lang="en-US" altLang="zh-CN" sz="3600" b="1" dirty="0">
              <a:solidFill>
                <a:srgbClr val="FF0000"/>
              </a:solidFill>
            </a:endParaRPr>
          </a:p>
          <a:p>
            <a:r>
              <a:rPr lang="en-US" altLang="zh-CN" sz="3600" b="1" dirty="0">
                <a:solidFill>
                  <a:srgbClr val="FF0000"/>
                </a:solidFill>
              </a:rPr>
              <a:t> donations</a:t>
            </a:r>
            <a:r>
              <a:rPr lang="zh-CN" altLang="en-US" sz="3600" b="1" dirty="0">
                <a:solidFill>
                  <a:srgbClr val="FF0000"/>
                </a:solidFill>
              </a:rPr>
              <a:t>捐赠物</a:t>
            </a:r>
          </a:p>
          <a:p>
            <a:r>
              <a:rPr lang="en-US" altLang="zh-CN" sz="3600" b="1" dirty="0">
                <a:solidFill>
                  <a:srgbClr val="FF0000"/>
                </a:solidFill>
              </a:rPr>
              <a:t> drop off</a:t>
            </a:r>
            <a:r>
              <a:rPr lang="zh-CN" altLang="en-US" sz="3600" b="1" dirty="0">
                <a:solidFill>
                  <a:srgbClr val="FF0000"/>
                </a:solidFill>
              </a:rPr>
              <a:t>放下</a:t>
            </a:r>
            <a:r>
              <a:rPr lang="en-US" altLang="zh-CN" sz="3600" b="1" dirty="0">
                <a:solidFill>
                  <a:srgbClr val="FF0000"/>
                </a:solidFill>
              </a:rPr>
              <a:t>;</a:t>
            </a:r>
            <a:r>
              <a:rPr lang="zh-CN" altLang="en-US" sz="3600" b="1" dirty="0">
                <a:solidFill>
                  <a:srgbClr val="FF0000"/>
                </a:solidFill>
              </a:rPr>
              <a:t>减少</a:t>
            </a:r>
            <a:r>
              <a:rPr lang="en-US" altLang="zh-CN" sz="3600" b="1" dirty="0">
                <a:solidFill>
                  <a:srgbClr val="FF0000"/>
                </a:solidFill>
              </a:rPr>
              <a:t>;</a:t>
            </a:r>
            <a:r>
              <a:rPr lang="zh-CN" altLang="en-US" sz="3600" b="1" dirty="0">
                <a:solidFill>
                  <a:srgbClr val="FF0000"/>
                </a:solidFill>
              </a:rPr>
              <a:t>入睡</a:t>
            </a:r>
            <a:r>
              <a:rPr lang="en-US" altLang="zh-CN" sz="3600" b="1" dirty="0">
                <a:solidFill>
                  <a:srgbClr val="FF0000"/>
                </a:solidFill>
              </a:rPr>
              <a:t> throw off</a:t>
            </a:r>
            <a:r>
              <a:rPr lang="zh-CN" altLang="en-US" sz="3600" b="1" dirty="0">
                <a:solidFill>
                  <a:srgbClr val="FF0000"/>
                </a:solidFill>
              </a:rPr>
              <a:t>扔掉</a:t>
            </a:r>
          </a:p>
          <a:p>
            <a:r>
              <a:rPr lang="en-US" altLang="zh-CN" sz="3600" b="1" dirty="0">
                <a:solidFill>
                  <a:srgbClr val="FF0000"/>
                </a:solidFill>
              </a:rPr>
              <a:t> take off</a:t>
            </a:r>
            <a:r>
              <a:rPr lang="zh-CN" altLang="en-US" sz="3600" b="1" dirty="0">
                <a:solidFill>
                  <a:srgbClr val="FF0000"/>
                </a:solidFill>
              </a:rPr>
              <a:t>起飞脱下迅速流行</a:t>
            </a:r>
            <a:r>
              <a:rPr lang="en-US" altLang="zh-CN" sz="3600" b="1" dirty="0">
                <a:solidFill>
                  <a:srgbClr val="FF0000"/>
                </a:solidFill>
              </a:rPr>
              <a:t> go off</a:t>
            </a:r>
            <a:r>
              <a:rPr lang="zh-CN" altLang="en-US" sz="3600" b="1" dirty="0">
                <a:solidFill>
                  <a:srgbClr val="FF0000"/>
                </a:solidFill>
              </a:rPr>
              <a:t>爆炸</a:t>
            </a:r>
            <a:r>
              <a:rPr lang="en-US" altLang="zh-CN" sz="3600" b="1" dirty="0">
                <a:solidFill>
                  <a:srgbClr val="FF0000"/>
                </a:solidFill>
              </a:rPr>
              <a:t>;</a:t>
            </a:r>
            <a:r>
              <a:rPr lang="zh-CN" altLang="en-US" sz="3600" b="1" dirty="0">
                <a:solidFill>
                  <a:srgbClr val="FF0000"/>
                </a:solidFill>
              </a:rPr>
              <a:t>动身</a:t>
            </a:r>
          </a:p>
          <a:p>
            <a:r>
              <a:rPr lang="en-US" altLang="zh-CN" sz="3600" b="1" dirty="0">
                <a:solidFill>
                  <a:srgbClr val="FF0000"/>
                </a:solidFill>
              </a:rPr>
              <a:t> convinced</a:t>
            </a:r>
            <a:r>
              <a:rPr lang="zh-CN" altLang="en-US" sz="3600" b="1" dirty="0">
                <a:solidFill>
                  <a:srgbClr val="FF0000"/>
                </a:solidFill>
              </a:rPr>
              <a:t>确信的</a:t>
            </a:r>
            <a:r>
              <a:rPr lang="en-US" altLang="zh-CN" sz="3600" b="1" dirty="0">
                <a:solidFill>
                  <a:srgbClr val="FF0000"/>
                </a:solidFill>
              </a:rPr>
              <a:t> concerned</a:t>
            </a:r>
            <a:r>
              <a:rPr lang="zh-CN" altLang="en-US" sz="3600" b="1" dirty="0">
                <a:solidFill>
                  <a:srgbClr val="FF0000"/>
                </a:solidFill>
              </a:rPr>
              <a:t>担心的关心的</a:t>
            </a:r>
          </a:p>
          <a:p>
            <a:r>
              <a:rPr lang="en-US" altLang="zh-CN" sz="3600" b="1" dirty="0">
                <a:solidFill>
                  <a:srgbClr val="FF0000"/>
                </a:solidFill>
              </a:rPr>
              <a:t> nature</a:t>
            </a:r>
            <a:r>
              <a:rPr lang="zh-CN" altLang="en-US" sz="3600" b="1" dirty="0">
                <a:solidFill>
                  <a:srgbClr val="FF0000"/>
                </a:solidFill>
              </a:rPr>
              <a:t>习性</a:t>
            </a:r>
            <a:r>
              <a:rPr lang="en-US" altLang="zh-CN" sz="3600" b="1" dirty="0">
                <a:solidFill>
                  <a:srgbClr val="FF0000"/>
                </a:solidFill>
              </a:rPr>
              <a:t> by means of</a:t>
            </a:r>
            <a:r>
              <a:rPr lang="zh-CN" altLang="en-US" sz="3600" b="1" dirty="0">
                <a:solidFill>
                  <a:srgbClr val="FF0000"/>
                </a:solidFill>
              </a:rPr>
              <a:t>通过借助于</a:t>
            </a:r>
            <a:r>
              <a:rPr lang="en-US" altLang="zh-CN" sz="3600" b="1" dirty="0">
                <a:solidFill>
                  <a:srgbClr val="FF0000"/>
                </a:solidFill>
              </a:rPr>
              <a:t> regardless of</a:t>
            </a:r>
            <a:r>
              <a:rPr lang="zh-CN" altLang="en-US" sz="3600" b="1" dirty="0">
                <a:solidFill>
                  <a:srgbClr val="FF0000"/>
                </a:solidFill>
              </a:rPr>
              <a:t>不管</a:t>
            </a:r>
            <a:endParaRPr lang="en-US" altLang="zh-CN" sz="3600" b="1" dirty="0">
              <a:solidFill>
                <a:srgbClr val="FF0000"/>
              </a:solidFill>
            </a:endParaRPr>
          </a:p>
          <a:p>
            <a:r>
              <a:rPr lang="en-US" altLang="zh-CN" sz="3600" b="1" dirty="0">
                <a:solidFill>
                  <a:srgbClr val="FF0000"/>
                </a:solidFill>
              </a:rPr>
              <a:t> take action, instead of looking the other way</a:t>
            </a:r>
            <a:r>
              <a:rPr lang="zh-CN" altLang="en-US" sz="3600" b="1" dirty="0">
                <a:solidFill>
                  <a:srgbClr val="FF0000"/>
                </a:solidFill>
              </a:rPr>
              <a:t>采取行动，而不是视而不见</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56. For decades+</a:t>
            </a:r>
            <a:r>
              <a:rPr lang="zh-CN" altLang="en-US" sz="3600" b="1" dirty="0">
                <a:solidFill>
                  <a:srgbClr val="FF0000"/>
                </a:solidFill>
              </a:rPr>
              <a:t>现完</a:t>
            </a:r>
            <a:r>
              <a:rPr lang="en-US" altLang="zh-CN" sz="3600" b="1" dirty="0">
                <a:solidFill>
                  <a:srgbClr val="FF0000"/>
                </a:solidFill>
              </a:rPr>
              <a:t>            has laid</a:t>
            </a:r>
            <a:endParaRPr lang="zh-CN" altLang="en-US" sz="3600" b="1" dirty="0">
              <a:solidFill>
                <a:srgbClr val="FF0000"/>
              </a:solidFill>
            </a:endParaRPr>
          </a:p>
          <a:p>
            <a:r>
              <a:rPr lang="en-US" altLang="zh-CN" sz="3600" b="1" dirty="0">
                <a:solidFill>
                  <a:srgbClr val="FF0000"/>
                </a:solidFill>
              </a:rPr>
              <a:t> for+</a:t>
            </a:r>
            <a:r>
              <a:rPr lang="zh-CN" altLang="en-US" sz="3600" b="1" dirty="0">
                <a:solidFill>
                  <a:srgbClr val="FF0000"/>
                </a:solidFill>
              </a:rPr>
              <a:t>时间段</a:t>
            </a:r>
            <a:r>
              <a:rPr lang="en-US" altLang="zh-CN" sz="3600" b="1" dirty="0">
                <a:solidFill>
                  <a:srgbClr val="FF0000"/>
                </a:solidFill>
              </a:rPr>
              <a:t>; since+</a:t>
            </a:r>
            <a:r>
              <a:rPr lang="zh-CN" altLang="en-US" sz="3600" b="1" dirty="0">
                <a:solidFill>
                  <a:srgbClr val="FF0000"/>
                </a:solidFill>
              </a:rPr>
              <a:t>过去时间</a:t>
            </a:r>
            <a:r>
              <a:rPr lang="en-US" altLang="zh-CN" sz="3600" b="1" dirty="0">
                <a:solidFill>
                  <a:srgbClr val="FF0000"/>
                </a:solidFill>
              </a:rPr>
              <a:t>/did; in the past/last years; so far </a:t>
            </a:r>
          </a:p>
          <a:p>
            <a:r>
              <a:rPr lang="en-US" altLang="zh-CN" sz="3600" b="1" dirty="0">
                <a:solidFill>
                  <a:srgbClr val="FF0000"/>
                </a:solidFill>
              </a:rPr>
              <a:t> lay (laid*2)</a:t>
            </a:r>
            <a:r>
              <a:rPr lang="zh-CN" altLang="en-US" sz="3600" b="1" dirty="0">
                <a:solidFill>
                  <a:srgbClr val="FF0000"/>
                </a:solidFill>
              </a:rPr>
              <a:t>放置</a:t>
            </a:r>
            <a:r>
              <a:rPr lang="en-US" altLang="zh-CN" sz="3600" b="1" dirty="0">
                <a:solidFill>
                  <a:srgbClr val="FF0000"/>
                </a:solidFill>
              </a:rPr>
              <a:t>  lie(lay, lain)</a:t>
            </a:r>
            <a:r>
              <a:rPr lang="zh-CN" altLang="en-US" sz="3600" b="1" dirty="0">
                <a:solidFill>
                  <a:srgbClr val="FF0000"/>
                </a:solidFill>
              </a:rPr>
              <a:t>躺</a:t>
            </a:r>
            <a:r>
              <a:rPr lang="en-US" altLang="zh-CN" sz="3600" b="1" dirty="0">
                <a:solidFill>
                  <a:srgbClr val="FF0000"/>
                </a:solidFill>
              </a:rPr>
              <a:t>;</a:t>
            </a:r>
            <a:r>
              <a:rPr lang="zh-CN" altLang="en-US" sz="3600" b="1" dirty="0">
                <a:solidFill>
                  <a:srgbClr val="FF0000"/>
                </a:solidFill>
              </a:rPr>
              <a:t>位于</a:t>
            </a:r>
          </a:p>
          <a:p>
            <a:r>
              <a:rPr lang="en-US" altLang="zh-CN" sz="3600" b="1" dirty="0">
                <a:solidFill>
                  <a:srgbClr val="FF0000"/>
                </a:solidFill>
              </a:rPr>
              <a:t>57.personal development</a:t>
            </a:r>
            <a:r>
              <a:rPr lang="zh-CN" altLang="en-US" sz="3600" b="1" dirty="0">
                <a:solidFill>
                  <a:srgbClr val="FF0000"/>
                </a:solidFill>
              </a:rPr>
              <a:t>个人发展</a:t>
            </a:r>
            <a:endParaRPr lang="en-US" altLang="zh-CN" sz="3600" b="1" dirty="0">
              <a:solidFill>
                <a:srgbClr val="FF0000"/>
              </a:solidFill>
            </a:endParaRPr>
          </a:p>
          <a:p>
            <a:r>
              <a:rPr lang="en-US" altLang="zh-CN" sz="3600" b="1" dirty="0">
                <a:solidFill>
                  <a:schemeClr val="tx1"/>
                </a:solidFill>
              </a:rPr>
              <a:t>58.unable </a:t>
            </a:r>
            <a:r>
              <a:rPr lang="en-US" altLang="zh-CN" sz="3600" b="1" dirty="0">
                <a:solidFill>
                  <a:srgbClr val="FF0000"/>
                </a:solidFill>
              </a:rPr>
              <a:t>59.announced plan</a:t>
            </a:r>
            <a:r>
              <a:rPr lang="zh-CN" altLang="en-US" sz="3600" b="1" dirty="0">
                <a:solidFill>
                  <a:srgbClr val="FF0000"/>
                </a:solidFill>
              </a:rPr>
              <a:t>宣布的计划</a:t>
            </a:r>
            <a:endParaRPr lang="en-US" altLang="zh-CN" sz="3600" b="1" dirty="0">
              <a:solidFill>
                <a:srgbClr val="FF0000"/>
              </a:solidFill>
            </a:endParaRPr>
          </a:p>
          <a:p>
            <a:r>
              <a:rPr lang="en-US" altLang="zh-CN" sz="3600" b="1" dirty="0">
                <a:solidFill>
                  <a:srgbClr val="FF0000"/>
                </a:solidFill>
              </a:rPr>
              <a:t>60.separate A from B</a:t>
            </a:r>
            <a:r>
              <a:rPr lang="zh-CN" altLang="en-US" sz="3600" b="1" dirty="0">
                <a:solidFill>
                  <a:srgbClr val="FF0000"/>
                </a:solidFill>
              </a:rPr>
              <a:t>将</a:t>
            </a:r>
            <a:r>
              <a:rPr lang="en-US" altLang="zh-CN" sz="3600" b="1" dirty="0">
                <a:solidFill>
                  <a:srgbClr val="FF0000"/>
                </a:solidFill>
              </a:rPr>
              <a:t>A</a:t>
            </a:r>
            <a:r>
              <a:rPr lang="zh-CN" altLang="en-US" sz="3600" b="1" dirty="0">
                <a:solidFill>
                  <a:srgbClr val="FF0000"/>
                </a:solidFill>
              </a:rPr>
              <a:t>和</a:t>
            </a:r>
            <a:r>
              <a:rPr lang="en-US" altLang="zh-CN" sz="3600" b="1" dirty="0">
                <a:solidFill>
                  <a:srgbClr val="FF0000"/>
                </a:solidFill>
              </a:rPr>
              <a:t>B</a:t>
            </a:r>
            <a:r>
              <a:rPr lang="zh-CN" altLang="en-US" sz="3600" b="1" dirty="0">
                <a:solidFill>
                  <a:srgbClr val="FF0000"/>
                </a:solidFill>
              </a:rPr>
              <a:t>分开</a:t>
            </a:r>
            <a:endParaRPr lang="en-US" altLang="zh-CN" sz="3600" b="1" dirty="0">
              <a:solidFill>
                <a:srgbClr val="FF0000"/>
              </a:solidFill>
            </a:endParaRPr>
          </a:p>
          <a:p>
            <a:r>
              <a:rPr lang="en-US" altLang="zh-CN" sz="3600" b="1" dirty="0">
                <a:solidFill>
                  <a:srgbClr val="FF0000"/>
                </a:solidFill>
              </a:rPr>
              <a:t>61.the 62.be occupied</a:t>
            </a:r>
          </a:p>
          <a:p>
            <a:r>
              <a:rPr lang="en-US" altLang="zh-CN" sz="3600" b="1" dirty="0">
                <a:solidFill>
                  <a:srgbClr val="FF0000"/>
                </a:solidFill>
              </a:rPr>
              <a:t>63.the fact is that </a:t>
            </a:r>
            <a:r>
              <a:rPr lang="zh-CN" altLang="en-US" sz="3600" b="1" dirty="0">
                <a:solidFill>
                  <a:srgbClr val="FF0000"/>
                </a:solidFill>
              </a:rPr>
              <a:t>事实是</a:t>
            </a:r>
            <a:endParaRPr lang="en-US" altLang="zh-CN" sz="3600" b="1" dirty="0">
              <a:solidFill>
                <a:srgbClr val="FF0000"/>
              </a:solidFill>
            </a:endParaRPr>
          </a:p>
          <a:p>
            <a:r>
              <a:rPr lang="en-US" altLang="zh-CN" sz="3600" b="1" dirty="0">
                <a:solidFill>
                  <a:srgbClr val="FF0000"/>
                </a:solidFill>
              </a:rPr>
              <a:t>64.require sb. to do sth.</a:t>
            </a:r>
            <a:r>
              <a:rPr lang="zh-CN" altLang="en-US" sz="3600" b="1" dirty="0">
                <a:solidFill>
                  <a:srgbClr val="FF0000"/>
                </a:solidFill>
              </a:rPr>
              <a:t>要求某人做某事</a:t>
            </a:r>
            <a:r>
              <a:rPr lang="en-US" altLang="zh-CN" sz="3600" b="1" dirty="0">
                <a:solidFill>
                  <a:srgbClr val="FF0000"/>
                </a:solidFill>
              </a:rPr>
              <a:t> 65.dishes</a:t>
            </a:r>
          </a:p>
          <a:p>
            <a:endParaRPr lang="en-US" altLang="zh-CN" sz="3600" b="1" dirty="0">
              <a:solidFill>
                <a:srgbClr val="FF0000"/>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zh-CN" altLang="en-US" sz="3600" b="1" dirty="0"/>
              <a:t>练</a:t>
            </a:r>
            <a:r>
              <a:rPr lang="en-US" altLang="zh-CN" sz="3600" b="1" dirty="0"/>
              <a:t>P49-53</a:t>
            </a:r>
          </a:p>
          <a:p>
            <a:r>
              <a:rPr lang="en-US" altLang="zh-CN" sz="3600" b="1" dirty="0">
                <a:solidFill>
                  <a:srgbClr val="FF0000"/>
                </a:solidFill>
              </a:rPr>
              <a:t> downhearted a.</a:t>
            </a:r>
            <a:r>
              <a:rPr lang="zh-CN" altLang="en-US" sz="3600" b="1" dirty="0">
                <a:solidFill>
                  <a:srgbClr val="FF0000"/>
                </a:solidFill>
              </a:rPr>
              <a:t>沮丧的</a:t>
            </a:r>
            <a:endParaRPr lang="en-US" altLang="zh-CN" sz="3600" b="1" dirty="0">
              <a:solidFill>
                <a:srgbClr val="FF0000"/>
              </a:solidFill>
            </a:endParaRPr>
          </a:p>
          <a:p>
            <a:r>
              <a:rPr lang="en-US" altLang="zh-CN" sz="3600" b="1" dirty="0">
                <a:solidFill>
                  <a:srgbClr val="FF0000"/>
                </a:solidFill>
              </a:rPr>
              <a:t> console v.</a:t>
            </a:r>
            <a:r>
              <a:rPr lang="zh-CN" altLang="en-US" sz="3600" b="1" dirty="0">
                <a:solidFill>
                  <a:srgbClr val="FF0000"/>
                </a:solidFill>
              </a:rPr>
              <a:t>安慰</a:t>
            </a:r>
            <a:r>
              <a:rPr lang="en-US" altLang="zh-CN" sz="3600" b="1" dirty="0">
                <a:solidFill>
                  <a:srgbClr val="FF0000"/>
                </a:solidFill>
              </a:rPr>
              <a:t>=comfort</a:t>
            </a:r>
          </a:p>
          <a:p>
            <a:r>
              <a:rPr lang="en-US" altLang="zh-CN" sz="3600" b="1" dirty="0">
                <a:solidFill>
                  <a:srgbClr val="FF0000"/>
                </a:solidFill>
              </a:rPr>
              <a:t> take root in</a:t>
            </a:r>
            <a:r>
              <a:rPr lang="zh-CN" altLang="en-US" sz="3600" b="1" dirty="0">
                <a:solidFill>
                  <a:srgbClr val="FF0000"/>
                </a:solidFill>
              </a:rPr>
              <a:t>扎根于</a:t>
            </a:r>
            <a:r>
              <a:rPr lang="en-US" altLang="zh-CN" sz="3600" b="1" dirty="0">
                <a:solidFill>
                  <a:srgbClr val="FF0000"/>
                </a:solidFill>
              </a:rPr>
              <a:t>=be rooted in</a:t>
            </a:r>
          </a:p>
          <a:p>
            <a:r>
              <a:rPr lang="en-US" altLang="zh-CN" sz="3600" b="1" dirty="0">
                <a:solidFill>
                  <a:srgbClr val="FF0000"/>
                </a:solidFill>
              </a:rPr>
              <a:t> currently</a:t>
            </a:r>
            <a:r>
              <a:rPr lang="zh-CN" altLang="en-US" sz="3600" b="1" dirty="0">
                <a:solidFill>
                  <a:srgbClr val="FF0000"/>
                </a:solidFill>
              </a:rPr>
              <a:t>目前</a:t>
            </a:r>
            <a:endParaRPr lang="en-US" altLang="zh-CN" sz="3600" b="1" dirty="0">
              <a:solidFill>
                <a:srgbClr val="FF0000"/>
              </a:solidFill>
            </a:endParaRPr>
          </a:p>
          <a:p>
            <a:r>
              <a:rPr lang="en-US" altLang="zh-CN" sz="3600" b="1" dirty="0">
                <a:solidFill>
                  <a:srgbClr val="FF0000"/>
                </a:solidFill>
              </a:rPr>
              <a:t> has an enormous potential market</a:t>
            </a:r>
            <a:r>
              <a:rPr lang="zh-CN" altLang="en-US" sz="3600" b="1" dirty="0">
                <a:solidFill>
                  <a:srgbClr val="FF0000"/>
                </a:solidFill>
              </a:rPr>
              <a:t>有巨大的潜在市场</a:t>
            </a:r>
            <a:endParaRPr lang="en-US" altLang="zh-CN" sz="3600" b="1" dirty="0">
              <a:solidFill>
                <a:srgbClr val="FF0000"/>
              </a:solidFill>
            </a:endParaRPr>
          </a:p>
          <a:p>
            <a:r>
              <a:rPr lang="en-US" altLang="zh-CN" sz="3600" b="1" dirty="0">
                <a:solidFill>
                  <a:srgbClr val="FF0000"/>
                </a:solidFill>
              </a:rPr>
              <a:t> </a:t>
            </a:r>
            <a:endParaRPr lang="zh-CN" altLang="en-US" sz="3600" b="1" dirty="0">
              <a:solidFill>
                <a:srgbClr val="FF0000"/>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complex a.</a:t>
            </a:r>
            <a:r>
              <a:rPr lang="zh-CN" altLang="en-US" sz="3600" b="1" dirty="0">
                <a:solidFill>
                  <a:srgbClr val="FF0000"/>
                </a:solidFill>
              </a:rPr>
              <a:t>复杂的</a:t>
            </a:r>
            <a:r>
              <a:rPr lang="en-US" altLang="zh-CN" sz="3600" b="1" dirty="0">
                <a:solidFill>
                  <a:srgbClr val="FF0000"/>
                </a:solidFill>
              </a:rPr>
              <a:t> unique a.</a:t>
            </a:r>
            <a:r>
              <a:rPr lang="zh-CN" altLang="en-US" sz="3600" b="1" dirty="0">
                <a:solidFill>
                  <a:srgbClr val="FF0000"/>
                </a:solidFill>
              </a:rPr>
              <a:t>独特的</a:t>
            </a:r>
            <a:endParaRPr lang="en-US" altLang="zh-CN" sz="3600" b="1" dirty="0">
              <a:solidFill>
                <a:srgbClr val="FF0000"/>
              </a:solidFill>
            </a:endParaRPr>
          </a:p>
          <a:p>
            <a:r>
              <a:rPr lang="en-US" altLang="zh-CN" sz="3600" b="1" dirty="0">
                <a:solidFill>
                  <a:srgbClr val="FF0000"/>
                </a:solidFill>
              </a:rPr>
              <a:t> lemonade recipe</a:t>
            </a:r>
            <a:r>
              <a:rPr lang="zh-CN" altLang="en-US" dirty="0"/>
              <a:t>柠檬食谱</a:t>
            </a:r>
            <a:endParaRPr lang="en-US" altLang="zh-CN" sz="3600" b="1" dirty="0">
              <a:solidFill>
                <a:srgbClr val="FF0000"/>
              </a:solidFill>
            </a:endParaRPr>
          </a:p>
          <a:p>
            <a:r>
              <a:rPr lang="en-US" altLang="zh-CN" sz="3600" b="1" dirty="0">
                <a:solidFill>
                  <a:srgbClr val="FF0000"/>
                </a:solidFill>
              </a:rPr>
              <a:t> make…a hit</a:t>
            </a:r>
            <a:r>
              <a:rPr lang="zh-CN" altLang="en-US" sz="3600" b="1" dirty="0">
                <a:solidFill>
                  <a:srgbClr val="FF0000"/>
                </a:solidFill>
              </a:rPr>
              <a:t>大获成功受欢迎</a:t>
            </a:r>
            <a:endParaRPr lang="en-US" altLang="zh-CN" sz="3600" b="1" dirty="0">
              <a:solidFill>
                <a:srgbClr val="FF0000"/>
              </a:solidFill>
            </a:endParaRPr>
          </a:p>
          <a:p>
            <a:r>
              <a:rPr lang="en-US" altLang="zh-CN" sz="3600" b="1" dirty="0">
                <a:solidFill>
                  <a:srgbClr val="FF0000"/>
                </a:solidFill>
              </a:rPr>
              <a:t> beg for</a:t>
            </a:r>
            <a:r>
              <a:rPr lang="zh-CN" altLang="en-US" sz="3600" b="1" dirty="0">
                <a:solidFill>
                  <a:srgbClr val="FF0000"/>
                </a:solidFill>
              </a:rPr>
              <a:t>乞求 </a:t>
            </a:r>
            <a:r>
              <a:rPr lang="en-US" altLang="zh-CN" sz="3600" b="1" dirty="0">
                <a:solidFill>
                  <a:srgbClr val="FF0000"/>
                </a:solidFill>
              </a:rPr>
              <a:t> a lemonade stand</a:t>
            </a:r>
            <a:r>
              <a:rPr lang="zh-CN" altLang="en-US" sz="3600" b="1" dirty="0">
                <a:solidFill>
                  <a:srgbClr val="FF0000"/>
                </a:solidFill>
              </a:rPr>
              <a:t>柠檬汁摊位</a:t>
            </a:r>
            <a:endParaRPr lang="en-US" altLang="zh-CN" sz="3600" b="1" dirty="0">
              <a:solidFill>
                <a:srgbClr val="FF0000"/>
              </a:solidFill>
            </a:endParaRPr>
          </a:p>
          <a:p>
            <a:r>
              <a:rPr lang="en-US" altLang="zh-CN" sz="3600" b="1" dirty="0">
                <a:solidFill>
                  <a:srgbClr val="FF0000"/>
                </a:solidFill>
              </a:rPr>
              <a:t> in addition to</a:t>
            </a:r>
            <a:r>
              <a:rPr lang="zh-CN" altLang="en-US" sz="3600" b="1" dirty="0">
                <a:solidFill>
                  <a:srgbClr val="FF0000"/>
                </a:solidFill>
              </a:rPr>
              <a:t>除</a:t>
            </a:r>
            <a:r>
              <a:rPr lang="en-US" altLang="zh-CN" sz="3600" b="1" dirty="0">
                <a:solidFill>
                  <a:srgbClr val="FF0000"/>
                </a:solidFill>
              </a:rPr>
              <a:t>…</a:t>
            </a:r>
            <a:r>
              <a:rPr lang="zh-CN" altLang="en-US" sz="3600" b="1" dirty="0">
                <a:solidFill>
                  <a:srgbClr val="FF0000"/>
                </a:solidFill>
              </a:rPr>
              <a:t>之外 </a:t>
            </a:r>
            <a:r>
              <a:rPr lang="en-US" altLang="zh-CN" sz="3600" b="1" dirty="0">
                <a:solidFill>
                  <a:srgbClr val="FF0000"/>
                </a:solidFill>
              </a:rPr>
              <a:t>wander</a:t>
            </a:r>
            <a:r>
              <a:rPr lang="zh-CN" altLang="en-US" sz="3600" b="1" dirty="0">
                <a:solidFill>
                  <a:srgbClr val="FF0000"/>
                </a:solidFill>
              </a:rPr>
              <a:t>漫步</a:t>
            </a:r>
            <a:endParaRPr lang="en-US" altLang="zh-CN" sz="3600" b="1" dirty="0">
              <a:solidFill>
                <a:srgbClr val="FF0000"/>
              </a:solidFill>
            </a:endParaRPr>
          </a:p>
          <a:p>
            <a:r>
              <a:rPr lang="en-US" altLang="zh-CN" sz="3600" b="1" dirty="0">
                <a:solidFill>
                  <a:srgbClr val="FF0000"/>
                </a:solidFill>
              </a:rPr>
              <a:t> make a fortune</a:t>
            </a:r>
            <a:r>
              <a:rPr lang="zh-CN" altLang="en-US" sz="3600" b="1" dirty="0">
                <a:solidFill>
                  <a:srgbClr val="FF0000"/>
                </a:solidFill>
              </a:rPr>
              <a:t>发财</a:t>
            </a:r>
            <a:endParaRPr lang="en-US" altLang="zh-CN" sz="3600" b="1" dirty="0">
              <a:solidFill>
                <a:srgbClr val="FF0000"/>
              </a:solidFill>
            </a:endParaRPr>
          </a:p>
          <a:p>
            <a:r>
              <a:rPr lang="en-US" altLang="zh-CN" sz="3600" b="1" dirty="0">
                <a:solidFill>
                  <a:srgbClr val="FF0000"/>
                </a:solidFill>
              </a:rPr>
              <a:t> fill in</a:t>
            </a:r>
            <a:r>
              <a:rPr lang="zh-CN" altLang="en-US" sz="3600" b="1" dirty="0">
                <a:solidFill>
                  <a:srgbClr val="FF0000"/>
                </a:solidFill>
              </a:rPr>
              <a:t>填写补充 </a:t>
            </a:r>
            <a:r>
              <a:rPr lang="en-US" altLang="zh-CN" sz="3600" b="1" dirty="0">
                <a:solidFill>
                  <a:srgbClr val="FF0000"/>
                </a:solidFill>
              </a:rPr>
              <a:t>fill in for…</a:t>
            </a:r>
            <a:r>
              <a:rPr lang="zh-CN" altLang="en-US" sz="3600" b="1" dirty="0">
                <a:solidFill>
                  <a:srgbClr val="FF0000"/>
                </a:solidFill>
              </a:rPr>
              <a:t>代替</a:t>
            </a:r>
            <a:endParaRPr lang="en-US" altLang="zh-CN" sz="3600" b="1" dirty="0">
              <a:solidFill>
                <a:srgbClr val="FF0000"/>
              </a:solidFill>
            </a:endParaRPr>
          </a:p>
          <a:p>
            <a:r>
              <a:rPr lang="en-US" altLang="zh-CN" sz="3600" b="1" dirty="0">
                <a:solidFill>
                  <a:srgbClr val="FF0000"/>
                </a:solidFill>
              </a:rPr>
              <a:t> come along</a:t>
            </a:r>
            <a:r>
              <a:rPr lang="zh-CN" altLang="en-US" sz="3600" b="1" dirty="0">
                <a:solidFill>
                  <a:srgbClr val="FF0000"/>
                </a:solidFill>
              </a:rPr>
              <a:t>取得进展</a:t>
            </a:r>
            <a:r>
              <a:rPr lang="en-US" altLang="zh-CN" sz="3600" b="1" dirty="0">
                <a:solidFill>
                  <a:srgbClr val="FF0000"/>
                </a:solidFill>
              </a:rPr>
              <a:t>;</a:t>
            </a:r>
            <a:r>
              <a:rPr lang="zh-CN" altLang="en-US" sz="3600" b="1" dirty="0">
                <a:solidFill>
                  <a:srgbClr val="FF0000"/>
                </a:solidFill>
              </a:rPr>
              <a:t>陪同</a:t>
            </a:r>
            <a:endParaRPr lang="en-US" altLang="zh-CN" sz="3600" b="1" dirty="0">
              <a:solidFill>
                <a:srgbClr val="FF0000"/>
              </a:solidFill>
            </a:endParaRPr>
          </a:p>
          <a:p>
            <a:r>
              <a:rPr lang="en-US" altLang="zh-CN" sz="3600" b="1" dirty="0">
                <a:solidFill>
                  <a:srgbClr val="FF0000"/>
                </a:solidFill>
              </a:rPr>
              <a:t> drum up business</a:t>
            </a:r>
            <a:r>
              <a:rPr lang="zh-CN" altLang="en-US" sz="3600" b="1" dirty="0">
                <a:solidFill>
                  <a:srgbClr val="FF0000"/>
                </a:solidFill>
              </a:rPr>
              <a:t>招揽生意</a:t>
            </a:r>
            <a:endParaRPr lang="en-US" altLang="zh-CN" sz="3600" b="1" dirty="0">
              <a:solidFill>
                <a:srgbClr val="FF0000"/>
              </a:solidFill>
            </a:endParaRPr>
          </a:p>
          <a:p>
            <a:r>
              <a:rPr lang="en-US" altLang="zh-CN" sz="3600" b="1" dirty="0">
                <a:solidFill>
                  <a:srgbClr val="FF0000"/>
                </a:solidFill>
              </a:rPr>
              <a:t> be ashamed of</a:t>
            </a:r>
            <a:r>
              <a:rPr lang="zh-CN" altLang="en-US" sz="3600" b="1" dirty="0">
                <a:solidFill>
                  <a:srgbClr val="FF0000"/>
                </a:solidFill>
              </a:rPr>
              <a:t>感到羞耻</a:t>
            </a:r>
            <a:endParaRPr lang="en-US" altLang="zh-CN" sz="3600" b="1" dirty="0">
              <a:solidFill>
                <a:srgbClr val="FF0000"/>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20000"/>
          </a:bodyPr>
          <a:lstStyle/>
          <a:p>
            <a:r>
              <a:rPr lang="en-US" altLang="zh-CN" sz="3600" b="1" dirty="0">
                <a:solidFill>
                  <a:srgbClr val="FF0000"/>
                </a:solidFill>
              </a:rPr>
              <a:t> expect sb. to do </a:t>
            </a:r>
            <a:r>
              <a:rPr lang="en-US" altLang="zh-CN" sz="3600" b="1" dirty="0" err="1">
                <a:solidFill>
                  <a:srgbClr val="FF0000"/>
                </a:solidFill>
              </a:rPr>
              <a:t>sth</a:t>
            </a:r>
            <a:r>
              <a:rPr lang="en-US" altLang="zh-CN" sz="3600" b="1" dirty="0">
                <a:solidFill>
                  <a:srgbClr val="FF0000"/>
                </a:solidFill>
              </a:rPr>
              <a:t>.=sb. be expected to do</a:t>
            </a:r>
            <a:r>
              <a:rPr lang="zh-CN" altLang="en-US" sz="3600" b="1" dirty="0">
                <a:solidFill>
                  <a:srgbClr val="FF0000"/>
                </a:solidFill>
              </a:rPr>
              <a:t>期待做某事</a:t>
            </a:r>
            <a:endParaRPr lang="en-US" altLang="zh-CN" sz="3600" b="1" dirty="0">
              <a:solidFill>
                <a:srgbClr val="FF0000"/>
              </a:solidFill>
            </a:endParaRPr>
          </a:p>
          <a:p>
            <a:r>
              <a:rPr lang="en-US" altLang="zh-CN" sz="3600" b="1" dirty="0">
                <a:solidFill>
                  <a:srgbClr val="FF0000"/>
                </a:solidFill>
              </a:rPr>
              <a:t> 31.to be offered 32.smarter </a:t>
            </a:r>
            <a:r>
              <a:rPr lang="en-US" altLang="zh-CN" sz="3600" b="1" dirty="0"/>
              <a:t>33.imagination</a:t>
            </a:r>
            <a:r>
              <a:rPr lang="en-US" altLang="zh-CN" sz="3600" b="1" dirty="0">
                <a:solidFill>
                  <a:srgbClr val="FF0000"/>
                </a:solidFill>
              </a:rPr>
              <a:t> 34.gives</a:t>
            </a:r>
          </a:p>
          <a:p>
            <a:r>
              <a:rPr lang="en-US" altLang="zh-CN" sz="3600" b="1" dirty="0">
                <a:solidFill>
                  <a:srgbClr val="FF0000"/>
                </a:solidFill>
              </a:rPr>
              <a:t> </a:t>
            </a:r>
            <a:r>
              <a:rPr lang="en-US" altLang="zh-CN" sz="3600" b="1" u="sng" dirty="0">
                <a:solidFill>
                  <a:srgbClr val="FF0000"/>
                </a:solidFill>
              </a:rPr>
              <a:t>Not only </a:t>
            </a:r>
            <a:r>
              <a:rPr lang="en-US" altLang="zh-CN" sz="3600" b="1" dirty="0">
                <a:solidFill>
                  <a:srgbClr val="FF0000"/>
                </a:solidFill>
              </a:rPr>
              <a:t>does music make </a:t>
            </a:r>
            <a:r>
              <a:rPr lang="en-US" altLang="zh-CN" sz="3600" b="1" dirty="0"/>
              <a:t>children better students, </a:t>
            </a:r>
            <a:r>
              <a:rPr lang="en-US" altLang="zh-CN" sz="3600" b="1" u="sng" dirty="0">
                <a:solidFill>
                  <a:srgbClr val="FF0000"/>
                </a:solidFill>
              </a:rPr>
              <a:t>but also </a:t>
            </a:r>
            <a:r>
              <a:rPr lang="en-US" altLang="zh-CN" sz="3600" b="1" dirty="0">
                <a:solidFill>
                  <a:srgbClr val="FF0000"/>
                </a:solidFill>
              </a:rPr>
              <a:t>gives </a:t>
            </a:r>
            <a:r>
              <a:rPr lang="en-US" altLang="zh-CN" sz="3600" b="1" dirty="0"/>
              <a:t>them something positive to do.</a:t>
            </a:r>
          </a:p>
          <a:p>
            <a:r>
              <a:rPr lang="zh-CN" altLang="en-US" sz="3600" b="1" dirty="0">
                <a:solidFill>
                  <a:srgbClr val="FF0000"/>
                </a:solidFill>
              </a:rPr>
              <a:t>部分倒装：</a:t>
            </a:r>
          </a:p>
          <a:p>
            <a:r>
              <a:rPr lang="en-US" altLang="zh-CN" sz="3600" b="1" dirty="0">
                <a:solidFill>
                  <a:srgbClr val="FF0000"/>
                </a:solidFill>
              </a:rPr>
              <a:t>Not only+ </a:t>
            </a:r>
            <a:r>
              <a:rPr lang="en-US" altLang="zh-CN" sz="3600" b="1" u="sng" dirty="0">
                <a:solidFill>
                  <a:srgbClr val="FF0000"/>
                </a:solidFill>
              </a:rPr>
              <a:t>does/did sb. do </a:t>
            </a:r>
            <a:r>
              <a:rPr lang="en-US" altLang="zh-CN" sz="3600" b="1" u="sng" dirty="0" err="1">
                <a:solidFill>
                  <a:srgbClr val="FF0000"/>
                </a:solidFill>
              </a:rPr>
              <a:t>sth</a:t>
            </a:r>
            <a:r>
              <a:rPr lang="en-US" altLang="zh-CN" sz="3600" b="1" dirty="0">
                <a:solidFill>
                  <a:srgbClr val="FF0000"/>
                </a:solidFill>
              </a:rPr>
              <a:t>., but also </a:t>
            </a:r>
            <a:r>
              <a:rPr lang="en-US" altLang="zh-CN" sz="3600" b="1" u="sng" dirty="0">
                <a:solidFill>
                  <a:srgbClr val="FF0000"/>
                </a:solidFill>
              </a:rPr>
              <a:t>does/did </a:t>
            </a:r>
            <a:r>
              <a:rPr lang="en-US" altLang="zh-CN" sz="3600" b="1" u="sng" dirty="0" err="1">
                <a:solidFill>
                  <a:srgbClr val="FF0000"/>
                </a:solidFill>
              </a:rPr>
              <a:t>sth</a:t>
            </a:r>
            <a:r>
              <a:rPr lang="en-US" altLang="zh-CN" sz="3600" b="1" u="sng" dirty="0">
                <a:solidFill>
                  <a:srgbClr val="FF0000"/>
                </a:solidFill>
              </a:rPr>
              <a:t>.</a:t>
            </a:r>
          </a:p>
          <a:p>
            <a:r>
              <a:rPr lang="en-US" altLang="zh-CN" sz="3600" b="1" dirty="0">
                <a:solidFill>
                  <a:srgbClr val="FF0000"/>
                </a:solidFill>
              </a:rPr>
              <a:t> 35.</a:t>
            </a:r>
            <a:r>
              <a:rPr lang="en-US" altLang="zh-CN" sz="3600" b="1" u="sng" dirty="0">
                <a:solidFill>
                  <a:srgbClr val="FF0000"/>
                </a:solidFill>
              </a:rPr>
              <a:t>see sb. addicted to </a:t>
            </a:r>
            <a:r>
              <a:rPr lang="en-US" altLang="zh-CN" sz="3600" b="1" dirty="0">
                <a:solidFill>
                  <a:srgbClr val="FF0000"/>
                </a:solidFill>
              </a:rPr>
              <a:t>…</a:t>
            </a:r>
          </a:p>
          <a:p>
            <a:r>
              <a:rPr lang="en-US" altLang="zh-CN" sz="3600" b="1" dirty="0">
                <a:solidFill>
                  <a:srgbClr val="FF0000"/>
                </a:solidFill>
              </a:rPr>
              <a:t> be addicted to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沉迷于做某事</a:t>
            </a:r>
            <a:endParaRPr lang="en-US" altLang="zh-CN" sz="3600" b="1" dirty="0">
              <a:solidFill>
                <a:srgbClr val="FF0000"/>
              </a:solidFill>
            </a:endParaRPr>
          </a:p>
          <a:p>
            <a:r>
              <a:rPr lang="en-US" altLang="zh-CN" sz="3600" b="1" dirty="0">
                <a:solidFill>
                  <a:srgbClr val="FF0000"/>
                </a:solidFill>
              </a:rPr>
              <a:t> 36. a sense of achievement</a:t>
            </a:r>
            <a:r>
              <a:rPr lang="zh-CN" altLang="en-US" sz="3600" b="1" dirty="0">
                <a:solidFill>
                  <a:srgbClr val="FF0000"/>
                </a:solidFill>
              </a:rPr>
              <a:t>成就感</a:t>
            </a:r>
            <a:endParaRPr lang="en-US" altLang="zh-CN" sz="3600" b="1" dirty="0">
              <a:solidFill>
                <a:srgbClr val="FF0000"/>
              </a:solidFill>
            </a:endParaRPr>
          </a:p>
          <a:p>
            <a:r>
              <a:rPr lang="en-US" altLang="zh-CN" sz="3600" b="1" dirty="0"/>
              <a:t> 37.performing       </a:t>
            </a:r>
            <a:r>
              <a:rPr lang="en-US" altLang="zh-CN" sz="3600" b="1" dirty="0" err="1">
                <a:solidFill>
                  <a:srgbClr val="FF0000"/>
                </a:solidFill>
              </a:rPr>
              <a:t>practise+doing</a:t>
            </a:r>
            <a:r>
              <a:rPr lang="en-US" altLang="zh-CN" sz="3600" b="1" dirty="0">
                <a:solidFill>
                  <a:srgbClr val="FF0000"/>
                </a:solidFill>
              </a:rPr>
              <a:t>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练习做某事</a:t>
            </a:r>
            <a:endParaRPr lang="en-US" altLang="zh-CN" sz="3600" b="1" dirty="0">
              <a:solidFill>
                <a:srgbClr val="FF0000"/>
              </a:solidFill>
            </a:endParaRPr>
          </a:p>
          <a:p>
            <a:r>
              <a:rPr lang="en-US" altLang="zh-CN" sz="3600" b="1" dirty="0">
                <a:solidFill>
                  <a:srgbClr val="FF0000"/>
                </a:solidFill>
              </a:rPr>
              <a:t> 38. help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帮忙做某事          </a:t>
            </a:r>
            <a:endParaRPr lang="en-US" altLang="zh-CN" sz="3600" b="1" dirty="0">
              <a:solidFill>
                <a:srgbClr val="FF0000"/>
              </a:solidFill>
            </a:endParaRPr>
          </a:p>
          <a:p>
            <a:r>
              <a:rPr lang="en-US" altLang="zh-CN" sz="3600" b="1" dirty="0">
                <a:solidFill>
                  <a:srgbClr val="FF0000"/>
                </a:solidFill>
              </a:rPr>
              <a:t>help sb. with </a:t>
            </a:r>
            <a:r>
              <a:rPr lang="en-US" altLang="zh-CN" sz="3600" b="1" dirty="0" err="1">
                <a:solidFill>
                  <a:srgbClr val="FF0000"/>
                </a:solidFill>
              </a:rPr>
              <a:t>sth</a:t>
            </a:r>
            <a:r>
              <a:rPr lang="en-US" altLang="zh-CN" sz="3600" b="1" dirty="0">
                <a:solidFill>
                  <a:srgbClr val="FF0000"/>
                </a:solidFill>
              </a:rPr>
              <a:t>.=help sb. in doing </a:t>
            </a:r>
            <a:r>
              <a:rPr lang="en-US" altLang="zh-CN" sz="3600" b="1" dirty="0" err="1">
                <a:solidFill>
                  <a:srgbClr val="FF0000"/>
                </a:solidFill>
              </a:rPr>
              <a:t>sth</a:t>
            </a:r>
            <a:r>
              <a:rPr lang="en-US" altLang="zh-CN" sz="3600" b="1" dirty="0">
                <a:solidFill>
                  <a:srgbClr val="FF0000"/>
                </a:solidFill>
              </a:rPr>
              <a:t>.</a:t>
            </a:r>
          </a:p>
          <a:p>
            <a:r>
              <a:rPr lang="en-US" altLang="zh-CN" sz="3600" b="1" dirty="0">
                <a:solidFill>
                  <a:srgbClr val="FF0000"/>
                </a:solidFill>
              </a:rPr>
              <a:t> 39</a:t>
            </a:r>
            <a:r>
              <a:rPr lang="en-US" altLang="zh-CN" sz="3600" b="1" u="sng" dirty="0">
                <a:solidFill>
                  <a:srgbClr val="FF0000"/>
                </a:solidFill>
              </a:rPr>
              <a:t>. be of importance</a:t>
            </a:r>
            <a:r>
              <a:rPr lang="en-US" altLang="zh-CN" sz="3600" b="1" dirty="0">
                <a:solidFill>
                  <a:srgbClr val="FF0000"/>
                </a:solidFill>
              </a:rPr>
              <a:t>=be important  </a:t>
            </a:r>
          </a:p>
          <a:p>
            <a:r>
              <a:rPr lang="en-US" altLang="zh-CN" sz="3600" b="1" dirty="0"/>
              <a:t> 40.That is why+</a:t>
            </a:r>
            <a:r>
              <a:rPr lang="zh-CN" altLang="en-US" sz="3600" b="1" dirty="0"/>
              <a:t>原因</a:t>
            </a:r>
            <a:r>
              <a:rPr lang="en-US" altLang="zh-CN" sz="3600" b="1" dirty="0"/>
              <a:t> (SVO) </a:t>
            </a:r>
            <a:r>
              <a:rPr lang="zh-CN" altLang="en-US" sz="3600" b="1" dirty="0"/>
              <a:t>这就是为什么</a:t>
            </a:r>
            <a:endParaRPr lang="en-US" altLang="zh-CN" sz="3600" b="1"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zh-CN" altLang="en-US" sz="3600" b="1" dirty="0">
                <a:solidFill>
                  <a:srgbClr val="FF0000"/>
                </a:solidFill>
              </a:rPr>
              <a:t>卷一 </a:t>
            </a:r>
            <a:r>
              <a:rPr lang="en-US" altLang="zh-CN" sz="3600" b="1" dirty="0">
                <a:solidFill>
                  <a:srgbClr val="FF0000"/>
                </a:solidFill>
              </a:rPr>
              <a:t>nail it </a:t>
            </a:r>
            <a:r>
              <a:rPr lang="en-US" altLang="zh-CN" sz="3600" b="1" dirty="0"/>
              <a:t>1)</a:t>
            </a:r>
            <a:r>
              <a:rPr lang="zh-CN" altLang="en-US" sz="3600" b="1" dirty="0">
                <a:solidFill>
                  <a:srgbClr val="FF0000"/>
                </a:solidFill>
              </a:rPr>
              <a:t>对自己的称赞 “我猜中了” “搞定”</a:t>
            </a:r>
            <a:r>
              <a:rPr lang="en-US" altLang="zh-CN" sz="3600" b="1" dirty="0">
                <a:solidFill>
                  <a:srgbClr val="FF0000"/>
                </a:solidFill>
              </a:rPr>
              <a:t>2)</a:t>
            </a:r>
            <a:r>
              <a:rPr lang="zh-CN" altLang="en-US" sz="3600" b="1" dirty="0">
                <a:solidFill>
                  <a:srgbClr val="FF0000"/>
                </a:solidFill>
              </a:rPr>
              <a:t>对他人的鼓励 “你尽力了” “干得不错”</a:t>
            </a:r>
            <a:endParaRPr lang="en-US" altLang="zh-CN" sz="3600" b="1" dirty="0">
              <a:solidFill>
                <a:srgbClr val="FF0000"/>
              </a:solidFill>
            </a:endParaRPr>
          </a:p>
          <a:p>
            <a:r>
              <a:rPr lang="en-US" altLang="zh-CN" sz="3600" b="1" dirty="0">
                <a:solidFill>
                  <a:srgbClr val="FF0000"/>
                </a:solidFill>
              </a:rPr>
              <a:t> an interactive scene</a:t>
            </a:r>
            <a:r>
              <a:rPr lang="zh-CN" altLang="en-US" sz="3600" b="1" dirty="0">
                <a:solidFill>
                  <a:srgbClr val="FF0000"/>
                </a:solidFill>
              </a:rPr>
              <a:t>互动场景</a:t>
            </a:r>
            <a:endParaRPr lang="en-US" altLang="zh-CN" sz="3600" b="1" dirty="0">
              <a:solidFill>
                <a:srgbClr val="FF0000"/>
              </a:solidFill>
            </a:endParaRPr>
          </a:p>
          <a:p>
            <a:r>
              <a:rPr lang="en-US" altLang="zh-CN" sz="3600" b="1" dirty="0">
                <a:solidFill>
                  <a:srgbClr val="FF0000"/>
                </a:solidFill>
              </a:rPr>
              <a:t> go viral</a:t>
            </a:r>
            <a:r>
              <a:rPr lang="zh-CN" altLang="en-US" sz="3600" b="1" dirty="0">
                <a:solidFill>
                  <a:srgbClr val="FF0000"/>
                </a:solidFill>
              </a:rPr>
              <a:t>迅速传播</a:t>
            </a:r>
            <a:r>
              <a:rPr lang="en-US" altLang="zh-CN" sz="3600" b="1" dirty="0">
                <a:solidFill>
                  <a:srgbClr val="FF0000"/>
                </a:solidFill>
              </a:rPr>
              <a:t> be well received</a:t>
            </a:r>
            <a:r>
              <a:rPr lang="zh-CN" altLang="en-US" sz="3600" b="1" dirty="0">
                <a:solidFill>
                  <a:srgbClr val="FF0000"/>
                </a:solidFill>
              </a:rPr>
              <a:t>受到欢迎</a:t>
            </a:r>
            <a:endParaRPr lang="en-US" altLang="zh-CN" sz="3600" b="1" dirty="0">
              <a:solidFill>
                <a:srgbClr val="FF0000"/>
              </a:solidFill>
            </a:endParaRPr>
          </a:p>
          <a:p>
            <a:r>
              <a:rPr lang="en-US" altLang="zh-CN" sz="3600" b="1" dirty="0">
                <a:solidFill>
                  <a:srgbClr val="FF0000"/>
                </a:solidFill>
              </a:rPr>
              <a:t> ultimate goal</a:t>
            </a:r>
            <a:r>
              <a:rPr lang="zh-CN" altLang="en-US" sz="3600" b="1" dirty="0">
                <a:solidFill>
                  <a:srgbClr val="FF0000"/>
                </a:solidFill>
              </a:rPr>
              <a:t>终极目标</a:t>
            </a:r>
            <a:endParaRPr lang="en-US" altLang="zh-CN" sz="3600" b="1" dirty="0">
              <a:solidFill>
                <a:srgbClr val="FF0000"/>
              </a:solidFill>
            </a:endParaRPr>
          </a:p>
          <a:p>
            <a:r>
              <a:rPr lang="en-US" altLang="zh-CN" sz="3600" b="1" dirty="0">
                <a:solidFill>
                  <a:srgbClr val="FF0000"/>
                </a:solidFill>
              </a:rPr>
              <a:t> implant the stimulator</a:t>
            </a:r>
            <a:r>
              <a:rPr lang="zh-CN" altLang="en-US" sz="3600" b="1" dirty="0">
                <a:solidFill>
                  <a:srgbClr val="FF0000"/>
                </a:solidFill>
              </a:rPr>
              <a:t>植入刺激器 </a:t>
            </a:r>
            <a:r>
              <a:rPr lang="en-US" altLang="zh-CN" sz="3600" b="1" dirty="0">
                <a:solidFill>
                  <a:srgbClr val="FF0000"/>
                </a:solidFill>
              </a:rPr>
              <a:t>fix in</a:t>
            </a:r>
            <a:r>
              <a:rPr lang="zh-CN" altLang="en-US" sz="3600" b="1" dirty="0">
                <a:solidFill>
                  <a:srgbClr val="FF0000"/>
                </a:solidFill>
              </a:rPr>
              <a:t>安装</a:t>
            </a:r>
            <a:endParaRPr lang="en-US" altLang="zh-CN" sz="3600" b="1" dirty="0">
              <a:solidFill>
                <a:srgbClr val="FF0000"/>
              </a:solidFill>
            </a:endParaRPr>
          </a:p>
          <a:p>
            <a:r>
              <a:rPr lang="en-US" altLang="zh-CN" sz="3600" b="1" dirty="0">
                <a:solidFill>
                  <a:srgbClr val="FF0000"/>
                </a:solidFill>
              </a:rPr>
              <a:t> charge sb. $ for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索要</a:t>
            </a:r>
            <a:r>
              <a:rPr lang="en-US" altLang="zh-CN" sz="3600" b="1" dirty="0">
                <a:solidFill>
                  <a:srgbClr val="FF0000"/>
                </a:solidFill>
              </a:rPr>
              <a:t>,</a:t>
            </a:r>
            <a:r>
              <a:rPr lang="zh-CN" altLang="en-US" sz="3600" b="1" dirty="0">
                <a:solidFill>
                  <a:srgbClr val="FF0000"/>
                </a:solidFill>
              </a:rPr>
              <a:t>要价</a:t>
            </a:r>
            <a:endParaRPr lang="en-US" altLang="zh-CN" sz="3600" b="1" dirty="0">
              <a:solidFill>
                <a:srgbClr val="FF0000"/>
              </a:solidFill>
            </a:endParaRPr>
          </a:p>
          <a:p>
            <a:r>
              <a:rPr lang="en-US" altLang="zh-CN" sz="3600" b="1" dirty="0"/>
              <a:t> the reaction </a:t>
            </a:r>
            <a:r>
              <a:rPr lang="en-US" altLang="zh-CN" sz="3600" b="1" u="sng" dirty="0">
                <a:solidFill>
                  <a:srgbClr val="FF0000"/>
                </a:solidFill>
              </a:rPr>
              <a:t>was split</a:t>
            </a:r>
            <a:r>
              <a:rPr lang="zh-CN" altLang="en-US" sz="3600" b="1" u="sng" dirty="0">
                <a:solidFill>
                  <a:srgbClr val="FF0000"/>
                </a:solidFill>
              </a:rPr>
              <a:t>分裂的</a:t>
            </a:r>
            <a:r>
              <a:rPr lang="en-US" altLang="zh-CN" sz="3600" b="1" u="sng" dirty="0">
                <a:solidFill>
                  <a:srgbClr val="FF0000"/>
                </a:solidFill>
              </a:rPr>
              <a:t>=divided</a:t>
            </a:r>
            <a:r>
              <a:rPr lang="zh-CN" altLang="en-US" sz="3600" b="1" u="sng" dirty="0">
                <a:solidFill>
                  <a:srgbClr val="FF0000"/>
                </a:solidFill>
              </a:rPr>
              <a:t>不同的</a:t>
            </a:r>
            <a:endParaRPr lang="en-US" altLang="zh-CN" sz="3600" b="1" u="sng" dirty="0">
              <a:solidFill>
                <a:srgbClr val="FF0000"/>
              </a:solidFill>
            </a:endParaRPr>
          </a:p>
          <a:p>
            <a:r>
              <a:rPr lang="en-US" altLang="zh-CN" sz="3600" b="1" dirty="0">
                <a:solidFill>
                  <a:srgbClr val="FF0000"/>
                </a:solidFill>
              </a:rPr>
              <a:t> fit into</a:t>
            </a:r>
            <a:r>
              <a:rPr lang="zh-CN" altLang="en-US" sz="3600" b="1" dirty="0">
                <a:solidFill>
                  <a:srgbClr val="FF0000"/>
                </a:solidFill>
              </a:rPr>
              <a:t>适应</a:t>
            </a:r>
            <a:endParaRPr lang="en-US" altLang="zh-CN" sz="3600" b="1" dirty="0">
              <a:solidFill>
                <a:srgbClr val="FF0000"/>
              </a:solidFill>
            </a:endParaRPr>
          </a:p>
          <a:p>
            <a:r>
              <a:rPr lang="en-US" altLang="zh-CN" sz="3600" b="1" dirty="0">
                <a:solidFill>
                  <a:srgbClr val="FF0000"/>
                </a:solidFill>
              </a:rPr>
              <a:t> landlord</a:t>
            </a:r>
            <a:r>
              <a:rPr lang="zh-CN" altLang="en-US" sz="3600" b="1" dirty="0">
                <a:solidFill>
                  <a:srgbClr val="FF0000"/>
                </a:solidFill>
              </a:rPr>
              <a:t>房东</a:t>
            </a:r>
            <a:r>
              <a:rPr lang="en-US" altLang="zh-CN" sz="3600" b="1" dirty="0">
                <a:solidFill>
                  <a:srgbClr val="FF0000"/>
                </a:solidFill>
              </a:rPr>
              <a:t>,</a:t>
            </a:r>
            <a:r>
              <a:rPr lang="zh-CN" altLang="en-US" sz="3600" b="1" dirty="0">
                <a:solidFill>
                  <a:srgbClr val="FF0000"/>
                </a:solidFill>
              </a:rPr>
              <a:t>店主</a:t>
            </a:r>
            <a:endParaRPr lang="en-US" altLang="zh-CN" sz="3600" b="1" dirty="0">
              <a:solidFill>
                <a:srgbClr val="FF0000"/>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zh-CN" altLang="en-US" sz="3600" b="1" dirty="0"/>
              <a:t>练习一</a:t>
            </a:r>
            <a:r>
              <a:rPr lang="en-US" altLang="zh-CN" sz="3600" b="1" dirty="0"/>
              <a:t> </a:t>
            </a:r>
            <a:r>
              <a:rPr lang="en-US" altLang="zh-CN" sz="3600" b="1" u="sng" dirty="0">
                <a:solidFill>
                  <a:srgbClr val="FF0000"/>
                </a:solidFill>
              </a:rPr>
              <a:t> a </a:t>
            </a:r>
            <a:r>
              <a:rPr lang="en-US" altLang="zh-CN" sz="3600" b="1" u="sng" dirty="0" err="1">
                <a:solidFill>
                  <a:srgbClr val="FF0000"/>
                </a:solidFill>
              </a:rPr>
              <a:t>skywell</a:t>
            </a:r>
            <a:r>
              <a:rPr lang="zh-CN" altLang="en-US" sz="3600" b="1" u="sng" dirty="0">
                <a:solidFill>
                  <a:srgbClr val="FF0000"/>
                </a:solidFill>
              </a:rPr>
              <a:t>天井</a:t>
            </a:r>
            <a:r>
              <a:rPr lang="en-US" altLang="zh-CN" sz="3600" b="1" u="sng" dirty="0">
                <a:solidFill>
                  <a:srgbClr val="FF0000"/>
                </a:solidFill>
              </a:rPr>
              <a:t> </a:t>
            </a:r>
            <a:r>
              <a:rPr lang="en-US" altLang="zh-CN" sz="3600" b="1" dirty="0"/>
              <a:t>is an open</a:t>
            </a:r>
            <a:r>
              <a:rPr lang="zh-CN" altLang="en-US" sz="3600" b="1" dirty="0"/>
              <a:t> </a:t>
            </a:r>
            <a:r>
              <a:rPr lang="en-US" altLang="zh-CN" sz="3600" b="1" dirty="0"/>
              <a:t>courtyard</a:t>
            </a:r>
            <a:r>
              <a:rPr lang="zh-CN" altLang="en-US" sz="3600" b="1" dirty="0"/>
              <a:t>庭院</a:t>
            </a:r>
            <a:r>
              <a:rPr lang="en-US" altLang="zh-CN" sz="3600" b="1" dirty="0"/>
              <a:t>.</a:t>
            </a:r>
            <a:r>
              <a:rPr lang="zh-CN" altLang="en-US" sz="3600" b="1" dirty="0"/>
              <a:t> </a:t>
            </a:r>
            <a:r>
              <a:rPr lang="en-US" altLang="zh-CN" sz="3600" b="1" u="sng" dirty="0"/>
              <a:t>36  </a:t>
            </a:r>
            <a:r>
              <a:rPr lang="en-US" altLang="zh-CN" sz="3600" b="1" u="sng" dirty="0">
                <a:solidFill>
                  <a:srgbClr val="7030A0"/>
                </a:solidFill>
              </a:rPr>
              <a:t>Their designs </a:t>
            </a:r>
            <a:r>
              <a:rPr lang="en-US" altLang="zh-CN" sz="3600" b="1" dirty="0"/>
              <a:t>feature the classic Chinese </a:t>
            </a:r>
            <a:r>
              <a:rPr lang="en-US" altLang="zh-CN" sz="3600" b="1" dirty="0" err="1"/>
              <a:t>dou</a:t>
            </a:r>
            <a:r>
              <a:rPr lang="en-US" altLang="zh-CN" sz="3600" b="1" dirty="0"/>
              <a:t> going overhangs</a:t>
            </a:r>
            <a:r>
              <a:rPr lang="zh-CN" altLang="en-US" sz="3600" b="1" dirty="0"/>
              <a:t>飞檐</a:t>
            </a:r>
            <a:r>
              <a:rPr lang="en-US" altLang="zh-CN" sz="3600" b="1" dirty="0"/>
              <a:t>… </a:t>
            </a:r>
          </a:p>
          <a:p>
            <a:r>
              <a:rPr lang="en-US" altLang="zh-CN" sz="3600" b="1" u="sng" dirty="0">
                <a:solidFill>
                  <a:srgbClr val="FF0000"/>
                </a:solidFill>
              </a:rPr>
              <a:t>It </a:t>
            </a:r>
            <a:r>
              <a:rPr lang="en-US" altLang="zh-CN" sz="3600" b="1" dirty="0"/>
              <a:t>is often </a:t>
            </a:r>
            <a:r>
              <a:rPr lang="en-US" altLang="zh-CN" sz="3600" b="1" u="sng" dirty="0">
                <a:solidFill>
                  <a:srgbClr val="FF0000"/>
                </a:solidFill>
              </a:rPr>
              <a:t>a square </a:t>
            </a:r>
            <a:r>
              <a:rPr lang="en-US" altLang="zh-CN" sz="3600" b="1" dirty="0"/>
              <a:t>surrounded by the building’s </a:t>
            </a:r>
            <a:r>
              <a:rPr lang="en-US" altLang="zh-CN" sz="3600" b="1" u="sng" dirty="0">
                <a:solidFill>
                  <a:srgbClr val="7030A0"/>
                </a:solidFill>
              </a:rPr>
              <a:t>rooms and wings.</a:t>
            </a:r>
          </a:p>
          <a:p>
            <a:r>
              <a:rPr lang="en-US" altLang="zh-CN" sz="3200" b="1" dirty="0"/>
              <a:t>…control </a:t>
            </a:r>
            <a:r>
              <a:rPr lang="en-US" altLang="zh-CN" sz="3200" b="1" u="sng" dirty="0"/>
              <a:t>natural airing</a:t>
            </a:r>
            <a:r>
              <a:rPr lang="zh-CN" altLang="en-US" sz="3200" b="1" u="sng" dirty="0"/>
              <a:t>自然空气</a:t>
            </a:r>
            <a:r>
              <a:rPr lang="en-US" altLang="zh-CN" sz="3200" b="1" dirty="0"/>
              <a:t>. </a:t>
            </a:r>
            <a:r>
              <a:rPr lang="en-US" altLang="zh-CN" sz="3200" b="1" u="sng" dirty="0"/>
              <a:t>Cool air … and warm air</a:t>
            </a:r>
            <a:r>
              <a:rPr lang="en-US" altLang="zh-CN" sz="3200" b="1" dirty="0"/>
              <a:t>… </a:t>
            </a:r>
            <a:r>
              <a:rPr lang="en-US" altLang="zh-CN" sz="3200" b="1" u="sng" dirty="0"/>
              <a:t>37</a:t>
            </a:r>
          </a:p>
          <a:p>
            <a:r>
              <a:rPr lang="en-US" altLang="zh-CN" sz="3200" b="1" dirty="0"/>
              <a:t>This promotes fresh </a:t>
            </a:r>
            <a:r>
              <a:rPr lang="en-US" altLang="zh-CN" sz="3200" b="1" u="sng" dirty="0">
                <a:solidFill>
                  <a:srgbClr val="FF0000"/>
                </a:solidFill>
              </a:rPr>
              <a:t>air flow</a:t>
            </a:r>
            <a:r>
              <a:rPr lang="zh-CN" altLang="en-US" sz="3200" b="1" u="sng" dirty="0">
                <a:solidFill>
                  <a:srgbClr val="FF0000"/>
                </a:solidFill>
              </a:rPr>
              <a:t>空气流动</a:t>
            </a:r>
            <a:r>
              <a:rPr lang="en-US" altLang="zh-CN" sz="3200" b="1" dirty="0"/>
              <a:t>,…</a:t>
            </a:r>
          </a:p>
          <a:p>
            <a:r>
              <a:rPr lang="en-US" altLang="zh-CN" sz="3200" b="1" dirty="0"/>
              <a:t>…thermal regulation</a:t>
            </a:r>
            <a:r>
              <a:rPr lang="zh-CN" altLang="en-US" sz="3200" b="1" dirty="0"/>
              <a:t>热量管理</a:t>
            </a:r>
            <a:r>
              <a:rPr lang="en-US" altLang="zh-CN" sz="3200" b="1" dirty="0"/>
              <a:t>. </a:t>
            </a:r>
            <a:r>
              <a:rPr lang="en-US" altLang="zh-CN" sz="3200" b="1" u="sng" dirty="0">
                <a:solidFill>
                  <a:srgbClr val="7030A0"/>
                </a:solidFill>
              </a:rPr>
              <a:t>During the </a:t>
            </a:r>
            <a:r>
              <a:rPr lang="en-US" altLang="zh-CN" sz="3200" b="1" u="sng" dirty="0">
                <a:solidFill>
                  <a:srgbClr val="FF0000"/>
                </a:solidFill>
              </a:rPr>
              <a:t>day</a:t>
            </a:r>
            <a:r>
              <a:rPr lang="en-US" altLang="zh-CN" sz="3200" b="1" dirty="0"/>
              <a:t>, …. </a:t>
            </a:r>
            <a:r>
              <a:rPr lang="en-US" altLang="zh-CN" sz="3200" b="1" u="sng" dirty="0"/>
              <a:t>38</a:t>
            </a:r>
            <a:r>
              <a:rPr lang="en-US" altLang="zh-CN" sz="3200" b="1" dirty="0"/>
              <a:t> </a:t>
            </a:r>
            <a:r>
              <a:rPr lang="en-US" altLang="zh-CN" sz="3200" b="1" u="sng" dirty="0">
                <a:solidFill>
                  <a:srgbClr val="7030A0"/>
                </a:solidFill>
              </a:rPr>
              <a:t>This </a:t>
            </a:r>
            <a:r>
              <a:rPr lang="en-US" altLang="zh-CN" sz="3200" b="1" u="sng" dirty="0">
                <a:solidFill>
                  <a:srgbClr val="FF0000"/>
                </a:solidFill>
              </a:rPr>
              <a:t>day-night</a:t>
            </a:r>
            <a:r>
              <a:rPr lang="en-US" altLang="zh-CN" sz="3200" b="1" u="sng" dirty="0">
                <a:solidFill>
                  <a:srgbClr val="7030A0"/>
                </a:solidFill>
              </a:rPr>
              <a:t> cycle</a:t>
            </a:r>
            <a:r>
              <a:rPr lang="zh-CN" altLang="en-US" sz="3200" b="1" u="sng" dirty="0">
                <a:solidFill>
                  <a:srgbClr val="7030A0"/>
                </a:solidFill>
              </a:rPr>
              <a:t>昼夜周期循环 </a:t>
            </a:r>
            <a:r>
              <a:rPr lang="en-US" altLang="zh-CN" sz="3200" b="1" dirty="0"/>
              <a:t>helps maintain a consistent temperature indoors.</a:t>
            </a:r>
          </a:p>
          <a:p>
            <a:r>
              <a:rPr lang="en-US" altLang="zh-CN" sz="3200" b="1" dirty="0"/>
              <a:t>…water features, … </a:t>
            </a:r>
            <a:r>
              <a:rPr lang="en-US" altLang="zh-CN" sz="3200" b="1" u="sng" dirty="0">
                <a:solidFill>
                  <a:srgbClr val="0070C0"/>
                </a:solidFill>
              </a:rPr>
              <a:t>these water bodies</a:t>
            </a:r>
            <a:r>
              <a:rPr lang="en-US" altLang="zh-CN" sz="3200" b="1" dirty="0"/>
              <a:t>. </a:t>
            </a:r>
            <a:r>
              <a:rPr lang="en-US" altLang="zh-CN" sz="3200" b="1" u="sng" dirty="0"/>
              <a:t>39</a:t>
            </a:r>
            <a:r>
              <a:rPr lang="en-US" altLang="zh-CN" sz="3200" b="1" dirty="0"/>
              <a:t> As water evaporates</a:t>
            </a:r>
            <a:r>
              <a:rPr lang="zh-CN" altLang="en-US" sz="3200" b="1" dirty="0"/>
              <a:t>水蒸发</a:t>
            </a:r>
            <a:r>
              <a:rPr lang="en-US" altLang="zh-CN" sz="3200" b="1" dirty="0"/>
              <a:t>, it absorbs heat</a:t>
            </a:r>
            <a:r>
              <a:rPr lang="zh-CN" altLang="en-US" sz="3200" b="1" dirty="0"/>
              <a:t>吸热</a:t>
            </a:r>
            <a:r>
              <a:rPr lang="en-US" altLang="zh-CN" sz="3200" b="1" dirty="0"/>
              <a:t>…This </a:t>
            </a:r>
            <a:r>
              <a:rPr lang="en-US" altLang="zh-CN" sz="3200" b="1" dirty="0">
                <a:solidFill>
                  <a:srgbClr val="FF0000"/>
                </a:solidFill>
              </a:rPr>
              <a:t>reduces the temperature</a:t>
            </a:r>
            <a:r>
              <a:rPr lang="zh-CN" altLang="en-US" sz="3200" b="1" dirty="0">
                <a:solidFill>
                  <a:srgbClr val="FF0000"/>
                </a:solidFill>
              </a:rPr>
              <a:t>降温</a:t>
            </a:r>
            <a:r>
              <a:rPr lang="en-US" altLang="zh-CN" sz="3200" b="1" dirty="0"/>
              <a:t>…          It’s why </a:t>
            </a:r>
            <a:r>
              <a:rPr lang="en-US" altLang="zh-CN" sz="3200" b="1" dirty="0">
                <a:solidFill>
                  <a:srgbClr val="FF0000"/>
                </a:solidFill>
              </a:rPr>
              <a:t>temperatures </a:t>
            </a:r>
            <a:r>
              <a:rPr lang="en-US" altLang="zh-CN" sz="3200" b="1" dirty="0"/>
              <a:t>around </a:t>
            </a:r>
            <a:r>
              <a:rPr lang="en-US" altLang="zh-CN" sz="3200" b="1" u="sng" dirty="0">
                <a:solidFill>
                  <a:srgbClr val="0070C0"/>
                </a:solidFill>
              </a:rPr>
              <a:t>them</a:t>
            </a:r>
            <a:r>
              <a:rPr lang="en-US" altLang="zh-CN" sz="3200" b="1" dirty="0"/>
              <a:t> are 2.6 lower</a:t>
            </a:r>
          </a:p>
          <a:p>
            <a:r>
              <a:rPr lang="en-US" altLang="zh-CN" sz="3200" b="1" dirty="0"/>
              <a:t> 40.</a:t>
            </a:r>
            <a:r>
              <a:rPr lang="zh-CN" altLang="en-US" sz="3200" b="1" dirty="0"/>
              <a:t>主题句概括本段，</a:t>
            </a:r>
            <a:r>
              <a:rPr lang="en-US" altLang="zh-CN" sz="3200" b="1" dirty="0"/>
              <a:t>E</a:t>
            </a:r>
            <a:r>
              <a:rPr lang="zh-CN" altLang="en-US" sz="3200" b="1" dirty="0"/>
              <a:t>启下</a:t>
            </a:r>
            <a:endParaRPr lang="en-US" altLang="zh-CN" sz="3200" b="1"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en-US" altLang="zh-CN" sz="3600" b="1" dirty="0">
                <a:solidFill>
                  <a:srgbClr val="FF0000"/>
                </a:solidFill>
              </a:rPr>
              <a:t> boredom and tension</a:t>
            </a:r>
            <a:r>
              <a:rPr lang="zh-CN" altLang="en-US" sz="3600" b="1" dirty="0">
                <a:solidFill>
                  <a:srgbClr val="FF0000"/>
                </a:solidFill>
              </a:rPr>
              <a:t>无聊和紧张</a:t>
            </a:r>
            <a:r>
              <a:rPr lang="en-US" altLang="zh-CN" sz="3600" b="1" dirty="0">
                <a:solidFill>
                  <a:srgbClr val="FF0000"/>
                </a:solidFill>
              </a:rPr>
              <a:t>  emptiness</a:t>
            </a:r>
            <a:r>
              <a:rPr lang="zh-CN" altLang="en-US" sz="3600" b="1" dirty="0">
                <a:solidFill>
                  <a:srgbClr val="FF0000"/>
                </a:solidFill>
              </a:rPr>
              <a:t>空虚</a:t>
            </a:r>
            <a:endParaRPr lang="en-US" altLang="zh-CN" sz="3600" b="1" dirty="0">
              <a:solidFill>
                <a:srgbClr val="FF0000"/>
              </a:solidFill>
            </a:endParaRPr>
          </a:p>
          <a:p>
            <a:r>
              <a:rPr lang="en-US" altLang="zh-CN" sz="3600" b="1" dirty="0">
                <a:solidFill>
                  <a:srgbClr val="FF0000"/>
                </a:solidFill>
              </a:rPr>
              <a:t> uncomfortably</a:t>
            </a:r>
            <a:r>
              <a:rPr lang="zh-CN" altLang="en-US" sz="3600" b="1" dirty="0">
                <a:solidFill>
                  <a:srgbClr val="FF0000"/>
                </a:solidFill>
              </a:rPr>
              <a:t>不舒适地 </a:t>
            </a:r>
            <a:r>
              <a:rPr lang="en-US" altLang="zh-CN" sz="3600" b="1" dirty="0"/>
              <a:t>worn-out</a:t>
            </a:r>
            <a:r>
              <a:rPr lang="zh-CN" altLang="en-US" sz="3600" b="1" dirty="0"/>
              <a:t>磨破的</a:t>
            </a:r>
            <a:r>
              <a:rPr lang="en-US" altLang="zh-CN" sz="3600" b="1" dirty="0"/>
              <a:t> anxious</a:t>
            </a:r>
            <a:r>
              <a:rPr lang="zh-CN" altLang="en-US" sz="3600" b="1" dirty="0"/>
              <a:t>紧张的</a:t>
            </a:r>
            <a:endParaRPr lang="en-US" altLang="zh-CN" sz="3600" b="1" dirty="0"/>
          </a:p>
          <a:p>
            <a:r>
              <a:rPr lang="zh-CN" altLang="en-US" sz="3600" b="1" dirty="0">
                <a:solidFill>
                  <a:srgbClr val="FF0000"/>
                </a:solidFill>
              </a:rPr>
              <a:t> </a:t>
            </a:r>
            <a:r>
              <a:rPr lang="en-US" altLang="zh-CN" sz="3600" b="1" u="sng" dirty="0">
                <a:solidFill>
                  <a:srgbClr val="FF0000"/>
                </a:solidFill>
              </a:rPr>
              <a:t>spot</a:t>
            </a:r>
            <a:r>
              <a:rPr lang="en-US" altLang="zh-CN" sz="3600" b="1" dirty="0">
                <a:solidFill>
                  <a:srgbClr val="FF0000"/>
                </a:solidFill>
              </a:rPr>
              <a:t> v.</a:t>
            </a:r>
            <a:r>
              <a:rPr lang="zh-CN" altLang="en-US" sz="3600" b="1" dirty="0">
                <a:solidFill>
                  <a:srgbClr val="FF0000"/>
                </a:solidFill>
              </a:rPr>
              <a:t>发现 </a:t>
            </a:r>
            <a:r>
              <a:rPr lang="en-US" altLang="zh-CN" sz="3600" b="1" dirty="0">
                <a:solidFill>
                  <a:srgbClr val="FF0000"/>
                </a:solidFill>
              </a:rPr>
              <a:t>a swollen ankle</a:t>
            </a:r>
            <a:r>
              <a:rPr lang="zh-CN" altLang="en-US" sz="3600" b="1" dirty="0">
                <a:solidFill>
                  <a:srgbClr val="FF0000"/>
                </a:solidFill>
              </a:rPr>
              <a:t>肿胀的脚踝</a:t>
            </a:r>
            <a:endParaRPr lang="en-US" altLang="zh-CN" sz="3600" b="1" dirty="0">
              <a:solidFill>
                <a:srgbClr val="FF0000"/>
              </a:solidFill>
            </a:endParaRPr>
          </a:p>
          <a:p>
            <a:r>
              <a:rPr lang="en-US" altLang="zh-CN" sz="3600" b="1" dirty="0">
                <a:solidFill>
                  <a:srgbClr val="FF0000"/>
                </a:solidFill>
              </a:rPr>
              <a:t> acknowledge v.</a:t>
            </a:r>
            <a:r>
              <a:rPr lang="zh-CN" altLang="en-US" sz="3600" b="1" dirty="0">
                <a:solidFill>
                  <a:srgbClr val="FF0000"/>
                </a:solidFill>
              </a:rPr>
              <a:t>承认</a:t>
            </a:r>
            <a:r>
              <a:rPr lang="en-US" altLang="zh-CN" sz="3600" b="1" dirty="0">
                <a:solidFill>
                  <a:srgbClr val="FF0000"/>
                </a:solidFill>
              </a:rPr>
              <a:t>;</a:t>
            </a:r>
            <a:r>
              <a:rPr lang="zh-CN" altLang="en-US" sz="3600" b="1" dirty="0">
                <a:solidFill>
                  <a:srgbClr val="FF0000"/>
                </a:solidFill>
              </a:rPr>
              <a:t>告知收到</a:t>
            </a:r>
            <a:r>
              <a:rPr lang="en-US" altLang="zh-CN" sz="3600" b="1" dirty="0">
                <a:solidFill>
                  <a:srgbClr val="FF0000"/>
                </a:solidFill>
              </a:rPr>
              <a:t>;</a:t>
            </a:r>
            <a:r>
              <a:rPr lang="zh-CN" altLang="en-US" sz="3600" b="1" dirty="0">
                <a:solidFill>
                  <a:srgbClr val="FF0000"/>
                </a:solidFill>
              </a:rPr>
              <a:t>致谢</a:t>
            </a:r>
            <a:endParaRPr lang="en-US" altLang="zh-CN" sz="3600" b="1" dirty="0">
              <a:solidFill>
                <a:srgbClr val="FF0000"/>
              </a:solidFill>
            </a:endParaRPr>
          </a:p>
          <a:p>
            <a:r>
              <a:rPr lang="en-US" altLang="zh-CN" sz="3600" b="1" dirty="0">
                <a:solidFill>
                  <a:srgbClr val="FF0000"/>
                </a:solidFill>
              </a:rPr>
              <a:t> distinguish A from B </a:t>
            </a:r>
            <a:r>
              <a:rPr lang="zh-CN" altLang="en-US" sz="3600" b="1" dirty="0">
                <a:solidFill>
                  <a:srgbClr val="FF0000"/>
                </a:solidFill>
              </a:rPr>
              <a:t>区分</a:t>
            </a:r>
            <a:r>
              <a:rPr lang="en-US" altLang="zh-CN" sz="3600" b="1" dirty="0">
                <a:solidFill>
                  <a:srgbClr val="FF0000"/>
                </a:solidFill>
              </a:rPr>
              <a:t>AB</a:t>
            </a:r>
          </a:p>
          <a:p>
            <a:r>
              <a:rPr lang="en-US" altLang="zh-CN" sz="3600" b="1" u="sng" dirty="0">
                <a:solidFill>
                  <a:srgbClr val="FF0000"/>
                </a:solidFill>
              </a:rPr>
              <a:t> rush </a:t>
            </a:r>
            <a:r>
              <a:rPr lang="en-US" altLang="zh-CN" sz="3600" b="1" dirty="0">
                <a:solidFill>
                  <a:srgbClr val="FF0000"/>
                </a:solidFill>
              </a:rPr>
              <a:t>sb. to the hospital</a:t>
            </a:r>
            <a:r>
              <a:rPr lang="zh-CN" altLang="en-US" sz="3600" b="1" dirty="0">
                <a:solidFill>
                  <a:srgbClr val="FF0000"/>
                </a:solidFill>
              </a:rPr>
              <a:t>火速送某人去医院</a:t>
            </a:r>
            <a:endParaRPr lang="en-US" altLang="zh-CN" sz="3600" b="1" dirty="0">
              <a:solidFill>
                <a:srgbClr val="FF0000"/>
              </a:solidFill>
            </a:endParaRPr>
          </a:p>
          <a:p>
            <a:r>
              <a:rPr lang="en-US" altLang="zh-CN" sz="3600" b="1" dirty="0">
                <a:solidFill>
                  <a:srgbClr val="FF0000"/>
                </a:solidFill>
              </a:rPr>
              <a:t> drag v.</a:t>
            </a:r>
            <a:r>
              <a:rPr lang="zh-CN" altLang="en-US" sz="3600" b="1" dirty="0">
                <a:solidFill>
                  <a:srgbClr val="FF0000"/>
                </a:solidFill>
              </a:rPr>
              <a:t>拖拽</a:t>
            </a:r>
            <a:endParaRPr lang="en-US" altLang="zh-CN" sz="3600" b="1" dirty="0">
              <a:solidFill>
                <a:srgbClr val="FF0000"/>
              </a:solidFill>
            </a:endParaRPr>
          </a:p>
          <a:p>
            <a:r>
              <a:rPr lang="en-US" altLang="zh-CN" sz="3600" b="1" dirty="0">
                <a:solidFill>
                  <a:srgbClr val="FF0000"/>
                </a:solidFill>
              </a:rPr>
              <a:t> lift one’s spirits</a:t>
            </a:r>
            <a:r>
              <a:rPr lang="zh-CN" altLang="en-US" sz="3600" b="1" dirty="0">
                <a:solidFill>
                  <a:srgbClr val="FF0000"/>
                </a:solidFill>
              </a:rPr>
              <a:t>振奋精神</a:t>
            </a:r>
            <a:endParaRPr lang="en-US" altLang="zh-CN" sz="3600" b="1" dirty="0">
              <a:solidFill>
                <a:srgbClr val="FF0000"/>
              </a:solidFill>
            </a:endParaRPr>
          </a:p>
          <a:p>
            <a:r>
              <a:rPr lang="en-US" altLang="zh-CN" sz="3600" b="1" dirty="0">
                <a:solidFill>
                  <a:srgbClr val="FF0000"/>
                </a:solidFill>
              </a:rPr>
              <a:t> entertain sb. </a:t>
            </a:r>
            <a:r>
              <a:rPr lang="zh-CN" altLang="en-US" sz="3600" b="1" dirty="0">
                <a:solidFill>
                  <a:srgbClr val="FF0000"/>
                </a:solidFill>
              </a:rPr>
              <a:t>娱乐</a:t>
            </a:r>
            <a:r>
              <a:rPr lang="en-US" altLang="zh-CN" sz="3600" b="1" dirty="0">
                <a:solidFill>
                  <a:srgbClr val="FF0000"/>
                </a:solidFill>
              </a:rPr>
              <a:t>;</a:t>
            </a:r>
            <a:r>
              <a:rPr lang="zh-CN" altLang="en-US" sz="3600" b="1" dirty="0">
                <a:solidFill>
                  <a:srgbClr val="FF0000"/>
                </a:solidFill>
              </a:rPr>
              <a:t>使开心</a:t>
            </a:r>
            <a:endParaRPr lang="en-US" altLang="zh-CN" sz="3600" b="1" dirty="0">
              <a:solidFill>
                <a:srgbClr val="FF0000"/>
              </a:solidFill>
            </a:endParaRPr>
          </a:p>
          <a:p>
            <a:pPr>
              <a:lnSpc>
                <a:spcPct val="100000"/>
              </a:lnSpc>
            </a:pPr>
            <a:r>
              <a:rPr lang="en-US" altLang="zh-CN" sz="3600" b="1" dirty="0">
                <a:solidFill>
                  <a:srgbClr val="FF0000"/>
                </a:solidFill>
              </a:rPr>
              <a:t> </a:t>
            </a:r>
            <a:r>
              <a:rPr lang="en-US" altLang="zh-CN" sz="3600" b="1" u="sng" dirty="0">
                <a:solidFill>
                  <a:srgbClr val="FF0000"/>
                </a:solidFill>
              </a:rPr>
              <a:t>tailor</a:t>
            </a:r>
            <a:r>
              <a:rPr lang="en-US" altLang="zh-CN" sz="3600" b="1" dirty="0">
                <a:solidFill>
                  <a:srgbClr val="FF0000"/>
                </a:solidFill>
              </a:rPr>
              <a:t> our approach to one’s needs</a:t>
            </a:r>
            <a:r>
              <a:rPr lang="zh-CN" altLang="en-US" sz="3600" b="1" dirty="0">
                <a:solidFill>
                  <a:srgbClr val="FF0000"/>
                </a:solidFill>
              </a:rPr>
              <a:t>根据某人的需要调整我们的方法</a:t>
            </a:r>
            <a:endParaRPr lang="en-US" altLang="zh-CN" sz="3600" b="1" dirty="0">
              <a:solidFill>
                <a:srgbClr val="FF0000"/>
              </a:solidFill>
            </a:endParaRPr>
          </a:p>
          <a:p>
            <a:r>
              <a:rPr lang="en-US" altLang="zh-CN" sz="3600" b="1" dirty="0">
                <a:solidFill>
                  <a:srgbClr val="FF0000"/>
                </a:solidFill>
              </a:rPr>
              <a:t> </a:t>
            </a:r>
            <a:r>
              <a:rPr lang="en-US" altLang="zh-CN" sz="3600" b="1" u="sng" dirty="0">
                <a:solidFill>
                  <a:srgbClr val="FF0000"/>
                </a:solidFill>
              </a:rPr>
              <a:t>work</a:t>
            </a:r>
            <a:r>
              <a:rPr lang="en-US" altLang="zh-CN" sz="3600" b="1" dirty="0">
                <a:solidFill>
                  <a:srgbClr val="FF0000"/>
                </a:solidFill>
              </a:rPr>
              <a:t> v.</a:t>
            </a:r>
            <a:r>
              <a:rPr lang="zh-CN" altLang="en-US" sz="3600" b="1" dirty="0">
                <a:solidFill>
                  <a:srgbClr val="FF0000"/>
                </a:solidFill>
              </a:rPr>
              <a:t>奏效</a:t>
            </a:r>
            <a:endParaRPr lang="en-US" altLang="zh-CN" sz="3600" b="1" dirty="0">
              <a:solidFill>
                <a:srgbClr val="FF0000"/>
              </a:solidFill>
            </a:endParaRPr>
          </a:p>
          <a:p>
            <a:r>
              <a:rPr lang="en-US" altLang="zh-CN" sz="3600" b="1" dirty="0">
                <a:solidFill>
                  <a:srgbClr val="FF0000"/>
                </a:solidFill>
              </a:rPr>
              <a:t> her initial smile turns into hearty laughter</a:t>
            </a:r>
            <a:r>
              <a:rPr lang="zh-CN" altLang="en-US" sz="3600" b="1" dirty="0">
                <a:solidFill>
                  <a:srgbClr val="FF0000"/>
                </a:solidFill>
              </a:rPr>
              <a:t>她最初的微笑变成了爽朗的笑声</a:t>
            </a:r>
            <a:endParaRPr lang="en-US" altLang="zh-CN" sz="3600" b="1" dirty="0">
              <a:solidFill>
                <a:srgbClr val="FF0000"/>
              </a:solidFill>
            </a:endParaRPr>
          </a:p>
          <a:p>
            <a:r>
              <a:rPr lang="en-US" altLang="zh-CN" sz="3600" b="1" dirty="0">
                <a:solidFill>
                  <a:srgbClr val="FF0000"/>
                </a:solidFill>
              </a:rPr>
              <a:t> remove v.</a:t>
            </a:r>
            <a:r>
              <a:rPr lang="zh-CN" altLang="en-US" sz="3600" b="1" dirty="0">
                <a:solidFill>
                  <a:srgbClr val="FF0000"/>
                </a:solidFill>
              </a:rPr>
              <a:t>去掉    </a:t>
            </a:r>
            <a:r>
              <a:rPr lang="en-US" altLang="zh-CN" sz="3600" b="1" dirty="0">
                <a:solidFill>
                  <a:srgbClr val="FF0000"/>
                </a:solidFill>
              </a:rPr>
              <a:t>friendlier a.-- friendly</a:t>
            </a:r>
            <a:r>
              <a:rPr lang="zh-CN" altLang="en-US" sz="3600" b="1">
                <a:solidFill>
                  <a:srgbClr val="FF0000"/>
                </a:solidFill>
              </a:rPr>
              <a:t>的比较级</a:t>
            </a:r>
            <a:endParaRPr lang="en-US" altLang="zh-CN" sz="3600" b="1" dirty="0">
              <a:solidFill>
                <a:srgbClr val="FF0000"/>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200" b="1" dirty="0">
                <a:solidFill>
                  <a:srgbClr val="FF0000"/>
                </a:solidFill>
              </a:rPr>
              <a:t> </a:t>
            </a:r>
            <a:r>
              <a:rPr lang="en-US" altLang="zh-CN" sz="3200" b="1" dirty="0"/>
              <a:t>56.Wukong, </a:t>
            </a:r>
            <a:r>
              <a:rPr lang="en-US" altLang="zh-CN" sz="3200" b="1" dirty="0">
                <a:solidFill>
                  <a:srgbClr val="FF0000"/>
                </a:solidFill>
              </a:rPr>
              <a:t>whose popularity has surged</a:t>
            </a:r>
            <a:r>
              <a:rPr lang="zh-CN" altLang="en-US" sz="3200" b="1" dirty="0">
                <a:solidFill>
                  <a:srgbClr val="FF0000"/>
                </a:solidFill>
              </a:rPr>
              <a:t>人气飙升</a:t>
            </a:r>
            <a:r>
              <a:rPr lang="en-US" altLang="zh-CN" sz="3200" b="1" dirty="0">
                <a:solidFill>
                  <a:srgbClr val="FF0000"/>
                </a:solidFill>
              </a:rPr>
              <a:t> </a:t>
            </a:r>
            <a:r>
              <a:rPr lang="en-US" altLang="zh-CN" sz="3200" b="1" dirty="0"/>
              <a:t>worldwide.</a:t>
            </a:r>
          </a:p>
          <a:p>
            <a:r>
              <a:rPr lang="en-US" altLang="zh-CN" sz="3200" b="1" dirty="0"/>
              <a:t> 57.Shanxi </a:t>
            </a:r>
            <a:r>
              <a:rPr lang="en-US" altLang="zh-CN" sz="3200" b="1" u="sng" dirty="0"/>
              <a:t>is</a:t>
            </a:r>
            <a:r>
              <a:rPr lang="en-US" altLang="zh-CN" sz="3200" b="1" dirty="0"/>
              <a:t> among </a:t>
            </a:r>
            <a:r>
              <a:rPr lang="en-US" altLang="zh-CN" sz="3200" b="1" u="sng" dirty="0"/>
              <a:t>travel spots</a:t>
            </a:r>
            <a:r>
              <a:rPr lang="zh-CN" altLang="en-US" sz="3200" b="1" u="sng" dirty="0"/>
              <a:t>旅游景点</a:t>
            </a:r>
            <a:r>
              <a:rPr lang="en-US" altLang="zh-CN" sz="3200" b="1" u="sng" dirty="0"/>
              <a:t> </a:t>
            </a:r>
            <a:r>
              <a:rPr lang="en-US" altLang="zh-CN" sz="3200" b="1" dirty="0"/>
              <a:t>(</a:t>
            </a:r>
            <a:r>
              <a:rPr lang="en-US" altLang="zh-CN" sz="3200" b="1" dirty="0">
                <a:solidFill>
                  <a:srgbClr val="FF0000"/>
                </a:solidFill>
              </a:rPr>
              <a:t>benefiting from</a:t>
            </a:r>
            <a:r>
              <a:rPr lang="en-US" altLang="zh-CN" sz="3200" b="1" dirty="0"/>
              <a:t> the game’s popularity…)</a:t>
            </a:r>
            <a:r>
              <a:rPr lang="zh-CN" altLang="en-US" sz="3200" b="1" dirty="0"/>
              <a:t>得益于游戏的流行</a:t>
            </a:r>
            <a:endParaRPr lang="en-US" altLang="zh-CN" sz="3200" b="1" dirty="0"/>
          </a:p>
          <a:p>
            <a:r>
              <a:rPr lang="en-US" altLang="zh-CN" sz="3200" b="1" dirty="0"/>
              <a:t> A benefit B= B benefit from A</a:t>
            </a:r>
          </a:p>
          <a:p>
            <a:r>
              <a:rPr lang="en-US" altLang="zh-CN" sz="3200" b="1" dirty="0"/>
              <a:t> 58. be </a:t>
            </a:r>
            <a:r>
              <a:rPr lang="en-US" altLang="zh-CN" sz="3200" b="1" u="sng" dirty="0"/>
              <a:t>closely</a:t>
            </a:r>
            <a:r>
              <a:rPr lang="en-US" altLang="zh-CN" sz="3200" b="1" dirty="0"/>
              <a:t> related to</a:t>
            </a:r>
            <a:r>
              <a:rPr lang="zh-CN" altLang="en-US" sz="3200" b="1" dirty="0"/>
              <a:t>紧密联系</a:t>
            </a:r>
            <a:r>
              <a:rPr lang="en-US" altLang="zh-CN" sz="3200" b="1" dirty="0"/>
              <a:t> 59.</a:t>
            </a:r>
            <a:r>
              <a:rPr lang="en-US" altLang="zh-CN" sz="3200" b="1" u="sng" dirty="0"/>
              <a:t>compared</a:t>
            </a:r>
            <a:r>
              <a:rPr lang="en-US" altLang="zh-CN" sz="3200" b="1" dirty="0"/>
              <a:t> with </a:t>
            </a:r>
          </a:p>
          <a:p>
            <a:r>
              <a:rPr lang="en-US" altLang="zh-CN" sz="3200" b="1" dirty="0"/>
              <a:t> 60.so far, travel bookings have doubled</a:t>
            </a:r>
            <a:r>
              <a:rPr lang="zh-CN" altLang="en-US" sz="3200" b="1" dirty="0"/>
              <a:t>旅游预订量翻了一番</a:t>
            </a:r>
            <a:endParaRPr lang="en-US" altLang="zh-CN" sz="3200" b="1" dirty="0"/>
          </a:p>
          <a:p>
            <a:r>
              <a:rPr lang="en-US" altLang="zh-CN" sz="3200" b="1" dirty="0"/>
              <a:t> 61.Chen </a:t>
            </a:r>
            <a:r>
              <a:rPr lang="en-US" altLang="zh-CN" sz="3200" b="1" u="sng" dirty="0"/>
              <a:t>said</a:t>
            </a:r>
            <a:r>
              <a:rPr lang="en-US" altLang="zh-CN" sz="3200" b="1" dirty="0"/>
              <a:t>, “”, like </a:t>
            </a:r>
            <a:r>
              <a:rPr lang="en-US" altLang="zh-CN" sz="3200" b="1" u="sng" dirty="0"/>
              <a:t>numerous places </a:t>
            </a:r>
            <a:r>
              <a:rPr lang="en-US" altLang="zh-CN" sz="3200" b="1" dirty="0">
                <a:solidFill>
                  <a:srgbClr val="FF0000"/>
                </a:solidFill>
              </a:rPr>
              <a:t>featuring</a:t>
            </a:r>
            <a:r>
              <a:rPr lang="en-US" altLang="zh-CN" sz="3200" b="1" dirty="0"/>
              <a:t> ancient architecture</a:t>
            </a:r>
            <a:r>
              <a:rPr lang="zh-CN" altLang="en-US" sz="3200" b="1" dirty="0"/>
              <a:t>有许多古建筑特色的地方</a:t>
            </a:r>
            <a:endParaRPr lang="en-US" altLang="zh-CN" sz="3200" b="1" dirty="0"/>
          </a:p>
          <a:p>
            <a:r>
              <a:rPr lang="en-US" altLang="zh-CN" sz="3200" b="1" dirty="0"/>
              <a:t> 62. that/which</a:t>
            </a:r>
            <a:r>
              <a:rPr lang="zh-CN" altLang="en-US" sz="3200" b="1" dirty="0"/>
              <a:t>定从 </a:t>
            </a:r>
            <a:r>
              <a:rPr lang="en-US" altLang="zh-CN" sz="3200" b="1" dirty="0"/>
              <a:t>63.world </a:t>
            </a:r>
            <a:r>
              <a:rPr lang="en-US" altLang="zh-CN" sz="3200" b="1" dirty="0">
                <a:solidFill>
                  <a:srgbClr val="FF0000"/>
                </a:solidFill>
              </a:rPr>
              <a:t>recognition</a:t>
            </a:r>
            <a:r>
              <a:rPr lang="zh-CN" altLang="en-US" sz="3200" b="1" dirty="0"/>
              <a:t>赢得世界认可</a:t>
            </a:r>
            <a:endParaRPr lang="en-US" altLang="zh-CN" sz="3200" b="1" dirty="0"/>
          </a:p>
          <a:p>
            <a:r>
              <a:rPr lang="en-US" altLang="zh-CN" sz="3200" b="1" dirty="0"/>
              <a:t> 64. </a:t>
            </a:r>
            <a:r>
              <a:rPr lang="en-US" altLang="zh-CN" sz="3200" b="1" u="sng" dirty="0"/>
              <a:t>in </a:t>
            </a:r>
            <a:r>
              <a:rPr lang="en-US" altLang="zh-CN" sz="3200" b="1" u="sng" dirty="0">
                <a:solidFill>
                  <a:srgbClr val="FF0000"/>
                </a:solidFill>
              </a:rPr>
              <a:t>a</a:t>
            </a:r>
            <a:r>
              <a:rPr lang="en-US" altLang="zh-CN" sz="3200" b="1" u="sng" dirty="0"/>
              <a:t> </a:t>
            </a:r>
            <a:r>
              <a:rPr lang="en-US" altLang="zh-CN" sz="3200" b="1" dirty="0"/>
              <a:t>pleasing and effective </a:t>
            </a:r>
            <a:r>
              <a:rPr lang="en-US" altLang="zh-CN" sz="3200" b="1" u="sng" dirty="0"/>
              <a:t>way</a:t>
            </a:r>
            <a:r>
              <a:rPr lang="zh-CN" altLang="en-US" sz="3200" b="1" u="sng" dirty="0"/>
              <a:t>以</a:t>
            </a:r>
            <a:r>
              <a:rPr lang="zh-CN" altLang="en-US" sz="3200" b="1" dirty="0"/>
              <a:t>令人愉快和有效</a:t>
            </a:r>
            <a:r>
              <a:rPr lang="zh-CN" altLang="en-US" sz="3200" b="1" u="sng" dirty="0"/>
              <a:t>的方式</a:t>
            </a:r>
            <a:endParaRPr lang="en-US" altLang="zh-CN" sz="3200" b="1" u="sng" dirty="0"/>
          </a:p>
          <a:p>
            <a:r>
              <a:rPr lang="en-US" altLang="zh-CN" sz="3200" b="1" u="sng" dirty="0"/>
              <a:t> </a:t>
            </a:r>
            <a:r>
              <a:rPr lang="en-US" altLang="zh-CN" sz="3200" b="1" dirty="0"/>
              <a:t>65</a:t>
            </a:r>
            <a:r>
              <a:rPr lang="en-US" altLang="zh-CN" sz="3200" b="1" u="sng" dirty="0"/>
              <a:t>. transform </a:t>
            </a:r>
            <a:r>
              <a:rPr lang="en-US" altLang="zh-CN" sz="3200" b="1" dirty="0"/>
              <a:t>the craze </a:t>
            </a:r>
            <a:r>
              <a:rPr lang="en-US" altLang="zh-CN" sz="3200" b="1" u="sng" dirty="0">
                <a:solidFill>
                  <a:srgbClr val="FF0000"/>
                </a:solidFill>
              </a:rPr>
              <a:t>into</a:t>
            </a:r>
            <a:r>
              <a:rPr lang="en-US" altLang="zh-CN" sz="3200" b="1" dirty="0"/>
              <a:t> long-term tourism prosperity</a:t>
            </a:r>
            <a:r>
              <a:rPr lang="zh-CN" altLang="en-US" sz="3200" b="1" dirty="0"/>
              <a:t>将这种狂热转化为长期的旅游繁荣</a:t>
            </a:r>
            <a:endParaRPr lang="zh-CN" altLang="en-US" sz="3200" b="1" u="sng"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 66.</a:t>
            </a:r>
            <a:r>
              <a:rPr lang="en-US" altLang="zh-CN" sz="3600" b="1" u="sng" dirty="0">
                <a:solidFill>
                  <a:srgbClr val="FF0000"/>
                </a:solidFill>
              </a:rPr>
              <a:t>Being equipped with</a:t>
            </a:r>
            <a:r>
              <a:rPr lang="zh-CN" altLang="en-US" sz="3600" b="1" u="sng" dirty="0">
                <a:solidFill>
                  <a:srgbClr val="FF0000"/>
                </a:solidFill>
              </a:rPr>
              <a:t>配备有</a:t>
            </a:r>
            <a:r>
              <a:rPr lang="en-US" altLang="zh-CN" sz="3600" b="1" dirty="0">
                <a:solidFill>
                  <a:srgbClr val="FF0000"/>
                </a:solidFill>
              </a:rPr>
              <a:t>… </a:t>
            </a:r>
            <a:r>
              <a:rPr lang="en-US" altLang="zh-CN" sz="3600" b="1" u="sng" dirty="0">
                <a:solidFill>
                  <a:srgbClr val="FF0000"/>
                </a:solidFill>
              </a:rPr>
              <a:t>is crucial to</a:t>
            </a:r>
            <a:r>
              <a:rPr lang="en-US" altLang="zh-CN" sz="3600" b="1" dirty="0">
                <a:solidFill>
                  <a:srgbClr val="FF0000"/>
                </a:solidFill>
              </a:rPr>
              <a:t>…</a:t>
            </a:r>
            <a:r>
              <a:rPr lang="zh-CN" altLang="en-US" sz="3600" b="1" dirty="0">
                <a:solidFill>
                  <a:srgbClr val="FF0000"/>
                </a:solidFill>
              </a:rPr>
              <a:t>对</a:t>
            </a:r>
            <a:r>
              <a:rPr lang="en-US" altLang="zh-CN" sz="3600" b="1" dirty="0">
                <a:solidFill>
                  <a:srgbClr val="FF0000"/>
                </a:solidFill>
              </a:rPr>
              <a:t>…</a:t>
            </a:r>
            <a:r>
              <a:rPr lang="zh-CN" altLang="en-US" sz="3600" b="1" dirty="0">
                <a:solidFill>
                  <a:srgbClr val="FF0000"/>
                </a:solidFill>
              </a:rPr>
              <a:t>至关重要</a:t>
            </a:r>
            <a:endParaRPr lang="en-US" altLang="zh-CN" sz="3600" b="1" dirty="0">
              <a:solidFill>
                <a:srgbClr val="FF0000"/>
              </a:solidFill>
            </a:endParaRPr>
          </a:p>
          <a:p>
            <a:r>
              <a:rPr lang="en-US" altLang="zh-CN" sz="3600" b="1" dirty="0">
                <a:solidFill>
                  <a:srgbClr val="FF0000"/>
                </a:solidFill>
              </a:rPr>
              <a:t> 67. accepting</a:t>
            </a:r>
          </a:p>
          <a:p>
            <a:r>
              <a:rPr lang="en-US" altLang="zh-CN" sz="3600" b="1" dirty="0">
                <a:solidFill>
                  <a:srgbClr val="FF0000"/>
                </a:solidFill>
              </a:rPr>
              <a:t>mean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意味着做某事</a:t>
            </a:r>
            <a:endParaRPr lang="en-US" altLang="zh-CN" sz="3600" b="1" dirty="0">
              <a:solidFill>
                <a:srgbClr val="FF0000"/>
              </a:solidFill>
            </a:endParaRPr>
          </a:p>
          <a:p>
            <a:r>
              <a:rPr lang="en-US" altLang="zh-CN" sz="3600" b="1" dirty="0">
                <a:solidFill>
                  <a:srgbClr val="FF0000"/>
                </a:solidFill>
              </a:rPr>
              <a:t> 68.Tourist can enjoy…, </a:t>
            </a:r>
            <a:r>
              <a:rPr lang="en-US" altLang="zh-CN" sz="3600" b="1" u="sng" dirty="0">
                <a:solidFill>
                  <a:srgbClr val="FF0000"/>
                </a:solidFill>
              </a:rPr>
              <a:t>be shaded from</a:t>
            </a:r>
            <a:r>
              <a:rPr lang="en-US" altLang="zh-CN" sz="3600" b="1" dirty="0">
                <a:solidFill>
                  <a:srgbClr val="FF0000"/>
                </a:solidFill>
              </a:rPr>
              <a:t>…</a:t>
            </a:r>
            <a:r>
              <a:rPr lang="zh-CN" altLang="en-US" sz="3600" b="1" dirty="0">
                <a:solidFill>
                  <a:srgbClr val="FF0000"/>
                </a:solidFill>
              </a:rPr>
              <a:t>被遮蔽</a:t>
            </a:r>
            <a:r>
              <a:rPr lang="en-US" altLang="zh-CN" sz="3600" b="1" dirty="0">
                <a:solidFill>
                  <a:srgbClr val="FF0000"/>
                </a:solidFill>
              </a:rPr>
              <a:t>, appreciate… and go skiing.</a:t>
            </a:r>
          </a:p>
          <a:p>
            <a:r>
              <a:rPr lang="en-US" altLang="zh-CN" sz="3600" b="1" dirty="0">
                <a:solidFill>
                  <a:srgbClr val="FF0000"/>
                </a:solidFill>
              </a:rPr>
              <a:t> </a:t>
            </a:r>
            <a:r>
              <a:rPr lang="en-US" altLang="zh-CN" sz="3600" b="1" dirty="0"/>
              <a:t>69.coming </a:t>
            </a:r>
            <a:r>
              <a:rPr lang="en-US" altLang="zh-CN" sz="3600" b="1" dirty="0">
                <a:solidFill>
                  <a:srgbClr val="FF0000"/>
                </a:solidFill>
              </a:rPr>
              <a:t>70. being</a:t>
            </a:r>
            <a:r>
              <a:rPr lang="zh-CN" altLang="en-US" sz="3600" b="1" dirty="0">
                <a:solidFill>
                  <a:srgbClr val="FF0000"/>
                </a:solidFill>
              </a:rPr>
              <a:t> </a:t>
            </a:r>
            <a:r>
              <a:rPr lang="en-US" altLang="zh-CN" sz="3600" b="1" dirty="0">
                <a:solidFill>
                  <a:srgbClr val="FF0000"/>
                </a:solidFill>
              </a:rPr>
              <a:t>given</a:t>
            </a:r>
          </a:p>
          <a:p>
            <a:r>
              <a:rPr lang="en-US" altLang="zh-CN" sz="3600" b="1" dirty="0">
                <a:solidFill>
                  <a:srgbClr val="FF0000"/>
                </a:solidFill>
              </a:rPr>
              <a:t>appreciate doing </a:t>
            </a:r>
            <a:r>
              <a:rPr lang="en-US" altLang="zh-CN" sz="3600" b="1" dirty="0" err="1">
                <a:solidFill>
                  <a:srgbClr val="FF0000"/>
                </a:solidFill>
              </a:rPr>
              <a:t>sth</a:t>
            </a:r>
            <a:r>
              <a:rPr lang="en-US" altLang="zh-CN" sz="3600" b="1" dirty="0">
                <a:solidFill>
                  <a:srgbClr val="FF0000"/>
                </a:solidFill>
              </a:rPr>
              <a:t>./ being done</a:t>
            </a:r>
            <a:r>
              <a:rPr lang="zh-CN" altLang="en-US" dirty="0"/>
              <a:t>感谢做某事</a:t>
            </a:r>
            <a:r>
              <a:rPr lang="en-US" altLang="zh-CN" dirty="0"/>
              <a:t>/</a:t>
            </a:r>
            <a:r>
              <a:rPr lang="zh-CN" altLang="en-US" dirty="0"/>
              <a:t>被做某事</a:t>
            </a:r>
            <a:endParaRPr lang="en-US" altLang="zh-CN" dirty="0"/>
          </a:p>
          <a:p>
            <a:r>
              <a:rPr lang="en-US" altLang="zh-CN" sz="3600" b="1" dirty="0">
                <a:solidFill>
                  <a:srgbClr val="FF0000"/>
                </a:solidFill>
              </a:rPr>
              <a:t> 71.</a:t>
            </a:r>
            <a:r>
              <a:rPr lang="en-US" altLang="zh-CN" sz="3600" b="1" dirty="0"/>
              <a:t>It is a meal </a:t>
            </a:r>
            <a:r>
              <a:rPr lang="en-US" altLang="zh-CN" sz="3600" b="1" u="sng" dirty="0">
                <a:solidFill>
                  <a:srgbClr val="FF0000"/>
                </a:solidFill>
              </a:rPr>
              <a:t>consisting of</a:t>
            </a:r>
          </a:p>
          <a:p>
            <a:r>
              <a:rPr lang="en-US" altLang="zh-CN" sz="3600" b="1" u="sng" dirty="0">
                <a:solidFill>
                  <a:srgbClr val="FF0000"/>
                </a:solidFill>
              </a:rPr>
              <a:t> 72.deserve praising</a:t>
            </a:r>
            <a:r>
              <a:rPr lang="zh-CN" altLang="en-US" sz="3600" b="1" u="sng" dirty="0">
                <a:solidFill>
                  <a:srgbClr val="FF0000"/>
                </a:solidFill>
              </a:rPr>
              <a:t>值得表扬</a:t>
            </a:r>
            <a:r>
              <a:rPr lang="en-US" altLang="zh-CN" sz="3600" b="1" u="sng" dirty="0">
                <a:solidFill>
                  <a:srgbClr val="FF0000"/>
                </a:solidFill>
              </a:rPr>
              <a:t>  </a:t>
            </a:r>
            <a:r>
              <a:rPr lang="en-US" altLang="zh-CN" sz="3600" b="1" dirty="0"/>
              <a:t>73.dramatically</a:t>
            </a:r>
          </a:p>
          <a:p>
            <a:r>
              <a:rPr lang="en-US" altLang="zh-CN" sz="3600" b="1" dirty="0"/>
              <a:t> 74. A is… while B </a:t>
            </a:r>
            <a:r>
              <a:rPr lang="en-US" altLang="zh-CN" sz="3600" b="1" u="sng" dirty="0">
                <a:solidFill>
                  <a:srgbClr val="FF0000"/>
                </a:solidFill>
              </a:rPr>
              <a:t>is rooted in</a:t>
            </a:r>
            <a:r>
              <a:rPr lang="en-US" altLang="zh-CN" sz="3600" b="1" dirty="0"/>
              <a:t>…</a:t>
            </a:r>
            <a:r>
              <a:rPr lang="zh-CN" altLang="en-US" sz="3600" b="1" dirty="0">
                <a:solidFill>
                  <a:srgbClr val="FF0000"/>
                </a:solidFill>
              </a:rPr>
              <a:t>植根于</a:t>
            </a:r>
            <a:endParaRPr lang="en-US" altLang="zh-CN" sz="3600" b="1" dirty="0">
              <a:solidFill>
                <a:srgbClr val="FF0000"/>
              </a:solidFill>
            </a:endParaRPr>
          </a:p>
          <a:p>
            <a:r>
              <a:rPr lang="en-US" altLang="zh-CN" sz="3600" b="1" dirty="0"/>
              <a:t> 75. greeting</a:t>
            </a:r>
            <a:endParaRPr lang="zh-CN" altLang="en-US" sz="3600" b="1"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t>练习本</a:t>
            </a:r>
            <a:r>
              <a:rPr lang="en-US" altLang="zh-CN" sz="3600" b="1" dirty="0"/>
              <a:t>P25-26 </a:t>
            </a:r>
          </a:p>
          <a:p>
            <a:r>
              <a:rPr lang="en-US" altLang="zh-CN" sz="3600" b="1" dirty="0"/>
              <a:t>When </a:t>
            </a:r>
            <a:r>
              <a:rPr lang="en-US" altLang="zh-CN" sz="3600" b="1" dirty="0">
                <a:solidFill>
                  <a:srgbClr val="FF0000"/>
                </a:solidFill>
              </a:rPr>
              <a:t>accepting the job, </a:t>
            </a:r>
            <a:r>
              <a:rPr lang="en-US" altLang="zh-CN" sz="3600" b="1" u="sng" dirty="0">
                <a:solidFill>
                  <a:srgbClr val="FF0000"/>
                </a:solidFill>
              </a:rPr>
              <a:t>just intended to</a:t>
            </a:r>
            <a:r>
              <a:rPr lang="zh-CN" altLang="en-US" sz="3600" b="1" u="sng" dirty="0">
                <a:solidFill>
                  <a:srgbClr val="FF0000"/>
                </a:solidFill>
              </a:rPr>
              <a:t>旨在</a:t>
            </a:r>
            <a:r>
              <a:rPr lang="en-US" altLang="zh-CN" sz="3200" b="1" dirty="0"/>
              <a:t>pay my rent</a:t>
            </a:r>
          </a:p>
          <a:p>
            <a:r>
              <a:rPr lang="en-US" altLang="zh-CN" sz="3600" b="1" dirty="0"/>
              <a:t>                                                 managed to</a:t>
            </a:r>
            <a:r>
              <a:rPr lang="zh-CN" altLang="en-US" sz="3600" b="1" dirty="0"/>
              <a:t>成功做成</a:t>
            </a:r>
            <a:endParaRPr lang="en-US" altLang="zh-CN" sz="3600" b="1" dirty="0"/>
          </a:p>
          <a:p>
            <a:r>
              <a:rPr lang="en-US" altLang="zh-CN" sz="3600" b="1" dirty="0"/>
              <a:t>                                                 promise to do</a:t>
            </a:r>
            <a:r>
              <a:rPr lang="zh-CN" altLang="en-US" sz="3600" b="1" dirty="0"/>
              <a:t>承诺做</a:t>
            </a:r>
            <a:endParaRPr lang="en-US" altLang="zh-CN" sz="3600" b="1" dirty="0"/>
          </a:p>
          <a:p>
            <a:r>
              <a:rPr lang="zh-CN" altLang="en-US" sz="3600" b="1" dirty="0"/>
              <a:t> </a:t>
            </a:r>
            <a:r>
              <a:rPr lang="en-US" altLang="zh-CN" sz="3200" b="1" dirty="0"/>
              <a:t>That didn’t _inspire_ big plan.</a:t>
            </a:r>
            <a:r>
              <a:rPr lang="zh-CN" altLang="en-US" sz="3200" b="1" dirty="0"/>
              <a:t> </a:t>
            </a:r>
            <a:r>
              <a:rPr lang="en-US" altLang="zh-CN" sz="3200" b="1" dirty="0"/>
              <a:t>However, as I worked longer,…</a:t>
            </a:r>
          </a:p>
          <a:p>
            <a:r>
              <a:rPr lang="en-US" altLang="zh-CN" sz="3600" b="1" dirty="0"/>
              <a:t> amazing </a:t>
            </a:r>
            <a:r>
              <a:rPr lang="en-US" altLang="zh-CN" sz="3600" b="1" dirty="0">
                <a:solidFill>
                  <a:srgbClr val="FF0000"/>
                </a:solidFill>
              </a:rPr>
              <a:t>wisdom</a:t>
            </a:r>
            <a:r>
              <a:rPr lang="zh-CN" altLang="en-US" sz="3600" b="1" dirty="0">
                <a:solidFill>
                  <a:srgbClr val="FF0000"/>
                </a:solidFill>
              </a:rPr>
              <a:t>智慧</a:t>
            </a:r>
            <a:r>
              <a:rPr lang="en-US" altLang="zh-CN" sz="3600" b="1" dirty="0"/>
              <a:t>---The lesson          </a:t>
            </a:r>
            <a:r>
              <a:rPr lang="en-US" altLang="zh-CN" sz="3600" b="1" dirty="0">
                <a:solidFill>
                  <a:srgbClr val="FF0000"/>
                </a:solidFill>
              </a:rPr>
              <a:t>be sure to</a:t>
            </a:r>
            <a:r>
              <a:rPr lang="zh-CN" altLang="en-US" sz="3600" b="1" dirty="0">
                <a:solidFill>
                  <a:srgbClr val="FF0000"/>
                </a:solidFill>
              </a:rPr>
              <a:t>一定</a:t>
            </a:r>
            <a:endParaRPr lang="en-US" altLang="zh-CN" sz="3600" b="1" dirty="0">
              <a:solidFill>
                <a:srgbClr val="FF0000"/>
              </a:solidFill>
            </a:endParaRPr>
          </a:p>
          <a:p>
            <a:r>
              <a:rPr lang="en-US" altLang="zh-CN" sz="3600" b="1" dirty="0">
                <a:solidFill>
                  <a:srgbClr val="FF0000"/>
                </a:solidFill>
              </a:rPr>
              <a:t> prevent…from </a:t>
            </a:r>
            <a:r>
              <a:rPr lang="en-US" altLang="zh-CN" sz="3600" b="1" dirty="0"/>
              <a:t>turning brown</a:t>
            </a:r>
            <a:r>
              <a:rPr lang="zh-CN" altLang="en-US" sz="3600" b="1" dirty="0">
                <a:solidFill>
                  <a:srgbClr val="FF0000"/>
                </a:solidFill>
              </a:rPr>
              <a:t>防止</a:t>
            </a:r>
            <a:r>
              <a:rPr lang="zh-CN" altLang="en-US" sz="3600" b="1" dirty="0"/>
              <a:t>变色</a:t>
            </a:r>
            <a:r>
              <a:rPr lang="en-US" altLang="zh-CN" sz="3600" b="1" dirty="0"/>
              <a:t> and </a:t>
            </a:r>
          </a:p>
          <a:p>
            <a:r>
              <a:rPr lang="en-US" altLang="zh-CN" sz="3600" b="1" dirty="0"/>
              <a:t> </a:t>
            </a:r>
            <a:r>
              <a:rPr lang="en-US" altLang="zh-CN" sz="3600" b="1" u="sng" dirty="0">
                <a:solidFill>
                  <a:srgbClr val="FF0000"/>
                </a:solidFill>
              </a:rPr>
              <a:t>preserve</a:t>
            </a:r>
            <a:r>
              <a:rPr lang="en-US" altLang="zh-CN" sz="3600" b="1" dirty="0"/>
              <a:t> appealing colors</a:t>
            </a:r>
            <a:r>
              <a:rPr lang="zh-CN" altLang="en-US" sz="3600" b="1" u="sng" dirty="0">
                <a:solidFill>
                  <a:srgbClr val="FF0000"/>
                </a:solidFill>
              </a:rPr>
              <a:t>保持</a:t>
            </a:r>
            <a:r>
              <a:rPr lang="zh-CN" altLang="en-US" sz="3600" b="1" dirty="0"/>
              <a:t>吸引人的颜色</a:t>
            </a:r>
            <a:endParaRPr lang="en-US" altLang="zh-CN" sz="3600" b="1" dirty="0"/>
          </a:p>
          <a:p>
            <a:r>
              <a:rPr lang="en-US" altLang="zh-CN" sz="3600" b="1" dirty="0"/>
              <a:t> </a:t>
            </a:r>
            <a:r>
              <a:rPr lang="en-US" altLang="zh-CN" sz="3600" b="1" u="sng" dirty="0">
                <a:solidFill>
                  <a:srgbClr val="FF0000"/>
                </a:solidFill>
              </a:rPr>
              <a:t>restore v.</a:t>
            </a:r>
            <a:r>
              <a:rPr lang="zh-CN" altLang="en-US" sz="3600" b="1" u="sng" dirty="0">
                <a:solidFill>
                  <a:srgbClr val="FF0000"/>
                </a:solidFill>
              </a:rPr>
              <a:t>恢复</a:t>
            </a:r>
            <a:r>
              <a:rPr lang="en-US" altLang="zh-CN" sz="3600" b="1" u="sng" dirty="0">
                <a:solidFill>
                  <a:srgbClr val="FF0000"/>
                </a:solidFill>
              </a:rPr>
              <a:t>;</a:t>
            </a:r>
            <a:r>
              <a:rPr lang="zh-CN" altLang="en-US" sz="3600" b="1" u="sng" dirty="0">
                <a:solidFill>
                  <a:srgbClr val="FF0000"/>
                </a:solidFill>
              </a:rPr>
              <a:t>修复  </a:t>
            </a:r>
            <a:endParaRPr lang="en-US" altLang="zh-CN" sz="3600" b="1" u="sng" dirty="0">
              <a:solidFill>
                <a:srgbClr val="FF0000"/>
              </a:solidFill>
            </a:endParaRPr>
          </a:p>
          <a:p>
            <a:r>
              <a:rPr lang="en-US" altLang="zh-CN" sz="3600" b="1" u="sng" dirty="0">
                <a:solidFill>
                  <a:srgbClr val="FF0000"/>
                </a:solidFill>
              </a:rPr>
              <a:t> come across</a:t>
            </a:r>
            <a:r>
              <a:rPr lang="zh-CN" altLang="en-US" sz="3600" b="1" dirty="0">
                <a:solidFill>
                  <a:srgbClr val="FF0000"/>
                </a:solidFill>
              </a:rPr>
              <a:t>偶遇</a:t>
            </a:r>
            <a:r>
              <a:rPr lang="en-US" altLang="zh-CN" sz="3600" b="1" dirty="0"/>
              <a:t>wonders  </a:t>
            </a:r>
          </a:p>
          <a:p>
            <a:r>
              <a:rPr lang="en-US" altLang="zh-CN" sz="3600" b="1" dirty="0">
                <a:solidFill>
                  <a:srgbClr val="FF0000"/>
                </a:solidFill>
              </a:rPr>
              <a:t> above all</a:t>
            </a:r>
            <a:r>
              <a:rPr lang="zh-CN" altLang="en-US" sz="3600" b="1" dirty="0">
                <a:solidFill>
                  <a:srgbClr val="FF0000"/>
                </a:solidFill>
              </a:rPr>
              <a:t>尤为重要的 </a:t>
            </a:r>
            <a:r>
              <a:rPr lang="en-US" altLang="zh-CN" sz="3600" b="1" dirty="0">
                <a:solidFill>
                  <a:srgbClr val="FF0000"/>
                </a:solidFill>
              </a:rPr>
              <a:t>be distinct from</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不同</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t> 31.specially </a:t>
            </a:r>
          </a:p>
          <a:p>
            <a:r>
              <a:rPr lang="en-US" altLang="zh-CN" sz="3600" b="1" dirty="0">
                <a:solidFill>
                  <a:srgbClr val="FF0000"/>
                </a:solidFill>
              </a:rPr>
              <a:t>32.</a:t>
            </a:r>
            <a:r>
              <a:rPr lang="en-US" altLang="zh-CN" sz="3600" b="1" u="sng" dirty="0">
                <a:solidFill>
                  <a:srgbClr val="FF0000"/>
                </a:solidFill>
              </a:rPr>
              <a:t>soaking sticky rice into </a:t>
            </a:r>
            <a:r>
              <a:rPr lang="en-US" altLang="zh-CN" sz="3600" b="1" dirty="0"/>
              <a:t>water</a:t>
            </a:r>
            <a:r>
              <a:rPr lang="en-US" altLang="zh-CN" sz="3600" b="1" dirty="0">
                <a:solidFill>
                  <a:srgbClr val="FF0000"/>
                </a:solidFill>
              </a:rPr>
              <a:t>, </a:t>
            </a:r>
            <a:r>
              <a:rPr lang="en-US" altLang="zh-CN" sz="3600" b="1" u="sng" dirty="0">
                <a:solidFill>
                  <a:srgbClr val="FF0000"/>
                </a:solidFill>
              </a:rPr>
              <a:t>boiling</a:t>
            </a:r>
            <a:r>
              <a:rPr lang="en-US" altLang="zh-CN" sz="3600" b="1" dirty="0">
                <a:solidFill>
                  <a:srgbClr val="FF0000"/>
                </a:solidFill>
              </a:rPr>
              <a:t> </a:t>
            </a:r>
            <a:r>
              <a:rPr lang="en-US" altLang="zh-CN" sz="3600" b="1" dirty="0"/>
              <a:t>it</a:t>
            </a:r>
            <a:r>
              <a:rPr lang="en-US" altLang="zh-CN" sz="3600" b="1" dirty="0">
                <a:solidFill>
                  <a:srgbClr val="FF0000"/>
                </a:solidFill>
              </a:rPr>
              <a:t> </a:t>
            </a:r>
            <a:r>
              <a:rPr lang="en-US" altLang="zh-CN" sz="3600" b="1" u="sng" dirty="0">
                <a:solidFill>
                  <a:srgbClr val="FF0000"/>
                </a:solidFill>
              </a:rPr>
              <a:t>and pounding </a:t>
            </a:r>
            <a:r>
              <a:rPr lang="en-US" altLang="zh-CN" sz="3600" b="1" dirty="0"/>
              <a:t>it into a sticky paste.</a:t>
            </a:r>
            <a:r>
              <a:rPr lang="zh-CN" altLang="en-US" sz="3600" b="1" dirty="0"/>
              <a:t>把糯米泡在水中</a:t>
            </a:r>
            <a:endParaRPr lang="en-US" altLang="zh-CN" sz="3600" b="1" dirty="0"/>
          </a:p>
          <a:p>
            <a:r>
              <a:rPr lang="en-US" altLang="zh-CN" sz="3600" b="1" dirty="0">
                <a:solidFill>
                  <a:srgbClr val="FF0000"/>
                </a:solidFill>
              </a:rPr>
              <a:t>33.fillings           be stuffed with fillings</a:t>
            </a:r>
            <a:r>
              <a:rPr lang="zh-CN" altLang="en-US" sz="3600" b="1" dirty="0">
                <a:solidFill>
                  <a:srgbClr val="FF0000"/>
                </a:solidFill>
              </a:rPr>
              <a:t>填满馅料</a:t>
            </a:r>
            <a:endParaRPr lang="en-US" altLang="zh-CN" sz="3600" b="1" dirty="0">
              <a:solidFill>
                <a:srgbClr val="FF0000"/>
              </a:solidFill>
            </a:endParaRPr>
          </a:p>
          <a:p>
            <a:r>
              <a:rPr lang="en-US" altLang="zh-CN" sz="3600" b="1" dirty="0"/>
              <a:t>34.flowers   </a:t>
            </a:r>
            <a:r>
              <a:rPr lang="en-US" altLang="zh-CN" sz="3600" b="1" dirty="0">
                <a:solidFill>
                  <a:srgbClr val="FF0000"/>
                </a:solidFill>
              </a:rPr>
              <a:t>35.a    as a gift</a:t>
            </a:r>
            <a:r>
              <a:rPr lang="zh-CN" altLang="en-US" sz="3600" b="1" dirty="0">
                <a:solidFill>
                  <a:srgbClr val="FF0000"/>
                </a:solidFill>
              </a:rPr>
              <a:t>作为“一个”礼物</a:t>
            </a:r>
            <a:endParaRPr lang="en-US" altLang="zh-CN" sz="3600" b="1" dirty="0">
              <a:solidFill>
                <a:srgbClr val="FF0000"/>
              </a:solidFill>
            </a:endParaRPr>
          </a:p>
          <a:p>
            <a:r>
              <a:rPr lang="en-US" altLang="zh-CN" sz="3600" b="1" dirty="0">
                <a:solidFill>
                  <a:srgbClr val="FF0000"/>
                </a:solidFill>
              </a:rPr>
              <a:t>36.are used </a:t>
            </a:r>
            <a:r>
              <a:rPr lang="zh-CN" altLang="en-US" sz="3600" b="1" dirty="0">
                <a:solidFill>
                  <a:srgbClr val="FF0000"/>
                </a:solidFill>
              </a:rPr>
              <a:t>一般现在时</a:t>
            </a:r>
            <a:endParaRPr lang="en-US" altLang="zh-CN" sz="3600" b="1" dirty="0">
              <a:solidFill>
                <a:srgbClr val="FF0000"/>
              </a:solidFill>
            </a:endParaRPr>
          </a:p>
          <a:p>
            <a:r>
              <a:rPr lang="en-US" altLang="zh-CN" sz="3600" b="1" dirty="0">
                <a:solidFill>
                  <a:srgbClr val="FF0000"/>
                </a:solidFill>
              </a:rPr>
              <a:t>37.with    </a:t>
            </a:r>
            <a:r>
              <a:rPr lang="en-US" altLang="zh-CN" sz="3600" b="1" u="sng" dirty="0">
                <a:solidFill>
                  <a:srgbClr val="FF0000"/>
                </a:solidFill>
              </a:rPr>
              <a:t>be served with </a:t>
            </a:r>
            <a:r>
              <a:rPr lang="en-US" altLang="zh-CN" sz="3600" b="1" dirty="0">
                <a:solidFill>
                  <a:srgbClr val="FF0000"/>
                </a:solidFill>
              </a:rPr>
              <a:t>a variety of sauces</a:t>
            </a:r>
            <a:r>
              <a:rPr lang="zh-CN" altLang="en-US" sz="3600" b="1" u="sng" dirty="0">
                <a:solidFill>
                  <a:srgbClr val="FF0000"/>
                </a:solidFill>
              </a:rPr>
              <a:t>搭配</a:t>
            </a:r>
            <a:r>
              <a:rPr lang="zh-CN" altLang="en-US" sz="3600" b="1" dirty="0">
                <a:solidFill>
                  <a:srgbClr val="FF0000"/>
                </a:solidFill>
              </a:rPr>
              <a:t>各种酱汁</a:t>
            </a:r>
            <a:endParaRPr lang="en-US" altLang="zh-CN" sz="3600" b="1" dirty="0">
              <a:solidFill>
                <a:srgbClr val="FF0000"/>
              </a:solidFill>
            </a:endParaRPr>
          </a:p>
          <a:p>
            <a:r>
              <a:rPr lang="en-US" altLang="zh-CN" sz="3600" b="1" dirty="0">
                <a:solidFill>
                  <a:srgbClr val="FF0000"/>
                </a:solidFill>
              </a:rPr>
              <a:t>38.but      ,but                  However,  </a:t>
            </a:r>
            <a:r>
              <a:rPr lang="en-US" altLang="zh-CN" sz="3600" b="1" dirty="0"/>
              <a:t>39.better </a:t>
            </a:r>
          </a:p>
          <a:p>
            <a:r>
              <a:rPr lang="en-US" altLang="zh-CN" sz="3600" b="1" dirty="0">
                <a:solidFill>
                  <a:srgbClr val="FF0000"/>
                </a:solidFill>
              </a:rPr>
              <a:t>40.</a:t>
            </a:r>
            <a:r>
              <a:rPr lang="en-US" altLang="zh-CN" sz="3600" b="1" u="sng" dirty="0">
                <a:solidFill>
                  <a:srgbClr val="FF0000"/>
                </a:solidFill>
              </a:rPr>
              <a:t>Cooked </a:t>
            </a:r>
            <a:r>
              <a:rPr lang="en-US" altLang="zh-CN" sz="3600" b="1" dirty="0">
                <a:solidFill>
                  <a:srgbClr val="FF0000"/>
                </a:solidFill>
              </a:rPr>
              <a:t>rice cake </a:t>
            </a:r>
            <a:r>
              <a:rPr lang="en-US" altLang="zh-CN" sz="3600" b="1" u="sng" dirty="0">
                <a:solidFill>
                  <a:srgbClr val="FF0000"/>
                </a:solidFill>
              </a:rPr>
              <a:t>is sticky</a:t>
            </a:r>
            <a:r>
              <a:rPr lang="zh-CN" altLang="en-US" sz="3600" b="1" u="sng" dirty="0">
                <a:solidFill>
                  <a:srgbClr val="FF0000"/>
                </a:solidFill>
              </a:rPr>
              <a:t>粘性的</a:t>
            </a:r>
            <a:endParaRPr lang="en-US" altLang="zh-CN" sz="3600" b="1" u="sng" dirty="0">
              <a:solidFill>
                <a:srgbClr val="FF0000"/>
              </a:solidFill>
            </a:endParaRPr>
          </a:p>
          <a:p>
            <a:r>
              <a:rPr lang="en-US" altLang="zh-CN" sz="3600" b="1" dirty="0">
                <a:solidFill>
                  <a:srgbClr val="FF0000"/>
                </a:solidFill>
              </a:rPr>
              <a:t>     </a:t>
            </a:r>
            <a:r>
              <a:rPr lang="zh-CN" altLang="en-US" sz="3600" b="1" u="sng" dirty="0">
                <a:solidFill>
                  <a:srgbClr val="FF0000"/>
                </a:solidFill>
              </a:rPr>
              <a:t>煮好的</a:t>
            </a:r>
            <a:r>
              <a:rPr lang="zh-CN" altLang="en-US" sz="3600" b="1" dirty="0">
                <a:solidFill>
                  <a:srgbClr val="FF0000"/>
                </a:solidFill>
              </a:rPr>
              <a:t>米糕</a:t>
            </a:r>
            <a:endParaRPr lang="en-US" altLang="zh-CN" sz="3600" b="1" dirty="0">
              <a:solidFill>
                <a:srgbClr val="FF0000"/>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t>练习本</a:t>
            </a:r>
            <a:r>
              <a:rPr lang="en-US" altLang="zh-CN" sz="3600" b="1" dirty="0"/>
              <a:t>P32-33</a:t>
            </a:r>
          </a:p>
          <a:p>
            <a:r>
              <a:rPr lang="en-US" altLang="zh-CN" sz="3600" b="1" dirty="0">
                <a:solidFill>
                  <a:srgbClr val="FF0000"/>
                </a:solidFill>
              </a:rPr>
              <a:t> The film stars </a:t>
            </a:r>
            <a:r>
              <a:rPr lang="en-US" altLang="zh-CN" sz="3600" b="1" dirty="0"/>
              <a:t>Natalie Portman.</a:t>
            </a:r>
            <a:r>
              <a:rPr lang="zh-CN" altLang="en-US" dirty="0"/>
              <a:t>电影由娜塔莉</a:t>
            </a:r>
            <a:r>
              <a:rPr lang="en-US" altLang="zh-CN" dirty="0"/>
              <a:t>·</a:t>
            </a:r>
            <a:r>
              <a:rPr lang="zh-CN" altLang="en-US" dirty="0"/>
              <a:t>波特曼主演</a:t>
            </a:r>
            <a:endParaRPr lang="en-US" altLang="zh-CN" sz="3600" b="1" dirty="0"/>
          </a:p>
          <a:p>
            <a:r>
              <a:rPr lang="en-US" altLang="zh-CN" sz="3600" b="1" dirty="0">
                <a:solidFill>
                  <a:srgbClr val="FF0000"/>
                </a:solidFill>
              </a:rPr>
              <a:t> </a:t>
            </a:r>
            <a:r>
              <a:rPr lang="en-US" altLang="zh-CN" sz="3600" b="1" dirty="0"/>
              <a:t>Natalie Portman </a:t>
            </a:r>
            <a:r>
              <a:rPr lang="en-US" altLang="zh-CN" sz="3600" b="1" dirty="0">
                <a:solidFill>
                  <a:srgbClr val="FF0000"/>
                </a:solidFill>
              </a:rPr>
              <a:t>stars Rita.</a:t>
            </a:r>
            <a:r>
              <a:rPr lang="zh-CN" altLang="en-US" dirty="0"/>
              <a:t>娜塔莉</a:t>
            </a:r>
            <a:r>
              <a:rPr lang="en-US" altLang="zh-CN" dirty="0"/>
              <a:t>·</a:t>
            </a:r>
            <a:r>
              <a:rPr lang="zh-CN" altLang="en-US" dirty="0"/>
              <a:t>波特曼</a:t>
            </a:r>
            <a:r>
              <a:rPr lang="zh-CN" altLang="en-US"/>
              <a:t>主演丽塔</a:t>
            </a:r>
            <a:endParaRPr lang="zh-CN" altLang="en-US" sz="3600" b="1" dirty="0">
              <a:solidFill>
                <a:srgbClr val="FF0000"/>
              </a:solidFil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t>练习本</a:t>
            </a:r>
            <a:r>
              <a:rPr lang="en-US" altLang="zh-CN" sz="3600" b="1" dirty="0"/>
              <a:t>P20-24</a:t>
            </a:r>
          </a:p>
          <a:p>
            <a:r>
              <a:rPr lang="en-US" altLang="zh-CN" sz="3600" b="1" dirty="0">
                <a:solidFill>
                  <a:srgbClr val="FF0000"/>
                </a:solidFill>
              </a:rPr>
              <a:t> under supervision</a:t>
            </a:r>
            <a:r>
              <a:rPr lang="zh-CN" altLang="en-US" sz="3600" b="1" dirty="0">
                <a:solidFill>
                  <a:srgbClr val="FF0000"/>
                </a:solidFill>
              </a:rPr>
              <a:t>在监管下 </a:t>
            </a:r>
            <a:r>
              <a:rPr lang="en-US" altLang="zh-CN" sz="3600" b="1" dirty="0">
                <a:solidFill>
                  <a:srgbClr val="FF0000"/>
                </a:solidFill>
              </a:rPr>
              <a:t>cater to</a:t>
            </a:r>
            <a:r>
              <a:rPr lang="zh-CN" altLang="en-US" sz="3600" b="1" dirty="0">
                <a:solidFill>
                  <a:srgbClr val="FF0000"/>
                </a:solidFill>
              </a:rPr>
              <a:t>迎合满足</a:t>
            </a:r>
            <a:endParaRPr lang="en-US" altLang="zh-CN" sz="3600" b="1" dirty="0">
              <a:solidFill>
                <a:srgbClr val="FF0000"/>
              </a:solidFill>
            </a:endParaRPr>
          </a:p>
          <a:p>
            <a:r>
              <a:rPr lang="en-US" altLang="zh-CN" sz="3600" b="1" dirty="0">
                <a:solidFill>
                  <a:srgbClr val="FF0000"/>
                </a:solidFill>
              </a:rPr>
              <a:t> institution n.</a:t>
            </a:r>
            <a:r>
              <a:rPr lang="zh-CN" altLang="en-US" sz="3600" b="1" dirty="0">
                <a:solidFill>
                  <a:srgbClr val="FF0000"/>
                </a:solidFill>
              </a:rPr>
              <a:t>团体机构</a:t>
            </a:r>
            <a:r>
              <a:rPr lang="en-US" altLang="zh-CN" sz="3600" b="1" dirty="0">
                <a:solidFill>
                  <a:srgbClr val="FF0000"/>
                </a:solidFill>
              </a:rPr>
              <a:t>;</a:t>
            </a:r>
            <a:r>
              <a:rPr lang="zh-CN" altLang="en-US" sz="3600" b="1" dirty="0">
                <a:solidFill>
                  <a:srgbClr val="FF0000"/>
                </a:solidFill>
              </a:rPr>
              <a:t>慈善福利机构</a:t>
            </a:r>
            <a:endParaRPr lang="en-US" altLang="zh-CN" sz="3600" b="1" dirty="0">
              <a:solidFill>
                <a:srgbClr val="FF0000"/>
              </a:solidFill>
            </a:endParaRPr>
          </a:p>
          <a:p>
            <a:r>
              <a:rPr lang="en-US" altLang="zh-CN" sz="3600" b="1" dirty="0">
                <a:solidFill>
                  <a:srgbClr val="FF0000"/>
                </a:solidFill>
              </a:rPr>
              <a:t> </a:t>
            </a:r>
            <a:r>
              <a:rPr lang="en-US" altLang="zh-CN" sz="3600" b="1" u="sng" dirty="0">
                <a:solidFill>
                  <a:srgbClr val="FF0000"/>
                </a:solidFill>
              </a:rPr>
              <a:t>promote</a:t>
            </a:r>
            <a:r>
              <a:rPr lang="en-US" altLang="zh-CN" sz="3600" b="1" dirty="0">
                <a:solidFill>
                  <a:srgbClr val="FF0000"/>
                </a:solidFill>
              </a:rPr>
              <a:t> gardening facilities</a:t>
            </a:r>
            <a:r>
              <a:rPr lang="zh-CN" altLang="en-US" sz="3600" b="1" u="sng" dirty="0">
                <a:solidFill>
                  <a:srgbClr val="FF0000"/>
                </a:solidFill>
              </a:rPr>
              <a:t>推广</a:t>
            </a:r>
            <a:r>
              <a:rPr lang="zh-CN" altLang="en-US" sz="3600" b="1" dirty="0">
                <a:solidFill>
                  <a:srgbClr val="FF0000"/>
                </a:solidFill>
              </a:rPr>
              <a:t>园艺设施</a:t>
            </a:r>
            <a:endParaRPr lang="en-US" altLang="zh-CN" sz="3600" b="1" dirty="0">
              <a:solidFill>
                <a:srgbClr val="FF0000"/>
              </a:solidFill>
            </a:endParaRPr>
          </a:p>
          <a:p>
            <a:r>
              <a:rPr lang="en-US" altLang="zh-CN" sz="3600" b="1" dirty="0">
                <a:solidFill>
                  <a:srgbClr val="FF0000"/>
                </a:solidFill>
              </a:rPr>
              <a:t> to no avail</a:t>
            </a:r>
            <a:r>
              <a:rPr lang="zh-CN" altLang="en-US" sz="3600" b="1" dirty="0">
                <a:solidFill>
                  <a:srgbClr val="FF0000"/>
                </a:solidFill>
              </a:rPr>
              <a:t>毫无结果            </a:t>
            </a:r>
            <a:r>
              <a:rPr lang="en-US" altLang="zh-CN" sz="3600" b="1" dirty="0">
                <a:solidFill>
                  <a:srgbClr val="FF0000"/>
                </a:solidFill>
              </a:rPr>
              <a:t>in vain</a:t>
            </a:r>
            <a:r>
              <a:rPr lang="zh-CN" altLang="en-US" sz="3600" b="1" dirty="0">
                <a:solidFill>
                  <a:srgbClr val="FF0000"/>
                </a:solidFill>
              </a:rPr>
              <a:t>徒劳无功</a:t>
            </a:r>
            <a:endParaRPr lang="en-US" altLang="zh-CN" sz="3600" b="1" dirty="0">
              <a:solidFill>
                <a:srgbClr val="FF0000"/>
              </a:solidFill>
            </a:endParaRPr>
          </a:p>
          <a:p>
            <a:r>
              <a:rPr lang="en-US" altLang="zh-CN" sz="3600" b="1" dirty="0">
                <a:solidFill>
                  <a:srgbClr val="FF0000"/>
                </a:solidFill>
              </a:rPr>
              <a:t> beyond belief</a:t>
            </a:r>
            <a:r>
              <a:rPr lang="zh-CN" altLang="en-US" sz="3600" b="1" dirty="0">
                <a:solidFill>
                  <a:srgbClr val="FF0000"/>
                </a:solidFill>
              </a:rPr>
              <a:t>难以置信的   </a:t>
            </a:r>
            <a:r>
              <a:rPr lang="en-US" altLang="zh-CN" sz="3600" b="1" dirty="0">
                <a:solidFill>
                  <a:srgbClr val="FF0000"/>
                </a:solidFill>
              </a:rPr>
              <a:t>at a loss</a:t>
            </a:r>
            <a:r>
              <a:rPr lang="zh-CN" altLang="en-US" sz="3600" b="1" dirty="0">
                <a:solidFill>
                  <a:srgbClr val="FF0000"/>
                </a:solidFill>
              </a:rPr>
              <a:t>困惑</a:t>
            </a:r>
            <a:endParaRPr lang="en-US" altLang="zh-CN" sz="3600" b="1" dirty="0">
              <a:solidFill>
                <a:srgbClr val="FF0000"/>
              </a:solidFill>
            </a:endParaRPr>
          </a:p>
          <a:p>
            <a:r>
              <a:rPr lang="en-US" altLang="zh-CN" sz="3600" b="1" dirty="0">
                <a:solidFill>
                  <a:srgbClr val="FF0000"/>
                </a:solidFill>
              </a:rPr>
              <a:t> throw light on</a:t>
            </a:r>
            <a:r>
              <a:rPr lang="zh-CN" altLang="en-US" sz="3600" b="1" dirty="0">
                <a:solidFill>
                  <a:srgbClr val="FF0000"/>
                </a:solidFill>
              </a:rPr>
              <a:t>阐明</a:t>
            </a:r>
            <a:endParaRPr lang="en-US" altLang="zh-CN" sz="3600" b="1" dirty="0">
              <a:solidFill>
                <a:srgbClr val="FF0000"/>
              </a:solidFill>
            </a:endParaRPr>
          </a:p>
          <a:p>
            <a:r>
              <a:rPr lang="en-US" altLang="zh-CN" sz="3600" b="1" dirty="0">
                <a:solidFill>
                  <a:srgbClr val="FF0000"/>
                </a:solidFill>
              </a:rPr>
              <a:t> innocent </a:t>
            </a:r>
            <a:r>
              <a:rPr lang="en-US" altLang="zh-CN" sz="3600" b="1" dirty="0" err="1">
                <a:solidFill>
                  <a:srgbClr val="FF0000"/>
                </a:solidFill>
              </a:rPr>
              <a:t>adj.n</a:t>
            </a:r>
            <a:r>
              <a:rPr lang="en-US" altLang="zh-CN" sz="3600" b="1" dirty="0">
                <a:solidFill>
                  <a:srgbClr val="FF0000"/>
                </a:solidFill>
              </a:rPr>
              <a:t>.</a:t>
            </a:r>
            <a:r>
              <a:rPr lang="zh-CN" altLang="en-US" sz="3600" b="1" dirty="0">
                <a:solidFill>
                  <a:srgbClr val="FF0000"/>
                </a:solidFill>
              </a:rPr>
              <a:t>清白无辜</a:t>
            </a:r>
            <a:r>
              <a:rPr lang="en-US" altLang="zh-CN" sz="3600" b="1" dirty="0">
                <a:solidFill>
                  <a:srgbClr val="FF0000"/>
                </a:solidFill>
              </a:rPr>
              <a:t>(</a:t>
            </a:r>
            <a:r>
              <a:rPr lang="zh-CN" altLang="en-US" sz="3600" b="1" dirty="0">
                <a:solidFill>
                  <a:srgbClr val="FF0000"/>
                </a:solidFill>
              </a:rPr>
              <a:t>的人</a:t>
            </a:r>
            <a:r>
              <a:rPr lang="en-US" altLang="zh-CN" sz="3600" b="1" dirty="0">
                <a:solidFill>
                  <a:srgbClr val="FF0000"/>
                </a:solidFill>
              </a:rPr>
              <a:t>) easy-going</a:t>
            </a:r>
            <a:r>
              <a:rPr lang="zh-CN" altLang="en-US" sz="3600" b="1" dirty="0">
                <a:solidFill>
                  <a:srgbClr val="FF0000"/>
                </a:solidFill>
              </a:rPr>
              <a:t>随和的</a:t>
            </a:r>
            <a:endParaRPr lang="en-US" altLang="zh-CN" sz="3600" b="1" dirty="0">
              <a:solidFill>
                <a:srgbClr val="FF0000"/>
              </a:solidFill>
            </a:endParaRPr>
          </a:p>
          <a:p>
            <a:r>
              <a:rPr lang="en-US" altLang="zh-CN" sz="3600" b="1" dirty="0">
                <a:solidFill>
                  <a:srgbClr val="FF0000"/>
                </a:solidFill>
              </a:rPr>
              <a:t> extend the shelf life</a:t>
            </a:r>
            <a:r>
              <a:rPr lang="zh-CN" altLang="en-US" sz="3600" b="1" dirty="0">
                <a:solidFill>
                  <a:srgbClr val="FF0000"/>
                </a:solidFill>
              </a:rPr>
              <a:t>延长保存期</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t>练习本</a:t>
            </a:r>
            <a:r>
              <a:rPr lang="en-US" altLang="zh-CN" sz="3600" b="1" dirty="0"/>
              <a:t>P20-24   </a:t>
            </a:r>
            <a:r>
              <a:rPr lang="zh-CN" altLang="en-US" sz="3600" b="1" dirty="0">
                <a:solidFill>
                  <a:srgbClr val="FF0000"/>
                </a:solidFill>
              </a:rPr>
              <a:t>假大空 </a:t>
            </a:r>
            <a:r>
              <a:rPr lang="en-US" altLang="zh-CN" sz="3600" b="1" dirty="0"/>
              <a:t>VS </a:t>
            </a:r>
            <a:r>
              <a:rPr lang="zh-CN" altLang="en-US" sz="3600" b="1" dirty="0">
                <a:solidFill>
                  <a:srgbClr val="FF0000"/>
                </a:solidFill>
              </a:rPr>
              <a:t>具体精准</a:t>
            </a:r>
            <a:endParaRPr lang="en-US" altLang="zh-CN" sz="3600" b="1" dirty="0">
              <a:solidFill>
                <a:srgbClr val="FF0000"/>
              </a:solidFill>
            </a:endParaRPr>
          </a:p>
          <a:p>
            <a:r>
              <a:rPr lang="en-US" altLang="zh-CN" sz="3600" b="1" dirty="0"/>
              <a:t> 7.C.Helping needy people is a great virtue.</a:t>
            </a:r>
            <a:r>
              <a:rPr lang="zh-CN" altLang="en-US" dirty="0"/>
              <a:t>帮助有需要的人是一种伟大的美德</a:t>
            </a:r>
            <a:endParaRPr lang="en-US" altLang="zh-CN" sz="3600" b="1" dirty="0"/>
          </a:p>
          <a:p>
            <a:r>
              <a:rPr lang="en-US" altLang="zh-CN" sz="3600" b="1" dirty="0"/>
              <a:t>D. Stranger returns the lost wallet with more cash inside.</a:t>
            </a:r>
          </a:p>
          <a:p>
            <a:r>
              <a:rPr lang="en-US" altLang="zh-CN" sz="3600" b="1" dirty="0"/>
              <a:t> </a:t>
            </a:r>
            <a:r>
              <a:rPr lang="zh-CN" altLang="en-US" sz="3600" b="1" dirty="0">
                <a:solidFill>
                  <a:srgbClr val="FF0000"/>
                </a:solidFill>
              </a:rPr>
              <a:t>精准</a:t>
            </a:r>
            <a:r>
              <a:rPr lang="en-US" altLang="zh-CN" sz="3600" b="1" dirty="0">
                <a:solidFill>
                  <a:srgbClr val="FF0000"/>
                </a:solidFill>
              </a:rPr>
              <a:t>(</a:t>
            </a:r>
            <a:r>
              <a:rPr lang="zh-CN" altLang="en-US" sz="3600" b="1" dirty="0">
                <a:solidFill>
                  <a:srgbClr val="FF0000"/>
                </a:solidFill>
              </a:rPr>
              <a:t>生词影响理解</a:t>
            </a:r>
            <a:r>
              <a:rPr lang="en-US" altLang="zh-CN" sz="3600" b="1" dirty="0">
                <a:solidFill>
                  <a:srgbClr val="FF0000"/>
                </a:solidFill>
              </a:rPr>
              <a:t>)</a:t>
            </a:r>
          </a:p>
          <a:p>
            <a:r>
              <a:rPr lang="en-US" altLang="zh-CN" sz="3600" b="1" dirty="0"/>
              <a:t>11.A.</a:t>
            </a:r>
            <a:r>
              <a:rPr lang="en-US" altLang="zh-CN" sz="3600" b="1" dirty="0">
                <a:solidFill>
                  <a:srgbClr val="FF0000"/>
                </a:solidFill>
              </a:rPr>
              <a:t>change</a:t>
            </a:r>
            <a:r>
              <a:rPr lang="en-US" altLang="zh-CN" sz="3600" b="1" dirty="0"/>
              <a:t> our life </a:t>
            </a:r>
            <a:r>
              <a:rPr lang="en-US" altLang="zh-CN" sz="3600" b="1" dirty="0">
                <a:solidFill>
                  <a:srgbClr val="FF0000"/>
                </a:solidFill>
              </a:rPr>
              <a:t>in many ways</a:t>
            </a:r>
            <a:r>
              <a:rPr lang="en-US" altLang="zh-CN" sz="3600" b="1" dirty="0"/>
              <a:t>.</a:t>
            </a:r>
            <a:r>
              <a:rPr lang="zh-CN" altLang="en-US" sz="3600" b="1" dirty="0"/>
              <a:t>无关信息的添加</a:t>
            </a:r>
            <a:r>
              <a:rPr lang="en-US" altLang="zh-CN" sz="3600" b="1" dirty="0"/>
              <a:t>,</a:t>
            </a:r>
            <a:r>
              <a:rPr lang="zh-CN" altLang="en-US" sz="3600" b="1" dirty="0">
                <a:solidFill>
                  <a:srgbClr val="FF0000"/>
                </a:solidFill>
              </a:rPr>
              <a:t>扩大</a:t>
            </a:r>
            <a:r>
              <a:rPr lang="zh-CN" altLang="en-US" sz="3600" b="1" dirty="0"/>
              <a:t>范畴</a:t>
            </a:r>
            <a:endParaRPr lang="en-US" altLang="zh-CN" sz="3600" b="1" dirty="0"/>
          </a:p>
          <a:p>
            <a:r>
              <a:rPr lang="en-US" altLang="zh-CN" sz="3600" b="1" dirty="0"/>
              <a:t>B. raw banana peels</a:t>
            </a:r>
            <a:r>
              <a:rPr lang="zh-CN" altLang="en-US" sz="3600" b="1" dirty="0"/>
              <a:t>生香蕉皮</a:t>
            </a:r>
            <a:r>
              <a:rPr lang="en-US" altLang="zh-CN" sz="3600" b="1" dirty="0"/>
              <a:t> </a:t>
            </a:r>
            <a:r>
              <a:rPr lang="en-US" altLang="zh-CN" sz="3600" b="1" dirty="0">
                <a:solidFill>
                  <a:srgbClr val="FF0000"/>
                </a:solidFill>
                <a:highlight>
                  <a:srgbClr val="FFFF00"/>
                </a:highlight>
              </a:rPr>
              <a:t>raw adj.</a:t>
            </a:r>
            <a:r>
              <a:rPr lang="zh-CN" altLang="en-US" sz="3600" b="1" dirty="0">
                <a:solidFill>
                  <a:srgbClr val="FF0000"/>
                </a:solidFill>
                <a:highlight>
                  <a:srgbClr val="FFFF00"/>
                </a:highlight>
              </a:rPr>
              <a:t>生的未加工的</a:t>
            </a:r>
            <a:r>
              <a:rPr lang="zh-CN" altLang="en-US" sz="3600" b="1" dirty="0">
                <a:highlight>
                  <a:srgbClr val="FFFF00"/>
                </a:highlight>
              </a:rPr>
              <a:t>  </a:t>
            </a:r>
            <a:endParaRPr lang="en-US" altLang="zh-CN" sz="3600" b="1" dirty="0">
              <a:highlight>
                <a:srgbClr val="FFFF00"/>
              </a:highlight>
            </a:endParaRPr>
          </a:p>
          <a:p>
            <a:r>
              <a:rPr lang="en-US" altLang="zh-CN" sz="3600" b="1" dirty="0"/>
              <a:t>C. cooking </a:t>
            </a:r>
            <a:r>
              <a:rPr lang="en-US" altLang="zh-CN" sz="3600" b="1" dirty="0">
                <a:solidFill>
                  <a:srgbClr val="FF0000"/>
                </a:solidFill>
                <a:highlight>
                  <a:srgbClr val="FFFF00"/>
                </a:highlight>
              </a:rPr>
              <a:t>blogs</a:t>
            </a:r>
            <a:r>
              <a:rPr lang="zh-CN" altLang="en-US" sz="3600" b="1" dirty="0"/>
              <a:t>烹饪</a:t>
            </a:r>
            <a:r>
              <a:rPr lang="zh-CN" altLang="en-US" sz="3600" b="1" dirty="0">
                <a:solidFill>
                  <a:srgbClr val="FF0000"/>
                </a:solidFill>
              </a:rPr>
              <a:t>博客</a:t>
            </a:r>
            <a:endParaRPr lang="en-US" altLang="zh-CN" sz="3600" b="1" dirty="0">
              <a:solidFill>
                <a:srgbClr val="FF0000"/>
              </a:solidFill>
            </a:endParaRPr>
          </a:p>
          <a:p>
            <a:r>
              <a:rPr lang="en-US" altLang="zh-CN" sz="3600" b="1" dirty="0"/>
              <a:t>D. using banana peels as an </a:t>
            </a:r>
            <a:r>
              <a:rPr lang="en-US" altLang="zh-CN" sz="3600" b="1" dirty="0">
                <a:solidFill>
                  <a:srgbClr val="FF0000"/>
                </a:solidFill>
                <a:highlight>
                  <a:srgbClr val="FFFF00"/>
                </a:highlight>
              </a:rPr>
              <a:t>ingredient</a:t>
            </a:r>
            <a:r>
              <a:rPr lang="zh-CN" altLang="en-US" dirty="0"/>
              <a:t>用香蕉皮做</a:t>
            </a:r>
            <a:r>
              <a:rPr lang="zh-CN" altLang="en-US" b="1" dirty="0">
                <a:solidFill>
                  <a:srgbClr val="FF0000"/>
                </a:solidFill>
              </a:rPr>
              <a:t>原料</a:t>
            </a:r>
            <a:endParaRPr lang="zh-CN" altLang="en-US" sz="3600" b="1" dirty="0">
              <a:solidFill>
                <a:srgbClr val="FF0000"/>
              </a:solidFil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t>科普类文章</a:t>
            </a:r>
            <a:r>
              <a:rPr lang="zh-CN" altLang="en-US" sz="3600" b="1" dirty="0">
                <a:solidFill>
                  <a:srgbClr val="FF0000"/>
                </a:solidFill>
              </a:rPr>
              <a:t>踩准关键词</a:t>
            </a:r>
            <a:r>
              <a:rPr lang="en-US" altLang="zh-CN" sz="3600" b="1" dirty="0">
                <a:solidFill>
                  <a:srgbClr val="FF0000"/>
                </a:solidFill>
              </a:rPr>
              <a:t>,</a:t>
            </a:r>
            <a:r>
              <a:rPr lang="zh-CN" altLang="en-US" sz="3600" b="1" dirty="0">
                <a:solidFill>
                  <a:srgbClr val="FF0000"/>
                </a:solidFill>
              </a:rPr>
              <a:t>不要偷换概念</a:t>
            </a:r>
            <a:endParaRPr lang="en-US" altLang="zh-CN" sz="3600" b="1" dirty="0">
              <a:solidFill>
                <a:srgbClr val="FF0000"/>
              </a:solidFill>
            </a:endParaRPr>
          </a:p>
          <a:p>
            <a:r>
              <a:rPr lang="en-US" altLang="zh-CN" sz="3600" b="1" dirty="0">
                <a:solidFill>
                  <a:srgbClr val="FF0000"/>
                </a:solidFill>
              </a:rPr>
              <a:t> </a:t>
            </a:r>
            <a:r>
              <a:rPr lang="zh-CN" altLang="en-US" sz="3600" b="1" dirty="0">
                <a:solidFill>
                  <a:srgbClr val="FF0000"/>
                </a:solidFill>
              </a:rPr>
              <a:t>现象</a:t>
            </a:r>
            <a:r>
              <a:rPr lang="zh-CN" altLang="en-US" sz="3600" b="1" dirty="0"/>
              <a:t>：</a:t>
            </a:r>
            <a:r>
              <a:rPr lang="en-US" altLang="zh-CN" sz="3600" b="1" dirty="0"/>
              <a:t>the explosion/</a:t>
            </a:r>
            <a:r>
              <a:rPr lang="en-US" altLang="zh-CN" sz="3600" b="1" u="sng" dirty="0">
                <a:solidFill>
                  <a:srgbClr val="FF0000"/>
                </a:solidFill>
              </a:rPr>
              <a:t>boiling water of tea </a:t>
            </a:r>
            <a:r>
              <a:rPr lang="en-US" altLang="zh-CN" sz="3600" b="1" u="sng" dirty="0"/>
              <a:t>saved many lives.</a:t>
            </a:r>
          </a:p>
          <a:p>
            <a:r>
              <a:rPr lang="en-US" altLang="zh-CN" sz="3600" b="1" dirty="0"/>
              <a:t> </a:t>
            </a:r>
            <a:r>
              <a:rPr lang="zh-CN" altLang="en-US" sz="3600" b="1" dirty="0">
                <a:solidFill>
                  <a:srgbClr val="FF0000"/>
                </a:solidFill>
              </a:rPr>
              <a:t>疾病的来源</a:t>
            </a:r>
            <a:r>
              <a:rPr lang="zh-CN" altLang="en-US" sz="3600" b="1" dirty="0"/>
              <a:t>：</a:t>
            </a:r>
            <a:r>
              <a:rPr lang="en-US" altLang="zh-CN" sz="3600" b="1" u="sng" dirty="0"/>
              <a:t>illness</a:t>
            </a:r>
            <a:r>
              <a:rPr lang="en-US" altLang="zh-CN" sz="3600" b="1" dirty="0"/>
              <a:t> caused by </a:t>
            </a:r>
            <a:r>
              <a:rPr lang="en-US" altLang="zh-CN" sz="3600" b="1" u="sng" dirty="0"/>
              <a:t>water-borne pathogens</a:t>
            </a:r>
            <a:r>
              <a:rPr lang="zh-CN" altLang="en-US" sz="3600" b="1" dirty="0"/>
              <a:t>由水传播的病原体引起的疾病</a:t>
            </a:r>
            <a:endParaRPr lang="en-US" altLang="zh-CN" sz="3600" b="1" dirty="0"/>
          </a:p>
          <a:p>
            <a:r>
              <a:rPr lang="en-US" altLang="zh-CN" sz="3600" b="1" dirty="0"/>
              <a:t> </a:t>
            </a:r>
            <a:r>
              <a:rPr lang="zh-CN" altLang="en-US" sz="3600" b="1" dirty="0"/>
              <a:t>死亡率下降</a:t>
            </a:r>
            <a:r>
              <a:rPr lang="zh-CN" altLang="en-US" sz="3600" b="1" dirty="0">
                <a:solidFill>
                  <a:srgbClr val="FF0000"/>
                </a:solidFill>
              </a:rPr>
              <a:t>现象出现的原因</a:t>
            </a:r>
            <a:r>
              <a:rPr lang="zh-CN" altLang="en-US" sz="3600" b="1" dirty="0"/>
              <a:t>：</a:t>
            </a:r>
            <a:r>
              <a:rPr lang="en-US" altLang="zh-CN" sz="3600" b="1" u="sng" dirty="0"/>
              <a:t>boiling water for tea </a:t>
            </a:r>
            <a:r>
              <a:rPr lang="en-US" altLang="zh-CN" sz="3600" b="1" dirty="0">
                <a:solidFill>
                  <a:srgbClr val="FF0000"/>
                </a:solidFill>
              </a:rPr>
              <a:t>might</a:t>
            </a:r>
            <a:r>
              <a:rPr lang="en-US" altLang="zh-CN" sz="3600" b="1" dirty="0"/>
              <a:t> have played a role in this decrease.</a:t>
            </a:r>
            <a:r>
              <a:rPr lang="zh-CN" altLang="en-US" sz="3600" b="1" dirty="0"/>
              <a:t>切断了病原体的传播</a:t>
            </a:r>
            <a:endParaRPr lang="en-US" altLang="zh-CN" sz="3600" b="1" dirty="0"/>
          </a:p>
          <a:p>
            <a:pPr marL="0" indent="0">
              <a:buNone/>
            </a:pPr>
            <a:endParaRPr lang="en-US" altLang="zh-CN" sz="3600" b="1" dirty="0"/>
          </a:p>
          <a:p>
            <a:r>
              <a:rPr lang="en-US" altLang="zh-CN" sz="3600" b="1" dirty="0"/>
              <a:t>12D. beneficial substances in tea</a:t>
            </a:r>
            <a:r>
              <a:rPr lang="zh-CN" altLang="en-US" dirty="0"/>
              <a:t>茶叶中的有益物质</a:t>
            </a:r>
            <a:endParaRPr lang="en-US" altLang="zh-CN" dirty="0"/>
          </a:p>
          <a:p>
            <a:r>
              <a:rPr lang="en-US" altLang="zh-CN" sz="3600" b="1" dirty="0"/>
              <a:t>13B. </a:t>
            </a:r>
            <a:r>
              <a:rPr lang="en-US" altLang="zh-CN" sz="3600" b="1" dirty="0">
                <a:solidFill>
                  <a:srgbClr val="FF0000"/>
                </a:solidFill>
              </a:rPr>
              <a:t>costly adj.</a:t>
            </a:r>
            <a:r>
              <a:rPr lang="zh-CN" altLang="en-US" sz="3600" b="1" dirty="0">
                <a:solidFill>
                  <a:srgbClr val="FF0000"/>
                </a:solidFill>
              </a:rPr>
              <a:t>昂贵的</a:t>
            </a:r>
            <a:r>
              <a:rPr lang="zh-CN" altLang="en-US" sz="3600" b="1" dirty="0"/>
              <a:t> </a:t>
            </a:r>
            <a:r>
              <a:rPr lang="en-US" altLang="zh-CN" sz="3600" b="1" dirty="0">
                <a:solidFill>
                  <a:srgbClr val="FF0000"/>
                </a:solidFill>
              </a:rPr>
              <a:t>less costly=affordable</a:t>
            </a:r>
            <a:r>
              <a:rPr lang="zh-CN" altLang="en-US" sz="3600" b="1" dirty="0">
                <a:solidFill>
                  <a:srgbClr val="FF0000"/>
                </a:solidFill>
              </a:rPr>
              <a:t>承担得起</a:t>
            </a:r>
            <a:endParaRPr lang="en-US" altLang="zh-CN" sz="3600" b="1" dirty="0">
              <a:solidFill>
                <a:srgbClr val="FF0000"/>
              </a:solidFill>
            </a:endParaRPr>
          </a:p>
          <a:p>
            <a:r>
              <a:rPr lang="en-US" altLang="zh-CN" sz="3600" b="1" dirty="0">
                <a:solidFill>
                  <a:srgbClr val="FF0000"/>
                </a:solidFill>
              </a:rPr>
              <a:t>14-15</a:t>
            </a:r>
          </a:p>
          <a:p>
            <a:endParaRPr lang="en-US" altLang="zh-CN" sz="3600" b="1" dirty="0"/>
          </a:p>
          <a:p>
            <a:endParaRPr lang="en-US" altLang="zh-CN" sz="3600" b="1"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xml><?xml version="1.0" encoding="utf-8"?>
<p:tagLst xmlns:a="http://schemas.openxmlformats.org/drawingml/2006/main" xmlns:r="http://schemas.openxmlformats.org/officeDocument/2006/relationships" xmlns:p="http://schemas.openxmlformats.org/presentationml/2006/main">
  <p:tag name="AS_UNIQUEID" val="1389"/>
</p:tagLst>
</file>

<file path=ppt/tags/tag3.xml><?xml version="1.0" encoding="utf-8"?>
<p:tagLst xmlns:a="http://schemas.openxmlformats.org/drawingml/2006/main" xmlns:r="http://schemas.openxmlformats.org/officeDocument/2006/relationships" xmlns:p="http://schemas.openxmlformats.org/presentationml/2006/main">
  <p:tag name="AS_UNIQUEID" val="1390"/>
</p:tagLst>
</file>

<file path=ppt/tags/tag4.xml><?xml version="1.0" encoding="utf-8"?>
<p:tagLst xmlns:a="http://schemas.openxmlformats.org/drawingml/2006/main" xmlns:r="http://schemas.openxmlformats.org/officeDocument/2006/relationships" xmlns:p="http://schemas.openxmlformats.org/presentationml/2006/main">
  <p:tag name="AS_UNIQUEID" val="1391"/>
</p:tagLst>
</file>

<file path=ppt/tags/tag5.xml><?xml version="1.0" encoding="utf-8"?>
<p:tagLst xmlns:a="http://schemas.openxmlformats.org/drawingml/2006/main" xmlns:r="http://schemas.openxmlformats.org/officeDocument/2006/relationships" xmlns:p="http://schemas.openxmlformats.org/presentationml/2006/main">
  <p:tag name="AS_UNIQUEID" val="600"/>
</p:tagLst>
</file>

<file path=ppt/tags/tag6.xml><?xml version="1.0" encoding="utf-8"?>
<p:tagLst xmlns:a="http://schemas.openxmlformats.org/drawingml/2006/main" xmlns:r="http://schemas.openxmlformats.org/officeDocument/2006/relationships" xmlns:p="http://schemas.openxmlformats.org/presentationml/2006/main">
  <p:tag name="AS_UNIQUEID" val="605"/>
</p:tagLst>
</file>

<file path=ppt/tags/tag7.xml><?xml version="1.0" encoding="utf-8"?>
<p:tagLst xmlns:a="http://schemas.openxmlformats.org/drawingml/2006/main" xmlns:r="http://schemas.openxmlformats.org/officeDocument/2006/relationships" xmlns:p="http://schemas.openxmlformats.org/presentationml/2006/main">
  <p:tag name="AS_UNIQUEID" val="1392"/>
</p:tagLst>
</file>

<file path=ppt/tags/tag8.xml><?xml version="1.0" encoding="utf-8"?>
<p:tagLst xmlns:a="http://schemas.openxmlformats.org/drawingml/2006/main" xmlns:r="http://schemas.openxmlformats.org/officeDocument/2006/relationships" xmlns:p="http://schemas.openxmlformats.org/presentationml/2006/main">
  <p:tag name="AS_UNIQUEID" val="139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16414</Words>
  <Application>Microsoft Office PowerPoint</Application>
  <PresentationFormat>宽屏</PresentationFormat>
  <Paragraphs>1151</Paragraphs>
  <Slides>147</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147</vt:i4>
      </vt:variant>
    </vt:vector>
  </HeadingPairs>
  <TitlesOfParts>
    <vt:vector size="152" baseType="lpstr">
      <vt:lpstr>等线</vt:lpstr>
      <vt:lpstr>等线 Light</vt:lpstr>
      <vt:lpstr>Arial</vt:lpstr>
      <vt:lpstr>Times New Roman</vt:lpstr>
      <vt:lpstr>Office 主题​​</vt:lpstr>
      <vt:lpstr>凤+卷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静 刘</dc:creator>
  <cp:lastModifiedBy>静 刘</cp:lastModifiedBy>
  <cp:revision>154</cp:revision>
  <dcterms:created xsi:type="dcterms:W3CDTF">2025-09-03T07:03:00Z</dcterms:created>
  <dcterms:modified xsi:type="dcterms:W3CDTF">2025-11-28T01:51:18Z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2FBCE0EFB0C34EC3A39FA2AE850C3B30_12</vt:lpwstr>
  </property>
  <property fmtid="{D5CDD505-2E9C-101B-9397-08002B2CF9AE}" pid="3" name="KSOProductBuildVer">
    <vt:lpwstr>2052-12.1.0.23542</vt:lpwstr>
  </property>
</Properties>
</file>