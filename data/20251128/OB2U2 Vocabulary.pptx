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302" r:id="rId2"/>
    <p:sldId id="257" r:id="rId3"/>
    <p:sldId id="258" r:id="rId4"/>
    <p:sldId id="261" r:id="rId5"/>
    <p:sldId id="262" r:id="rId6"/>
    <p:sldId id="263" r:id="rId7"/>
    <p:sldId id="276" r:id="rId8"/>
    <p:sldId id="264" r:id="rId9"/>
    <p:sldId id="266" r:id="rId10"/>
    <p:sldId id="280" r:id="rId11"/>
    <p:sldId id="279" r:id="rId12"/>
    <p:sldId id="321" r:id="rId13"/>
    <p:sldId id="282" r:id="rId14"/>
    <p:sldId id="271" r:id="rId15"/>
    <p:sldId id="277" r:id="rId16"/>
    <p:sldId id="278" r:id="rId17"/>
    <p:sldId id="272" r:id="rId18"/>
    <p:sldId id="274" r:id="rId19"/>
    <p:sldId id="273" r:id="rId20"/>
    <p:sldId id="283" r:id="rId21"/>
    <p:sldId id="284" r:id="rId22"/>
    <p:sldId id="285" r:id="rId23"/>
    <p:sldId id="293" r:id="rId24"/>
    <p:sldId id="289" r:id="rId25"/>
    <p:sldId id="290" r:id="rId26"/>
    <p:sldId id="325" r:id="rId27"/>
    <p:sldId id="326" r:id="rId28"/>
    <p:sldId id="327" r:id="rId29"/>
    <p:sldId id="300" r:id="rId30"/>
    <p:sldId id="301" r:id="rId31"/>
    <p:sldId id="303" r:id="rId32"/>
    <p:sldId id="322" r:id="rId33"/>
    <p:sldId id="299" r:id="rId34"/>
    <p:sldId id="304" r:id="rId35"/>
    <p:sldId id="306" r:id="rId36"/>
    <p:sldId id="305" r:id="rId37"/>
    <p:sldId id="307" r:id="rId38"/>
    <p:sldId id="308" r:id="rId39"/>
    <p:sldId id="309" r:id="rId40"/>
    <p:sldId id="310" r:id="rId41"/>
    <p:sldId id="311" r:id="rId42"/>
    <p:sldId id="324" r:id="rId43"/>
    <p:sldId id="312" r:id="rId44"/>
    <p:sldId id="323" r:id="rId45"/>
    <p:sldId id="313" r:id="rId46"/>
    <p:sldId id="318" r:id="rId47"/>
    <p:sldId id="319" r:id="rId48"/>
    <p:sldId id="320" r:id="rId49"/>
  </p:sldIdLst>
  <p:sldSz cx="9144000" cy="6858000" type="screen4x3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7BE508D-DB44-4BB5-807D-625EF4D2A81F}">
          <p14:sldIdLst>
            <p14:sldId id="302"/>
            <p14:sldId id="257"/>
            <p14:sldId id="258"/>
            <p14:sldId id="261"/>
            <p14:sldId id="262"/>
            <p14:sldId id="263"/>
            <p14:sldId id="276"/>
            <p14:sldId id="264"/>
            <p14:sldId id="266"/>
            <p14:sldId id="280"/>
            <p14:sldId id="279"/>
            <p14:sldId id="321"/>
            <p14:sldId id="282"/>
            <p14:sldId id="271"/>
            <p14:sldId id="277"/>
            <p14:sldId id="278"/>
            <p14:sldId id="272"/>
            <p14:sldId id="274"/>
            <p14:sldId id="273"/>
            <p14:sldId id="283"/>
            <p14:sldId id="284"/>
            <p14:sldId id="285"/>
            <p14:sldId id="293"/>
            <p14:sldId id="289"/>
            <p14:sldId id="290"/>
            <p14:sldId id="325"/>
            <p14:sldId id="326"/>
            <p14:sldId id="327"/>
            <p14:sldId id="300"/>
            <p14:sldId id="301"/>
            <p14:sldId id="303"/>
            <p14:sldId id="322"/>
            <p14:sldId id="299"/>
            <p14:sldId id="304"/>
            <p14:sldId id="306"/>
            <p14:sldId id="305"/>
            <p14:sldId id="307"/>
            <p14:sldId id="308"/>
            <p14:sldId id="309"/>
            <p14:sldId id="310"/>
            <p14:sldId id="311"/>
            <p14:sldId id="324"/>
            <p14:sldId id="312"/>
            <p14:sldId id="323"/>
            <p14:sldId id="313"/>
            <p14:sldId id="318"/>
            <p14:sldId id="319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静 刘" initials="静刘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93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4056E-8AA9-4646-B54F-3F01E1ADC3C4}" type="datetimeFigureOut">
              <a:rPr kumimoji="1" lang="zh-CN" altLang="en-US" smtClean="0"/>
              <a:t>2025/11/28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A0CD7-4178-A640-B6F7-CA9ECB6C80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DA0CD7-4178-A640-B6F7-CA9ECB6C8056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>
            <a:off x="7239065" y="-1637368"/>
            <a:ext cx="3381953" cy="5255935"/>
          </a:xfrm>
          <a:prstGeom prst="ellipse">
            <a:avLst/>
          </a:prstGeom>
          <a:solidFill>
            <a:schemeClr val="accent1">
              <a:alpha val="16000"/>
            </a:schemeClr>
          </a:solidFill>
          <a:ln>
            <a:noFill/>
          </a:ln>
          <a:effectLst>
            <a:softEdge rad="1219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 rot="8100000">
            <a:off x="314567" y="420538"/>
            <a:ext cx="485775" cy="64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22"/>
          <p:cNvSpPr>
            <a:spLocks noGrp="1"/>
          </p:cNvSpPr>
          <p:nvPr>
            <p:ph type="body" sz="quarter" idx="12" hasCustomPrompt="1"/>
          </p:nvPr>
        </p:nvSpPr>
        <p:spPr>
          <a:xfrm>
            <a:off x="557454" y="712574"/>
            <a:ext cx="5749892" cy="47985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0" spc="3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在此输入标题</a:t>
            </a:r>
          </a:p>
        </p:txBody>
      </p:sp>
      <p:sp>
        <p:nvSpPr>
          <p:cNvPr id="9" name="椭圆 8"/>
          <p:cNvSpPr/>
          <p:nvPr userDrawn="1"/>
        </p:nvSpPr>
        <p:spPr>
          <a:xfrm>
            <a:off x="-4300398" y="3657600"/>
            <a:ext cx="11826809" cy="10591800"/>
          </a:xfrm>
          <a:prstGeom prst="ellipse">
            <a:avLst/>
          </a:prstGeom>
          <a:solidFill>
            <a:schemeClr val="accent1">
              <a:alpha val="14000"/>
            </a:schemeClr>
          </a:solidFill>
          <a:ln>
            <a:noFill/>
          </a:ln>
          <a:effectLst>
            <a:softEdge rad="1219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9CB78-13DB-409A-8F1D-C744AC2B2792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9C39E-0F9B-4C5A-A6A9-4294ABDCAA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OB2U2 Vocabulary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1.</a:t>
            </a:r>
            <a:r>
              <a:rPr lang="en-US" altLang="zh-CN" b="1" dirty="0"/>
              <a:t>participate</a:t>
            </a:r>
            <a:r>
              <a:rPr lang="zh-CN" altLang="en-US" dirty="0"/>
              <a:t> </a:t>
            </a:r>
            <a:r>
              <a:rPr lang="en-US" altLang="zh-CN" dirty="0"/>
              <a:t>vi.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472608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participate in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zh-CN" altLang="en-US" sz="3600" b="1" dirty="0">
                <a:solidFill>
                  <a:srgbClr val="FF0000"/>
                </a:solidFill>
              </a:rPr>
              <a:t>参与某事</a:t>
            </a:r>
            <a:r>
              <a:rPr lang="en-US" altLang="zh-CN" sz="3600" b="1" dirty="0">
                <a:solidFill>
                  <a:srgbClr val="FF0000"/>
                </a:solidFill>
              </a:rPr>
              <a:t>+with sb.</a:t>
            </a:r>
            <a:r>
              <a:rPr lang="zh-CN" altLang="en-US" sz="3600" b="1" dirty="0">
                <a:solidFill>
                  <a:srgbClr val="FF0000"/>
                </a:solidFill>
              </a:rPr>
              <a:t>和</a:t>
            </a:r>
            <a:r>
              <a:rPr lang="en-US" altLang="zh-CN" sz="3600" b="1" dirty="0">
                <a:solidFill>
                  <a:srgbClr val="FF0000"/>
                </a:solidFill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</a:rPr>
              <a:t>一起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/>
              <a:t>  = take part in / become involved in an activity</a:t>
            </a: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participation n.</a:t>
            </a:r>
            <a:r>
              <a:rPr lang="zh-CN" altLang="en-US" sz="3600" b="1" dirty="0">
                <a:solidFill>
                  <a:srgbClr val="FF0000"/>
                </a:solidFill>
              </a:rPr>
              <a:t>参加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partici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pant</a:t>
            </a:r>
            <a:r>
              <a:rPr lang="en-US" altLang="zh-CN" sz="3600" b="1" dirty="0">
                <a:solidFill>
                  <a:srgbClr val="FF0000"/>
                </a:solidFill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</a:rPr>
              <a:t>参与者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dirty="0"/>
              <a:t> </a:t>
            </a:r>
          </a:p>
          <a:p>
            <a:pPr marL="0" indent="0">
              <a:buNone/>
            </a:pPr>
            <a:r>
              <a:rPr lang="en-US" altLang="zh-CN" sz="3600" dirty="0"/>
              <a:t> </a:t>
            </a:r>
            <a:endParaRPr lang="zh-CN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005064"/>
            <a:ext cx="8712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/>
              <a:t>Many citizens __________in the anti-smoking campagin and most of the ____________said their ___________was voluntary.</a:t>
            </a:r>
            <a:endParaRPr lang="zh-CN" altLang="en-US" sz="3600"/>
          </a:p>
        </p:txBody>
      </p:sp>
      <p:sp>
        <p:nvSpPr>
          <p:cNvPr id="5" name="TextBox 4"/>
          <p:cNvSpPr txBox="1"/>
          <p:nvPr/>
        </p:nvSpPr>
        <p:spPr>
          <a:xfrm>
            <a:off x="2915816" y="4077072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participated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64088" y="4547079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participants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7624" y="5174615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participation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697144" cy="33265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/>
              <a:t>2.compete vi.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6525344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compete for </a:t>
            </a:r>
            <a:r>
              <a:rPr lang="zh-CN" altLang="en-US" sz="3600" b="1" dirty="0">
                <a:solidFill>
                  <a:srgbClr val="FF0000"/>
                </a:solidFill>
              </a:rPr>
              <a:t>为</a:t>
            </a:r>
            <a:r>
              <a:rPr lang="en-US" altLang="zh-CN" sz="3600" b="1" dirty="0">
                <a:solidFill>
                  <a:srgbClr val="FF0000"/>
                </a:solidFill>
              </a:rPr>
              <a:t>...</a:t>
            </a:r>
            <a:r>
              <a:rPr lang="zh-CN" altLang="en-US" sz="3600" b="1" dirty="0">
                <a:solidFill>
                  <a:srgbClr val="FF0000"/>
                </a:solidFill>
              </a:rPr>
              <a:t>而竞争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compete with/against</a:t>
            </a:r>
            <a:r>
              <a:rPr lang="zh-CN" altLang="en-US" sz="3600" b="1" dirty="0">
                <a:solidFill>
                  <a:srgbClr val="FF0000"/>
                </a:solidFill>
              </a:rPr>
              <a:t>同</a:t>
            </a:r>
            <a:r>
              <a:rPr lang="en-US" altLang="zh-CN" sz="3600" b="1" dirty="0">
                <a:solidFill>
                  <a:srgbClr val="FF0000"/>
                </a:solidFill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</a:rPr>
              <a:t>竞争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compete in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 </a:t>
            </a:r>
            <a:r>
              <a:rPr lang="zh-CN" altLang="en-US" sz="3600" b="1" dirty="0">
                <a:solidFill>
                  <a:srgbClr val="FF0000"/>
                </a:solidFill>
              </a:rPr>
              <a:t>参加</a:t>
            </a:r>
            <a:r>
              <a:rPr lang="en-US" altLang="zh-CN" sz="3600" b="1" dirty="0">
                <a:solidFill>
                  <a:srgbClr val="FF0000"/>
                </a:solidFill>
              </a:rPr>
              <a:t>....</a:t>
            </a:r>
            <a:r>
              <a:rPr lang="zh-CN" altLang="en-US" sz="3600" b="1" dirty="0">
                <a:solidFill>
                  <a:srgbClr val="FF0000"/>
                </a:solidFill>
              </a:rPr>
              <a:t>竞争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compe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ti</a:t>
            </a:r>
            <a:r>
              <a:rPr lang="en-US" altLang="zh-CN" sz="3600" b="1" dirty="0">
                <a:solidFill>
                  <a:srgbClr val="FF0000"/>
                </a:solidFill>
              </a:rPr>
              <a:t>tive </a:t>
            </a:r>
            <a:r>
              <a:rPr lang="en-US" altLang="zh-CN" sz="3600" dirty="0"/>
              <a:t> </a:t>
            </a:r>
            <a:r>
              <a:rPr lang="en-US" altLang="zh-CN" sz="3600" b="1" dirty="0">
                <a:solidFill>
                  <a:srgbClr val="FF0000"/>
                </a:solidFill>
              </a:rPr>
              <a:t>adj.</a:t>
            </a:r>
            <a:r>
              <a:rPr lang="zh-CN" altLang="en-US" sz="3600" b="1" dirty="0">
                <a:solidFill>
                  <a:srgbClr val="FF0000"/>
                </a:solidFill>
              </a:rPr>
              <a:t>有竞争力的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compe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ti</a:t>
            </a:r>
            <a:r>
              <a:rPr lang="en-US" altLang="zh-CN" sz="3600" b="1" dirty="0">
                <a:solidFill>
                  <a:srgbClr val="FF0000"/>
                </a:solidFill>
              </a:rPr>
              <a:t>tor n.</a:t>
            </a:r>
            <a:r>
              <a:rPr lang="zh-CN" altLang="en-US" sz="3600" b="1" dirty="0">
                <a:solidFill>
                  <a:srgbClr val="FF0000"/>
                </a:solidFill>
              </a:rPr>
              <a:t>竞争者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对手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compe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ti</a:t>
            </a:r>
            <a:r>
              <a:rPr lang="en-US" altLang="zh-CN" sz="3600" b="1" dirty="0">
                <a:solidFill>
                  <a:srgbClr val="FF0000"/>
                </a:solidFill>
              </a:rPr>
              <a:t>tion </a:t>
            </a:r>
            <a:r>
              <a:rPr lang="en-US" altLang="zh-CN" sz="3600" dirty="0"/>
              <a:t> </a:t>
            </a:r>
            <a:r>
              <a:rPr lang="en-US" altLang="zh-CN" sz="3600" dirty="0">
                <a:solidFill>
                  <a:srgbClr val="FF0000"/>
                </a:solidFill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</a:rPr>
              <a:t>比赛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竞争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in competition with sb. for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./to do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zh-CN" sz="3600" b="1" dirty="0"/>
              <a:t>competence n.</a:t>
            </a:r>
            <a:r>
              <a:rPr lang="zh-CN" altLang="en-US" sz="3600" b="1" dirty="0"/>
              <a:t>能力</a:t>
            </a:r>
            <a:r>
              <a:rPr lang="en-US" altLang="zh-CN" sz="3600" b="1" dirty="0"/>
              <a:t>,</a:t>
            </a:r>
            <a:r>
              <a:rPr lang="zh-CN" altLang="en-US" sz="3600" b="1" dirty="0"/>
              <a:t>技能</a:t>
            </a:r>
            <a:r>
              <a:rPr lang="en-US" altLang="zh-CN" sz="3600" b="1" dirty="0"/>
              <a:t> have the ~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to do</a:t>
            </a:r>
          </a:p>
          <a:p>
            <a:r>
              <a:rPr lang="en-US" altLang="zh-CN" sz="3600" b="1" dirty="0"/>
              <a:t>competent adj.</a:t>
            </a:r>
            <a:r>
              <a:rPr lang="zh-CN" altLang="en-US" sz="3600" b="1" dirty="0"/>
              <a:t>有能力的 </a:t>
            </a:r>
            <a:r>
              <a:rPr lang="en-US" altLang="zh-CN" sz="3600" b="1" dirty="0"/>
              <a:t>be ~ to do </a:t>
            </a:r>
            <a:r>
              <a:rPr lang="en-US" altLang="zh-CN" sz="3600" b="1" dirty="0" err="1"/>
              <a:t>sth</a:t>
            </a:r>
            <a:r>
              <a:rPr lang="en-US" altLang="zh-CN" sz="3600" b="1" dirty="0"/>
              <a:t>.</a:t>
            </a:r>
            <a:endParaRPr lang="zh-CN" altLang="en-US" sz="3600" b="1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3.racial</a:t>
            </a:r>
            <a:r>
              <a:rPr lang="en-US" altLang="zh-CN" sz="3600" b="1" dirty="0"/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discrimination </a:t>
            </a:r>
            <a:r>
              <a:rPr lang="zh-CN" altLang="en-US" sz="3600" dirty="0">
                <a:solidFill>
                  <a:srgbClr val="FF0000"/>
                </a:solidFill>
              </a:rPr>
              <a:t>种族歧视</a:t>
            </a: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 </a:t>
            </a:r>
            <a:r>
              <a:rPr lang="en-US" altLang="zh-CN" sz="3600" b="1" dirty="0">
                <a:solidFill>
                  <a:srgbClr val="FF0000"/>
                </a:solidFill>
              </a:rPr>
              <a:t>race</a:t>
            </a:r>
            <a:r>
              <a:rPr lang="en-US" altLang="zh-CN" sz="3600" dirty="0"/>
              <a:t> n.</a:t>
            </a:r>
            <a:r>
              <a:rPr lang="zh-CN" altLang="en-US" sz="3600" dirty="0"/>
              <a:t>种族 </a:t>
            </a:r>
            <a:endParaRPr lang="en-US" altLang="zh-CN" sz="3600" dirty="0"/>
          </a:p>
          <a:p>
            <a:r>
              <a:rPr lang="en-US" altLang="zh-CN" sz="3600" b="1" dirty="0"/>
              <a:t>racist</a:t>
            </a:r>
            <a:r>
              <a:rPr lang="zh-CN" altLang="en-US" sz="3600" dirty="0"/>
              <a:t>种族主义者 </a:t>
            </a:r>
            <a:r>
              <a:rPr lang="en-US" altLang="zh-CN" sz="3600" b="1" dirty="0"/>
              <a:t>racism  n.</a:t>
            </a:r>
            <a:r>
              <a:rPr lang="zh-CN" altLang="en-US" sz="3600" dirty="0"/>
              <a:t>种族主义</a:t>
            </a:r>
            <a:endParaRPr lang="en-US" altLang="zh-CN" sz="3600" dirty="0"/>
          </a:p>
          <a:p>
            <a:r>
              <a:rPr lang="en-US" altLang="zh-CN" sz="3600" b="1" dirty="0"/>
              <a:t>4.</a:t>
            </a:r>
            <a:r>
              <a:rPr lang="en-US" altLang="zh-CN" sz="3600" b="1" dirty="0">
                <a:solidFill>
                  <a:srgbClr val="FF0000"/>
                </a:solidFill>
              </a:rPr>
              <a:t>diverse</a:t>
            </a:r>
            <a:r>
              <a:rPr lang="en-US" altLang="zh-CN" sz="3600" b="1" dirty="0"/>
              <a:t> adj.</a:t>
            </a:r>
            <a:r>
              <a:rPr lang="zh-CN" altLang="en-US" sz="3600" b="1" dirty="0"/>
              <a:t>多种多样的</a:t>
            </a:r>
            <a:r>
              <a:rPr lang="en-US" altLang="zh-CN" sz="3600" b="1" dirty="0"/>
              <a:t>,</a:t>
            </a:r>
            <a:r>
              <a:rPr lang="zh-CN" altLang="en-US" sz="3600" b="1" dirty="0"/>
              <a:t>不同的</a:t>
            </a:r>
            <a:r>
              <a:rPr lang="en-US" altLang="zh-CN" sz="3600" b="1" dirty="0"/>
              <a:t>= various</a:t>
            </a: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diversity</a:t>
            </a:r>
            <a:r>
              <a:rPr lang="en-US" altLang="zh-CN" sz="3600" b="1" dirty="0"/>
              <a:t> n.</a:t>
            </a:r>
            <a:r>
              <a:rPr lang="zh-CN" altLang="en-US" sz="3600" b="1" dirty="0"/>
              <a:t>多样性</a:t>
            </a:r>
            <a:r>
              <a:rPr lang="en-US" altLang="zh-CN" sz="3600" b="1" dirty="0"/>
              <a:t>  </a:t>
            </a:r>
          </a:p>
          <a:p>
            <a:r>
              <a:rPr lang="en-US" altLang="zh-CN" sz="3600" b="1" dirty="0">
                <a:solidFill>
                  <a:srgbClr val="FF0000"/>
                </a:solidFill>
              </a:rPr>
              <a:t>biodiversity</a:t>
            </a:r>
            <a:r>
              <a:rPr lang="en-US" altLang="zh-CN" sz="3600" b="1" dirty="0"/>
              <a:t> 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n.</a:t>
            </a:r>
            <a:r>
              <a:rPr lang="zh-CN" altLang="en-US" sz="3600" b="1" dirty="0"/>
              <a:t>生物多样性</a:t>
            </a:r>
            <a:endParaRPr lang="en-US" altLang="zh-CN" sz="3600" b="1" dirty="0"/>
          </a:p>
          <a:p>
            <a:r>
              <a:rPr lang="en-US" altLang="zh-CN" sz="3600" b="1" dirty="0"/>
              <a:t>5. joint  adj.</a:t>
            </a:r>
            <a:r>
              <a:rPr lang="zh-CN" altLang="en-US" sz="3600" b="1" dirty="0"/>
              <a:t>联合的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共同的 </a:t>
            </a:r>
            <a:r>
              <a:rPr lang="en-US" altLang="zh-CN" sz="3600" b="1" dirty="0"/>
              <a:t>n.</a:t>
            </a:r>
            <a:r>
              <a:rPr lang="zh-CN" altLang="en-US" sz="3600" b="1" dirty="0"/>
              <a:t>关节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dirty="0"/>
              <a:t>     </a:t>
            </a:r>
            <a:r>
              <a:rPr lang="en-US" altLang="zh-CN" sz="3600" b="1" dirty="0">
                <a:solidFill>
                  <a:srgbClr val="FF0000"/>
                </a:solidFill>
              </a:rPr>
              <a:t>make joint effort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s 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</a:rPr>
              <a:t>共同努力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     </a:t>
            </a:r>
            <a:r>
              <a:rPr lang="en-US" altLang="zh-CN" sz="3600" b="1" u="sng" dirty="0">
                <a:solidFill>
                  <a:srgbClr val="FF0000"/>
                </a:solidFill>
              </a:rPr>
              <a:t>Only</a:t>
            </a:r>
            <a:r>
              <a:rPr lang="en-US" altLang="zh-CN" sz="3600" b="1" dirty="0">
                <a:solidFill>
                  <a:srgbClr val="FF0000"/>
                </a:solidFill>
              </a:rPr>
              <a:t> with joint/combined efforts can we …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     </a:t>
            </a:r>
            <a:r>
              <a:rPr lang="en-US" altLang="zh-CN" sz="3600" b="1" dirty="0"/>
              <a:t>a knee joint </a:t>
            </a:r>
            <a:r>
              <a:rPr lang="zh-CN" altLang="en-US" sz="3600" b="1" dirty="0"/>
              <a:t>膝关节</a:t>
            </a:r>
            <a:endParaRPr lang="en-US" altLang="zh-CN" sz="3600" b="1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600" b="1" dirty="0"/>
              <a:t>6.motivate </a:t>
            </a:r>
            <a:r>
              <a:rPr lang="en-US" altLang="zh-CN" sz="3600" b="1" dirty="0" err="1"/>
              <a:t>vt.</a:t>
            </a:r>
            <a:r>
              <a:rPr lang="zh-CN" altLang="en-US" sz="3600" b="1" dirty="0"/>
              <a:t>激励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成为</a:t>
            </a:r>
            <a:r>
              <a:rPr lang="en-US" altLang="zh-CN" sz="3600" b="1" dirty="0"/>
              <a:t>…</a:t>
            </a:r>
            <a:r>
              <a:rPr lang="zh-CN" altLang="en-US" sz="3600" b="1" dirty="0"/>
              <a:t>的动机</a:t>
            </a:r>
            <a:r>
              <a:rPr lang="en-US" altLang="zh-CN" sz="3600" b="1" dirty="0"/>
              <a:t>,</a:t>
            </a:r>
            <a:r>
              <a:rPr lang="zh-CN" altLang="en-US" sz="3600" b="1" dirty="0"/>
              <a:t>是</a:t>
            </a:r>
            <a:r>
              <a:rPr lang="en-US" altLang="zh-CN" sz="3600" b="1" dirty="0"/>
              <a:t>…</a:t>
            </a:r>
            <a:r>
              <a:rPr lang="zh-CN" altLang="en-US" sz="3600" b="1" dirty="0"/>
              <a:t>的原因</a:t>
            </a:r>
            <a:endParaRPr lang="en-US" altLang="zh-CN" sz="3600" b="1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motivate sb to do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zh-CN" altLang="en-US" sz="3600" b="1" dirty="0">
                <a:solidFill>
                  <a:srgbClr val="FF0000"/>
                </a:solidFill>
              </a:rPr>
              <a:t>激励某人做某事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motivated adj.</a:t>
            </a:r>
            <a:r>
              <a:rPr lang="zh-CN" altLang="en-US" sz="3600" b="1" dirty="0">
                <a:solidFill>
                  <a:srgbClr val="FF0000"/>
                </a:solidFill>
              </a:rPr>
              <a:t>积极主动的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be motivated to do</a:t>
            </a:r>
            <a:r>
              <a:rPr lang="zh-CN" altLang="en-US" sz="3600" b="1" dirty="0">
                <a:solidFill>
                  <a:srgbClr val="FF0000"/>
                </a:solidFill>
              </a:rPr>
              <a:t>有做某事的动力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be motivated by</a:t>
            </a:r>
            <a:r>
              <a:rPr lang="zh-CN" altLang="en-US" sz="3600" b="1" dirty="0">
                <a:solidFill>
                  <a:srgbClr val="FF0000"/>
                </a:solidFill>
              </a:rPr>
              <a:t>受到</a:t>
            </a:r>
            <a:r>
              <a:rPr lang="en-US" altLang="zh-CN" sz="3600" b="1" dirty="0">
                <a:solidFill>
                  <a:srgbClr val="FF0000"/>
                </a:solidFill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</a:rPr>
              <a:t>的激励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motivation</a:t>
            </a:r>
            <a:r>
              <a:rPr lang="en-US" altLang="zh-CN" sz="3600" b="1" dirty="0"/>
              <a:t>  n.</a:t>
            </a:r>
            <a:r>
              <a:rPr lang="zh-CN" altLang="en-US" sz="3600" b="1" dirty="0"/>
              <a:t>动力，动机   </a:t>
            </a:r>
            <a:endParaRPr lang="en-US" altLang="zh-CN" sz="3600" b="1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improve one’s motivation to do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</a:rPr>
              <a:t>做某事的积极性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dirty="0">
                <a:solidFill>
                  <a:srgbClr val="FFAE28"/>
                </a:solidFill>
              </a:rPr>
              <a:t>Motivated by </a:t>
            </a:r>
            <a:r>
              <a:rPr lang="en-US" altLang="zh-CN" sz="3600" dirty="0"/>
              <a:t>the Olympic motto “Faster</a:t>
            </a:r>
            <a:r>
              <a:rPr lang="zh-CN" altLang="en-US" sz="3600" dirty="0"/>
              <a:t>，</a:t>
            </a:r>
            <a:r>
              <a:rPr lang="en-US" altLang="zh-CN" sz="3600" dirty="0"/>
              <a:t>Higher</a:t>
            </a:r>
            <a:r>
              <a:rPr lang="zh-CN" altLang="en-US" sz="3600" dirty="0"/>
              <a:t>，</a:t>
            </a:r>
            <a:r>
              <a:rPr lang="en-US" altLang="zh-CN" sz="3600" dirty="0"/>
              <a:t>Stronger”,</a:t>
            </a:r>
            <a:r>
              <a:rPr lang="zh-CN" altLang="en-US" sz="3600" dirty="0"/>
              <a:t> </a:t>
            </a:r>
            <a:r>
              <a:rPr lang="en-US" altLang="zh-CN" sz="3600" dirty="0"/>
              <a:t>many well-known athletes</a:t>
            </a:r>
            <a:r>
              <a:rPr lang="zh-CN" altLang="en-US" sz="3600" dirty="0"/>
              <a:t> </a:t>
            </a:r>
            <a:r>
              <a:rPr lang="en-US" altLang="zh-CN" sz="3600" dirty="0"/>
              <a:t>have devoted themselves to …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/>
              <a:t>7. boundary   n.</a:t>
            </a:r>
            <a:r>
              <a:rPr lang="zh-CN" altLang="en-US" sz="3600" b="1" dirty="0"/>
              <a:t>边界；界限</a:t>
            </a:r>
            <a:r>
              <a:rPr lang="en-US" altLang="zh-CN" sz="3600" b="1" dirty="0"/>
              <a:t>         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the boundaries of human knowledge</a:t>
            </a:r>
            <a:r>
              <a:rPr lang="zh-CN" altLang="en-US" sz="3600" b="1" dirty="0">
                <a:solidFill>
                  <a:srgbClr val="FF0000"/>
                </a:solidFill>
              </a:rPr>
              <a:t>人类知识的极限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741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8.</a:t>
            </a:r>
            <a:r>
              <a:rPr lang="zh-CN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demonstrate</a:t>
            </a:r>
            <a:r>
              <a:rPr lang="zh-CN" altLang="en-US" sz="3600" b="1" dirty="0">
                <a:solidFill>
                  <a:srgbClr val="FF0000"/>
                </a:solidFill>
              </a:rPr>
              <a:t>  </a:t>
            </a:r>
            <a:r>
              <a:rPr lang="en-US" altLang="zh-CN" sz="3600" b="1" dirty="0" err="1">
                <a:solidFill>
                  <a:srgbClr val="FF0000"/>
                </a:solidFill>
              </a:rPr>
              <a:t>vt.</a:t>
            </a:r>
            <a:r>
              <a:rPr lang="zh-CN" altLang="en-US" sz="3600" b="1" dirty="0">
                <a:solidFill>
                  <a:srgbClr val="FF0000"/>
                </a:solidFill>
              </a:rPr>
              <a:t>示范操作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证明</a:t>
            </a:r>
            <a:r>
              <a:rPr lang="en-US" altLang="zh-CN" sz="3600" b="1" dirty="0">
                <a:solidFill>
                  <a:srgbClr val="FF0000"/>
                </a:solidFill>
              </a:rPr>
              <a:t>=prove;</a:t>
            </a:r>
            <a:r>
              <a:rPr lang="zh-CN" altLang="en-US" sz="3600" b="1" dirty="0">
                <a:solidFill>
                  <a:srgbClr val="FF0000"/>
                </a:solidFill>
              </a:rPr>
              <a:t>表露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  <a:r>
              <a:rPr lang="zh-CN" altLang="en-US" sz="3600" b="1" dirty="0"/>
              <a:t> 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b="1" dirty="0"/>
              <a:t>                    vi.</a:t>
            </a:r>
            <a:r>
              <a:rPr lang="zh-CN" altLang="en-US" sz="3600" b="1" dirty="0">
                <a:solidFill>
                  <a:srgbClr val="FF0000"/>
                </a:solidFill>
              </a:rPr>
              <a:t>游行示威</a:t>
            </a:r>
            <a:r>
              <a:rPr lang="en-US" altLang="zh-CN" sz="3600" b="1" dirty="0"/>
              <a:t>+</a:t>
            </a:r>
            <a:r>
              <a:rPr lang="en-US" altLang="zh-CN" sz="3600" b="1" u="sng" dirty="0">
                <a:solidFill>
                  <a:srgbClr val="FF0000"/>
                </a:solidFill>
              </a:rPr>
              <a:t>for</a:t>
            </a:r>
            <a:r>
              <a:rPr lang="en-US" altLang="zh-CN" sz="3600" b="1" u="sng" dirty="0"/>
              <a:t>/</a:t>
            </a:r>
            <a:r>
              <a:rPr lang="en-US" altLang="zh-CN" sz="3600" b="1" u="sng" dirty="0">
                <a:solidFill>
                  <a:srgbClr val="FF0000"/>
                </a:solidFill>
              </a:rPr>
              <a:t>against</a:t>
            </a:r>
            <a:r>
              <a:rPr lang="zh-CN" altLang="en-US" sz="3600" b="1" u="sng" dirty="0"/>
              <a:t>支持</a:t>
            </a:r>
            <a:r>
              <a:rPr lang="en-US" altLang="zh-CN" sz="3600" b="1" u="sng" dirty="0"/>
              <a:t>/</a:t>
            </a:r>
            <a:r>
              <a:rPr lang="zh-CN" altLang="en-US" sz="3600" b="1" u="sng" dirty="0"/>
              <a:t>反对</a:t>
            </a:r>
            <a:endParaRPr lang="en-US" altLang="zh-CN" sz="3600" b="1" u="sng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demonstrate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 to sb.</a:t>
            </a:r>
            <a:r>
              <a:rPr lang="zh-CN" altLang="en-US" sz="3600" b="1" dirty="0">
                <a:solidFill>
                  <a:srgbClr val="FF0000"/>
                </a:solidFill>
              </a:rPr>
              <a:t>向某人证明某事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demonstration n.</a:t>
            </a:r>
            <a:r>
              <a:rPr lang="zh-CN" altLang="en-US" sz="3600" b="1" dirty="0"/>
              <a:t>示范操作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表达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示威游行</a:t>
            </a:r>
            <a:endParaRPr lang="en-US" altLang="zh-CN" sz="3600" b="1" dirty="0"/>
          </a:p>
          <a:p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9. afterwards</a:t>
            </a:r>
            <a:r>
              <a:rPr lang="zh-CN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adv.</a:t>
            </a:r>
            <a:r>
              <a:rPr lang="zh-CN" altLang="en-US" sz="3600" b="1" dirty="0">
                <a:solidFill>
                  <a:srgbClr val="FF0000"/>
                </a:solidFill>
              </a:rPr>
              <a:t>以后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后来</a:t>
            </a:r>
            <a:r>
              <a:rPr lang="en-US" altLang="zh-CN" sz="3600" b="1" dirty="0">
                <a:solidFill>
                  <a:srgbClr val="FF0000"/>
                </a:solidFill>
              </a:rPr>
              <a:t>=afterward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Shortly afterwards </a:t>
            </a:r>
            <a:r>
              <a:rPr lang="en-US" altLang="zh-CN" sz="3600" dirty="0"/>
              <a:t>he met her again.</a:t>
            </a: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不久之后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741368"/>
          </a:xfrm>
        </p:spPr>
        <p:txBody>
          <a:bodyPr>
            <a:noAutofit/>
          </a:bodyPr>
          <a:lstStyle/>
          <a:p>
            <a:r>
              <a:rPr lang="en-US" altLang="zh-CN" b="1" dirty="0"/>
              <a:t>10. proceed v.</a:t>
            </a:r>
            <a:r>
              <a:rPr lang="zh-CN" altLang="en-US" b="1" dirty="0"/>
              <a:t>继续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proceed to do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接着做某事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proceed with (doing)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zh-CN" altLang="en-US" sz="3600" b="1" dirty="0">
                <a:solidFill>
                  <a:srgbClr val="FF0000"/>
                </a:solidFill>
              </a:rPr>
              <a:t>继续做</a:t>
            </a:r>
            <a:r>
              <a:rPr lang="en-US" altLang="zh-CN" sz="3600" b="1" dirty="0">
                <a:solidFill>
                  <a:srgbClr val="FF0000"/>
                </a:solidFill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</a:rPr>
              <a:t>从事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proceed from </a:t>
            </a:r>
            <a:r>
              <a:rPr lang="zh-CN" altLang="zh-CN" sz="3600" b="1" dirty="0">
                <a:solidFill>
                  <a:srgbClr val="FF0000"/>
                </a:solidFill>
              </a:rPr>
              <a:t>从…出发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zh-CN" sz="3600" b="1" dirty="0">
                <a:solidFill>
                  <a:srgbClr val="FF0000"/>
                </a:solidFill>
              </a:rPr>
              <a:t>由…引起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proceed to(to</a:t>
            </a:r>
            <a:r>
              <a:rPr lang="zh-CN" altLang="en-US" sz="3600" b="1" dirty="0">
                <a:solidFill>
                  <a:srgbClr val="FF0000"/>
                </a:solidFill>
              </a:rPr>
              <a:t>是介词</a:t>
            </a:r>
            <a:r>
              <a:rPr lang="en-US" altLang="zh-CN" sz="3600" b="1" dirty="0">
                <a:solidFill>
                  <a:srgbClr val="FF0000"/>
                </a:solidFill>
              </a:rPr>
              <a:t>)</a:t>
            </a:r>
            <a:r>
              <a:rPr lang="zh-CN" altLang="en-US" sz="3600" b="1" dirty="0">
                <a:solidFill>
                  <a:srgbClr val="FF0000"/>
                </a:solidFill>
              </a:rPr>
              <a:t>前往</a:t>
            </a:r>
            <a:endParaRPr lang="zh-CN" altLang="zh-CN" sz="3600" b="1" dirty="0">
              <a:solidFill>
                <a:srgbClr val="FF0000"/>
              </a:solidFill>
            </a:endParaRPr>
          </a:p>
          <a:p>
            <a:r>
              <a:rPr lang="en-US" altLang="zh-CN" sz="2800" b="1" dirty="0"/>
              <a:t>1) We're not sure whether we still want to </a:t>
            </a:r>
            <a:r>
              <a:rPr lang="en-US" altLang="zh-CN" sz="2800" b="1" u="sng" dirty="0"/>
              <a:t>proceed with</a:t>
            </a:r>
            <a:r>
              <a:rPr lang="en-US" altLang="zh-CN" sz="2800" b="1" dirty="0"/>
              <a:t> the project.</a:t>
            </a:r>
            <a:endParaRPr lang="zh-CN" altLang="zh-CN" sz="2800" b="1" dirty="0"/>
          </a:p>
          <a:p>
            <a:r>
              <a:rPr lang="en-US" altLang="zh-CN" sz="2800" b="1" dirty="0"/>
              <a:t>2) I </a:t>
            </a:r>
            <a:r>
              <a:rPr lang="en-US" altLang="zh-CN" sz="2800" b="1" u="sng" dirty="0"/>
              <a:t>proceeded to </a:t>
            </a:r>
            <a:r>
              <a:rPr lang="en-US" altLang="zh-CN" sz="2800" b="1" dirty="0"/>
              <a:t>the mailbox, put the letter in and went home.</a:t>
            </a:r>
            <a:endParaRPr lang="zh-CN" altLang="zh-CN" sz="2800" b="1" dirty="0"/>
          </a:p>
          <a:p>
            <a:r>
              <a:rPr lang="en-US" altLang="zh-CN" sz="2800" b="1" dirty="0"/>
              <a:t>3) He </a:t>
            </a:r>
            <a:r>
              <a:rPr lang="en-US" altLang="zh-CN" sz="2800" b="1" u="sng" dirty="0"/>
              <a:t>proceeded to tell</a:t>
            </a:r>
            <a:r>
              <a:rPr lang="en-US" altLang="zh-CN" sz="2800" b="1" dirty="0"/>
              <a:t> me of my birth.</a:t>
            </a:r>
            <a:endParaRPr lang="zh-CN" altLang="zh-CN" sz="2800" b="1" dirty="0"/>
          </a:p>
          <a:p>
            <a:r>
              <a:rPr lang="en-US" altLang="zh-CN" sz="2800" b="1" dirty="0"/>
              <a:t>4) Wrong opinions often </a:t>
            </a:r>
            <a:r>
              <a:rPr lang="en-US" altLang="zh-CN" sz="2800" b="1" u="sng" dirty="0"/>
              <a:t>proceed from lack of information</a:t>
            </a:r>
            <a:r>
              <a:rPr lang="en-US" altLang="zh-CN" sz="2800" b="1" dirty="0"/>
              <a:t>.</a:t>
            </a:r>
            <a:endParaRPr lang="zh-CN" altLang="zh-CN" sz="2800" b="1" dirty="0"/>
          </a:p>
          <a:p>
            <a:pPr marL="0" indent="0">
              <a:buNone/>
            </a:pPr>
            <a:endParaRPr lang="en-US" altLang="zh-CN" b="1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62473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600" b="1" dirty="0"/>
              <a:t>11. flame</a:t>
            </a:r>
            <a:r>
              <a:rPr lang="zh-CN" altLang="en-US" sz="3600" b="1" dirty="0"/>
              <a:t> </a:t>
            </a:r>
            <a:r>
              <a:rPr lang="en-US" altLang="zh-CN" sz="3600" b="1" dirty="0" err="1"/>
              <a:t>n.v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火焰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强烈感情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燃烧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变红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dirty="0"/>
              <a:t>The building </a:t>
            </a:r>
            <a:r>
              <a:rPr lang="en-US" altLang="zh-CN" sz="3600" u="sng" dirty="0">
                <a:solidFill>
                  <a:srgbClr val="FF0000"/>
                </a:solidFill>
              </a:rPr>
              <a:t>was </a:t>
            </a:r>
            <a:r>
              <a:rPr lang="en-US" altLang="zh-CN" sz="3600" b="1" u="sng" dirty="0">
                <a:solidFill>
                  <a:srgbClr val="FF0000"/>
                </a:solidFill>
              </a:rPr>
              <a:t>in flames.</a:t>
            </a:r>
            <a:r>
              <a:rPr lang="zh-CN" altLang="en-US" sz="3600" dirty="0"/>
              <a:t>失火了</a:t>
            </a:r>
          </a:p>
          <a:p>
            <a:pPr marL="0" indent="0">
              <a:buNone/>
            </a:pPr>
            <a:r>
              <a:rPr lang="en-US" altLang="zh-CN" sz="3600" dirty="0"/>
              <a:t>The plane </a:t>
            </a:r>
            <a:r>
              <a:rPr lang="en-US" altLang="zh-CN" sz="3600" b="1" u="sng" dirty="0">
                <a:solidFill>
                  <a:srgbClr val="FF0000"/>
                </a:solidFill>
              </a:rPr>
              <a:t>burst into flames</a:t>
            </a:r>
            <a:r>
              <a:rPr lang="en-US" altLang="zh-CN" sz="3600" i="1" dirty="0"/>
              <a:t>.</a:t>
            </a:r>
            <a:r>
              <a:rPr lang="zh-CN" altLang="en-US" sz="3600" dirty="0"/>
              <a:t>燃烧起来</a:t>
            </a:r>
            <a:endParaRPr lang="en-US" altLang="zh-CN" sz="3600" dirty="0"/>
          </a:p>
          <a:p>
            <a:pPr marL="0" indent="0">
              <a:buNone/>
            </a:pPr>
            <a:r>
              <a:rPr lang="zh-CN" altLang="zh-CN" sz="3600" b="1" dirty="0">
                <a:solidFill>
                  <a:srgbClr val="FF0000"/>
                </a:solidFill>
              </a:rPr>
              <a:t>H</a:t>
            </a:r>
            <a:r>
              <a:rPr lang="en-US" altLang="zh-CN" sz="3600" b="1" dirty="0">
                <a:solidFill>
                  <a:srgbClr val="FF0000"/>
                </a:solidFill>
              </a:rPr>
              <a:t>is cheeks </a:t>
            </a:r>
            <a:r>
              <a:rPr lang="en-US" altLang="zh-CN" sz="3600" b="1" u="sng" dirty="0">
                <a:solidFill>
                  <a:srgbClr val="FF0000"/>
                </a:solidFill>
              </a:rPr>
              <a:t>flamed with anger/embarrassment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r>
              <a:rPr lang="zh-CN" altLang="en-US" sz="3600" dirty="0"/>
              <a:t>他气得</a:t>
            </a:r>
            <a:r>
              <a:rPr lang="en-US" altLang="zh-CN" sz="3600" dirty="0"/>
              <a:t>/</a:t>
            </a:r>
            <a:r>
              <a:rPr lang="zh-CN" altLang="en-US" sz="3600" dirty="0"/>
              <a:t>窘得面红耳赤。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dirty="0"/>
              <a:t>12.applaud</a:t>
            </a:r>
            <a:r>
              <a:rPr lang="zh-CN" altLang="en-US" sz="3600" dirty="0"/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vt.vi.</a:t>
            </a:r>
            <a:r>
              <a:rPr lang="zh-CN" altLang="en-US" sz="3600" b="1" dirty="0">
                <a:solidFill>
                  <a:srgbClr val="FF0000"/>
                </a:solidFill>
              </a:rPr>
              <a:t>鼓掌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称赞</a:t>
            </a:r>
            <a:r>
              <a:rPr lang="en-US" altLang="zh-CN" sz="3600" b="1" dirty="0">
                <a:solidFill>
                  <a:srgbClr val="FF0000"/>
                </a:solidFill>
              </a:rPr>
              <a:t>=approve of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applaud sb. for (doing)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 </a:t>
            </a:r>
            <a:r>
              <a:rPr lang="zh-CN" altLang="en-US" sz="3600" b="1" dirty="0">
                <a:solidFill>
                  <a:srgbClr val="FF0000"/>
                </a:solidFill>
              </a:rPr>
              <a:t>因</a:t>
            </a:r>
            <a:r>
              <a:rPr lang="en-US" altLang="zh-CN" sz="3600" b="1" dirty="0">
                <a:solidFill>
                  <a:srgbClr val="FF0000"/>
                </a:solidFill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</a:rPr>
              <a:t>做</a:t>
            </a:r>
            <a:r>
              <a:rPr lang="en-US" altLang="zh-CN" sz="3600" b="1" dirty="0">
                <a:solidFill>
                  <a:srgbClr val="FF0000"/>
                </a:solidFill>
              </a:rPr>
              <a:t>)...</a:t>
            </a:r>
            <a:r>
              <a:rPr lang="zh-CN" altLang="en-US" sz="3600" b="1" dirty="0">
                <a:solidFill>
                  <a:srgbClr val="FF0000"/>
                </a:solidFill>
              </a:rPr>
              <a:t>而称赞</a:t>
            </a:r>
            <a:r>
              <a:rPr lang="en-US" altLang="zh-CN" sz="3600" b="1" dirty="0">
                <a:solidFill>
                  <a:srgbClr val="FF0000"/>
                </a:solidFill>
              </a:rPr>
              <a:t>...</a:t>
            </a:r>
            <a:endParaRPr lang="zh-CN" alt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dirty="0"/>
              <a:t>  I applaud her for having the courage to refuse. </a:t>
            </a: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applau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se</a:t>
            </a:r>
            <a:r>
              <a:rPr lang="en-US" altLang="zh-CN" sz="3600" b="1" dirty="0">
                <a:solidFill>
                  <a:srgbClr val="FF0000"/>
                </a:solidFill>
              </a:rPr>
              <a:t>  n.</a:t>
            </a:r>
            <a:r>
              <a:rPr lang="zh-CN" altLang="en-US" sz="3600" b="1" dirty="0">
                <a:solidFill>
                  <a:srgbClr val="FF0000"/>
                </a:solidFill>
              </a:rPr>
              <a:t>鼓掌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喝彩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/>
              <a:t>•   </a:t>
            </a:r>
            <a:r>
              <a:rPr lang="en-US" altLang="zh-CN" sz="3600" dirty="0"/>
              <a:t>They greeted him </a:t>
            </a:r>
            <a:r>
              <a:rPr lang="en-US" altLang="zh-CN" sz="3600" b="1" u="sng" dirty="0">
                <a:solidFill>
                  <a:srgbClr val="FF0000"/>
                </a:solidFill>
              </a:rPr>
              <a:t>with thunderous applause.</a:t>
            </a:r>
          </a:p>
          <a:p>
            <a:pPr marL="0" indent="0">
              <a:buNone/>
            </a:pPr>
            <a:r>
              <a:rPr lang="zh-CN" altLang="en-US" sz="3600" dirty="0"/>
              <a:t>      他们以</a:t>
            </a:r>
            <a:r>
              <a:rPr lang="zh-CN" altLang="en-US" sz="3600" b="1" dirty="0">
                <a:solidFill>
                  <a:srgbClr val="FF0000"/>
                </a:solidFill>
              </a:rPr>
              <a:t>雷鸣般的掌声</a:t>
            </a:r>
            <a:r>
              <a:rPr lang="zh-CN" altLang="en-US" sz="3600" dirty="0"/>
              <a:t>欢迎了他。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b="1" dirty="0"/>
              <a:t>•</a:t>
            </a:r>
            <a:r>
              <a:rPr lang="en-US" altLang="zh-CN" sz="3600" dirty="0"/>
              <a:t> Give her </a:t>
            </a:r>
            <a:r>
              <a:rPr lang="en-US" altLang="zh-CN" sz="3600" b="1" dirty="0"/>
              <a:t>a big round of applause </a:t>
            </a:r>
            <a:r>
              <a:rPr lang="en-US" altLang="zh-CN" sz="3600" dirty="0"/>
              <a:t>! </a:t>
            </a:r>
            <a:r>
              <a:rPr lang="zh-CN" altLang="en-US" sz="3600" dirty="0"/>
              <a:t>为她热烈鼓掌！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13. consistent adj.</a:t>
            </a:r>
            <a:r>
              <a:rPr lang="zh-CN" altLang="en-US" dirty="0"/>
              <a:t>连贯一致的</a:t>
            </a:r>
            <a:r>
              <a:rPr lang="en-US" altLang="zh-CN" dirty="0"/>
              <a:t>;</a:t>
            </a:r>
            <a:r>
              <a:rPr lang="zh-CN" altLang="en-US" dirty="0"/>
              <a:t>持续不断的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be consistent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with</a:t>
            </a:r>
            <a:r>
              <a:rPr lang="en-US" altLang="zh-CN" b="1" dirty="0">
                <a:solidFill>
                  <a:srgbClr val="FF0000"/>
                </a:solidFill>
              </a:rPr>
              <a:t>...</a:t>
            </a:r>
            <a:r>
              <a:rPr lang="zh-CN" altLang="en-US" b="1" dirty="0">
                <a:solidFill>
                  <a:srgbClr val="FF0000"/>
                </a:solidFill>
              </a:rPr>
              <a:t>与</a:t>
            </a:r>
            <a:r>
              <a:rPr lang="en-US" altLang="zh-CN" b="1" dirty="0">
                <a:solidFill>
                  <a:srgbClr val="FF0000"/>
                </a:solidFill>
              </a:rPr>
              <a:t>...</a:t>
            </a:r>
            <a:r>
              <a:rPr lang="zh-CN" altLang="en-US" b="1" dirty="0">
                <a:solidFill>
                  <a:srgbClr val="FF0000"/>
                </a:solidFill>
              </a:rPr>
              <a:t>一致</a:t>
            </a:r>
            <a:r>
              <a:rPr lang="en-US" altLang="zh-CN" b="1" dirty="0">
                <a:solidFill>
                  <a:srgbClr val="FF0000"/>
                </a:solidFill>
              </a:rPr>
              <a:t>=agree with =correspond to/with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 be consistent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in</a:t>
            </a:r>
            <a:r>
              <a:rPr lang="en-US" altLang="zh-CN" b="1" dirty="0">
                <a:solidFill>
                  <a:srgbClr val="FF0000"/>
                </a:solidFill>
              </a:rPr>
              <a:t>...</a:t>
            </a:r>
            <a:r>
              <a:rPr lang="zh-CN" altLang="en-US" b="1" dirty="0">
                <a:solidFill>
                  <a:srgbClr val="FF0000"/>
                </a:solidFill>
              </a:rPr>
              <a:t>在</a:t>
            </a:r>
            <a:r>
              <a:rPr lang="en-US" altLang="zh-CN" b="1" dirty="0">
                <a:solidFill>
                  <a:srgbClr val="FF0000"/>
                </a:solidFill>
              </a:rPr>
              <a:t>...</a:t>
            </a:r>
            <a:r>
              <a:rPr lang="zh-CN" altLang="en-US" b="1" dirty="0">
                <a:solidFill>
                  <a:srgbClr val="FF0000"/>
                </a:solidFill>
              </a:rPr>
              <a:t>方面一致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→</a:t>
            </a:r>
            <a:r>
              <a:rPr lang="en-US" altLang="zh-CN" b="1" dirty="0">
                <a:solidFill>
                  <a:srgbClr val="FF0000"/>
                </a:solidFill>
              </a:rPr>
              <a:t>consistently 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adv.</a:t>
            </a:r>
            <a:r>
              <a:rPr lang="zh-CN" altLang="en-US" b="1" dirty="0">
                <a:solidFill>
                  <a:srgbClr val="FF0000"/>
                </a:solidFill>
              </a:rPr>
              <a:t>一致地→</a:t>
            </a:r>
            <a:r>
              <a:rPr lang="en-US" altLang="zh-CN" b="1" dirty="0">
                <a:solidFill>
                  <a:srgbClr val="FF0000"/>
                </a:solidFill>
              </a:rPr>
              <a:t>consisten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cy</a:t>
            </a:r>
            <a:r>
              <a:rPr lang="en-US" altLang="zh-CN" b="1" dirty="0">
                <a:solidFill>
                  <a:srgbClr val="FF0000"/>
                </a:solidFill>
              </a:rPr>
              <a:t> n.</a:t>
            </a:r>
            <a:r>
              <a:rPr lang="zh-CN" altLang="en-US" b="1" dirty="0">
                <a:solidFill>
                  <a:srgbClr val="FF0000"/>
                </a:solidFill>
              </a:rPr>
              <a:t>一致性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→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in</a:t>
            </a:r>
            <a:r>
              <a:rPr lang="en-US" altLang="zh-CN" b="1" dirty="0">
                <a:solidFill>
                  <a:srgbClr val="FF0000"/>
                </a:solidFill>
              </a:rPr>
              <a:t>consistent(</a:t>
            </a:r>
            <a:r>
              <a:rPr lang="zh-CN" altLang="en-US" b="1" dirty="0">
                <a:solidFill>
                  <a:srgbClr val="FF0000"/>
                </a:solidFill>
              </a:rPr>
              <a:t>反义词</a:t>
            </a:r>
            <a:r>
              <a:rPr lang="en-US" altLang="zh-CN" b="1" dirty="0">
                <a:solidFill>
                  <a:srgbClr val="FF0000"/>
                </a:solidFill>
              </a:rPr>
              <a:t>=go against)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She'</a:t>
            </a:r>
            <a:r>
              <a:rPr lang="en-US" altLang="zh-CN" b="1" dirty="0"/>
              <a:t>s not very consistent in </a:t>
            </a:r>
            <a:r>
              <a:rPr lang="en-US" altLang="zh-CN" dirty="0"/>
              <a:t>the way she treats her children.</a:t>
            </a:r>
          </a:p>
          <a:p>
            <a:pPr marL="0" indent="0">
              <a:buNone/>
            </a:pPr>
            <a:r>
              <a:rPr lang="en-US" altLang="zh-CN" dirty="0"/>
              <a:t>If what parents say </a:t>
            </a:r>
            <a:r>
              <a:rPr lang="en-US" altLang="zh-CN" b="1" dirty="0"/>
              <a:t>is not consistent with </a:t>
            </a:r>
            <a:r>
              <a:rPr lang="en-US" altLang="zh-CN" dirty="0"/>
              <a:t>what they do, it will have a bad effect on children.</a:t>
            </a:r>
            <a:br>
              <a:rPr lang="en-US" altLang="zh-CN" dirty="0"/>
            </a:br>
            <a:r>
              <a:rPr lang="en-US" altLang="zh-CN" dirty="0"/>
              <a:t> It's something I have </a:t>
            </a:r>
            <a:r>
              <a:rPr lang="en-US" altLang="zh-CN" b="1" dirty="0"/>
              <a:t>consistently</a:t>
            </a:r>
            <a:r>
              <a:rPr lang="en-US" altLang="zh-CN" dirty="0"/>
              <a:t> denied.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consist of</a:t>
            </a:r>
            <a:r>
              <a:rPr lang="zh-CN" altLang="zh-CN" b="1" dirty="0">
                <a:solidFill>
                  <a:srgbClr val="FF0000"/>
                </a:solidFill>
              </a:rPr>
              <a:t>由…组成</a:t>
            </a:r>
            <a:r>
              <a:rPr lang="en-US" altLang="zh-CN" b="1" dirty="0">
                <a:solidFill>
                  <a:srgbClr val="FF0000"/>
                </a:solidFill>
              </a:rPr>
              <a:t>=be made up of      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consist in</a:t>
            </a:r>
            <a:r>
              <a:rPr lang="zh-CN" altLang="zh-CN" b="1" u="sng" dirty="0">
                <a:solidFill>
                  <a:srgbClr val="FF0000"/>
                </a:solidFill>
              </a:rPr>
              <a:t>存在于</a:t>
            </a:r>
            <a:r>
              <a:rPr lang="en-US" altLang="zh-CN" b="1" u="sng" dirty="0">
                <a:solidFill>
                  <a:srgbClr val="FF0000"/>
                </a:solidFill>
              </a:rPr>
              <a:t>,</a:t>
            </a:r>
            <a:r>
              <a:rPr lang="zh-CN" altLang="zh-CN" b="1" u="sng" dirty="0">
                <a:solidFill>
                  <a:srgbClr val="FF0000"/>
                </a:solidFill>
              </a:rPr>
              <a:t>在于</a:t>
            </a:r>
            <a:r>
              <a:rPr lang="en-US" altLang="zh-CN" b="1" u="sng" dirty="0">
                <a:solidFill>
                  <a:srgbClr val="FF0000"/>
                </a:solidFill>
              </a:rPr>
              <a:t>=lie in</a:t>
            </a:r>
            <a:endParaRPr lang="zh-CN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1609" y="-23208"/>
            <a:ext cx="9054498" cy="6751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3600" dirty="0"/>
              <a:t>14. </a:t>
            </a:r>
            <a:r>
              <a:rPr lang="en-US" altLang="zh-CN" sz="3600" b="1" dirty="0">
                <a:solidFill>
                  <a:srgbClr val="FF0000"/>
                </a:solidFill>
              </a:rPr>
              <a:t>call on sb. to do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r>
              <a:rPr lang="zh-CN" altLang="en-US" sz="3600" dirty="0">
                <a:solidFill>
                  <a:srgbClr val="FF0000"/>
                </a:solidFill>
              </a:rPr>
              <a:t>正式邀请某人做某事</a:t>
            </a:r>
            <a:r>
              <a:rPr lang="en-US" altLang="zh-CN" sz="3600" dirty="0">
                <a:solidFill>
                  <a:srgbClr val="FF0000"/>
                </a:solidFill>
              </a:rPr>
              <a:t>;</a:t>
            </a:r>
            <a:r>
              <a:rPr lang="zh-CN" altLang="en-US" sz="3600" dirty="0"/>
              <a:t>请求某人做某事</a:t>
            </a:r>
            <a:endParaRPr lang="en-US" altLang="zh-CN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be/feel called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 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(on/upon) to do </a:t>
            </a:r>
            <a:r>
              <a:rPr lang="en-US" altLang="zh-CN" sz="36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sth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. 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感到有责任做某事</a:t>
            </a: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call on/upon sb. (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短暂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拜访某人</a:t>
            </a:r>
            <a:endParaRPr lang="en-US" altLang="zh-CN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call at sp.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 短暂停留某地</a:t>
            </a:r>
            <a:endParaRPr lang="zh-CN" altLang="en-US" sz="3600" b="1" kern="100" dirty="0"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call off 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取消   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put off 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推迟</a:t>
            </a:r>
            <a:endParaRPr lang="en-US" altLang="zh-CN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call </a:t>
            </a:r>
            <a:r>
              <a:rPr lang="en-US" altLang="zh-CN" sz="3600" b="1" kern="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it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 a day 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结束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;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到此为止</a:t>
            </a:r>
            <a:endParaRPr lang="en-US" altLang="zh-CN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call up </a:t>
            </a:r>
            <a:r>
              <a:rPr lang="zh-CN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给</a:t>
            </a:r>
            <a:r>
              <a:rPr lang="en-US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…</a:t>
            </a:r>
            <a:r>
              <a:rPr lang="zh-CN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打电话；使想起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	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	</a:t>
            </a:r>
            <a:endParaRPr lang="zh-CN" altLang="en-US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call for </a:t>
            </a:r>
            <a:r>
              <a:rPr lang="zh-CN" altLang="en-US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需要</a:t>
            </a:r>
            <a:r>
              <a:rPr lang="en-US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 call in </a:t>
            </a:r>
            <a:r>
              <a:rPr lang="zh-CN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请来</a:t>
            </a:r>
            <a:r>
              <a:rPr lang="en-US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;</a:t>
            </a:r>
            <a:r>
              <a:rPr lang="zh-CN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顺路拜访</a:t>
            </a:r>
            <a:endParaRPr lang="en-US" altLang="zh-CN" sz="3600" b="1" kern="100" dirty="0">
              <a:solidFill>
                <a:srgbClr val="7030A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 on call</a:t>
            </a:r>
            <a:r>
              <a:rPr lang="zh-CN" altLang="en-US" sz="3600" b="1" kern="100" dirty="0">
                <a:solidFill>
                  <a:srgbClr val="7030A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随叫随到的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8964488" cy="627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15. humanity [u]</a:t>
            </a:r>
            <a:r>
              <a:rPr lang="zh-CN" altLang="en-US" sz="3600" b="1" dirty="0">
                <a:solidFill>
                  <a:srgbClr val="FF0000"/>
                </a:solidFill>
              </a:rPr>
              <a:t>人类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人性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仁慈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16.</a:t>
            </a:r>
            <a:r>
              <a:rPr lang="en-US" altLang="zh-CN" sz="3600" b="1" dirty="0"/>
              <a:t> rank   v.</a:t>
            </a:r>
            <a:r>
              <a:rPr lang="zh-CN" altLang="en-US" sz="3600" b="1" dirty="0"/>
              <a:t>把</a:t>
            </a:r>
            <a:r>
              <a:rPr lang="en-US" altLang="zh-CN" sz="3600" b="1" dirty="0"/>
              <a:t>…</a:t>
            </a:r>
            <a:r>
              <a:rPr lang="zh-CN" altLang="en-US" sz="3600" b="1" dirty="0"/>
              <a:t>分等级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排列</a:t>
            </a:r>
            <a:endParaRPr lang="en-US" altLang="zh-CN" sz="3600" b="1" dirty="0"/>
          </a:p>
          <a:p>
            <a:pPr>
              <a:lnSpc>
                <a:spcPct val="110000"/>
              </a:lnSpc>
            </a:pPr>
            <a:r>
              <a:rPr lang="en-US" altLang="zh-CN" sz="3600" b="1" dirty="0"/>
              <a:t> n.</a:t>
            </a:r>
            <a:r>
              <a:rPr lang="zh-CN" altLang="en-US" sz="3600" b="1" dirty="0"/>
              <a:t>地位</a:t>
            </a:r>
            <a:r>
              <a:rPr lang="en-US" altLang="zh-CN" sz="3600" b="1" dirty="0"/>
              <a:t>,</a:t>
            </a:r>
            <a:r>
              <a:rPr lang="zh-CN" altLang="en-US" sz="3600" b="1" dirty="0"/>
              <a:t>级别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排</a:t>
            </a:r>
            <a:r>
              <a:rPr lang="en-US" altLang="zh-CN" sz="3600" b="1" dirty="0"/>
              <a:t>,</a:t>
            </a:r>
            <a:r>
              <a:rPr lang="zh-CN" altLang="en-US" sz="3600" b="1" dirty="0"/>
              <a:t>列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等级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军衔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rank...as...</a:t>
            </a:r>
            <a:r>
              <a:rPr lang="zh-CN" altLang="en-US" sz="3600" b="1" dirty="0">
                <a:solidFill>
                  <a:srgbClr val="FF0000"/>
                </a:solidFill>
              </a:rPr>
              <a:t>把</a:t>
            </a:r>
            <a:r>
              <a:rPr lang="en-US" altLang="zh-CN" sz="3600" b="1" dirty="0">
                <a:solidFill>
                  <a:srgbClr val="FF0000"/>
                </a:solidFill>
              </a:rPr>
              <a:t>...</a:t>
            </a:r>
            <a:r>
              <a:rPr lang="zh-CN" altLang="en-US" sz="3600" b="1" dirty="0">
                <a:solidFill>
                  <a:srgbClr val="FF0000"/>
                </a:solidFill>
              </a:rPr>
              <a:t>视为</a:t>
            </a:r>
            <a:endParaRPr lang="zh-CN" altLang="en-US" sz="3600" kern="100" dirty="0"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solidFill>
                  <a:srgbClr val="FF0000"/>
                </a:solidFill>
              </a:rPr>
              <a:t>rank among</a:t>
            </a:r>
            <a:r>
              <a:rPr lang="zh-CN" altLang="en-US" sz="3600" b="1" dirty="0">
                <a:solidFill>
                  <a:srgbClr val="FF0000"/>
                </a:solidFill>
              </a:rPr>
              <a:t>跻身于</a:t>
            </a:r>
            <a:endParaRPr lang="zh-CN" altLang="en-US" sz="3600" kern="100" dirty="0"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rank first</a:t>
            </a:r>
            <a:r>
              <a:rPr lang="zh-CN" altLang="en-US" sz="3600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位居第一</a:t>
            </a:r>
            <a:endParaRPr lang="en-US" altLang="zh-CN" sz="3600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ranking</a:t>
            </a:r>
            <a:r>
              <a:rPr lang="zh-CN" altLang="en-US" sz="3600" b="1" dirty="0">
                <a:solidFill>
                  <a:srgbClr val="FF0000"/>
                </a:solidFill>
              </a:rPr>
              <a:t> 排名（尤指在体育运动中）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dirty="0"/>
              <a:t>16. trend n.vi.</a:t>
            </a:r>
            <a:r>
              <a:rPr lang="en-US" altLang="zh-CN" sz="3200" b="1" dirty="0">
                <a:solidFill>
                  <a:srgbClr val="FF0000"/>
                </a:solidFill>
              </a:rPr>
              <a:t>  </a:t>
            </a:r>
            <a:r>
              <a:rPr lang="zh-CN" altLang="en-US" sz="3200" dirty="0"/>
              <a:t>趋势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a downward/an upward trend </a:t>
            </a:r>
            <a:r>
              <a:rPr lang="en-US" altLang="zh-CN" sz="3200" dirty="0">
                <a:solidFill>
                  <a:srgbClr val="FF0000"/>
                </a:solidFill>
              </a:rPr>
              <a:t>in sales</a:t>
            </a:r>
            <a:r>
              <a:rPr lang="zh-CN" altLang="en-US" sz="3200" dirty="0">
                <a:solidFill>
                  <a:srgbClr val="FF0000"/>
                </a:solidFill>
              </a:rPr>
              <a:t>销售额下滑</a:t>
            </a:r>
            <a:r>
              <a:rPr lang="en-US" altLang="zh-CN" sz="3200" dirty="0">
                <a:solidFill>
                  <a:srgbClr val="FF0000"/>
                </a:solidFill>
              </a:rPr>
              <a:t>/</a:t>
            </a:r>
            <a:r>
              <a:rPr lang="zh-CN" altLang="en-US" sz="3200" dirty="0">
                <a:solidFill>
                  <a:srgbClr val="FF0000"/>
                </a:solidFill>
              </a:rPr>
              <a:t>上升的趋势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</a:rPr>
              <a:t>There is a growing trend towards…</a:t>
            </a:r>
            <a:r>
              <a:rPr lang="zh-CN" altLang="en-US" sz="3200" dirty="0">
                <a:solidFill>
                  <a:srgbClr val="FF0000"/>
                </a:solidFill>
              </a:rPr>
              <a:t>有</a:t>
            </a:r>
            <a:r>
              <a:rPr lang="en-US" altLang="zh-CN" sz="3200" dirty="0">
                <a:solidFill>
                  <a:srgbClr val="FF0000"/>
                </a:solidFill>
              </a:rPr>
              <a:t>…</a:t>
            </a:r>
            <a:r>
              <a:rPr lang="zh-CN" altLang="en-US" sz="3200" dirty="0">
                <a:solidFill>
                  <a:srgbClr val="FF0000"/>
                </a:solidFill>
              </a:rPr>
              <a:t>趋势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89644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/>
              <a:t>17.election n. </a:t>
            </a:r>
            <a:r>
              <a:rPr lang="zh-CN" altLang="en-US" sz="3600" b="1" dirty="0"/>
              <a:t>选举</a:t>
            </a:r>
            <a:endParaRPr lang="en-US" altLang="zh-CN" sz="3600" b="1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win/lose an election</a:t>
            </a:r>
            <a:r>
              <a:rPr lang="zh-CN" altLang="en-US" sz="3600" b="1" dirty="0">
                <a:solidFill>
                  <a:srgbClr val="FF0000"/>
                </a:solidFill>
              </a:rPr>
              <a:t>在选举中获胜</a:t>
            </a:r>
            <a:r>
              <a:rPr lang="en-US" altLang="zh-CN" sz="3600" b="1" dirty="0">
                <a:solidFill>
                  <a:srgbClr val="FF0000"/>
                </a:solidFill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</a:rPr>
              <a:t>失败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u="sng" dirty="0">
                <a:solidFill>
                  <a:srgbClr val="FF0000"/>
                </a:solidFill>
              </a:rPr>
              <a:t>run for</a:t>
            </a:r>
            <a:r>
              <a:rPr lang="en-US" altLang="zh-CN" sz="3600" b="1" dirty="0">
                <a:solidFill>
                  <a:srgbClr val="FF0000"/>
                </a:solidFill>
              </a:rPr>
              <a:t> an election</a:t>
            </a:r>
            <a:r>
              <a:rPr lang="zh-CN" altLang="zh-CN" sz="3600" b="1" dirty="0">
                <a:solidFill>
                  <a:srgbClr val="FF0000"/>
                </a:solidFill>
              </a:rPr>
              <a:t>参加竞选</a:t>
            </a:r>
          </a:p>
          <a:p>
            <a:r>
              <a:rPr lang="en-US" altLang="zh-CN" sz="3600" dirty="0"/>
              <a:t>vote in an election</a:t>
            </a:r>
            <a:r>
              <a:rPr lang="zh-CN" altLang="zh-CN" sz="3600" dirty="0"/>
              <a:t>参加投票选举</a:t>
            </a:r>
            <a:endParaRPr lang="zh-CN" altLang="en-US" sz="3600" dirty="0"/>
          </a:p>
          <a:p>
            <a:r>
              <a:rPr lang="zh-CN" altLang="en-US" sz="3600" b="1" dirty="0"/>
              <a:t>→</a:t>
            </a:r>
            <a:r>
              <a:rPr lang="en-US" altLang="zh-CN" sz="3600" b="1" dirty="0"/>
              <a:t>elect </a:t>
            </a:r>
            <a:r>
              <a:rPr lang="en-US" altLang="zh-CN" sz="3600" b="1" dirty="0" err="1"/>
              <a:t>vt.</a:t>
            </a:r>
            <a:r>
              <a:rPr lang="zh-CN" altLang="en-US" sz="3600" b="1" dirty="0"/>
              <a:t>选举</a:t>
            </a:r>
            <a:r>
              <a:rPr lang="zh-CN" altLang="zh-CN" sz="3600" b="1" dirty="0"/>
              <a:t> </a:t>
            </a:r>
            <a:r>
              <a:rPr lang="en-US" altLang="zh-CN" sz="3600" b="1" dirty="0"/>
              <a:t>vi.</a:t>
            </a:r>
            <a:r>
              <a:rPr lang="zh-CN" altLang="en-US" sz="3600" b="1" dirty="0"/>
              <a:t>选择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elect 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to do </a:t>
            </a:r>
            <a:r>
              <a:rPr lang="en-US" altLang="zh-CN" sz="36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</a:rPr>
              <a:t>选择做某事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elect sb. as/to be...</a:t>
            </a:r>
            <a:r>
              <a:rPr lang="zh-CN" altLang="en-US" sz="3600" b="1" dirty="0">
                <a:solidFill>
                  <a:srgbClr val="FF0000"/>
                </a:solidFill>
              </a:rPr>
              <a:t>选举某人担任</a:t>
            </a:r>
            <a:r>
              <a:rPr lang="en-US" altLang="zh-CN" sz="3600" b="1" dirty="0">
                <a:solidFill>
                  <a:srgbClr val="FF0000"/>
                </a:solidFill>
              </a:rPr>
              <a:t>…</a:t>
            </a:r>
          </a:p>
          <a:p>
            <a:r>
              <a:rPr lang="en-US" altLang="zh-CN" sz="3600" u="sng" dirty="0"/>
              <a:t>elective</a:t>
            </a:r>
            <a:r>
              <a:rPr lang="en-US" altLang="zh-CN" sz="3600" dirty="0"/>
              <a:t> </a:t>
            </a:r>
            <a:r>
              <a:rPr lang="en-US" altLang="zh-CN" sz="3600" i="1" dirty="0"/>
              <a:t>adj</a:t>
            </a:r>
            <a:r>
              <a:rPr lang="en-US" altLang="zh-CN" sz="3600" dirty="0"/>
              <a:t>. </a:t>
            </a:r>
            <a:r>
              <a:rPr lang="zh-CN" altLang="zh-CN" sz="3600" dirty="0"/>
              <a:t>选举的；选修的</a:t>
            </a:r>
            <a:endParaRPr lang="zh-CN" altLang="en-US" sz="36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46105" y="0"/>
            <a:ext cx="9144000" cy="657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18. faith n.</a:t>
            </a:r>
            <a:r>
              <a:rPr lang="zh-CN" altLang="en-US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信心</a:t>
            </a:r>
            <a:r>
              <a:rPr lang="en-US" altLang="zh-CN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;</a:t>
            </a:r>
            <a:r>
              <a:rPr lang="zh-CN" altLang="en-US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宗教信仰</a:t>
            </a:r>
            <a:endParaRPr lang="en-US" altLang="zh-CN" sz="3600" b="1" kern="100" dirty="0"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have/take faith in </a:t>
            </a:r>
            <a:r>
              <a:rPr lang="zh-CN" altLang="en-US" sz="3600" b="1" kern="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相信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…</a:t>
            </a: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lose faith in 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对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…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失去信心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 </a:t>
            </a:r>
            <a:r>
              <a:rPr lang="en-US" altLang="zh-CN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in faith</a:t>
            </a:r>
            <a:r>
              <a:rPr lang="zh-CN" altLang="en-US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的确</a:t>
            </a:r>
            <a:r>
              <a:rPr lang="en-US" altLang="zh-CN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;</a:t>
            </a:r>
            <a:r>
              <a:rPr lang="zh-CN" altLang="en-US" sz="3600" b="1" kern="100" dirty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确实</a:t>
            </a:r>
          </a:p>
          <a:p>
            <a:pPr algn="just">
              <a:lnSpc>
                <a:spcPct val="110000"/>
              </a:lnSpc>
            </a:pP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→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faithful adj.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忠实的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	</a:t>
            </a:r>
          </a:p>
          <a:p>
            <a:pPr algn="just">
              <a:lnSpc>
                <a:spcPct val="110000"/>
              </a:lnSpc>
            </a:pPr>
            <a:r>
              <a:rPr lang="en-US" altLang="zh-CN" sz="3600" b="1" kern="1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be faithful to 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忠实于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;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忠诚于</a:t>
            </a:r>
          </a:p>
          <a:p>
            <a:pPr algn="just">
              <a:lnSpc>
                <a:spcPct val="110000"/>
              </a:lnSpc>
            </a:pP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→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faithfully    adv.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忠实地</a:t>
            </a:r>
            <a:endParaRPr lang="en-US" altLang="zh-CN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方正中等线简体" panose="03000509000000000000" pitchFamily="65" charset="-122"/>
              <a:cs typeface="Courier New" panose="020703090202050204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→</a:t>
            </a:r>
            <a:r>
              <a:rPr lang="en-US" altLang="zh-CN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faithfulness n.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忠实</a:t>
            </a:r>
            <a:endParaRPr lang="en-US" altLang="zh-CN" sz="3600" b="1" dirty="0"/>
          </a:p>
          <a:p>
            <a:r>
              <a:rPr lang="en-US" altLang="zh-CN" sz="3600" b="1" dirty="0"/>
              <a:t>19. advent of a new era</a:t>
            </a:r>
            <a:r>
              <a:rPr lang="zh-CN" altLang="en-US" sz="3600" b="1" dirty="0"/>
              <a:t>新时代的到来</a:t>
            </a:r>
            <a:r>
              <a:rPr lang="en-US" altLang="zh-CN" sz="3600" b="1" dirty="0"/>
              <a:t> </a:t>
            </a:r>
          </a:p>
          <a:p>
            <a:r>
              <a:rPr lang="en-US" altLang="zh-CN" sz="3600" b="1" dirty="0"/>
              <a:t>ascend v.</a:t>
            </a:r>
            <a:r>
              <a:rPr lang="zh-CN" altLang="en-US" sz="3600" b="1" dirty="0"/>
              <a:t>攀登</a:t>
            </a:r>
            <a:r>
              <a:rPr lang="en-US" altLang="zh-CN" sz="3600" b="1" dirty="0"/>
              <a:t>  ascend (to) the throne</a:t>
            </a:r>
            <a:r>
              <a:rPr lang="zh-CN" altLang="en-US" sz="3600" b="1" dirty="0"/>
              <a:t>登基</a:t>
            </a:r>
            <a:endParaRPr lang="en-US" altLang="zh-CN" sz="3600" b="1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19.a training session</a:t>
            </a:r>
            <a:r>
              <a:rPr lang="zh-CN" altLang="en-US" sz="3600" b="1" dirty="0">
                <a:solidFill>
                  <a:srgbClr val="FF0000"/>
                </a:solidFill>
              </a:rPr>
              <a:t>一堂训练课</a:t>
            </a:r>
            <a:r>
              <a:rPr lang="en-US" altLang="zh-CN" sz="3600" b="1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zh-CN" sz="3600" b="1" dirty="0">
                <a:solidFill>
                  <a:srgbClr val="FF0000"/>
                </a:solidFill>
              </a:rPr>
              <a:t>      in session</a:t>
            </a:r>
            <a:r>
              <a:rPr lang="zh-CN" altLang="en-US" sz="3600" b="1" dirty="0">
                <a:solidFill>
                  <a:srgbClr val="FF0000"/>
                </a:solidFill>
              </a:rPr>
              <a:t>开庭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开会</a:t>
            </a:r>
            <a:endParaRPr lang="en-US" altLang="zh-CN" sz="3600" b="1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20. ambition n.</a:t>
            </a:r>
            <a:r>
              <a:rPr lang="zh-CN" altLang="en-US" sz="3600" b="1" dirty="0">
                <a:solidFill>
                  <a:srgbClr val="FF0000"/>
                </a:solidFill>
              </a:rPr>
              <a:t>雄心壮志</a:t>
            </a:r>
            <a:r>
              <a:rPr lang="en-US" altLang="zh-CN" sz="3600" b="1" dirty="0">
                <a:solidFill>
                  <a:srgbClr val="FF0000"/>
                </a:solidFill>
              </a:rPr>
              <a:t>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achieve/realize/fulfill one’s ambition</a:t>
            </a:r>
            <a:r>
              <a:rPr lang="zh-CN" altLang="en-US" sz="3600" b="1" dirty="0">
                <a:solidFill>
                  <a:srgbClr val="FF0000"/>
                </a:solidFill>
              </a:rPr>
              <a:t>实现抱负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dirty="0"/>
              <a:t>with ambition</a:t>
            </a:r>
            <a:r>
              <a:rPr lang="zh-CN" altLang="zh-CN" sz="3600" u="sng" dirty="0"/>
              <a:t>有雄心</a:t>
            </a:r>
            <a:r>
              <a:rPr lang="en-US" altLang="zh-CN" sz="3600" u="sng" dirty="0"/>
              <a:t> </a:t>
            </a:r>
          </a:p>
          <a:p>
            <a:pPr marL="0" indent="0">
              <a:buNone/>
            </a:pPr>
            <a:r>
              <a:rPr lang="en-US" altLang="zh-CN" sz="3600" dirty="0"/>
              <a:t>by ambition </a:t>
            </a:r>
            <a:r>
              <a:rPr lang="zh-CN" altLang="zh-CN" sz="3600" u="sng" dirty="0"/>
              <a:t>受到野心的驱使</a:t>
            </a:r>
            <a:r>
              <a:rPr lang="zh-CN" altLang="zh-CN" sz="3600" dirty="0"/>
              <a:t> </a:t>
            </a:r>
            <a:r>
              <a:rPr lang="en-US" altLang="zh-CN" sz="3600" dirty="0"/>
              <a:t>        </a:t>
            </a: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ambitious adj.</a:t>
            </a:r>
            <a:r>
              <a:rPr lang="zh-CN" altLang="en-US" sz="3600" b="1" dirty="0">
                <a:solidFill>
                  <a:srgbClr val="FF0000"/>
                </a:solidFill>
              </a:rPr>
              <a:t>有抱负的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be ambitious for </a:t>
            </a:r>
            <a:r>
              <a:rPr lang="zh-CN" altLang="zh-CN" sz="3600" b="1" dirty="0">
                <a:solidFill>
                  <a:srgbClr val="FF0000"/>
                </a:solidFill>
              </a:rPr>
              <a:t>对</a:t>
            </a:r>
            <a:r>
              <a:rPr lang="en-US" altLang="zh-CN" sz="3600" b="1" dirty="0">
                <a:solidFill>
                  <a:srgbClr val="FF0000"/>
                </a:solidFill>
              </a:rPr>
              <a:t>…</a:t>
            </a:r>
            <a:r>
              <a:rPr lang="zh-CN" altLang="zh-CN" sz="3600" b="1" dirty="0">
                <a:solidFill>
                  <a:srgbClr val="FF0000"/>
                </a:solidFill>
              </a:rPr>
              <a:t>有野心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dirty="0"/>
              <a:t>1) He is </a:t>
            </a:r>
            <a:r>
              <a:rPr lang="en-US" altLang="zh-CN" u="sng" dirty="0"/>
              <a:t>full of ambition</a:t>
            </a:r>
            <a:r>
              <a:rPr lang="en-US" altLang="zh-CN" dirty="0"/>
              <a:t> and energy.</a:t>
            </a:r>
            <a:endParaRPr lang="zh-CN" altLang="zh-CN" dirty="0"/>
          </a:p>
          <a:p>
            <a:r>
              <a:rPr lang="en-US" altLang="zh-CN" dirty="0"/>
              <a:t>2) Though he was </a:t>
            </a:r>
            <a:r>
              <a:rPr lang="en-US" altLang="zh-CN" u="sng" dirty="0"/>
              <a:t>ambitious</a:t>
            </a:r>
            <a:r>
              <a:rPr lang="en-US" altLang="zh-CN" dirty="0"/>
              <a:t>, he never </a:t>
            </a:r>
            <a:r>
              <a:rPr lang="en-US" altLang="zh-CN" u="sng" dirty="0"/>
              <a:t>achieved his ambition of</a:t>
            </a:r>
            <a:r>
              <a:rPr lang="en-US" altLang="zh-CN" dirty="0"/>
              <a:t> becoming a famous movie star.</a:t>
            </a:r>
            <a:endParaRPr lang="zh-CN" altLang="zh-CN" dirty="0"/>
          </a:p>
          <a:p>
            <a:r>
              <a:rPr lang="en-US" altLang="zh-CN" dirty="0"/>
              <a:t>3) The mother was hard-working and </a:t>
            </a:r>
            <a:r>
              <a:rPr lang="en-US" altLang="zh-CN" u="sng" dirty="0"/>
              <a:t>ambitious for</a:t>
            </a:r>
            <a:r>
              <a:rPr lang="en-US" altLang="zh-CN" dirty="0"/>
              <a:t> her four children.</a:t>
            </a:r>
            <a:endParaRPr lang="zh-CN" altLang="zh-CN" dirty="0"/>
          </a:p>
          <a:p>
            <a:pPr marL="0" indent="0">
              <a:buNone/>
            </a:pP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b="1" dirty="0"/>
              <a:t> 21.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identical adj.</a:t>
            </a:r>
            <a:r>
              <a:rPr lang="zh-CN" altLang="en-US" sz="3600" b="1" dirty="0"/>
              <a:t>相同的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be identical to/with …</a:t>
            </a:r>
            <a:r>
              <a:rPr lang="zh-CN" altLang="en-US" sz="3600" b="1" dirty="0">
                <a:solidFill>
                  <a:srgbClr val="FF0000"/>
                </a:solidFill>
              </a:rPr>
              <a:t>与</a:t>
            </a:r>
            <a:r>
              <a:rPr lang="en-US" altLang="zh-CN" sz="3600" b="1" dirty="0">
                <a:solidFill>
                  <a:srgbClr val="FF0000"/>
                </a:solidFill>
              </a:rPr>
              <a:t>... </a:t>
            </a:r>
            <a:r>
              <a:rPr lang="zh-CN" altLang="en-US" sz="3600" b="1" dirty="0">
                <a:solidFill>
                  <a:srgbClr val="FF0000"/>
                </a:solidFill>
              </a:rPr>
              <a:t>相同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dirty="0"/>
              <a:t>Her dress is almost identical to mine. </a:t>
            </a:r>
          </a:p>
          <a:p>
            <a:pPr marL="0" indent="0">
              <a:buNone/>
            </a:pPr>
            <a:r>
              <a:rPr lang="en-US" altLang="zh-CN" sz="3600" dirty="0"/>
              <a:t>The children were dressed identically. </a:t>
            </a: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identi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f</a:t>
            </a:r>
            <a:r>
              <a:rPr lang="en-US" altLang="zh-CN" sz="3600" b="1" dirty="0">
                <a:solidFill>
                  <a:srgbClr val="FF0000"/>
                </a:solidFill>
              </a:rPr>
              <a:t>y</a:t>
            </a:r>
            <a:r>
              <a:rPr lang="zh-CN" altLang="zh-CN" sz="3600" b="1" dirty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v.</a:t>
            </a:r>
            <a:r>
              <a:rPr lang="zh-CN" altLang="en-US" sz="3600" b="1" dirty="0">
                <a:solidFill>
                  <a:srgbClr val="FF0000"/>
                </a:solidFill>
              </a:rPr>
              <a:t>辨认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联系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共鸣</a:t>
            </a:r>
            <a:r>
              <a:rPr lang="en-US" altLang="zh-CN" sz="3600" b="1" dirty="0">
                <a:solidFill>
                  <a:srgbClr val="FF0000"/>
                </a:solidFill>
              </a:rPr>
              <a:t>+with</a:t>
            </a: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 </a:t>
            </a:r>
            <a:r>
              <a:rPr lang="en-US" altLang="zh-CN" sz="3600" b="1" dirty="0">
                <a:solidFill>
                  <a:srgbClr val="FF0000"/>
                </a:solidFill>
              </a:rPr>
              <a:t>identi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lang="en-US" altLang="zh-CN" sz="3600" b="1" dirty="0">
                <a:solidFill>
                  <a:srgbClr val="FF0000"/>
                </a:solidFill>
              </a:rPr>
              <a:t>y n.</a:t>
            </a:r>
            <a:r>
              <a:rPr lang="zh-CN" altLang="en-US" sz="3600" b="1" dirty="0">
                <a:solidFill>
                  <a:srgbClr val="FF0000"/>
                </a:solidFill>
              </a:rPr>
              <a:t>身份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特点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→ </a:t>
            </a:r>
            <a:r>
              <a:rPr lang="en-US" altLang="zh-CN" sz="3600" b="1" dirty="0">
                <a:solidFill>
                  <a:srgbClr val="FF0000"/>
                </a:solidFill>
              </a:rPr>
              <a:t>identification</a:t>
            </a:r>
            <a:r>
              <a:rPr lang="zh-CN" altLang="en-US" sz="3600" b="1" dirty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</a:rPr>
              <a:t>辨认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认同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/>
              <a:t> 22. fellow </a:t>
            </a:r>
            <a:r>
              <a:rPr lang="en-US" altLang="zh-CN" sz="3600" b="1" dirty="0" err="1"/>
              <a:t>n.adj</a:t>
            </a:r>
            <a:r>
              <a:rPr lang="en-US" altLang="zh-CN" sz="3600" b="1" dirty="0"/>
              <a:t>.</a:t>
            </a:r>
            <a:r>
              <a:rPr lang="zh-CN" altLang="en-US" sz="3600" b="1" dirty="0"/>
              <a:t>男人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同类的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 fellow students</a:t>
            </a:r>
            <a:r>
              <a:rPr lang="zh-CN" altLang="en-US" sz="3600" b="1" dirty="0">
                <a:solidFill>
                  <a:srgbClr val="FF0000"/>
                </a:solidFill>
              </a:rPr>
              <a:t>同学</a:t>
            </a:r>
            <a:endParaRPr lang="en-US" altLang="zh-CN" sz="3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b="1" dirty="0"/>
              <a:t>23.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chest n.</a:t>
            </a:r>
            <a:r>
              <a:rPr lang="zh-CN" altLang="en-US" sz="3600" b="1" dirty="0"/>
              <a:t>胸膛</a:t>
            </a:r>
            <a:r>
              <a:rPr lang="en-US" altLang="zh-CN" sz="3600" b="1" dirty="0"/>
              <a:t>;</a:t>
            </a:r>
            <a:r>
              <a:rPr lang="zh-CN" altLang="en-US" sz="3600" b="1" dirty="0"/>
              <a:t>大箱子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7030A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get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 off one’s chest</a:t>
            </a:r>
            <a:r>
              <a:rPr lang="zh-CN" altLang="en-US" sz="3600" b="1" dirty="0">
                <a:solidFill>
                  <a:srgbClr val="FF0000"/>
                </a:solidFill>
              </a:rPr>
              <a:t>倾吐心中的烦恼</a:t>
            </a:r>
            <a:endParaRPr lang="en-US" altLang="zh-CN" sz="36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sz="3600" b="1" dirty="0"/>
              <a:t> cheek n.</a:t>
            </a:r>
            <a:r>
              <a:rPr lang="zh-CN" altLang="en-US" sz="3600" b="1" dirty="0"/>
              <a:t>脸颊</a:t>
            </a:r>
            <a:endParaRPr lang="en-US" altLang="zh-CN" sz="3600" b="1" dirty="0"/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Tears streamed down her cheeks.</a:t>
            </a:r>
            <a:r>
              <a:rPr lang="zh-CN" altLang="en-US" dirty="0"/>
              <a:t>泪水顺着她的面颊流下来。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sprain/ twist one’s ankle</a:t>
            </a:r>
            <a:r>
              <a:rPr lang="zh-CN" altLang="en-US" sz="3600" b="1" dirty="0">
                <a:solidFill>
                  <a:srgbClr val="FF0000"/>
                </a:solidFill>
              </a:rPr>
              <a:t>扭伤脚踝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24.amateur n.</a:t>
            </a:r>
            <a:r>
              <a:rPr lang="zh-CN" altLang="en-US" sz="3600" b="1" dirty="0">
                <a:solidFill>
                  <a:srgbClr val="FF0000"/>
                </a:solidFill>
              </a:rPr>
              <a:t>业余爱好者</a:t>
            </a:r>
            <a:r>
              <a:rPr lang="en-US" altLang="zh-CN" sz="3600" b="1" dirty="0">
                <a:solidFill>
                  <a:srgbClr val="FF0000"/>
                </a:solidFill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</a:rPr>
              <a:t>外行 </a:t>
            </a:r>
            <a:r>
              <a:rPr lang="en-US" altLang="zh-CN" sz="3600" b="1" dirty="0">
                <a:solidFill>
                  <a:srgbClr val="FF0000"/>
                </a:solidFill>
              </a:rPr>
              <a:t>adj.</a:t>
            </a:r>
            <a:r>
              <a:rPr lang="zh-CN" altLang="en-US" sz="3600" b="1" dirty="0">
                <a:solidFill>
                  <a:srgbClr val="FF0000"/>
                </a:solidFill>
              </a:rPr>
              <a:t>业余的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 professional n.</a:t>
            </a:r>
            <a:r>
              <a:rPr lang="zh-CN" altLang="en-US" sz="3600" b="1" dirty="0">
                <a:solidFill>
                  <a:srgbClr val="FF0000"/>
                </a:solidFill>
              </a:rPr>
              <a:t>专业人员 </a:t>
            </a:r>
            <a:r>
              <a:rPr lang="en-US" altLang="zh-CN" sz="3600" b="1" dirty="0">
                <a:solidFill>
                  <a:srgbClr val="FF0000"/>
                </a:solidFill>
              </a:rPr>
              <a:t>adj.</a:t>
            </a:r>
            <a:r>
              <a:rPr lang="zh-CN" altLang="en-US" sz="3600" b="1" dirty="0">
                <a:solidFill>
                  <a:srgbClr val="FF0000"/>
                </a:solidFill>
              </a:rPr>
              <a:t>职业的专业的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25.gradually adv.</a:t>
            </a:r>
            <a:r>
              <a:rPr lang="zh-CN" altLang="en-US" sz="3600" b="1" dirty="0">
                <a:solidFill>
                  <a:srgbClr val="FF0000"/>
                </a:solidFill>
              </a:rPr>
              <a:t>逐渐地 </a:t>
            </a:r>
            <a:r>
              <a:rPr lang="en-US" altLang="zh-CN" sz="3600" b="1" dirty="0">
                <a:solidFill>
                  <a:srgbClr val="FF0000"/>
                </a:solidFill>
              </a:rPr>
              <a:t>gradual adj.</a:t>
            </a:r>
            <a:r>
              <a:rPr lang="zh-CN" altLang="en-US" sz="3600" b="1" dirty="0">
                <a:solidFill>
                  <a:srgbClr val="FF0000"/>
                </a:solidFill>
              </a:rPr>
              <a:t>逐渐的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 eventually adv.</a:t>
            </a:r>
            <a:r>
              <a:rPr lang="zh-CN" altLang="en-US" sz="3600" b="1" dirty="0">
                <a:solidFill>
                  <a:srgbClr val="FF0000"/>
                </a:solidFill>
              </a:rPr>
              <a:t>最终 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08504" cy="6858000"/>
          </a:xfrm>
        </p:spPr>
        <p:txBody>
          <a:bodyPr>
            <a:normAutofit lnSpcReduction="10000"/>
          </a:bodyPr>
          <a:lstStyle/>
          <a:p>
            <a:r>
              <a:rPr lang="en-US" altLang="zh-CN" sz="3600" dirty="0"/>
              <a:t>26. limit </a:t>
            </a:r>
            <a:r>
              <a:rPr lang="en-US" altLang="zh-CN" sz="3600" dirty="0" err="1"/>
              <a:t>n.vt</a:t>
            </a:r>
            <a:r>
              <a:rPr lang="en-US" altLang="zh-CN" sz="3600" dirty="0"/>
              <a:t>.</a:t>
            </a:r>
            <a:r>
              <a:rPr lang="zh-CN" altLang="en-US" sz="3600" dirty="0"/>
              <a:t>限制</a:t>
            </a:r>
            <a:r>
              <a:rPr lang="en-US" altLang="zh-CN" sz="3600" dirty="0"/>
              <a:t>;</a:t>
            </a:r>
            <a:r>
              <a:rPr lang="zh-CN" altLang="en-US" sz="3600" dirty="0"/>
              <a:t>限度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limit...to...</a:t>
            </a:r>
            <a:r>
              <a:rPr lang="zh-CN" altLang="en-US" b="1" dirty="0">
                <a:solidFill>
                  <a:srgbClr val="FF0000"/>
                </a:solidFill>
              </a:rPr>
              <a:t>将</a:t>
            </a:r>
            <a:r>
              <a:rPr lang="en-US" altLang="zh-CN" b="1" dirty="0">
                <a:solidFill>
                  <a:srgbClr val="FF0000"/>
                </a:solidFill>
              </a:rPr>
              <a:t>...</a:t>
            </a:r>
            <a:r>
              <a:rPr lang="zh-CN" altLang="en-US" b="1" dirty="0">
                <a:solidFill>
                  <a:srgbClr val="FF0000"/>
                </a:solidFill>
              </a:rPr>
              <a:t>限制在</a:t>
            </a:r>
            <a:r>
              <a:rPr lang="en-US" altLang="zh-CN" sz="3600" b="1" dirty="0">
                <a:solidFill>
                  <a:srgbClr val="FF0000"/>
                </a:solidFill>
              </a:rPr>
              <a:t>=be limited to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zh-CN" altLang="en-US" b="1" dirty="0">
                <a:solidFill>
                  <a:srgbClr val="FF0000"/>
                </a:solidFill>
              </a:rPr>
              <a:t>受限于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set a limit/limits </a:t>
            </a:r>
            <a:r>
              <a:rPr lang="en-US" altLang="zh-CN" sz="3600" b="1" u="sng" dirty="0">
                <a:solidFill>
                  <a:srgbClr val="FF0000"/>
                </a:solidFill>
              </a:rPr>
              <a:t>on</a:t>
            </a:r>
            <a:r>
              <a:rPr lang="en-US" altLang="zh-CN" sz="3600" b="1" dirty="0">
                <a:solidFill>
                  <a:srgbClr val="FF0000"/>
                </a:solidFill>
              </a:rPr>
              <a:t>...</a:t>
            </a:r>
            <a:r>
              <a:rPr lang="zh-CN" altLang="en-US" sz="3600" b="1" dirty="0">
                <a:solidFill>
                  <a:srgbClr val="FF0000"/>
                </a:solidFill>
              </a:rPr>
              <a:t>对</a:t>
            </a:r>
            <a:r>
              <a:rPr lang="en-US" altLang="zh-CN" sz="3600" b="1" dirty="0">
                <a:solidFill>
                  <a:srgbClr val="FF0000"/>
                </a:solidFill>
              </a:rPr>
              <a:t>...</a:t>
            </a:r>
            <a:r>
              <a:rPr lang="zh-CN" altLang="en-US" sz="3600" b="1" dirty="0">
                <a:solidFill>
                  <a:srgbClr val="FF0000"/>
                </a:solidFill>
              </a:rPr>
              <a:t>进行限制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u="sng" dirty="0"/>
              <a:t>beyond</a:t>
            </a:r>
            <a:r>
              <a:rPr lang="en-US" altLang="zh-CN" dirty="0"/>
              <a:t> the limit </a:t>
            </a:r>
            <a:r>
              <a:rPr lang="zh-CN" altLang="zh-CN" dirty="0"/>
              <a:t>超过限度</a:t>
            </a:r>
            <a:r>
              <a:rPr lang="en-US" altLang="zh-CN" dirty="0"/>
              <a:t>   </a:t>
            </a:r>
            <a:r>
              <a:rPr lang="en-US" altLang="zh-CN" u="sng" dirty="0"/>
              <a:t>without</a:t>
            </a:r>
            <a:r>
              <a:rPr lang="en-US" altLang="zh-CN" dirty="0"/>
              <a:t> </a:t>
            </a:r>
            <a:r>
              <a:rPr lang="en-US" altLang="zh-CN" u="sng" dirty="0"/>
              <a:t>limit</a:t>
            </a:r>
            <a:r>
              <a:rPr lang="en-US" altLang="zh-CN" dirty="0"/>
              <a:t> </a:t>
            </a:r>
            <a:r>
              <a:rPr lang="zh-CN" altLang="zh-CN" dirty="0"/>
              <a:t>无限制地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u="sng" dirty="0"/>
              <a:t>within</a:t>
            </a:r>
            <a:r>
              <a:rPr lang="en-US" altLang="zh-CN" sz="3600" dirty="0"/>
              <a:t> the limits of</a:t>
            </a:r>
            <a:r>
              <a:rPr lang="zh-CN" altLang="en-US" sz="3600" dirty="0"/>
              <a:t>在</a:t>
            </a:r>
            <a:r>
              <a:rPr lang="en-US" altLang="zh-CN" sz="3600" dirty="0"/>
              <a:t>…</a:t>
            </a:r>
            <a:r>
              <a:rPr lang="zh-CN" altLang="en-US" sz="3600" dirty="0"/>
              <a:t>限定范围内</a:t>
            </a:r>
            <a:endParaRPr lang="en-US" altLang="zh-CN" sz="3600" dirty="0"/>
          </a:p>
          <a:p>
            <a:r>
              <a:rPr lang="en-US" altLang="zh-CN" sz="3600" dirty="0"/>
              <a:t>There is a/no limit </a:t>
            </a:r>
            <a:r>
              <a:rPr lang="en-US" altLang="zh-CN" sz="3600" u="sng" dirty="0"/>
              <a:t>to</a:t>
            </a:r>
            <a:r>
              <a:rPr lang="en-US" altLang="zh-CN" sz="3600" dirty="0"/>
              <a:t>...  ....</a:t>
            </a:r>
            <a:r>
              <a:rPr lang="zh-CN" altLang="en-US" sz="3600" dirty="0"/>
              <a:t>是有</a:t>
            </a:r>
            <a:r>
              <a:rPr lang="en-US" altLang="zh-CN" sz="3600" dirty="0"/>
              <a:t>/</a:t>
            </a:r>
            <a:r>
              <a:rPr lang="zh-CN" altLang="en-US" sz="3600" dirty="0"/>
              <a:t>无限度的</a:t>
            </a: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limited  a.</a:t>
            </a:r>
            <a:r>
              <a:rPr lang="zh-CN" altLang="en-US" sz="3600" b="1" dirty="0">
                <a:solidFill>
                  <a:srgbClr val="FF0000"/>
                </a:solidFill>
              </a:rPr>
              <a:t>有限的</a:t>
            </a:r>
            <a:r>
              <a:rPr lang="en-US" altLang="zh-CN" sz="3600" b="1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 limitless  a.</a:t>
            </a:r>
            <a:r>
              <a:rPr lang="zh-CN" altLang="en-US" sz="3600" b="1" dirty="0">
                <a:solidFill>
                  <a:srgbClr val="FF0000"/>
                </a:solidFill>
              </a:rPr>
              <a:t>无限的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→</a:t>
            </a:r>
            <a:r>
              <a:rPr lang="en-US" altLang="zh-CN" sz="3600" b="1" dirty="0">
                <a:solidFill>
                  <a:srgbClr val="FF0000"/>
                </a:solidFill>
              </a:rPr>
              <a:t>limitation   n.</a:t>
            </a:r>
            <a:r>
              <a:rPr lang="zh-CN" altLang="en-US" sz="3600" b="1" dirty="0">
                <a:solidFill>
                  <a:srgbClr val="FF0000"/>
                </a:solidFill>
              </a:rPr>
              <a:t>限制</a:t>
            </a:r>
            <a:r>
              <a:rPr lang="en-US" altLang="zh-CN" sz="3600" b="1" dirty="0">
                <a:solidFill>
                  <a:srgbClr val="FF0000"/>
                </a:solidFill>
              </a:rPr>
              <a:t>+ on </a:t>
            </a:r>
            <a:r>
              <a:rPr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zh-CN" alt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3600" b="1" dirty="0"/>
              <a:t> limitations  n.</a:t>
            </a:r>
            <a:r>
              <a:rPr lang="zh-CN" altLang="en-US" sz="3600" b="1" dirty="0"/>
              <a:t>局限</a:t>
            </a:r>
            <a:r>
              <a:rPr lang="en-US" altLang="zh-CN" sz="3600" b="1" dirty="0"/>
              <a:t>  = shortcomings  </a:t>
            </a:r>
          </a:p>
          <a:p>
            <a:pPr marL="0" indent="0">
              <a:buNone/>
            </a:pPr>
            <a:r>
              <a:rPr lang="en-US" altLang="zh-CN" sz="3600" dirty="0"/>
              <a:t>This technique is useful but it </a:t>
            </a:r>
            <a:r>
              <a:rPr lang="en-US" altLang="zh-CN" sz="3600" b="1" dirty="0"/>
              <a:t>has its limitations </a:t>
            </a:r>
            <a:r>
              <a:rPr lang="en-US" altLang="zh-CN" sz="3600" dirty="0"/>
              <a:t>. </a:t>
            </a:r>
            <a:endParaRPr lang="zh-CN" altLang="en-US" sz="3600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6632"/>
            <a:ext cx="8686800" cy="6009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27.constitution n.</a:t>
            </a:r>
            <a:r>
              <a:rPr lang="zh-CN" altLang="en-US" dirty="0"/>
              <a:t>宪法</a:t>
            </a:r>
            <a:r>
              <a:rPr lang="en-US" altLang="zh-CN" dirty="0"/>
              <a:t>;</a:t>
            </a:r>
            <a:r>
              <a:rPr lang="zh-CN" altLang="en-US" dirty="0"/>
              <a:t>章程</a:t>
            </a:r>
            <a:r>
              <a:rPr lang="en-US" altLang="zh-CN" dirty="0"/>
              <a:t>;</a:t>
            </a:r>
            <a:r>
              <a:rPr lang="zh-CN" altLang="en-US" dirty="0"/>
              <a:t>体质</a:t>
            </a:r>
            <a:r>
              <a:rPr lang="en-US" altLang="zh-CN" dirty="0"/>
              <a:t>;</a:t>
            </a:r>
            <a:r>
              <a:rPr lang="zh-CN" altLang="en-US" dirty="0"/>
              <a:t>构造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•According to the constitution,... </a:t>
            </a:r>
            <a:r>
              <a:rPr lang="zh-CN" altLang="en-US" b="1" dirty="0">
                <a:solidFill>
                  <a:srgbClr val="FF0000"/>
                </a:solidFill>
              </a:rPr>
              <a:t>依照宪法</a:t>
            </a:r>
            <a:r>
              <a:rPr lang="en-US" altLang="zh-CN" b="1" dirty="0">
                <a:solidFill>
                  <a:srgbClr val="FF0000"/>
                </a:solidFill>
              </a:rPr>
              <a:t>…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• </a:t>
            </a:r>
            <a:r>
              <a:rPr lang="en-US" altLang="zh-CN" sz="3600" b="1" dirty="0">
                <a:solidFill>
                  <a:srgbClr val="FF0000"/>
                </a:solidFill>
              </a:rPr>
              <a:t>physical constitution </a:t>
            </a:r>
            <a:r>
              <a:rPr lang="zh-CN" altLang="zh-CN" sz="3600" b="1" u="sng" dirty="0">
                <a:solidFill>
                  <a:srgbClr val="FF0000"/>
                </a:solidFill>
              </a:rPr>
              <a:t>身体素质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226352" cy="6858000"/>
          </a:xfrm>
        </p:spPr>
        <p:txBody>
          <a:bodyPr>
            <a:noAutofit/>
          </a:bodyPr>
          <a:lstStyle/>
          <a:p>
            <a:pPr marL="0" indent="0" fontAlgn="b">
              <a:lnSpc>
                <a:spcPts val="3400"/>
              </a:lnSpc>
              <a:buNone/>
            </a:pPr>
            <a:r>
              <a:rPr lang="en-US" altLang="zh-CN" dirty="0"/>
              <a:t>28. pour</a:t>
            </a:r>
            <a:r>
              <a:rPr lang="zh-CN" altLang="en-US" dirty="0"/>
              <a:t> </a:t>
            </a:r>
            <a:r>
              <a:rPr lang="en-US" altLang="zh-CN" dirty="0"/>
              <a:t>v.</a:t>
            </a:r>
            <a:endParaRPr lang="en-US" altLang="zh-CN" b="1" i="1" dirty="0"/>
          </a:p>
          <a:p>
            <a:pPr marL="0" indent="0">
              <a:lnSpc>
                <a:spcPts val="34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1)pour (</a:t>
            </a:r>
            <a:r>
              <a:rPr lang="en-US" altLang="zh-CN" b="1" dirty="0" err="1">
                <a:solidFill>
                  <a:srgbClr val="FF0000"/>
                </a:solidFill>
              </a:rPr>
              <a:t>sth</a:t>
            </a:r>
            <a:r>
              <a:rPr lang="en-US" altLang="zh-CN" b="1" dirty="0">
                <a:solidFill>
                  <a:srgbClr val="FF0000"/>
                </a:solidFill>
              </a:rPr>
              <a:t>) (out)  </a:t>
            </a:r>
            <a:r>
              <a:rPr lang="zh-CN" altLang="en-US" b="1" dirty="0">
                <a:solidFill>
                  <a:srgbClr val="FF0000"/>
                </a:solidFill>
              </a:rPr>
              <a:t>倒，斟（饮料）     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zh-CN" altLang="en-US" dirty="0"/>
              <a:t> </a:t>
            </a:r>
            <a:r>
              <a:rPr lang="en-US" altLang="zh-CN" dirty="0"/>
              <a:t>I've poured you a cup of tea. </a:t>
            </a:r>
            <a:r>
              <a:rPr lang="zh-CN" altLang="en-US" dirty="0"/>
              <a:t>我倒了杯茶给你。 </a:t>
            </a:r>
            <a:endParaRPr lang="en-US" altLang="zh-CN" dirty="0"/>
          </a:p>
          <a:p>
            <a:pPr marL="0" indent="0">
              <a:lnSpc>
                <a:spcPts val="3400"/>
              </a:lnSpc>
              <a:buNone/>
            </a:pPr>
            <a:r>
              <a:rPr lang="en-US" altLang="zh-CN" dirty="0"/>
              <a:t> </a:t>
            </a:r>
            <a:r>
              <a:rPr lang="en-US" altLang="zh-CN" b="1" dirty="0"/>
              <a:t>2)</a:t>
            </a:r>
            <a:r>
              <a:rPr lang="zh-CN" altLang="en-US" b="1" dirty="0">
                <a:solidFill>
                  <a:srgbClr val="FF0000"/>
                </a:solidFill>
              </a:rPr>
              <a:t>倾倒</a:t>
            </a:r>
            <a:r>
              <a:rPr lang="zh-CN" altLang="en-US" b="1" dirty="0"/>
              <a:t>         </a:t>
            </a:r>
            <a:endParaRPr lang="en-US" altLang="zh-CN" b="1" dirty="0"/>
          </a:p>
          <a:p>
            <a:pPr marL="0" indent="0">
              <a:lnSpc>
                <a:spcPts val="3400"/>
              </a:lnSpc>
              <a:buNone/>
            </a:pPr>
            <a:r>
              <a:rPr lang="en-US" altLang="zh-CN" dirty="0"/>
              <a:t>Pour the sauce over the pasta. </a:t>
            </a:r>
            <a:r>
              <a:rPr lang="zh-CN" altLang="en-US" dirty="0"/>
              <a:t>把酱汁浇在面食上。 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b="1" dirty="0"/>
              <a:t>3) ( </a:t>
            </a:r>
            <a:r>
              <a:rPr lang="zh-CN" altLang="en-US" b="1" dirty="0"/>
              <a:t>液体、烟、光等</a:t>
            </a:r>
            <a:r>
              <a:rPr lang="en-US" altLang="zh-CN" b="1" dirty="0"/>
              <a:t>)</a:t>
            </a:r>
            <a:r>
              <a:rPr lang="en-US" altLang="zh-CN" b="1" dirty="0">
                <a:solidFill>
                  <a:srgbClr val="FF0000"/>
                </a:solidFill>
              </a:rPr>
              <a:t>  </a:t>
            </a:r>
            <a:r>
              <a:rPr lang="zh-CN" altLang="en-US" b="1" dirty="0">
                <a:solidFill>
                  <a:srgbClr val="FF0000"/>
                </a:solidFill>
              </a:rPr>
              <a:t>倾泻；喷发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dirty="0"/>
              <a:t>Thick black smoke was pouring out of the roof. </a:t>
            </a:r>
            <a:r>
              <a:rPr lang="zh-CN" altLang="en-US" dirty="0"/>
              <a:t> 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b="1" dirty="0"/>
              <a:t>4) </a:t>
            </a:r>
            <a:r>
              <a:rPr lang="zh-CN" altLang="en-US" b="1" dirty="0">
                <a:solidFill>
                  <a:srgbClr val="FF0000"/>
                </a:solidFill>
              </a:rPr>
              <a:t>下倾盆大雨</a:t>
            </a:r>
            <a:r>
              <a:rPr lang="en-US" altLang="zh-CN" b="1" dirty="0">
                <a:solidFill>
                  <a:srgbClr val="FF0000"/>
                </a:solidFill>
              </a:rPr>
              <a:t>  It was pouring.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lnSpc>
                <a:spcPts val="3400"/>
              </a:lnSpc>
              <a:buNone/>
            </a:pPr>
            <a:r>
              <a:rPr lang="en-US" altLang="zh-CN" b="1" dirty="0"/>
              <a:t>5)</a:t>
            </a:r>
            <a:r>
              <a:rPr lang="zh-CN" altLang="en-US" b="1" dirty="0">
                <a:solidFill>
                  <a:srgbClr val="FF0000"/>
                </a:solidFill>
              </a:rPr>
              <a:t>不断涌向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现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dirty="0"/>
              <a:t>Letters of complaint continue to pour in. </a:t>
            </a:r>
            <a:r>
              <a:rPr lang="zh-CN" altLang="en-US" dirty="0"/>
              <a:t>投诉信纷至沓来。</a:t>
            </a:r>
          </a:p>
          <a:p>
            <a:pPr marL="0" indent="0">
              <a:lnSpc>
                <a:spcPts val="3400"/>
              </a:lnSpc>
              <a:buNone/>
            </a:pPr>
            <a:r>
              <a:rPr lang="en-US" altLang="zh-CN" dirty="0"/>
              <a:t>Commuters came pouring out of the station. </a:t>
            </a:r>
            <a:r>
              <a:rPr lang="zh-CN" altLang="en-US" dirty="0"/>
              <a:t>通勤上班者涌出车站。 </a:t>
            </a:r>
          </a:p>
          <a:p>
            <a:pPr>
              <a:lnSpc>
                <a:spcPts val="3400"/>
              </a:lnSpc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-75207" y="44624"/>
            <a:ext cx="9119403" cy="15642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auto">
              <a:spcBef>
                <a:spcPct val="0"/>
              </a:spcBef>
              <a:spcAft>
                <a:spcPct val="0"/>
              </a:spcAft>
              <a:defRPr sz="3600" b="1" spc="5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defRPr>
            </a:lvl1pPr>
          </a:lstStyle>
          <a:p>
            <a:pPr algn="l">
              <a:lnSpc>
                <a:spcPts val="2880"/>
              </a:lnSpc>
            </a:pPr>
            <a:r>
              <a:rPr lang="en-US" altLang="zh-CN" sz="2400" b="0" dirty="0">
                <a:solidFill>
                  <a:srgbClr val="FFAE28"/>
                </a:solidFill>
              </a:rPr>
              <a:t>29.It</a:t>
            </a:r>
            <a:r>
              <a:rPr lang="en-US" altLang="zh-CN" sz="2400" b="0" dirty="0">
                <a:solidFill>
                  <a:schemeClr val="tx1"/>
                </a:solidFill>
              </a:rPr>
              <a:t> </a:t>
            </a:r>
            <a:r>
              <a:rPr lang="en-US" altLang="zh-CN" sz="2400" b="0" dirty="0">
                <a:solidFill>
                  <a:srgbClr val="FFAE28"/>
                </a:solidFill>
              </a:rPr>
              <a:t>was</a:t>
            </a:r>
            <a:r>
              <a:rPr lang="en-US" altLang="zh-CN" sz="2400" b="0" dirty="0">
                <a:solidFill>
                  <a:schemeClr val="tx1"/>
                </a:solidFill>
              </a:rPr>
              <a:t> a Frenchman,</a:t>
            </a:r>
            <a:r>
              <a:rPr lang="zh-CN" altLang="en-US" sz="2400" b="0" dirty="0">
                <a:solidFill>
                  <a:schemeClr val="tx1"/>
                </a:solidFill>
              </a:rPr>
              <a:t> </a:t>
            </a:r>
            <a:r>
              <a:rPr lang="en-US" altLang="zh-CN" sz="2400" b="0" dirty="0">
                <a:solidFill>
                  <a:schemeClr val="tx1"/>
                </a:solidFill>
              </a:rPr>
              <a:t>Pierre de Coubertin, </a:t>
            </a:r>
            <a:r>
              <a:rPr lang="en-US" altLang="zh-CN" sz="2400" b="0" dirty="0">
                <a:solidFill>
                  <a:srgbClr val="FFAE28"/>
                </a:solidFill>
              </a:rPr>
              <a:t>who</a:t>
            </a:r>
            <a:r>
              <a:rPr lang="en-US" altLang="zh-CN" sz="2400" b="0" dirty="0">
                <a:solidFill>
                  <a:schemeClr val="tx1"/>
                </a:solidFill>
              </a:rPr>
              <a:t> brought the Olympics back to life.</a:t>
            </a:r>
          </a:p>
          <a:p>
            <a:pPr algn="l">
              <a:lnSpc>
                <a:spcPts val="2880"/>
              </a:lnSpc>
            </a:pPr>
            <a:r>
              <a:rPr lang="en-US" altLang="zh-CN" sz="2400" b="0" dirty="0">
                <a:solidFill>
                  <a:schemeClr val="tx1"/>
                </a:solidFill>
              </a:rPr>
              <a:t>Life is filled with challenges. </a:t>
            </a:r>
            <a:r>
              <a:rPr lang="en-US" altLang="zh-CN" sz="2400" b="0" dirty="0">
                <a:solidFill>
                  <a:srgbClr val="FFAE28"/>
                </a:solidFill>
              </a:rPr>
              <a:t>It is </a:t>
            </a:r>
            <a:r>
              <a:rPr lang="en-US" altLang="zh-CN" sz="2400" b="0" dirty="0">
                <a:solidFill>
                  <a:schemeClr val="tx1"/>
                </a:solidFill>
              </a:rPr>
              <a:t>those challenges </a:t>
            </a:r>
            <a:r>
              <a:rPr lang="en-US" altLang="zh-CN" sz="2400" b="0" dirty="0">
                <a:solidFill>
                  <a:srgbClr val="FFAE28"/>
                </a:solidFill>
              </a:rPr>
              <a:t>that</a:t>
            </a:r>
            <a:r>
              <a:rPr lang="en-US" altLang="zh-CN" sz="2400" b="0" dirty="0">
                <a:solidFill>
                  <a:schemeClr val="tx1"/>
                </a:solidFill>
              </a:rPr>
              <a:t> make me who I am.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200" y="1632019"/>
            <a:ext cx="896499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auto">
              <a:spcBef>
                <a:spcPct val="0"/>
              </a:spcBef>
              <a:spcAft>
                <a:spcPct val="0"/>
              </a:spcAft>
              <a:defRPr sz="2400" b="0" spc="5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defRPr>
            </a:lvl1pPr>
          </a:lstStyle>
          <a:p>
            <a:pPr indent="0"/>
            <a:endParaRPr lang="en-US" altLang="zh-CN" sz="2600" dirty="0"/>
          </a:p>
          <a:p>
            <a:pPr indent="0"/>
            <a:endParaRPr lang="en-US" altLang="zh-CN" sz="2600" dirty="0"/>
          </a:p>
          <a:p>
            <a:pPr indent="0"/>
            <a:endParaRPr lang="en-US" altLang="zh-CN" sz="2600" dirty="0"/>
          </a:p>
          <a:p>
            <a:pPr indent="0"/>
            <a:endParaRPr lang="en-US" altLang="zh-CN" sz="2600" dirty="0"/>
          </a:p>
          <a:p>
            <a:pPr indent="0"/>
            <a:endParaRPr lang="en-US" altLang="zh-CN" sz="2600" dirty="0"/>
          </a:p>
          <a:p>
            <a:pPr indent="0"/>
            <a:endParaRPr lang="en-US" altLang="zh-CN" sz="2600" dirty="0"/>
          </a:p>
          <a:p>
            <a:pPr indent="0"/>
            <a:r>
              <a:rPr lang="en-US" altLang="zh-CN" sz="2600" dirty="0"/>
              <a:t>Was it his curiosity that drove him to go deep into the forest?</a:t>
            </a:r>
            <a:endParaRPr lang="zh-CN" altLang="zh-CN" sz="2600" dirty="0"/>
          </a:p>
          <a:p>
            <a:pPr indent="0"/>
            <a:r>
              <a:rPr lang="en-US" altLang="zh-CN" sz="2600" dirty="0"/>
              <a:t>When was it that advertising sprang up and came into people’s life?</a:t>
            </a:r>
          </a:p>
          <a:p>
            <a:r>
              <a:rPr lang="en-US" altLang="zh-CN" sz="2600" dirty="0"/>
              <a:t>not...until</a:t>
            </a:r>
            <a:r>
              <a:rPr lang="zh-CN" altLang="en-US" sz="2600" dirty="0"/>
              <a:t>的强调句型结构：</a:t>
            </a:r>
            <a:endParaRPr lang="en-US" altLang="zh-CN" sz="2600" dirty="0"/>
          </a:p>
          <a:p>
            <a:r>
              <a:rPr lang="en-US" altLang="zh-CN" sz="3600" b="1" dirty="0">
                <a:solidFill>
                  <a:srgbClr val="FF0000"/>
                </a:solidFill>
              </a:rPr>
              <a:t>It is/was </a:t>
            </a:r>
            <a:r>
              <a:rPr lang="en-US" altLang="zh-CN" sz="3600" b="1" u="sng" dirty="0">
                <a:solidFill>
                  <a:srgbClr val="FF0000"/>
                </a:solidFill>
              </a:rPr>
              <a:t>not until</a:t>
            </a:r>
            <a:r>
              <a:rPr lang="en-US" altLang="zh-CN" sz="3600" b="1" dirty="0">
                <a:solidFill>
                  <a:srgbClr val="FF0000"/>
                </a:solidFill>
              </a:rPr>
              <a:t>...</a:t>
            </a:r>
            <a:r>
              <a:rPr lang="zh-CN" altLang="en-US" sz="3600" b="1" dirty="0">
                <a:solidFill>
                  <a:srgbClr val="FF0000"/>
                </a:solidFill>
              </a:rPr>
              <a:t>＋</a:t>
            </a:r>
            <a:r>
              <a:rPr lang="en-US" altLang="zh-CN" sz="3600" b="1" dirty="0">
                <a:solidFill>
                  <a:srgbClr val="FF0000"/>
                </a:solidFill>
              </a:rPr>
              <a:t>that</a:t>
            </a:r>
            <a:r>
              <a:rPr lang="zh-CN" altLang="en-US" sz="3600" b="1" dirty="0">
                <a:solidFill>
                  <a:srgbClr val="FF0000"/>
                </a:solidFill>
              </a:rPr>
              <a:t>＋其他。</a:t>
            </a:r>
            <a:endParaRPr lang="zh-CN" altLang="en-US" sz="26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234" y="1556792"/>
            <a:ext cx="8316924" cy="248709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10000"/>
              </a:lnSpc>
              <a:defRPr sz="2800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defRPr>
            </a:lvl1pPr>
          </a:lstStyle>
          <a:p>
            <a:r>
              <a:rPr lang="zh-CN" altLang="en-US" sz="3600" b="1" dirty="0">
                <a:solidFill>
                  <a:srgbClr val="FF0000"/>
                </a:solidFill>
              </a:rPr>
              <a:t>强调句型：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It is/was</a:t>
            </a:r>
            <a:r>
              <a:rPr lang="zh-CN" altLang="en-US" sz="3600" b="1" dirty="0">
                <a:solidFill>
                  <a:srgbClr val="FF0000"/>
                </a:solidFill>
              </a:rPr>
              <a:t>＋被强调部分＋</a:t>
            </a:r>
            <a:r>
              <a:rPr lang="en-US" altLang="zh-CN" sz="3600" b="1" dirty="0">
                <a:solidFill>
                  <a:srgbClr val="FF0000"/>
                </a:solidFill>
              </a:rPr>
              <a:t>who/that</a:t>
            </a:r>
            <a:r>
              <a:rPr lang="zh-CN" altLang="en-US" sz="3600" b="1" dirty="0">
                <a:solidFill>
                  <a:srgbClr val="FF0000"/>
                </a:solidFill>
              </a:rPr>
              <a:t>＋其他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Is/Was it</a:t>
            </a:r>
            <a:r>
              <a:rPr lang="zh-CN" altLang="en-US" sz="3600" b="1" dirty="0">
                <a:solidFill>
                  <a:srgbClr val="FF0000"/>
                </a:solidFill>
              </a:rPr>
              <a:t>＋被强调部分＋</a:t>
            </a:r>
            <a:r>
              <a:rPr lang="en-US" altLang="zh-CN" sz="3600" b="1" dirty="0">
                <a:solidFill>
                  <a:srgbClr val="FF0000"/>
                </a:solidFill>
              </a:rPr>
              <a:t>who/that</a:t>
            </a:r>
            <a:r>
              <a:rPr lang="zh-CN" altLang="en-US" sz="3600" b="1" dirty="0">
                <a:solidFill>
                  <a:srgbClr val="FF0000"/>
                </a:solidFill>
              </a:rPr>
              <a:t>＋其他？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疑问词＋</a:t>
            </a:r>
            <a:r>
              <a:rPr lang="en-US" altLang="zh-CN" sz="3600" b="1" dirty="0">
                <a:solidFill>
                  <a:srgbClr val="FF0000"/>
                </a:solidFill>
              </a:rPr>
              <a:t>is/was</a:t>
            </a:r>
            <a:r>
              <a:rPr lang="zh-CN" altLang="en-US" sz="3600" b="1" dirty="0">
                <a:solidFill>
                  <a:srgbClr val="FF0000"/>
                </a:solidFill>
              </a:rPr>
              <a:t>＋</a:t>
            </a:r>
            <a:r>
              <a:rPr lang="en-US" altLang="zh-CN" sz="3600" b="1" dirty="0">
                <a:solidFill>
                  <a:srgbClr val="FF0000"/>
                </a:solidFill>
              </a:rPr>
              <a:t>it</a:t>
            </a:r>
            <a:r>
              <a:rPr lang="zh-CN" altLang="en-US" sz="3600" b="1" dirty="0">
                <a:solidFill>
                  <a:srgbClr val="FF0000"/>
                </a:solidFill>
              </a:rPr>
              <a:t>＋</a:t>
            </a:r>
            <a:r>
              <a:rPr lang="en-US" altLang="zh-CN" sz="3600" b="1" dirty="0">
                <a:solidFill>
                  <a:srgbClr val="FF0000"/>
                </a:solidFill>
              </a:rPr>
              <a:t>who/that</a:t>
            </a:r>
            <a:r>
              <a:rPr lang="zh-CN" altLang="en-US" sz="3600" b="1" dirty="0">
                <a:solidFill>
                  <a:srgbClr val="FF0000"/>
                </a:solidFill>
              </a:rPr>
              <a:t>＋其他？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5496" y="116632"/>
            <a:ext cx="896499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auto">
              <a:spcBef>
                <a:spcPct val="0"/>
              </a:spcBef>
              <a:spcAft>
                <a:spcPct val="0"/>
              </a:spcAft>
              <a:defRPr sz="2400" b="0" spc="5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defRPr>
            </a:lvl1pPr>
          </a:lstStyle>
          <a:p>
            <a:pPr indent="0"/>
            <a:r>
              <a:rPr lang="en-US" altLang="zh-CN" sz="3600" dirty="0"/>
              <a:t>I didn’t realize I should shoulder more responsibility until I took part in the coming-of-age ceremony(</a:t>
            </a:r>
            <a:r>
              <a:rPr lang="zh-CN" altLang="en-US" sz="3600" dirty="0"/>
              <a:t>成人礼</a:t>
            </a:r>
            <a:r>
              <a:rPr lang="en-US" altLang="zh-CN" sz="3600" dirty="0"/>
              <a:t>).</a:t>
            </a:r>
          </a:p>
          <a:p>
            <a:r>
              <a:rPr lang="zh-CN" altLang="en-US" sz="3600" dirty="0"/>
              <a:t>＝</a:t>
            </a:r>
            <a:r>
              <a:rPr lang="en-US" altLang="zh-CN" sz="3600" dirty="0">
                <a:solidFill>
                  <a:srgbClr val="FF0000"/>
                </a:solidFill>
              </a:rPr>
              <a:t>It was not until </a:t>
            </a:r>
            <a:r>
              <a:rPr lang="en-US" altLang="zh-CN" sz="3600" dirty="0"/>
              <a:t>I took part in the coming-of-age ceremony </a:t>
            </a:r>
            <a:r>
              <a:rPr lang="en-US" altLang="zh-CN" sz="3600" dirty="0">
                <a:solidFill>
                  <a:srgbClr val="FF0000"/>
                </a:solidFill>
              </a:rPr>
              <a:t>that</a:t>
            </a:r>
            <a:r>
              <a:rPr lang="en-US" altLang="zh-CN" sz="3600" dirty="0"/>
              <a:t> I realized I should shoulder more responsibility.</a:t>
            </a:r>
          </a:p>
          <a:p>
            <a:r>
              <a:rPr lang="zh-CN" altLang="en-US" sz="3600" dirty="0"/>
              <a:t>＝</a:t>
            </a:r>
            <a:r>
              <a:rPr lang="en-US" altLang="zh-CN" sz="3600" u="sng" dirty="0">
                <a:solidFill>
                  <a:srgbClr val="FF0000"/>
                </a:solidFill>
                <a:highlight>
                  <a:srgbClr val="008000"/>
                </a:highlight>
              </a:rPr>
              <a:t>Not until </a:t>
            </a:r>
            <a:r>
              <a:rPr lang="en-US" altLang="zh-CN" sz="3600" dirty="0"/>
              <a:t>I took part in the coming-of-age ceremony </a:t>
            </a:r>
            <a:r>
              <a:rPr lang="en-US" altLang="zh-CN" sz="3600" u="sng" dirty="0">
                <a:solidFill>
                  <a:srgbClr val="FF0000"/>
                </a:solidFill>
                <a:highlight>
                  <a:srgbClr val="FFFF00"/>
                </a:highlight>
              </a:rPr>
              <a:t>did I realize </a:t>
            </a:r>
            <a:r>
              <a:rPr lang="en-US" altLang="zh-CN" sz="3600" dirty="0"/>
              <a:t>I should shoulder more responsibility.</a:t>
            </a:r>
          </a:p>
          <a:p>
            <a:r>
              <a:rPr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主倒</a:t>
            </a:r>
            <a:r>
              <a:rPr lang="zh-CN" altLang="en-US" sz="3600" dirty="0"/>
              <a:t>从不倒</a:t>
            </a:r>
            <a:endParaRPr lang="en-US" altLang="zh-CN" sz="3600" dirty="0"/>
          </a:p>
          <a:p>
            <a:pPr indent="0"/>
            <a:endParaRPr lang="en-US" altLang="zh-CN" sz="36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83671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9502" y="849600"/>
            <a:ext cx="89649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60045" fontAlgn="auto">
              <a:spcBef>
                <a:spcPct val="0"/>
              </a:spcBef>
              <a:spcAft>
                <a:spcPct val="0"/>
              </a:spcAft>
              <a:defRPr sz="2800" b="0" spc="5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/>
              <a:t>It must be Peter ________</a:t>
            </a:r>
            <a:r>
              <a:rPr lang="zh-CN" altLang="en-US" dirty="0"/>
              <a:t> </a:t>
            </a:r>
            <a:r>
              <a:rPr lang="en-US" altLang="zh-CN" dirty="0"/>
              <a:t>has let this secret out. </a:t>
            </a:r>
          </a:p>
          <a:p>
            <a:r>
              <a:rPr lang="en-US" altLang="zh-CN" dirty="0"/>
              <a:t>It’s not doing the things we like</a:t>
            </a:r>
            <a:r>
              <a:rPr lang="zh-CN" altLang="en-US" dirty="0"/>
              <a:t>，</a:t>
            </a:r>
            <a:r>
              <a:rPr lang="en-US" altLang="zh-CN" dirty="0"/>
              <a:t>but liking the things we have to do that __________(make)</a:t>
            </a:r>
            <a:r>
              <a:rPr lang="zh-CN" altLang="en-US" dirty="0"/>
              <a:t> </a:t>
            </a:r>
            <a:r>
              <a:rPr lang="en-US" altLang="zh-CN" dirty="0"/>
              <a:t>life happy. </a:t>
            </a:r>
          </a:p>
          <a:p>
            <a:r>
              <a:rPr lang="en-US" altLang="zh-CN" dirty="0"/>
              <a:t>(</a:t>
            </a:r>
            <a:r>
              <a:rPr lang="zh-CN" altLang="en-US" dirty="0"/>
              <a:t>读后续写之后悔心理描写</a:t>
            </a:r>
            <a:r>
              <a:rPr lang="en-US" altLang="zh-CN" dirty="0"/>
              <a:t>)Jane didn’t let out a cry of regret until she got lost in the forest.</a:t>
            </a:r>
          </a:p>
          <a:p>
            <a:r>
              <a:rPr lang="en-US" altLang="zh-CN" dirty="0"/>
              <a:t>→________________________________________________________ a cry of regret.(</a:t>
            </a:r>
            <a:r>
              <a:rPr lang="zh-CN" altLang="en-US" dirty="0"/>
              <a:t>强调句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→________________________________________________________ a cry of regret.(</a:t>
            </a:r>
            <a:r>
              <a:rPr lang="zh-CN" altLang="en-US" dirty="0"/>
              <a:t>倒装句</a:t>
            </a:r>
            <a:r>
              <a:rPr lang="en-US" altLang="zh-CN" dirty="0"/>
              <a:t>)</a:t>
            </a:r>
          </a:p>
        </p:txBody>
      </p:sp>
      <p:sp>
        <p:nvSpPr>
          <p:cNvPr id="11" name="矩形 10"/>
          <p:cNvSpPr/>
          <p:nvPr/>
        </p:nvSpPr>
        <p:spPr>
          <a:xfrm>
            <a:off x="3419872" y="836712"/>
            <a:ext cx="27760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who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55976" y="1628800"/>
            <a:ext cx="27183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makes</a:t>
            </a:r>
          </a:p>
        </p:txBody>
      </p:sp>
      <p:sp>
        <p:nvSpPr>
          <p:cNvPr id="16" name="矩形 15"/>
          <p:cNvSpPr/>
          <p:nvPr/>
        </p:nvSpPr>
        <p:spPr>
          <a:xfrm>
            <a:off x="467544" y="2852835"/>
            <a:ext cx="87849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It was not until she got lost in the forest that Jane let out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43608" y="3791596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Not until she got lost in the forest did Jane let out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0" y="5229200"/>
            <a:ext cx="8964995" cy="140602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10000"/>
              </a:lnSpc>
              <a:defRPr sz="2600" kern="1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defRPr>
            </a:lvl1pPr>
          </a:lstStyle>
          <a:p>
            <a:r>
              <a:rPr lang="zh-CN" altLang="en-US" dirty="0"/>
              <a:t>判断句子是否为强调句型的方法</a:t>
            </a:r>
            <a:r>
              <a:rPr lang="en-US" altLang="zh-CN" dirty="0"/>
              <a:t>:</a:t>
            </a: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去掉</a:t>
            </a:r>
            <a:r>
              <a:rPr lang="en-US" altLang="zh-CN" dirty="0">
                <a:solidFill>
                  <a:srgbClr val="FF0000"/>
                </a:solidFill>
              </a:rPr>
              <a:t>it is 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that/who </a:t>
            </a:r>
            <a:r>
              <a:rPr lang="zh-CN" altLang="en-US" dirty="0">
                <a:solidFill>
                  <a:srgbClr val="FF0000"/>
                </a:solidFill>
              </a:rPr>
              <a:t>后，剩余部分若结构完整，则为强调句型</a:t>
            </a:r>
            <a:r>
              <a:rPr lang="zh-CN" altLang="en-US" dirty="0"/>
              <a:t>，否则就不是。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17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809" y="21602"/>
            <a:ext cx="9129191" cy="1507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30.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if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enough, she returned to the Rio Olympics and won a silver medal in 2016, just two years after giving birth to her first child.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461" y="1556792"/>
            <a:ext cx="9125539" cy="1629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if</a:t>
            </a:r>
            <a:r>
              <a:rPr lang="zh-CN" altLang="zh-CN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引导的方式状语从句或表语从句，有时使用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虚拟语气</a:t>
            </a: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6096E6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与现在事实相反</a:t>
            </a: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，谓语用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过去式</a:t>
            </a:r>
            <a:r>
              <a:rPr lang="en-US" altLang="zh-CN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</a:t>
            </a: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的过去式用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en-US" altLang="zh-CN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b="1" dirty="0">
              <a:solidFill>
                <a:srgbClr val="6096E6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与过去事实相反</a:t>
            </a: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，谓语用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过去完成时</a:t>
            </a:r>
            <a:r>
              <a:rPr lang="zh-CN" altLang="en-US" sz="2800" b="1" dirty="0">
                <a:solidFill>
                  <a:srgbClr val="6096E6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solidFill>
                <a:srgbClr val="6096E6">
                  <a:lumMod val="7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3717032"/>
            <a:ext cx="9144000" cy="1257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 treat the old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were your parents.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 behaved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 had happened.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148814"/>
            <a:ext cx="9144000" cy="1709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如果从句所述情况是事实或可能为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事实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也可用陈述语气。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looks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if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going to rain.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9503" y="763212"/>
            <a:ext cx="8910990" cy="655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1.</a:t>
            </a:r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［</a:t>
            </a:r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2021·</a:t>
            </a:r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全国乙卷］</a:t>
            </a:r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The researchers examined various levels of noise on ____________(participate) as they completed tests of creative thinking.</a:t>
            </a: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2. We need to work harder to remain _______________(compete) with other companies. </a:t>
            </a: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3. _________(face) with a difficult situation</a:t>
            </a:r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Arnold decided to ask his boss for advice. </a:t>
            </a: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4. It has been ________________(demonstrate) that this drug is effective. </a:t>
            </a:r>
            <a:endParaRPr lang="zh-CN" altLang="en-US" sz="2800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5. He outlined his plans and then proceeded ____________(explain) them in more detail. </a:t>
            </a: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6. Her speech was so wonderful that she ________________(applaud) for a full five minutes after it. </a:t>
            </a:r>
          </a:p>
          <a:p>
            <a:pPr indent="360045"/>
            <a:endParaRPr lang="en-US" altLang="zh-CN" sz="2800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3528" y="2348880"/>
            <a:ext cx="3045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competitive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99592" y="2924944"/>
            <a:ext cx="27333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Faced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15816" y="3717032"/>
            <a:ext cx="32943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demonstrated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10552"/>
            <a:ext cx="7524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spc="50" dirty="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Instant Feedback</a:t>
            </a:r>
          </a:p>
        </p:txBody>
      </p:sp>
      <p:sp>
        <p:nvSpPr>
          <p:cNvPr id="10" name="矩形 9"/>
          <p:cNvSpPr/>
          <p:nvPr/>
        </p:nvSpPr>
        <p:spPr>
          <a:xfrm>
            <a:off x="179512" y="5013176"/>
            <a:ext cx="24664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to explain 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83968" y="1196752"/>
            <a:ext cx="34069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participants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9512" y="5805264"/>
            <a:ext cx="40864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was applauded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0" grpId="0"/>
      <p:bldP spid="12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9503" y="763211"/>
            <a:ext cx="8910990" cy="526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1. _______________________________________________ I first came across my new neighbors. </a:t>
            </a:r>
          </a:p>
          <a:p>
            <a:pPr indent="360045"/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是在我回到我的公寓时，我第一次遇到我的新邻居。</a:t>
            </a:r>
            <a:endParaRPr lang="en-US" altLang="zh-CN" sz="2800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2. ____________________________</a:t>
            </a:r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lights on top of tall buildings look like stars in the sky. </a:t>
            </a:r>
          </a:p>
          <a:p>
            <a:pPr indent="360045"/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在漆黑的夜晚，高楼顶上的灯光看起来就像天上的星星。</a:t>
            </a:r>
            <a:endParaRPr lang="en-US" altLang="zh-CN" sz="2800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360045"/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3. By the time she left college</a:t>
            </a:r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she _________________________________. </a:t>
            </a:r>
          </a:p>
          <a:p>
            <a:pPr indent="360045"/>
            <a:r>
              <a:rPr lang="zh-CN" altLang="en-US" sz="2800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到她大学毕业的时候，她已经是一个优秀的学生了。</a:t>
            </a:r>
          </a:p>
          <a:p>
            <a:pPr indent="360045"/>
            <a:endParaRPr lang="zh-CN" altLang="en-US" sz="2800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10552"/>
            <a:ext cx="6444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spc="50" dirty="0">
                <a:ln w="0"/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Instant Feedback</a:t>
            </a:r>
          </a:p>
        </p:txBody>
      </p:sp>
      <p:sp>
        <p:nvSpPr>
          <p:cNvPr id="13" name="矩形 12"/>
          <p:cNvSpPr/>
          <p:nvPr/>
        </p:nvSpPr>
        <p:spPr>
          <a:xfrm>
            <a:off x="971600" y="672018"/>
            <a:ext cx="79067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It was when I got back to my apartment that 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99007" y="2015262"/>
            <a:ext cx="531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Seen in the dark night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6784" y="4149080"/>
            <a:ext cx="59046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had been an excellent student</a:t>
            </a:r>
            <a:endParaRPr lang="zh-CN" altLang="en-US" sz="2800" b="1" kern="100" dirty="0">
              <a:solidFill>
                <a:srgbClr val="FF0000"/>
              </a:solidFill>
              <a:latin typeface="等线 Light" panose="02010600030101010101" pitchFamily="2" charset="-122"/>
              <a:ea typeface="等线 Light" panose="02010600030101010101" pitchFamily="2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143500"/>
          </a:xfrm>
        </p:spPr>
        <p:txBody>
          <a:bodyPr>
            <a:noAutofit/>
          </a:bodyPr>
          <a:lstStyle/>
          <a:p>
            <a:pPr algn="ctr"/>
            <a:r>
              <a:rPr lang="zh-CN" altLang="en-US" sz="2250" b="1" dirty="0">
                <a:solidFill>
                  <a:srgbClr val="FF0000"/>
                </a:solidFill>
              </a:rPr>
              <a:t>奥运会</a:t>
            </a:r>
          </a:p>
          <a:p>
            <a:r>
              <a:rPr lang="en-US" altLang="zh-CN" sz="2250" b="1" dirty="0">
                <a:solidFill>
                  <a:schemeClr val="tx1"/>
                </a:solidFill>
              </a:rPr>
              <a:t>      </a:t>
            </a:r>
            <a:r>
              <a:rPr lang="zh-CN" altLang="en-US" sz="2250" b="1" dirty="0">
                <a:solidFill>
                  <a:srgbClr val="FF0000"/>
                </a:solidFill>
              </a:rPr>
              <a:t>每过四年</a:t>
            </a:r>
            <a:r>
              <a:rPr lang="zh-CN" altLang="en-US" sz="2250" b="1" dirty="0">
                <a:solidFill>
                  <a:schemeClr val="tx1"/>
                </a:solidFill>
              </a:rPr>
              <a:t>，成千上万名</a:t>
            </a:r>
            <a:r>
              <a:rPr lang="zh-CN" altLang="en-US" sz="2250" b="1" dirty="0">
                <a:solidFill>
                  <a:srgbClr val="FF0000"/>
                </a:solidFill>
              </a:rPr>
              <a:t>训练有素、天赋过人的运动员</a:t>
            </a:r>
            <a:r>
              <a:rPr lang="zh-CN" altLang="en-US" sz="2250" b="1" dirty="0">
                <a:solidFill>
                  <a:schemeClr val="tx1"/>
                </a:solidFill>
              </a:rPr>
              <a:t>，</a:t>
            </a:r>
            <a:r>
              <a:rPr lang="zh-CN" altLang="en-US" sz="2250" b="1" dirty="0">
                <a:solidFill>
                  <a:srgbClr val="FF0000"/>
                </a:solidFill>
              </a:rPr>
              <a:t>本着友谊、团结和公平竞争的精神聚集</a:t>
            </a:r>
            <a:r>
              <a:rPr lang="zh-CN" altLang="en-US" sz="2250" b="1" dirty="0">
                <a:solidFill>
                  <a:schemeClr val="tx1"/>
                </a:solidFill>
              </a:rPr>
              <a:t>在一起准备互相较量，</a:t>
            </a:r>
            <a:r>
              <a:rPr lang="zh-CN" altLang="en-US" sz="2250" b="1" dirty="0">
                <a:solidFill>
                  <a:srgbClr val="FF0000"/>
                </a:solidFill>
              </a:rPr>
              <a:t>希望</a:t>
            </a:r>
            <a:r>
              <a:rPr lang="zh-CN" altLang="en-US" sz="2250" b="1" dirty="0">
                <a:solidFill>
                  <a:schemeClr val="tx1"/>
                </a:solidFill>
              </a:rPr>
              <a:t>能</a:t>
            </a:r>
            <a:r>
              <a:rPr lang="zh-CN" altLang="en-US" sz="2250" b="1" dirty="0">
                <a:solidFill>
                  <a:srgbClr val="FF0000"/>
                </a:solidFill>
              </a:rPr>
              <a:t>成为举世公认的顶尖选手</a:t>
            </a:r>
            <a:r>
              <a:rPr lang="zh-CN" altLang="en-US" sz="2250" b="1" dirty="0">
                <a:solidFill>
                  <a:schemeClr val="tx1"/>
                </a:solidFill>
              </a:rPr>
              <a:t>。这就是奥运会</a:t>
            </a:r>
            <a:r>
              <a:rPr lang="en-US" altLang="zh-CN" sz="2250" b="1" dirty="0">
                <a:solidFill>
                  <a:schemeClr val="tx1"/>
                </a:solidFill>
              </a:rPr>
              <a:t>—</a:t>
            </a:r>
            <a:r>
              <a:rPr lang="zh-CN" altLang="en-US" sz="2250" b="1" dirty="0">
                <a:solidFill>
                  <a:schemeClr val="tx1"/>
                </a:solidFill>
              </a:rPr>
              <a:t>一场可以追溯到约</a:t>
            </a:r>
            <a:r>
              <a:rPr lang="en-US" altLang="zh-CN" sz="2250" b="1" dirty="0">
                <a:solidFill>
                  <a:schemeClr val="tx1"/>
                </a:solidFill>
              </a:rPr>
              <a:t>3000</a:t>
            </a:r>
            <a:r>
              <a:rPr lang="zh-CN" altLang="en-US" sz="2250" b="1" dirty="0">
                <a:solidFill>
                  <a:schemeClr val="tx1"/>
                </a:solidFill>
              </a:rPr>
              <a:t>年前的非凡的体育赛事。</a:t>
            </a:r>
          </a:p>
          <a:p>
            <a:r>
              <a:rPr lang="en-US" altLang="zh-CN" sz="2250" b="1" dirty="0">
                <a:solidFill>
                  <a:srgbClr val="FF0000"/>
                </a:solidFill>
              </a:rPr>
              <a:t>History of the Olympic Games</a:t>
            </a:r>
            <a:endParaRPr lang="zh-CN" altLang="en-US" sz="2250" b="1" dirty="0">
              <a:solidFill>
                <a:srgbClr val="FF0000"/>
              </a:solidFill>
            </a:endParaRPr>
          </a:p>
          <a:p>
            <a:r>
              <a:rPr lang="en-US" altLang="zh-CN" sz="2250" b="1" dirty="0">
                <a:solidFill>
                  <a:schemeClr val="tx1"/>
                </a:solidFill>
              </a:rPr>
              <a:t>      </a:t>
            </a:r>
            <a:r>
              <a:rPr lang="zh-CN" altLang="en-US" sz="2250" b="1" dirty="0">
                <a:solidFill>
                  <a:schemeClr val="tx1"/>
                </a:solidFill>
              </a:rPr>
              <a:t>古代奥林匹克运动会始于公元前</a:t>
            </a:r>
            <a:r>
              <a:rPr lang="en-US" altLang="zh-CN" sz="2250" b="1" dirty="0">
                <a:solidFill>
                  <a:schemeClr val="tx1"/>
                </a:solidFill>
              </a:rPr>
              <a:t>776</a:t>
            </a:r>
            <a:r>
              <a:rPr lang="zh-CN" altLang="en-US" sz="2250" b="1" dirty="0">
                <a:solidFill>
                  <a:schemeClr val="tx1"/>
                </a:solidFill>
              </a:rPr>
              <a:t>年。早期的奥运会只</a:t>
            </a:r>
            <a:r>
              <a:rPr lang="zh-CN" altLang="en-US" sz="2250" b="1" dirty="0">
                <a:solidFill>
                  <a:srgbClr val="FF0000"/>
                </a:solidFill>
              </a:rPr>
              <a:t>允许</a:t>
            </a:r>
            <a:r>
              <a:rPr lang="zh-CN" altLang="en-US" sz="2250" b="1" dirty="0">
                <a:solidFill>
                  <a:schemeClr val="tx1"/>
                </a:solidFill>
              </a:rPr>
              <a:t>希腊男性</a:t>
            </a:r>
            <a:r>
              <a:rPr lang="zh-CN" altLang="en-US" sz="2250" b="1" dirty="0">
                <a:solidFill>
                  <a:srgbClr val="FF0000"/>
                </a:solidFill>
              </a:rPr>
              <a:t>参赛</a:t>
            </a:r>
            <a:r>
              <a:rPr lang="zh-CN" altLang="en-US" sz="2250" b="1" dirty="0">
                <a:solidFill>
                  <a:schemeClr val="tx1"/>
                </a:solidFill>
              </a:rPr>
              <a:t>。他们的</a:t>
            </a:r>
            <a:r>
              <a:rPr lang="zh-CN" altLang="en-US" sz="2250" b="1" dirty="0">
                <a:solidFill>
                  <a:srgbClr val="FF0000"/>
                </a:solidFill>
              </a:rPr>
              <a:t>竞赛</a:t>
            </a:r>
            <a:r>
              <a:rPr lang="zh-CN" altLang="en-US" sz="2250" b="1" dirty="0">
                <a:solidFill>
                  <a:schemeClr val="tx1"/>
                </a:solidFill>
              </a:rPr>
              <a:t>项目包括拳击、赛跑和跳远。古代奥林匹克运动会每四年在希腊的奥林匹亚举办，持续了近</a:t>
            </a:r>
            <a:r>
              <a:rPr lang="en-US" altLang="zh-CN" sz="2250" b="1" dirty="0">
                <a:solidFill>
                  <a:schemeClr val="tx1"/>
                </a:solidFill>
              </a:rPr>
              <a:t>12</a:t>
            </a:r>
            <a:r>
              <a:rPr lang="zh-CN" altLang="en-US" sz="2250" b="1" dirty="0">
                <a:solidFill>
                  <a:schemeClr val="tx1"/>
                </a:solidFill>
              </a:rPr>
              <a:t>个世纪，直到公元</a:t>
            </a:r>
            <a:r>
              <a:rPr lang="en-US" altLang="zh-CN" sz="2250" b="1" dirty="0">
                <a:solidFill>
                  <a:schemeClr val="tx1"/>
                </a:solidFill>
              </a:rPr>
              <a:t>393</a:t>
            </a:r>
            <a:r>
              <a:rPr lang="zh-CN" altLang="en-US" sz="2250" b="1" dirty="0">
                <a:solidFill>
                  <a:schemeClr val="tx1"/>
                </a:solidFill>
              </a:rPr>
              <a:t>年前后才最终</a:t>
            </a:r>
            <a:r>
              <a:rPr lang="zh-CN" altLang="en-US" sz="2250" b="1" dirty="0">
                <a:solidFill>
                  <a:srgbClr val="FF0000"/>
                </a:solidFill>
              </a:rPr>
              <a:t>停办</a:t>
            </a:r>
            <a:r>
              <a:rPr lang="zh-CN" altLang="en-US" sz="2250" b="1" dirty="0">
                <a:solidFill>
                  <a:schemeClr val="tx1"/>
                </a:solidFill>
              </a:rPr>
              <a:t>。</a:t>
            </a:r>
          </a:p>
          <a:p>
            <a:r>
              <a:rPr lang="en-US" altLang="zh-CN" sz="2250" b="1" dirty="0">
                <a:solidFill>
                  <a:schemeClr val="tx1"/>
                </a:solidFill>
              </a:rPr>
              <a:t>      </a:t>
            </a:r>
            <a:r>
              <a:rPr lang="zh-CN" altLang="en-US" sz="2250" b="1" dirty="0">
                <a:solidFill>
                  <a:schemeClr val="tx1"/>
                </a:solidFill>
              </a:rPr>
              <a:t>然而</a:t>
            </a:r>
            <a:r>
              <a:rPr lang="en-US" altLang="zh-CN" sz="2250" b="1" dirty="0">
                <a:solidFill>
                  <a:schemeClr val="tx1"/>
                </a:solidFill>
              </a:rPr>
              <a:t>1500</a:t>
            </a:r>
            <a:r>
              <a:rPr lang="zh-CN" altLang="en-US" sz="2250" b="1" dirty="0">
                <a:solidFill>
                  <a:schemeClr val="tx1"/>
                </a:solidFill>
              </a:rPr>
              <a:t>多年后，奥运会旧火重燃。</a:t>
            </a:r>
            <a:r>
              <a:rPr lang="en-US" altLang="zh-CN" sz="2250" b="1" dirty="0">
                <a:solidFill>
                  <a:schemeClr val="tx1"/>
                </a:solidFill>
              </a:rPr>
              <a:t>1896</a:t>
            </a:r>
            <a:r>
              <a:rPr lang="zh-CN" altLang="en-US" sz="2250" b="1" dirty="0">
                <a:solidFill>
                  <a:schemeClr val="tx1"/>
                </a:solidFill>
              </a:rPr>
              <a:t>年，第一届现代奥运会在雅典举办。一位名叫皮埃尔</a:t>
            </a:r>
            <a:r>
              <a:rPr lang="en-US" altLang="zh-CN" sz="2250" b="1" dirty="0">
                <a:solidFill>
                  <a:schemeClr val="tx1"/>
                </a:solidFill>
              </a:rPr>
              <a:t>•</a:t>
            </a:r>
            <a:r>
              <a:rPr lang="zh-CN" altLang="en-US" sz="2250" b="1" dirty="0">
                <a:solidFill>
                  <a:schemeClr val="tx1"/>
                </a:solidFill>
              </a:rPr>
              <a:t>德</a:t>
            </a:r>
            <a:r>
              <a:rPr lang="en-US" altLang="zh-CN" sz="2250" b="1" dirty="0">
                <a:solidFill>
                  <a:schemeClr val="tx1"/>
                </a:solidFill>
              </a:rPr>
              <a:t>•</a:t>
            </a:r>
            <a:r>
              <a:rPr lang="zh-CN" altLang="en-US" sz="2250" b="1" dirty="0">
                <a:solidFill>
                  <a:schemeClr val="tx1"/>
                </a:solidFill>
              </a:rPr>
              <a:t>顾拜旦的法国人</a:t>
            </a:r>
            <a:r>
              <a:rPr lang="zh-CN" altLang="en-US" sz="2250" b="1" dirty="0">
                <a:solidFill>
                  <a:srgbClr val="FF0000"/>
                </a:solidFill>
              </a:rPr>
              <a:t>使奥运会重获生机</a:t>
            </a:r>
            <a:r>
              <a:rPr lang="zh-CN" altLang="en-US" sz="2250" b="1" dirty="0">
                <a:solidFill>
                  <a:schemeClr val="tx1"/>
                </a:solidFill>
              </a:rPr>
              <a:t>。他的梦想是借助奥运会让</a:t>
            </a:r>
            <a:r>
              <a:rPr lang="zh-CN" altLang="en-US" sz="2250" b="1" dirty="0">
                <a:solidFill>
                  <a:srgbClr val="FF0000"/>
                </a:solidFill>
              </a:rPr>
              <a:t>不同种族</a:t>
            </a:r>
            <a:r>
              <a:rPr lang="zh-CN" altLang="en-US" sz="2250" b="1" dirty="0">
                <a:solidFill>
                  <a:schemeClr val="tx1"/>
                </a:solidFill>
              </a:rPr>
              <a:t>、不同文化的人们</a:t>
            </a:r>
            <a:r>
              <a:rPr lang="zh-CN" altLang="en-US" sz="2250" b="1" dirty="0">
                <a:solidFill>
                  <a:srgbClr val="FF0000"/>
                </a:solidFill>
              </a:rPr>
              <a:t>和平地生活在一起</a:t>
            </a:r>
            <a:r>
              <a:rPr lang="zh-CN" altLang="en-US" sz="2250" b="1" dirty="0">
                <a:solidFill>
                  <a:schemeClr val="tx1"/>
                </a:solidFill>
              </a:rPr>
              <a:t>。一个多世纪以来，来自</a:t>
            </a:r>
            <a:r>
              <a:rPr lang="zh-CN" altLang="en-US" sz="2250" b="1" dirty="0">
                <a:solidFill>
                  <a:srgbClr val="FF0000"/>
                </a:solidFill>
              </a:rPr>
              <a:t>不同背景</a:t>
            </a:r>
            <a:r>
              <a:rPr lang="zh-CN" altLang="en-US" sz="2250" b="1" dirty="0">
                <a:solidFill>
                  <a:schemeClr val="tx1"/>
                </a:solidFill>
              </a:rPr>
              <a:t>的人们</a:t>
            </a:r>
            <a:r>
              <a:rPr lang="zh-CN" altLang="en-US" sz="2250" b="1" dirty="0">
                <a:solidFill>
                  <a:srgbClr val="FF0000"/>
                </a:solidFill>
              </a:rPr>
              <a:t>共同努力</a:t>
            </a:r>
            <a:r>
              <a:rPr lang="zh-CN" altLang="en-US" sz="2250" b="1" dirty="0">
                <a:solidFill>
                  <a:schemeClr val="tx1"/>
                </a:solidFill>
              </a:rPr>
              <a:t>，帮助实现顾拜旦的梦想。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143500"/>
          </a:xfrm>
        </p:spPr>
        <p:txBody>
          <a:bodyPr>
            <a:normAutofit fontScale="70000"/>
          </a:bodyPr>
          <a:lstStyle/>
          <a:p>
            <a:r>
              <a:rPr lang="en-US" altLang="zh-CN" sz="2700" b="1" dirty="0">
                <a:solidFill>
                  <a:srgbClr val="FF0000"/>
                </a:solidFill>
                <a:sym typeface="+mn-ea"/>
              </a:rPr>
              <a:t>Well-known Olympians/ Olympic athletes</a:t>
            </a:r>
            <a:endParaRPr lang="zh-CN" altLang="en-US" sz="2700" b="1" dirty="0">
              <a:solidFill>
                <a:srgbClr val="FF0000"/>
              </a:solidFill>
              <a:sym typeface="+mn-ea"/>
            </a:endParaRPr>
          </a:p>
          <a:p>
            <a:r>
              <a:rPr lang="en-US" altLang="zh-CN" sz="2700" b="1" dirty="0">
                <a:sym typeface="+mn-ea"/>
              </a:rPr>
              <a:t>      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在</a:t>
            </a:r>
            <a:r>
              <a:rPr lang="zh-CN" altLang="en-US" sz="2700" b="1" dirty="0">
                <a:sym typeface="+mn-ea"/>
              </a:rPr>
              <a:t>原先的</a:t>
            </a:r>
            <a:r>
              <a:rPr lang="zh-CN" altLang="en-US" sz="2700" b="1" u="sng" dirty="0">
                <a:sym typeface="+mn-ea"/>
              </a:rPr>
              <a:t>奥运口号</a:t>
            </a:r>
            <a:r>
              <a:rPr lang="en-US" altLang="zh-CN" sz="2700" b="1" u="sng" dirty="0">
                <a:sym typeface="+mn-ea"/>
              </a:rPr>
              <a:t>“</a:t>
            </a:r>
            <a:r>
              <a:rPr lang="zh-CN" altLang="en-US" sz="2700" b="1" u="sng" dirty="0">
                <a:sym typeface="+mn-ea"/>
              </a:rPr>
              <a:t>更快、更高、更强</a:t>
            </a:r>
            <a:r>
              <a:rPr lang="en-US" altLang="zh-CN" sz="2700" b="1" dirty="0">
                <a:sym typeface="+mn-ea"/>
              </a:rPr>
              <a:t>”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的激励下</a:t>
            </a:r>
            <a:r>
              <a:rPr lang="zh-CN" altLang="en-US" sz="2700" b="1" dirty="0">
                <a:sym typeface="+mn-ea"/>
              </a:rPr>
              <a:t>，许多知名的男女运动员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力争取得卓越的体育成绩</a:t>
            </a:r>
            <a:r>
              <a:rPr lang="zh-CN" altLang="en-US" sz="2700" b="1" dirty="0">
                <a:sym typeface="+mn-ea"/>
              </a:rPr>
              <a:t>并不断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突破人类成就的极限</a:t>
            </a:r>
            <a:r>
              <a:rPr lang="zh-CN" altLang="en-US" sz="2700" b="1" dirty="0">
                <a:sym typeface="+mn-ea"/>
              </a:rPr>
              <a:t>。拳击手卡修斯</a:t>
            </a:r>
            <a:r>
              <a:rPr lang="en-US" altLang="zh-CN" sz="2700" b="1" dirty="0">
                <a:sym typeface="+mn-ea"/>
              </a:rPr>
              <a:t>•</a:t>
            </a:r>
            <a:r>
              <a:rPr lang="zh-CN" altLang="en-US" sz="2700" b="1" dirty="0">
                <a:sym typeface="+mn-ea"/>
              </a:rPr>
              <a:t>克莱就是这样一名奥运会选手。他在</a:t>
            </a:r>
            <a:r>
              <a:rPr lang="en-US" altLang="zh-CN" sz="2700" b="1" dirty="0">
                <a:sym typeface="+mn-ea"/>
              </a:rPr>
              <a:t>1960</a:t>
            </a:r>
            <a:r>
              <a:rPr lang="zh-CN" altLang="en-US" sz="2700" b="1" dirty="0">
                <a:sym typeface="+mn-ea"/>
              </a:rPr>
              <a:t>年罗马奥运会上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引起了公众的关注</a:t>
            </a:r>
            <a:r>
              <a:rPr lang="zh-CN" altLang="en-US" sz="2700" b="1" dirty="0">
                <a:sym typeface="+mn-ea"/>
              </a:rPr>
              <a:t>。当时，他为美国赢得了轻重量级拳击金牌，并在比赛过程中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展现了极高的天赋和优秀的品格</a:t>
            </a:r>
            <a:r>
              <a:rPr lang="zh-CN" altLang="en-US" sz="2700" b="1" dirty="0">
                <a:sym typeface="+mn-ea"/>
              </a:rPr>
              <a:t>。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后来</a:t>
            </a:r>
            <a:r>
              <a:rPr lang="zh-CN" altLang="en-US" sz="2700" b="1" dirty="0">
                <a:sym typeface="+mn-ea"/>
              </a:rPr>
              <a:t>，这位年轻人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又</a:t>
            </a:r>
            <a:r>
              <a:rPr lang="zh-CN" altLang="en-US" sz="2700" b="1" dirty="0">
                <a:sym typeface="+mn-ea"/>
              </a:rPr>
              <a:t>在</a:t>
            </a:r>
            <a:r>
              <a:rPr lang="en-US" altLang="zh-CN" sz="2700" b="1" dirty="0">
                <a:sym typeface="+mn-ea"/>
              </a:rPr>
              <a:t>1964</a:t>
            </a:r>
            <a:r>
              <a:rPr lang="zh-CN" altLang="en-US" sz="2700" b="1" dirty="0">
                <a:sym typeface="+mn-ea"/>
              </a:rPr>
              <a:t>年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成为</a:t>
            </a:r>
            <a:r>
              <a:rPr lang="zh-CN" altLang="en-US" sz="2700" b="1" dirty="0">
                <a:sym typeface="+mn-ea"/>
              </a:rPr>
              <a:t>了世界重量级拳击冠军，之后将名字改成了我们耳熟能详的穆罕默德</a:t>
            </a:r>
            <a:r>
              <a:rPr lang="en-US" altLang="zh-CN" sz="2700" b="1" dirty="0">
                <a:sym typeface="+mn-ea"/>
              </a:rPr>
              <a:t>•</a:t>
            </a:r>
            <a:r>
              <a:rPr lang="zh-CN" altLang="en-US" sz="2700" b="1" dirty="0">
                <a:sym typeface="+mn-ea"/>
              </a:rPr>
              <a:t>阿里。</a:t>
            </a:r>
            <a:r>
              <a:rPr lang="en-US" altLang="zh-CN" sz="2700" b="1" dirty="0">
                <a:sym typeface="+mn-ea"/>
              </a:rPr>
              <a:t>1996</a:t>
            </a:r>
            <a:r>
              <a:rPr lang="zh-CN" altLang="en-US" sz="2700" b="1" dirty="0">
                <a:sym typeface="+mn-ea"/>
              </a:rPr>
              <a:t>年，他重返亚特兰大奥林匹克运动会，在开幕式上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点燃了奥运圣火</a:t>
            </a:r>
            <a:r>
              <a:rPr lang="zh-CN" altLang="en-US" sz="2700" b="1" dirty="0">
                <a:sym typeface="+mn-ea"/>
              </a:rPr>
              <a:t>。在</a:t>
            </a:r>
            <a:r>
              <a:rPr lang="en-US" altLang="zh-CN" sz="2700" b="1" dirty="0">
                <a:sym typeface="+mn-ea"/>
              </a:rPr>
              <a:t>2016</a:t>
            </a:r>
            <a:r>
              <a:rPr lang="zh-CN" altLang="en-US" sz="2700" b="1" dirty="0">
                <a:sym typeface="+mn-ea"/>
              </a:rPr>
              <a:t>年过世前，阿里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已被公认为有史以来</a:t>
            </a:r>
            <a:r>
              <a:rPr lang="zh-CN" altLang="en-US" sz="2700" b="1" dirty="0">
                <a:sym typeface="+mn-ea"/>
              </a:rPr>
              <a:t>最伟大的拳击手之一。</a:t>
            </a:r>
            <a:endParaRPr lang="zh-CN" altLang="en-US" sz="2700" b="1" dirty="0">
              <a:solidFill>
                <a:schemeClr val="tx1"/>
              </a:solidFill>
            </a:endParaRPr>
          </a:p>
          <a:p>
            <a:r>
              <a:rPr lang="en-US" altLang="zh-CN" sz="2700" b="1" dirty="0">
                <a:sym typeface="+mn-ea"/>
              </a:rPr>
              <a:t>      </a:t>
            </a:r>
            <a:r>
              <a:rPr lang="zh-CN" altLang="en-US" sz="2700" b="1" dirty="0">
                <a:sym typeface="+mn-ea"/>
              </a:rPr>
              <a:t>另一位值得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称赞</a:t>
            </a:r>
            <a:r>
              <a:rPr lang="zh-CN" altLang="en-US" sz="2700" b="1" dirty="0">
                <a:sym typeface="+mn-ea"/>
              </a:rPr>
              <a:t>的运动员是杰西卡</a:t>
            </a:r>
            <a:r>
              <a:rPr lang="en-US" altLang="zh-CN" sz="2700" b="1" dirty="0">
                <a:sym typeface="+mn-ea"/>
              </a:rPr>
              <a:t>•</a:t>
            </a:r>
            <a:r>
              <a:rPr lang="zh-CN" altLang="en-US" sz="2700" b="1" dirty="0">
                <a:sym typeface="+mn-ea"/>
              </a:rPr>
              <a:t>恩尼斯</a:t>
            </a:r>
            <a:r>
              <a:rPr lang="en-US" altLang="zh-CN" sz="2700" b="1" dirty="0">
                <a:sym typeface="+mn-ea"/>
              </a:rPr>
              <a:t>-</a:t>
            </a:r>
            <a:r>
              <a:rPr lang="zh-CN" altLang="en-US" sz="2700" b="1" dirty="0">
                <a:sym typeface="+mn-ea"/>
              </a:rPr>
              <a:t>希尔。她的故事为我们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出色地示范了</a:t>
            </a:r>
            <a:r>
              <a:rPr lang="zh-CN" altLang="en-US" sz="2700" b="1" dirty="0">
                <a:sym typeface="+mn-ea"/>
              </a:rPr>
              <a:t>如何通过勤奋和专注取得优异的体育成绩。作为一名英国的前田径运动员，</a:t>
            </a:r>
            <a:r>
              <a:rPr lang="en-US" altLang="zh-CN" sz="2700" b="1" dirty="0">
                <a:sym typeface="+mn-ea"/>
              </a:rPr>
              <a:t>2012</a:t>
            </a:r>
            <a:r>
              <a:rPr lang="zh-CN" altLang="en-US" sz="2700" b="1" dirty="0">
                <a:sym typeface="+mn-ea"/>
              </a:rPr>
              <a:t>年，她在自己的祖国赢得了一块奥运金牌。但是她仿佛认为那还不够，</a:t>
            </a:r>
            <a:r>
              <a:rPr lang="en-US" altLang="zh-CN" sz="2700" b="1" dirty="0">
                <a:sym typeface="+mn-ea"/>
              </a:rPr>
              <a:t>2016</a:t>
            </a:r>
            <a:r>
              <a:rPr lang="zh-CN" altLang="en-US" sz="2700" b="1" dirty="0">
                <a:sym typeface="+mn-ea"/>
              </a:rPr>
              <a:t>年，在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生下</a:t>
            </a:r>
            <a:r>
              <a:rPr lang="zh-CN" altLang="en-US" sz="2700" b="1" dirty="0">
                <a:sym typeface="+mn-ea"/>
              </a:rPr>
              <a:t>第一个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孩子</a:t>
            </a:r>
            <a:r>
              <a:rPr lang="zh-CN" altLang="en-US" sz="2700" b="1" dirty="0">
                <a:sym typeface="+mn-ea"/>
              </a:rPr>
              <a:t>仅仅两年后，她又重返奥运赛场并斩获一枚银牌。她在采访中透露，自己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维持良好表现</a:t>
            </a:r>
            <a:r>
              <a:rPr lang="zh-CN" altLang="en-US" sz="2700" b="1" dirty="0">
                <a:sym typeface="+mn-ea"/>
              </a:rPr>
              <a:t>的秘诀在于从不缺席训练。</a:t>
            </a:r>
            <a:endParaRPr lang="zh-CN" altLang="en-US" sz="2700" b="1" dirty="0">
              <a:solidFill>
                <a:schemeClr val="tx1"/>
              </a:solidFill>
            </a:endParaRPr>
          </a:p>
          <a:p>
            <a:endParaRPr lang="zh-CN" altLang="en-US" sz="27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57250"/>
            <a:ext cx="9144000" cy="5143500"/>
          </a:xfrm>
        </p:spPr>
        <p:txBody>
          <a:bodyPr>
            <a:normAutofit fontScale="90000" lnSpcReduction="20000"/>
          </a:bodyPr>
          <a:lstStyle/>
          <a:p>
            <a:r>
              <a:rPr lang="en-US" altLang="zh-CN" sz="2700" b="1" dirty="0">
                <a:solidFill>
                  <a:srgbClr val="FF0000"/>
                </a:solidFill>
                <a:sym typeface="+mn-ea"/>
              </a:rPr>
              <a:t>China and the Olympics/China’s contribution to the Olympics</a:t>
            </a:r>
            <a:endParaRPr lang="en-US" altLang="zh-CN" sz="2700" b="1" dirty="0">
              <a:sym typeface="+mn-ea"/>
            </a:endParaRPr>
          </a:p>
          <a:p>
            <a:r>
              <a:rPr lang="en-US" altLang="zh-CN" sz="2700" b="1" dirty="0">
                <a:sym typeface="+mn-ea"/>
              </a:rPr>
              <a:t>      2008</a:t>
            </a:r>
            <a:r>
              <a:rPr lang="zh-CN" altLang="en-US" sz="2700" b="1" dirty="0">
                <a:sym typeface="+mn-ea"/>
              </a:rPr>
              <a:t>年北京奥运会以</a:t>
            </a:r>
            <a:r>
              <a:rPr lang="en-US" altLang="zh-CN" sz="2700" b="1" dirty="0">
                <a:sym typeface="+mn-ea"/>
              </a:rPr>
              <a:t>“</a:t>
            </a:r>
            <a:r>
              <a:rPr lang="zh-CN" altLang="en-US" sz="2700" b="1" dirty="0">
                <a:sym typeface="+mn-ea"/>
              </a:rPr>
              <a:t>同一个世界，同一个梦想</a:t>
            </a:r>
            <a:r>
              <a:rPr lang="en-US" altLang="zh-CN" sz="2700" b="1" dirty="0">
                <a:sym typeface="+mn-ea"/>
              </a:rPr>
              <a:t>”</a:t>
            </a:r>
            <a:r>
              <a:rPr lang="zh-CN" altLang="en-US" sz="2700" b="1" dirty="0">
                <a:sym typeface="+mn-ea"/>
              </a:rPr>
              <a:t>为口号，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号召全世界共享奥运精神</a:t>
            </a:r>
            <a:r>
              <a:rPr lang="zh-CN" altLang="en-US" sz="2700" b="1" dirty="0">
                <a:sym typeface="+mn-ea"/>
              </a:rPr>
              <a:t>，为人类共建美好未来。中国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不仅是第一次举办奥运会</a:t>
            </a:r>
            <a:r>
              <a:rPr lang="zh-CN" altLang="en-US" sz="2700" b="1" dirty="0">
                <a:sym typeface="+mn-ea"/>
              </a:rPr>
              <a:t>，更是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在奖牌榜上位列第一</a:t>
            </a:r>
            <a:r>
              <a:rPr lang="zh-CN" altLang="en-US" sz="2700" b="1" dirty="0">
                <a:sym typeface="+mn-ea"/>
              </a:rPr>
              <a:t>。这份成功着实令人瞩目，考虑到仅仅</a:t>
            </a:r>
            <a:r>
              <a:rPr lang="en-US" altLang="zh-CN" sz="2700" b="1" dirty="0">
                <a:sym typeface="+mn-ea"/>
              </a:rPr>
              <a:t>24</a:t>
            </a:r>
            <a:r>
              <a:rPr lang="zh-CN" altLang="en-US" sz="2700" b="1" dirty="0">
                <a:sym typeface="+mn-ea"/>
              </a:rPr>
              <a:t>年前，许海峰才在</a:t>
            </a:r>
            <a:r>
              <a:rPr lang="en-US" altLang="zh-CN" sz="2700" b="1" dirty="0">
                <a:sym typeface="+mn-ea"/>
              </a:rPr>
              <a:t>1984</a:t>
            </a:r>
            <a:r>
              <a:rPr lang="zh-CN" altLang="en-US" sz="2700" b="1" dirty="0">
                <a:sym typeface="+mn-ea"/>
              </a:rPr>
              <a:t>年洛杉矶奥运会上为我们国家摘得了史上第一块金牌。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从那时起</a:t>
            </a:r>
            <a:r>
              <a:rPr lang="zh-CN" altLang="en-US" sz="2700" b="1" dirty="0">
                <a:sym typeface="+mn-ea"/>
              </a:rPr>
              <a:t>，中国体育的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上升势头</a:t>
            </a:r>
            <a:r>
              <a:rPr lang="zh-CN" altLang="en-US" sz="2700" b="1" dirty="0">
                <a:sym typeface="+mn-ea"/>
              </a:rPr>
              <a:t>就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不可阻挡</a:t>
            </a:r>
            <a:r>
              <a:rPr lang="zh-CN" altLang="en-US" sz="2700" b="1" dirty="0">
                <a:sym typeface="+mn-ea"/>
              </a:rPr>
              <a:t>了。</a:t>
            </a:r>
            <a:r>
              <a:rPr lang="en-US" altLang="zh-CN" sz="2700" b="1" dirty="0">
                <a:sym typeface="+mn-ea"/>
              </a:rPr>
              <a:t>2004</a:t>
            </a:r>
            <a:r>
              <a:rPr lang="zh-CN" altLang="en-US" sz="2700" b="1" dirty="0">
                <a:sym typeface="+mn-ea"/>
              </a:rPr>
              <a:t>年雅典奥林匹克运动会上，刘翔成为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第一位赢得</a:t>
            </a:r>
            <a:r>
              <a:rPr lang="zh-CN" altLang="en-US" sz="2700" b="1" dirty="0">
                <a:sym typeface="+mn-ea"/>
              </a:rPr>
              <a:t>男子</a:t>
            </a:r>
            <a:r>
              <a:rPr lang="en-US" altLang="zh-CN" sz="2700" b="1" dirty="0">
                <a:sym typeface="+mn-ea"/>
              </a:rPr>
              <a:t>110</a:t>
            </a:r>
            <a:r>
              <a:rPr lang="zh-CN" altLang="en-US" sz="2700" b="1" dirty="0">
                <a:sym typeface="+mn-ea"/>
              </a:rPr>
              <a:t>米跨栏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金牌的亚洲人</a:t>
            </a:r>
            <a:r>
              <a:rPr lang="zh-CN" altLang="en-US" sz="2700" b="1" dirty="0">
                <a:sym typeface="+mn-ea"/>
              </a:rPr>
              <a:t>，而在</a:t>
            </a:r>
            <a:r>
              <a:rPr lang="en-US" altLang="zh-CN" sz="2700" b="1" dirty="0">
                <a:sym typeface="+mn-ea"/>
              </a:rPr>
              <a:t>2016</a:t>
            </a:r>
            <a:r>
              <a:rPr lang="zh-CN" altLang="en-US" sz="2700" b="1" dirty="0">
                <a:sym typeface="+mn-ea"/>
              </a:rPr>
              <a:t>年里约热内卢奥林匹克运动会上，中国女子排球队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在决赛中艰苦作战取得了胜利</a:t>
            </a:r>
            <a:r>
              <a:rPr lang="zh-CN" altLang="en-US" sz="2700" b="1" dirty="0">
                <a:sym typeface="+mn-ea"/>
              </a:rPr>
              <a:t>。对于中国来说，又一个历史性的时刻是北京在</a:t>
            </a:r>
            <a:r>
              <a:rPr lang="en-US" altLang="zh-CN" sz="2700" b="1" dirty="0">
                <a:sym typeface="+mn-ea"/>
              </a:rPr>
              <a:t>2015</a:t>
            </a:r>
            <a:r>
              <a:rPr lang="zh-CN" altLang="en-US" sz="2700" b="1" dirty="0">
                <a:sym typeface="+mn-ea"/>
              </a:rPr>
              <a:t>年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赢得选举后</a:t>
            </a:r>
            <a:r>
              <a:rPr lang="zh-CN" altLang="en-US" sz="2700" b="1" dirty="0">
                <a:sym typeface="+mn-ea"/>
              </a:rPr>
              <a:t>成功举办了</a:t>
            </a:r>
            <a:r>
              <a:rPr lang="en-US" altLang="zh-CN" sz="2700" b="1" dirty="0">
                <a:sym typeface="+mn-ea"/>
              </a:rPr>
              <a:t>2022</a:t>
            </a:r>
            <a:r>
              <a:rPr lang="zh-CN" altLang="en-US" sz="2700" b="1" dirty="0">
                <a:sym typeface="+mn-ea"/>
              </a:rPr>
              <a:t>年冬季奥运会。</a:t>
            </a:r>
            <a:endParaRPr lang="zh-CN" altLang="en-US" sz="2700" b="1" dirty="0">
              <a:solidFill>
                <a:schemeClr val="tx1"/>
              </a:solidFill>
            </a:endParaRPr>
          </a:p>
          <a:p>
            <a:r>
              <a:rPr lang="en-US" altLang="zh-CN" sz="2700" b="1" dirty="0">
                <a:sym typeface="+mn-ea"/>
              </a:rPr>
              <a:t>      </a:t>
            </a:r>
            <a:r>
              <a:rPr lang="zh-CN" altLang="en-US" sz="2700" b="1" dirty="0">
                <a:sym typeface="+mn-ea"/>
              </a:rPr>
              <a:t>奥林匹克运动会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给全世界人民带来了喜悦和激动</a:t>
            </a:r>
            <a:r>
              <a:rPr lang="zh-CN" altLang="en-US" sz="2700" b="1" dirty="0">
                <a:sym typeface="+mn-ea"/>
              </a:rPr>
              <a:t>。正如顾拜旦所信奉的：</a:t>
            </a:r>
            <a:r>
              <a:rPr lang="en-US" altLang="zh-CN" sz="2700" b="1" dirty="0">
                <a:sym typeface="+mn-ea"/>
              </a:rPr>
              <a:t>“</a:t>
            </a:r>
            <a:r>
              <a:rPr lang="zh-CN" altLang="en-US" sz="2700" b="1" dirty="0">
                <a:sym typeface="+mn-ea"/>
              </a:rPr>
              <a:t>有了奥林匹克运动会，每一代人都能庆祝他们的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存在</a:t>
            </a:r>
            <a:r>
              <a:rPr lang="zh-CN" altLang="en-US" sz="2700" b="1" dirty="0">
                <a:sym typeface="+mn-ea"/>
              </a:rPr>
              <a:t>、他们生活的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喜悦</a:t>
            </a:r>
            <a:r>
              <a:rPr lang="zh-CN" altLang="en-US" sz="2700" b="1" dirty="0">
                <a:sym typeface="+mn-ea"/>
              </a:rPr>
              <a:t>、他们对未来的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信念</a:t>
            </a:r>
            <a:r>
              <a:rPr lang="zh-CN" altLang="en-US" sz="2700" b="1" dirty="0">
                <a:sym typeface="+mn-ea"/>
              </a:rPr>
              <a:t>、他们的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雄心</a:t>
            </a:r>
            <a:r>
              <a:rPr lang="zh-CN" altLang="en-US" sz="2700" b="1" dirty="0">
                <a:sym typeface="+mn-ea"/>
              </a:rPr>
              <a:t>，以及他们</a:t>
            </a:r>
            <a:r>
              <a:rPr lang="zh-CN" altLang="en-US" sz="2700" b="1" dirty="0">
                <a:solidFill>
                  <a:srgbClr val="FF0000"/>
                </a:solidFill>
                <a:sym typeface="+mn-ea"/>
              </a:rPr>
              <a:t>进取的决心</a:t>
            </a:r>
            <a:r>
              <a:rPr lang="zh-CN" altLang="en-US" sz="2700" b="1" dirty="0">
                <a:sym typeface="+mn-ea"/>
              </a:rPr>
              <a:t>。</a:t>
            </a:r>
            <a:endParaRPr lang="zh-CN" altLang="en-US" sz="2700" b="1" dirty="0">
              <a:solidFill>
                <a:srgbClr val="FF0000"/>
              </a:solidFill>
            </a:endParaRPr>
          </a:p>
          <a:p>
            <a:endParaRPr lang="zh-CN" altLang="en-US" sz="27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P23-27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kumimoji="1" lang="en-US" altLang="zh-CN" dirty="0"/>
              <a:t>31. </a:t>
            </a:r>
            <a:r>
              <a:rPr kumimoji="1" lang="en-US" altLang="zh-CN" b="1" dirty="0">
                <a:solidFill>
                  <a:srgbClr val="FF0000"/>
                </a:solidFill>
              </a:rPr>
              <a:t>walk on air </a:t>
            </a:r>
            <a:r>
              <a:rPr kumimoji="1" lang="zh-CN" altLang="en-US" b="1" dirty="0">
                <a:solidFill>
                  <a:srgbClr val="FF0000"/>
                </a:solidFill>
              </a:rPr>
              <a:t>欢天喜地</a:t>
            </a:r>
            <a:r>
              <a:rPr kumimoji="1" lang="en-US" altLang="zh-CN" b="1" dirty="0">
                <a:solidFill>
                  <a:srgbClr val="FF0000"/>
                </a:solidFill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</a:rPr>
              <a:t>得意扬扬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=be on cloud nine =over the moon</a:t>
            </a:r>
          </a:p>
          <a:p>
            <a:r>
              <a:rPr kumimoji="1" lang="en-US" altLang="zh-CN" b="1" u="sng" dirty="0">
                <a:solidFill>
                  <a:srgbClr val="FF0000"/>
                </a:solidFill>
              </a:rPr>
              <a:t>in</a:t>
            </a:r>
            <a:r>
              <a:rPr kumimoji="1" lang="en-US" altLang="zh-CN" b="1" dirty="0">
                <a:solidFill>
                  <a:srgbClr val="FF0000"/>
                </a:solidFill>
              </a:rPr>
              <a:t> the air</a:t>
            </a:r>
            <a:r>
              <a:rPr kumimoji="1" lang="zh-CN" altLang="en-US" b="1" dirty="0">
                <a:solidFill>
                  <a:srgbClr val="FF0000"/>
                </a:solidFill>
              </a:rPr>
              <a:t>在空气中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在传播中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u="sng" dirty="0">
                <a:solidFill>
                  <a:srgbClr val="FF0000"/>
                </a:solidFill>
              </a:rPr>
              <a:t>up in </a:t>
            </a:r>
            <a:r>
              <a:rPr kumimoji="1" lang="en-US" altLang="zh-CN" b="1" dirty="0">
                <a:solidFill>
                  <a:srgbClr val="FF0000"/>
                </a:solidFill>
              </a:rPr>
              <a:t>the air</a:t>
            </a:r>
            <a:r>
              <a:rPr kumimoji="1" lang="zh-CN" altLang="en-US" b="1" dirty="0">
                <a:solidFill>
                  <a:srgbClr val="FF0000"/>
                </a:solidFill>
              </a:rPr>
              <a:t>悬而未决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u="sng" dirty="0">
                <a:solidFill>
                  <a:srgbClr val="FF0000"/>
                </a:solidFill>
              </a:rPr>
              <a:t>on/off </a:t>
            </a:r>
            <a:r>
              <a:rPr kumimoji="1" lang="en-US" altLang="zh-CN" b="1" dirty="0">
                <a:solidFill>
                  <a:srgbClr val="FF0000"/>
                </a:solidFill>
              </a:rPr>
              <a:t>(the) air</a:t>
            </a:r>
            <a:r>
              <a:rPr kumimoji="1" lang="zh-CN" altLang="en-US" b="1" dirty="0">
                <a:solidFill>
                  <a:srgbClr val="FF0000"/>
                </a:solidFill>
              </a:rPr>
              <a:t>正在</a:t>
            </a:r>
            <a:r>
              <a:rPr kumimoji="1" lang="en-US" altLang="zh-CN" b="1" dirty="0">
                <a:solidFill>
                  <a:srgbClr val="FF0000"/>
                </a:solidFill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</a:rPr>
              <a:t>停止广播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put on airs</a:t>
            </a:r>
            <a:r>
              <a:rPr kumimoji="1" lang="zh-CN" altLang="en-US" b="1" dirty="0">
                <a:solidFill>
                  <a:srgbClr val="FF0000"/>
                </a:solidFill>
              </a:rPr>
              <a:t>摆架子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by air</a:t>
            </a:r>
            <a:r>
              <a:rPr kumimoji="1" lang="zh-CN" altLang="en-US" b="1" dirty="0">
                <a:solidFill>
                  <a:srgbClr val="FF0000"/>
                </a:solidFill>
              </a:rPr>
              <a:t>乘飞机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Most couples feel they are walking on air on their wedding day.</a:t>
            </a:r>
          </a:p>
          <a:p>
            <a:r>
              <a:rPr kumimoji="1" lang="en-US" altLang="zh-CN" dirty="0"/>
              <a:t>I</a:t>
            </a:r>
            <a:r>
              <a:rPr kumimoji="1" lang="zh-CN" altLang="en-US" dirty="0"/>
              <a:t> </a:t>
            </a:r>
            <a:r>
              <a:rPr kumimoji="1" lang="en-US" altLang="zh-CN" dirty="0"/>
              <a:t>smell violence in the air.</a:t>
            </a:r>
          </a:p>
          <a:p>
            <a:r>
              <a:rPr kumimoji="1" lang="en-US" altLang="zh-CN" dirty="0"/>
              <a:t>The fate of the power station is up in the air.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32. perspective </a:t>
            </a:r>
          </a:p>
          <a:p>
            <a:r>
              <a:rPr kumimoji="1" lang="zh-CN" altLang="zh-CN" b="1" dirty="0">
                <a:solidFill>
                  <a:srgbClr val="FF0000"/>
                </a:solidFill>
              </a:rPr>
              <a:t>1</a:t>
            </a:r>
            <a:r>
              <a:rPr kumimoji="1" lang="en-US" altLang="zh-CN" b="1" dirty="0">
                <a:solidFill>
                  <a:srgbClr val="FF0000"/>
                </a:solidFill>
              </a:rPr>
              <a:t>)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[u]</a:t>
            </a:r>
            <a:r>
              <a:rPr kumimoji="1" lang="zh-CN" altLang="en-US" b="1" dirty="0">
                <a:solidFill>
                  <a:srgbClr val="FF0000"/>
                </a:solidFill>
              </a:rPr>
              <a:t>客观判断力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权衡轻重的能力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keep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 in perspective</a:t>
            </a:r>
            <a:r>
              <a:rPr kumimoji="1" lang="zh-CN" altLang="en-US" b="1" dirty="0">
                <a:solidFill>
                  <a:srgbClr val="FF0000"/>
                </a:solidFill>
              </a:rPr>
              <a:t>正确客观地看待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Try to keep these issues in perspective.</a:t>
            </a:r>
            <a:r>
              <a:rPr kumimoji="1" lang="zh-CN" altLang="en-US" dirty="0"/>
              <a:t>要恰当地处理这些问题</a:t>
            </a:r>
            <a:endParaRPr kumimoji="1" lang="en-US" altLang="zh-CN" dirty="0"/>
          </a:p>
          <a:p>
            <a:r>
              <a:rPr kumimoji="1" lang="zh-CN" altLang="zh-CN" b="1" dirty="0">
                <a:solidFill>
                  <a:srgbClr val="FF0000"/>
                </a:solidFill>
              </a:rPr>
              <a:t>2</a:t>
            </a:r>
            <a:r>
              <a:rPr kumimoji="1" lang="en-US" altLang="zh-CN" b="1" dirty="0">
                <a:solidFill>
                  <a:srgbClr val="FF0000"/>
                </a:solidFill>
              </a:rPr>
              <a:t>) [c]</a:t>
            </a:r>
            <a:r>
              <a:rPr kumimoji="1" lang="zh-CN" altLang="en-US" b="1" dirty="0">
                <a:solidFill>
                  <a:srgbClr val="FF0000"/>
                </a:solidFill>
              </a:rPr>
              <a:t>态度</a:t>
            </a:r>
            <a:r>
              <a:rPr kumimoji="1" lang="en-US" altLang="zh-CN" b="1" dirty="0">
                <a:solidFill>
                  <a:srgbClr val="FF0000"/>
                </a:solidFill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</a:rPr>
              <a:t>观点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Try to see the issue </a:t>
            </a:r>
            <a:r>
              <a:rPr kumimoji="1" lang="en-US" altLang="zh-CN" b="1" dirty="0">
                <a:solidFill>
                  <a:srgbClr val="FF0000"/>
                </a:solidFill>
              </a:rPr>
              <a:t>from a different perspective.</a:t>
            </a:r>
            <a:r>
              <a:rPr kumimoji="1" lang="zh-CN" altLang="en-US" b="1" dirty="0">
                <a:solidFill>
                  <a:srgbClr val="FF0000"/>
                </a:solidFill>
              </a:rPr>
              <a:t>以不同的角度</a:t>
            </a:r>
            <a:r>
              <a:rPr kumimoji="1" lang="zh-CN" altLang="en-US" dirty="0"/>
              <a:t>看待这件事</a:t>
            </a:r>
            <a:endParaRPr kumimoji="1" lang="en-US" altLang="zh-CN" dirty="0"/>
          </a:p>
          <a:p>
            <a:r>
              <a:rPr kumimoji="1" lang="en-US" altLang="zh-CN" b="1" dirty="0"/>
              <a:t>3) [u]</a:t>
            </a:r>
            <a:r>
              <a:rPr kumimoji="1" lang="zh-CN" altLang="en-US" b="1" dirty="0">
                <a:solidFill>
                  <a:srgbClr val="FF0000"/>
                </a:solidFill>
              </a:rPr>
              <a:t>透视法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We learnt how to draw buildings in perspective.</a:t>
            </a:r>
          </a:p>
          <a:p>
            <a:r>
              <a:rPr kumimoji="1" lang="en-US" altLang="zh-CN" b="1" dirty="0"/>
              <a:t>4) [c]</a:t>
            </a:r>
            <a:r>
              <a:rPr kumimoji="1" lang="zh-CN" altLang="en-US" b="1" dirty="0"/>
              <a:t>景观</a:t>
            </a:r>
            <a:r>
              <a:rPr kumimoji="1" lang="en-US" altLang="zh-CN" b="1" dirty="0"/>
              <a:t>,</a:t>
            </a:r>
            <a:r>
              <a:rPr kumimoji="1" lang="zh-CN" altLang="en-US" b="1" dirty="0"/>
              <a:t>远景</a:t>
            </a:r>
            <a:endParaRPr kumimoji="1" lang="en-US" altLang="zh-CN" b="1" dirty="0"/>
          </a:p>
          <a:p>
            <a:r>
              <a:rPr kumimoji="1" lang="en-US" altLang="zh-CN" dirty="0"/>
              <a:t>A perspective of the whole valley</a:t>
            </a:r>
            <a:r>
              <a:rPr kumimoji="1" lang="zh-CN" altLang="en-US" dirty="0"/>
              <a:t>山谷全景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sz="3600" dirty="0"/>
              <a:t> </a:t>
            </a:r>
            <a:r>
              <a:rPr kumimoji="1" lang="zh-CN" altLang="en-US" sz="3600" dirty="0"/>
              <a:t>课堂本</a:t>
            </a:r>
            <a:endParaRPr kumimoji="1" lang="en-US" altLang="zh-CN" sz="3600" dirty="0"/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keep…in mind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记住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keep…in order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使井然有序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keep…in good health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保持健康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keep…under control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控制住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keep…at a distance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疏远</a:t>
            </a:r>
            <a:endParaRPr kumimoji="1"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33. celebrity [c]</a:t>
            </a:r>
            <a:r>
              <a:rPr kumimoji="1" lang="zh-CN" altLang="en-US" b="1" dirty="0">
                <a:solidFill>
                  <a:srgbClr val="FF0000"/>
                </a:solidFill>
              </a:rPr>
              <a:t>名人   </a:t>
            </a:r>
            <a:r>
              <a:rPr kumimoji="1" lang="en-US" altLang="zh-CN" b="1" dirty="0">
                <a:solidFill>
                  <a:srgbClr val="FF0000"/>
                </a:solidFill>
              </a:rPr>
              <a:t>celebrit</a:t>
            </a:r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ies </a:t>
            </a:r>
            <a:r>
              <a:rPr kumimoji="1" lang="en-US" altLang="zh-CN" b="1" dirty="0">
                <a:solidFill>
                  <a:srgbClr val="FF0000"/>
                </a:solidFill>
              </a:rPr>
              <a:t>pl.;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                      [u]</a:t>
            </a:r>
            <a:r>
              <a:rPr kumimoji="1" lang="zh-CN" altLang="en-US" b="1" dirty="0">
                <a:solidFill>
                  <a:srgbClr val="FF0000"/>
                </a:solidFill>
              </a:rPr>
              <a:t>名声</a:t>
            </a:r>
            <a:r>
              <a:rPr kumimoji="1" lang="en-US" altLang="zh-CN" b="1" dirty="0">
                <a:solidFill>
                  <a:srgbClr val="FF0000"/>
                </a:solidFill>
              </a:rPr>
              <a:t>   gain celebrity </a:t>
            </a:r>
            <a:r>
              <a:rPr kumimoji="1" lang="zh-CN" altLang="en-US" b="1" dirty="0">
                <a:solidFill>
                  <a:srgbClr val="FF0000"/>
                </a:solidFill>
              </a:rPr>
              <a:t>成名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34. opponent n.</a:t>
            </a:r>
            <a:r>
              <a:rPr kumimoji="1" lang="zh-CN" altLang="en-US" b="1" dirty="0">
                <a:solidFill>
                  <a:srgbClr val="FF0000"/>
                </a:solidFill>
              </a:rPr>
              <a:t>对手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反对者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/>
              <a:t>a political opponent</a:t>
            </a:r>
            <a:r>
              <a:rPr kumimoji="1" lang="zh-CN" altLang="en-US" b="1" dirty="0"/>
              <a:t>政敌</a:t>
            </a:r>
            <a:endParaRPr kumimoji="1" lang="en-US" altLang="zh-CN" b="1" dirty="0"/>
          </a:p>
          <a:p>
            <a:endParaRPr kumimoji="1" lang="en-US" altLang="zh-CN" b="1" dirty="0"/>
          </a:p>
          <a:p>
            <a:r>
              <a:rPr kumimoji="1" lang="en-US" altLang="zh-CN" b="1" dirty="0"/>
              <a:t>35. grace n.</a:t>
            </a:r>
            <a:r>
              <a:rPr kumimoji="1" lang="zh-CN" altLang="en-US" b="1" dirty="0"/>
              <a:t>优雅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大度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do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 with grace</a:t>
            </a:r>
            <a:r>
              <a:rPr kumimoji="1" lang="zh-CN" altLang="en-US" b="1" dirty="0">
                <a:solidFill>
                  <a:srgbClr val="FF0000"/>
                </a:solidFill>
              </a:rPr>
              <a:t>优雅地做某事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心甘情愿做某事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grace</a:t>
            </a:r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ful</a:t>
            </a:r>
            <a:r>
              <a:rPr kumimoji="1" lang="en-US" altLang="zh-CN" b="1" dirty="0">
                <a:solidFill>
                  <a:srgbClr val="FF0000"/>
                </a:solidFill>
              </a:rPr>
              <a:t> adj.</a:t>
            </a:r>
            <a:r>
              <a:rPr kumimoji="1" lang="zh-CN" altLang="en-US" b="1" dirty="0">
                <a:solidFill>
                  <a:srgbClr val="FF0000"/>
                </a:solidFill>
              </a:rPr>
              <a:t>优雅的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得体的</a:t>
            </a:r>
            <a:r>
              <a:rPr kumimoji="1" lang="en-US" altLang="zh-CN" b="1" dirty="0">
                <a:solidFill>
                  <a:srgbClr val="FF0000"/>
                </a:solidFill>
              </a:rPr>
              <a:t>  gracefully adv.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→disgrace n.</a:t>
            </a:r>
            <a:r>
              <a:rPr kumimoji="1" lang="zh-CN" altLang="zh-CN" b="1" dirty="0">
                <a:solidFill>
                  <a:srgbClr val="FF0000"/>
                </a:solidFill>
              </a:rPr>
              <a:t>丢脸，耻辱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en-US" altLang="zh-CN" b="1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b="1" dirty="0"/>
              <a:t>35. dignity n.</a:t>
            </a:r>
            <a:r>
              <a:rPr kumimoji="1" lang="zh-CN" altLang="en-US" b="1" dirty="0"/>
              <a:t>尊贵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高尚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庄重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自尊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preserve one’s dignity</a:t>
            </a:r>
            <a:r>
              <a:rPr kumimoji="1" lang="zh-CN" altLang="en-US" b="1" dirty="0">
                <a:solidFill>
                  <a:srgbClr val="FF0000"/>
                </a:solidFill>
              </a:rPr>
              <a:t>保持尊严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/>
              <a:t>The terminally ill should be allowed to die </a:t>
            </a:r>
            <a:r>
              <a:rPr kumimoji="1" lang="en-US" altLang="zh-CN" b="1" dirty="0">
                <a:solidFill>
                  <a:srgbClr val="FF0000"/>
                </a:solidFill>
              </a:rPr>
              <a:t>with dignity</a:t>
            </a:r>
            <a:r>
              <a:rPr kumimoji="1" lang="en-US" altLang="zh-CN" b="1" dirty="0"/>
              <a:t>.</a:t>
            </a:r>
            <a:r>
              <a:rPr kumimoji="1" lang="zh-CN" altLang="en-US" b="1" dirty="0"/>
              <a:t> 允许垂危病人死得</a:t>
            </a:r>
            <a:r>
              <a:rPr kumimoji="1" lang="zh-CN" altLang="en-US" b="1" dirty="0">
                <a:solidFill>
                  <a:srgbClr val="FF0000"/>
                </a:solidFill>
              </a:rPr>
              <a:t>有尊严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 Win with humility, lose with grace, and do both with dignity.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36. unselfish adj.</a:t>
            </a:r>
            <a:r>
              <a:rPr kumimoji="1" lang="zh-CN" altLang="en-US" b="1" dirty="0">
                <a:solidFill>
                  <a:srgbClr val="FF0000"/>
                </a:solidFill>
              </a:rPr>
              <a:t>无私的</a:t>
            </a:r>
            <a:r>
              <a:rPr kumimoji="1" lang="en-US" altLang="zh-CN" b="1" dirty="0">
                <a:solidFill>
                  <a:srgbClr val="FF0000"/>
                </a:solidFill>
              </a:rPr>
              <a:t>=selfless   </a:t>
            </a:r>
          </a:p>
          <a:p>
            <a:r>
              <a:rPr kumimoji="1" lang="en-US" altLang="zh-CN" b="1" dirty="0"/>
              <a:t>unselfish motives</a:t>
            </a:r>
            <a:r>
              <a:rPr kumimoji="1" lang="zh-CN" altLang="en-US" b="1" dirty="0"/>
              <a:t>无私的动机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unselfishness n. </a:t>
            </a:r>
            <a:r>
              <a:rPr kumimoji="1" lang="zh-CN" altLang="en-US" b="1" dirty="0">
                <a:solidFill>
                  <a:srgbClr val="FF0000"/>
                </a:solidFill>
              </a:rPr>
              <a:t>无私</a:t>
            </a:r>
            <a:r>
              <a:rPr kumimoji="1" lang="en-US" altLang="zh-CN" b="1" dirty="0">
                <a:solidFill>
                  <a:srgbClr val="FF0000"/>
                </a:solidFill>
              </a:rPr>
              <a:t>=selflessness    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unselfishly adv.</a:t>
            </a:r>
            <a:r>
              <a:rPr kumimoji="1" lang="zh-CN" altLang="en-US" b="1" dirty="0">
                <a:solidFill>
                  <a:srgbClr val="FF0000"/>
                </a:solidFill>
              </a:rPr>
              <a:t>无私地</a:t>
            </a:r>
            <a:r>
              <a:rPr kumimoji="1" lang="en-US" altLang="zh-CN" b="1" dirty="0">
                <a:solidFill>
                  <a:srgbClr val="FF0000"/>
                </a:solidFill>
              </a:rPr>
              <a:t>=selflessly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selfish adj.</a:t>
            </a:r>
            <a:r>
              <a:rPr kumimoji="1" lang="zh-CN" altLang="en-US" b="1" dirty="0">
                <a:solidFill>
                  <a:srgbClr val="FF0000"/>
                </a:solidFill>
              </a:rPr>
              <a:t>自私的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37. find one’s way into</a:t>
            </a:r>
            <a:r>
              <a:rPr kumimoji="1" lang="zh-CN" altLang="en-US" b="1" dirty="0">
                <a:solidFill>
                  <a:srgbClr val="FF0000"/>
                </a:solidFill>
              </a:rPr>
              <a:t> 偶然来到</a:t>
            </a:r>
            <a:r>
              <a:rPr kumimoji="1" lang="en-US" altLang="zh-CN" b="1" dirty="0">
                <a:solidFill>
                  <a:srgbClr val="FF0000"/>
                </a:solidFill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</a:rPr>
              <a:t>无意中处于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A speck of dirt had found its way into the mechanism.</a:t>
            </a:r>
            <a:r>
              <a:rPr kumimoji="1" lang="zh-CN" altLang="en-US" dirty="0"/>
              <a:t>一粒脏东西碰巧掉进了机件里。</a:t>
            </a:r>
            <a:endParaRPr kumimoji="1" lang="en-US" altLang="zh-CN" dirty="0"/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课堂本</a:t>
            </a:r>
            <a:r>
              <a:rPr kumimoji="1" lang="en-US" altLang="zh-CN" b="1" dirty="0">
                <a:solidFill>
                  <a:srgbClr val="FF0000"/>
                </a:solidFill>
              </a:rPr>
              <a:t>P49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in </a:t>
            </a:r>
            <a:r>
              <a:rPr kumimoji="1" lang="en-US" altLang="zh-CN" b="1" u="sng" dirty="0">
                <a:solidFill>
                  <a:srgbClr val="FF0000"/>
                </a:solidFill>
              </a:rPr>
              <a:t>a</a:t>
            </a:r>
            <a:r>
              <a:rPr kumimoji="1" lang="en-US" altLang="zh-CN" b="1" dirty="0">
                <a:solidFill>
                  <a:srgbClr val="FF0000"/>
                </a:solidFill>
              </a:rPr>
              <a:t> way</a:t>
            </a:r>
            <a:r>
              <a:rPr kumimoji="1" lang="zh-CN" altLang="en-US" b="1" dirty="0">
                <a:solidFill>
                  <a:srgbClr val="FF0000"/>
                </a:solidFill>
              </a:rPr>
              <a:t>在某种意义上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in </a:t>
            </a:r>
            <a:r>
              <a:rPr kumimoji="1" lang="en-US" altLang="zh-CN" b="1" u="sng" dirty="0">
                <a:solidFill>
                  <a:srgbClr val="FF0000"/>
                </a:solidFill>
              </a:rPr>
              <a:t>the</a:t>
            </a:r>
            <a:r>
              <a:rPr kumimoji="1" lang="en-US" altLang="zh-CN" b="1" dirty="0">
                <a:solidFill>
                  <a:srgbClr val="FF0000"/>
                </a:solidFill>
              </a:rPr>
              <a:t> way</a:t>
            </a:r>
            <a:r>
              <a:rPr kumimoji="1" lang="zh-CN" altLang="en-US" b="1" dirty="0">
                <a:solidFill>
                  <a:srgbClr val="FF0000"/>
                </a:solidFill>
              </a:rPr>
              <a:t>挡道</a:t>
            </a:r>
            <a:r>
              <a:rPr kumimoji="1" lang="en-US" altLang="zh-CN" b="1" dirty="0">
                <a:solidFill>
                  <a:srgbClr val="FF0000"/>
                </a:solidFill>
              </a:rPr>
              <a:t>    get in one’s way</a:t>
            </a:r>
            <a:r>
              <a:rPr kumimoji="1" lang="zh-CN" altLang="en-US" b="1" dirty="0">
                <a:solidFill>
                  <a:srgbClr val="FF0000"/>
                </a:solidFill>
              </a:rPr>
              <a:t>妨碍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in no way</a:t>
            </a:r>
            <a:r>
              <a:rPr kumimoji="1" lang="zh-CN" altLang="en-US" b="1" dirty="0">
                <a:solidFill>
                  <a:srgbClr val="FF0000"/>
                </a:solidFill>
              </a:rPr>
              <a:t>决不</a:t>
            </a:r>
            <a:r>
              <a:rPr kumimoji="1" lang="en-US" altLang="zh-CN" b="1" dirty="0">
                <a:solidFill>
                  <a:srgbClr val="FF0000"/>
                </a:solidFill>
              </a:rPr>
              <a:t>(</a:t>
            </a:r>
            <a:r>
              <a:rPr kumimoji="1" lang="zh-CN" altLang="en-US" b="1" dirty="0">
                <a:solidFill>
                  <a:srgbClr val="FF0000"/>
                </a:solidFill>
              </a:rPr>
              <a:t>位于句首，句子需部分倒装</a:t>
            </a:r>
            <a:r>
              <a:rPr kumimoji="1" lang="en-US" altLang="zh-CN" b="1" dirty="0">
                <a:solidFill>
                  <a:srgbClr val="FF0000"/>
                </a:solidFill>
              </a:rPr>
              <a:t>)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on one’s/the way to…</a:t>
            </a:r>
            <a:r>
              <a:rPr kumimoji="1" lang="zh-CN" altLang="en-US" b="1" dirty="0">
                <a:solidFill>
                  <a:srgbClr val="FF0000"/>
                </a:solidFill>
              </a:rPr>
              <a:t>动身前往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make/push/feel/wind one’s way to…</a:t>
            </a:r>
            <a:r>
              <a:rPr kumimoji="1" lang="zh-CN" altLang="en-US" b="1" dirty="0">
                <a:solidFill>
                  <a:srgbClr val="FF0000"/>
                </a:solidFill>
              </a:rPr>
              <a:t>前往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zh-CN" b="1" dirty="0">
                <a:solidFill>
                  <a:srgbClr val="FF0000"/>
                </a:solidFill>
              </a:rPr>
              <a:t>挤着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zh-CN" b="1" dirty="0">
                <a:solidFill>
                  <a:srgbClr val="FF0000"/>
                </a:solidFill>
              </a:rPr>
              <a:t>摸索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zh-CN" b="1" dirty="0">
                <a:solidFill>
                  <a:srgbClr val="FF0000"/>
                </a:solidFill>
              </a:rPr>
              <a:t>蜿蜒前往</a:t>
            </a:r>
            <a:r>
              <a:rPr lang="en-US" altLang="zh-CN" b="1" dirty="0">
                <a:solidFill>
                  <a:srgbClr val="FF0000"/>
                </a:solidFill>
              </a:rPr>
              <a:t>...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lose one’s way</a:t>
            </a:r>
            <a:r>
              <a:rPr kumimoji="1" lang="zh-CN" altLang="en-US" b="1" dirty="0">
                <a:solidFill>
                  <a:srgbClr val="FF0000"/>
                </a:solidFill>
              </a:rPr>
              <a:t>迷路    </a:t>
            </a:r>
            <a:r>
              <a:rPr kumimoji="1" lang="en-US" altLang="zh-CN" b="1" dirty="0"/>
              <a:t>all the way to</a:t>
            </a:r>
            <a:r>
              <a:rPr kumimoji="1" lang="zh-CN" altLang="en-US" b="1" dirty="0"/>
              <a:t>一路至</a:t>
            </a:r>
            <a:r>
              <a:rPr kumimoji="1" lang="en-US" altLang="zh-CN" b="1" dirty="0"/>
              <a:t>…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by way of</a:t>
            </a:r>
            <a:r>
              <a:rPr kumimoji="1" lang="zh-CN" altLang="en-US" b="1" dirty="0">
                <a:solidFill>
                  <a:srgbClr val="FF0000"/>
                </a:solidFill>
              </a:rPr>
              <a:t>途径</a:t>
            </a:r>
            <a:r>
              <a:rPr kumimoji="1" lang="en-US" altLang="zh-CN" b="1" dirty="0">
                <a:solidFill>
                  <a:srgbClr val="FF0000"/>
                </a:solidFill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</a:rPr>
              <a:t>经由   </a:t>
            </a:r>
            <a:r>
              <a:rPr kumimoji="1" lang="en-US" altLang="zh-CN" b="1" dirty="0"/>
              <a:t>by the way</a:t>
            </a:r>
            <a:r>
              <a:rPr kumimoji="1" lang="zh-CN" altLang="en-US" b="1" dirty="0"/>
              <a:t>顺便说一下</a:t>
            </a:r>
            <a:endParaRPr kumimoji="1" lang="en-US" altLang="zh-CN" b="1" dirty="0"/>
          </a:p>
          <a:p>
            <a:pPr marL="0" indent="0">
              <a:buNone/>
            </a:pPr>
            <a:endParaRPr kumimoji="1" lang="en-US" altLang="zh-CN" b="1" dirty="0">
              <a:solidFill>
                <a:srgbClr val="FF0000"/>
              </a:solidFill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38. league n.</a:t>
            </a:r>
            <a:r>
              <a:rPr kumimoji="1" lang="zh-CN" altLang="en-US" dirty="0"/>
              <a:t>联盟</a:t>
            </a:r>
            <a:r>
              <a:rPr kumimoji="1" lang="en-US" altLang="zh-CN" dirty="0"/>
              <a:t>/</a:t>
            </a:r>
            <a:r>
              <a:rPr kumimoji="1" lang="zh-CN" altLang="en-US" dirty="0"/>
              <a:t>赛</a:t>
            </a:r>
            <a:r>
              <a:rPr kumimoji="1" lang="en-US" altLang="zh-CN" dirty="0"/>
              <a:t>;</a:t>
            </a:r>
            <a:r>
              <a:rPr kumimoji="1" lang="zh-CN" altLang="en-US" dirty="0"/>
              <a:t>等级</a:t>
            </a:r>
            <a:r>
              <a:rPr kumimoji="1" lang="en-US" altLang="zh-CN" dirty="0"/>
              <a:t>;</a:t>
            </a:r>
            <a:r>
              <a:rPr kumimoji="1" lang="zh-CN" altLang="en-US" dirty="0"/>
              <a:t>联合</a:t>
            </a:r>
            <a:endParaRPr kumimoji="1" lang="en-US" altLang="zh-CN" dirty="0"/>
          </a:p>
          <a:p>
            <a:r>
              <a:rPr kumimoji="1" lang="en-US" altLang="zh-CN" dirty="0"/>
              <a:t>league champions </a:t>
            </a:r>
            <a:r>
              <a:rPr kumimoji="1" lang="zh-CN" altLang="en-US" dirty="0"/>
              <a:t>联赛冠军</a:t>
            </a:r>
            <a:endParaRPr kumimoji="1" lang="en-US" altLang="zh-CN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be in league with sb.</a:t>
            </a:r>
            <a:r>
              <a:rPr kumimoji="1" lang="zh-CN" altLang="en-US" b="1" dirty="0">
                <a:solidFill>
                  <a:srgbClr val="FF0000"/>
                </a:solidFill>
              </a:rPr>
              <a:t>与某人勾结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39. opposing adj.</a:t>
            </a:r>
            <a:r>
              <a:rPr kumimoji="1" lang="zh-CN" altLang="en-US" b="1" dirty="0">
                <a:solidFill>
                  <a:srgbClr val="FF0000"/>
                </a:solidFill>
              </a:rPr>
              <a:t>对立的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相竞争的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a player from the opposing side </a:t>
            </a:r>
            <a:r>
              <a:rPr lang="zh-CN" altLang="zh-CN" dirty="0"/>
              <a:t>对方的选手</a:t>
            </a:r>
            <a:r>
              <a:rPr lang="en-US" altLang="zh-CN" dirty="0"/>
              <a:t>    </a:t>
            </a:r>
          </a:p>
          <a:p>
            <a:r>
              <a:rPr lang="en-US" altLang="zh-CN" dirty="0"/>
              <a:t>take an opposing view </a:t>
            </a:r>
            <a:r>
              <a:rPr lang="zh-CN" altLang="zh-CN" dirty="0"/>
              <a:t>持对立的观</a:t>
            </a:r>
            <a:endParaRPr kumimoji="1" lang="zh-CN" altLang="en-US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→</a:t>
            </a:r>
            <a:r>
              <a:rPr kumimoji="1" lang="en-US" altLang="zh-CN" b="1" dirty="0">
                <a:solidFill>
                  <a:srgbClr val="FF0000"/>
                </a:solidFill>
              </a:rPr>
              <a:t>oppose v.</a:t>
            </a:r>
            <a:r>
              <a:rPr kumimoji="1" lang="zh-CN" altLang="en-US" b="1" dirty="0">
                <a:solidFill>
                  <a:srgbClr val="FF0000"/>
                </a:solidFill>
              </a:rPr>
              <a:t>反对 </a:t>
            </a:r>
            <a:r>
              <a:rPr kumimoji="1" lang="en-US" altLang="zh-CN" b="1" dirty="0">
                <a:solidFill>
                  <a:srgbClr val="FF0000"/>
                </a:solidFill>
              </a:rPr>
              <a:t>oppose doing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反对做某事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= be opposed to doing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.=object to=be against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as opposed to (sb./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.)</a:t>
            </a:r>
            <a:r>
              <a:rPr kumimoji="1" lang="zh-CN" altLang="en-US" b="1" dirty="0">
                <a:solidFill>
                  <a:srgbClr val="FF0000"/>
                </a:solidFill>
              </a:rPr>
              <a:t>相对于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→</a:t>
            </a:r>
            <a:r>
              <a:rPr kumimoji="1" lang="en-US" altLang="zh-CN" b="1" dirty="0">
                <a:solidFill>
                  <a:srgbClr val="FF0000"/>
                </a:solidFill>
              </a:rPr>
              <a:t>opposition n.</a:t>
            </a:r>
            <a:r>
              <a:rPr kumimoji="1" lang="zh-CN" altLang="en-US" b="1" dirty="0">
                <a:solidFill>
                  <a:srgbClr val="FF0000"/>
                </a:solidFill>
              </a:rPr>
              <a:t>抵制</a:t>
            </a:r>
            <a:r>
              <a:rPr kumimoji="1" lang="en-US" altLang="zh-CN" b="1" dirty="0">
                <a:solidFill>
                  <a:srgbClr val="FF0000"/>
                </a:solidFill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</a:rPr>
              <a:t>反对 </a:t>
            </a:r>
            <a:r>
              <a:rPr kumimoji="1" lang="en-US" altLang="zh-CN" b="1" dirty="0">
                <a:solidFill>
                  <a:srgbClr val="FF0000"/>
                </a:solidFill>
              </a:rPr>
              <a:t>in opposition to</a:t>
            </a:r>
            <a:r>
              <a:rPr kumimoji="1" lang="zh-CN" altLang="en-US" b="1" dirty="0">
                <a:solidFill>
                  <a:srgbClr val="FF0000"/>
                </a:solidFill>
              </a:rPr>
              <a:t>反对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→</a:t>
            </a:r>
            <a:r>
              <a:rPr kumimoji="1" lang="en-US" altLang="zh-CN" b="1" dirty="0">
                <a:solidFill>
                  <a:srgbClr val="FF0000"/>
                </a:solidFill>
              </a:rPr>
              <a:t>opposite adj.</a:t>
            </a:r>
            <a:r>
              <a:rPr kumimoji="1" lang="zh-CN" altLang="en-US" b="1" dirty="0">
                <a:solidFill>
                  <a:srgbClr val="FF0000"/>
                </a:solidFill>
              </a:rPr>
              <a:t>对面的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相反的</a:t>
            </a:r>
            <a:r>
              <a:rPr kumimoji="1" lang="en-US" altLang="zh-CN" b="1" dirty="0">
                <a:solidFill>
                  <a:srgbClr val="FF0000"/>
                </a:solidFill>
              </a:rPr>
              <a:t>n.</a:t>
            </a:r>
            <a:r>
              <a:rPr kumimoji="1" lang="zh-CN" altLang="en-US" b="1" dirty="0">
                <a:solidFill>
                  <a:srgbClr val="FF0000"/>
                </a:solidFill>
              </a:rPr>
              <a:t>对立面</a:t>
            </a:r>
            <a:r>
              <a:rPr kumimoji="1" lang="en-US" altLang="zh-CN" b="1" dirty="0" err="1">
                <a:solidFill>
                  <a:srgbClr val="FF0000"/>
                </a:solidFill>
              </a:rPr>
              <a:t>prep.adv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be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opposite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to</a:t>
            </a:r>
            <a:r>
              <a:rPr kumimoji="1" lang="zh-CN" altLang="en-US" b="1" dirty="0">
                <a:solidFill>
                  <a:srgbClr val="FF0000"/>
                </a:solidFill>
              </a:rPr>
              <a:t>在</a:t>
            </a:r>
            <a:r>
              <a:rPr kumimoji="1" lang="en-US" altLang="zh-CN" b="1" dirty="0">
                <a:solidFill>
                  <a:srgbClr val="FF0000"/>
                </a:solidFill>
              </a:rPr>
              <a:t>…</a:t>
            </a:r>
            <a:r>
              <a:rPr kumimoji="1" lang="zh-CN" altLang="en-US" b="1" dirty="0">
                <a:solidFill>
                  <a:srgbClr val="FF0000"/>
                </a:solidFill>
              </a:rPr>
              <a:t>对面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相反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9392"/>
            <a:ext cx="9144000" cy="6858000"/>
          </a:xfrm>
        </p:spPr>
        <p:txBody>
          <a:bodyPr/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40. move the goalposts</a:t>
            </a:r>
            <a:r>
              <a:rPr kumimoji="1" lang="zh-CN" altLang="en-US" b="1" dirty="0">
                <a:solidFill>
                  <a:srgbClr val="FF0000"/>
                </a:solidFill>
              </a:rPr>
              <a:t>朝令夕改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改变条件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/>
              <a:t>goalpost n.</a:t>
            </a:r>
            <a:r>
              <a:rPr kumimoji="1" lang="zh-CN" altLang="en-US" b="1" dirty="0"/>
              <a:t>球门柱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41. insurance n.</a:t>
            </a:r>
            <a:r>
              <a:rPr kumimoji="1" lang="zh-CN" altLang="en-US" b="1" dirty="0">
                <a:solidFill>
                  <a:srgbClr val="FF0000"/>
                </a:solidFill>
              </a:rPr>
              <a:t>保险</a:t>
            </a:r>
            <a:r>
              <a:rPr kumimoji="1" lang="en-US" altLang="zh-CN" b="1" dirty="0">
                <a:solidFill>
                  <a:srgbClr val="FF0000"/>
                </a:solidFill>
              </a:rPr>
              <a:t>(</a:t>
            </a:r>
            <a:r>
              <a:rPr kumimoji="1" lang="zh-CN" altLang="en-US" b="1" dirty="0">
                <a:solidFill>
                  <a:srgbClr val="FF0000"/>
                </a:solidFill>
              </a:rPr>
              <a:t>费</a:t>
            </a:r>
            <a:r>
              <a:rPr kumimoji="1" lang="en-US" altLang="zh-CN" b="1" dirty="0">
                <a:solidFill>
                  <a:srgbClr val="FF0000"/>
                </a:solidFill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</a:rPr>
              <a:t>业</a:t>
            </a:r>
            <a:r>
              <a:rPr kumimoji="1" lang="en-US" altLang="zh-CN" b="1" dirty="0">
                <a:solidFill>
                  <a:srgbClr val="FF0000"/>
                </a:solidFill>
              </a:rPr>
              <a:t>)</a:t>
            </a:r>
          </a:p>
          <a:p>
            <a:r>
              <a:rPr kumimoji="1" lang="en-US" altLang="zh-CN" b="1" dirty="0"/>
              <a:t>take out insurance against </a:t>
            </a:r>
            <a:r>
              <a:rPr kumimoji="1" lang="en-US" altLang="zh-CN" b="1" dirty="0" err="1"/>
              <a:t>sth</a:t>
            </a:r>
            <a:r>
              <a:rPr kumimoji="1" lang="en-US" altLang="zh-CN" b="1" dirty="0"/>
              <a:t>.</a:t>
            </a:r>
            <a:r>
              <a:rPr kumimoji="1" lang="zh-CN" altLang="en-US" b="1" dirty="0"/>
              <a:t>办理某种保险</a:t>
            </a:r>
            <a:endParaRPr kumimoji="1" lang="en-US" altLang="zh-CN" b="1" dirty="0"/>
          </a:p>
          <a:p>
            <a:r>
              <a:rPr kumimoji="1" lang="en-US" altLang="zh-CN" b="1" dirty="0"/>
              <a:t>pay the insurance on </a:t>
            </a:r>
            <a:r>
              <a:rPr kumimoji="1" lang="en-US" altLang="zh-CN" b="1" dirty="0" err="1"/>
              <a:t>sth</a:t>
            </a:r>
            <a:r>
              <a:rPr kumimoji="1" lang="en-US" altLang="zh-CN" b="1" dirty="0"/>
              <a:t>.</a:t>
            </a:r>
            <a:r>
              <a:rPr kumimoji="1" lang="zh-CN" altLang="en-US" b="1" dirty="0"/>
              <a:t>付某物的保险费</a:t>
            </a:r>
            <a:endParaRPr kumimoji="1" lang="en-US" altLang="zh-CN" b="1" dirty="0"/>
          </a:p>
          <a:p>
            <a:r>
              <a:rPr kumimoji="1" lang="en-US" altLang="zh-CN" b="1" dirty="0"/>
              <a:t>He works in insurance.</a:t>
            </a:r>
            <a:r>
              <a:rPr kumimoji="1" lang="zh-CN" altLang="en-US" b="1" dirty="0"/>
              <a:t>在保险业工作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insure v.</a:t>
            </a:r>
            <a:r>
              <a:rPr kumimoji="1" lang="zh-CN" altLang="en-US" b="1" dirty="0">
                <a:solidFill>
                  <a:srgbClr val="FF0000"/>
                </a:solidFill>
              </a:rPr>
              <a:t>投保</a:t>
            </a:r>
            <a:r>
              <a:rPr kumimoji="1" lang="en-US" altLang="zh-CN" b="1" dirty="0">
                <a:solidFill>
                  <a:srgbClr val="FF0000"/>
                </a:solidFill>
              </a:rPr>
              <a:t>,</a:t>
            </a:r>
            <a:r>
              <a:rPr kumimoji="1" lang="zh-CN" altLang="en-US" b="1" dirty="0">
                <a:solidFill>
                  <a:srgbClr val="FF0000"/>
                </a:solidFill>
              </a:rPr>
              <a:t>采取预防措施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42. salesman n.</a:t>
            </a:r>
            <a:r>
              <a:rPr kumimoji="1" lang="zh-CN" altLang="en-US" b="1" dirty="0">
                <a:solidFill>
                  <a:srgbClr val="FF0000"/>
                </a:solidFill>
              </a:rPr>
              <a:t>售货员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sales n.</a:t>
            </a:r>
            <a:r>
              <a:rPr kumimoji="1" lang="zh-CN" altLang="en-US" b="1" dirty="0">
                <a:solidFill>
                  <a:srgbClr val="FF0000"/>
                </a:solidFill>
              </a:rPr>
              <a:t>销售量</a:t>
            </a:r>
            <a:r>
              <a:rPr kumimoji="1" lang="en-US" altLang="zh-CN" b="1" dirty="0">
                <a:solidFill>
                  <a:srgbClr val="FF0000"/>
                </a:solidFill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</a:rPr>
              <a:t>工作</a:t>
            </a:r>
            <a:r>
              <a:rPr kumimoji="1" lang="en-US" altLang="zh-CN" b="1" dirty="0">
                <a:solidFill>
                  <a:srgbClr val="FF0000"/>
                </a:solidFill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</a:rPr>
              <a:t>部门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/>
              <a:t>sale n.</a:t>
            </a:r>
            <a:r>
              <a:rPr kumimoji="1" lang="zh-CN" altLang="en-US" b="1" dirty="0"/>
              <a:t>出售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on sale</a:t>
            </a:r>
            <a:r>
              <a:rPr kumimoji="1" lang="zh-CN" altLang="en-US" b="1" dirty="0">
                <a:solidFill>
                  <a:srgbClr val="FF0000"/>
                </a:solidFill>
              </a:rPr>
              <a:t>减价出售</a:t>
            </a:r>
            <a:r>
              <a:rPr kumimoji="1" lang="en-US" altLang="zh-CN" b="1" dirty="0">
                <a:solidFill>
                  <a:srgbClr val="FF0000"/>
                </a:solidFill>
              </a:rPr>
              <a:t> for sale</a:t>
            </a:r>
            <a:r>
              <a:rPr kumimoji="1" lang="zh-CN" altLang="en-US" b="1" dirty="0">
                <a:solidFill>
                  <a:srgbClr val="FF0000"/>
                </a:solidFill>
              </a:rPr>
              <a:t>供出售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b="1" dirty="0"/>
              <a:t>   43. complain v.</a:t>
            </a:r>
            <a:r>
              <a:rPr kumimoji="1" lang="zh-CN" altLang="en-US" b="1" dirty="0"/>
              <a:t>抱怨   </a:t>
            </a:r>
            <a:r>
              <a:rPr kumimoji="1" lang="en-US" altLang="zh-CN" b="1" dirty="0"/>
              <a:t>complain that…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complain </a:t>
            </a:r>
            <a:r>
              <a:rPr kumimoji="1" lang="en-US" altLang="zh-CN" b="1" u="sng" dirty="0">
                <a:solidFill>
                  <a:srgbClr val="FF0000"/>
                </a:solidFill>
              </a:rPr>
              <a:t>to</a:t>
            </a:r>
            <a:r>
              <a:rPr kumimoji="1" lang="en-US" altLang="zh-CN" b="1" dirty="0">
                <a:solidFill>
                  <a:srgbClr val="FF0000"/>
                </a:solidFill>
              </a:rPr>
              <a:t> sb. </a:t>
            </a:r>
            <a:r>
              <a:rPr kumimoji="1" lang="en-US" altLang="zh-CN" b="1" u="sng" dirty="0">
                <a:solidFill>
                  <a:srgbClr val="FF0000"/>
                </a:solidFill>
              </a:rPr>
              <a:t>about/of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向某人抱怨某事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complain</a:t>
            </a:r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t</a:t>
            </a:r>
            <a:r>
              <a:rPr kumimoji="1" lang="en-US" altLang="zh-CN" b="1" dirty="0">
                <a:solidFill>
                  <a:srgbClr val="FF0000"/>
                </a:solidFill>
              </a:rPr>
              <a:t> n.</a:t>
            </a:r>
            <a:r>
              <a:rPr kumimoji="1" lang="zh-CN" altLang="en-US" b="1" dirty="0">
                <a:solidFill>
                  <a:srgbClr val="FF0000"/>
                </a:solidFill>
              </a:rPr>
              <a:t>抱怨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make a complaint/complaints  </a:t>
            </a:r>
            <a:r>
              <a:rPr kumimoji="1" lang="en-US" altLang="zh-CN" b="1" u="sng" dirty="0">
                <a:solidFill>
                  <a:srgbClr val="FF0000"/>
                </a:solidFill>
              </a:rPr>
              <a:t>about/against</a:t>
            </a:r>
            <a:r>
              <a:rPr kumimoji="1" lang="zh-CN" altLang="en-US" b="1" dirty="0">
                <a:solidFill>
                  <a:srgbClr val="FF0000"/>
                </a:solidFill>
              </a:rPr>
              <a:t>对</a:t>
            </a:r>
            <a:r>
              <a:rPr kumimoji="1" lang="en-US" altLang="zh-CN" b="1" dirty="0">
                <a:solidFill>
                  <a:srgbClr val="FF0000"/>
                </a:solidFill>
              </a:rPr>
              <a:t>…</a:t>
            </a:r>
            <a:r>
              <a:rPr kumimoji="1" lang="zh-CN" altLang="en-US" b="1" dirty="0">
                <a:solidFill>
                  <a:srgbClr val="FF0000"/>
                </a:solidFill>
              </a:rPr>
              <a:t>抱怨</a:t>
            </a:r>
            <a:endParaRPr kumimoji="1" lang="en-US" altLang="zh-CN" b="1" dirty="0"/>
          </a:p>
          <a:p>
            <a:r>
              <a:rPr kumimoji="1" lang="en-US" altLang="zh-CN" b="1" dirty="0"/>
              <a:t>44.</a:t>
            </a:r>
            <a:r>
              <a:rPr kumimoji="1" lang="zh-CN" altLang="en-US" b="1" dirty="0"/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score an own goal</a:t>
            </a:r>
            <a:r>
              <a:rPr kumimoji="1" lang="zh-CN" altLang="en-US" b="1" dirty="0">
                <a:solidFill>
                  <a:srgbClr val="FF0000"/>
                </a:solidFill>
              </a:rPr>
              <a:t> 进乌龙球</a:t>
            </a:r>
            <a:r>
              <a:rPr kumimoji="1" lang="en-US" altLang="zh-CN" b="1" dirty="0">
                <a:solidFill>
                  <a:srgbClr val="FF0000"/>
                </a:solidFill>
              </a:rPr>
              <a:t>;</a:t>
            </a:r>
            <a:r>
              <a:rPr kumimoji="1" lang="zh-CN" altLang="en-US" b="1" dirty="0">
                <a:solidFill>
                  <a:srgbClr val="FF0000"/>
                </a:solidFill>
              </a:rPr>
              <a:t>无意中做让自己吃亏的事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/>
              <a:t> score </a:t>
            </a:r>
            <a:r>
              <a:rPr kumimoji="1" lang="en-US" altLang="zh-CN" b="1" dirty="0" err="1"/>
              <a:t>n.v</a:t>
            </a:r>
            <a:r>
              <a:rPr kumimoji="1" lang="en-US" altLang="zh-CN" b="1" dirty="0"/>
              <a:t>.</a:t>
            </a:r>
            <a:r>
              <a:rPr kumimoji="1" lang="zh-CN" altLang="en-US" b="1" dirty="0"/>
              <a:t>得分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打分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分数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throw sb. a curveball</a:t>
            </a:r>
            <a:r>
              <a:rPr kumimoji="1" lang="zh-CN" altLang="en-US" b="1" dirty="0">
                <a:solidFill>
                  <a:srgbClr val="FF0000"/>
                </a:solidFill>
              </a:rPr>
              <a:t>给某人出难题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zh-CN" b="1" dirty="0"/>
              <a:t> </a:t>
            </a:r>
            <a:r>
              <a:rPr kumimoji="1" lang="en-US" altLang="zh-CN" b="1" dirty="0"/>
              <a:t>curve n.</a:t>
            </a:r>
            <a:r>
              <a:rPr kumimoji="1" lang="zh-CN" altLang="en-US" b="1" dirty="0"/>
              <a:t>曲线 </a:t>
            </a:r>
            <a:r>
              <a:rPr kumimoji="1" lang="en-US" altLang="zh-CN" b="1" dirty="0"/>
              <a:t>v.</a:t>
            </a:r>
            <a:r>
              <a:rPr kumimoji="1" lang="zh-CN" altLang="en-US" b="1" dirty="0"/>
              <a:t>弯曲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three strikes and you are out</a:t>
            </a:r>
            <a:r>
              <a:rPr kumimoji="1" lang="zh-CN" altLang="en-US" b="1" dirty="0">
                <a:solidFill>
                  <a:srgbClr val="FF0000"/>
                </a:solidFill>
              </a:rPr>
              <a:t>三振出局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endParaRPr kumimoji="1" lang="zh-CN" altLang="en-US" b="1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b="1" dirty="0"/>
              <a:t>45. </a:t>
            </a:r>
            <a:r>
              <a:rPr kumimoji="1" lang="en-US" altLang="zh-CN" b="1" dirty="0">
                <a:solidFill>
                  <a:srgbClr val="FF0000"/>
                </a:solidFill>
              </a:rPr>
              <a:t>unintentionally adv.</a:t>
            </a:r>
            <a:r>
              <a:rPr kumimoji="1" lang="zh-CN" altLang="en-US" b="1" dirty="0">
                <a:solidFill>
                  <a:srgbClr val="FF0000"/>
                </a:solidFill>
              </a:rPr>
              <a:t>无意地→</a:t>
            </a:r>
            <a:r>
              <a:rPr kumimoji="1" lang="en-US" altLang="zh-CN" b="1" dirty="0">
                <a:solidFill>
                  <a:srgbClr val="FF0000"/>
                </a:solidFill>
              </a:rPr>
              <a:t>unintentional adj.</a:t>
            </a:r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→</a:t>
            </a:r>
            <a:r>
              <a:rPr kumimoji="1" lang="en-US" altLang="zh-CN" b="1" dirty="0">
                <a:solidFill>
                  <a:srgbClr val="FF0000"/>
                </a:solidFill>
              </a:rPr>
              <a:t>intentional adj.</a:t>
            </a:r>
            <a:r>
              <a:rPr kumimoji="1" lang="zh-CN" altLang="en-US" b="1" dirty="0">
                <a:solidFill>
                  <a:srgbClr val="FF0000"/>
                </a:solidFill>
              </a:rPr>
              <a:t>故意的→</a:t>
            </a:r>
            <a:r>
              <a:rPr kumimoji="1" lang="en-US" altLang="zh-CN" b="1" dirty="0">
                <a:solidFill>
                  <a:srgbClr val="FF0000"/>
                </a:solidFill>
              </a:rPr>
              <a:t>intentionally adv.</a:t>
            </a:r>
            <a:r>
              <a:rPr kumimoji="1" lang="zh-CN" altLang="en-US" b="1" dirty="0">
                <a:solidFill>
                  <a:srgbClr val="FF0000"/>
                </a:solidFill>
              </a:rPr>
              <a:t>故意地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/>
              <a:t>→</a:t>
            </a:r>
            <a:r>
              <a:rPr kumimoji="1" lang="en-US" altLang="zh-CN" b="1" dirty="0"/>
              <a:t>intention n.</a:t>
            </a:r>
            <a:r>
              <a:rPr kumimoji="1" lang="zh-CN" altLang="en-US" b="1" dirty="0"/>
              <a:t>意图</a:t>
            </a:r>
            <a:endParaRPr kumimoji="1" lang="en-US" altLang="zh-CN" b="1" dirty="0"/>
          </a:p>
          <a:p>
            <a:r>
              <a:rPr kumimoji="1" lang="en-US" altLang="zh-CN" b="1" dirty="0"/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with the intention of doing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打算做某事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have no intention of doing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./ to do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无意做某事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by intention=on purpose</a:t>
            </a:r>
            <a:r>
              <a:rPr kumimoji="1" lang="zh-CN" altLang="en-US" b="1" dirty="0">
                <a:solidFill>
                  <a:srgbClr val="FF0000"/>
                </a:solidFill>
              </a:rPr>
              <a:t>故意地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zh-CN" altLang="en-US" b="1" dirty="0"/>
              <a:t>→</a:t>
            </a:r>
            <a:r>
              <a:rPr kumimoji="1" lang="en-US" altLang="zh-CN" b="1" dirty="0"/>
              <a:t>intend </a:t>
            </a:r>
            <a:r>
              <a:rPr kumimoji="1" lang="en-US" altLang="zh-CN" b="1" dirty="0" err="1"/>
              <a:t>vt.</a:t>
            </a:r>
            <a:r>
              <a:rPr kumimoji="1" lang="zh-CN" altLang="en-US" b="1" dirty="0"/>
              <a:t>想要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计划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intend doing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./ to do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想要做某事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intend sb. to do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打算让某人做某事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be intended for</a:t>
            </a:r>
            <a:r>
              <a:rPr kumimoji="1" lang="zh-CN" altLang="en-US" b="1" dirty="0">
                <a:solidFill>
                  <a:srgbClr val="FF0000"/>
                </a:solidFill>
              </a:rPr>
              <a:t>为</a:t>
            </a:r>
            <a:r>
              <a:rPr kumimoji="1" lang="en-US" altLang="zh-CN" b="1" dirty="0">
                <a:solidFill>
                  <a:srgbClr val="FF0000"/>
                </a:solidFill>
              </a:rPr>
              <a:t>…</a:t>
            </a:r>
            <a:r>
              <a:rPr kumimoji="1" lang="zh-CN" altLang="en-US" b="1" dirty="0">
                <a:solidFill>
                  <a:srgbClr val="FF0000"/>
                </a:solidFill>
              </a:rPr>
              <a:t>打算的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be intended to do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</a:t>
            </a:r>
            <a:r>
              <a:rPr kumimoji="1" lang="zh-CN" altLang="en-US" b="1" dirty="0">
                <a:solidFill>
                  <a:srgbClr val="FF0000"/>
                </a:solidFill>
              </a:rPr>
              <a:t>旨在做某事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had intended to do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b="1" dirty="0">
                <a:solidFill>
                  <a:srgbClr val="FF0000"/>
                </a:solidFill>
              </a:rPr>
              <a:t>.=intend to have done</a:t>
            </a:r>
            <a:r>
              <a:rPr kumimoji="1" lang="zh-CN" altLang="en-US" b="1" dirty="0">
                <a:solidFill>
                  <a:srgbClr val="FF0000"/>
                </a:solidFill>
              </a:rPr>
              <a:t>本打算</a:t>
            </a:r>
            <a:r>
              <a:rPr kumimoji="1" lang="en-US" altLang="zh-CN" b="1" dirty="0">
                <a:solidFill>
                  <a:srgbClr val="FF0000"/>
                </a:solidFill>
              </a:rPr>
              <a:t>(</a:t>
            </a:r>
            <a:r>
              <a:rPr kumimoji="1" lang="zh-CN" altLang="en-US" b="1" dirty="0">
                <a:solidFill>
                  <a:srgbClr val="FF0000"/>
                </a:solidFill>
              </a:rPr>
              <a:t>却未做</a:t>
            </a:r>
            <a:r>
              <a:rPr kumimoji="1" lang="en-US" altLang="zh-CN" b="1" dirty="0">
                <a:solidFill>
                  <a:srgbClr val="FF0000"/>
                </a:solidFill>
              </a:rPr>
              <a:t>)</a:t>
            </a:r>
          </a:p>
          <a:p>
            <a:endParaRPr kumimoji="1" lang="zh-CN" altLang="en-US" dirty="0"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rgbClr val="FF0000"/>
                </a:solidFill>
              </a:rPr>
              <a:t>46. backfire vi.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事与愿违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+on sb.</a:t>
            </a:r>
          </a:p>
          <a:p>
            <a:r>
              <a:rPr kumimoji="1" lang="en-US" altLang="zh-CN" sz="3600" dirty="0"/>
              <a:t>Unfortunately, the plan backfired.</a:t>
            </a:r>
          </a:p>
          <a:p>
            <a:r>
              <a:rPr kumimoji="1" lang="en-US" altLang="zh-CN" sz="3600" b="1" dirty="0"/>
              <a:t>47.</a:t>
            </a:r>
            <a:r>
              <a:rPr kumimoji="1" lang="zh-CN" altLang="en-US" sz="3600" b="1" dirty="0"/>
              <a:t> </a:t>
            </a:r>
            <a:r>
              <a:rPr kumimoji="1" lang="en-US" altLang="zh-CN" sz="3600" b="1" dirty="0"/>
              <a:t>ballpark</a:t>
            </a:r>
            <a:r>
              <a:rPr kumimoji="1" lang="zh-CN" altLang="en-US" sz="3600" b="1" dirty="0"/>
              <a:t> </a:t>
            </a:r>
            <a:r>
              <a:rPr kumimoji="1" lang="en-US" altLang="zh-CN" sz="3600" b="1" dirty="0"/>
              <a:t>n.</a:t>
            </a:r>
            <a:r>
              <a:rPr kumimoji="1" lang="zh-CN" altLang="en-US" sz="3600" b="1" dirty="0"/>
              <a:t>棒球场</a:t>
            </a:r>
            <a:r>
              <a:rPr kumimoji="1" lang="en-US" altLang="zh-CN" sz="3600" b="1" dirty="0"/>
              <a:t>;(</a:t>
            </a:r>
            <a:r>
              <a:rPr kumimoji="1" lang="zh-CN" altLang="en-US" sz="3600" b="1" dirty="0"/>
              <a:t>数额的</a:t>
            </a:r>
            <a:r>
              <a:rPr kumimoji="1" lang="en-US" altLang="zh-CN" sz="3600" b="1" dirty="0"/>
              <a:t>)</a:t>
            </a:r>
            <a:r>
              <a:rPr kumimoji="1" lang="zh-CN" altLang="en-US" sz="3600" b="1" dirty="0"/>
              <a:t>变动范围</a:t>
            </a:r>
            <a:endParaRPr kumimoji="1" lang="en-US" altLang="zh-CN" sz="3600" b="1" dirty="0"/>
          </a:p>
          <a:p>
            <a:r>
              <a:rPr kumimoji="1" lang="zh-CN" altLang="zh-CN" sz="36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a ballpark estimate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大致相近的估计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in the ballpark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差不多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dirty="0"/>
              <a:t>If you said 5 million, you’d be in the ballpark.</a:t>
            </a: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48. venue [c]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活动场地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The band will be playing at 20 different venues on their UK tour.</a:t>
            </a:r>
          </a:p>
          <a:p>
            <a:r>
              <a:rPr kumimoji="1" lang="en-US" altLang="zh-CN" dirty="0"/>
              <a:t>Please note the change of venue for this event.</a:t>
            </a:r>
          </a:p>
          <a:p>
            <a:endParaRPr kumimoji="1" lang="en-US" altLang="zh-CN" b="1" dirty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sz="3600" b="1" dirty="0"/>
              <a:t>49. handle </a:t>
            </a:r>
            <a:r>
              <a:rPr kumimoji="1" lang="en-US" altLang="zh-CN" sz="3600" b="1" dirty="0" err="1"/>
              <a:t>vt.</a:t>
            </a:r>
            <a:r>
              <a:rPr kumimoji="1" lang="en-US" altLang="zh-CN" sz="3600" b="1" dirty="0"/>
              <a:t> n.</a:t>
            </a:r>
            <a:r>
              <a:rPr kumimoji="1" lang="zh-CN" altLang="en-US" sz="3600" b="1" dirty="0"/>
              <a:t>把手</a:t>
            </a:r>
            <a:r>
              <a:rPr kumimoji="1" lang="en-US" altLang="zh-CN" sz="3600" b="1" dirty="0"/>
              <a:t>;</a:t>
            </a:r>
            <a:r>
              <a:rPr kumimoji="1" lang="zh-CN" altLang="en-US" sz="3600" b="1" dirty="0"/>
              <a:t>处理</a:t>
            </a:r>
            <a:r>
              <a:rPr kumimoji="1" lang="en-US" altLang="zh-CN" sz="3600" b="1" dirty="0"/>
              <a:t>,</a:t>
            </a:r>
            <a:r>
              <a:rPr kumimoji="1" lang="zh-CN" altLang="en-US" sz="3600" b="1" dirty="0"/>
              <a:t>应付</a:t>
            </a:r>
            <a:r>
              <a:rPr kumimoji="1" lang="en-US" altLang="zh-CN" sz="3600" b="1" dirty="0"/>
              <a:t>;</a:t>
            </a:r>
            <a:r>
              <a:rPr kumimoji="1" lang="zh-CN" altLang="en-US" sz="3600" b="1" dirty="0"/>
              <a:t>控制</a:t>
            </a:r>
            <a:r>
              <a:rPr kumimoji="1" lang="en-US" altLang="zh-CN" sz="3600" b="1" dirty="0"/>
              <a:t>,</a:t>
            </a:r>
            <a:r>
              <a:rPr kumimoji="1" lang="zh-CN" altLang="en-US" sz="3600" b="1" dirty="0"/>
              <a:t>操纵</a:t>
            </a:r>
            <a:r>
              <a:rPr kumimoji="1" lang="en-US" altLang="zh-CN" sz="3600" b="1" dirty="0"/>
              <a:t>;</a:t>
            </a:r>
            <a:r>
              <a:rPr kumimoji="1" lang="zh-CN" altLang="en-US" sz="3600" b="1" dirty="0"/>
              <a:t>理解</a:t>
            </a:r>
            <a:endParaRPr kumimoji="1" lang="en-US" altLang="zh-CN" sz="3600" b="1" dirty="0"/>
          </a:p>
          <a:p>
            <a:r>
              <a:rPr kumimoji="1" lang="zh-CN" altLang="zh-CN" sz="3600" b="1" dirty="0"/>
              <a:t>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handle/ address/tackle the problem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处理问题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=deal/cope with</a:t>
            </a:r>
          </a:p>
          <a:p>
            <a:r>
              <a:rPr lang="en-US" altLang="zh-CN" dirty="0"/>
              <a:t>You have to know how to </a:t>
            </a:r>
            <a:r>
              <a:rPr lang="en-US" altLang="zh-CN" b="1" u="sng" dirty="0"/>
              <a:t>handle yourself</a:t>
            </a:r>
            <a:r>
              <a:rPr lang="en-US" altLang="zh-CN" dirty="0"/>
              <a:t> in this business.   </a:t>
            </a:r>
            <a:r>
              <a:rPr lang="zh-CN" altLang="zh-CN" u="sng" dirty="0"/>
              <a:t>把握自己，控制自己</a:t>
            </a:r>
            <a:endParaRPr lang="en-US" altLang="zh-CN" u="sng" dirty="0"/>
          </a:p>
          <a:p>
            <a:r>
              <a:rPr kumimoji="1" lang="en-US" altLang="zh-CN" dirty="0"/>
              <a:t>She turned the handle and opened the door.</a:t>
            </a:r>
          </a:p>
          <a:p>
            <a:r>
              <a:rPr lang="en-US" altLang="zh-CN" dirty="0"/>
              <a:t>1) Misunderstandings resulting from lack of communication, unless </a:t>
            </a:r>
            <a:r>
              <a:rPr lang="en-US" altLang="zh-CN" b="1" u="sng" dirty="0">
                <a:solidFill>
                  <a:srgbClr val="FF0000"/>
                </a:solidFill>
              </a:rPr>
              <a:t>handled</a:t>
            </a:r>
            <a:r>
              <a:rPr lang="en-US" altLang="zh-CN" dirty="0"/>
              <a:t>(handle) properly, may lead to serious problems.</a:t>
            </a:r>
            <a:endParaRPr lang="zh-CN" altLang="zh-CN" dirty="0"/>
          </a:p>
          <a:p>
            <a:r>
              <a:rPr lang="en-US" altLang="zh-CN" dirty="0"/>
              <a:t>2) One's ability </a:t>
            </a:r>
            <a:r>
              <a:rPr lang="en-US" altLang="zh-CN" b="1" u="sng" dirty="0" err="1">
                <a:solidFill>
                  <a:srgbClr val="FF0000"/>
                </a:solidFill>
              </a:rPr>
              <a:t>to_handle</a:t>
            </a:r>
            <a:r>
              <a:rPr lang="en-US" altLang="zh-CN" dirty="0"/>
              <a:t>(handle) stress, for instance, affects the ability to concentrate and put intelligence to use.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fly off the handle 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勃然大怒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get/ have a handle on sb./</a:t>
            </a:r>
            <a:r>
              <a:rPr kumimoji="1"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弄懂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理解</a:t>
            </a:r>
            <a:endParaRPr kumimoji="1"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/>
          </a:bodyPr>
          <a:lstStyle/>
          <a:p>
            <a:r>
              <a:rPr lang="en-US" altLang="zh-CN" b="1" dirty="0"/>
              <a:t>50.respond</a:t>
            </a:r>
            <a:r>
              <a:rPr lang="zh-CN" altLang="zh-CN" dirty="0"/>
              <a:t>　</a:t>
            </a:r>
            <a:r>
              <a:rPr lang="en-US" altLang="zh-CN" i="1" dirty="0"/>
              <a:t>vi</a:t>
            </a:r>
            <a:r>
              <a:rPr lang="en-US" altLang="zh-CN" dirty="0"/>
              <a:t>. &amp; </a:t>
            </a:r>
            <a:r>
              <a:rPr lang="en-US" altLang="zh-CN" i="1" dirty="0" err="1"/>
              <a:t>vt</a:t>
            </a:r>
            <a:r>
              <a:rPr lang="en-US" altLang="zh-CN" dirty="0" err="1"/>
              <a:t>.</a:t>
            </a:r>
            <a:r>
              <a:rPr lang="en-US" altLang="zh-CN" dirty="0"/>
              <a:t> </a:t>
            </a:r>
            <a:r>
              <a:rPr lang="zh-CN" altLang="zh-CN" dirty="0"/>
              <a:t>回答，回应；做出反应，响应</a:t>
            </a:r>
          </a:p>
          <a:p>
            <a:r>
              <a:rPr lang="zh-CN" altLang="zh-CN" dirty="0"/>
              <a:t>【教材原句】</a:t>
            </a:r>
            <a:r>
              <a:rPr lang="en-US" altLang="zh-CN" b="1" dirty="0"/>
              <a:t>We use this expression to describe things that are unexpected and difficult to </a:t>
            </a:r>
            <a:r>
              <a:rPr lang="en-US" altLang="zh-CN" b="1" u="sng" dirty="0"/>
              <a:t>respond</a:t>
            </a:r>
            <a:r>
              <a:rPr lang="en-US" altLang="zh-CN" b="1" dirty="0"/>
              <a:t> to.</a:t>
            </a:r>
            <a:endParaRPr lang="zh-CN" altLang="zh-CN" dirty="0"/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respond </a:t>
            </a:r>
            <a:r>
              <a:rPr kumimoji="1"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to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. by/with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以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…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对某事作出反应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make a response </a:t>
            </a:r>
            <a:r>
              <a:rPr kumimoji="1"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to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对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…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作出回应</a:t>
            </a:r>
            <a:endParaRPr kumimoji="1" lang="en-US" altLang="zh-CN" sz="3600" b="1" dirty="0"/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in response </a:t>
            </a:r>
            <a:r>
              <a:rPr kumimoji="1"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to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作为对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…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的回应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lang="en-US" altLang="zh-CN" sz="3600" b="1" dirty="0"/>
              <a:t>respond</a:t>
            </a:r>
            <a:r>
              <a:rPr lang="zh-CN" altLang="zh-CN" sz="3600" b="1" dirty="0"/>
              <a:t>＋</a:t>
            </a:r>
            <a:r>
              <a:rPr lang="en-US" altLang="zh-CN" sz="3600" b="1" dirty="0"/>
              <a:t>that</a:t>
            </a:r>
            <a:r>
              <a:rPr lang="zh-CN" altLang="zh-CN" sz="3600" b="1" dirty="0"/>
              <a:t>从句 </a:t>
            </a:r>
            <a:r>
              <a:rPr lang="en-US" altLang="zh-CN" sz="3600" b="1" dirty="0"/>
              <a:t>   </a:t>
            </a:r>
            <a:r>
              <a:rPr lang="zh-CN" altLang="zh-CN" sz="3600" b="1" dirty="0"/>
              <a:t>回应说</a:t>
            </a:r>
            <a:r>
              <a:rPr lang="en-US" altLang="zh-CN" sz="3600" b="1" dirty="0"/>
              <a:t>…</a:t>
            </a:r>
            <a:endParaRPr lang="zh-CN" altLang="zh-CN" sz="3600" b="1" dirty="0"/>
          </a:p>
          <a:p>
            <a:r>
              <a:rPr lang="en-US" altLang="zh-CN" sz="3600" dirty="0"/>
              <a:t>When Tom laughed at me, I responded with a kick. 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/>
              <a:t>51.</a:t>
            </a:r>
            <a:r>
              <a:rPr kumimoji="1" lang="zh-CN" altLang="en-US" sz="3600" b="1" dirty="0"/>
              <a:t>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below the belt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不公正的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暗箭伤人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出言不逊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tighten one’s belt 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省吃俭用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zh-CN" altLang="zh-CN" sz="36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throw in the towel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认输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kumimoji="1" lang="en-US" altLang="zh-CN" sz="3600" b="1" dirty="0"/>
              <a:t>52. remark </a:t>
            </a:r>
            <a:r>
              <a:rPr kumimoji="1" lang="en-US" altLang="zh-CN" sz="3600" b="1" dirty="0" err="1"/>
              <a:t>n.v</a:t>
            </a:r>
            <a:r>
              <a:rPr kumimoji="1" lang="en-US" altLang="zh-CN" sz="3600" b="1" dirty="0"/>
              <a:t>.</a:t>
            </a:r>
            <a:r>
              <a:rPr kumimoji="1" lang="zh-CN" altLang="en-US" sz="3600" b="1" dirty="0"/>
              <a:t>谈</a:t>
            </a:r>
            <a:r>
              <a:rPr kumimoji="1" lang="en-US" altLang="zh-CN" sz="3600" b="1" dirty="0"/>
              <a:t>/</a:t>
            </a:r>
            <a:r>
              <a:rPr kumimoji="1" lang="zh-CN" altLang="en-US" sz="3600" b="1" dirty="0"/>
              <a:t>评</a:t>
            </a:r>
            <a:r>
              <a:rPr kumimoji="1" lang="en-US" altLang="zh-CN" sz="3600" b="1" dirty="0"/>
              <a:t>/</a:t>
            </a:r>
            <a:r>
              <a:rPr kumimoji="1" lang="zh-CN" altLang="en-US" sz="3600" b="1" dirty="0"/>
              <a:t>言论</a:t>
            </a:r>
            <a:r>
              <a:rPr kumimoji="1" lang="en-US" altLang="zh-CN" sz="3600" b="1" dirty="0"/>
              <a:t>;</a:t>
            </a:r>
            <a:r>
              <a:rPr kumimoji="1" lang="zh-CN" altLang="en-US" sz="3600" b="1" dirty="0"/>
              <a:t>注意</a:t>
            </a:r>
            <a:endParaRPr kumimoji="1" lang="en-US" altLang="zh-CN" sz="3600" b="1" dirty="0"/>
          </a:p>
          <a:p>
            <a:r>
              <a:rPr kumimoji="1" lang="zh-CN" altLang="zh-CN" sz="3600" b="1" dirty="0"/>
              <a:t>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remark </a:t>
            </a:r>
            <a:r>
              <a:rPr kumimoji="1"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on/upon </a:t>
            </a:r>
            <a:r>
              <a:rPr kumimoji="1"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对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…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进行评论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zh-CN" altLang="zh-CN" sz="36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=make a remark/ remarks </a:t>
            </a:r>
            <a:r>
              <a:rPr kumimoji="1"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</a:rPr>
              <a:t>on/about</a:t>
            </a:r>
          </a:p>
          <a:p>
            <a:r>
              <a:rPr kumimoji="1" lang="zh-CN" altLang="zh-CN" sz="3600" b="1" dirty="0"/>
              <a:t> </a:t>
            </a:r>
            <a:r>
              <a:rPr kumimoji="1" lang="en-US" altLang="zh-CN" sz="3600" b="1" dirty="0"/>
              <a:t>worthy of remark</a:t>
            </a:r>
            <a:r>
              <a:rPr kumimoji="1" lang="zh-CN" altLang="en-US" sz="3600" b="1" dirty="0"/>
              <a:t>值得关注的</a:t>
            </a:r>
            <a:endParaRPr kumimoji="1" lang="en-US" altLang="zh-CN" sz="3600" b="1" dirty="0"/>
          </a:p>
          <a:p>
            <a:r>
              <a:rPr lang="fr-FR" altLang="zh-CN" sz="3600" b="1" dirty="0"/>
              <a:t>remark</a:t>
            </a:r>
            <a:r>
              <a:rPr lang="zh-CN" altLang="zh-CN" sz="3600" b="1" dirty="0"/>
              <a:t>＋</a:t>
            </a:r>
            <a:r>
              <a:rPr lang="fr-FR" altLang="zh-CN" sz="3600" b="1" dirty="0"/>
              <a:t>that/how</a:t>
            </a:r>
            <a:r>
              <a:rPr lang="zh-CN" altLang="zh-CN" sz="3600" b="1" dirty="0"/>
              <a:t>从句 </a:t>
            </a:r>
            <a:r>
              <a:rPr lang="en-US" altLang="zh-CN" sz="3600" b="1" dirty="0"/>
              <a:t>  </a:t>
            </a:r>
            <a:r>
              <a:rPr lang="zh-CN" altLang="zh-CN" sz="3600" b="1" dirty="0"/>
              <a:t>谈起</a:t>
            </a:r>
            <a:r>
              <a:rPr lang="fr-FR" altLang="zh-CN" sz="3600" b="1" dirty="0"/>
              <a:t>……</a:t>
            </a:r>
            <a:endParaRPr kumimoji="1" lang="en-US" altLang="zh-CN" sz="4000" b="1" dirty="0"/>
          </a:p>
          <a:p>
            <a:r>
              <a:rPr kumimoji="1" lang="zh-CN" altLang="zh-CN" sz="3600" b="1" dirty="0">
                <a:solidFill>
                  <a:srgbClr val="FF0000"/>
                </a:solidFill>
              </a:rPr>
              <a:t> 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→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remarkable adj.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出色的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引人注目的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be remarkable for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以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…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著称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zh-CN" altLang="zh-CN" sz="3600" b="1" dirty="0">
                <a:solidFill>
                  <a:srgbClr val="FF0000"/>
                </a:solidFill>
              </a:rPr>
              <a:t> 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→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remarkably adv.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引人注目地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显著地</a:t>
            </a:r>
            <a:endParaRPr kumimoji="1"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3600" b="1" dirty="0"/>
              <a:t>53.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literally adv.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真正地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,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确实地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按字面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简直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take </a:t>
            </a:r>
            <a:r>
              <a:rPr kumimoji="1" lang="en-US" altLang="zh-CN" sz="3600" b="1" dirty="0" err="1">
                <a:solidFill>
                  <a:srgbClr val="FF0000"/>
                </a:solidFill>
              </a:rPr>
              <a:t>sth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./sb. literally 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按照字面意义理解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/>
              <a:t> There are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literally</a:t>
            </a:r>
            <a:r>
              <a:rPr kumimoji="1" lang="en-US" altLang="zh-CN" sz="3600" b="1" dirty="0"/>
              <a:t> hundreds of prizes to win.</a:t>
            </a:r>
            <a:r>
              <a:rPr kumimoji="1" lang="zh-CN" altLang="en-US" sz="3600" b="1" dirty="0"/>
              <a:t>真的</a:t>
            </a:r>
            <a:endParaRPr kumimoji="1" lang="en-US" altLang="zh-CN" sz="3600" b="1" dirty="0"/>
          </a:p>
          <a:p>
            <a:r>
              <a:rPr kumimoji="1" lang="en-US" altLang="zh-CN" sz="3600" b="1" dirty="0"/>
              <a:t>He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literally</a:t>
            </a:r>
            <a:r>
              <a:rPr kumimoji="1" lang="en-US" altLang="zh-CN" sz="3600" b="1" dirty="0"/>
              <a:t> exploded with rage.</a:t>
            </a:r>
            <a:r>
              <a:rPr kumimoji="1" lang="zh-CN" altLang="en-US" sz="3600" b="1" dirty="0"/>
              <a:t>简直气炸了</a:t>
            </a:r>
            <a:endParaRPr kumimoji="1" lang="en-US" altLang="zh-CN" sz="3600" b="1" dirty="0"/>
          </a:p>
          <a:p>
            <a:r>
              <a:rPr kumimoji="1" lang="zh-CN" altLang="en-US" sz="3600" b="1" dirty="0">
                <a:solidFill>
                  <a:srgbClr val="FF0000"/>
                </a:solidFill>
              </a:rPr>
              <a:t>→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literal adj.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字面上的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逐字的 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zh-CN" altLang="en-US" sz="3600" b="1" dirty="0">
                <a:solidFill>
                  <a:srgbClr val="FF0000"/>
                </a:solidFill>
              </a:rPr>
              <a:t>→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literary adj.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文学的→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literature n.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文学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(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作品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)</a:t>
            </a: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literate adj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有读写能力的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精通文学的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n.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有文化的人</a:t>
            </a:r>
            <a:endParaRPr kumimoji="1" lang="en-US" altLang="zh-CN" sz="3600" b="1" dirty="0">
              <a:solidFill>
                <a:srgbClr val="FF0000"/>
              </a:solidFill>
            </a:endParaRPr>
          </a:p>
          <a:p>
            <a:r>
              <a:rPr kumimoji="1" lang="en-US" altLang="zh-CN" sz="3600" b="1" dirty="0">
                <a:solidFill>
                  <a:srgbClr val="FF0000"/>
                </a:solidFill>
              </a:rPr>
              <a:t> illiterate </a:t>
            </a:r>
            <a:r>
              <a:rPr kumimoji="1" lang="en-US" altLang="zh-CN" sz="3600" b="1" dirty="0" err="1">
                <a:solidFill>
                  <a:srgbClr val="FF0000"/>
                </a:solidFill>
              </a:rPr>
              <a:t>adj.n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.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不识字的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;</a:t>
            </a:r>
            <a:r>
              <a:rPr kumimoji="1" lang="zh-CN" altLang="en-US" sz="3600" b="1" dirty="0">
                <a:solidFill>
                  <a:srgbClr val="FF0000"/>
                </a:solidFill>
              </a:rPr>
              <a:t>文盲</a:t>
            </a:r>
            <a:endParaRPr kumimoji="1" lang="en-US" altLang="zh-CN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kumimoji="1" lang="en-US" altLang="zh-CN" b="1" dirty="0"/>
              <a:t>54. cruel adj.</a:t>
            </a:r>
            <a:r>
              <a:rPr kumimoji="1" lang="zh-CN" altLang="en-US" b="1" dirty="0"/>
              <a:t>残酷的</a:t>
            </a:r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(</a:t>
            </a:r>
            <a:r>
              <a:rPr kumimoji="1" lang="en-US" altLang="zh-CN" b="1" dirty="0" err="1">
                <a:solidFill>
                  <a:srgbClr val="FF0000"/>
                </a:solidFill>
              </a:rPr>
              <a:t>crueller</a:t>
            </a:r>
            <a:r>
              <a:rPr kumimoji="1" lang="en-US" altLang="zh-CN" b="1" dirty="0">
                <a:solidFill>
                  <a:srgbClr val="FF0000"/>
                </a:solidFill>
              </a:rPr>
              <a:t>, </a:t>
            </a:r>
            <a:r>
              <a:rPr kumimoji="1" lang="en-US" altLang="zh-CN" b="1" dirty="0" err="1">
                <a:solidFill>
                  <a:srgbClr val="FF0000"/>
                </a:solidFill>
              </a:rPr>
              <a:t>cruellest</a:t>
            </a:r>
            <a:r>
              <a:rPr kumimoji="1" lang="en-US" altLang="zh-CN" b="1" dirty="0">
                <a:solidFill>
                  <a:srgbClr val="FF0000"/>
                </a:solidFill>
              </a:rPr>
              <a:t>)</a:t>
            </a: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be cruel </a:t>
            </a:r>
            <a:r>
              <a:rPr kumimoji="1" lang="en-US" altLang="zh-CN" b="1" u="sng" dirty="0">
                <a:solidFill>
                  <a:srgbClr val="FF0000"/>
                </a:solidFill>
                <a:highlight>
                  <a:srgbClr val="FFFF00"/>
                </a:highlight>
              </a:rPr>
              <a:t>to </a:t>
            </a:r>
            <a:r>
              <a:rPr kumimoji="1" lang="zh-CN" altLang="en-US" b="1" dirty="0">
                <a:solidFill>
                  <a:srgbClr val="FF0000"/>
                </a:solidFill>
              </a:rPr>
              <a:t>对</a:t>
            </a:r>
            <a:r>
              <a:rPr kumimoji="1" lang="en-US" altLang="zh-CN" b="1" dirty="0">
                <a:solidFill>
                  <a:srgbClr val="FF0000"/>
                </a:solidFill>
              </a:rPr>
              <a:t>…</a:t>
            </a:r>
            <a:r>
              <a:rPr kumimoji="1" lang="zh-CN" altLang="en-US" b="1" dirty="0">
                <a:solidFill>
                  <a:srgbClr val="FF0000"/>
                </a:solidFill>
              </a:rPr>
              <a:t>残忍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cruelly adv.</a:t>
            </a:r>
            <a:r>
              <a:rPr lang="zh-CN" altLang="zh-CN" dirty="0"/>
              <a:t>残酷</a:t>
            </a:r>
            <a:r>
              <a:rPr lang="en-US" altLang="zh-CN" dirty="0"/>
              <a:t>/</a:t>
            </a:r>
            <a:r>
              <a:rPr lang="zh-CN" altLang="zh-CN" dirty="0"/>
              <a:t>忍地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cruel</a:t>
            </a:r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</a:rPr>
              <a:t>ty</a:t>
            </a:r>
            <a:r>
              <a:rPr kumimoji="1" lang="en-US" altLang="zh-CN" b="1" dirty="0">
                <a:solidFill>
                  <a:srgbClr val="FF0000"/>
                </a:solidFill>
              </a:rPr>
              <a:t> n.</a:t>
            </a:r>
            <a:r>
              <a:rPr kumimoji="1" lang="zh-CN" altLang="en-US" b="1" dirty="0">
                <a:solidFill>
                  <a:srgbClr val="FF0000"/>
                </a:solidFill>
              </a:rPr>
              <a:t>残忍</a:t>
            </a:r>
            <a:r>
              <a:rPr kumimoji="1" lang="en-US" altLang="zh-CN" b="1" dirty="0">
                <a:solidFill>
                  <a:srgbClr val="FF0000"/>
                </a:solidFill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</a:rPr>
              <a:t>酷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lang="en-US" altLang="zh-CN" dirty="0"/>
              <a:t>I can't stand people who are cruel to animals. </a:t>
            </a:r>
            <a:r>
              <a:rPr lang="zh-CN" altLang="zh-CN" dirty="0"/>
              <a:t>我无法容忍虐待动物的人。</a:t>
            </a:r>
            <a:endParaRPr lang="en-US" altLang="zh-CN" dirty="0"/>
          </a:p>
          <a:p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/>
              <a:t>55.iron </a:t>
            </a:r>
            <a:r>
              <a:rPr kumimoji="1" lang="en-US" altLang="zh-CN" b="1" dirty="0" err="1"/>
              <a:t>n.v.</a:t>
            </a:r>
            <a:r>
              <a:rPr kumimoji="1" lang="zh-CN" altLang="en-US" b="1" dirty="0"/>
              <a:t>铁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熨斗</a:t>
            </a:r>
            <a:r>
              <a:rPr kumimoji="1" lang="en-US" altLang="zh-CN" b="1" dirty="0"/>
              <a:t>;</a:t>
            </a:r>
            <a:r>
              <a:rPr kumimoji="1" lang="zh-CN" altLang="en-US" b="1" dirty="0"/>
              <a:t>烫平</a:t>
            </a:r>
            <a:endParaRPr kumimoji="1" lang="en-US" altLang="zh-CN" b="1" dirty="0"/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strike while the iron is hot</a:t>
            </a:r>
            <a:r>
              <a:rPr kumimoji="1" lang="zh-CN" altLang="en-US" b="1" dirty="0">
                <a:solidFill>
                  <a:srgbClr val="FF0000"/>
                </a:solidFill>
              </a:rPr>
              <a:t>趁热打铁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/>
              <a:t>a man with an iron will</a:t>
            </a:r>
            <a:r>
              <a:rPr kumimoji="1" lang="zh-CN" altLang="en-US" b="1" dirty="0"/>
              <a:t>意志坚强的男子</a:t>
            </a:r>
            <a:endParaRPr kumimoji="1" lang="en-US" altLang="zh-CN" b="1" dirty="0"/>
          </a:p>
          <a:p>
            <a:r>
              <a:rPr kumimoji="1" lang="zh-CN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iron out= smooth over</a:t>
            </a:r>
            <a:r>
              <a:rPr kumimoji="1" lang="zh-CN" altLang="en-US" b="1" dirty="0">
                <a:solidFill>
                  <a:srgbClr val="FF0000"/>
                </a:solidFill>
              </a:rPr>
              <a:t>解决</a:t>
            </a:r>
            <a:r>
              <a:rPr kumimoji="1" lang="en-US" altLang="zh-CN" b="1" dirty="0">
                <a:solidFill>
                  <a:srgbClr val="FF0000"/>
                </a:solidFill>
              </a:rPr>
              <a:t> (+a problem)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>
          <a:xfrm>
            <a:off x="165920" y="1252776"/>
            <a:ext cx="8792491" cy="224368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4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(1)</a:t>
            </a:r>
            <a:r>
              <a:rPr lang="en-US" altLang="zh-CN" sz="2800" b="1" dirty="0">
                <a:solidFill>
                  <a:srgbClr val="FF0000"/>
                </a:solidFill>
              </a:rPr>
              <a:t>relate A and/to/with B </a:t>
            </a:r>
          </a:p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(2)</a:t>
            </a:r>
            <a:r>
              <a:rPr lang="en-US" altLang="zh-CN" sz="2800" b="1" dirty="0">
                <a:solidFill>
                  <a:srgbClr val="FF0000"/>
                </a:solidFill>
              </a:rPr>
              <a:t>related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	adj. 有关系的，有联系的，相关的</a:t>
            </a:r>
          </a:p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(3)relation 	n.(人际或团体之间的)关系，联系，交往</a:t>
            </a:r>
          </a:p>
          <a:p>
            <a:r>
              <a:rPr lang="en-US" altLang="zh-CN" sz="2800" b="1" dirty="0">
                <a:solidFill>
                  <a:srgbClr val="FF0000"/>
                </a:solidFill>
              </a:rPr>
              <a:t>in/with relation to </a:t>
            </a:r>
            <a:r>
              <a:rPr lang="en-US" altLang="zh-CN" sz="2800" b="1" dirty="0" err="1">
                <a:solidFill>
                  <a:srgbClr val="FF0000"/>
                </a:solidFill>
              </a:rPr>
              <a:t>sth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关于；至于；相对某事物而言</a:t>
            </a:r>
          </a:p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(4)</a:t>
            </a:r>
            <a:r>
              <a:rPr lang="en-US" altLang="zh-CN" sz="2800" b="1" dirty="0">
                <a:solidFill>
                  <a:srgbClr val="FF0000"/>
                </a:solidFill>
              </a:rPr>
              <a:t>relative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	adj.  </a:t>
            </a:r>
            <a:r>
              <a:rPr lang="en-US" altLang="zh-CN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比较的,相对的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n. 家人; 亲属, 亲戚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535332" y="152137"/>
            <a:ext cx="8586546" cy="1100638"/>
          </a:xfrm>
        </p:spPr>
        <p:txBody>
          <a:bodyPr/>
          <a:lstStyle/>
          <a:p>
            <a:r>
              <a:rPr lang="en-US" altLang="zh-CN"/>
              <a:t>English also has a large number of idioms related to boxing,   which has been a popular sport for thousands of years.</a:t>
            </a:r>
          </a:p>
        </p:txBody>
      </p:sp>
      <p:sp>
        <p:nvSpPr>
          <p:cNvPr id="69" name="文本框 8"/>
          <p:cNvSpPr txBox="1"/>
          <p:nvPr/>
        </p:nvSpPr>
        <p:spPr>
          <a:xfrm>
            <a:off x="4355976" y="1340768"/>
            <a:ext cx="500404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400" spc="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vt.</a:t>
            </a:r>
            <a:r>
              <a:rPr lang="en-US" altLang="zh-CN" sz="24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联系；讲述；叙述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5920" y="3614444"/>
            <a:ext cx="8792490" cy="15501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spc="3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zh-CN" sz="2800"/>
          </a:p>
        </p:txBody>
      </p:sp>
      <p:sp>
        <p:nvSpPr>
          <p:cNvPr id="8" name="矩形 7"/>
          <p:cNvSpPr/>
          <p:nvPr/>
        </p:nvSpPr>
        <p:spPr>
          <a:xfrm>
            <a:off x="1" y="3654509"/>
            <a:ext cx="9144000" cy="3139297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Her boyfriend is a distant ________(relate) of mine.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She _________________________________ to the police.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她将上个星期所发生的事情跟警察叙述了一遍。 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Trainees should be invited to  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________________________.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应该要求实习生把新想法与他们的以往经历相联系。 </a:t>
            </a:r>
          </a:p>
        </p:txBody>
      </p:sp>
      <p:sp>
        <p:nvSpPr>
          <p:cNvPr id="9" name="矩形 8"/>
          <p:cNvSpPr/>
          <p:nvPr/>
        </p:nvSpPr>
        <p:spPr>
          <a:xfrm>
            <a:off x="4283968" y="3717032"/>
            <a:ext cx="1442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relative</a:t>
            </a:r>
          </a:p>
        </p:txBody>
      </p:sp>
      <p:sp>
        <p:nvSpPr>
          <p:cNvPr id="11" name="矩形 10"/>
          <p:cNvSpPr/>
          <p:nvPr/>
        </p:nvSpPr>
        <p:spPr>
          <a:xfrm>
            <a:off x="963466" y="4073876"/>
            <a:ext cx="6891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related the events of the previous week </a:t>
            </a:r>
          </a:p>
        </p:txBody>
      </p:sp>
      <p:sp>
        <p:nvSpPr>
          <p:cNvPr id="12" name="矩形 11"/>
          <p:cNvSpPr/>
          <p:nvPr/>
        </p:nvSpPr>
        <p:spPr>
          <a:xfrm>
            <a:off x="165920" y="5322369"/>
            <a:ext cx="72893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relate new ideas to their past experiences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>
          <a:xfrm>
            <a:off x="165920" y="1252776"/>
            <a:ext cx="8792491" cy="64976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4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make + </a:t>
            </a:r>
            <a:r>
              <a:rPr lang="en-US" altLang="zh-CN" sz="3600" b="1" dirty="0" err="1">
                <a:solidFill>
                  <a:srgbClr val="FF0000"/>
                </a:solidFill>
              </a:rPr>
              <a:t>宾语</a:t>
            </a:r>
            <a:r>
              <a:rPr lang="en-US" altLang="zh-CN" sz="3600" b="1" dirty="0">
                <a:solidFill>
                  <a:srgbClr val="FF0000"/>
                </a:solidFill>
              </a:rPr>
              <a:t> + </a:t>
            </a:r>
            <a:r>
              <a:rPr lang="en-US" altLang="zh-CN" sz="3600" b="1" dirty="0" err="1">
                <a:solidFill>
                  <a:srgbClr val="FF0000"/>
                </a:solidFill>
              </a:rPr>
              <a:t>宾补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535332" y="152137"/>
            <a:ext cx="8586546" cy="1100638"/>
          </a:xfrm>
        </p:spPr>
        <p:txBody>
          <a:bodyPr/>
          <a:lstStyle/>
          <a:p>
            <a:r>
              <a:rPr lang="en-US" altLang="zh-CN"/>
              <a:t>Idioms make language more colorful and expressive. </a:t>
            </a:r>
          </a:p>
        </p:txBody>
      </p:sp>
      <p:sp>
        <p:nvSpPr>
          <p:cNvPr id="8" name="矩形 7"/>
          <p:cNvSpPr/>
          <p:nvPr/>
        </p:nvSpPr>
        <p:spPr>
          <a:xfrm>
            <a:off x="165919" y="2150184"/>
            <a:ext cx="8792491" cy="47078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Music makes your life colorful.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We made him our monitor.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You can make that dream come true.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→That dream can be made to come true.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speaker raised his voice in order to make himself heard.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I make it a rule to write an essay every week. </a:t>
            </a:r>
          </a:p>
        </p:txBody>
      </p:sp>
      <p:sp>
        <p:nvSpPr>
          <p:cNvPr id="9" name="矩形 8"/>
          <p:cNvSpPr/>
          <p:nvPr/>
        </p:nvSpPr>
        <p:spPr>
          <a:xfrm>
            <a:off x="5018138" y="1556792"/>
            <a:ext cx="4125862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make + 宾语 + adj. </a:t>
            </a:r>
          </a:p>
        </p:txBody>
      </p:sp>
      <p:sp>
        <p:nvSpPr>
          <p:cNvPr id="10" name="矩形 9"/>
          <p:cNvSpPr/>
          <p:nvPr/>
        </p:nvSpPr>
        <p:spPr>
          <a:xfrm>
            <a:off x="4716016" y="2492896"/>
            <a:ext cx="29587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make + 宾语 + n. </a:t>
            </a:r>
          </a:p>
        </p:txBody>
      </p:sp>
      <p:sp>
        <p:nvSpPr>
          <p:cNvPr id="11" name="矩形 10"/>
          <p:cNvSpPr/>
          <p:nvPr/>
        </p:nvSpPr>
        <p:spPr>
          <a:xfrm>
            <a:off x="5004048" y="3140968"/>
            <a:ext cx="3816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make + 宾语 + do </a:t>
            </a:r>
            <a:r>
              <a:rPr lang="en-US" altLang="zh-CN" sz="2800" b="1" kern="100" dirty="0" err="1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sth</a:t>
            </a:r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. </a:t>
            </a:r>
          </a:p>
        </p:txBody>
      </p:sp>
      <p:sp>
        <p:nvSpPr>
          <p:cNvPr id="12" name="矩形 11"/>
          <p:cNvSpPr/>
          <p:nvPr/>
        </p:nvSpPr>
        <p:spPr>
          <a:xfrm>
            <a:off x="2915816" y="4365104"/>
            <a:ext cx="3497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make + 宾语 + done </a:t>
            </a:r>
          </a:p>
        </p:txBody>
      </p:sp>
      <p:sp>
        <p:nvSpPr>
          <p:cNvPr id="16" name="矩形 15"/>
          <p:cNvSpPr/>
          <p:nvPr/>
        </p:nvSpPr>
        <p:spPr>
          <a:xfrm>
            <a:off x="179512" y="5373216"/>
            <a:ext cx="8552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make +it +adj.+ to do </a:t>
            </a:r>
            <a:r>
              <a:rPr lang="en-US" altLang="zh-CN" sz="3600" b="1" kern="100" dirty="0" err="1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sth</a:t>
            </a:r>
            <a:r>
              <a:rPr lang="en-US" altLang="zh-CN" sz="36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>
          <a:xfrm>
            <a:off x="165920" y="1252776"/>
            <a:ext cx="8792491" cy="12839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alpha val="4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表示前者的陈述也适用于后者，用so, neither, nor分别表示肯定和否定意义时，句子部分倒装。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535332" y="152137"/>
            <a:ext cx="8586546" cy="1100638"/>
          </a:xfrm>
        </p:spPr>
        <p:txBody>
          <a:bodyPr/>
          <a:lstStyle/>
          <a:p>
            <a:r>
              <a:rPr lang="en-US" altLang="zh-CN"/>
              <a:t>Sport is challenging and so is the study of the English language.</a:t>
            </a:r>
          </a:p>
        </p:txBody>
      </p:sp>
      <p:sp>
        <p:nvSpPr>
          <p:cNvPr id="8" name="矩形 7"/>
          <p:cNvSpPr/>
          <p:nvPr/>
        </p:nvSpPr>
        <p:spPr>
          <a:xfrm>
            <a:off x="165919" y="2518890"/>
            <a:ext cx="8792491" cy="3139297"/>
          </a:xfrm>
          <a:prstGeom prst="rect">
            <a:avLst/>
          </a:prstGeom>
        </p:spPr>
        <p:txBody>
          <a:bodyPr wrap="square" lIns="121898" tIns="60948" rIns="121898" bIns="60948">
            <a:spAutoFit/>
          </a:bodyPr>
          <a:lstStyle>
            <a:defPPr>
              <a:defRPr lang="zh-CN"/>
            </a:defPPr>
            <a:lvl1pPr marL="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—I usually have milk and bread for breakfast.		—So _____ I.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Jenny has finished her homework. So _______ her brothers.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If Joe doesn’t go to the party, _____________ do I.</a:t>
            </a:r>
          </a:p>
          <a:p>
            <a:pPr algn="just"/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Courier New" panose="02070309020205020404" pitchFamily="49" charset="0"/>
              </a:rPr>
              <a:t>Aunt really enjoyed France and _________ grandma and I.</a:t>
            </a:r>
          </a:p>
        </p:txBody>
      </p:sp>
      <p:sp>
        <p:nvSpPr>
          <p:cNvPr id="9" name="矩形 8"/>
          <p:cNvSpPr/>
          <p:nvPr/>
        </p:nvSpPr>
        <p:spPr>
          <a:xfrm>
            <a:off x="2411760" y="2996952"/>
            <a:ext cx="631515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do</a:t>
            </a:r>
          </a:p>
        </p:txBody>
      </p:sp>
      <p:sp>
        <p:nvSpPr>
          <p:cNvPr id="10" name="矩形 9"/>
          <p:cNvSpPr/>
          <p:nvPr/>
        </p:nvSpPr>
        <p:spPr>
          <a:xfrm>
            <a:off x="6804248" y="3356992"/>
            <a:ext cx="10030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have</a:t>
            </a:r>
          </a:p>
        </p:txBody>
      </p:sp>
      <p:sp>
        <p:nvSpPr>
          <p:cNvPr id="11" name="矩形 10"/>
          <p:cNvSpPr/>
          <p:nvPr/>
        </p:nvSpPr>
        <p:spPr>
          <a:xfrm>
            <a:off x="5076056" y="4221088"/>
            <a:ext cx="2059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neither/nor</a:t>
            </a:r>
          </a:p>
        </p:txBody>
      </p:sp>
      <p:sp>
        <p:nvSpPr>
          <p:cNvPr id="12" name="矩形 11"/>
          <p:cNvSpPr/>
          <p:nvPr/>
        </p:nvSpPr>
        <p:spPr>
          <a:xfrm>
            <a:off x="5508104" y="4653136"/>
            <a:ext cx="1241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100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so did 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0.11.30"/>
  <p:tag name="AS_TITLE" val="Aspose.Slides for Java"/>
  <p:tag name="AS_VERSION" val="20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8332;#405340;#405095;#405340;#405366;#407023;#406976;#406992;#406979;#406980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8332;#405340;#405095;#405340;#405366;#407023;#406976;#406992;#406979;#40698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8332;#405340;#405095;#405340;#405366;#407023;#406976;#406992;#406979;#406980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4804</Words>
  <Application>Microsoft Office PowerPoint</Application>
  <PresentationFormat>全屏显示(4:3)</PresentationFormat>
  <Paragraphs>438</Paragraphs>
  <Slides>48</Slides>
  <Notes>1</Notes>
  <HiddenSlides>3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等线</vt:lpstr>
      <vt:lpstr>等线 Light</vt:lpstr>
      <vt:lpstr>Arial</vt:lpstr>
      <vt:lpstr>Calibri</vt:lpstr>
      <vt:lpstr>Comic Sans MS</vt:lpstr>
      <vt:lpstr>Times New Roman</vt:lpstr>
      <vt:lpstr>Office 主题​​</vt:lpstr>
      <vt:lpstr>OB2U2 Vocabulary</vt:lpstr>
      <vt:lpstr>1.participate vi.</vt:lpstr>
      <vt:lpstr>2.compete vi.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P23-27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rbm.xkw.com</dc:creator>
  <cp:lastModifiedBy>静 刘</cp:lastModifiedBy>
  <cp:revision>108</cp:revision>
  <cp:lastPrinted>2021-08-14T15:56:00Z</cp:lastPrinted>
  <dcterms:created xsi:type="dcterms:W3CDTF">2021-08-14T15:56:00Z</dcterms:created>
  <dcterms:modified xsi:type="dcterms:W3CDTF">2025-11-28T01:51:01Z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ICV">
    <vt:lpwstr>80A63329B15846259D2175EF4790A447_12</vt:lpwstr>
  </property>
  <property fmtid="{D5CDD505-2E9C-101B-9397-08002B2CF9AE}" pid="7" name="KSOProductBuildVer">
    <vt:lpwstr>2052-12.1.0.23542</vt:lpwstr>
  </property>
</Properties>
</file>