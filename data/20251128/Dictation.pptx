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787" r:id="rId3"/>
    <p:sldId id="786" r:id="rId4"/>
    <p:sldId id="789" r:id="rId5"/>
    <p:sldId id="790" r:id="rId6"/>
    <p:sldId id="791" r:id="rId7"/>
    <p:sldId id="792" r:id="rId8"/>
    <p:sldId id="793" r:id="rId9"/>
    <p:sldId id="794" r:id="rId10"/>
    <p:sldId id="781" r:id="rId11"/>
    <p:sldId id="788" r:id="rId12"/>
    <p:sldId id="782" r:id="rId13"/>
    <p:sldId id="780" r:id="rId14"/>
    <p:sldId id="779" r:id="rId15"/>
    <p:sldId id="778" r:id="rId16"/>
    <p:sldId id="771" r:id="rId17"/>
    <p:sldId id="382" r:id="rId18"/>
    <p:sldId id="384" r:id="rId19"/>
    <p:sldId id="777" r:id="rId20"/>
    <p:sldId id="770" r:id="rId21"/>
    <p:sldId id="783" r:id="rId22"/>
    <p:sldId id="784" r:id="rId23"/>
    <p:sldId id="785" r:id="rId24"/>
    <p:sldId id="383" r:id="rId25"/>
    <p:sldId id="769" r:id="rId26"/>
    <p:sldId id="381" r:id="rId27"/>
    <p:sldId id="380" r:id="rId28"/>
    <p:sldId id="379" r:id="rId29"/>
    <p:sldId id="764" r:id="rId30"/>
    <p:sldId id="765" r:id="rId31"/>
    <p:sldId id="766" r:id="rId32"/>
    <p:sldId id="767" r:id="rId33"/>
    <p:sldId id="768" r:id="rId34"/>
    <p:sldId id="370" r:id="rId35"/>
    <p:sldId id="371" r:id="rId36"/>
    <p:sldId id="372" r:id="rId37"/>
    <p:sldId id="347" r:id="rId38"/>
    <p:sldId id="374" r:id="rId39"/>
    <p:sldId id="375" r:id="rId40"/>
    <p:sldId id="346" r:id="rId41"/>
    <p:sldId id="345" r:id="rId42"/>
    <p:sldId id="344" r:id="rId43"/>
    <p:sldId id="350" r:id="rId44"/>
    <p:sldId id="295" r:id="rId45"/>
    <p:sldId id="296" r:id="rId46"/>
    <p:sldId id="294" r:id="rId47"/>
    <p:sldId id="293" r:id="rId48"/>
    <p:sldId id="316" r:id="rId49"/>
    <p:sldId id="343" r:id="rId50"/>
    <p:sldId id="321" r:id="rId51"/>
    <p:sldId id="292" r:id="rId52"/>
    <p:sldId id="315" r:id="rId53"/>
    <p:sldId id="291" r:id="rId54"/>
    <p:sldId id="282" r:id="rId55"/>
    <p:sldId id="283" r:id="rId56"/>
    <p:sldId id="272" r:id="rId57"/>
    <p:sldId id="284" r:id="rId58"/>
    <p:sldId id="285" r:id="rId59"/>
    <p:sldId id="271" r:id="rId60"/>
    <p:sldId id="280" r:id="rId61"/>
    <p:sldId id="277" r:id="rId62"/>
    <p:sldId id="268" r:id="rId63"/>
    <p:sldId id="270" r:id="rId64"/>
    <p:sldId id="265" r:id="rId65"/>
    <p:sldId id="267" r:id="rId66"/>
    <p:sldId id="264" r:id="rId67"/>
    <p:sldId id="266" r:id="rId68"/>
    <p:sldId id="278" r:id="rId69"/>
    <p:sldId id="279" r:id="rId70"/>
    <p:sldId id="257" r:id="rId71"/>
    <p:sldId id="262" r:id="rId72"/>
    <p:sldId id="260" r:id="rId73"/>
    <p:sldId id="261" r:id="rId7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静 刘" initials="静刘" lastIdx="0"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26" autoAdjust="0"/>
    <p:restoredTop sz="94660"/>
  </p:normalViewPr>
  <p:slideViewPr>
    <p:cSldViewPr snapToGrid="0">
      <p:cViewPr varScale="1">
        <p:scale>
          <a:sx n="49" d="100"/>
          <a:sy n="49" d="100"/>
        </p:scale>
        <p:origin x="27" y="41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65A8FD32-74DC-42C2-89CC-05E54E8B6768}" type="datetimeFigureOut">
              <a:rPr lang="zh-CN" altLang="en-US" smtClean="0"/>
              <a:t>2025/11/28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6C5FF1D-9BEB-48F2-BA1A-48419C81CB75}"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65A8FD32-74DC-42C2-89CC-05E54E8B6768}" type="datetimeFigureOut">
              <a:rPr lang="zh-CN" altLang="en-US" smtClean="0"/>
              <a:t>2025/11/28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6C5FF1D-9BEB-48F2-BA1A-48419C81CB75}"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65A8FD32-74DC-42C2-89CC-05E54E8B6768}" type="datetimeFigureOut">
              <a:rPr lang="zh-CN" altLang="en-US" smtClean="0"/>
              <a:t>2025/11/28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6C5FF1D-9BEB-48F2-BA1A-48419C81CB75}"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65A8FD32-74DC-42C2-89CC-05E54E8B6768}" type="datetimeFigureOut">
              <a:rPr lang="zh-CN" altLang="en-US" smtClean="0"/>
              <a:t>2025/11/28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6C5FF1D-9BEB-48F2-BA1A-48419C81CB75}"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65A8FD32-74DC-42C2-89CC-05E54E8B6768}" type="datetimeFigureOut">
              <a:rPr lang="zh-CN" altLang="en-US" smtClean="0"/>
              <a:t>2025/11/28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66C5FF1D-9BEB-48F2-BA1A-48419C81CB75}"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65A8FD32-74DC-42C2-89CC-05E54E8B6768}" type="datetimeFigureOut">
              <a:rPr lang="zh-CN" altLang="en-US" smtClean="0"/>
              <a:t>2025/11/28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6C5FF1D-9BEB-48F2-BA1A-48419C81CB75}"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5A8FD32-74DC-42C2-89CC-05E54E8B6768}" type="datetimeFigureOut">
              <a:rPr lang="zh-CN" altLang="en-US" smtClean="0"/>
              <a:t>2025/11/28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6C5FF1D-9BEB-48F2-BA1A-48419C81CB75}"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65A8FD32-74DC-42C2-89CC-05E54E8B6768}" type="datetimeFigureOut">
              <a:rPr lang="zh-CN" altLang="en-US" smtClean="0"/>
              <a:t>2025/11/28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6C5FF1D-9BEB-48F2-BA1A-48419C81CB75}"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65A8FD32-74DC-42C2-89CC-05E54E8B6768}" type="datetimeFigureOut">
              <a:rPr lang="zh-CN" altLang="en-US" smtClean="0"/>
              <a:t>2025/11/28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6C5FF1D-9BEB-48F2-BA1A-48419C81CB75}"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65A8FD32-74DC-42C2-89CC-05E54E8B6768}" type="datetimeFigureOut">
              <a:rPr lang="zh-CN" altLang="en-US" smtClean="0"/>
              <a:t>2025/11/28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6C5FF1D-9BEB-48F2-BA1A-48419C81CB75}"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65A8FD32-74DC-42C2-89CC-05E54E8B6768}" type="datetimeFigureOut">
              <a:rPr lang="zh-CN" altLang="en-US" smtClean="0"/>
              <a:t>2025/11/28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6C5FF1D-9BEB-48F2-BA1A-48419C81CB75}"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5A8FD32-74DC-42C2-89CC-05E54E8B6768}" type="datetimeFigureOut">
              <a:rPr lang="zh-CN" altLang="en-US" smtClean="0"/>
              <a:t>2025/11/28</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C5FF1D-9BEB-48F2-BA1A-48419C81CB75}"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en-US" altLang="zh-CN" dirty="0"/>
              <a:t>Dictation</a:t>
            </a:r>
            <a:endParaRPr lang="zh-CN" altLang="en-US" dirty="0"/>
          </a:p>
        </p:txBody>
      </p:sp>
      <p:sp>
        <p:nvSpPr>
          <p:cNvPr id="3" name="副标题 2"/>
          <p:cNvSpPr>
            <a:spLocks noGrp="1"/>
          </p:cNvSpPr>
          <p:nvPr>
            <p:ph type="subTitle" idx="1"/>
          </p:nvPr>
        </p:nvSpPr>
        <p:spPr/>
        <p:txBody>
          <a:bodyPr/>
          <a:lstStyle/>
          <a:p>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lnSpcReduction="10000"/>
          </a:bodyPr>
          <a:lstStyle/>
          <a:p>
            <a:endParaRPr lang="en-US" altLang="zh-CN" sz="3600" b="1" dirty="0">
              <a:solidFill>
                <a:srgbClr val="FF0000"/>
              </a:solidFill>
              <a:sym typeface="+mn-ea"/>
            </a:endParaRPr>
          </a:p>
          <a:p>
            <a:r>
              <a:rPr lang="en-US" altLang="zh-CN" sz="3600" b="1" dirty="0">
                <a:solidFill>
                  <a:srgbClr val="FF0000"/>
                </a:solidFill>
                <a:sym typeface="+mn-ea"/>
              </a:rPr>
              <a:t>U2</a:t>
            </a:r>
          </a:p>
          <a:p>
            <a:r>
              <a:rPr lang="en-US" altLang="zh-CN" sz="3600" b="1" dirty="0">
                <a:solidFill>
                  <a:srgbClr val="FF0000"/>
                </a:solidFill>
                <a:sym typeface="+mn-ea"/>
              </a:rPr>
              <a:t>1.</a:t>
            </a:r>
            <a:r>
              <a:rPr lang="zh-CN" altLang="en-US" sz="3600" b="1" dirty="0">
                <a:solidFill>
                  <a:srgbClr val="FF0000"/>
                </a:solidFill>
                <a:sym typeface="+mn-ea"/>
              </a:rPr>
              <a:t>和</a:t>
            </a:r>
            <a:r>
              <a:rPr lang="en-US" altLang="zh-CN" sz="3600" b="1" dirty="0">
                <a:solidFill>
                  <a:srgbClr val="FF0000"/>
                </a:solidFill>
                <a:sym typeface="+mn-ea"/>
              </a:rPr>
              <a:t>…</a:t>
            </a:r>
            <a:r>
              <a:rPr lang="zh-CN" altLang="en-US" sz="3600" b="1" dirty="0">
                <a:solidFill>
                  <a:srgbClr val="FF0000"/>
                </a:solidFill>
                <a:sym typeface="+mn-ea"/>
              </a:rPr>
              <a:t>一起参与某事→</a:t>
            </a:r>
            <a:r>
              <a:rPr lang="en-US" altLang="zh-CN" sz="3600" b="1" dirty="0">
                <a:solidFill>
                  <a:srgbClr val="FF0000"/>
                </a:solidFill>
                <a:sym typeface="+mn-ea"/>
              </a:rPr>
              <a:t>n.</a:t>
            </a:r>
            <a:r>
              <a:rPr lang="zh-CN" altLang="en-US" sz="3600" b="1" dirty="0">
                <a:solidFill>
                  <a:srgbClr val="FF0000"/>
                </a:solidFill>
                <a:sym typeface="+mn-ea"/>
              </a:rPr>
              <a:t>参加→</a:t>
            </a:r>
            <a:r>
              <a:rPr lang="en-US" altLang="zh-CN" sz="3600" b="1" dirty="0">
                <a:solidFill>
                  <a:srgbClr val="FF0000"/>
                </a:solidFill>
                <a:sym typeface="+mn-ea"/>
              </a:rPr>
              <a:t>n.</a:t>
            </a:r>
            <a:r>
              <a:rPr lang="zh-CN" altLang="en-US" sz="3600" b="1" dirty="0">
                <a:solidFill>
                  <a:srgbClr val="FF0000"/>
                </a:solidFill>
                <a:sym typeface="+mn-ea"/>
              </a:rPr>
              <a:t>参与者</a:t>
            </a:r>
            <a:r>
              <a:rPr lang="en-US" altLang="zh-CN" sz="3600" b="1" dirty="0">
                <a:solidFill>
                  <a:srgbClr val="FF0000"/>
                </a:solidFill>
                <a:sym typeface="+mn-ea"/>
              </a:rPr>
              <a:t> 2.</a:t>
            </a:r>
            <a:r>
              <a:rPr lang="zh-CN" altLang="en-US" sz="3600" b="1" dirty="0">
                <a:solidFill>
                  <a:srgbClr val="FF0000"/>
                </a:solidFill>
                <a:sym typeface="+mn-ea"/>
              </a:rPr>
              <a:t>为</a:t>
            </a:r>
            <a:r>
              <a:rPr lang="en-US" altLang="zh-CN" sz="3600" b="1" dirty="0">
                <a:solidFill>
                  <a:srgbClr val="FF0000"/>
                </a:solidFill>
                <a:sym typeface="+mn-ea"/>
              </a:rPr>
              <a:t>...</a:t>
            </a:r>
            <a:r>
              <a:rPr lang="zh-CN" altLang="en-US" sz="3600" b="1" dirty="0">
                <a:solidFill>
                  <a:srgbClr val="FF0000"/>
                </a:solidFill>
                <a:sym typeface="+mn-ea"/>
              </a:rPr>
              <a:t>而竞争</a:t>
            </a:r>
            <a:r>
              <a:rPr lang="en-US" altLang="zh-CN" sz="3600" b="1" dirty="0">
                <a:solidFill>
                  <a:srgbClr val="FF0000"/>
                </a:solidFill>
                <a:sym typeface="+mn-ea"/>
              </a:rPr>
              <a:t>;</a:t>
            </a:r>
            <a:r>
              <a:rPr lang="zh-CN" altLang="en-US" sz="3600" b="1" dirty="0">
                <a:solidFill>
                  <a:srgbClr val="FF0000"/>
                </a:solidFill>
                <a:sym typeface="+mn-ea"/>
              </a:rPr>
              <a:t>同</a:t>
            </a:r>
            <a:r>
              <a:rPr lang="en-US" altLang="zh-CN" sz="3600" b="1" dirty="0">
                <a:solidFill>
                  <a:srgbClr val="FF0000"/>
                </a:solidFill>
                <a:sym typeface="+mn-ea"/>
              </a:rPr>
              <a:t>…</a:t>
            </a:r>
            <a:r>
              <a:rPr lang="zh-CN" altLang="en-US" sz="3600" b="1" dirty="0">
                <a:solidFill>
                  <a:srgbClr val="FF0000"/>
                </a:solidFill>
                <a:sym typeface="+mn-ea"/>
              </a:rPr>
              <a:t>竞争</a:t>
            </a:r>
            <a:r>
              <a:rPr lang="en-US" altLang="zh-CN" sz="3600" b="1" dirty="0">
                <a:solidFill>
                  <a:srgbClr val="FF0000"/>
                </a:solidFill>
                <a:sym typeface="+mn-ea"/>
              </a:rPr>
              <a:t>;</a:t>
            </a:r>
            <a:r>
              <a:rPr lang="zh-CN" altLang="en-US" sz="3600" b="1" dirty="0">
                <a:solidFill>
                  <a:srgbClr val="FF0000"/>
                </a:solidFill>
                <a:sym typeface="+mn-ea"/>
              </a:rPr>
              <a:t>参加</a:t>
            </a:r>
            <a:r>
              <a:rPr lang="en-US" altLang="zh-CN" sz="3600" b="1" dirty="0">
                <a:solidFill>
                  <a:srgbClr val="FF0000"/>
                </a:solidFill>
                <a:sym typeface="+mn-ea"/>
              </a:rPr>
              <a:t>....</a:t>
            </a:r>
            <a:r>
              <a:rPr lang="zh-CN" altLang="en-US" sz="3600" b="1" dirty="0">
                <a:solidFill>
                  <a:srgbClr val="FF0000"/>
                </a:solidFill>
                <a:sym typeface="+mn-ea"/>
              </a:rPr>
              <a:t>竞争→</a:t>
            </a:r>
            <a:r>
              <a:rPr lang="en-US" altLang="zh-CN" sz="3600" b="1" dirty="0">
                <a:solidFill>
                  <a:srgbClr val="FF0000"/>
                </a:solidFill>
                <a:sym typeface="+mn-ea"/>
              </a:rPr>
              <a:t>adj.</a:t>
            </a:r>
            <a:r>
              <a:rPr lang="zh-CN" altLang="en-US" sz="3600" b="1" dirty="0">
                <a:solidFill>
                  <a:srgbClr val="FF0000"/>
                </a:solidFill>
                <a:sym typeface="+mn-ea"/>
              </a:rPr>
              <a:t>有竞争力的→</a:t>
            </a:r>
            <a:r>
              <a:rPr lang="en-US" altLang="zh-CN" sz="3600" b="1" dirty="0">
                <a:solidFill>
                  <a:srgbClr val="FF0000"/>
                </a:solidFill>
                <a:sym typeface="+mn-ea"/>
              </a:rPr>
              <a:t>n.</a:t>
            </a:r>
            <a:r>
              <a:rPr lang="zh-CN" altLang="en-US" sz="3600" b="1" dirty="0">
                <a:solidFill>
                  <a:srgbClr val="FF0000"/>
                </a:solidFill>
                <a:sym typeface="+mn-ea"/>
              </a:rPr>
              <a:t>竞争者→</a:t>
            </a:r>
            <a:r>
              <a:rPr lang="en-US" altLang="zh-CN" sz="3600" dirty="0">
                <a:solidFill>
                  <a:srgbClr val="FF0000"/>
                </a:solidFill>
                <a:sym typeface="+mn-ea"/>
              </a:rPr>
              <a:t>n.</a:t>
            </a:r>
            <a:r>
              <a:rPr lang="zh-CN" altLang="en-US" sz="3600" b="1" dirty="0">
                <a:solidFill>
                  <a:srgbClr val="FF0000"/>
                </a:solidFill>
                <a:sym typeface="+mn-ea"/>
              </a:rPr>
              <a:t>比赛</a:t>
            </a:r>
            <a:r>
              <a:rPr lang="en-US" altLang="zh-CN" sz="3600" b="1" dirty="0">
                <a:solidFill>
                  <a:srgbClr val="FF0000"/>
                </a:solidFill>
                <a:sym typeface="+mn-ea"/>
              </a:rPr>
              <a:t> 3.</a:t>
            </a:r>
            <a:r>
              <a:rPr lang="zh-CN" altLang="en-US" sz="3600" dirty="0">
                <a:solidFill>
                  <a:srgbClr val="FF0000"/>
                </a:solidFill>
                <a:sym typeface="+mn-ea"/>
              </a:rPr>
              <a:t>种族歧视 </a:t>
            </a:r>
            <a:r>
              <a:rPr lang="en-US" altLang="zh-CN" sz="3600" dirty="0">
                <a:solidFill>
                  <a:srgbClr val="FF0000"/>
                </a:solidFill>
                <a:sym typeface="+mn-ea"/>
              </a:rPr>
              <a:t>4.</a:t>
            </a:r>
            <a:r>
              <a:rPr lang="en-US" altLang="zh-CN" sz="3600" b="1" dirty="0">
                <a:sym typeface="+mn-ea"/>
              </a:rPr>
              <a:t>adj.</a:t>
            </a:r>
            <a:r>
              <a:rPr lang="zh-CN" altLang="en-US" sz="3600" b="1" dirty="0">
                <a:sym typeface="+mn-ea"/>
              </a:rPr>
              <a:t>多种多样的</a:t>
            </a:r>
            <a:r>
              <a:rPr lang="zh-CN" altLang="en-US" sz="3600" b="1" dirty="0">
                <a:solidFill>
                  <a:srgbClr val="FF0000"/>
                </a:solidFill>
                <a:sym typeface="+mn-ea"/>
              </a:rPr>
              <a:t>→</a:t>
            </a:r>
            <a:r>
              <a:rPr lang="en-US" altLang="zh-CN" sz="3600" b="1" dirty="0">
                <a:sym typeface="+mn-ea"/>
              </a:rPr>
              <a:t>n.</a:t>
            </a:r>
            <a:r>
              <a:rPr lang="zh-CN" altLang="en-US" sz="3600" b="1" dirty="0">
                <a:sym typeface="+mn-ea"/>
              </a:rPr>
              <a:t>生物多样性 </a:t>
            </a:r>
            <a:r>
              <a:rPr lang="en-US" altLang="zh-CN" sz="3600" b="1" dirty="0">
                <a:sym typeface="+mn-ea"/>
              </a:rPr>
              <a:t>5.</a:t>
            </a:r>
            <a:r>
              <a:rPr lang="zh-CN" altLang="en-US" sz="3600" b="1" dirty="0">
                <a:sym typeface="+mn-ea"/>
              </a:rPr>
              <a:t>只有共同努力我们才能</a:t>
            </a:r>
            <a:r>
              <a:rPr lang="en-US" altLang="zh-CN" sz="3600" b="1" dirty="0">
                <a:sym typeface="+mn-ea"/>
              </a:rPr>
              <a:t>… 6.</a:t>
            </a:r>
            <a:r>
              <a:rPr lang="zh-CN" altLang="en-US" sz="3600" b="1" dirty="0">
                <a:solidFill>
                  <a:srgbClr val="FF0000"/>
                </a:solidFill>
                <a:sym typeface="+mn-ea"/>
              </a:rPr>
              <a:t>激励某人做某事</a:t>
            </a:r>
            <a:r>
              <a:rPr lang="en-US" altLang="zh-CN" sz="3600" b="1" dirty="0">
                <a:solidFill>
                  <a:srgbClr val="FF0000"/>
                </a:solidFill>
                <a:sym typeface="+mn-ea"/>
              </a:rPr>
              <a:t>;</a:t>
            </a:r>
            <a:r>
              <a:rPr lang="zh-CN" altLang="en-US" sz="3600" b="1" dirty="0">
                <a:solidFill>
                  <a:srgbClr val="FF0000"/>
                </a:solidFill>
                <a:sym typeface="+mn-ea"/>
              </a:rPr>
              <a:t>有做某事的动力</a:t>
            </a:r>
            <a:r>
              <a:rPr lang="en-US" altLang="zh-CN" sz="3600" b="1" dirty="0">
                <a:solidFill>
                  <a:srgbClr val="FF0000"/>
                </a:solidFill>
                <a:sym typeface="+mn-ea"/>
              </a:rPr>
              <a:t>;</a:t>
            </a:r>
            <a:r>
              <a:rPr lang="zh-CN" altLang="en-US" sz="3600" b="1" dirty="0">
                <a:solidFill>
                  <a:srgbClr val="FF0000"/>
                </a:solidFill>
                <a:sym typeface="+mn-ea"/>
              </a:rPr>
              <a:t>受到</a:t>
            </a:r>
            <a:r>
              <a:rPr lang="en-US" altLang="zh-CN" sz="3600" b="1" dirty="0">
                <a:solidFill>
                  <a:srgbClr val="FF0000"/>
                </a:solidFill>
                <a:sym typeface="+mn-ea"/>
              </a:rPr>
              <a:t>…</a:t>
            </a:r>
            <a:r>
              <a:rPr lang="zh-CN" altLang="en-US" sz="3600" b="1" dirty="0">
                <a:solidFill>
                  <a:srgbClr val="FF0000"/>
                </a:solidFill>
                <a:sym typeface="+mn-ea"/>
              </a:rPr>
              <a:t>的激励</a:t>
            </a:r>
            <a:r>
              <a:rPr lang="en-US" altLang="zh-CN" sz="3600" b="1" dirty="0">
                <a:solidFill>
                  <a:srgbClr val="FF0000"/>
                </a:solidFill>
                <a:sym typeface="+mn-ea"/>
              </a:rPr>
              <a:t>;</a:t>
            </a:r>
            <a:r>
              <a:rPr lang="zh-CN" altLang="en-US" sz="3600" b="1" dirty="0">
                <a:solidFill>
                  <a:srgbClr val="FF0000"/>
                </a:solidFill>
                <a:sym typeface="+mn-ea"/>
              </a:rPr>
              <a:t>提高做某事的积极性 </a:t>
            </a:r>
            <a:r>
              <a:rPr lang="en-US" altLang="zh-CN" sz="3600" b="1" dirty="0">
                <a:solidFill>
                  <a:srgbClr val="FF0000"/>
                </a:solidFill>
                <a:sym typeface="+mn-ea"/>
              </a:rPr>
              <a:t>7.</a:t>
            </a:r>
            <a:r>
              <a:rPr lang="zh-CN" altLang="en-US" sz="3600" b="1" dirty="0">
                <a:solidFill>
                  <a:srgbClr val="FF0000"/>
                </a:solidFill>
                <a:sym typeface="+mn-ea"/>
              </a:rPr>
              <a:t>人类知识的极限 </a:t>
            </a:r>
            <a:r>
              <a:rPr lang="en-US" altLang="zh-CN" sz="3600" b="1" dirty="0">
                <a:solidFill>
                  <a:srgbClr val="FF0000"/>
                </a:solidFill>
                <a:sym typeface="+mn-ea"/>
              </a:rPr>
              <a:t>8.</a:t>
            </a:r>
            <a:r>
              <a:rPr lang="zh-CN" altLang="en-US" sz="3600" b="1" dirty="0">
                <a:solidFill>
                  <a:srgbClr val="FF0000"/>
                </a:solidFill>
                <a:sym typeface="+mn-ea"/>
              </a:rPr>
              <a:t>游行示威</a:t>
            </a:r>
            <a:r>
              <a:rPr lang="zh-CN" altLang="en-US" sz="3600" b="1" u="sng" dirty="0">
                <a:sym typeface="+mn-ea"/>
              </a:rPr>
              <a:t>支持</a:t>
            </a:r>
            <a:r>
              <a:rPr lang="en-US" altLang="zh-CN" sz="3600" b="1" u="sng" dirty="0">
                <a:sym typeface="+mn-ea"/>
              </a:rPr>
              <a:t>/</a:t>
            </a:r>
            <a:r>
              <a:rPr lang="zh-CN" altLang="en-US" sz="3600" b="1" u="sng" dirty="0">
                <a:sym typeface="+mn-ea"/>
              </a:rPr>
              <a:t>反对</a:t>
            </a:r>
            <a:r>
              <a:rPr lang="en-US" altLang="zh-CN" sz="3600" b="1" u="sng" dirty="0">
                <a:sym typeface="+mn-ea"/>
              </a:rPr>
              <a:t>;</a:t>
            </a:r>
            <a:r>
              <a:rPr lang="zh-CN" altLang="en-US" sz="3600" b="1" dirty="0">
                <a:solidFill>
                  <a:srgbClr val="FF0000"/>
                </a:solidFill>
                <a:sym typeface="+mn-ea"/>
              </a:rPr>
              <a:t>向某人证明某事→</a:t>
            </a:r>
            <a:r>
              <a:rPr lang="en-US" altLang="zh-CN" sz="3600" b="1" dirty="0">
                <a:solidFill>
                  <a:srgbClr val="FF0000"/>
                </a:solidFill>
                <a:sym typeface="+mn-ea"/>
              </a:rPr>
              <a:t>n.</a:t>
            </a:r>
            <a:r>
              <a:rPr lang="zh-CN" altLang="en-US" sz="3600" b="1" dirty="0">
                <a:sym typeface="+mn-ea"/>
              </a:rPr>
              <a:t>示范操作 </a:t>
            </a:r>
            <a:r>
              <a:rPr lang="en-US" altLang="zh-CN" sz="3600" b="1" dirty="0">
                <a:sym typeface="+mn-ea"/>
              </a:rPr>
              <a:t>9.</a:t>
            </a:r>
            <a:r>
              <a:rPr lang="zh-CN" altLang="en-US" sz="3600" b="1" dirty="0">
                <a:solidFill>
                  <a:srgbClr val="FF0000"/>
                </a:solidFill>
                <a:sym typeface="+mn-ea"/>
              </a:rPr>
              <a:t>不久之后 </a:t>
            </a:r>
            <a:r>
              <a:rPr lang="en-US" altLang="zh-CN" sz="3600" b="1" dirty="0">
                <a:solidFill>
                  <a:srgbClr val="FF0000"/>
                </a:solidFill>
                <a:sym typeface="+mn-ea"/>
              </a:rPr>
              <a:t>10.</a:t>
            </a:r>
            <a:r>
              <a:rPr lang="zh-CN" altLang="en-US" sz="3600" b="1" dirty="0">
                <a:solidFill>
                  <a:srgbClr val="FF0000"/>
                </a:solidFill>
                <a:sym typeface="+mn-ea"/>
              </a:rPr>
              <a:t>接着做某事</a:t>
            </a:r>
            <a:r>
              <a:rPr lang="en-US" altLang="zh-CN" sz="3600" b="1" dirty="0">
                <a:solidFill>
                  <a:srgbClr val="FF0000"/>
                </a:solidFill>
                <a:sym typeface="+mn-ea"/>
              </a:rPr>
              <a:t>;</a:t>
            </a:r>
            <a:r>
              <a:rPr lang="zh-CN" altLang="en-US" sz="3600" b="1" dirty="0">
                <a:solidFill>
                  <a:srgbClr val="FF0000"/>
                </a:solidFill>
                <a:sym typeface="+mn-ea"/>
              </a:rPr>
              <a:t>继续做 </a:t>
            </a:r>
            <a:endParaRPr lang="en-US" altLang="zh-CN" sz="3600" b="1" dirty="0">
              <a:solidFill>
                <a:srgbClr val="FF0000"/>
              </a:solidFill>
            </a:endParaRPr>
          </a:p>
          <a:p>
            <a:r>
              <a:rPr lang="en-US" altLang="zh-CN" sz="3600" b="1" dirty="0">
                <a:solidFill>
                  <a:srgbClr val="FF0000"/>
                </a:solidFill>
                <a:sym typeface="+mn-ea"/>
              </a:rPr>
              <a:t>11.</a:t>
            </a:r>
            <a:r>
              <a:rPr lang="zh-CN" altLang="en-US" sz="3600" dirty="0">
                <a:sym typeface="+mn-ea"/>
              </a:rPr>
              <a:t>失火</a:t>
            </a:r>
            <a:r>
              <a:rPr lang="en-US" altLang="zh-CN" sz="3600" dirty="0">
                <a:sym typeface="+mn-ea"/>
              </a:rPr>
              <a:t>;</a:t>
            </a:r>
            <a:r>
              <a:rPr lang="zh-CN" altLang="en-US" sz="3600" dirty="0">
                <a:sym typeface="+mn-ea"/>
              </a:rPr>
              <a:t>燃烧</a:t>
            </a:r>
            <a:r>
              <a:rPr lang="en-US" altLang="zh-CN" sz="3600" dirty="0">
                <a:sym typeface="+mn-ea"/>
              </a:rPr>
              <a:t>;</a:t>
            </a:r>
            <a:r>
              <a:rPr lang="zh-CN" altLang="en-US" sz="3600" dirty="0">
                <a:sym typeface="+mn-ea"/>
              </a:rPr>
              <a:t>他气得</a:t>
            </a:r>
            <a:r>
              <a:rPr lang="en-US" altLang="zh-CN" sz="3600" dirty="0">
                <a:sym typeface="+mn-ea"/>
              </a:rPr>
              <a:t>/</a:t>
            </a:r>
            <a:r>
              <a:rPr lang="zh-CN" altLang="en-US" sz="3600" dirty="0">
                <a:sym typeface="+mn-ea"/>
              </a:rPr>
              <a:t>窘得面红耳赤</a:t>
            </a:r>
            <a:r>
              <a:rPr lang="en-US" altLang="zh-CN" sz="3600" dirty="0">
                <a:sym typeface="+mn-ea"/>
              </a:rPr>
              <a:t> 12.</a:t>
            </a:r>
            <a:r>
              <a:rPr lang="zh-CN" altLang="en-US" sz="3600" b="1" dirty="0">
                <a:solidFill>
                  <a:srgbClr val="FF0000"/>
                </a:solidFill>
                <a:sym typeface="+mn-ea"/>
              </a:rPr>
              <a:t>因</a:t>
            </a:r>
            <a:r>
              <a:rPr lang="en-US" altLang="zh-CN" sz="3600" b="1" dirty="0">
                <a:solidFill>
                  <a:srgbClr val="FF0000"/>
                </a:solidFill>
                <a:sym typeface="+mn-ea"/>
              </a:rPr>
              <a:t>(</a:t>
            </a:r>
            <a:r>
              <a:rPr lang="zh-CN" altLang="en-US" sz="3600" b="1" dirty="0">
                <a:solidFill>
                  <a:srgbClr val="FF0000"/>
                </a:solidFill>
                <a:sym typeface="+mn-ea"/>
              </a:rPr>
              <a:t>做</a:t>
            </a:r>
            <a:r>
              <a:rPr lang="en-US" altLang="zh-CN" sz="3600" b="1" dirty="0">
                <a:solidFill>
                  <a:srgbClr val="FF0000"/>
                </a:solidFill>
                <a:sym typeface="+mn-ea"/>
              </a:rPr>
              <a:t>)...</a:t>
            </a:r>
            <a:r>
              <a:rPr lang="zh-CN" altLang="en-US" sz="3600" b="1" dirty="0">
                <a:solidFill>
                  <a:srgbClr val="FF0000"/>
                </a:solidFill>
                <a:sym typeface="+mn-ea"/>
              </a:rPr>
              <a:t>而称赞</a:t>
            </a:r>
            <a:r>
              <a:rPr lang="en-US" altLang="zh-CN" sz="3600" b="1" dirty="0">
                <a:solidFill>
                  <a:srgbClr val="FF0000"/>
                </a:solidFill>
                <a:sym typeface="+mn-ea"/>
              </a:rPr>
              <a:t>...;</a:t>
            </a:r>
            <a:r>
              <a:rPr lang="zh-CN" altLang="en-US" sz="3600" b="1" dirty="0">
                <a:solidFill>
                  <a:srgbClr val="FF0000"/>
                </a:solidFill>
                <a:sym typeface="+mn-ea"/>
              </a:rPr>
              <a:t>雷鸣般的掌声</a:t>
            </a:r>
            <a:r>
              <a:rPr lang="en-US" altLang="zh-CN" sz="3600" b="1" dirty="0">
                <a:solidFill>
                  <a:srgbClr val="FF0000"/>
                </a:solidFill>
                <a:sym typeface="+mn-ea"/>
              </a:rPr>
              <a:t> </a:t>
            </a:r>
            <a:endParaRPr lang="en-US" altLang="zh-CN" sz="3600" b="1" dirty="0">
              <a:solidFill>
                <a:srgbClr val="FF0000"/>
              </a:solidFill>
            </a:endParaRPr>
          </a:p>
          <a:p>
            <a:r>
              <a:rPr lang="en-US" altLang="zh-CN" sz="3600" b="1" dirty="0">
                <a:solidFill>
                  <a:srgbClr val="FF0000"/>
                </a:solidFill>
                <a:sym typeface="+mn-ea"/>
              </a:rPr>
              <a:t>13.</a:t>
            </a:r>
            <a:r>
              <a:rPr lang="zh-CN" altLang="en-US" sz="3600" b="1" dirty="0">
                <a:solidFill>
                  <a:srgbClr val="FF0000"/>
                </a:solidFill>
                <a:sym typeface="+mn-ea"/>
              </a:rPr>
              <a:t>与</a:t>
            </a:r>
            <a:r>
              <a:rPr lang="en-US" altLang="zh-CN" sz="3600" b="1" dirty="0">
                <a:solidFill>
                  <a:srgbClr val="FF0000"/>
                </a:solidFill>
                <a:sym typeface="+mn-ea"/>
              </a:rPr>
              <a:t>...</a:t>
            </a:r>
            <a:r>
              <a:rPr lang="zh-CN" altLang="en-US" sz="3600" b="1" dirty="0">
                <a:solidFill>
                  <a:srgbClr val="FF0000"/>
                </a:solidFill>
                <a:sym typeface="+mn-ea"/>
              </a:rPr>
              <a:t>一致</a:t>
            </a:r>
            <a:r>
              <a:rPr lang="en-US" altLang="zh-CN" sz="3600" b="1" dirty="0">
                <a:solidFill>
                  <a:srgbClr val="FF0000"/>
                </a:solidFill>
                <a:sym typeface="+mn-ea"/>
              </a:rPr>
              <a:t>;</a:t>
            </a:r>
            <a:r>
              <a:rPr lang="zh-CN" altLang="en-US" sz="3600" b="1" dirty="0">
                <a:solidFill>
                  <a:srgbClr val="FF0000"/>
                </a:solidFill>
                <a:sym typeface="+mn-ea"/>
              </a:rPr>
              <a:t>在</a:t>
            </a:r>
            <a:r>
              <a:rPr lang="en-US" altLang="zh-CN" sz="3600" b="1" dirty="0">
                <a:solidFill>
                  <a:srgbClr val="FF0000"/>
                </a:solidFill>
                <a:sym typeface="+mn-ea"/>
              </a:rPr>
              <a:t>...</a:t>
            </a:r>
            <a:r>
              <a:rPr lang="zh-CN" altLang="en-US" sz="3600" b="1" dirty="0">
                <a:solidFill>
                  <a:srgbClr val="FF0000"/>
                </a:solidFill>
                <a:sym typeface="+mn-ea"/>
              </a:rPr>
              <a:t>方面一致→</a:t>
            </a:r>
            <a:r>
              <a:rPr lang="en-US" altLang="zh-CN" sz="3600" b="1" dirty="0">
                <a:solidFill>
                  <a:srgbClr val="FF0000"/>
                </a:solidFill>
                <a:sym typeface="+mn-ea"/>
              </a:rPr>
              <a:t>adv.</a:t>
            </a:r>
            <a:r>
              <a:rPr lang="zh-CN" altLang="en-US" sz="3600" b="1" dirty="0">
                <a:solidFill>
                  <a:srgbClr val="FF0000"/>
                </a:solidFill>
                <a:sym typeface="+mn-ea"/>
              </a:rPr>
              <a:t>一致地→</a:t>
            </a:r>
            <a:r>
              <a:rPr lang="en-US" altLang="zh-CN" sz="3600" b="1" dirty="0">
                <a:solidFill>
                  <a:srgbClr val="FF0000"/>
                </a:solidFill>
                <a:sym typeface="+mn-ea"/>
              </a:rPr>
              <a:t>n.</a:t>
            </a:r>
            <a:r>
              <a:rPr lang="zh-CN" altLang="en-US" sz="3600" b="1" dirty="0">
                <a:solidFill>
                  <a:srgbClr val="FF0000"/>
                </a:solidFill>
                <a:sym typeface="+mn-ea"/>
              </a:rPr>
              <a:t>一致性→</a:t>
            </a:r>
            <a:r>
              <a:rPr lang="en-US" altLang="zh-CN" sz="3600" b="1" dirty="0">
                <a:solidFill>
                  <a:srgbClr val="FF0000"/>
                </a:solidFill>
                <a:sym typeface="+mn-ea"/>
              </a:rPr>
              <a:t>adj.</a:t>
            </a:r>
            <a:r>
              <a:rPr lang="zh-CN" altLang="en-US" sz="3600" b="1" dirty="0">
                <a:solidFill>
                  <a:srgbClr val="FF0000"/>
                </a:solidFill>
                <a:sym typeface="+mn-ea"/>
              </a:rPr>
              <a:t>不一致的</a:t>
            </a:r>
            <a:r>
              <a:rPr lang="en-US" altLang="zh-CN" sz="3600" b="1" dirty="0">
                <a:solidFill>
                  <a:srgbClr val="FF0000"/>
                </a:solidFill>
                <a:sym typeface="+mn-ea"/>
              </a:rPr>
              <a:t>;</a:t>
            </a:r>
            <a:r>
              <a:rPr lang="zh-CN" altLang="zh-CN" sz="3600" b="1" dirty="0">
                <a:solidFill>
                  <a:srgbClr val="FF0000"/>
                </a:solidFill>
                <a:sym typeface="+mn-ea"/>
              </a:rPr>
              <a:t>由…组成</a:t>
            </a:r>
            <a:r>
              <a:rPr lang="en-US" altLang="zh-CN" sz="3600" b="1" dirty="0">
                <a:solidFill>
                  <a:srgbClr val="FF0000"/>
                </a:solidFill>
                <a:sym typeface="+mn-ea"/>
              </a:rPr>
              <a:t>;</a:t>
            </a:r>
            <a:r>
              <a:rPr lang="zh-CN" altLang="zh-CN" sz="3600" b="1" u="sng" dirty="0">
                <a:solidFill>
                  <a:srgbClr val="FF0000"/>
                </a:solidFill>
                <a:sym typeface="+mn-ea"/>
              </a:rPr>
              <a:t>在于</a:t>
            </a:r>
            <a:r>
              <a:rPr lang="en-US" altLang="zh-CN" sz="3600" b="1" u="sng" dirty="0">
                <a:solidFill>
                  <a:srgbClr val="FF0000"/>
                </a:solidFill>
                <a:sym typeface="+mn-ea"/>
              </a:rPr>
              <a:t> </a:t>
            </a:r>
            <a:endParaRPr lang="zh-CN" altLang="en-US" sz="3600" b="1" dirty="0">
              <a:solidFill>
                <a:srgbClr val="FF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r>
              <a:rPr lang="en-US" altLang="zh-CN" sz="3600" b="1" u="sng" dirty="0">
                <a:solidFill>
                  <a:srgbClr val="FF0000"/>
                </a:solidFill>
              </a:rPr>
              <a:t>14.</a:t>
            </a:r>
            <a:r>
              <a:rPr lang="zh-CN" altLang="en-US" sz="3600" dirty="0">
                <a:solidFill>
                  <a:srgbClr val="FF0000"/>
                </a:solidFill>
              </a:rPr>
              <a:t>正式邀请某人做某事</a:t>
            </a:r>
            <a:r>
              <a:rPr lang="en-US" altLang="zh-CN" sz="3600" dirty="0">
                <a:solidFill>
                  <a:srgbClr val="FF0000"/>
                </a:solidFill>
              </a:rPr>
              <a:t>;</a:t>
            </a:r>
            <a:r>
              <a:rPr lang="zh-CN" altLang="en-US" sz="3600" b="1" kern="100" dirty="0">
                <a:solidFill>
                  <a:srgbClr val="FF0000"/>
                </a:solidFill>
                <a:latin typeface="Times New Roman" panose="02020603050405020304" pitchFamily="18" charset="0"/>
                <a:ea typeface="方正中等线简体" panose="03000509000000000000" pitchFamily="65" charset="-122"/>
                <a:cs typeface="Courier New" panose="02070309020205020404" pitchFamily="49" charset="0"/>
              </a:rPr>
              <a:t>拜访某人</a:t>
            </a:r>
            <a:r>
              <a:rPr lang="en-US" altLang="zh-CN" sz="3600" b="1" kern="100" dirty="0">
                <a:solidFill>
                  <a:srgbClr val="FF0000"/>
                </a:solidFill>
                <a:latin typeface="Times New Roman" panose="02020603050405020304" pitchFamily="18" charset="0"/>
                <a:ea typeface="方正中等线简体" panose="03000509000000000000" pitchFamily="65" charset="-122"/>
                <a:cs typeface="Courier New" panose="02070309020205020404" pitchFamily="49" charset="0"/>
              </a:rPr>
              <a:t>;</a:t>
            </a:r>
            <a:r>
              <a:rPr lang="zh-CN" altLang="en-US" sz="3600" b="1" kern="100" dirty="0">
                <a:solidFill>
                  <a:srgbClr val="FF0000"/>
                </a:solidFill>
                <a:latin typeface="Times New Roman" panose="02020603050405020304" pitchFamily="18" charset="0"/>
                <a:ea typeface="方正中等线简体" panose="03000509000000000000" pitchFamily="65" charset="-122"/>
                <a:cs typeface="Courier New" panose="02070309020205020404" pitchFamily="49" charset="0"/>
              </a:rPr>
              <a:t>短暂停留某地</a:t>
            </a:r>
            <a:r>
              <a:rPr lang="en-US" altLang="zh-CN" sz="3600" b="1" kern="100" dirty="0">
                <a:solidFill>
                  <a:srgbClr val="FF0000"/>
                </a:solidFill>
                <a:latin typeface="Times New Roman" panose="02020603050405020304" pitchFamily="18" charset="0"/>
                <a:ea typeface="方正中等线简体" panose="03000509000000000000" pitchFamily="65" charset="-122"/>
                <a:cs typeface="Courier New" panose="02070309020205020404" pitchFamily="49" charset="0"/>
              </a:rPr>
              <a:t>;</a:t>
            </a:r>
            <a:r>
              <a:rPr lang="zh-CN" altLang="en-US" sz="3600" b="1" kern="100" dirty="0">
                <a:solidFill>
                  <a:srgbClr val="FF0000"/>
                </a:solidFill>
                <a:latin typeface="Times New Roman" panose="02020603050405020304" pitchFamily="18" charset="0"/>
                <a:ea typeface="方正中等线简体" panose="03000509000000000000" pitchFamily="65" charset="-122"/>
                <a:cs typeface="Courier New" panose="02070309020205020404" pitchFamily="49" charset="0"/>
              </a:rPr>
              <a:t>到此为止</a:t>
            </a:r>
            <a:r>
              <a:rPr lang="en-US" altLang="zh-CN" sz="3600" b="1" kern="100" dirty="0">
                <a:latin typeface="Times New Roman" panose="02020603050405020304" pitchFamily="18" charset="0"/>
                <a:ea typeface="方正中等线简体" panose="03000509000000000000" pitchFamily="65" charset="-122"/>
                <a:cs typeface="Courier New" panose="02070309020205020404" pitchFamily="49" charset="0"/>
              </a:rPr>
              <a:t>;</a:t>
            </a:r>
            <a:r>
              <a:rPr lang="en-US" altLang="zh-CN" sz="3600" b="1" kern="100" dirty="0">
                <a:solidFill>
                  <a:srgbClr val="FF0000"/>
                </a:solidFill>
                <a:latin typeface="Times New Roman" panose="02020603050405020304" pitchFamily="18" charset="0"/>
                <a:ea typeface="方正中等线简体" panose="03000509000000000000" pitchFamily="65" charset="-122"/>
                <a:cs typeface="Courier New" panose="02070309020205020404" pitchFamily="49" charset="0"/>
              </a:rPr>
              <a:t>call off </a:t>
            </a:r>
            <a:r>
              <a:rPr lang="zh-CN" altLang="en-US" sz="3600" b="1" kern="100" dirty="0">
                <a:solidFill>
                  <a:srgbClr val="FF0000"/>
                </a:solidFill>
                <a:latin typeface="Times New Roman" panose="02020603050405020304" pitchFamily="18" charset="0"/>
                <a:ea typeface="方正中等线简体" panose="03000509000000000000" pitchFamily="65" charset="-122"/>
                <a:cs typeface="Courier New" panose="02070309020205020404" pitchFamily="49" charset="0"/>
              </a:rPr>
              <a:t>翻译</a:t>
            </a:r>
            <a:r>
              <a:rPr lang="en-US" altLang="zh-CN" sz="3600" b="1" kern="100" dirty="0">
                <a:solidFill>
                  <a:srgbClr val="FF0000"/>
                </a:solidFill>
                <a:latin typeface="Times New Roman" panose="02020603050405020304" pitchFamily="18" charset="0"/>
                <a:ea typeface="方正中等线简体" panose="03000509000000000000" pitchFamily="65" charset="-122"/>
                <a:cs typeface="Courier New" panose="02070309020205020404" pitchFamily="49" charset="0"/>
              </a:rPr>
              <a:t>;put off</a:t>
            </a:r>
            <a:r>
              <a:rPr lang="zh-CN" altLang="en-US" sz="3600" b="1" kern="100" dirty="0">
                <a:solidFill>
                  <a:srgbClr val="FF0000"/>
                </a:solidFill>
                <a:latin typeface="Times New Roman" panose="02020603050405020304" pitchFamily="18" charset="0"/>
                <a:ea typeface="方正中等线简体" panose="03000509000000000000" pitchFamily="65" charset="-122"/>
                <a:cs typeface="Courier New" panose="02070309020205020404" pitchFamily="49" charset="0"/>
              </a:rPr>
              <a:t>译 </a:t>
            </a:r>
            <a:r>
              <a:rPr lang="en-US" altLang="zh-CN" sz="3600" b="1" kern="100" dirty="0">
                <a:solidFill>
                  <a:srgbClr val="FF0000"/>
                </a:solidFill>
                <a:latin typeface="Times New Roman" panose="02020603050405020304" pitchFamily="18" charset="0"/>
                <a:ea typeface="方正中等线简体" panose="03000509000000000000" pitchFamily="65" charset="-122"/>
                <a:cs typeface="Courier New" panose="02070309020205020404" pitchFamily="49" charset="0"/>
              </a:rPr>
              <a:t>15.</a:t>
            </a:r>
            <a:r>
              <a:rPr lang="zh-CN" altLang="en-US" sz="3600" b="1" dirty="0">
                <a:solidFill>
                  <a:srgbClr val="FF0000"/>
                </a:solidFill>
              </a:rPr>
              <a:t>仁慈</a:t>
            </a:r>
            <a:r>
              <a:rPr lang="en-US" altLang="zh-CN" sz="3600" b="1" dirty="0">
                <a:solidFill>
                  <a:srgbClr val="FF0000"/>
                </a:solidFill>
              </a:rPr>
              <a:t>;</a:t>
            </a:r>
            <a:r>
              <a:rPr lang="zh-CN" altLang="en-US" sz="3600" kern="100" dirty="0">
                <a:solidFill>
                  <a:srgbClr val="FF0000"/>
                </a:solidFill>
                <a:latin typeface="Times New Roman" panose="02020603050405020304" pitchFamily="18" charset="0"/>
                <a:ea typeface="方正中等线简体" panose="03000509000000000000" pitchFamily="65" charset="-122"/>
                <a:cs typeface="Courier New" panose="02070309020205020404" pitchFamily="49" charset="0"/>
              </a:rPr>
              <a:t>位居第一 </a:t>
            </a:r>
            <a:r>
              <a:rPr lang="en-US" altLang="zh-CN" sz="3600" kern="100" dirty="0">
                <a:solidFill>
                  <a:srgbClr val="FF0000"/>
                </a:solidFill>
                <a:latin typeface="Times New Roman" panose="02020603050405020304" pitchFamily="18" charset="0"/>
                <a:ea typeface="方正中等线简体" panose="03000509000000000000" pitchFamily="65" charset="-122"/>
                <a:cs typeface="Courier New" panose="02070309020205020404" pitchFamily="49" charset="0"/>
              </a:rPr>
              <a:t>16.</a:t>
            </a:r>
            <a:r>
              <a:rPr lang="zh-CN" altLang="en-US" sz="3600" dirty="0">
                <a:solidFill>
                  <a:srgbClr val="FF0000"/>
                </a:solidFill>
              </a:rPr>
              <a:t>有</a:t>
            </a:r>
            <a:r>
              <a:rPr lang="en-US" altLang="zh-CN" sz="3600" dirty="0">
                <a:solidFill>
                  <a:srgbClr val="FF0000"/>
                </a:solidFill>
              </a:rPr>
              <a:t>…</a:t>
            </a:r>
            <a:r>
              <a:rPr lang="zh-CN" altLang="en-US" sz="3600" dirty="0">
                <a:solidFill>
                  <a:srgbClr val="FF0000"/>
                </a:solidFill>
              </a:rPr>
              <a:t>趋势 </a:t>
            </a:r>
            <a:r>
              <a:rPr lang="en-US" altLang="zh-CN" sz="3600" dirty="0">
                <a:solidFill>
                  <a:srgbClr val="FF0000"/>
                </a:solidFill>
              </a:rPr>
              <a:t>17.</a:t>
            </a:r>
            <a:r>
              <a:rPr lang="zh-CN" altLang="en-US" sz="3600" b="1" dirty="0">
                <a:solidFill>
                  <a:srgbClr val="FF0000"/>
                </a:solidFill>
              </a:rPr>
              <a:t>在选举中获胜</a:t>
            </a:r>
            <a:r>
              <a:rPr lang="en-US" altLang="zh-CN" sz="3600" b="1" dirty="0">
                <a:solidFill>
                  <a:srgbClr val="FF0000"/>
                </a:solidFill>
              </a:rPr>
              <a:t>/</a:t>
            </a:r>
            <a:r>
              <a:rPr lang="zh-CN" altLang="en-US" sz="3600" b="1" dirty="0">
                <a:solidFill>
                  <a:srgbClr val="FF0000"/>
                </a:solidFill>
              </a:rPr>
              <a:t>失败</a:t>
            </a:r>
            <a:r>
              <a:rPr lang="en-US" altLang="zh-CN" sz="3600" b="1" dirty="0">
                <a:solidFill>
                  <a:srgbClr val="FF0000"/>
                </a:solidFill>
              </a:rPr>
              <a:t>;</a:t>
            </a:r>
            <a:r>
              <a:rPr lang="zh-CN" altLang="zh-CN" sz="3600" b="1" dirty="0">
                <a:solidFill>
                  <a:srgbClr val="FF0000"/>
                </a:solidFill>
              </a:rPr>
              <a:t>参加竞选</a:t>
            </a:r>
            <a:r>
              <a:rPr lang="en-US" altLang="zh-CN" sz="3600" dirty="0"/>
              <a:t>;</a:t>
            </a:r>
            <a:r>
              <a:rPr lang="zh-CN" altLang="en-US" sz="3600" b="1" dirty="0">
                <a:solidFill>
                  <a:srgbClr val="FF0000"/>
                </a:solidFill>
              </a:rPr>
              <a:t>选择做某事</a:t>
            </a:r>
            <a:r>
              <a:rPr lang="en-US" altLang="zh-CN" sz="3600" b="1" dirty="0">
                <a:solidFill>
                  <a:srgbClr val="FF0000"/>
                </a:solidFill>
              </a:rPr>
              <a:t>;</a:t>
            </a:r>
            <a:r>
              <a:rPr lang="zh-CN" altLang="en-US" sz="3600" b="1" dirty="0">
                <a:solidFill>
                  <a:srgbClr val="FF0000"/>
                </a:solidFill>
              </a:rPr>
              <a:t>选举某人担任 </a:t>
            </a:r>
            <a:r>
              <a:rPr lang="en-US" altLang="zh-CN" sz="3600" b="1" dirty="0">
                <a:solidFill>
                  <a:srgbClr val="FF0000"/>
                </a:solidFill>
              </a:rPr>
              <a:t>18.</a:t>
            </a:r>
            <a:r>
              <a:rPr lang="zh-CN" altLang="en-US" sz="3600" b="1" kern="100" dirty="0">
                <a:solidFill>
                  <a:srgbClr val="FF0000"/>
                </a:solidFill>
                <a:highlight>
                  <a:srgbClr val="FFFF00"/>
                </a:highlight>
                <a:latin typeface="Times New Roman" panose="02020603050405020304" pitchFamily="18" charset="0"/>
                <a:ea typeface="方正中等线简体" panose="03000509000000000000" pitchFamily="65" charset="-122"/>
                <a:cs typeface="Courier New" panose="02070309020205020404" pitchFamily="49" charset="0"/>
              </a:rPr>
              <a:t>相信</a:t>
            </a:r>
            <a:r>
              <a:rPr lang="en-US" altLang="zh-CN" sz="3600" b="1" kern="100" dirty="0">
                <a:solidFill>
                  <a:srgbClr val="FF0000"/>
                </a:solidFill>
                <a:latin typeface="Times New Roman" panose="02020603050405020304" pitchFamily="18" charset="0"/>
                <a:ea typeface="方正中等线简体" panose="03000509000000000000" pitchFamily="65" charset="-122"/>
                <a:cs typeface="Courier New" panose="02070309020205020404" pitchFamily="49" charset="0"/>
              </a:rPr>
              <a:t>…;</a:t>
            </a:r>
            <a:r>
              <a:rPr lang="zh-CN" altLang="en-US" sz="3600" b="1" kern="100" dirty="0">
                <a:solidFill>
                  <a:srgbClr val="FF0000"/>
                </a:solidFill>
                <a:latin typeface="Times New Roman" panose="02020603050405020304" pitchFamily="18" charset="0"/>
                <a:ea typeface="方正中等线简体" panose="03000509000000000000" pitchFamily="65" charset="-122"/>
                <a:cs typeface="Courier New" panose="02070309020205020404" pitchFamily="49" charset="0"/>
              </a:rPr>
              <a:t>对</a:t>
            </a:r>
            <a:r>
              <a:rPr lang="en-US" altLang="zh-CN" sz="3600" b="1" kern="100" dirty="0">
                <a:solidFill>
                  <a:srgbClr val="FF0000"/>
                </a:solidFill>
                <a:latin typeface="Times New Roman" panose="02020603050405020304" pitchFamily="18" charset="0"/>
                <a:ea typeface="方正中等线简体" panose="03000509000000000000" pitchFamily="65" charset="-122"/>
                <a:cs typeface="Courier New" panose="02070309020205020404" pitchFamily="49" charset="0"/>
              </a:rPr>
              <a:t>…</a:t>
            </a:r>
            <a:r>
              <a:rPr lang="zh-CN" altLang="en-US" sz="3600" b="1" kern="100" dirty="0">
                <a:solidFill>
                  <a:srgbClr val="FF0000"/>
                </a:solidFill>
                <a:latin typeface="Times New Roman" panose="02020603050405020304" pitchFamily="18" charset="0"/>
                <a:ea typeface="方正中等线简体" panose="03000509000000000000" pitchFamily="65" charset="-122"/>
                <a:cs typeface="Courier New" panose="02070309020205020404" pitchFamily="49" charset="0"/>
              </a:rPr>
              <a:t>失去信心</a:t>
            </a:r>
            <a:r>
              <a:rPr lang="en-US" altLang="zh-CN" sz="3600" b="1" kern="100" dirty="0">
                <a:solidFill>
                  <a:srgbClr val="FF0000"/>
                </a:solidFill>
                <a:latin typeface="Times New Roman" panose="02020603050405020304" pitchFamily="18" charset="0"/>
                <a:ea typeface="方正中等线简体" panose="03000509000000000000" pitchFamily="65" charset="-122"/>
                <a:cs typeface="Courier New" panose="02070309020205020404" pitchFamily="49" charset="0"/>
              </a:rPr>
              <a:t>;</a:t>
            </a:r>
            <a:r>
              <a:rPr lang="zh-CN" altLang="en-US" sz="3600" b="1" kern="100" dirty="0">
                <a:solidFill>
                  <a:srgbClr val="FF0000"/>
                </a:solidFill>
                <a:latin typeface="Times New Roman" panose="02020603050405020304" pitchFamily="18" charset="0"/>
                <a:ea typeface="方正中等线简体" panose="03000509000000000000" pitchFamily="65" charset="-122"/>
                <a:cs typeface="Courier New" panose="02070309020205020404" pitchFamily="49" charset="0"/>
              </a:rPr>
              <a:t>忠实于→</a:t>
            </a:r>
            <a:r>
              <a:rPr lang="en-US" altLang="zh-CN" sz="3600" b="1" kern="100" dirty="0">
                <a:solidFill>
                  <a:srgbClr val="FF0000"/>
                </a:solidFill>
                <a:latin typeface="Times New Roman" panose="02020603050405020304" pitchFamily="18" charset="0"/>
                <a:ea typeface="方正中等线简体" panose="03000509000000000000" pitchFamily="65" charset="-122"/>
                <a:cs typeface="Courier New" panose="02070309020205020404" pitchFamily="49" charset="0"/>
              </a:rPr>
              <a:t>adv.</a:t>
            </a:r>
            <a:r>
              <a:rPr lang="zh-CN" altLang="en-US" sz="3600" b="1" kern="100" dirty="0">
                <a:solidFill>
                  <a:srgbClr val="FF0000"/>
                </a:solidFill>
                <a:latin typeface="Times New Roman" panose="02020603050405020304" pitchFamily="18" charset="0"/>
                <a:ea typeface="方正中等线简体" panose="03000509000000000000" pitchFamily="65" charset="-122"/>
                <a:cs typeface="Courier New" panose="02070309020205020404" pitchFamily="49" charset="0"/>
              </a:rPr>
              <a:t>忠实地→</a:t>
            </a:r>
            <a:r>
              <a:rPr lang="en-US" altLang="zh-CN" sz="3600" b="1" kern="100" dirty="0">
                <a:solidFill>
                  <a:srgbClr val="FF0000"/>
                </a:solidFill>
                <a:latin typeface="Times New Roman" panose="02020603050405020304" pitchFamily="18" charset="0"/>
                <a:ea typeface="方正中等线简体" panose="03000509000000000000" pitchFamily="65" charset="-122"/>
                <a:cs typeface="Courier New" panose="02070309020205020404" pitchFamily="49" charset="0"/>
              </a:rPr>
              <a:t>n.</a:t>
            </a:r>
            <a:r>
              <a:rPr lang="zh-CN" altLang="en-US" sz="3600" b="1" kern="100" dirty="0">
                <a:solidFill>
                  <a:srgbClr val="FF0000"/>
                </a:solidFill>
                <a:latin typeface="Times New Roman" panose="02020603050405020304" pitchFamily="18" charset="0"/>
                <a:ea typeface="方正中等线简体" panose="03000509000000000000" pitchFamily="65" charset="-122"/>
                <a:cs typeface="Courier New" panose="02070309020205020404" pitchFamily="49" charset="0"/>
              </a:rPr>
              <a:t>忠实 </a:t>
            </a:r>
            <a:r>
              <a:rPr lang="en-US" altLang="zh-CN" sz="3600" b="1" kern="100" dirty="0">
                <a:solidFill>
                  <a:srgbClr val="FF0000"/>
                </a:solidFill>
                <a:latin typeface="Times New Roman" panose="02020603050405020304" pitchFamily="18" charset="0"/>
                <a:ea typeface="方正中等线简体" panose="03000509000000000000" pitchFamily="65" charset="-122"/>
                <a:cs typeface="Courier New" panose="02070309020205020404" pitchFamily="49" charset="0"/>
              </a:rPr>
              <a:t>19.</a:t>
            </a:r>
            <a:r>
              <a:rPr lang="zh-CN" altLang="en-US" sz="3600" b="1" dirty="0">
                <a:solidFill>
                  <a:srgbClr val="FF0000"/>
                </a:solidFill>
              </a:rPr>
              <a:t>一堂训练课</a:t>
            </a:r>
            <a:r>
              <a:rPr lang="en-US" altLang="zh-CN" sz="3600" b="1" dirty="0">
                <a:solidFill>
                  <a:srgbClr val="FF0000"/>
                </a:solidFill>
              </a:rPr>
              <a:t> 20.</a:t>
            </a:r>
            <a:r>
              <a:rPr lang="zh-CN" altLang="en-US" sz="3600" b="1" dirty="0">
                <a:solidFill>
                  <a:srgbClr val="FF0000"/>
                </a:solidFill>
              </a:rPr>
              <a:t>实现抱负</a:t>
            </a:r>
            <a:r>
              <a:rPr lang="en-US" altLang="zh-CN" sz="3600" b="1" dirty="0">
                <a:solidFill>
                  <a:srgbClr val="FF0000"/>
                </a:solidFill>
              </a:rPr>
              <a:t>;</a:t>
            </a:r>
            <a:r>
              <a:rPr lang="zh-CN" altLang="zh-CN" sz="3600" b="1" dirty="0">
                <a:solidFill>
                  <a:srgbClr val="FF0000"/>
                </a:solidFill>
              </a:rPr>
              <a:t>对</a:t>
            </a:r>
            <a:r>
              <a:rPr lang="en-US" altLang="zh-CN" sz="3600" b="1" dirty="0">
                <a:solidFill>
                  <a:srgbClr val="FF0000"/>
                </a:solidFill>
              </a:rPr>
              <a:t>…</a:t>
            </a:r>
            <a:r>
              <a:rPr lang="zh-CN" altLang="zh-CN" sz="3600" b="1" dirty="0">
                <a:solidFill>
                  <a:srgbClr val="FF0000"/>
                </a:solidFill>
              </a:rPr>
              <a:t>有野心</a:t>
            </a:r>
            <a:r>
              <a:rPr lang="en-US" altLang="zh-CN" sz="3600" b="1" dirty="0">
                <a:solidFill>
                  <a:srgbClr val="FF0000"/>
                </a:solidFill>
              </a:rPr>
              <a:t> 21.</a:t>
            </a:r>
            <a:r>
              <a:rPr lang="zh-CN" altLang="en-US" sz="3600" b="1" dirty="0">
                <a:solidFill>
                  <a:srgbClr val="FF0000"/>
                </a:solidFill>
              </a:rPr>
              <a:t>与</a:t>
            </a:r>
            <a:r>
              <a:rPr lang="en-US" altLang="zh-CN" sz="3600" b="1" dirty="0">
                <a:solidFill>
                  <a:srgbClr val="FF0000"/>
                </a:solidFill>
              </a:rPr>
              <a:t>... </a:t>
            </a:r>
            <a:r>
              <a:rPr lang="zh-CN" altLang="en-US" sz="3600" b="1" dirty="0">
                <a:solidFill>
                  <a:srgbClr val="FF0000"/>
                </a:solidFill>
              </a:rPr>
              <a:t>相同→</a:t>
            </a:r>
            <a:r>
              <a:rPr lang="en-US" altLang="zh-CN" sz="3600" b="1" dirty="0">
                <a:solidFill>
                  <a:srgbClr val="FF0000"/>
                </a:solidFill>
              </a:rPr>
              <a:t>v.</a:t>
            </a:r>
            <a:r>
              <a:rPr lang="zh-CN" altLang="en-US" sz="3600" b="1" dirty="0">
                <a:solidFill>
                  <a:srgbClr val="FF0000"/>
                </a:solidFill>
              </a:rPr>
              <a:t>辨认</a:t>
            </a:r>
            <a:r>
              <a:rPr lang="en-US" altLang="zh-CN" sz="3600" b="1" dirty="0">
                <a:solidFill>
                  <a:srgbClr val="FF0000"/>
                </a:solidFill>
              </a:rPr>
              <a:t>;</a:t>
            </a:r>
            <a:r>
              <a:rPr lang="zh-CN" altLang="en-US" sz="3600" b="1" dirty="0">
                <a:solidFill>
                  <a:srgbClr val="FF0000"/>
                </a:solidFill>
              </a:rPr>
              <a:t>联系→</a:t>
            </a:r>
            <a:r>
              <a:rPr lang="en-US" altLang="zh-CN" sz="3600" b="1" dirty="0">
                <a:solidFill>
                  <a:srgbClr val="FF0000"/>
                </a:solidFill>
              </a:rPr>
              <a:t>n.</a:t>
            </a:r>
            <a:r>
              <a:rPr lang="zh-CN" altLang="en-US" sz="3600" b="1" dirty="0">
                <a:solidFill>
                  <a:srgbClr val="FF0000"/>
                </a:solidFill>
              </a:rPr>
              <a:t>身份→</a:t>
            </a:r>
            <a:r>
              <a:rPr lang="en-US" altLang="zh-CN" sz="3600" b="1" dirty="0">
                <a:solidFill>
                  <a:srgbClr val="FF0000"/>
                </a:solidFill>
              </a:rPr>
              <a:t>n.</a:t>
            </a:r>
            <a:r>
              <a:rPr lang="zh-CN" altLang="en-US" sz="3600" b="1" dirty="0">
                <a:solidFill>
                  <a:srgbClr val="FF0000"/>
                </a:solidFill>
              </a:rPr>
              <a:t>辨认</a:t>
            </a:r>
            <a:r>
              <a:rPr lang="en-US" altLang="zh-CN" sz="3600" b="1" dirty="0">
                <a:solidFill>
                  <a:srgbClr val="FF0000"/>
                </a:solidFill>
              </a:rPr>
              <a:t>22.</a:t>
            </a:r>
            <a:r>
              <a:rPr lang="zh-CN" altLang="en-US" sz="3600" b="1" dirty="0">
                <a:solidFill>
                  <a:srgbClr val="FF0000"/>
                </a:solidFill>
              </a:rPr>
              <a:t>同学 </a:t>
            </a:r>
            <a:r>
              <a:rPr lang="en-US" altLang="zh-CN" sz="3600" b="1" dirty="0">
                <a:solidFill>
                  <a:srgbClr val="FF0000"/>
                </a:solidFill>
              </a:rPr>
              <a:t>23.</a:t>
            </a:r>
            <a:r>
              <a:rPr lang="zh-CN" altLang="en-US" sz="3600" b="1" dirty="0">
                <a:solidFill>
                  <a:srgbClr val="FF0000"/>
                </a:solidFill>
              </a:rPr>
              <a:t>倾吐心中的烦恼</a:t>
            </a:r>
            <a:r>
              <a:rPr lang="en-US" altLang="zh-CN" sz="3600" b="1" dirty="0">
                <a:solidFill>
                  <a:srgbClr val="7030A0"/>
                </a:solidFill>
              </a:rPr>
              <a:t>;</a:t>
            </a:r>
            <a:r>
              <a:rPr lang="zh-CN" altLang="en-US" sz="3600" dirty="0"/>
              <a:t>泪水顺着她的面颊流下来</a:t>
            </a:r>
            <a:r>
              <a:rPr lang="en-US" altLang="zh-CN" sz="3600" dirty="0"/>
              <a:t>;</a:t>
            </a:r>
            <a:r>
              <a:rPr lang="zh-CN" altLang="en-US" sz="3600" b="1" dirty="0">
                <a:solidFill>
                  <a:srgbClr val="FF0000"/>
                </a:solidFill>
              </a:rPr>
              <a:t>扭伤脚踝</a:t>
            </a:r>
            <a:r>
              <a:rPr lang="en-US" altLang="zh-CN" sz="3600" b="1" dirty="0">
                <a:solidFill>
                  <a:srgbClr val="FF0000"/>
                </a:solidFill>
              </a:rPr>
              <a:t> 24.n.</a:t>
            </a:r>
            <a:r>
              <a:rPr lang="zh-CN" altLang="en-US" sz="3600" b="1" dirty="0">
                <a:solidFill>
                  <a:srgbClr val="FF0000"/>
                </a:solidFill>
              </a:rPr>
              <a:t>业余爱好者</a:t>
            </a:r>
            <a:r>
              <a:rPr lang="en-US" altLang="zh-CN" sz="3600" b="1" dirty="0">
                <a:solidFill>
                  <a:srgbClr val="FF0000"/>
                </a:solidFill>
              </a:rPr>
              <a:t>;</a:t>
            </a:r>
            <a:r>
              <a:rPr lang="zh-CN" altLang="en-US" sz="3600" b="1" dirty="0">
                <a:solidFill>
                  <a:srgbClr val="FF0000"/>
                </a:solidFill>
              </a:rPr>
              <a:t>外行</a:t>
            </a:r>
            <a:r>
              <a:rPr lang="en-US" altLang="zh-CN" sz="3600" b="1" dirty="0">
                <a:solidFill>
                  <a:srgbClr val="FF0000"/>
                </a:solidFill>
              </a:rPr>
              <a:t>adj.</a:t>
            </a:r>
            <a:r>
              <a:rPr lang="zh-CN" altLang="en-US" sz="3600" b="1" dirty="0">
                <a:solidFill>
                  <a:srgbClr val="FF0000"/>
                </a:solidFill>
              </a:rPr>
              <a:t>业余的</a:t>
            </a:r>
            <a:r>
              <a:rPr lang="en-US" altLang="zh-CN" sz="3600" b="1" dirty="0">
                <a:solidFill>
                  <a:srgbClr val="FF0000"/>
                </a:solidFill>
              </a:rPr>
              <a:t>;n.</a:t>
            </a:r>
            <a:r>
              <a:rPr lang="zh-CN" altLang="en-US" sz="3600" b="1" dirty="0">
                <a:solidFill>
                  <a:srgbClr val="FF0000"/>
                </a:solidFill>
              </a:rPr>
              <a:t>专业人员 </a:t>
            </a:r>
            <a:r>
              <a:rPr lang="en-US" altLang="zh-CN" sz="3600" b="1" dirty="0">
                <a:solidFill>
                  <a:srgbClr val="FF0000"/>
                </a:solidFill>
              </a:rPr>
              <a:t>adj.</a:t>
            </a:r>
            <a:r>
              <a:rPr lang="zh-CN" altLang="en-US" sz="3600" b="1" dirty="0">
                <a:solidFill>
                  <a:srgbClr val="FF0000"/>
                </a:solidFill>
              </a:rPr>
              <a:t>职业的专业的</a:t>
            </a:r>
            <a:r>
              <a:rPr lang="en-US" altLang="zh-CN" sz="3600" b="1" dirty="0">
                <a:solidFill>
                  <a:srgbClr val="FF0000"/>
                </a:solidFill>
              </a:rPr>
              <a:t> 25.</a:t>
            </a:r>
            <a:r>
              <a:rPr lang="zh-CN" altLang="en-US" sz="3600" b="1" dirty="0">
                <a:solidFill>
                  <a:srgbClr val="FF0000"/>
                </a:solidFill>
              </a:rPr>
              <a:t>逐渐地</a:t>
            </a:r>
            <a:r>
              <a:rPr lang="en-US" altLang="zh-CN" sz="3600" b="1" dirty="0">
                <a:solidFill>
                  <a:srgbClr val="FF0000"/>
                </a:solidFill>
              </a:rPr>
              <a:t>26.</a:t>
            </a:r>
            <a:r>
              <a:rPr lang="zh-CN" altLang="en-US" sz="3600" b="1" dirty="0">
                <a:solidFill>
                  <a:srgbClr val="FF0000"/>
                </a:solidFill>
              </a:rPr>
              <a:t>将</a:t>
            </a:r>
            <a:r>
              <a:rPr lang="en-US" altLang="zh-CN" sz="3600" b="1" dirty="0">
                <a:solidFill>
                  <a:srgbClr val="FF0000"/>
                </a:solidFill>
              </a:rPr>
              <a:t>...</a:t>
            </a:r>
            <a:r>
              <a:rPr lang="zh-CN" altLang="en-US" sz="3600" b="1" dirty="0">
                <a:solidFill>
                  <a:srgbClr val="FF0000"/>
                </a:solidFill>
              </a:rPr>
              <a:t>限制在</a:t>
            </a:r>
            <a:r>
              <a:rPr lang="en-US" altLang="zh-CN" sz="3600" b="1" dirty="0">
                <a:solidFill>
                  <a:srgbClr val="FF0000"/>
                </a:solidFill>
              </a:rPr>
              <a:t>;</a:t>
            </a:r>
            <a:r>
              <a:rPr lang="zh-CN" altLang="en-US" sz="3600" b="1" dirty="0">
                <a:solidFill>
                  <a:srgbClr val="FF0000"/>
                </a:solidFill>
              </a:rPr>
              <a:t>受限于</a:t>
            </a:r>
            <a:r>
              <a:rPr lang="en-US" altLang="zh-CN" sz="3600" b="1" dirty="0">
                <a:solidFill>
                  <a:srgbClr val="FF0000"/>
                </a:solidFill>
              </a:rPr>
              <a:t>;</a:t>
            </a:r>
            <a:r>
              <a:rPr lang="zh-CN" altLang="en-US" sz="3600" b="1" dirty="0">
                <a:solidFill>
                  <a:srgbClr val="FF0000"/>
                </a:solidFill>
              </a:rPr>
              <a:t>对</a:t>
            </a:r>
            <a:r>
              <a:rPr lang="en-US" altLang="zh-CN" sz="3600" b="1" dirty="0">
                <a:solidFill>
                  <a:srgbClr val="FF0000"/>
                </a:solidFill>
              </a:rPr>
              <a:t>...</a:t>
            </a:r>
            <a:r>
              <a:rPr lang="zh-CN" altLang="en-US" sz="3600" b="1" dirty="0">
                <a:solidFill>
                  <a:srgbClr val="FF0000"/>
                </a:solidFill>
              </a:rPr>
              <a:t>进行限制→</a:t>
            </a:r>
            <a:r>
              <a:rPr lang="en-US" altLang="zh-CN" sz="3600" b="1" dirty="0">
                <a:solidFill>
                  <a:srgbClr val="FF0000"/>
                </a:solidFill>
              </a:rPr>
              <a:t>a.</a:t>
            </a:r>
            <a:r>
              <a:rPr lang="zh-CN" altLang="en-US" sz="3600" b="1" dirty="0">
                <a:solidFill>
                  <a:srgbClr val="FF0000"/>
                </a:solidFill>
              </a:rPr>
              <a:t>有限的→</a:t>
            </a:r>
            <a:r>
              <a:rPr lang="en-US" altLang="zh-CN" sz="3600" b="1" dirty="0">
                <a:solidFill>
                  <a:srgbClr val="FF0000"/>
                </a:solidFill>
              </a:rPr>
              <a:t>a.</a:t>
            </a:r>
            <a:r>
              <a:rPr lang="zh-CN" altLang="en-US" sz="3600" b="1" dirty="0">
                <a:solidFill>
                  <a:srgbClr val="FF0000"/>
                </a:solidFill>
              </a:rPr>
              <a:t>无限的→</a:t>
            </a:r>
            <a:r>
              <a:rPr lang="en-US" altLang="zh-CN" sz="3600" b="1" dirty="0">
                <a:solidFill>
                  <a:srgbClr val="FF0000"/>
                </a:solidFill>
              </a:rPr>
              <a:t>n.</a:t>
            </a:r>
            <a:r>
              <a:rPr lang="zh-CN" altLang="en-US" sz="3600" b="1" dirty="0">
                <a:solidFill>
                  <a:srgbClr val="FF0000"/>
                </a:solidFill>
              </a:rPr>
              <a:t>限制 </a:t>
            </a:r>
            <a:r>
              <a:rPr lang="en-US" altLang="zh-CN" sz="3600" b="1" dirty="0">
                <a:solidFill>
                  <a:srgbClr val="FF0000"/>
                </a:solidFill>
              </a:rPr>
              <a:t>27.</a:t>
            </a:r>
            <a:r>
              <a:rPr lang="zh-CN" altLang="en-US" sz="3600" b="1" dirty="0">
                <a:solidFill>
                  <a:srgbClr val="FF0000"/>
                </a:solidFill>
              </a:rPr>
              <a:t>依照宪法</a:t>
            </a:r>
            <a:r>
              <a:rPr lang="en-US" altLang="zh-CN" sz="3600" b="1" dirty="0">
                <a:solidFill>
                  <a:srgbClr val="FF0000"/>
                </a:solidFill>
              </a:rPr>
              <a:t>;</a:t>
            </a:r>
            <a:r>
              <a:rPr lang="zh-CN" altLang="zh-CN" sz="3600" b="1" u="sng" dirty="0">
                <a:solidFill>
                  <a:srgbClr val="FF0000"/>
                </a:solidFill>
              </a:rPr>
              <a:t>身体素质</a:t>
            </a:r>
            <a:r>
              <a:rPr lang="en-US" altLang="zh-CN" sz="3600" b="1" u="sng" dirty="0">
                <a:solidFill>
                  <a:srgbClr val="FF0000"/>
                </a:solidFill>
              </a:rPr>
              <a:t> 28.</a:t>
            </a:r>
            <a:r>
              <a:rPr lang="zh-CN" altLang="en-US" sz="3600" b="1" dirty="0">
                <a:solidFill>
                  <a:srgbClr val="FF0000"/>
                </a:solidFill>
              </a:rPr>
              <a:t>下倾盆大雨</a:t>
            </a:r>
            <a:r>
              <a:rPr lang="en-US" altLang="zh-CN" sz="3600" b="1" dirty="0">
                <a:solidFill>
                  <a:srgbClr val="FF0000"/>
                </a:solidFill>
              </a:rPr>
              <a:t> 29.</a:t>
            </a:r>
            <a:r>
              <a:rPr lang="zh-CN" altLang="en-US" sz="3600" b="1" dirty="0">
                <a:solidFill>
                  <a:srgbClr val="FF0000"/>
                </a:solidFill>
              </a:rPr>
              <a:t>强调句型</a:t>
            </a:r>
            <a:r>
              <a:rPr lang="en-US" altLang="zh-CN" sz="3600" b="1" dirty="0">
                <a:solidFill>
                  <a:srgbClr val="FF0000"/>
                </a:solidFill>
              </a:rPr>
              <a:t>(</a:t>
            </a:r>
            <a:r>
              <a:rPr lang="zh-CN" altLang="en-US" sz="3600" b="1" dirty="0">
                <a:solidFill>
                  <a:srgbClr val="FF0000"/>
                </a:solidFill>
              </a:rPr>
              <a:t>写全</a:t>
            </a:r>
            <a:r>
              <a:rPr lang="en-US" altLang="zh-CN" sz="3600" b="1">
                <a:solidFill>
                  <a:srgbClr val="FF0000"/>
                </a:solidFill>
              </a:rPr>
              <a:t>) </a:t>
            </a:r>
          </a:p>
          <a:p>
            <a:r>
              <a:rPr lang="en-US" altLang="zh-CN" sz="3600" b="1">
                <a:solidFill>
                  <a:srgbClr val="FF0000"/>
                </a:solidFill>
              </a:rPr>
              <a:t>30</a:t>
            </a:r>
            <a:r>
              <a:rPr lang="en-US" altLang="zh-CN" sz="3600" b="1" dirty="0">
                <a:solidFill>
                  <a:srgbClr val="FF0000"/>
                </a:solidFill>
              </a:rPr>
              <a:t>.Not until</a:t>
            </a:r>
            <a:r>
              <a:rPr lang="zh-CN" altLang="en-US" sz="3600" b="1" dirty="0">
                <a:solidFill>
                  <a:srgbClr val="FF0000"/>
                </a:solidFill>
              </a:rPr>
              <a:t>写一个句子</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pPr algn="ctr"/>
            <a:r>
              <a:rPr lang="zh-CN" altLang="en-US" sz="3000" b="1" dirty="0">
                <a:solidFill>
                  <a:srgbClr val="FF0000"/>
                </a:solidFill>
              </a:rPr>
              <a:t>奥运会</a:t>
            </a:r>
          </a:p>
          <a:p>
            <a:r>
              <a:rPr lang="en-US" altLang="zh-CN" sz="3000" b="1" dirty="0">
                <a:solidFill>
                  <a:schemeClr val="tx1"/>
                </a:solidFill>
              </a:rPr>
              <a:t>      </a:t>
            </a:r>
            <a:r>
              <a:rPr lang="zh-CN" altLang="en-US" sz="3000" b="1" dirty="0">
                <a:solidFill>
                  <a:srgbClr val="FF0000"/>
                </a:solidFill>
              </a:rPr>
              <a:t>每过四年</a:t>
            </a:r>
            <a:r>
              <a:rPr lang="zh-CN" altLang="en-US" sz="3000" b="1" dirty="0">
                <a:solidFill>
                  <a:schemeClr val="tx1"/>
                </a:solidFill>
              </a:rPr>
              <a:t>，成千上万名</a:t>
            </a:r>
            <a:r>
              <a:rPr lang="zh-CN" altLang="en-US" sz="3000" b="1" dirty="0">
                <a:solidFill>
                  <a:srgbClr val="FF0000"/>
                </a:solidFill>
              </a:rPr>
              <a:t>训练有素、天赋过人的运动员</a:t>
            </a:r>
            <a:r>
              <a:rPr lang="zh-CN" altLang="en-US" sz="3000" b="1" dirty="0">
                <a:solidFill>
                  <a:schemeClr val="tx1"/>
                </a:solidFill>
              </a:rPr>
              <a:t>，</a:t>
            </a:r>
            <a:r>
              <a:rPr lang="zh-CN" altLang="en-US" sz="3000" b="1" dirty="0">
                <a:solidFill>
                  <a:srgbClr val="FF0000"/>
                </a:solidFill>
              </a:rPr>
              <a:t>本着友谊、团结和公平竞争的精神聚集</a:t>
            </a:r>
            <a:r>
              <a:rPr lang="zh-CN" altLang="en-US" sz="3000" b="1" dirty="0">
                <a:solidFill>
                  <a:schemeClr val="tx1"/>
                </a:solidFill>
              </a:rPr>
              <a:t>在一起准备互相较量，</a:t>
            </a:r>
            <a:r>
              <a:rPr lang="zh-CN" altLang="en-US" sz="3000" b="1" dirty="0">
                <a:solidFill>
                  <a:srgbClr val="FF0000"/>
                </a:solidFill>
              </a:rPr>
              <a:t>希望</a:t>
            </a:r>
            <a:r>
              <a:rPr lang="zh-CN" altLang="en-US" sz="3000" b="1" dirty="0">
                <a:solidFill>
                  <a:schemeClr val="tx1"/>
                </a:solidFill>
              </a:rPr>
              <a:t>能</a:t>
            </a:r>
            <a:r>
              <a:rPr lang="zh-CN" altLang="en-US" sz="3000" b="1" dirty="0">
                <a:solidFill>
                  <a:srgbClr val="FF0000"/>
                </a:solidFill>
              </a:rPr>
              <a:t>成为举世公认的顶尖选手</a:t>
            </a:r>
            <a:r>
              <a:rPr lang="zh-CN" altLang="en-US" sz="3000" b="1" dirty="0">
                <a:solidFill>
                  <a:schemeClr val="tx1"/>
                </a:solidFill>
              </a:rPr>
              <a:t>。这就是奥运会</a:t>
            </a:r>
            <a:r>
              <a:rPr lang="en-US" altLang="zh-CN" sz="3000" b="1" dirty="0">
                <a:solidFill>
                  <a:schemeClr val="tx1"/>
                </a:solidFill>
              </a:rPr>
              <a:t>—</a:t>
            </a:r>
            <a:r>
              <a:rPr lang="zh-CN" altLang="en-US" sz="3000" b="1" dirty="0">
                <a:solidFill>
                  <a:schemeClr val="tx1"/>
                </a:solidFill>
              </a:rPr>
              <a:t>一场可以追溯到约</a:t>
            </a:r>
            <a:r>
              <a:rPr lang="en-US" altLang="zh-CN" sz="3000" b="1" dirty="0">
                <a:solidFill>
                  <a:schemeClr val="tx1"/>
                </a:solidFill>
              </a:rPr>
              <a:t>3000</a:t>
            </a:r>
            <a:r>
              <a:rPr lang="zh-CN" altLang="en-US" sz="3000" b="1" dirty="0">
                <a:solidFill>
                  <a:schemeClr val="tx1"/>
                </a:solidFill>
              </a:rPr>
              <a:t>年前的非凡的体育赛事。</a:t>
            </a:r>
          </a:p>
          <a:p>
            <a:r>
              <a:rPr lang="en-US" altLang="zh-CN" sz="3000" b="1" dirty="0">
                <a:solidFill>
                  <a:srgbClr val="FF0000"/>
                </a:solidFill>
              </a:rPr>
              <a:t>History of the Olympic Games</a:t>
            </a:r>
            <a:endParaRPr lang="zh-CN" altLang="en-US" sz="3000" b="1" dirty="0">
              <a:solidFill>
                <a:srgbClr val="FF0000"/>
              </a:solidFill>
            </a:endParaRPr>
          </a:p>
          <a:p>
            <a:r>
              <a:rPr lang="en-US" altLang="zh-CN" sz="3000" b="1" dirty="0">
                <a:solidFill>
                  <a:schemeClr val="tx1"/>
                </a:solidFill>
              </a:rPr>
              <a:t>      </a:t>
            </a:r>
            <a:r>
              <a:rPr lang="zh-CN" altLang="en-US" sz="3000" b="1" dirty="0">
                <a:solidFill>
                  <a:schemeClr val="tx1"/>
                </a:solidFill>
              </a:rPr>
              <a:t>古代奥林匹克运动会始于公元前</a:t>
            </a:r>
            <a:r>
              <a:rPr lang="en-US" altLang="zh-CN" sz="3000" b="1" dirty="0">
                <a:solidFill>
                  <a:schemeClr val="tx1"/>
                </a:solidFill>
              </a:rPr>
              <a:t>776</a:t>
            </a:r>
            <a:r>
              <a:rPr lang="zh-CN" altLang="en-US" sz="3000" b="1" dirty="0">
                <a:solidFill>
                  <a:schemeClr val="tx1"/>
                </a:solidFill>
              </a:rPr>
              <a:t>年。早期的奥运会只</a:t>
            </a:r>
            <a:r>
              <a:rPr lang="zh-CN" altLang="en-US" sz="3000" b="1" dirty="0">
                <a:solidFill>
                  <a:srgbClr val="FF0000"/>
                </a:solidFill>
              </a:rPr>
              <a:t>允许</a:t>
            </a:r>
            <a:r>
              <a:rPr lang="zh-CN" altLang="en-US" sz="3000" b="1" dirty="0">
                <a:solidFill>
                  <a:schemeClr val="tx1"/>
                </a:solidFill>
              </a:rPr>
              <a:t>希腊男性</a:t>
            </a:r>
            <a:r>
              <a:rPr lang="zh-CN" altLang="en-US" sz="3000" b="1" dirty="0">
                <a:solidFill>
                  <a:srgbClr val="FF0000"/>
                </a:solidFill>
              </a:rPr>
              <a:t>参赛</a:t>
            </a:r>
            <a:r>
              <a:rPr lang="zh-CN" altLang="en-US" sz="3000" b="1" dirty="0">
                <a:solidFill>
                  <a:schemeClr val="tx1"/>
                </a:solidFill>
              </a:rPr>
              <a:t>。他们的</a:t>
            </a:r>
            <a:r>
              <a:rPr lang="zh-CN" altLang="en-US" sz="3000" b="1" dirty="0">
                <a:solidFill>
                  <a:srgbClr val="FF0000"/>
                </a:solidFill>
              </a:rPr>
              <a:t>竞赛</a:t>
            </a:r>
            <a:r>
              <a:rPr lang="zh-CN" altLang="en-US" sz="3000" b="1" dirty="0">
                <a:solidFill>
                  <a:schemeClr val="tx1"/>
                </a:solidFill>
              </a:rPr>
              <a:t>项目包括拳击、赛跑和跳远。古代奥林匹克运动会每四年在希腊的奥林匹亚举办，持续了近</a:t>
            </a:r>
            <a:r>
              <a:rPr lang="en-US" altLang="zh-CN" sz="3000" b="1" dirty="0">
                <a:solidFill>
                  <a:schemeClr val="tx1"/>
                </a:solidFill>
              </a:rPr>
              <a:t>12</a:t>
            </a:r>
            <a:r>
              <a:rPr lang="zh-CN" altLang="en-US" sz="3000" b="1" dirty="0">
                <a:solidFill>
                  <a:schemeClr val="tx1"/>
                </a:solidFill>
              </a:rPr>
              <a:t>个世纪，直到公元</a:t>
            </a:r>
            <a:r>
              <a:rPr lang="en-US" altLang="zh-CN" sz="3000" b="1" dirty="0">
                <a:solidFill>
                  <a:schemeClr val="tx1"/>
                </a:solidFill>
              </a:rPr>
              <a:t>393</a:t>
            </a:r>
            <a:r>
              <a:rPr lang="zh-CN" altLang="en-US" sz="3000" b="1" dirty="0">
                <a:solidFill>
                  <a:schemeClr val="tx1"/>
                </a:solidFill>
              </a:rPr>
              <a:t>年前后才最终</a:t>
            </a:r>
            <a:r>
              <a:rPr lang="zh-CN" altLang="en-US" sz="3000" b="1" dirty="0">
                <a:solidFill>
                  <a:srgbClr val="FF0000"/>
                </a:solidFill>
              </a:rPr>
              <a:t>停办</a:t>
            </a:r>
            <a:r>
              <a:rPr lang="zh-CN" altLang="en-US" sz="3000" b="1" dirty="0">
                <a:solidFill>
                  <a:schemeClr val="tx1"/>
                </a:solidFill>
              </a:rPr>
              <a:t>。</a:t>
            </a:r>
          </a:p>
          <a:p>
            <a:r>
              <a:rPr lang="en-US" altLang="zh-CN" sz="3000" b="1" dirty="0">
                <a:solidFill>
                  <a:schemeClr val="tx1"/>
                </a:solidFill>
              </a:rPr>
              <a:t>      </a:t>
            </a:r>
            <a:r>
              <a:rPr lang="zh-CN" altLang="en-US" sz="3000" b="1" dirty="0">
                <a:solidFill>
                  <a:schemeClr val="tx1"/>
                </a:solidFill>
              </a:rPr>
              <a:t>然而</a:t>
            </a:r>
            <a:r>
              <a:rPr lang="en-US" altLang="zh-CN" sz="3000" b="1" dirty="0">
                <a:solidFill>
                  <a:schemeClr val="tx1"/>
                </a:solidFill>
              </a:rPr>
              <a:t>1500</a:t>
            </a:r>
            <a:r>
              <a:rPr lang="zh-CN" altLang="en-US" sz="3000" b="1" dirty="0">
                <a:solidFill>
                  <a:schemeClr val="tx1"/>
                </a:solidFill>
              </a:rPr>
              <a:t>多年后，奥运会旧火重燃。</a:t>
            </a:r>
            <a:r>
              <a:rPr lang="en-US" altLang="zh-CN" sz="3000" b="1" dirty="0">
                <a:solidFill>
                  <a:schemeClr val="tx1"/>
                </a:solidFill>
              </a:rPr>
              <a:t>1896</a:t>
            </a:r>
            <a:r>
              <a:rPr lang="zh-CN" altLang="en-US" sz="3000" b="1" dirty="0">
                <a:solidFill>
                  <a:schemeClr val="tx1"/>
                </a:solidFill>
              </a:rPr>
              <a:t>年，第一届现代奥运会在雅典举办。一位名叫皮埃尔</a:t>
            </a:r>
            <a:r>
              <a:rPr lang="en-US" altLang="zh-CN" sz="3000" b="1" dirty="0">
                <a:solidFill>
                  <a:schemeClr val="tx1"/>
                </a:solidFill>
              </a:rPr>
              <a:t>•</a:t>
            </a:r>
            <a:r>
              <a:rPr lang="zh-CN" altLang="en-US" sz="3000" b="1" dirty="0">
                <a:solidFill>
                  <a:schemeClr val="tx1"/>
                </a:solidFill>
              </a:rPr>
              <a:t>德</a:t>
            </a:r>
            <a:r>
              <a:rPr lang="en-US" altLang="zh-CN" sz="3000" b="1" dirty="0">
                <a:solidFill>
                  <a:schemeClr val="tx1"/>
                </a:solidFill>
              </a:rPr>
              <a:t>•</a:t>
            </a:r>
            <a:r>
              <a:rPr lang="zh-CN" altLang="en-US" sz="3000" b="1" dirty="0">
                <a:solidFill>
                  <a:schemeClr val="tx1"/>
                </a:solidFill>
              </a:rPr>
              <a:t>顾拜旦的法国人</a:t>
            </a:r>
            <a:r>
              <a:rPr lang="zh-CN" altLang="en-US" sz="3000" b="1" dirty="0">
                <a:solidFill>
                  <a:srgbClr val="FF0000"/>
                </a:solidFill>
              </a:rPr>
              <a:t>使奥运会重获生机</a:t>
            </a:r>
            <a:r>
              <a:rPr lang="zh-CN" altLang="en-US" sz="3000" b="1" dirty="0">
                <a:solidFill>
                  <a:schemeClr val="tx1"/>
                </a:solidFill>
              </a:rPr>
              <a:t>。他的梦想是借助奥运会让</a:t>
            </a:r>
            <a:r>
              <a:rPr lang="zh-CN" altLang="en-US" sz="3000" b="1" dirty="0">
                <a:solidFill>
                  <a:srgbClr val="FF0000"/>
                </a:solidFill>
              </a:rPr>
              <a:t>不同种族</a:t>
            </a:r>
            <a:r>
              <a:rPr lang="zh-CN" altLang="en-US" sz="3000" b="1" dirty="0">
                <a:solidFill>
                  <a:schemeClr val="tx1"/>
                </a:solidFill>
              </a:rPr>
              <a:t>、不同文化的人们</a:t>
            </a:r>
            <a:r>
              <a:rPr lang="zh-CN" altLang="en-US" sz="3000" b="1" dirty="0">
                <a:solidFill>
                  <a:srgbClr val="FF0000"/>
                </a:solidFill>
              </a:rPr>
              <a:t>和平地生活在一起</a:t>
            </a:r>
            <a:r>
              <a:rPr lang="zh-CN" altLang="en-US" sz="3000" b="1" dirty="0">
                <a:solidFill>
                  <a:schemeClr val="tx1"/>
                </a:solidFill>
              </a:rPr>
              <a:t>。一个多世纪以来，来自</a:t>
            </a:r>
            <a:r>
              <a:rPr lang="zh-CN" altLang="en-US" sz="3000" b="1" dirty="0">
                <a:solidFill>
                  <a:srgbClr val="FF0000"/>
                </a:solidFill>
              </a:rPr>
              <a:t>不同背景</a:t>
            </a:r>
            <a:r>
              <a:rPr lang="zh-CN" altLang="en-US" sz="3000" b="1" dirty="0">
                <a:solidFill>
                  <a:schemeClr val="tx1"/>
                </a:solidFill>
              </a:rPr>
              <a:t>的人们</a:t>
            </a:r>
            <a:r>
              <a:rPr lang="zh-CN" altLang="en-US" sz="3000" b="1" dirty="0">
                <a:solidFill>
                  <a:srgbClr val="FF0000"/>
                </a:solidFill>
              </a:rPr>
              <a:t>共同努力</a:t>
            </a:r>
            <a:r>
              <a:rPr lang="zh-CN" altLang="en-US" sz="3000" b="1" dirty="0">
                <a:solidFill>
                  <a:schemeClr val="tx1"/>
                </a:solidFill>
              </a:rPr>
              <a:t>，帮助实现顾拜旦的梦想。</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fontScale="80000"/>
          </a:bodyPr>
          <a:lstStyle/>
          <a:p>
            <a:r>
              <a:rPr lang="en-US" altLang="zh-CN" sz="3600" b="1" dirty="0">
                <a:solidFill>
                  <a:srgbClr val="FF0000"/>
                </a:solidFill>
                <a:sym typeface="+mn-ea"/>
              </a:rPr>
              <a:t>Well-known Olympians/ Olympic athletes</a:t>
            </a:r>
            <a:endParaRPr lang="zh-CN" altLang="en-US" sz="3600" b="1" dirty="0">
              <a:solidFill>
                <a:srgbClr val="FF0000"/>
              </a:solidFill>
              <a:sym typeface="+mn-ea"/>
            </a:endParaRPr>
          </a:p>
          <a:p>
            <a:r>
              <a:rPr lang="en-US" altLang="zh-CN" sz="3600" b="1" dirty="0">
                <a:sym typeface="+mn-ea"/>
              </a:rPr>
              <a:t>      </a:t>
            </a:r>
            <a:r>
              <a:rPr lang="zh-CN" altLang="en-US" sz="3600" b="1" dirty="0">
                <a:solidFill>
                  <a:srgbClr val="FF0000"/>
                </a:solidFill>
                <a:sym typeface="+mn-ea"/>
              </a:rPr>
              <a:t>在</a:t>
            </a:r>
            <a:r>
              <a:rPr lang="zh-CN" altLang="en-US" sz="3600" b="1" dirty="0">
                <a:sym typeface="+mn-ea"/>
              </a:rPr>
              <a:t>原先的</a:t>
            </a:r>
            <a:r>
              <a:rPr lang="zh-CN" altLang="en-US" sz="3600" b="1" u="sng" dirty="0">
                <a:sym typeface="+mn-ea"/>
              </a:rPr>
              <a:t>奥运口号</a:t>
            </a:r>
            <a:r>
              <a:rPr lang="en-US" altLang="zh-CN" sz="3600" b="1" u="sng" dirty="0">
                <a:sym typeface="+mn-ea"/>
              </a:rPr>
              <a:t>“</a:t>
            </a:r>
            <a:r>
              <a:rPr lang="zh-CN" altLang="en-US" sz="3600" b="1" u="sng" dirty="0">
                <a:sym typeface="+mn-ea"/>
              </a:rPr>
              <a:t>更快、更高、更强</a:t>
            </a:r>
            <a:r>
              <a:rPr lang="en-US" altLang="zh-CN" sz="3600" b="1" dirty="0">
                <a:sym typeface="+mn-ea"/>
              </a:rPr>
              <a:t>”</a:t>
            </a:r>
            <a:r>
              <a:rPr lang="zh-CN" altLang="en-US" sz="3600" b="1" dirty="0">
                <a:solidFill>
                  <a:srgbClr val="FF0000"/>
                </a:solidFill>
                <a:sym typeface="+mn-ea"/>
              </a:rPr>
              <a:t>的激励下</a:t>
            </a:r>
            <a:r>
              <a:rPr lang="zh-CN" altLang="en-US" sz="3600" b="1" dirty="0">
                <a:sym typeface="+mn-ea"/>
              </a:rPr>
              <a:t>，许多知名的男女运动员</a:t>
            </a:r>
            <a:r>
              <a:rPr lang="zh-CN" altLang="en-US" sz="3600" b="1" dirty="0">
                <a:solidFill>
                  <a:srgbClr val="FF0000"/>
                </a:solidFill>
                <a:sym typeface="+mn-ea"/>
              </a:rPr>
              <a:t>力争取得卓越的体育成绩</a:t>
            </a:r>
            <a:r>
              <a:rPr lang="zh-CN" altLang="en-US" sz="3600" b="1" dirty="0">
                <a:sym typeface="+mn-ea"/>
              </a:rPr>
              <a:t>并不断</a:t>
            </a:r>
            <a:r>
              <a:rPr lang="zh-CN" altLang="en-US" sz="3600" b="1" dirty="0">
                <a:solidFill>
                  <a:srgbClr val="FF0000"/>
                </a:solidFill>
                <a:sym typeface="+mn-ea"/>
              </a:rPr>
              <a:t>突破人类成就的极限</a:t>
            </a:r>
            <a:r>
              <a:rPr lang="zh-CN" altLang="en-US" sz="3600" b="1" dirty="0">
                <a:sym typeface="+mn-ea"/>
              </a:rPr>
              <a:t>。拳击手卡修斯</a:t>
            </a:r>
            <a:r>
              <a:rPr lang="en-US" altLang="zh-CN" sz="3600" b="1" dirty="0">
                <a:sym typeface="+mn-ea"/>
              </a:rPr>
              <a:t>•</a:t>
            </a:r>
            <a:r>
              <a:rPr lang="zh-CN" altLang="en-US" sz="3600" b="1" dirty="0">
                <a:sym typeface="+mn-ea"/>
              </a:rPr>
              <a:t>克莱就是这样一名奥运会选手。他在</a:t>
            </a:r>
            <a:r>
              <a:rPr lang="en-US" altLang="zh-CN" sz="3600" b="1" dirty="0">
                <a:sym typeface="+mn-ea"/>
              </a:rPr>
              <a:t>1960</a:t>
            </a:r>
            <a:r>
              <a:rPr lang="zh-CN" altLang="en-US" sz="3600" b="1" dirty="0">
                <a:sym typeface="+mn-ea"/>
              </a:rPr>
              <a:t>年罗马奥运会上</a:t>
            </a:r>
            <a:r>
              <a:rPr lang="zh-CN" altLang="en-US" sz="3600" b="1" dirty="0">
                <a:solidFill>
                  <a:srgbClr val="FF0000"/>
                </a:solidFill>
                <a:sym typeface="+mn-ea"/>
              </a:rPr>
              <a:t>引起了公众的关注</a:t>
            </a:r>
            <a:r>
              <a:rPr lang="zh-CN" altLang="en-US" sz="3600" b="1" dirty="0">
                <a:sym typeface="+mn-ea"/>
              </a:rPr>
              <a:t>。当时，他为美国赢得了轻重量级拳击金牌，并在比赛过程中</a:t>
            </a:r>
            <a:r>
              <a:rPr lang="zh-CN" altLang="en-US" sz="3600" b="1" dirty="0">
                <a:solidFill>
                  <a:srgbClr val="FF0000"/>
                </a:solidFill>
                <a:sym typeface="+mn-ea"/>
              </a:rPr>
              <a:t>展现了极高的天赋和优秀的品格</a:t>
            </a:r>
            <a:r>
              <a:rPr lang="zh-CN" altLang="en-US" sz="3600" b="1" dirty="0">
                <a:sym typeface="+mn-ea"/>
              </a:rPr>
              <a:t>。</a:t>
            </a:r>
            <a:r>
              <a:rPr lang="zh-CN" altLang="en-US" sz="3600" b="1" dirty="0">
                <a:solidFill>
                  <a:srgbClr val="FF0000"/>
                </a:solidFill>
                <a:sym typeface="+mn-ea"/>
              </a:rPr>
              <a:t>后来</a:t>
            </a:r>
            <a:r>
              <a:rPr lang="zh-CN" altLang="en-US" sz="3600" b="1" dirty="0">
                <a:sym typeface="+mn-ea"/>
              </a:rPr>
              <a:t>，这位年轻人</a:t>
            </a:r>
            <a:r>
              <a:rPr lang="zh-CN" altLang="en-US" sz="3600" b="1" dirty="0">
                <a:solidFill>
                  <a:srgbClr val="FF0000"/>
                </a:solidFill>
                <a:sym typeface="+mn-ea"/>
              </a:rPr>
              <a:t>又</a:t>
            </a:r>
            <a:r>
              <a:rPr lang="zh-CN" altLang="en-US" sz="3600" b="1" dirty="0">
                <a:sym typeface="+mn-ea"/>
              </a:rPr>
              <a:t>在</a:t>
            </a:r>
            <a:r>
              <a:rPr lang="en-US" altLang="zh-CN" sz="3600" b="1" dirty="0">
                <a:sym typeface="+mn-ea"/>
              </a:rPr>
              <a:t>1964</a:t>
            </a:r>
            <a:r>
              <a:rPr lang="zh-CN" altLang="en-US" sz="3600" b="1" dirty="0">
                <a:sym typeface="+mn-ea"/>
              </a:rPr>
              <a:t>年</a:t>
            </a:r>
            <a:r>
              <a:rPr lang="zh-CN" altLang="en-US" sz="3600" b="1" dirty="0">
                <a:solidFill>
                  <a:srgbClr val="FF0000"/>
                </a:solidFill>
                <a:sym typeface="+mn-ea"/>
              </a:rPr>
              <a:t>成为</a:t>
            </a:r>
            <a:r>
              <a:rPr lang="zh-CN" altLang="en-US" sz="3600" b="1" dirty="0">
                <a:sym typeface="+mn-ea"/>
              </a:rPr>
              <a:t>了世界重量级拳击冠军，之后将名字改成了我们耳熟能详的穆罕默德</a:t>
            </a:r>
            <a:r>
              <a:rPr lang="en-US" altLang="zh-CN" sz="3600" b="1" dirty="0">
                <a:sym typeface="+mn-ea"/>
              </a:rPr>
              <a:t>•</a:t>
            </a:r>
            <a:r>
              <a:rPr lang="zh-CN" altLang="en-US" sz="3600" b="1" dirty="0">
                <a:sym typeface="+mn-ea"/>
              </a:rPr>
              <a:t>阿里。</a:t>
            </a:r>
            <a:r>
              <a:rPr lang="en-US" altLang="zh-CN" sz="3600" b="1" dirty="0">
                <a:sym typeface="+mn-ea"/>
              </a:rPr>
              <a:t>1996</a:t>
            </a:r>
            <a:r>
              <a:rPr lang="zh-CN" altLang="en-US" sz="3600" b="1" dirty="0">
                <a:sym typeface="+mn-ea"/>
              </a:rPr>
              <a:t>年，他重返亚特兰大奥林匹克运动会，在开幕式上</a:t>
            </a:r>
            <a:r>
              <a:rPr lang="zh-CN" altLang="en-US" sz="3600" b="1" dirty="0">
                <a:solidFill>
                  <a:srgbClr val="FF0000"/>
                </a:solidFill>
                <a:sym typeface="+mn-ea"/>
              </a:rPr>
              <a:t>点燃了奥运圣火</a:t>
            </a:r>
            <a:r>
              <a:rPr lang="zh-CN" altLang="en-US" sz="3600" b="1" dirty="0">
                <a:sym typeface="+mn-ea"/>
              </a:rPr>
              <a:t>。在</a:t>
            </a:r>
            <a:r>
              <a:rPr lang="en-US" altLang="zh-CN" sz="3600" b="1" dirty="0">
                <a:sym typeface="+mn-ea"/>
              </a:rPr>
              <a:t>2016</a:t>
            </a:r>
            <a:r>
              <a:rPr lang="zh-CN" altLang="en-US" sz="3600" b="1" dirty="0">
                <a:sym typeface="+mn-ea"/>
              </a:rPr>
              <a:t>年过世前，阿里</a:t>
            </a:r>
            <a:r>
              <a:rPr lang="zh-CN" altLang="en-US" sz="3600" b="1" dirty="0">
                <a:solidFill>
                  <a:srgbClr val="FF0000"/>
                </a:solidFill>
                <a:sym typeface="+mn-ea"/>
              </a:rPr>
              <a:t>已被公认为有史以来</a:t>
            </a:r>
            <a:r>
              <a:rPr lang="zh-CN" altLang="en-US" sz="3600" b="1" dirty="0">
                <a:sym typeface="+mn-ea"/>
              </a:rPr>
              <a:t>最伟大的拳击手之一。</a:t>
            </a:r>
            <a:endParaRPr lang="zh-CN" altLang="en-US" sz="3600" b="1" dirty="0">
              <a:solidFill>
                <a:schemeClr val="tx1"/>
              </a:solidFill>
            </a:endParaRPr>
          </a:p>
          <a:p>
            <a:r>
              <a:rPr lang="en-US" altLang="zh-CN" sz="3600" b="1" dirty="0">
                <a:sym typeface="+mn-ea"/>
              </a:rPr>
              <a:t>      </a:t>
            </a:r>
            <a:r>
              <a:rPr lang="zh-CN" altLang="en-US" sz="3600" b="1" dirty="0">
                <a:sym typeface="+mn-ea"/>
              </a:rPr>
              <a:t>另一位值得</a:t>
            </a:r>
            <a:r>
              <a:rPr lang="zh-CN" altLang="en-US" sz="3600" b="1" dirty="0">
                <a:solidFill>
                  <a:srgbClr val="FF0000"/>
                </a:solidFill>
                <a:sym typeface="+mn-ea"/>
              </a:rPr>
              <a:t>称赞</a:t>
            </a:r>
            <a:r>
              <a:rPr lang="zh-CN" altLang="en-US" sz="3600" b="1" dirty="0">
                <a:sym typeface="+mn-ea"/>
              </a:rPr>
              <a:t>的运动员是杰西卡</a:t>
            </a:r>
            <a:r>
              <a:rPr lang="en-US" altLang="zh-CN" sz="3600" b="1" dirty="0">
                <a:sym typeface="+mn-ea"/>
              </a:rPr>
              <a:t>•</a:t>
            </a:r>
            <a:r>
              <a:rPr lang="zh-CN" altLang="en-US" sz="3600" b="1" dirty="0">
                <a:sym typeface="+mn-ea"/>
              </a:rPr>
              <a:t>恩尼斯</a:t>
            </a:r>
            <a:r>
              <a:rPr lang="en-US" altLang="zh-CN" sz="3600" b="1" dirty="0">
                <a:sym typeface="+mn-ea"/>
              </a:rPr>
              <a:t>-</a:t>
            </a:r>
            <a:r>
              <a:rPr lang="zh-CN" altLang="en-US" sz="3600" b="1" dirty="0">
                <a:sym typeface="+mn-ea"/>
              </a:rPr>
              <a:t>希尔。她的故事为我们</a:t>
            </a:r>
            <a:r>
              <a:rPr lang="zh-CN" altLang="en-US" sz="3600" b="1" dirty="0">
                <a:solidFill>
                  <a:srgbClr val="FF0000"/>
                </a:solidFill>
                <a:sym typeface="+mn-ea"/>
              </a:rPr>
              <a:t>出色地示范了</a:t>
            </a:r>
            <a:r>
              <a:rPr lang="zh-CN" altLang="en-US" sz="3600" b="1" dirty="0">
                <a:sym typeface="+mn-ea"/>
              </a:rPr>
              <a:t>如何通过勤奋和专注取得优异的体育成绩。作为一名英国的前田径运动员，</a:t>
            </a:r>
            <a:r>
              <a:rPr lang="en-US" altLang="zh-CN" sz="3600" b="1" dirty="0">
                <a:sym typeface="+mn-ea"/>
              </a:rPr>
              <a:t>2012</a:t>
            </a:r>
            <a:r>
              <a:rPr lang="zh-CN" altLang="en-US" sz="3600" b="1" dirty="0">
                <a:sym typeface="+mn-ea"/>
              </a:rPr>
              <a:t>年，她在自己的祖国赢得了一块奥运金牌。但是她仿佛认为那还不够，</a:t>
            </a:r>
            <a:r>
              <a:rPr lang="en-US" altLang="zh-CN" sz="3600" b="1" dirty="0">
                <a:sym typeface="+mn-ea"/>
              </a:rPr>
              <a:t>2016</a:t>
            </a:r>
            <a:r>
              <a:rPr lang="zh-CN" altLang="en-US" sz="3600" b="1" dirty="0">
                <a:sym typeface="+mn-ea"/>
              </a:rPr>
              <a:t>年，在</a:t>
            </a:r>
            <a:r>
              <a:rPr lang="zh-CN" altLang="en-US" sz="3600" b="1" dirty="0">
                <a:solidFill>
                  <a:srgbClr val="FF0000"/>
                </a:solidFill>
                <a:sym typeface="+mn-ea"/>
              </a:rPr>
              <a:t>生下</a:t>
            </a:r>
            <a:r>
              <a:rPr lang="zh-CN" altLang="en-US" sz="3600" b="1" dirty="0">
                <a:sym typeface="+mn-ea"/>
              </a:rPr>
              <a:t>第一个</a:t>
            </a:r>
            <a:r>
              <a:rPr lang="zh-CN" altLang="en-US" sz="3600" b="1" dirty="0">
                <a:solidFill>
                  <a:srgbClr val="FF0000"/>
                </a:solidFill>
                <a:sym typeface="+mn-ea"/>
              </a:rPr>
              <a:t>孩子</a:t>
            </a:r>
            <a:r>
              <a:rPr lang="zh-CN" altLang="en-US" sz="3600" b="1" dirty="0">
                <a:sym typeface="+mn-ea"/>
              </a:rPr>
              <a:t>仅仅两年后，她又重返奥运赛场并斩获一枚银牌。她在采访中透露，自己</a:t>
            </a:r>
            <a:r>
              <a:rPr lang="zh-CN" altLang="en-US" sz="3600" b="1" dirty="0">
                <a:solidFill>
                  <a:srgbClr val="FF0000"/>
                </a:solidFill>
                <a:sym typeface="+mn-ea"/>
              </a:rPr>
              <a:t>维持良好表现</a:t>
            </a:r>
            <a:r>
              <a:rPr lang="zh-CN" altLang="en-US" sz="3600" b="1" dirty="0">
                <a:sym typeface="+mn-ea"/>
              </a:rPr>
              <a:t>的秘诀在于从不缺席训练。</a:t>
            </a:r>
            <a:endParaRPr lang="zh-CN" altLang="en-US" sz="3600" b="1" dirty="0">
              <a:solidFill>
                <a:schemeClr val="tx1"/>
              </a:solidFill>
            </a:endParaRPr>
          </a:p>
          <a:p>
            <a:endParaRPr lang="zh-CN" altLang="en-US" sz="3600" b="1" dirty="0">
              <a:solidFill>
                <a:srgbClr val="FF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fontScale="90000" lnSpcReduction="10000"/>
          </a:bodyPr>
          <a:lstStyle/>
          <a:p>
            <a:r>
              <a:rPr lang="en-US" altLang="zh-CN" sz="3600" b="1" dirty="0">
                <a:solidFill>
                  <a:srgbClr val="FF0000"/>
                </a:solidFill>
                <a:sym typeface="+mn-ea"/>
              </a:rPr>
              <a:t>China and the Olympics/China’s contribution to the Olympics</a:t>
            </a:r>
            <a:endParaRPr lang="en-US" altLang="zh-CN" sz="3600" b="1" dirty="0">
              <a:sym typeface="+mn-ea"/>
            </a:endParaRPr>
          </a:p>
          <a:p>
            <a:r>
              <a:rPr lang="en-US" altLang="zh-CN" sz="3600" b="1" dirty="0">
                <a:sym typeface="+mn-ea"/>
              </a:rPr>
              <a:t>      2008</a:t>
            </a:r>
            <a:r>
              <a:rPr lang="zh-CN" altLang="en-US" sz="3600" b="1" dirty="0">
                <a:sym typeface="+mn-ea"/>
              </a:rPr>
              <a:t>年北京奥运会以</a:t>
            </a:r>
            <a:r>
              <a:rPr lang="en-US" altLang="zh-CN" sz="3600" b="1" dirty="0">
                <a:sym typeface="+mn-ea"/>
              </a:rPr>
              <a:t>“</a:t>
            </a:r>
            <a:r>
              <a:rPr lang="zh-CN" altLang="en-US" sz="3600" b="1" dirty="0">
                <a:sym typeface="+mn-ea"/>
              </a:rPr>
              <a:t>同一个世界，同一个梦想</a:t>
            </a:r>
            <a:r>
              <a:rPr lang="en-US" altLang="zh-CN" sz="3600" b="1" dirty="0">
                <a:sym typeface="+mn-ea"/>
              </a:rPr>
              <a:t>”</a:t>
            </a:r>
            <a:r>
              <a:rPr lang="zh-CN" altLang="en-US" sz="3600" b="1" dirty="0">
                <a:sym typeface="+mn-ea"/>
              </a:rPr>
              <a:t>为口号，</a:t>
            </a:r>
            <a:r>
              <a:rPr lang="zh-CN" altLang="en-US" sz="3600" b="1" dirty="0">
                <a:solidFill>
                  <a:srgbClr val="FF0000"/>
                </a:solidFill>
                <a:sym typeface="+mn-ea"/>
              </a:rPr>
              <a:t>号召全世界共享奥运精神</a:t>
            </a:r>
            <a:r>
              <a:rPr lang="zh-CN" altLang="en-US" sz="3600" b="1" dirty="0">
                <a:sym typeface="+mn-ea"/>
              </a:rPr>
              <a:t>，为人类共建美好未来。中国</a:t>
            </a:r>
            <a:r>
              <a:rPr lang="zh-CN" altLang="en-US" sz="3600" b="1" dirty="0">
                <a:solidFill>
                  <a:srgbClr val="FF0000"/>
                </a:solidFill>
                <a:sym typeface="+mn-ea"/>
              </a:rPr>
              <a:t>不仅是第一次举办奥运会</a:t>
            </a:r>
            <a:r>
              <a:rPr lang="zh-CN" altLang="en-US" sz="3600" b="1" dirty="0">
                <a:sym typeface="+mn-ea"/>
              </a:rPr>
              <a:t>，更是</a:t>
            </a:r>
            <a:r>
              <a:rPr lang="zh-CN" altLang="en-US" sz="3600" b="1" dirty="0">
                <a:solidFill>
                  <a:srgbClr val="FF0000"/>
                </a:solidFill>
                <a:sym typeface="+mn-ea"/>
              </a:rPr>
              <a:t>在奖牌榜上位列第一</a:t>
            </a:r>
            <a:r>
              <a:rPr lang="zh-CN" altLang="en-US" sz="3600" b="1" dirty="0">
                <a:sym typeface="+mn-ea"/>
              </a:rPr>
              <a:t>。这份成功着实令人瞩目，考虑到仅仅</a:t>
            </a:r>
            <a:r>
              <a:rPr lang="en-US" altLang="zh-CN" sz="3600" b="1" dirty="0">
                <a:sym typeface="+mn-ea"/>
              </a:rPr>
              <a:t>24</a:t>
            </a:r>
            <a:r>
              <a:rPr lang="zh-CN" altLang="en-US" sz="3600" b="1" dirty="0">
                <a:sym typeface="+mn-ea"/>
              </a:rPr>
              <a:t>年前，许海峰才在</a:t>
            </a:r>
            <a:r>
              <a:rPr lang="en-US" altLang="zh-CN" sz="3600" b="1" dirty="0">
                <a:sym typeface="+mn-ea"/>
              </a:rPr>
              <a:t>1984</a:t>
            </a:r>
            <a:r>
              <a:rPr lang="zh-CN" altLang="en-US" sz="3600" b="1" dirty="0">
                <a:sym typeface="+mn-ea"/>
              </a:rPr>
              <a:t>年洛杉矶奥运会上为我们国家摘得了史上第一块金牌。</a:t>
            </a:r>
            <a:r>
              <a:rPr lang="zh-CN" altLang="en-US" sz="3600" b="1" dirty="0">
                <a:solidFill>
                  <a:srgbClr val="FF0000"/>
                </a:solidFill>
                <a:sym typeface="+mn-ea"/>
              </a:rPr>
              <a:t>从那时起</a:t>
            </a:r>
            <a:r>
              <a:rPr lang="zh-CN" altLang="en-US" sz="3600" b="1" dirty="0">
                <a:sym typeface="+mn-ea"/>
              </a:rPr>
              <a:t>，中国体育的</a:t>
            </a:r>
            <a:r>
              <a:rPr lang="zh-CN" altLang="en-US" sz="3600" b="1" dirty="0">
                <a:solidFill>
                  <a:srgbClr val="FF0000"/>
                </a:solidFill>
                <a:sym typeface="+mn-ea"/>
              </a:rPr>
              <a:t>上升势头</a:t>
            </a:r>
            <a:r>
              <a:rPr lang="zh-CN" altLang="en-US" sz="3600" b="1" dirty="0">
                <a:sym typeface="+mn-ea"/>
              </a:rPr>
              <a:t>就</a:t>
            </a:r>
            <a:r>
              <a:rPr lang="zh-CN" altLang="en-US" sz="3600" b="1" dirty="0">
                <a:solidFill>
                  <a:srgbClr val="FF0000"/>
                </a:solidFill>
                <a:sym typeface="+mn-ea"/>
              </a:rPr>
              <a:t>不可阻挡</a:t>
            </a:r>
            <a:r>
              <a:rPr lang="zh-CN" altLang="en-US" sz="3600" b="1" dirty="0">
                <a:sym typeface="+mn-ea"/>
              </a:rPr>
              <a:t>了。</a:t>
            </a:r>
            <a:r>
              <a:rPr lang="en-US" altLang="zh-CN" sz="3600" b="1" dirty="0">
                <a:sym typeface="+mn-ea"/>
              </a:rPr>
              <a:t>2004</a:t>
            </a:r>
            <a:r>
              <a:rPr lang="zh-CN" altLang="en-US" sz="3600" b="1" dirty="0">
                <a:sym typeface="+mn-ea"/>
              </a:rPr>
              <a:t>年雅典奥林匹克运动会上，刘翔成为</a:t>
            </a:r>
            <a:r>
              <a:rPr lang="zh-CN" altLang="en-US" sz="3600" b="1" dirty="0">
                <a:solidFill>
                  <a:srgbClr val="FF0000"/>
                </a:solidFill>
                <a:sym typeface="+mn-ea"/>
              </a:rPr>
              <a:t>第一位赢得</a:t>
            </a:r>
            <a:r>
              <a:rPr lang="zh-CN" altLang="en-US" sz="3600" b="1" dirty="0">
                <a:sym typeface="+mn-ea"/>
              </a:rPr>
              <a:t>男子</a:t>
            </a:r>
            <a:r>
              <a:rPr lang="en-US" altLang="zh-CN" sz="3600" b="1" dirty="0">
                <a:sym typeface="+mn-ea"/>
              </a:rPr>
              <a:t>110</a:t>
            </a:r>
            <a:r>
              <a:rPr lang="zh-CN" altLang="en-US" sz="3600" b="1" dirty="0">
                <a:sym typeface="+mn-ea"/>
              </a:rPr>
              <a:t>米跨栏</a:t>
            </a:r>
            <a:r>
              <a:rPr lang="zh-CN" altLang="en-US" sz="3600" b="1" dirty="0">
                <a:solidFill>
                  <a:srgbClr val="FF0000"/>
                </a:solidFill>
                <a:sym typeface="+mn-ea"/>
              </a:rPr>
              <a:t>金牌的亚洲人</a:t>
            </a:r>
            <a:r>
              <a:rPr lang="zh-CN" altLang="en-US" sz="3600" b="1" dirty="0">
                <a:sym typeface="+mn-ea"/>
              </a:rPr>
              <a:t>，而在</a:t>
            </a:r>
            <a:r>
              <a:rPr lang="en-US" altLang="zh-CN" sz="3600" b="1" dirty="0">
                <a:sym typeface="+mn-ea"/>
              </a:rPr>
              <a:t>2016</a:t>
            </a:r>
            <a:r>
              <a:rPr lang="zh-CN" altLang="en-US" sz="3600" b="1" dirty="0">
                <a:sym typeface="+mn-ea"/>
              </a:rPr>
              <a:t>年里约热内卢奥林匹克运动会上，中国女子排球队</a:t>
            </a:r>
            <a:r>
              <a:rPr lang="zh-CN" altLang="en-US" sz="3600" b="1" dirty="0">
                <a:solidFill>
                  <a:srgbClr val="FF0000"/>
                </a:solidFill>
                <a:sym typeface="+mn-ea"/>
              </a:rPr>
              <a:t>在决赛中艰苦作战取得了胜利</a:t>
            </a:r>
            <a:r>
              <a:rPr lang="zh-CN" altLang="en-US" sz="3600" b="1" dirty="0">
                <a:sym typeface="+mn-ea"/>
              </a:rPr>
              <a:t>。对于中国来说，又一个历史性的时刻是北京在</a:t>
            </a:r>
            <a:r>
              <a:rPr lang="en-US" altLang="zh-CN" sz="3600" b="1" dirty="0">
                <a:sym typeface="+mn-ea"/>
              </a:rPr>
              <a:t>2015</a:t>
            </a:r>
            <a:r>
              <a:rPr lang="zh-CN" altLang="en-US" sz="3600" b="1" dirty="0">
                <a:sym typeface="+mn-ea"/>
              </a:rPr>
              <a:t>年</a:t>
            </a:r>
            <a:r>
              <a:rPr lang="zh-CN" altLang="en-US" sz="3600" b="1" dirty="0">
                <a:solidFill>
                  <a:srgbClr val="FF0000"/>
                </a:solidFill>
                <a:sym typeface="+mn-ea"/>
              </a:rPr>
              <a:t>赢得选举后</a:t>
            </a:r>
            <a:r>
              <a:rPr lang="zh-CN" altLang="en-US" sz="3600" b="1" dirty="0">
                <a:sym typeface="+mn-ea"/>
              </a:rPr>
              <a:t>成功举办了</a:t>
            </a:r>
            <a:r>
              <a:rPr lang="en-US" altLang="zh-CN" sz="3600" b="1" dirty="0">
                <a:sym typeface="+mn-ea"/>
              </a:rPr>
              <a:t>2022</a:t>
            </a:r>
            <a:r>
              <a:rPr lang="zh-CN" altLang="en-US" sz="3600" b="1" dirty="0">
                <a:sym typeface="+mn-ea"/>
              </a:rPr>
              <a:t>年冬季奥运会。</a:t>
            </a:r>
            <a:endParaRPr lang="zh-CN" altLang="en-US" sz="3600" b="1" dirty="0">
              <a:solidFill>
                <a:schemeClr val="tx1"/>
              </a:solidFill>
            </a:endParaRPr>
          </a:p>
          <a:p>
            <a:r>
              <a:rPr lang="en-US" altLang="zh-CN" sz="3600" b="1" dirty="0">
                <a:sym typeface="+mn-ea"/>
              </a:rPr>
              <a:t>      </a:t>
            </a:r>
            <a:r>
              <a:rPr lang="zh-CN" altLang="en-US" sz="3600" b="1" dirty="0">
                <a:sym typeface="+mn-ea"/>
              </a:rPr>
              <a:t>奥林匹克运动会</a:t>
            </a:r>
            <a:r>
              <a:rPr lang="zh-CN" altLang="en-US" sz="3600" b="1" dirty="0">
                <a:solidFill>
                  <a:srgbClr val="FF0000"/>
                </a:solidFill>
                <a:sym typeface="+mn-ea"/>
              </a:rPr>
              <a:t>给全世界人民带来了喜悦和激动</a:t>
            </a:r>
            <a:r>
              <a:rPr lang="zh-CN" altLang="en-US" sz="3600" b="1" dirty="0">
                <a:sym typeface="+mn-ea"/>
              </a:rPr>
              <a:t>。正如顾拜旦所信奉的：</a:t>
            </a:r>
            <a:r>
              <a:rPr lang="en-US" altLang="zh-CN" sz="3600" b="1" dirty="0">
                <a:sym typeface="+mn-ea"/>
              </a:rPr>
              <a:t>“</a:t>
            </a:r>
            <a:r>
              <a:rPr lang="zh-CN" altLang="en-US" sz="3600" b="1" dirty="0">
                <a:sym typeface="+mn-ea"/>
              </a:rPr>
              <a:t>有了奥林匹克运动会，每一代人都能庆祝他们的</a:t>
            </a:r>
            <a:r>
              <a:rPr lang="zh-CN" altLang="en-US" sz="3600" b="1" dirty="0">
                <a:solidFill>
                  <a:srgbClr val="FF0000"/>
                </a:solidFill>
                <a:sym typeface="+mn-ea"/>
              </a:rPr>
              <a:t>存在</a:t>
            </a:r>
            <a:r>
              <a:rPr lang="zh-CN" altLang="en-US" sz="3600" b="1" dirty="0">
                <a:sym typeface="+mn-ea"/>
              </a:rPr>
              <a:t>、他们生活的</a:t>
            </a:r>
            <a:r>
              <a:rPr lang="zh-CN" altLang="en-US" sz="3600" b="1" dirty="0">
                <a:solidFill>
                  <a:srgbClr val="FF0000"/>
                </a:solidFill>
                <a:sym typeface="+mn-ea"/>
              </a:rPr>
              <a:t>喜悦</a:t>
            </a:r>
            <a:r>
              <a:rPr lang="zh-CN" altLang="en-US" sz="3600" b="1" dirty="0">
                <a:sym typeface="+mn-ea"/>
              </a:rPr>
              <a:t>、他们对未来的</a:t>
            </a:r>
            <a:r>
              <a:rPr lang="zh-CN" altLang="en-US" sz="3600" b="1" dirty="0">
                <a:solidFill>
                  <a:srgbClr val="FF0000"/>
                </a:solidFill>
                <a:sym typeface="+mn-ea"/>
              </a:rPr>
              <a:t>信念</a:t>
            </a:r>
            <a:r>
              <a:rPr lang="zh-CN" altLang="en-US" sz="3600" b="1" dirty="0">
                <a:sym typeface="+mn-ea"/>
              </a:rPr>
              <a:t>、他们的</a:t>
            </a:r>
            <a:r>
              <a:rPr lang="zh-CN" altLang="en-US" sz="3600" b="1" dirty="0">
                <a:solidFill>
                  <a:srgbClr val="FF0000"/>
                </a:solidFill>
                <a:sym typeface="+mn-ea"/>
              </a:rPr>
              <a:t>雄心</a:t>
            </a:r>
            <a:r>
              <a:rPr lang="zh-CN" altLang="en-US" sz="3600" b="1" dirty="0">
                <a:sym typeface="+mn-ea"/>
              </a:rPr>
              <a:t>，以及他们</a:t>
            </a:r>
            <a:r>
              <a:rPr lang="zh-CN" altLang="en-US" sz="3600" b="1" dirty="0">
                <a:solidFill>
                  <a:srgbClr val="FF0000"/>
                </a:solidFill>
                <a:sym typeface="+mn-ea"/>
              </a:rPr>
              <a:t>进取的决心</a:t>
            </a:r>
            <a:r>
              <a:rPr lang="zh-CN" altLang="en-US" sz="3600" b="1" dirty="0">
                <a:sym typeface="+mn-ea"/>
              </a:rPr>
              <a:t>。</a:t>
            </a:r>
            <a:endParaRPr lang="zh-CN" altLang="en-US" sz="3600" b="1" dirty="0">
              <a:solidFill>
                <a:srgbClr val="FF0000"/>
              </a:solidFill>
            </a:endParaRPr>
          </a:p>
          <a:p>
            <a:endParaRPr lang="zh-CN" altLang="en-US" sz="3600" b="1" dirty="0">
              <a:solidFill>
                <a:srgbClr val="FF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endParaRPr lang="zh-CN" altLang="en-US" sz="3600" b="1" dirty="0">
              <a:solidFill>
                <a:srgbClr val="FF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endParaRPr lang="zh-CN" altLang="en-US" sz="3600" b="1" dirty="0">
              <a:solidFill>
                <a:srgbClr val="FF00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endParaRPr lang="zh-CN" altLang="en-US" sz="3600" b="1" dirty="0">
              <a:solidFill>
                <a:srgbClr val="FF000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lnSpcReduction="10000"/>
          </a:bodyPr>
          <a:lstStyle/>
          <a:p>
            <a:r>
              <a:rPr lang="en-US" altLang="zh-CN" sz="3600" b="1" dirty="0"/>
              <a:t>P11-13 </a:t>
            </a:r>
            <a:r>
              <a:rPr lang="en-US" altLang="zh-CN" sz="3600" b="1" dirty="0">
                <a:solidFill>
                  <a:srgbClr val="7030A0"/>
                </a:solidFill>
              </a:rPr>
              <a:t>1.</a:t>
            </a:r>
            <a:r>
              <a:rPr lang="zh-CN" altLang="en-US" sz="3600" b="1" dirty="0">
                <a:solidFill>
                  <a:srgbClr val="7030A0"/>
                </a:solidFill>
              </a:rPr>
              <a:t>广告</a:t>
            </a:r>
            <a:r>
              <a:rPr lang="en-US" altLang="zh-CN" sz="3600" b="1" dirty="0">
                <a:solidFill>
                  <a:srgbClr val="7030A0"/>
                </a:solidFill>
              </a:rPr>
              <a:t>:</a:t>
            </a:r>
            <a:r>
              <a:rPr lang="zh-CN" altLang="en-US" sz="3600" b="1" dirty="0">
                <a:solidFill>
                  <a:srgbClr val="7030A0"/>
                </a:solidFill>
              </a:rPr>
              <a:t>说服的力量 </a:t>
            </a:r>
            <a:r>
              <a:rPr lang="en-US" altLang="zh-CN" sz="3600" b="1" dirty="0">
                <a:solidFill>
                  <a:srgbClr val="7030A0"/>
                </a:solidFill>
              </a:rPr>
              <a:t>2.</a:t>
            </a:r>
            <a:r>
              <a:rPr lang="zh-CN" altLang="en-US" sz="3600" b="1" dirty="0">
                <a:solidFill>
                  <a:srgbClr val="7030A0"/>
                </a:solidFill>
              </a:rPr>
              <a:t>简单地说</a:t>
            </a:r>
            <a:r>
              <a:rPr lang="en-US" altLang="zh-CN" sz="3600" b="1" dirty="0">
                <a:solidFill>
                  <a:srgbClr val="7030A0"/>
                </a:solidFill>
              </a:rPr>
              <a:t>3.</a:t>
            </a:r>
            <a:r>
              <a:rPr lang="zh-CN" altLang="en-US" sz="3600" b="1" dirty="0">
                <a:solidFill>
                  <a:srgbClr val="7030A0"/>
                </a:solidFill>
              </a:rPr>
              <a:t>指的是推销一种产品或服务的活动</a:t>
            </a:r>
            <a:r>
              <a:rPr lang="en-US" altLang="zh-CN" sz="3600" b="1" dirty="0">
                <a:solidFill>
                  <a:srgbClr val="7030A0"/>
                </a:solidFill>
              </a:rPr>
              <a:t>4.</a:t>
            </a:r>
            <a:r>
              <a:rPr lang="zh-CN" altLang="en-US" sz="3600" b="1" dirty="0">
                <a:solidFill>
                  <a:srgbClr val="7030A0"/>
                </a:solidFill>
              </a:rPr>
              <a:t>换言之</a:t>
            </a:r>
            <a:r>
              <a:rPr lang="en-US" altLang="zh-CN" sz="3600" b="1" dirty="0">
                <a:solidFill>
                  <a:srgbClr val="7030A0"/>
                </a:solidFill>
              </a:rPr>
              <a:t>5.</a:t>
            </a:r>
            <a:r>
              <a:rPr lang="zh-CN" altLang="en-US" sz="3600" b="1" dirty="0">
                <a:solidFill>
                  <a:srgbClr val="7030A0"/>
                </a:solidFill>
              </a:rPr>
              <a:t>试图说服人们购买</a:t>
            </a:r>
            <a:r>
              <a:rPr lang="en-US" altLang="zh-CN" sz="3600" b="1" dirty="0">
                <a:solidFill>
                  <a:srgbClr val="7030A0"/>
                </a:solidFill>
              </a:rPr>
              <a:t>6.</a:t>
            </a:r>
            <a:r>
              <a:rPr lang="zh-CN" altLang="en-US" sz="3600" b="1" dirty="0">
                <a:solidFill>
                  <a:srgbClr val="7030A0"/>
                </a:solidFill>
              </a:rPr>
              <a:t>与</a:t>
            </a:r>
            <a:r>
              <a:rPr lang="en-US" altLang="zh-CN" sz="3600" b="1" dirty="0">
                <a:solidFill>
                  <a:srgbClr val="7030A0"/>
                </a:solidFill>
              </a:rPr>
              <a:t>…</a:t>
            </a:r>
            <a:r>
              <a:rPr lang="zh-CN" altLang="en-US" sz="3600" b="1" dirty="0">
                <a:solidFill>
                  <a:srgbClr val="7030A0"/>
                </a:solidFill>
              </a:rPr>
              <a:t>息息相关</a:t>
            </a:r>
            <a:r>
              <a:rPr lang="en-US" altLang="zh-CN" sz="3600" b="1" dirty="0">
                <a:solidFill>
                  <a:srgbClr val="7030A0"/>
                </a:solidFill>
              </a:rPr>
              <a:t>7.</a:t>
            </a:r>
            <a:r>
              <a:rPr lang="zh-CN" altLang="en-US" sz="3600" b="1" dirty="0">
                <a:solidFill>
                  <a:srgbClr val="7030A0"/>
                </a:solidFill>
              </a:rPr>
              <a:t>与</a:t>
            </a:r>
            <a:r>
              <a:rPr lang="en-US" altLang="zh-CN" sz="3600" b="1" dirty="0">
                <a:solidFill>
                  <a:srgbClr val="7030A0"/>
                </a:solidFill>
              </a:rPr>
              <a:t>…</a:t>
            </a:r>
            <a:r>
              <a:rPr lang="zh-CN" altLang="en-US" sz="3600" b="1" dirty="0">
                <a:solidFill>
                  <a:srgbClr val="7030A0"/>
                </a:solidFill>
              </a:rPr>
              <a:t>携手发展</a:t>
            </a:r>
            <a:r>
              <a:rPr lang="en-US" altLang="zh-CN" sz="3600" b="1" dirty="0">
                <a:solidFill>
                  <a:srgbClr val="7030A0"/>
                </a:solidFill>
              </a:rPr>
              <a:t>8.…</a:t>
            </a:r>
            <a:r>
              <a:rPr lang="zh-CN" altLang="en-US" sz="3600" b="1" dirty="0">
                <a:solidFill>
                  <a:srgbClr val="7030A0"/>
                </a:solidFill>
              </a:rPr>
              <a:t>的完美工具 </a:t>
            </a:r>
            <a:r>
              <a:rPr lang="en-US" altLang="zh-CN" sz="3600" b="1" dirty="0">
                <a:solidFill>
                  <a:srgbClr val="7030A0"/>
                </a:solidFill>
              </a:rPr>
              <a:t>9.</a:t>
            </a:r>
            <a:r>
              <a:rPr lang="zh-CN" altLang="en-US" sz="3600" b="1" dirty="0">
                <a:solidFill>
                  <a:srgbClr val="7030A0"/>
                </a:solidFill>
              </a:rPr>
              <a:t> 在黄金时段 </a:t>
            </a:r>
            <a:r>
              <a:rPr lang="en-US" altLang="zh-CN" sz="3600" b="1" dirty="0">
                <a:solidFill>
                  <a:srgbClr val="7030A0"/>
                </a:solidFill>
              </a:rPr>
              <a:t>10.</a:t>
            </a:r>
            <a:r>
              <a:rPr lang="zh-CN" altLang="en-US" sz="3600" b="1" dirty="0">
                <a:solidFill>
                  <a:srgbClr val="7030A0"/>
                </a:solidFill>
              </a:rPr>
              <a:t>除了让人们知晓</a:t>
            </a:r>
            <a:r>
              <a:rPr lang="en-US" altLang="zh-CN" sz="3600" b="1" dirty="0">
                <a:solidFill>
                  <a:srgbClr val="7030A0"/>
                </a:solidFill>
              </a:rPr>
              <a:t>…</a:t>
            </a:r>
            <a:r>
              <a:rPr lang="zh-CN" altLang="en-US" sz="3600" b="1" dirty="0">
                <a:solidFill>
                  <a:srgbClr val="7030A0"/>
                </a:solidFill>
              </a:rPr>
              <a:t>外</a:t>
            </a:r>
            <a:r>
              <a:rPr lang="en-US" altLang="zh-CN" sz="3600" b="1" dirty="0">
                <a:solidFill>
                  <a:srgbClr val="7030A0"/>
                </a:solidFill>
              </a:rPr>
              <a:t>11.</a:t>
            </a:r>
            <a:r>
              <a:rPr lang="zh-CN" altLang="en-US" sz="3600" b="1" dirty="0">
                <a:solidFill>
                  <a:srgbClr val="7030A0"/>
                </a:solidFill>
              </a:rPr>
              <a:t>激发购买欲</a:t>
            </a:r>
            <a:r>
              <a:rPr lang="en-US" altLang="zh-CN" sz="3600" b="1" dirty="0">
                <a:solidFill>
                  <a:srgbClr val="7030A0"/>
                </a:solidFill>
              </a:rPr>
              <a:t>12.</a:t>
            </a:r>
            <a:r>
              <a:rPr lang="zh-CN" altLang="en-US" sz="3600" b="1" dirty="0">
                <a:solidFill>
                  <a:srgbClr val="7030A0"/>
                </a:solidFill>
              </a:rPr>
              <a:t>从而增加销售量</a:t>
            </a:r>
            <a:r>
              <a:rPr lang="en-US" altLang="zh-CN" sz="3600" b="1" dirty="0">
                <a:solidFill>
                  <a:srgbClr val="7030A0"/>
                </a:solidFill>
              </a:rPr>
              <a:t>13.</a:t>
            </a:r>
            <a:r>
              <a:rPr lang="zh-CN" altLang="en-US" sz="3600" b="1" dirty="0">
                <a:solidFill>
                  <a:srgbClr val="7030A0"/>
                </a:solidFill>
              </a:rPr>
              <a:t>发起一场广告活动</a:t>
            </a:r>
            <a:r>
              <a:rPr lang="en-US" altLang="zh-CN" sz="3600" b="1" dirty="0">
                <a:solidFill>
                  <a:srgbClr val="7030A0"/>
                </a:solidFill>
              </a:rPr>
              <a:t>14.</a:t>
            </a:r>
            <a:r>
              <a:rPr lang="zh-CN" altLang="en-US" sz="3600" b="1" dirty="0">
                <a:solidFill>
                  <a:srgbClr val="7030A0"/>
                </a:solidFill>
              </a:rPr>
              <a:t>基于</a:t>
            </a:r>
            <a:r>
              <a:rPr lang="en-US" altLang="zh-CN" sz="3600" b="1" dirty="0">
                <a:solidFill>
                  <a:srgbClr val="7030A0"/>
                </a:solidFill>
              </a:rPr>
              <a:t>…</a:t>
            </a:r>
            <a:r>
              <a:rPr lang="zh-CN" altLang="en-US" sz="3600" b="1" dirty="0">
                <a:solidFill>
                  <a:srgbClr val="7030A0"/>
                </a:solidFill>
              </a:rPr>
              <a:t>背后的心理特征</a:t>
            </a:r>
            <a:r>
              <a:rPr lang="en-US" altLang="zh-CN" sz="3600" b="1" dirty="0">
                <a:solidFill>
                  <a:srgbClr val="7030A0"/>
                </a:solidFill>
              </a:rPr>
              <a:t>15.</a:t>
            </a:r>
            <a:r>
              <a:rPr lang="zh-CN" altLang="en-US" sz="3600" b="1" dirty="0">
                <a:solidFill>
                  <a:srgbClr val="7030A0"/>
                </a:solidFill>
              </a:rPr>
              <a:t>各种方法说服人们购买</a:t>
            </a:r>
            <a:r>
              <a:rPr lang="en-US" altLang="zh-CN" sz="3600" b="1" dirty="0">
                <a:solidFill>
                  <a:srgbClr val="7030A0"/>
                </a:solidFill>
              </a:rPr>
              <a:t>…16.</a:t>
            </a:r>
            <a:r>
              <a:rPr lang="zh-CN" altLang="en-US" sz="3600" b="1" dirty="0">
                <a:solidFill>
                  <a:srgbClr val="7030A0"/>
                </a:solidFill>
              </a:rPr>
              <a:t>创作一则令人难忘的广告语</a:t>
            </a:r>
            <a:r>
              <a:rPr lang="en-US" altLang="zh-CN" sz="3600" b="1" dirty="0">
                <a:solidFill>
                  <a:srgbClr val="7030A0"/>
                </a:solidFill>
              </a:rPr>
              <a:t>17.</a:t>
            </a:r>
            <a:r>
              <a:rPr lang="zh-CN" altLang="en-US" sz="3600" b="1" dirty="0">
                <a:solidFill>
                  <a:srgbClr val="7030A0"/>
                </a:solidFill>
              </a:rPr>
              <a:t>引起我们的情感共鸣 </a:t>
            </a:r>
            <a:r>
              <a:rPr lang="en-US" altLang="zh-CN" sz="3600" b="1" dirty="0">
                <a:solidFill>
                  <a:srgbClr val="7030A0"/>
                </a:solidFill>
              </a:rPr>
              <a:t>18.</a:t>
            </a:r>
            <a:r>
              <a:rPr lang="zh-CN" altLang="en-US" sz="3600" b="1" dirty="0">
                <a:solidFill>
                  <a:srgbClr val="7030A0"/>
                </a:solidFill>
              </a:rPr>
              <a:t> 传达信息</a:t>
            </a:r>
            <a:r>
              <a:rPr lang="en-US" altLang="zh-CN" sz="3600" b="1" dirty="0">
                <a:solidFill>
                  <a:srgbClr val="7030A0"/>
                </a:solidFill>
              </a:rPr>
              <a:t>19.</a:t>
            </a:r>
            <a:r>
              <a:rPr lang="zh-CN" altLang="en-US" sz="3600" b="1" dirty="0">
                <a:solidFill>
                  <a:srgbClr val="7030A0"/>
                </a:solidFill>
              </a:rPr>
              <a:t>与一位“品牌大使”联系起来</a:t>
            </a:r>
            <a:r>
              <a:rPr lang="en-US" altLang="zh-CN" sz="3600" b="1" dirty="0">
                <a:solidFill>
                  <a:srgbClr val="7030A0"/>
                </a:solidFill>
              </a:rPr>
              <a:t>20.</a:t>
            </a:r>
            <a:r>
              <a:rPr lang="zh-CN" altLang="en-US" sz="3600" b="1" dirty="0">
                <a:solidFill>
                  <a:srgbClr val="7030A0"/>
                </a:solidFill>
              </a:rPr>
              <a:t>潜在消费者的喜爱</a:t>
            </a:r>
            <a:r>
              <a:rPr lang="en-US" altLang="zh-CN" sz="3600" b="1" dirty="0">
                <a:solidFill>
                  <a:srgbClr val="FF0000"/>
                </a:solidFill>
              </a:rPr>
              <a:t>21.</a:t>
            </a:r>
            <a:r>
              <a:rPr lang="zh-CN" altLang="en-US" sz="3600" b="1" dirty="0">
                <a:solidFill>
                  <a:srgbClr val="FF0000"/>
                </a:solidFill>
              </a:rPr>
              <a:t>由</a:t>
            </a:r>
            <a:r>
              <a:rPr lang="en-US" altLang="zh-CN" sz="3600" b="1" dirty="0">
                <a:solidFill>
                  <a:srgbClr val="FF0000"/>
                </a:solidFill>
              </a:rPr>
              <a:t>…</a:t>
            </a:r>
            <a:r>
              <a:rPr lang="zh-CN" altLang="en-US" sz="3600" b="1" dirty="0">
                <a:solidFill>
                  <a:srgbClr val="FF0000"/>
                </a:solidFill>
              </a:rPr>
              <a:t>赞助</a:t>
            </a:r>
            <a:r>
              <a:rPr lang="en-US" altLang="zh-CN" sz="3600" b="1" dirty="0">
                <a:solidFill>
                  <a:srgbClr val="FF0000"/>
                </a:solidFill>
              </a:rPr>
              <a:t>22.</a:t>
            </a:r>
            <a:r>
              <a:rPr lang="zh-CN" altLang="en-US" sz="3600" b="1" dirty="0">
                <a:solidFill>
                  <a:srgbClr val="FF0000"/>
                </a:solidFill>
              </a:rPr>
              <a:t>更加个性化</a:t>
            </a:r>
            <a:r>
              <a:rPr lang="en-US" altLang="zh-CN" sz="3600" b="1" dirty="0">
                <a:solidFill>
                  <a:srgbClr val="FF0000"/>
                </a:solidFill>
              </a:rPr>
              <a:t>23.</a:t>
            </a:r>
            <a:r>
              <a:rPr lang="zh-CN" altLang="en-US" sz="3600" b="1" dirty="0">
                <a:solidFill>
                  <a:srgbClr val="FF0000"/>
                </a:solidFill>
              </a:rPr>
              <a:t>专门为我们定制的折扣和促销活动</a:t>
            </a:r>
            <a:r>
              <a:rPr lang="en-US" altLang="zh-CN" sz="3600" b="1" dirty="0">
                <a:solidFill>
                  <a:srgbClr val="FF0000"/>
                </a:solidFill>
              </a:rPr>
              <a:t>24.</a:t>
            </a:r>
            <a:r>
              <a:rPr lang="zh-CN" altLang="en-US" sz="3600" b="1" dirty="0">
                <a:solidFill>
                  <a:srgbClr val="FF0000"/>
                </a:solidFill>
              </a:rPr>
              <a:t>针对其特定需来而特制的</a:t>
            </a:r>
            <a:r>
              <a:rPr lang="en-US" altLang="zh-CN" sz="3600" b="1" dirty="0">
                <a:solidFill>
                  <a:srgbClr val="FF0000"/>
                </a:solidFill>
              </a:rPr>
              <a:t>25.</a:t>
            </a:r>
            <a:r>
              <a:rPr lang="zh-CN" altLang="en-US" sz="3600" b="1" dirty="0">
                <a:solidFill>
                  <a:srgbClr val="FF0000"/>
                </a:solidFill>
              </a:rPr>
              <a:t>这不仅会让消费者觉得自己更受重视，还能让他们看到自己最密兴趣的内容，此外也能帮助公司更加有效地锁定目标客户，从而对销售量产生积极影响。</a:t>
            </a:r>
            <a:r>
              <a:rPr lang="en-US" altLang="zh-CN" sz="3600" b="1" dirty="0">
                <a:solidFill>
                  <a:srgbClr val="FF0000"/>
                </a:solidFill>
              </a:rPr>
              <a:t>26.</a:t>
            </a:r>
            <a:r>
              <a:rPr lang="zh-CN" altLang="en-US" sz="3600" b="1" dirty="0">
                <a:solidFill>
                  <a:srgbClr val="FF0000"/>
                </a:solidFill>
              </a:rPr>
              <a:t>给老年人带来欢乐 </a:t>
            </a:r>
            <a:r>
              <a:rPr lang="en-US" altLang="zh-CN" sz="3600" b="1" dirty="0">
                <a:solidFill>
                  <a:srgbClr val="FF0000"/>
                </a:solidFill>
              </a:rPr>
              <a:t>27.</a:t>
            </a:r>
            <a:r>
              <a:rPr lang="zh-CN" altLang="en-US" sz="3600" b="1" dirty="0">
                <a:solidFill>
                  <a:srgbClr val="FF0000"/>
                </a:solidFill>
              </a:rPr>
              <a:t>点亮他们的一天 </a:t>
            </a:r>
            <a:r>
              <a:rPr lang="en-US" altLang="zh-CN" sz="3600" b="1" dirty="0">
                <a:solidFill>
                  <a:srgbClr val="FF0000"/>
                </a:solidFill>
              </a:rPr>
              <a:t>28.</a:t>
            </a:r>
            <a:r>
              <a:rPr lang="zh-CN" altLang="en-US" sz="3600" b="1" dirty="0">
                <a:solidFill>
                  <a:srgbClr val="FF0000"/>
                </a:solidFill>
              </a:rPr>
              <a:t>相处的容易 </a:t>
            </a:r>
            <a:r>
              <a:rPr lang="en-US" altLang="zh-CN" sz="3600" b="1" dirty="0">
                <a:solidFill>
                  <a:srgbClr val="FF0000"/>
                </a:solidFill>
              </a:rPr>
              <a:t>29.</a:t>
            </a:r>
            <a:r>
              <a:rPr lang="zh-CN" altLang="en-US" sz="3600" b="1" dirty="0">
                <a:solidFill>
                  <a:srgbClr val="FF0000"/>
                </a:solidFill>
              </a:rPr>
              <a:t>结果恰恰相反 </a:t>
            </a:r>
            <a:r>
              <a:rPr lang="en-US" altLang="zh-CN" sz="3600" b="1" dirty="0">
                <a:solidFill>
                  <a:srgbClr val="FF0000"/>
                </a:solidFill>
              </a:rPr>
              <a:t>30.</a:t>
            </a:r>
            <a:r>
              <a:rPr lang="zh-CN" altLang="en-US" sz="3600" b="1" dirty="0">
                <a:solidFill>
                  <a:srgbClr val="FF0000"/>
                </a:solidFill>
              </a:rPr>
              <a:t>对</a:t>
            </a:r>
            <a:r>
              <a:rPr lang="en-US" altLang="zh-CN" sz="3600" b="1" dirty="0">
                <a:solidFill>
                  <a:srgbClr val="FF0000"/>
                </a:solidFill>
              </a:rPr>
              <a:t>…</a:t>
            </a:r>
            <a:r>
              <a:rPr lang="zh-CN" altLang="en-US" sz="3600" b="1">
                <a:solidFill>
                  <a:srgbClr val="FF0000"/>
                </a:solidFill>
              </a:rPr>
              <a:t>带来影响</a:t>
            </a:r>
            <a:endParaRPr lang="zh-CN" altLang="en-US" sz="3600" b="1" dirty="0">
              <a:solidFill>
                <a:srgbClr val="FF000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pPr fontAlgn="auto">
              <a:lnSpc>
                <a:spcPts val="2840"/>
              </a:lnSpc>
            </a:pPr>
            <a:r>
              <a:rPr lang="en-US" altLang="zh-CN" sz="2800" b="1" dirty="0">
                <a:sym typeface="+mn-ea"/>
              </a:rPr>
              <a:t>I</a:t>
            </a:r>
            <a:r>
              <a:rPr lang="en-US" altLang="zh-CN" sz="2800" b="1" dirty="0">
                <a:highlight>
                  <a:srgbClr val="FFFF00"/>
                </a:highlight>
                <a:sym typeface="+mn-ea"/>
              </a:rPr>
              <a:t> asked softly.</a:t>
            </a:r>
            <a:r>
              <a:rPr lang="en-US" altLang="zh-CN" sz="2800" b="1" dirty="0">
                <a:sym typeface="+mn-ea"/>
              </a:rPr>
              <a:t> </a:t>
            </a:r>
            <a:r>
              <a:rPr lang="en-US" altLang="zh-CN" sz="2800" b="1" dirty="0">
                <a:solidFill>
                  <a:schemeClr val="tx1"/>
                </a:solidFill>
                <a:sym typeface="+mn-ea"/>
              </a:rPr>
              <a:t>“It’s yours, Miss W</a:t>
            </a:r>
            <a:r>
              <a:rPr lang="en-US" altLang="zh-CN" sz="2800" b="1" dirty="0">
                <a:sym typeface="+mn-ea"/>
              </a:rPr>
              <a:t>hite,”</a:t>
            </a:r>
            <a:r>
              <a:rPr lang="en-US" altLang="zh-CN" sz="2800" b="1" dirty="0">
                <a:solidFill>
                  <a:srgbClr val="FF0000"/>
                </a:solidFill>
                <a:sym typeface="+mn-ea"/>
              </a:rPr>
              <a:t> he whispered, looking away shyly. </a:t>
            </a:r>
            <a:r>
              <a:rPr lang="en-US" altLang="zh-CN" sz="2800" b="1" dirty="0">
                <a:solidFill>
                  <a:srgbClr val="FF0000"/>
                </a:solidFill>
                <a:highlight>
                  <a:srgbClr val="FFFF00"/>
                </a:highlight>
                <a:sym typeface="+mn-ea"/>
              </a:rPr>
              <a:t>His words hit me like a wave, washing over me with an unexpected depth of emotion.</a:t>
            </a:r>
            <a:r>
              <a:rPr lang="zh-CN" altLang="en-US" sz="2800" b="1" dirty="0">
                <a:solidFill>
                  <a:schemeClr val="tx1"/>
                </a:solidFill>
                <a:sym typeface="+mn-ea"/>
              </a:rPr>
              <a:t>他小声说，害羞地望向别处。他的话像波浪一样击中了我，带着一种意想不到的深情将我淹没</a:t>
            </a:r>
            <a:r>
              <a:rPr lang="en-US" altLang="zh-CN" sz="2800" b="1" dirty="0">
                <a:solidFill>
                  <a:srgbClr val="FF0000"/>
                </a:solidFill>
                <a:sym typeface="+mn-ea"/>
              </a:rPr>
              <a:t> In that moment, </a:t>
            </a:r>
            <a:r>
              <a:rPr lang="en-US" altLang="zh-CN" sz="2800" b="1" dirty="0">
                <a:solidFill>
                  <a:srgbClr val="FF0000"/>
                </a:solidFill>
                <a:highlight>
                  <a:srgbClr val="FFFF00"/>
                </a:highlight>
                <a:sym typeface="+mn-ea"/>
              </a:rPr>
              <a:t>memories flooded back.</a:t>
            </a:r>
            <a:r>
              <a:rPr lang="zh-CN" altLang="en-US" sz="2800" b="1" dirty="0">
                <a:solidFill>
                  <a:schemeClr val="tx1"/>
                </a:solidFill>
                <a:sym typeface="+mn-ea"/>
              </a:rPr>
              <a:t>在那一刻，回忆如潮水般涌上心头</a:t>
            </a:r>
            <a:r>
              <a:rPr lang="en-US" altLang="zh-CN" sz="2800" b="1" dirty="0">
                <a:solidFill>
                  <a:srgbClr val="FF0000"/>
                </a:solidFill>
                <a:sym typeface="+mn-ea"/>
              </a:rPr>
              <a:t> It turned out that</a:t>
            </a:r>
            <a:r>
              <a:rPr lang="en-US" altLang="zh-CN" sz="2800" b="1" dirty="0">
                <a:sym typeface="+mn-ea"/>
              </a:rPr>
              <a:t> Lucas was most thankful for MY hand,</a:t>
            </a:r>
            <a:r>
              <a:rPr lang="en-US" altLang="zh-CN" sz="2800" b="1" dirty="0">
                <a:solidFill>
                  <a:schemeClr val="tx1"/>
                </a:solidFill>
                <a:sym typeface="+mn-ea"/>
              </a:rPr>
              <a:t> the hand that had guided him, comforted him, and shown him that he wasn’t alone. </a:t>
            </a:r>
            <a:r>
              <a:rPr lang="en-US" altLang="zh-CN" sz="2800" b="1" dirty="0">
                <a:solidFill>
                  <a:srgbClr val="FF0000"/>
                </a:solidFill>
                <a:highlight>
                  <a:srgbClr val="FFFF00"/>
                </a:highlight>
                <a:sym typeface="+mn-ea"/>
              </a:rPr>
              <a:t>His simple yet powerful gesture of gratitude brought tears to my eyes. </a:t>
            </a:r>
            <a:r>
              <a:rPr lang="zh-CN" altLang="en-US" sz="2800" b="1" dirty="0">
                <a:solidFill>
                  <a:schemeClr val="tx1"/>
                </a:solidFill>
              </a:rPr>
              <a:t>他简单而有力的感激之举让我热泪盈眶</a:t>
            </a:r>
          </a:p>
          <a:p>
            <a:pPr fontAlgn="auto">
              <a:lnSpc>
                <a:spcPts val="2840"/>
              </a:lnSpc>
            </a:pPr>
            <a:r>
              <a:rPr lang="en-US" altLang="zh-CN" sz="2800" b="1" dirty="0">
                <a:solidFill>
                  <a:srgbClr val="FF0000"/>
                </a:solidFill>
                <a:highlight>
                  <a:srgbClr val="FFFF00"/>
                </a:highlight>
                <a:sym typeface="+mn-ea"/>
              </a:rPr>
              <a:t>When he slipped his hand into mine, I gave it a gentle squeeze.</a:t>
            </a:r>
            <a:r>
              <a:rPr lang="zh-CN" altLang="en-US" sz="2800" b="1" dirty="0">
                <a:sym typeface="+mn-ea"/>
              </a:rPr>
              <a:t>当他把手伸进我的手时，我轻轻地捏了一下</a:t>
            </a:r>
            <a:r>
              <a:rPr lang="en-US" altLang="zh-CN" sz="2800" b="1" dirty="0">
                <a:solidFill>
                  <a:srgbClr val="FF0000"/>
                </a:solidFill>
                <a:sym typeface="+mn-ea"/>
              </a:rPr>
              <a:t> </a:t>
            </a:r>
            <a:r>
              <a:rPr lang="en-US" altLang="zh-CN" sz="2800" b="1" dirty="0">
                <a:sym typeface="+mn-ea"/>
              </a:rPr>
              <a:t>His eyes met mine, and </a:t>
            </a:r>
            <a:r>
              <a:rPr lang="en-US" altLang="zh-CN" sz="2800" b="1" dirty="0">
                <a:highlight>
                  <a:srgbClr val="FFFF00"/>
                </a:highlight>
                <a:sym typeface="+mn-ea"/>
              </a:rPr>
              <a:t>for the first time, I saw not sadness, but happiness.</a:t>
            </a:r>
            <a:r>
              <a:rPr lang="en-US" altLang="zh-CN" sz="2800" b="1" dirty="0">
                <a:solidFill>
                  <a:srgbClr val="FF0000"/>
                </a:solidFill>
                <a:sym typeface="+mn-ea"/>
              </a:rPr>
              <a:t> </a:t>
            </a:r>
            <a:r>
              <a:rPr lang="en-US" altLang="zh-CN" sz="2800" b="1" dirty="0">
                <a:sym typeface="+mn-ea"/>
              </a:rPr>
              <a:t>Gradually, his movements seemed less hesitant, his posture a little less tense. During recess, he </a:t>
            </a:r>
            <a:r>
              <a:rPr lang="en-US" altLang="zh-CN" sz="2800" b="1" dirty="0">
                <a:solidFill>
                  <a:srgbClr val="FF0000"/>
                </a:solidFill>
                <a:sym typeface="+mn-ea"/>
              </a:rPr>
              <a:t>made his first attempt to join the other children. </a:t>
            </a:r>
            <a:r>
              <a:rPr lang="zh-CN" altLang="en-US" sz="2800" b="1" dirty="0">
                <a:sym typeface="+mn-ea"/>
              </a:rPr>
              <a:t>他第一次尝试加入其他孩子的行列</a:t>
            </a:r>
            <a:r>
              <a:rPr lang="en-US" altLang="zh-CN" sz="2800" b="1" dirty="0">
                <a:solidFill>
                  <a:srgbClr val="FF0000"/>
                </a:solidFill>
                <a:highlight>
                  <a:srgbClr val="FFFF00"/>
                </a:highlight>
                <a:sym typeface="+mn-ea"/>
              </a:rPr>
              <a:t>Watching him tentatively interact with his classmates, I felt a swell of warmth in my chest.</a:t>
            </a:r>
            <a:r>
              <a:rPr lang="zh-CN" altLang="en-US" sz="2800" b="1" dirty="0">
                <a:sym typeface="+mn-ea"/>
              </a:rPr>
              <a:t>看着他试探性地和同学们互动，我的胸中涌起一阵暖意</a:t>
            </a:r>
            <a:endParaRPr lang="zh-CN" altLang="en-US" sz="2800" b="1" dirty="0">
              <a:solidFill>
                <a:schemeClr val="tx1"/>
              </a:solidFill>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pPr fontAlgn="auto">
              <a:lnSpc>
                <a:spcPct val="100000"/>
              </a:lnSpc>
            </a:pPr>
            <a:r>
              <a:rPr lang="en-US" altLang="zh-CN" sz="3600" b="1" dirty="0">
                <a:sym typeface="+mn-ea"/>
              </a:rPr>
              <a:t>1.</a:t>
            </a:r>
            <a:r>
              <a:rPr lang="zh-CN" altLang="en-US" sz="3600" b="1" dirty="0">
                <a:sym typeface="+mn-ea"/>
              </a:rPr>
              <a:t>他他的话像波浪一样击中了我，带着一种意想不到的深情将我淹没</a:t>
            </a:r>
            <a:r>
              <a:rPr lang="en-US" altLang="zh-CN" sz="3600" b="1" dirty="0">
                <a:solidFill>
                  <a:srgbClr val="FF0000"/>
                </a:solidFill>
                <a:sym typeface="+mn-ea"/>
              </a:rPr>
              <a:t> </a:t>
            </a:r>
          </a:p>
          <a:p>
            <a:pPr fontAlgn="auto">
              <a:lnSpc>
                <a:spcPct val="100000"/>
              </a:lnSpc>
            </a:pPr>
            <a:r>
              <a:rPr lang="en-US" altLang="zh-CN" sz="3600" b="1" dirty="0">
                <a:solidFill>
                  <a:srgbClr val="FF0000"/>
                </a:solidFill>
                <a:sym typeface="+mn-ea"/>
              </a:rPr>
              <a:t>2.</a:t>
            </a:r>
            <a:r>
              <a:rPr lang="zh-CN" altLang="en-US" sz="3600" b="1" dirty="0">
                <a:sym typeface="+mn-ea"/>
              </a:rPr>
              <a:t>在那一刻，回忆如潮水般涌上心头</a:t>
            </a:r>
          </a:p>
          <a:p>
            <a:pPr fontAlgn="auto">
              <a:lnSpc>
                <a:spcPct val="100000"/>
              </a:lnSpc>
            </a:pPr>
            <a:r>
              <a:rPr lang="en-US" altLang="zh-CN" sz="3600" b="1" dirty="0">
                <a:solidFill>
                  <a:srgbClr val="FF0000"/>
                </a:solidFill>
                <a:sym typeface="+mn-ea"/>
              </a:rPr>
              <a:t>3.</a:t>
            </a:r>
            <a:r>
              <a:rPr lang="en-US" altLang="zh-CN" sz="3600" b="1" dirty="0">
                <a:solidFill>
                  <a:srgbClr val="FF0000"/>
                </a:solidFill>
                <a:highlight>
                  <a:srgbClr val="FFFF00"/>
                </a:highlight>
                <a:sym typeface="+mn-ea"/>
              </a:rPr>
              <a:t> </a:t>
            </a:r>
            <a:r>
              <a:rPr lang="zh-CN" altLang="en-US" sz="3600" b="1" dirty="0">
                <a:sym typeface="+mn-ea"/>
              </a:rPr>
              <a:t>他简单而有力的感激之举让我热泪盈眶</a:t>
            </a:r>
            <a:endParaRPr lang="zh-CN" altLang="en-US" sz="3600" b="1" dirty="0">
              <a:solidFill>
                <a:schemeClr val="tx1"/>
              </a:solidFill>
            </a:endParaRPr>
          </a:p>
          <a:p>
            <a:pPr fontAlgn="auto">
              <a:lnSpc>
                <a:spcPct val="100000"/>
              </a:lnSpc>
            </a:pPr>
            <a:r>
              <a:rPr lang="en-US" altLang="zh-CN" sz="3600" b="1" dirty="0">
                <a:solidFill>
                  <a:srgbClr val="FF0000"/>
                </a:solidFill>
                <a:highlight>
                  <a:srgbClr val="FFFF00"/>
                </a:highlight>
                <a:sym typeface="+mn-ea"/>
              </a:rPr>
              <a:t>4.</a:t>
            </a:r>
            <a:r>
              <a:rPr lang="zh-CN" altLang="en-US" sz="3600" b="1" dirty="0">
                <a:sym typeface="+mn-ea"/>
              </a:rPr>
              <a:t>当他把手伸进我的手，我轻轻地捏了一下</a:t>
            </a:r>
            <a:r>
              <a:rPr lang="en-US" altLang="zh-CN" sz="3600" b="1" dirty="0">
                <a:solidFill>
                  <a:srgbClr val="FF0000"/>
                </a:solidFill>
                <a:sym typeface="+mn-ea"/>
              </a:rPr>
              <a:t> </a:t>
            </a:r>
            <a:endParaRPr lang="zh-CN" altLang="en-US" sz="3600" b="1" dirty="0">
              <a:sym typeface="+mn-ea"/>
            </a:endParaRPr>
          </a:p>
          <a:p>
            <a:pPr fontAlgn="auto">
              <a:lnSpc>
                <a:spcPct val="100000"/>
              </a:lnSpc>
            </a:pPr>
            <a:r>
              <a:rPr lang="en-US" sz="3600" b="1" dirty="0">
                <a:sym typeface="+mn-ea"/>
              </a:rPr>
              <a:t>5.</a:t>
            </a:r>
            <a:r>
              <a:rPr lang="zh-CN" altLang="en-US" sz="3600" b="1" dirty="0">
                <a:sym typeface="+mn-ea"/>
              </a:rPr>
              <a:t>他第一次尝试加入其他孩子的行列</a:t>
            </a:r>
          </a:p>
          <a:p>
            <a:pPr fontAlgn="auto">
              <a:lnSpc>
                <a:spcPct val="100000"/>
              </a:lnSpc>
            </a:pPr>
            <a:r>
              <a:rPr lang="en-US" sz="3600" b="1" dirty="0">
                <a:sym typeface="+mn-ea"/>
              </a:rPr>
              <a:t>6.</a:t>
            </a:r>
            <a:r>
              <a:rPr lang="zh-CN" altLang="en-US" sz="3600" b="1" dirty="0">
                <a:sym typeface="+mn-ea"/>
              </a:rPr>
              <a:t>看着他试探性地和同学们互动，我的胸中涌起一阵暖意</a:t>
            </a:r>
            <a:endParaRPr lang="zh-CN" altLang="en-US" sz="3600" b="1" dirty="0">
              <a:solidFill>
                <a:schemeClr val="tx1"/>
              </a:solidFill>
              <a:sym typeface="+mn-ea"/>
            </a:endParaRPr>
          </a:p>
          <a:p>
            <a:pPr fontAlgn="auto">
              <a:lnSpc>
                <a:spcPct val="100000"/>
              </a:lnSpc>
            </a:pPr>
            <a:endParaRPr lang="zh-CN" altLang="en-US" sz="3600" b="1" dirty="0">
              <a:solidFill>
                <a:srgbClr val="FF00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sz="3600" b="1" dirty="0">
                <a:sym typeface="+mn-ea"/>
              </a:rPr>
              <a:t>P2-7</a:t>
            </a:r>
            <a:r>
              <a:rPr lang="zh-CN" altLang="en-US" sz="3600" b="1" dirty="0">
                <a:sym typeface="+mn-ea"/>
              </a:rPr>
              <a:t>词组 </a:t>
            </a:r>
            <a:r>
              <a:rPr lang="en-US" altLang="zh-CN" sz="3600" b="1" dirty="0">
                <a:solidFill>
                  <a:srgbClr val="FF0000"/>
                </a:solidFill>
                <a:sym typeface="+mn-ea"/>
              </a:rPr>
              <a:t>1.</a:t>
            </a:r>
            <a:r>
              <a:rPr lang="zh-CN" altLang="en-US" sz="3600" b="1" dirty="0">
                <a:solidFill>
                  <a:srgbClr val="FF0000"/>
                </a:solidFill>
                <a:sym typeface="+mn-ea"/>
              </a:rPr>
              <a:t>扑灭</a:t>
            </a:r>
            <a:r>
              <a:rPr lang="en-US" altLang="zh-CN" sz="3600" b="1" dirty="0">
                <a:solidFill>
                  <a:srgbClr val="FF0000"/>
                </a:solidFill>
                <a:sym typeface="+mn-ea"/>
              </a:rPr>
              <a:t>2.</a:t>
            </a:r>
            <a:r>
              <a:rPr lang="zh-CN" altLang="en-US" sz="3600" b="1" dirty="0">
                <a:solidFill>
                  <a:srgbClr val="FF0000"/>
                </a:solidFill>
                <a:sym typeface="+mn-ea"/>
              </a:rPr>
              <a:t>被认为起于 </a:t>
            </a:r>
            <a:r>
              <a:rPr lang="en-US" altLang="zh-CN" sz="3600" b="1" dirty="0">
                <a:solidFill>
                  <a:srgbClr val="FF0000"/>
                </a:solidFill>
                <a:sym typeface="+mn-ea"/>
              </a:rPr>
              <a:t>3.</a:t>
            </a:r>
            <a:r>
              <a:rPr lang="zh-CN" altLang="en-US" sz="3600" b="1" dirty="0">
                <a:solidFill>
                  <a:srgbClr val="FF0000"/>
                </a:solidFill>
                <a:sym typeface="+mn-ea"/>
              </a:rPr>
              <a:t>导致人们被困 </a:t>
            </a:r>
            <a:r>
              <a:rPr lang="en-US" altLang="zh-CN" sz="3600" b="1" dirty="0">
                <a:solidFill>
                  <a:srgbClr val="FF0000"/>
                </a:solidFill>
                <a:sym typeface="+mn-ea"/>
              </a:rPr>
              <a:t>4.</a:t>
            </a:r>
            <a:r>
              <a:rPr lang="zh-CN" altLang="en-US" sz="3600" b="1" dirty="0">
                <a:solidFill>
                  <a:srgbClr val="FF0000"/>
                </a:solidFill>
                <a:sym typeface="+mn-ea"/>
              </a:rPr>
              <a:t>死亡人数 </a:t>
            </a:r>
            <a:r>
              <a:rPr lang="en-US" altLang="zh-CN" sz="3600" b="1" dirty="0">
                <a:solidFill>
                  <a:srgbClr val="FF0000"/>
                </a:solidFill>
                <a:sym typeface="+mn-ea"/>
              </a:rPr>
              <a:t>5.</a:t>
            </a:r>
            <a:r>
              <a:rPr lang="zh-CN" altLang="en-US" sz="3600" b="1" dirty="0">
                <a:solidFill>
                  <a:srgbClr val="FF0000"/>
                </a:solidFill>
                <a:sym typeface="+mn-ea"/>
              </a:rPr>
              <a:t>根据</a:t>
            </a:r>
            <a:r>
              <a:rPr lang="en-US" altLang="zh-CN" sz="3600" b="1" dirty="0">
                <a:solidFill>
                  <a:srgbClr val="FF0000"/>
                </a:solidFill>
                <a:sym typeface="+mn-ea"/>
              </a:rPr>
              <a:t>…</a:t>
            </a:r>
            <a:r>
              <a:rPr lang="zh-CN" altLang="en-US" sz="3600" b="1" dirty="0">
                <a:solidFill>
                  <a:srgbClr val="FF0000"/>
                </a:solidFill>
                <a:sym typeface="+mn-ea"/>
              </a:rPr>
              <a:t>公布的数据 </a:t>
            </a:r>
            <a:r>
              <a:rPr lang="en-US" altLang="zh-CN" sz="3600" b="1" dirty="0">
                <a:solidFill>
                  <a:srgbClr val="FF0000"/>
                </a:solidFill>
                <a:sym typeface="+mn-ea"/>
              </a:rPr>
              <a:t>6.</a:t>
            </a:r>
            <a:r>
              <a:rPr lang="zh-CN" altLang="en-US" sz="3600" b="1" dirty="0">
                <a:solidFill>
                  <a:srgbClr val="FF0000"/>
                </a:solidFill>
                <a:sym typeface="+mn-ea"/>
              </a:rPr>
              <a:t>蔓延至 </a:t>
            </a:r>
            <a:r>
              <a:rPr lang="en-US" altLang="zh-CN" sz="3600" b="1" dirty="0">
                <a:solidFill>
                  <a:srgbClr val="FF0000"/>
                </a:solidFill>
                <a:sym typeface="+mn-ea"/>
              </a:rPr>
              <a:t>7.</a:t>
            </a:r>
            <a:r>
              <a:rPr lang="zh-CN" altLang="en-US" sz="3600" b="1" dirty="0">
                <a:solidFill>
                  <a:srgbClr val="FF0000"/>
                </a:solidFill>
                <a:sym typeface="+mn-ea"/>
              </a:rPr>
              <a:t>控制住了火势 </a:t>
            </a:r>
            <a:r>
              <a:rPr lang="en-US" altLang="zh-CN" sz="3600" b="1" dirty="0">
                <a:solidFill>
                  <a:srgbClr val="FF0000"/>
                </a:solidFill>
                <a:sym typeface="+mn-ea"/>
              </a:rPr>
              <a:t>8.</a:t>
            </a:r>
            <a:r>
              <a:rPr lang="zh-CN" altLang="en-US" sz="3600" b="1" dirty="0">
                <a:solidFill>
                  <a:srgbClr val="FF0000"/>
                </a:solidFill>
                <a:sym typeface="+mn-ea"/>
              </a:rPr>
              <a:t>遵守消防安全规范 </a:t>
            </a:r>
            <a:endParaRPr lang="en-US" altLang="zh-CN" sz="3600" b="1" dirty="0">
              <a:solidFill>
                <a:srgbClr val="FF0000"/>
              </a:solidFill>
            </a:endParaRPr>
          </a:p>
          <a:p>
            <a:r>
              <a:rPr lang="en-US" altLang="zh-CN" sz="3600" b="1" dirty="0">
                <a:solidFill>
                  <a:srgbClr val="FF0000"/>
                </a:solidFill>
                <a:sym typeface="+mn-ea"/>
              </a:rPr>
              <a:t>9.</a:t>
            </a:r>
            <a:r>
              <a:rPr lang="zh-CN" altLang="en-US" sz="3600" b="1" dirty="0">
                <a:solidFill>
                  <a:srgbClr val="FF0000"/>
                </a:solidFill>
                <a:sym typeface="+mn-ea"/>
              </a:rPr>
              <a:t>对</a:t>
            </a:r>
            <a:r>
              <a:rPr lang="en-US" altLang="zh-CN" sz="3600" b="1" dirty="0">
                <a:solidFill>
                  <a:srgbClr val="FF0000"/>
                </a:solidFill>
                <a:sym typeface="+mn-ea"/>
              </a:rPr>
              <a:t>…</a:t>
            </a:r>
            <a:r>
              <a:rPr lang="zh-CN" altLang="en-US" sz="3600" b="1" dirty="0">
                <a:solidFill>
                  <a:srgbClr val="FF0000"/>
                </a:solidFill>
                <a:sym typeface="+mn-ea"/>
              </a:rPr>
              <a:t>造成严重损失</a:t>
            </a:r>
            <a:r>
              <a:rPr lang="en-US" altLang="zh-CN" sz="3600" b="1" dirty="0">
                <a:solidFill>
                  <a:srgbClr val="FF0000"/>
                </a:solidFill>
                <a:sym typeface="+mn-ea"/>
              </a:rPr>
              <a:t>10.</a:t>
            </a:r>
            <a:r>
              <a:rPr lang="zh-CN" altLang="en-US" sz="3600" b="1" dirty="0">
                <a:solidFill>
                  <a:srgbClr val="FF0000"/>
                </a:solidFill>
                <a:sym typeface="+mn-ea"/>
              </a:rPr>
              <a:t>伤势严峻 </a:t>
            </a:r>
            <a:r>
              <a:rPr lang="en-US" altLang="zh-CN" sz="3600" b="1" dirty="0">
                <a:solidFill>
                  <a:srgbClr val="FF0000"/>
                </a:solidFill>
                <a:sym typeface="+mn-ea"/>
              </a:rPr>
              <a:t>11.</a:t>
            </a:r>
            <a:r>
              <a:rPr lang="zh-CN" altLang="en-US" sz="3600" b="1" dirty="0">
                <a:solidFill>
                  <a:srgbClr val="FF0000"/>
                </a:solidFill>
                <a:sym typeface="+mn-ea"/>
              </a:rPr>
              <a:t>受了轻伤 </a:t>
            </a:r>
            <a:r>
              <a:rPr lang="en-US" altLang="zh-CN" sz="3600" b="1" dirty="0">
                <a:solidFill>
                  <a:srgbClr val="FF0000"/>
                </a:solidFill>
                <a:sym typeface="+mn-ea"/>
              </a:rPr>
              <a:t>12.</a:t>
            </a:r>
            <a:r>
              <a:rPr lang="zh-CN" altLang="en-US" sz="3600" b="1" dirty="0">
                <a:solidFill>
                  <a:srgbClr val="FF0000"/>
                </a:solidFill>
                <a:sym typeface="+mn-ea"/>
              </a:rPr>
              <a:t>正要洗澡就听到有人尖叫 </a:t>
            </a:r>
            <a:r>
              <a:rPr lang="en-US" altLang="zh-CN" sz="3600" b="1" dirty="0">
                <a:solidFill>
                  <a:srgbClr val="FF0000"/>
                </a:solidFill>
                <a:sym typeface="+mn-ea"/>
              </a:rPr>
              <a:t>13.</a:t>
            </a:r>
            <a:r>
              <a:rPr lang="zh-CN" altLang="en-US" sz="3600" b="1" dirty="0">
                <a:solidFill>
                  <a:srgbClr val="FF0000"/>
                </a:solidFill>
                <a:sym typeface="+mn-ea"/>
              </a:rPr>
              <a:t>自动火警报警器没有报警 </a:t>
            </a:r>
            <a:r>
              <a:rPr lang="en-US" altLang="zh-CN" sz="3600" b="1" dirty="0">
                <a:solidFill>
                  <a:srgbClr val="FF0000"/>
                </a:solidFill>
                <a:sym typeface="+mn-ea"/>
              </a:rPr>
              <a:t>14.</a:t>
            </a:r>
            <a:r>
              <a:rPr lang="zh-CN" altLang="en-US" sz="3600" b="1" dirty="0">
                <a:solidFill>
                  <a:srgbClr val="FF0000"/>
                </a:solidFill>
                <a:sym typeface="+mn-ea"/>
              </a:rPr>
              <a:t>依赖某人做某事 </a:t>
            </a:r>
            <a:endParaRPr lang="en-US" altLang="zh-CN" sz="3600" b="1" dirty="0">
              <a:solidFill>
                <a:srgbClr val="FF0000"/>
              </a:solidFill>
            </a:endParaRPr>
          </a:p>
          <a:p>
            <a:r>
              <a:rPr lang="en-US" altLang="zh-CN" sz="3600" b="1" dirty="0">
                <a:solidFill>
                  <a:srgbClr val="FF0000"/>
                </a:solidFill>
                <a:sym typeface="+mn-ea"/>
              </a:rPr>
              <a:t>15.</a:t>
            </a:r>
            <a:r>
              <a:rPr lang="zh-CN" altLang="en-US" sz="3600" b="1" dirty="0">
                <a:solidFill>
                  <a:srgbClr val="FF0000"/>
                </a:solidFill>
                <a:sym typeface="+mn-ea"/>
              </a:rPr>
              <a:t>互相矛盾的信息 </a:t>
            </a:r>
            <a:endParaRPr lang="zh-CN" altLang="en-US" sz="3600" b="1" dirty="0">
              <a:solidFill>
                <a:srgbClr val="FF000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lnSpcReduction="10000"/>
          </a:bodyPr>
          <a:lstStyle/>
          <a:p>
            <a:r>
              <a:rPr lang="en-US" altLang="zh-CN" sz="3600" b="1" dirty="0">
                <a:solidFill>
                  <a:srgbClr val="FF0000"/>
                </a:solidFill>
              </a:rPr>
              <a:t>16.</a:t>
            </a:r>
            <a:r>
              <a:rPr lang="zh-CN" altLang="en-US" sz="3600" b="1" dirty="0">
                <a:solidFill>
                  <a:srgbClr val="FF0000"/>
                </a:solidFill>
              </a:rPr>
              <a:t>产生 </a:t>
            </a:r>
            <a:r>
              <a:rPr lang="en-US" altLang="zh-CN" sz="3600" b="1" dirty="0">
                <a:solidFill>
                  <a:srgbClr val="FF0000"/>
                </a:solidFill>
              </a:rPr>
              <a:t>17.</a:t>
            </a:r>
            <a:r>
              <a:rPr lang="zh-CN" altLang="en-US" sz="3600" b="1" dirty="0">
                <a:solidFill>
                  <a:srgbClr val="FF0000"/>
                </a:solidFill>
              </a:rPr>
              <a:t>明智的做法是 </a:t>
            </a:r>
            <a:r>
              <a:rPr lang="en-US" altLang="zh-CN" sz="3600" b="1" dirty="0">
                <a:solidFill>
                  <a:srgbClr val="FF0000"/>
                </a:solidFill>
              </a:rPr>
              <a:t>18.</a:t>
            </a:r>
            <a:r>
              <a:rPr lang="zh-CN" altLang="en-US" sz="3600" b="1" dirty="0">
                <a:solidFill>
                  <a:srgbClr val="FF0000"/>
                </a:solidFill>
              </a:rPr>
              <a:t>以</a:t>
            </a:r>
            <a:r>
              <a:rPr lang="en-US" altLang="zh-CN" sz="3600" b="1" dirty="0">
                <a:solidFill>
                  <a:srgbClr val="FF0000"/>
                </a:solidFill>
              </a:rPr>
              <a:t>…</a:t>
            </a:r>
            <a:r>
              <a:rPr lang="zh-CN" altLang="en-US" sz="3600" b="1" dirty="0">
                <a:solidFill>
                  <a:srgbClr val="FF0000"/>
                </a:solidFill>
              </a:rPr>
              <a:t>为例</a:t>
            </a:r>
            <a:r>
              <a:rPr lang="en-US" altLang="zh-CN" sz="3600" b="1" dirty="0">
                <a:solidFill>
                  <a:srgbClr val="FF0000"/>
                </a:solidFill>
              </a:rPr>
              <a:t>19.</a:t>
            </a:r>
            <a:r>
              <a:rPr lang="zh-CN" altLang="en-US" sz="3600" b="1" dirty="0">
                <a:solidFill>
                  <a:srgbClr val="FF0000"/>
                </a:solidFill>
              </a:rPr>
              <a:t>更全面地了解 </a:t>
            </a:r>
            <a:r>
              <a:rPr lang="en-US" altLang="zh-CN" sz="3600" b="1" dirty="0">
                <a:solidFill>
                  <a:srgbClr val="FF0000"/>
                </a:solidFill>
              </a:rPr>
              <a:t>20.</a:t>
            </a:r>
            <a:r>
              <a:rPr lang="zh-CN" altLang="en-US" sz="3600" b="1" dirty="0">
                <a:solidFill>
                  <a:srgbClr val="FF0000"/>
                </a:solidFill>
              </a:rPr>
              <a:t>例如 </a:t>
            </a:r>
            <a:r>
              <a:rPr lang="en-US" altLang="zh-CN" sz="3600" b="1" dirty="0">
                <a:solidFill>
                  <a:srgbClr val="FF0000"/>
                </a:solidFill>
              </a:rPr>
              <a:t>21.</a:t>
            </a:r>
            <a:r>
              <a:rPr lang="zh-CN" altLang="en-US" sz="3600" b="1" dirty="0">
                <a:solidFill>
                  <a:srgbClr val="FF0000"/>
                </a:solidFill>
              </a:rPr>
              <a:t>急于下结论 </a:t>
            </a:r>
            <a:r>
              <a:rPr lang="en-US" altLang="zh-CN" sz="3600" b="1" dirty="0">
                <a:solidFill>
                  <a:srgbClr val="FF0000"/>
                </a:solidFill>
              </a:rPr>
              <a:t>22.</a:t>
            </a:r>
            <a:r>
              <a:rPr lang="zh-CN" altLang="en-US" sz="3600" b="1" dirty="0">
                <a:solidFill>
                  <a:srgbClr val="FF0000"/>
                </a:solidFill>
              </a:rPr>
              <a:t>被披露 </a:t>
            </a:r>
            <a:r>
              <a:rPr lang="en-US" altLang="zh-CN" sz="3600" b="1" dirty="0">
                <a:solidFill>
                  <a:srgbClr val="FF0000"/>
                </a:solidFill>
              </a:rPr>
              <a:t>23.</a:t>
            </a:r>
            <a:r>
              <a:rPr lang="zh-CN" altLang="en-US" sz="3600" b="1" dirty="0">
                <a:solidFill>
                  <a:srgbClr val="FF0000"/>
                </a:solidFill>
              </a:rPr>
              <a:t>另一个值得一提的方面是 </a:t>
            </a:r>
            <a:r>
              <a:rPr lang="en-US" altLang="zh-CN" sz="3600" b="1" dirty="0">
                <a:solidFill>
                  <a:srgbClr val="FF0000"/>
                </a:solidFill>
              </a:rPr>
              <a:t>24.</a:t>
            </a:r>
            <a:r>
              <a:rPr lang="zh-CN" altLang="en-US" sz="3600" b="1" dirty="0">
                <a:solidFill>
                  <a:srgbClr val="FF0000"/>
                </a:solidFill>
              </a:rPr>
              <a:t>在</a:t>
            </a:r>
            <a:r>
              <a:rPr lang="en-US" altLang="zh-CN" sz="3600" b="1" dirty="0">
                <a:solidFill>
                  <a:srgbClr val="FF0000"/>
                </a:solidFill>
              </a:rPr>
              <a:t>…</a:t>
            </a:r>
            <a:r>
              <a:rPr lang="zh-CN" altLang="en-US" sz="3600" b="1" dirty="0">
                <a:solidFill>
                  <a:srgbClr val="FF0000"/>
                </a:solidFill>
              </a:rPr>
              <a:t>到</a:t>
            </a:r>
            <a:r>
              <a:rPr lang="en-US" altLang="zh-CN" sz="3600" b="1" dirty="0">
                <a:solidFill>
                  <a:srgbClr val="FF0000"/>
                </a:solidFill>
              </a:rPr>
              <a:t>…</a:t>
            </a:r>
            <a:r>
              <a:rPr lang="zh-CN" altLang="en-US" sz="3600" b="1" dirty="0">
                <a:solidFill>
                  <a:srgbClr val="FF0000"/>
                </a:solidFill>
              </a:rPr>
              <a:t>之间不等 </a:t>
            </a:r>
            <a:r>
              <a:rPr lang="en-US" altLang="zh-CN" sz="3600" b="1" dirty="0">
                <a:solidFill>
                  <a:srgbClr val="FF0000"/>
                </a:solidFill>
              </a:rPr>
              <a:t>25.</a:t>
            </a:r>
            <a:r>
              <a:rPr lang="zh-CN" altLang="en-US" sz="3600" b="1" dirty="0">
                <a:solidFill>
                  <a:srgbClr val="FF0000"/>
                </a:solidFill>
              </a:rPr>
              <a:t>最小值</a:t>
            </a:r>
            <a:r>
              <a:rPr lang="en-US" altLang="zh-CN" sz="3600" b="1" dirty="0">
                <a:solidFill>
                  <a:srgbClr val="FF0000"/>
                </a:solidFill>
              </a:rPr>
              <a:t>,</a:t>
            </a:r>
            <a:r>
              <a:rPr lang="zh-CN" altLang="en-US" sz="3600" b="1">
                <a:solidFill>
                  <a:srgbClr val="FF0000"/>
                </a:solidFill>
              </a:rPr>
              <a:t>最大</a:t>
            </a:r>
            <a:r>
              <a:rPr lang="zh-CN" altLang="en-US" sz="3600" b="1" dirty="0">
                <a:solidFill>
                  <a:srgbClr val="FF0000"/>
                </a:solidFill>
              </a:rPr>
              <a:t>值或中间的某个数值 </a:t>
            </a:r>
            <a:r>
              <a:rPr lang="en-US" altLang="zh-CN" sz="3600" b="1" dirty="0">
                <a:solidFill>
                  <a:srgbClr val="FF0000"/>
                </a:solidFill>
              </a:rPr>
              <a:t>26.</a:t>
            </a:r>
            <a:r>
              <a:rPr lang="zh-CN" altLang="en-US" sz="3600" b="1" dirty="0">
                <a:solidFill>
                  <a:srgbClr val="FF0000"/>
                </a:solidFill>
              </a:rPr>
              <a:t>能够让我们得出更有根据的结论 </a:t>
            </a:r>
            <a:r>
              <a:rPr lang="en-US" altLang="zh-CN" sz="3600" b="1" dirty="0">
                <a:solidFill>
                  <a:srgbClr val="FF0000"/>
                </a:solidFill>
              </a:rPr>
              <a:t>27.</a:t>
            </a:r>
            <a:r>
              <a:rPr lang="zh-CN" altLang="en-US" sz="3600" b="1" dirty="0">
                <a:solidFill>
                  <a:srgbClr val="FF0000"/>
                </a:solidFill>
              </a:rPr>
              <a:t>总之 </a:t>
            </a:r>
            <a:r>
              <a:rPr lang="en-US" altLang="zh-CN" sz="3600" b="1" dirty="0">
                <a:solidFill>
                  <a:srgbClr val="FF0000"/>
                </a:solidFill>
              </a:rPr>
              <a:t>28.</a:t>
            </a:r>
            <a:r>
              <a:rPr lang="zh-CN" altLang="en-US" sz="3600" b="1" dirty="0">
                <a:solidFill>
                  <a:srgbClr val="FF0000"/>
                </a:solidFill>
              </a:rPr>
              <a:t>从不同角度在不同阶段 </a:t>
            </a:r>
            <a:r>
              <a:rPr lang="en-US" altLang="zh-CN" sz="3600" b="1" dirty="0">
                <a:solidFill>
                  <a:srgbClr val="FF0000"/>
                </a:solidFill>
              </a:rPr>
              <a:t>29.</a:t>
            </a:r>
            <a:r>
              <a:rPr lang="zh-CN" altLang="en-US" sz="3600" b="1" dirty="0">
                <a:solidFill>
                  <a:srgbClr val="FF0000"/>
                </a:solidFill>
              </a:rPr>
              <a:t>让我们更准确地了解情况 </a:t>
            </a:r>
            <a:r>
              <a:rPr lang="en-US" altLang="zh-CN" sz="3600" b="1" dirty="0">
                <a:solidFill>
                  <a:srgbClr val="FF0000"/>
                </a:solidFill>
              </a:rPr>
              <a:t>30.</a:t>
            </a:r>
            <a:r>
              <a:rPr lang="zh-CN" altLang="en-US" sz="3600" b="1" dirty="0">
                <a:solidFill>
                  <a:srgbClr val="FF0000"/>
                </a:solidFill>
              </a:rPr>
              <a:t>批判性地看待 </a:t>
            </a:r>
            <a:r>
              <a:rPr lang="en-US" altLang="zh-CN" sz="3600" b="1" dirty="0">
                <a:solidFill>
                  <a:srgbClr val="FF0000"/>
                </a:solidFill>
              </a:rPr>
              <a:t>31.</a:t>
            </a:r>
            <a:r>
              <a:rPr lang="zh-CN" altLang="en-US" sz="3600" b="1" dirty="0">
                <a:solidFill>
                  <a:srgbClr val="FF0000"/>
                </a:solidFill>
              </a:rPr>
              <a:t>记者致力于呈现真相 </a:t>
            </a:r>
            <a:r>
              <a:rPr lang="en-US" altLang="zh-CN" sz="3600" b="1" dirty="0">
                <a:solidFill>
                  <a:srgbClr val="FF0000"/>
                </a:solidFill>
              </a:rPr>
              <a:t>32.</a:t>
            </a:r>
            <a:r>
              <a:rPr lang="zh-CN" altLang="en-US" sz="3600" b="1" dirty="0">
                <a:solidFill>
                  <a:srgbClr val="FF0000"/>
                </a:solidFill>
              </a:rPr>
              <a:t>运用自己的判断力 </a:t>
            </a:r>
            <a:r>
              <a:rPr lang="en-US" altLang="zh-CN" sz="3600" b="1" dirty="0">
                <a:solidFill>
                  <a:srgbClr val="FF0000"/>
                </a:solidFill>
              </a:rPr>
              <a:t>33.</a:t>
            </a:r>
            <a:r>
              <a:rPr lang="zh-CN" altLang="en-US" sz="3600" b="1" dirty="0">
                <a:solidFill>
                  <a:srgbClr val="FF0000"/>
                </a:solidFill>
              </a:rPr>
              <a:t>有了明辨是非的能力 </a:t>
            </a:r>
            <a:r>
              <a:rPr lang="en-US" altLang="zh-CN" sz="3600" b="1" dirty="0">
                <a:solidFill>
                  <a:srgbClr val="FF0000"/>
                </a:solidFill>
              </a:rPr>
              <a:t>34.</a:t>
            </a:r>
            <a:r>
              <a:rPr lang="zh-CN" altLang="en-US" sz="3600" b="1" dirty="0">
                <a:solidFill>
                  <a:srgbClr val="FF0000"/>
                </a:solidFill>
              </a:rPr>
              <a:t>有潜力成为</a:t>
            </a:r>
            <a:r>
              <a:rPr lang="en-US" altLang="zh-CN" sz="3600" b="1" dirty="0">
                <a:solidFill>
                  <a:srgbClr val="FF0000"/>
                </a:solidFill>
              </a:rPr>
              <a:t>… </a:t>
            </a:r>
            <a:r>
              <a:rPr lang="en-US" altLang="zh-CN" sz="3600" b="1" dirty="0">
                <a:solidFill>
                  <a:srgbClr val="7030A0"/>
                </a:solidFill>
              </a:rPr>
              <a:t>1.</a:t>
            </a:r>
            <a:r>
              <a:rPr lang="zh-CN" altLang="en-US" sz="3600" b="1" dirty="0">
                <a:solidFill>
                  <a:srgbClr val="7030A0"/>
                </a:solidFill>
              </a:rPr>
              <a:t>列入优先事项清单 </a:t>
            </a:r>
            <a:r>
              <a:rPr lang="en-US" altLang="zh-CN" sz="3600" b="1" dirty="0">
                <a:solidFill>
                  <a:srgbClr val="7030A0"/>
                </a:solidFill>
              </a:rPr>
              <a:t>2.</a:t>
            </a:r>
            <a:r>
              <a:rPr lang="zh-CN" altLang="en-US" sz="3600" b="1" dirty="0">
                <a:solidFill>
                  <a:srgbClr val="7030A0"/>
                </a:solidFill>
              </a:rPr>
              <a:t>准确描述 </a:t>
            </a:r>
            <a:r>
              <a:rPr lang="en-US" altLang="zh-CN" sz="3600" b="1" dirty="0">
                <a:solidFill>
                  <a:srgbClr val="7030A0"/>
                </a:solidFill>
              </a:rPr>
              <a:t>3.</a:t>
            </a:r>
            <a:r>
              <a:rPr lang="zh-CN" altLang="en-US" sz="3600" b="1" dirty="0">
                <a:solidFill>
                  <a:srgbClr val="7030A0"/>
                </a:solidFill>
              </a:rPr>
              <a:t>对</a:t>
            </a:r>
            <a:r>
              <a:rPr lang="en-US" altLang="zh-CN" sz="3600" b="1" dirty="0">
                <a:solidFill>
                  <a:srgbClr val="7030A0"/>
                </a:solidFill>
              </a:rPr>
              <a:t>…</a:t>
            </a:r>
            <a:r>
              <a:rPr lang="zh-CN" altLang="en-US" sz="3600" b="1" dirty="0">
                <a:solidFill>
                  <a:srgbClr val="7030A0"/>
                </a:solidFill>
              </a:rPr>
              <a:t>天然的好奇心 </a:t>
            </a:r>
            <a:r>
              <a:rPr lang="en-US" altLang="zh-CN" sz="3600" b="1" dirty="0">
                <a:solidFill>
                  <a:srgbClr val="7030A0"/>
                </a:solidFill>
              </a:rPr>
              <a:t>4.</a:t>
            </a:r>
            <a:r>
              <a:rPr lang="zh-CN" altLang="en-US" sz="3600" b="1" dirty="0">
                <a:solidFill>
                  <a:srgbClr val="7030A0"/>
                </a:solidFill>
              </a:rPr>
              <a:t>对</a:t>
            </a:r>
            <a:r>
              <a:rPr lang="en-US" altLang="zh-CN" sz="3600" b="1" dirty="0">
                <a:solidFill>
                  <a:srgbClr val="7030A0"/>
                </a:solidFill>
              </a:rPr>
              <a:t>…</a:t>
            </a:r>
            <a:r>
              <a:rPr lang="zh-CN" altLang="en-US" sz="3600" b="1" dirty="0">
                <a:solidFill>
                  <a:srgbClr val="7030A0"/>
                </a:solidFill>
              </a:rPr>
              <a:t>敏感 </a:t>
            </a:r>
            <a:r>
              <a:rPr lang="en-US" altLang="zh-CN" sz="3600" b="1" dirty="0">
                <a:solidFill>
                  <a:srgbClr val="7030A0"/>
                </a:solidFill>
              </a:rPr>
              <a:t>5.</a:t>
            </a:r>
            <a:r>
              <a:rPr lang="zh-CN" altLang="en-US" sz="3600" b="1" dirty="0">
                <a:solidFill>
                  <a:srgbClr val="7030A0"/>
                </a:solidFill>
              </a:rPr>
              <a:t>吸引公众注意力 </a:t>
            </a:r>
            <a:r>
              <a:rPr lang="en-US" altLang="zh-CN" sz="3600" b="1" dirty="0">
                <a:solidFill>
                  <a:srgbClr val="7030A0"/>
                </a:solidFill>
              </a:rPr>
              <a:t>6.</a:t>
            </a:r>
            <a:r>
              <a:rPr lang="zh-CN" altLang="en-US" sz="3600" b="1" dirty="0">
                <a:solidFill>
                  <a:srgbClr val="7030A0"/>
                </a:solidFill>
              </a:rPr>
              <a:t>返回</a:t>
            </a:r>
            <a:r>
              <a:rPr lang="en-US" altLang="zh-CN" sz="3600" b="1" dirty="0">
                <a:solidFill>
                  <a:srgbClr val="7030A0"/>
                </a:solidFill>
              </a:rPr>
              <a:t>,</a:t>
            </a:r>
            <a:r>
              <a:rPr lang="zh-CN" altLang="en-US" sz="3600" b="1" dirty="0">
                <a:solidFill>
                  <a:srgbClr val="7030A0"/>
                </a:solidFill>
              </a:rPr>
              <a:t>追溯 </a:t>
            </a:r>
            <a:r>
              <a:rPr lang="en-US" altLang="zh-CN" sz="3600" b="1" dirty="0">
                <a:solidFill>
                  <a:srgbClr val="7030A0"/>
                </a:solidFill>
              </a:rPr>
              <a:t>7.</a:t>
            </a:r>
            <a:r>
              <a:rPr lang="zh-CN" altLang="en-US" sz="3600" b="1" dirty="0">
                <a:solidFill>
                  <a:srgbClr val="7030A0"/>
                </a:solidFill>
              </a:rPr>
              <a:t>社会议题 </a:t>
            </a:r>
            <a:r>
              <a:rPr lang="en-US" altLang="zh-CN" sz="3600" b="1" dirty="0">
                <a:solidFill>
                  <a:srgbClr val="7030A0"/>
                </a:solidFill>
              </a:rPr>
              <a:t>8.</a:t>
            </a:r>
            <a:r>
              <a:rPr lang="zh-CN" altLang="en-US" sz="3600" b="1" dirty="0">
                <a:solidFill>
                  <a:srgbClr val="7030A0"/>
                </a:solidFill>
              </a:rPr>
              <a:t>指控官员不诚实 </a:t>
            </a:r>
            <a:r>
              <a:rPr lang="en-US" altLang="zh-CN" sz="3600" b="1" dirty="0">
                <a:solidFill>
                  <a:srgbClr val="7030A0"/>
                </a:solidFill>
              </a:rPr>
              <a:t>9.</a:t>
            </a:r>
            <a:r>
              <a:rPr lang="zh-CN" altLang="en-US" sz="3600" b="1" dirty="0">
                <a:solidFill>
                  <a:srgbClr val="7030A0"/>
                </a:solidFill>
              </a:rPr>
              <a:t>猛增</a:t>
            </a:r>
            <a:r>
              <a:rPr lang="en-US" altLang="zh-CN" sz="3600" b="1" dirty="0">
                <a:solidFill>
                  <a:srgbClr val="7030A0"/>
                </a:solidFill>
              </a:rPr>
              <a:t>(2</a:t>
            </a:r>
            <a:r>
              <a:rPr lang="zh-CN" altLang="en-US" sz="3600" b="1" dirty="0">
                <a:solidFill>
                  <a:srgbClr val="7030A0"/>
                </a:solidFill>
              </a:rPr>
              <a:t>个</a:t>
            </a:r>
            <a:r>
              <a:rPr lang="en-US" altLang="zh-CN" sz="3600" b="1" dirty="0">
                <a:solidFill>
                  <a:srgbClr val="7030A0"/>
                </a:solidFill>
              </a:rPr>
              <a:t>) 10.</a:t>
            </a:r>
            <a:r>
              <a:rPr lang="zh-CN" altLang="en-US" sz="3600" b="1" dirty="0">
                <a:solidFill>
                  <a:srgbClr val="7030A0"/>
                </a:solidFill>
              </a:rPr>
              <a:t>运用策略 </a:t>
            </a:r>
            <a:r>
              <a:rPr lang="en-US" altLang="zh-CN" sz="3600" b="1" dirty="0">
                <a:solidFill>
                  <a:srgbClr val="7030A0"/>
                </a:solidFill>
              </a:rPr>
              <a:t>11.</a:t>
            </a:r>
            <a:r>
              <a:rPr lang="zh-CN" altLang="en-US" sz="3600" b="1" dirty="0">
                <a:solidFill>
                  <a:srgbClr val="7030A0"/>
                </a:solidFill>
              </a:rPr>
              <a:t>第一个倡导做某事的人 </a:t>
            </a:r>
            <a:r>
              <a:rPr lang="en-US" altLang="zh-CN" sz="3600" b="1" dirty="0">
                <a:solidFill>
                  <a:srgbClr val="7030A0"/>
                </a:solidFill>
              </a:rPr>
              <a:t>12.</a:t>
            </a:r>
            <a:r>
              <a:rPr lang="zh-CN" altLang="en-US" sz="3600" b="1" dirty="0">
                <a:solidFill>
                  <a:srgbClr val="7030A0"/>
                </a:solidFill>
              </a:rPr>
              <a:t>有史以来第一次句型</a:t>
            </a:r>
            <a:r>
              <a:rPr lang="en-US" altLang="zh-CN" sz="3600" b="1" dirty="0">
                <a:solidFill>
                  <a:srgbClr val="7030A0"/>
                </a:solidFill>
              </a:rPr>
              <a:t>(</a:t>
            </a:r>
            <a:r>
              <a:rPr lang="zh-CN" altLang="en-US" sz="3600" b="1" dirty="0">
                <a:solidFill>
                  <a:srgbClr val="7030A0"/>
                </a:solidFill>
              </a:rPr>
              <a:t>写全</a:t>
            </a:r>
            <a:r>
              <a:rPr lang="en-US" altLang="zh-CN" sz="3600" b="1" dirty="0">
                <a:solidFill>
                  <a:srgbClr val="7030A0"/>
                </a:solidFill>
              </a:rPr>
              <a:t>) 13.expand on</a:t>
            </a:r>
            <a:r>
              <a:rPr lang="zh-CN" altLang="en-US" sz="3600" b="1" dirty="0">
                <a:solidFill>
                  <a:srgbClr val="7030A0"/>
                </a:solidFill>
              </a:rPr>
              <a:t>翻译 </a:t>
            </a:r>
            <a:r>
              <a:rPr lang="en-US" altLang="zh-CN" sz="3600" b="1" dirty="0">
                <a:solidFill>
                  <a:srgbClr val="7030A0"/>
                </a:solidFill>
              </a:rPr>
              <a:t>14.</a:t>
            </a:r>
            <a:r>
              <a:rPr lang="zh-CN" altLang="en-US" sz="3600" b="1" dirty="0">
                <a:solidFill>
                  <a:srgbClr val="7030A0"/>
                </a:solidFill>
              </a:rPr>
              <a:t>过去的几十年见证了</a:t>
            </a:r>
            <a:r>
              <a:rPr lang="en-US" altLang="zh-CN" sz="3600" b="1" dirty="0">
                <a:solidFill>
                  <a:srgbClr val="7030A0"/>
                </a:solidFill>
              </a:rPr>
              <a:t>…</a:t>
            </a:r>
            <a:r>
              <a:rPr lang="zh-CN" altLang="en-US" sz="3600" b="1" dirty="0">
                <a:solidFill>
                  <a:srgbClr val="7030A0"/>
                </a:solidFill>
              </a:rPr>
              <a:t>的飞速发展</a:t>
            </a:r>
            <a:r>
              <a:rPr lang="en-US" altLang="zh-CN" sz="3600" b="1" dirty="0">
                <a:solidFill>
                  <a:srgbClr val="7030A0"/>
                </a:solidFill>
              </a:rPr>
              <a:t> 15.</a:t>
            </a:r>
            <a:r>
              <a:rPr lang="zh-CN" altLang="en-US" sz="3600" b="1" dirty="0">
                <a:solidFill>
                  <a:srgbClr val="7030A0"/>
                </a:solidFill>
              </a:rPr>
              <a:t>涌现</a:t>
            </a:r>
            <a:r>
              <a:rPr lang="en-US" altLang="zh-CN" sz="3600" b="1" dirty="0">
                <a:solidFill>
                  <a:srgbClr val="7030A0"/>
                </a:solidFill>
              </a:rPr>
              <a:t> 16.</a:t>
            </a:r>
            <a:r>
              <a:rPr lang="zh-CN" altLang="en-US" sz="3600" b="1" dirty="0">
                <a:solidFill>
                  <a:srgbClr val="7030A0"/>
                </a:solidFill>
              </a:rPr>
              <a:t>取得成功受欢迎</a:t>
            </a:r>
            <a:r>
              <a:rPr lang="en-US" altLang="zh-CN" sz="3600" b="1" dirty="0">
                <a:solidFill>
                  <a:srgbClr val="7030A0"/>
                </a:solidFill>
              </a:rPr>
              <a:t> 17.</a:t>
            </a:r>
            <a:r>
              <a:rPr lang="zh-CN" altLang="en-US" sz="3600" b="1" dirty="0">
                <a:solidFill>
                  <a:srgbClr val="7030A0"/>
                </a:solidFill>
              </a:rPr>
              <a:t>及时更新</a:t>
            </a:r>
            <a:r>
              <a:rPr lang="en-US" altLang="zh-CN" sz="3600" b="1" dirty="0">
                <a:solidFill>
                  <a:srgbClr val="7030A0"/>
                </a:solidFill>
              </a:rPr>
              <a:t> 18.</a:t>
            </a:r>
            <a:r>
              <a:rPr lang="zh-CN" altLang="en-US" sz="3600" b="1" dirty="0">
                <a:solidFill>
                  <a:srgbClr val="7030A0"/>
                </a:solidFill>
              </a:rPr>
              <a:t>正如图表所显示的</a:t>
            </a:r>
            <a:r>
              <a:rPr lang="en-US" altLang="zh-CN" sz="3600" b="1" dirty="0">
                <a:solidFill>
                  <a:srgbClr val="7030A0"/>
                </a:solidFill>
              </a:rPr>
              <a:t> 19.</a:t>
            </a:r>
            <a:r>
              <a:rPr lang="zh-CN" altLang="en-US" sz="3600" b="1" dirty="0">
                <a:solidFill>
                  <a:srgbClr val="7030A0"/>
                </a:solidFill>
              </a:rPr>
              <a:t>多样性和可及性</a:t>
            </a:r>
            <a:r>
              <a:rPr lang="en-US" altLang="zh-CN" sz="3600" b="1" dirty="0">
                <a:solidFill>
                  <a:srgbClr val="7030A0"/>
                </a:solidFill>
              </a:rPr>
              <a:t> 20.</a:t>
            </a:r>
            <a:r>
              <a:rPr lang="zh-CN" altLang="en-US" sz="3600" b="1" dirty="0">
                <a:solidFill>
                  <a:srgbClr val="7030A0"/>
                </a:solidFill>
              </a:rPr>
              <a:t>使人们很容易与他人互动</a:t>
            </a:r>
            <a:r>
              <a:rPr lang="en-US" altLang="zh-CN" sz="3600" b="1" dirty="0">
                <a:solidFill>
                  <a:srgbClr val="7030A0"/>
                </a:solidFill>
              </a:rPr>
              <a:t> 21.</a:t>
            </a:r>
            <a:r>
              <a:rPr lang="zh-CN" altLang="en-US" sz="3600" b="1" dirty="0">
                <a:solidFill>
                  <a:srgbClr val="7030A0"/>
                </a:solidFill>
              </a:rPr>
              <a:t>优点之一是</a:t>
            </a:r>
            <a:r>
              <a:rPr lang="en-US" altLang="zh-CN" sz="3600" b="1" dirty="0">
                <a:solidFill>
                  <a:srgbClr val="7030A0"/>
                </a:solidFill>
              </a:rPr>
              <a:t> 22.</a:t>
            </a:r>
            <a:r>
              <a:rPr lang="zh-CN" altLang="en-US" sz="3600" b="1" dirty="0">
                <a:solidFill>
                  <a:srgbClr val="7030A0"/>
                </a:solidFill>
              </a:rPr>
              <a:t>一方面另一方面</a:t>
            </a:r>
            <a:r>
              <a:rPr lang="en-US" altLang="zh-CN" sz="3600" b="1" dirty="0">
                <a:solidFill>
                  <a:srgbClr val="7030A0"/>
                </a:solidFill>
              </a:rPr>
              <a:t> 23.</a:t>
            </a:r>
            <a:r>
              <a:rPr lang="zh-CN" altLang="en-US" sz="3600" b="1" dirty="0">
                <a:solidFill>
                  <a:srgbClr val="7030A0"/>
                </a:solidFill>
              </a:rPr>
              <a:t>当谈及</a:t>
            </a:r>
            <a:r>
              <a:rPr lang="en-US" altLang="zh-CN" sz="3600" b="1" dirty="0">
                <a:solidFill>
                  <a:srgbClr val="7030A0"/>
                </a:solidFill>
              </a:rPr>
              <a:t>……</a:t>
            </a:r>
            <a:r>
              <a:rPr lang="zh-CN" altLang="en-US" sz="3600" b="1" dirty="0">
                <a:solidFill>
                  <a:srgbClr val="7030A0"/>
                </a:solidFill>
              </a:rPr>
              <a:t>有点多于缺点</a:t>
            </a:r>
            <a:r>
              <a:rPr lang="en-US" altLang="zh-CN" sz="3600" b="1" dirty="0">
                <a:solidFill>
                  <a:srgbClr val="7030A0"/>
                </a:solidFill>
              </a:rPr>
              <a:t> 24.</a:t>
            </a:r>
            <a:r>
              <a:rPr lang="zh-CN" altLang="en-US" sz="3600" b="1" dirty="0">
                <a:solidFill>
                  <a:srgbClr val="7030A0"/>
                </a:solidFill>
              </a:rPr>
              <a:t>比</a:t>
            </a:r>
            <a:r>
              <a:rPr lang="en-US" altLang="zh-CN" sz="3600" b="1" dirty="0">
                <a:solidFill>
                  <a:srgbClr val="7030A0"/>
                </a:solidFill>
              </a:rPr>
              <a:t>…</a:t>
            </a:r>
            <a:r>
              <a:rPr lang="zh-CN" altLang="en-US" sz="3600" b="1" dirty="0">
                <a:solidFill>
                  <a:srgbClr val="7030A0"/>
                </a:solidFill>
              </a:rPr>
              <a:t>更占优势</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fontScale="92500" lnSpcReduction="10000"/>
          </a:bodyPr>
          <a:lstStyle/>
          <a:p>
            <a:r>
              <a:rPr lang="en-US" altLang="zh-CN" sz="1600" b="1" dirty="0"/>
              <a:t>OB2U1 1. critical a. </a:t>
            </a:r>
            <a:r>
              <a:rPr lang="zh-CN" altLang="zh-CN" sz="1600" b="1" dirty="0"/>
              <a:t>批评的关键的</a:t>
            </a:r>
            <a:r>
              <a:rPr lang="en-US" altLang="zh-CN" sz="1600" b="1" dirty="0"/>
              <a:t>a.→ </a:t>
            </a:r>
            <a:r>
              <a:rPr lang="en-US" altLang="zh-CN" sz="1600" b="1" u="sng" dirty="0"/>
              <a:t>criticize</a:t>
            </a:r>
            <a:r>
              <a:rPr lang="en-US" altLang="zh-CN" sz="1600" b="1" dirty="0"/>
              <a:t> v. </a:t>
            </a:r>
            <a:r>
              <a:rPr lang="zh-CN" altLang="zh-CN" sz="1600" b="1" dirty="0"/>
              <a:t>批评</a:t>
            </a:r>
            <a:r>
              <a:rPr lang="en-US" altLang="zh-CN" sz="1600" b="1" dirty="0"/>
              <a:t>→ </a:t>
            </a:r>
            <a:r>
              <a:rPr lang="en-US" altLang="zh-CN" sz="1600" b="1" u="sng" dirty="0"/>
              <a:t>criticism</a:t>
            </a:r>
            <a:r>
              <a:rPr lang="en-US" altLang="zh-CN" sz="1600" b="1" dirty="0"/>
              <a:t> n.</a:t>
            </a:r>
            <a:r>
              <a:rPr lang="zh-CN" altLang="zh-CN" sz="1600" b="1" dirty="0"/>
              <a:t>批评</a:t>
            </a:r>
            <a:r>
              <a:rPr lang="en-US" altLang="zh-CN" sz="1600" b="1" dirty="0"/>
              <a:t>→ </a:t>
            </a:r>
            <a:r>
              <a:rPr lang="en-US" altLang="zh-CN" sz="1600" b="1" u="sng" dirty="0"/>
              <a:t>critic</a:t>
            </a:r>
            <a:r>
              <a:rPr lang="en-US" altLang="zh-CN" sz="1600" b="1" dirty="0"/>
              <a:t> n. </a:t>
            </a:r>
            <a:r>
              <a:rPr lang="zh-CN" altLang="zh-CN" sz="1600" b="1" dirty="0"/>
              <a:t>批评家</a:t>
            </a:r>
          </a:p>
          <a:p>
            <a:r>
              <a:rPr lang="en-US" altLang="zh-CN" sz="1600" b="1" dirty="0"/>
              <a:t>2. extend v. </a:t>
            </a:r>
            <a:r>
              <a:rPr lang="zh-CN" altLang="zh-CN" sz="1600" b="1" dirty="0"/>
              <a:t>延伸延长</a:t>
            </a:r>
            <a:r>
              <a:rPr lang="en-US" altLang="zh-CN" sz="1600" b="1" dirty="0"/>
              <a:t>→ </a:t>
            </a:r>
            <a:r>
              <a:rPr lang="en-US" altLang="zh-CN" sz="1600" b="1" u="sng" dirty="0"/>
              <a:t>extension</a:t>
            </a:r>
            <a:r>
              <a:rPr lang="en-US" altLang="zh-CN" sz="1600" b="1" dirty="0"/>
              <a:t> n. </a:t>
            </a:r>
            <a:r>
              <a:rPr lang="zh-CN" altLang="zh-CN" sz="1600" b="1" dirty="0"/>
              <a:t>扩展延伸</a:t>
            </a:r>
            <a:r>
              <a:rPr lang="en-US" altLang="zh-CN" sz="1600" b="1" dirty="0"/>
              <a:t>→ </a:t>
            </a:r>
            <a:r>
              <a:rPr lang="en-US" altLang="zh-CN" sz="1600" b="1" u="sng" dirty="0"/>
              <a:t>extensive</a:t>
            </a:r>
            <a:r>
              <a:rPr lang="en-US" altLang="zh-CN" sz="1600" b="1" dirty="0"/>
              <a:t> a. </a:t>
            </a:r>
            <a:r>
              <a:rPr lang="zh-CN" altLang="zh-CN" sz="1600" b="1" dirty="0"/>
              <a:t>广泛的</a:t>
            </a:r>
          </a:p>
          <a:p>
            <a:r>
              <a:rPr lang="en-US" altLang="zh-CN" sz="1600" b="1" dirty="0"/>
              <a:t>3. construction n. </a:t>
            </a:r>
            <a:r>
              <a:rPr lang="zh-CN" altLang="zh-CN" sz="1600" b="1" dirty="0"/>
              <a:t>建筑</a:t>
            </a:r>
            <a:r>
              <a:rPr lang="en-US" altLang="zh-CN" sz="1600" b="1" dirty="0"/>
              <a:t>→ </a:t>
            </a:r>
            <a:r>
              <a:rPr lang="en-US" altLang="zh-CN" sz="1600" b="1" u="sng" dirty="0"/>
              <a:t>construct</a:t>
            </a:r>
            <a:r>
              <a:rPr lang="en-US" altLang="zh-CN" sz="1600" b="1" dirty="0"/>
              <a:t> v. </a:t>
            </a:r>
            <a:r>
              <a:rPr lang="zh-CN" altLang="zh-CN" sz="1600" b="1" dirty="0"/>
              <a:t>建造</a:t>
            </a:r>
          </a:p>
          <a:p>
            <a:r>
              <a:rPr lang="en-US" altLang="zh-CN" sz="1600" b="1" dirty="0"/>
              <a:t>4. minor a. </a:t>
            </a:r>
            <a:r>
              <a:rPr lang="zh-CN" altLang="zh-CN" sz="1600" b="1" dirty="0"/>
              <a:t>次要的</a:t>
            </a:r>
            <a:r>
              <a:rPr lang="en-US" altLang="zh-CN" sz="1600" b="1" dirty="0"/>
              <a:t>→ </a:t>
            </a:r>
            <a:r>
              <a:rPr lang="en-US" altLang="zh-CN" sz="1600" b="1" u="sng" dirty="0"/>
              <a:t>minority</a:t>
            </a:r>
            <a:r>
              <a:rPr lang="en-US" altLang="zh-CN" sz="1600" b="1" dirty="0"/>
              <a:t> n. </a:t>
            </a:r>
            <a:r>
              <a:rPr lang="zh-CN" altLang="zh-CN" sz="1600" b="1" dirty="0"/>
              <a:t>少数</a:t>
            </a:r>
            <a:r>
              <a:rPr lang="en-US" altLang="zh-CN" sz="1600" b="1" dirty="0"/>
              <a:t>→ </a:t>
            </a:r>
            <a:r>
              <a:rPr lang="en-US" altLang="zh-CN" sz="1600" b="1" u="sng" dirty="0"/>
              <a:t>major</a:t>
            </a:r>
            <a:r>
              <a:rPr lang="en-US" altLang="zh-CN" sz="1600" b="1" dirty="0"/>
              <a:t> a. </a:t>
            </a:r>
            <a:r>
              <a:rPr lang="zh-CN" altLang="zh-CN" sz="1600" b="1" dirty="0"/>
              <a:t>主要的</a:t>
            </a:r>
            <a:r>
              <a:rPr lang="en-US" altLang="zh-CN" sz="1600" b="1" dirty="0"/>
              <a:t>→ </a:t>
            </a:r>
            <a:r>
              <a:rPr lang="en-US" altLang="zh-CN" sz="1600" b="1" u="sng" dirty="0"/>
              <a:t>majority</a:t>
            </a:r>
            <a:r>
              <a:rPr lang="en-US" altLang="zh-CN" sz="1600" b="1" dirty="0"/>
              <a:t> n. </a:t>
            </a:r>
            <a:r>
              <a:rPr lang="zh-CN" altLang="zh-CN" sz="1600" b="1" dirty="0"/>
              <a:t>大部分</a:t>
            </a:r>
          </a:p>
          <a:p>
            <a:r>
              <a:rPr lang="en-US" altLang="zh-CN" sz="1600" b="1" dirty="0"/>
              <a:t>5. bath n. </a:t>
            </a:r>
            <a:r>
              <a:rPr lang="zh-CN" altLang="zh-CN" sz="1600" b="1" dirty="0"/>
              <a:t>洗澡</a:t>
            </a:r>
            <a:r>
              <a:rPr lang="en-US" altLang="zh-CN" sz="1600" b="1" dirty="0"/>
              <a:t>→ </a:t>
            </a:r>
            <a:r>
              <a:rPr lang="en-US" altLang="zh-CN" sz="1600" b="1" u="sng" dirty="0"/>
              <a:t>bathe</a:t>
            </a:r>
            <a:r>
              <a:rPr lang="en-US" altLang="zh-CN" sz="1600" b="1" dirty="0"/>
              <a:t> v. </a:t>
            </a:r>
            <a:r>
              <a:rPr lang="zh-CN" altLang="zh-CN" sz="1600" b="1" dirty="0"/>
              <a:t>清洗</a:t>
            </a:r>
          </a:p>
          <a:p>
            <a:r>
              <a:rPr lang="en-US" altLang="zh-CN" sz="1600" b="1" dirty="0"/>
              <a:t>6. automatic a. </a:t>
            </a:r>
            <a:r>
              <a:rPr lang="zh-CN" altLang="zh-CN" sz="1600" b="1" dirty="0"/>
              <a:t>自动的不假思索的</a:t>
            </a:r>
            <a:r>
              <a:rPr lang="en-US" altLang="zh-CN" sz="1600" b="1" dirty="0"/>
              <a:t>a. → </a:t>
            </a:r>
            <a:r>
              <a:rPr lang="en-US" altLang="zh-CN" sz="1600" b="1" u="sng" dirty="0"/>
              <a:t>automatically </a:t>
            </a:r>
            <a:r>
              <a:rPr lang="en-US" altLang="zh-CN" sz="1600" b="1" dirty="0"/>
              <a:t>adv. </a:t>
            </a:r>
            <a:r>
              <a:rPr lang="zh-CN" altLang="zh-CN" sz="1600" b="1" dirty="0"/>
              <a:t>无意识地，自动地</a:t>
            </a:r>
          </a:p>
          <a:p>
            <a:r>
              <a:rPr lang="en-US" altLang="zh-CN" sz="1600" b="1" dirty="0"/>
              <a:t>7. investigate v. </a:t>
            </a:r>
            <a:r>
              <a:rPr lang="zh-CN" altLang="zh-CN" sz="1600" b="1" dirty="0"/>
              <a:t>侦查，调查，研究</a:t>
            </a:r>
            <a:r>
              <a:rPr lang="en-US" altLang="zh-CN" sz="1600" b="1" dirty="0"/>
              <a:t>→ </a:t>
            </a:r>
            <a:r>
              <a:rPr lang="en-US" altLang="zh-CN" sz="1600" b="1" u="sng" dirty="0"/>
              <a:t>investigation</a:t>
            </a:r>
            <a:r>
              <a:rPr lang="en-US" altLang="zh-CN" sz="1600" b="1" dirty="0"/>
              <a:t> n. </a:t>
            </a:r>
            <a:r>
              <a:rPr lang="zh-CN" altLang="zh-CN" sz="1600" b="1" dirty="0"/>
              <a:t>调查研究</a:t>
            </a:r>
          </a:p>
          <a:p>
            <a:r>
              <a:rPr lang="en-US" altLang="zh-CN" sz="1600" b="1" dirty="0"/>
              <a:t>8. journalist n. </a:t>
            </a:r>
            <a:r>
              <a:rPr lang="zh-CN" altLang="zh-CN" sz="1600" b="1" dirty="0"/>
              <a:t>新闻记者</a:t>
            </a:r>
            <a:r>
              <a:rPr lang="en-US" altLang="zh-CN" sz="1600" b="1" dirty="0"/>
              <a:t>→ </a:t>
            </a:r>
            <a:r>
              <a:rPr lang="en-US" altLang="zh-CN" sz="1600" b="1" u="sng" dirty="0"/>
              <a:t>journalism</a:t>
            </a:r>
            <a:r>
              <a:rPr lang="en-US" altLang="zh-CN" sz="1600" b="1" dirty="0"/>
              <a:t> n. </a:t>
            </a:r>
            <a:r>
              <a:rPr lang="zh-CN" altLang="zh-CN" sz="1600" b="1" dirty="0"/>
              <a:t>新闻业</a:t>
            </a:r>
          </a:p>
          <a:p>
            <a:r>
              <a:rPr lang="en-US" altLang="zh-CN" sz="1600" b="1" dirty="0"/>
              <a:t>9. priority n. </a:t>
            </a:r>
            <a:r>
              <a:rPr lang="zh-CN" altLang="zh-CN" sz="1600" b="1" dirty="0"/>
              <a:t>优先事项</a:t>
            </a:r>
            <a:r>
              <a:rPr lang="en-US" altLang="zh-CN" sz="1600" b="1" dirty="0"/>
              <a:t>→ </a:t>
            </a:r>
            <a:r>
              <a:rPr lang="en-US" altLang="zh-CN" sz="1600" b="1" u="sng" dirty="0"/>
              <a:t>prior </a:t>
            </a:r>
            <a:r>
              <a:rPr lang="en-US" altLang="zh-CN" sz="1600" b="1" dirty="0"/>
              <a:t>a. </a:t>
            </a:r>
            <a:r>
              <a:rPr lang="zh-CN" altLang="zh-CN" sz="1600" b="1" dirty="0"/>
              <a:t>较早的，优先的</a:t>
            </a:r>
          </a:p>
          <a:p>
            <a:r>
              <a:rPr lang="en-US" altLang="zh-CN" sz="1600" b="1" dirty="0"/>
              <a:t>10. contradict v. </a:t>
            </a:r>
            <a:r>
              <a:rPr lang="zh-CN" altLang="zh-CN" sz="1600" b="1" dirty="0"/>
              <a:t>相矛盾</a:t>
            </a:r>
            <a:r>
              <a:rPr lang="en-US" altLang="zh-CN" sz="1600" b="1" dirty="0"/>
              <a:t>→ </a:t>
            </a:r>
            <a:r>
              <a:rPr lang="en-US" altLang="zh-CN" sz="1600" b="1" u="sng" dirty="0"/>
              <a:t>contradictory</a:t>
            </a:r>
            <a:r>
              <a:rPr lang="en-US" altLang="zh-CN" sz="1600" b="1" dirty="0"/>
              <a:t> a. </a:t>
            </a:r>
            <a:r>
              <a:rPr lang="zh-CN" altLang="zh-CN" sz="1600" b="1" dirty="0"/>
              <a:t>相互矛盾的</a:t>
            </a:r>
            <a:r>
              <a:rPr lang="en-US" altLang="zh-CN" sz="1600" b="1" dirty="0"/>
              <a:t>→ </a:t>
            </a:r>
            <a:r>
              <a:rPr lang="en-US" altLang="zh-CN" sz="1600" b="1" u="sng" dirty="0"/>
              <a:t>contradiction</a:t>
            </a:r>
            <a:r>
              <a:rPr lang="en-US" altLang="zh-CN" sz="1600" b="1" dirty="0"/>
              <a:t> n. </a:t>
            </a:r>
            <a:r>
              <a:rPr lang="zh-CN" altLang="zh-CN" sz="1600" b="1" dirty="0"/>
              <a:t>矛盾</a:t>
            </a:r>
          </a:p>
          <a:p>
            <a:r>
              <a:rPr lang="en-US" altLang="zh-CN" sz="1600" b="1" dirty="0"/>
              <a:t>11. differ vi. </a:t>
            </a:r>
            <a:r>
              <a:rPr lang="zh-CN" altLang="zh-CN" sz="1600" b="1" dirty="0"/>
              <a:t>相异</a:t>
            </a:r>
            <a:endParaRPr lang="en-US" altLang="zh-CN" sz="1600" b="1" dirty="0"/>
          </a:p>
          <a:p>
            <a:r>
              <a:rPr lang="en-US" altLang="zh-CN" sz="1600" b="1" dirty="0"/>
              <a:t>13. minimum n.</a:t>
            </a:r>
            <a:r>
              <a:rPr lang="zh-CN" altLang="zh-CN" sz="1600" b="1" dirty="0"/>
              <a:t>最小值</a:t>
            </a:r>
            <a:r>
              <a:rPr lang="en-US" altLang="zh-CN" sz="1600" b="1" dirty="0"/>
              <a:t>a.→ </a:t>
            </a:r>
            <a:r>
              <a:rPr lang="en-US" altLang="zh-CN" sz="1600" b="1" u="sng" dirty="0"/>
              <a:t>minimize</a:t>
            </a:r>
            <a:r>
              <a:rPr lang="en-US" altLang="zh-CN" sz="1600" b="1" dirty="0"/>
              <a:t> v. </a:t>
            </a:r>
            <a:r>
              <a:rPr lang="zh-CN" altLang="zh-CN" sz="1600" b="1" dirty="0"/>
              <a:t>最小化</a:t>
            </a:r>
            <a:r>
              <a:rPr lang="en-US" altLang="zh-CN" sz="1600" b="1" dirty="0"/>
              <a:t>→ </a:t>
            </a:r>
            <a:r>
              <a:rPr lang="en-US" altLang="zh-CN" sz="1600" b="1" u="sng" dirty="0"/>
              <a:t>maximum</a:t>
            </a:r>
            <a:r>
              <a:rPr lang="en-US" altLang="zh-CN" sz="1600" b="1" dirty="0"/>
              <a:t> n. </a:t>
            </a:r>
            <a:r>
              <a:rPr lang="zh-CN" altLang="zh-CN" sz="1600" b="1" dirty="0"/>
              <a:t>最大量</a:t>
            </a:r>
            <a:r>
              <a:rPr lang="en-US" altLang="zh-CN" sz="1600" b="1" dirty="0"/>
              <a:t>→ </a:t>
            </a:r>
            <a:r>
              <a:rPr lang="en-US" altLang="zh-CN" sz="1600" b="1" u="sng" dirty="0"/>
              <a:t>maximize</a:t>
            </a:r>
            <a:r>
              <a:rPr lang="en-US" altLang="zh-CN" sz="1600" b="1" dirty="0"/>
              <a:t> v. </a:t>
            </a:r>
            <a:r>
              <a:rPr lang="zh-CN" altLang="zh-CN" sz="1600" b="1" dirty="0"/>
              <a:t>最大化</a:t>
            </a:r>
          </a:p>
          <a:p>
            <a:r>
              <a:rPr lang="en-US" altLang="zh-CN" sz="1600" b="1" dirty="0"/>
              <a:t>14. sum </a:t>
            </a:r>
            <a:r>
              <a:rPr lang="en-US" altLang="zh-CN" sz="1600" b="1" dirty="0" err="1"/>
              <a:t>vt.</a:t>
            </a:r>
            <a:r>
              <a:rPr lang="en-US" altLang="zh-CN" sz="1600" b="1" dirty="0"/>
              <a:t> </a:t>
            </a:r>
            <a:r>
              <a:rPr lang="zh-CN" altLang="zh-CN" sz="1600" b="1" dirty="0"/>
              <a:t>总结</a:t>
            </a:r>
            <a:r>
              <a:rPr lang="en-US" altLang="zh-CN" sz="1600" b="1" dirty="0"/>
              <a:t>n. </a:t>
            </a:r>
            <a:r>
              <a:rPr lang="zh-CN" altLang="zh-CN" sz="1600" b="1" dirty="0"/>
              <a:t>金额</a:t>
            </a:r>
            <a:r>
              <a:rPr lang="en-US" altLang="zh-CN" sz="1600" b="1" dirty="0"/>
              <a:t>, </a:t>
            </a:r>
            <a:r>
              <a:rPr lang="zh-CN" altLang="zh-CN" sz="1600" b="1" dirty="0"/>
              <a:t>款项</a:t>
            </a:r>
            <a:r>
              <a:rPr lang="en-US" altLang="zh-CN" sz="1600" b="1" dirty="0"/>
              <a:t>; </a:t>
            </a:r>
            <a:r>
              <a:rPr lang="zh-CN" altLang="zh-CN" sz="1600" b="1" dirty="0"/>
              <a:t>总和</a:t>
            </a:r>
            <a:r>
              <a:rPr lang="en-US" altLang="zh-CN" sz="1600" b="1" dirty="0"/>
              <a:t>, </a:t>
            </a:r>
            <a:r>
              <a:rPr lang="zh-CN" altLang="zh-CN" sz="1600" b="1" dirty="0"/>
              <a:t>总数</a:t>
            </a:r>
            <a:r>
              <a:rPr lang="en-US" altLang="zh-CN" sz="1600" b="1" dirty="0"/>
              <a:t>; </a:t>
            </a:r>
            <a:r>
              <a:rPr lang="zh-CN" altLang="zh-CN" sz="1600" b="1" dirty="0"/>
              <a:t>全部</a:t>
            </a:r>
            <a:r>
              <a:rPr lang="en-US" altLang="zh-CN" sz="1600" b="1" dirty="0"/>
              <a:t>→</a:t>
            </a:r>
            <a:r>
              <a:rPr lang="en-US" altLang="zh-CN" sz="1600" b="1" u="sng" dirty="0"/>
              <a:t> summary</a:t>
            </a:r>
            <a:r>
              <a:rPr lang="en-US" altLang="zh-CN" sz="1600" b="1" dirty="0"/>
              <a:t> n. </a:t>
            </a:r>
            <a:r>
              <a:rPr lang="zh-CN" altLang="zh-CN" sz="1600" b="1" dirty="0"/>
              <a:t>总结</a:t>
            </a:r>
          </a:p>
          <a:p>
            <a:r>
              <a:rPr lang="en-US" altLang="zh-CN" sz="1600" b="1" dirty="0"/>
              <a:t>15. accurate a. </a:t>
            </a:r>
            <a:r>
              <a:rPr lang="zh-CN" altLang="zh-CN" sz="1600" b="1" dirty="0"/>
              <a:t>正确无误的，精确的</a:t>
            </a:r>
            <a:r>
              <a:rPr lang="en-US" altLang="zh-CN" sz="1600" b="1" dirty="0"/>
              <a:t>→</a:t>
            </a:r>
            <a:r>
              <a:rPr lang="en-US" altLang="zh-CN" sz="1600" b="1" u="sng" dirty="0"/>
              <a:t> accurately </a:t>
            </a:r>
            <a:r>
              <a:rPr lang="en-US" altLang="zh-CN" sz="1600" b="1" dirty="0"/>
              <a:t>adv. </a:t>
            </a:r>
            <a:r>
              <a:rPr lang="zh-CN" altLang="zh-CN" sz="1600" b="1" dirty="0"/>
              <a:t>精确地</a:t>
            </a:r>
            <a:r>
              <a:rPr lang="en-US" altLang="zh-CN" sz="1600" b="1" dirty="0"/>
              <a:t>→</a:t>
            </a:r>
            <a:r>
              <a:rPr lang="en-US" altLang="zh-CN" sz="1600" b="1" u="sng" dirty="0"/>
              <a:t> accuracy</a:t>
            </a:r>
            <a:r>
              <a:rPr lang="en-US" altLang="zh-CN" sz="1600" b="1" dirty="0"/>
              <a:t> n.</a:t>
            </a:r>
            <a:r>
              <a:rPr lang="zh-CN" altLang="zh-CN" sz="1600" b="1" dirty="0"/>
              <a:t>准确性</a:t>
            </a:r>
          </a:p>
          <a:p>
            <a:r>
              <a:rPr lang="en-US" altLang="zh-CN" sz="1600" b="1" dirty="0"/>
              <a:t>16. committed a. </a:t>
            </a:r>
            <a:r>
              <a:rPr lang="zh-CN" altLang="zh-CN" sz="1600" b="1" dirty="0"/>
              <a:t>尽心尽力的</a:t>
            </a:r>
            <a:r>
              <a:rPr lang="en-US" altLang="zh-CN" sz="1600" b="1" dirty="0"/>
              <a:t>→ </a:t>
            </a:r>
            <a:r>
              <a:rPr lang="en-US" altLang="zh-CN" sz="1600" b="1" u="sng" dirty="0"/>
              <a:t>commit</a:t>
            </a:r>
            <a:r>
              <a:rPr lang="en-US" altLang="zh-CN" sz="1600" b="1" dirty="0"/>
              <a:t> v. </a:t>
            </a:r>
            <a:r>
              <a:rPr lang="zh-CN" altLang="zh-CN" sz="1600" b="1" dirty="0"/>
              <a:t>犯</a:t>
            </a:r>
            <a:r>
              <a:rPr lang="en-US" altLang="zh-CN" sz="1600" b="1" dirty="0"/>
              <a:t>(</a:t>
            </a:r>
            <a:r>
              <a:rPr lang="zh-CN" altLang="zh-CN" sz="1600" b="1" dirty="0"/>
              <a:t>罪</a:t>
            </a:r>
            <a:r>
              <a:rPr lang="en-US" altLang="zh-CN" sz="1600" b="1" dirty="0"/>
              <a:t>) → </a:t>
            </a:r>
            <a:r>
              <a:rPr lang="en-US" altLang="zh-CN" sz="1600" b="1" u="sng" dirty="0"/>
              <a:t>commitment </a:t>
            </a:r>
            <a:r>
              <a:rPr lang="en-US" altLang="zh-CN" sz="1600" b="1" dirty="0"/>
              <a:t>n. </a:t>
            </a:r>
            <a:r>
              <a:rPr lang="zh-CN" altLang="zh-CN" sz="1600" b="1" dirty="0"/>
              <a:t>献身承诺花费</a:t>
            </a:r>
          </a:p>
          <a:p>
            <a:r>
              <a:rPr lang="en-US" altLang="zh-CN" sz="1600" b="1" dirty="0"/>
              <a:t>17. discrimination n. </a:t>
            </a:r>
            <a:r>
              <a:rPr lang="zh-CN" altLang="zh-CN" sz="1600" b="1" dirty="0"/>
              <a:t>辨别力；歧视</a:t>
            </a:r>
            <a:r>
              <a:rPr lang="en-US" altLang="zh-CN" sz="1600" b="1" dirty="0"/>
              <a:t>→ </a:t>
            </a:r>
            <a:r>
              <a:rPr lang="en-US" altLang="zh-CN" sz="1600" b="1" u="sng" dirty="0"/>
              <a:t>discriminate</a:t>
            </a:r>
            <a:r>
              <a:rPr lang="en-US" altLang="zh-CN" sz="1600" b="1" dirty="0"/>
              <a:t> v. </a:t>
            </a:r>
            <a:r>
              <a:rPr lang="zh-CN" altLang="zh-CN" sz="1600" b="1" dirty="0"/>
              <a:t>辨别力</a:t>
            </a:r>
            <a:r>
              <a:rPr lang="en-US" altLang="zh-CN" sz="1600" b="1" dirty="0"/>
              <a:t>; </a:t>
            </a:r>
            <a:r>
              <a:rPr lang="zh-CN" altLang="zh-CN" sz="1600" b="1" dirty="0"/>
              <a:t>歧视</a:t>
            </a:r>
            <a:r>
              <a:rPr lang="en-US" altLang="zh-CN" sz="1600" b="1" dirty="0"/>
              <a:t>, </a:t>
            </a:r>
            <a:r>
              <a:rPr lang="zh-CN" altLang="zh-CN" sz="1600" b="1" dirty="0"/>
              <a:t>区别对待</a:t>
            </a:r>
          </a:p>
          <a:p>
            <a:r>
              <a:rPr lang="en-US" altLang="zh-CN" sz="1600" b="1" dirty="0"/>
              <a:t>18. curiosity n. </a:t>
            </a:r>
            <a:r>
              <a:rPr lang="zh-CN" altLang="zh-CN" sz="1600" b="1" dirty="0"/>
              <a:t>好奇心</a:t>
            </a:r>
            <a:r>
              <a:rPr lang="en-US" altLang="zh-CN" sz="1600" b="1" dirty="0"/>
              <a:t>→ </a:t>
            </a:r>
            <a:r>
              <a:rPr lang="en-US" altLang="zh-CN" sz="1600" b="1" u="sng" dirty="0"/>
              <a:t>curiosity </a:t>
            </a:r>
            <a:r>
              <a:rPr lang="en-US" altLang="zh-CN" sz="1600" b="1" dirty="0"/>
              <a:t>a. </a:t>
            </a:r>
            <a:r>
              <a:rPr lang="zh-CN" altLang="zh-CN" sz="1600" b="1" dirty="0"/>
              <a:t>好奇的</a:t>
            </a:r>
          </a:p>
          <a:p>
            <a:r>
              <a:rPr lang="en-US" altLang="zh-CN" sz="1600" b="1" dirty="0"/>
              <a:t>19, found v. </a:t>
            </a:r>
            <a:r>
              <a:rPr lang="zh-CN" altLang="zh-CN" sz="1600" b="1" dirty="0"/>
              <a:t>创建</a:t>
            </a:r>
            <a:r>
              <a:rPr lang="en-US" altLang="zh-CN" sz="1600" b="1" dirty="0"/>
              <a:t>→</a:t>
            </a:r>
            <a:r>
              <a:rPr lang="en-US" altLang="zh-CN" sz="1600" b="1" u="sng" dirty="0"/>
              <a:t>founder</a:t>
            </a:r>
            <a:r>
              <a:rPr lang="en-US" altLang="zh-CN" sz="1600" b="1" dirty="0"/>
              <a:t> n.</a:t>
            </a:r>
            <a:r>
              <a:rPr lang="zh-CN" altLang="zh-CN" sz="1600" b="1" dirty="0"/>
              <a:t>创始人 </a:t>
            </a:r>
            <a:r>
              <a:rPr lang="en-US" altLang="zh-CN" sz="1600" b="1" dirty="0"/>
              <a:t>→</a:t>
            </a:r>
            <a:r>
              <a:rPr lang="en-US" altLang="zh-CN" sz="1600" b="1" u="sng" dirty="0"/>
              <a:t>foundation</a:t>
            </a:r>
            <a:r>
              <a:rPr lang="en-US" altLang="zh-CN" sz="1600" b="1" dirty="0"/>
              <a:t> n. </a:t>
            </a:r>
            <a:r>
              <a:rPr lang="zh-CN" altLang="zh-CN" sz="1600" b="1" dirty="0"/>
              <a:t>地基，基础</a:t>
            </a:r>
          </a:p>
          <a:p>
            <a:r>
              <a:rPr lang="en-US" altLang="zh-CN" sz="1600" b="1" dirty="0"/>
              <a:t>20. politics n. </a:t>
            </a:r>
            <a:r>
              <a:rPr lang="zh-CN" altLang="zh-CN" sz="1600" b="1" dirty="0"/>
              <a:t>政治</a:t>
            </a:r>
            <a:r>
              <a:rPr lang="en-US" altLang="zh-CN" sz="1600" b="1" dirty="0"/>
              <a:t>→</a:t>
            </a:r>
            <a:r>
              <a:rPr lang="en-US" altLang="zh-CN" sz="1600" b="1" u="sng" dirty="0"/>
              <a:t>political</a:t>
            </a:r>
            <a:r>
              <a:rPr lang="en-US" altLang="zh-CN" sz="1600" b="1" dirty="0"/>
              <a:t> a. </a:t>
            </a:r>
            <a:r>
              <a:rPr lang="zh-CN" altLang="zh-CN" sz="1600" b="1" dirty="0"/>
              <a:t>政治的</a:t>
            </a:r>
            <a:r>
              <a:rPr lang="en-US" altLang="zh-CN" sz="1600" b="1" dirty="0"/>
              <a:t>→</a:t>
            </a:r>
            <a:r>
              <a:rPr lang="en-US" altLang="zh-CN" sz="1600" b="1" u="sng" dirty="0"/>
              <a:t>politician</a:t>
            </a:r>
            <a:r>
              <a:rPr lang="en-US" altLang="zh-CN" sz="1600" b="1" dirty="0"/>
              <a:t> n. </a:t>
            </a:r>
            <a:r>
              <a:rPr lang="zh-CN" altLang="zh-CN" sz="1600" b="1" dirty="0"/>
              <a:t>政客</a:t>
            </a:r>
            <a:r>
              <a:rPr lang="en-US" altLang="zh-CN" sz="1600" b="1" dirty="0"/>
              <a:t>,</a:t>
            </a:r>
            <a:endParaRPr lang="zh-CN" altLang="zh-CN" sz="1600" b="1" dirty="0"/>
          </a:p>
          <a:p>
            <a:r>
              <a:rPr lang="en-US" altLang="zh-CN" sz="1600" b="1" dirty="0"/>
              <a:t>21. profession n. </a:t>
            </a:r>
            <a:r>
              <a:rPr lang="zh-CN" altLang="zh-CN" sz="1600" b="1" dirty="0"/>
              <a:t>行业</a:t>
            </a:r>
            <a:r>
              <a:rPr lang="en-US" altLang="zh-CN" sz="1600" b="1" dirty="0"/>
              <a:t>, </a:t>
            </a:r>
            <a:r>
              <a:rPr lang="zh-CN" altLang="zh-CN" sz="1600" b="1" dirty="0"/>
              <a:t>职业</a:t>
            </a:r>
            <a:r>
              <a:rPr lang="en-US" altLang="zh-CN" sz="1600" b="1" dirty="0"/>
              <a:t>→</a:t>
            </a:r>
            <a:r>
              <a:rPr lang="en-US" altLang="zh-CN" sz="1600" b="1" u="sng" dirty="0"/>
              <a:t>professional</a:t>
            </a:r>
            <a:r>
              <a:rPr lang="en-US" altLang="zh-CN" sz="1600" b="1" dirty="0"/>
              <a:t> a. </a:t>
            </a:r>
            <a:r>
              <a:rPr lang="zh-CN" altLang="zh-CN" sz="1600" b="1" dirty="0"/>
              <a:t>专业的，职业的</a:t>
            </a:r>
            <a:r>
              <a:rPr lang="en-US" altLang="zh-CN" sz="1600" b="1" dirty="0"/>
              <a:t>n.</a:t>
            </a:r>
            <a:r>
              <a:rPr lang="zh-CN" altLang="zh-CN" sz="1600" b="1" dirty="0"/>
              <a:t>专业人员</a:t>
            </a:r>
          </a:p>
          <a:p>
            <a:r>
              <a:rPr lang="en-US" altLang="zh-CN" sz="1600" b="1" dirty="0"/>
              <a:t>22. drama n. </a:t>
            </a:r>
            <a:r>
              <a:rPr lang="zh-CN" altLang="zh-CN" sz="1600" b="1" dirty="0"/>
              <a:t>戏剧</a:t>
            </a:r>
            <a:r>
              <a:rPr lang="en-US" altLang="zh-CN" sz="1600" b="1" dirty="0"/>
              <a:t>→</a:t>
            </a:r>
            <a:r>
              <a:rPr lang="en-US" altLang="zh-CN" sz="1600" b="1" u="sng" dirty="0"/>
              <a:t>dramatic</a:t>
            </a:r>
            <a:r>
              <a:rPr lang="en-US" altLang="zh-CN" sz="1600" b="1" dirty="0"/>
              <a:t> a. </a:t>
            </a:r>
            <a:r>
              <a:rPr lang="zh-CN" altLang="zh-CN" sz="1600" b="1" dirty="0"/>
              <a:t>戏剧的</a:t>
            </a:r>
            <a:r>
              <a:rPr lang="en-US" altLang="zh-CN" sz="1600" b="1" dirty="0"/>
              <a:t>→</a:t>
            </a:r>
            <a:r>
              <a:rPr lang="en-US" altLang="zh-CN" sz="1600" b="1" u="sng" dirty="0"/>
              <a:t>dramatically</a:t>
            </a:r>
            <a:r>
              <a:rPr lang="en-US" altLang="zh-CN" sz="1600" b="1" dirty="0"/>
              <a:t> adv. </a:t>
            </a:r>
            <a:r>
              <a:rPr lang="zh-CN" altLang="zh-CN" sz="1600" b="1" dirty="0"/>
              <a:t>剧烈地</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lnSpcReduction="10000"/>
          </a:bodyPr>
          <a:lstStyle/>
          <a:p>
            <a:r>
              <a:rPr lang="en-US" altLang="zh-CN" sz="3200" b="1" dirty="0"/>
              <a:t>1. edition n. </a:t>
            </a:r>
            <a:r>
              <a:rPr lang="zh-CN" altLang="zh-CN" sz="3200" b="1" dirty="0"/>
              <a:t>版本</a:t>
            </a:r>
            <a:r>
              <a:rPr lang="en-US" altLang="zh-CN" sz="3200" b="1" dirty="0"/>
              <a:t>→</a:t>
            </a:r>
            <a:r>
              <a:rPr lang="en-US" altLang="zh-CN" sz="3200" b="1" u="sng" dirty="0"/>
              <a:t>edit</a:t>
            </a:r>
            <a:r>
              <a:rPr lang="en-US" altLang="zh-CN" sz="3200" b="1" dirty="0"/>
              <a:t> v. </a:t>
            </a:r>
            <a:r>
              <a:rPr lang="zh-CN" altLang="zh-CN" sz="3200" b="1" dirty="0"/>
              <a:t>编辑</a:t>
            </a:r>
            <a:r>
              <a:rPr lang="en-US" altLang="zh-CN" sz="3200" b="1" dirty="0"/>
              <a:t>→</a:t>
            </a:r>
            <a:r>
              <a:rPr lang="en-US" altLang="zh-CN" sz="3200" b="1" u="sng" dirty="0"/>
              <a:t>editor</a:t>
            </a:r>
            <a:r>
              <a:rPr lang="en-US" altLang="zh-CN" sz="3200" b="1" dirty="0"/>
              <a:t> n.</a:t>
            </a:r>
            <a:r>
              <a:rPr lang="zh-CN" altLang="zh-CN" sz="3200" b="1" dirty="0"/>
              <a:t>编辑</a:t>
            </a:r>
          </a:p>
          <a:p>
            <a:r>
              <a:rPr lang="en-US" altLang="zh-CN" sz="3200" b="1" dirty="0"/>
              <a:t>2. interaction n. </a:t>
            </a:r>
            <a:r>
              <a:rPr lang="zh-CN" altLang="zh-CN" sz="3200" b="1" dirty="0"/>
              <a:t>互动</a:t>
            </a:r>
            <a:r>
              <a:rPr lang="en-US" altLang="zh-CN" sz="3200" b="1" dirty="0"/>
              <a:t>→</a:t>
            </a:r>
            <a:r>
              <a:rPr lang="en-US" altLang="zh-CN" sz="3200" b="1" u="sng" dirty="0"/>
              <a:t>interact</a:t>
            </a:r>
            <a:r>
              <a:rPr lang="en-US" altLang="zh-CN" sz="3200" b="1" dirty="0"/>
              <a:t> v. </a:t>
            </a:r>
            <a:r>
              <a:rPr lang="zh-CN" altLang="zh-CN" sz="3200" b="1" dirty="0"/>
              <a:t>相互作用</a:t>
            </a:r>
            <a:r>
              <a:rPr lang="en-US" altLang="zh-CN" sz="3200" b="1" dirty="0"/>
              <a:t>;</a:t>
            </a:r>
            <a:r>
              <a:rPr lang="zh-CN" altLang="zh-CN" sz="3200" b="1" dirty="0"/>
              <a:t>交流</a:t>
            </a:r>
          </a:p>
          <a:p>
            <a:r>
              <a:rPr lang="en-US" altLang="zh-CN" sz="3200" b="1" dirty="0"/>
              <a:t>3. advertising [u]</a:t>
            </a:r>
            <a:r>
              <a:rPr lang="zh-CN" altLang="zh-CN" sz="3200" b="1" dirty="0"/>
              <a:t>广告业</a:t>
            </a:r>
            <a:r>
              <a:rPr lang="en-US" altLang="zh-CN" sz="3200" b="1" dirty="0"/>
              <a:t>→</a:t>
            </a:r>
            <a:r>
              <a:rPr lang="en-US" altLang="zh-CN" sz="3200" b="1" u="sng" dirty="0"/>
              <a:t>advertisement</a:t>
            </a:r>
            <a:r>
              <a:rPr lang="zh-CN" altLang="zh-CN" sz="3200" b="1" dirty="0"/>
              <a:t>广告</a:t>
            </a:r>
            <a:r>
              <a:rPr lang="en-US" altLang="zh-CN" sz="3200" b="1" dirty="0"/>
              <a:t>→</a:t>
            </a:r>
            <a:r>
              <a:rPr lang="en-US" altLang="zh-CN" sz="3200" b="1" u="sng" dirty="0"/>
              <a:t>advertise</a:t>
            </a:r>
            <a:r>
              <a:rPr lang="en-US" altLang="zh-CN" sz="3200" b="1" dirty="0"/>
              <a:t> v.</a:t>
            </a:r>
            <a:r>
              <a:rPr lang="zh-CN" altLang="zh-CN" sz="3200" b="1" dirty="0"/>
              <a:t>做广告征聘宣传</a:t>
            </a:r>
            <a:r>
              <a:rPr lang="en-US" altLang="zh-CN" sz="3200" b="1" dirty="0"/>
              <a:t>→</a:t>
            </a:r>
            <a:r>
              <a:rPr lang="en-US" altLang="zh-CN" sz="3200" b="1" u="sng" dirty="0"/>
              <a:t>advertiser</a:t>
            </a:r>
            <a:r>
              <a:rPr lang="en-US" altLang="zh-CN" sz="3200" b="1" dirty="0"/>
              <a:t> n. </a:t>
            </a:r>
            <a:r>
              <a:rPr lang="zh-CN" altLang="zh-CN" sz="3200" b="1" dirty="0"/>
              <a:t>广告商</a:t>
            </a:r>
          </a:p>
          <a:p>
            <a:r>
              <a:rPr lang="en-US" altLang="zh-CN" sz="3200" b="1" dirty="0"/>
              <a:t>4. persuade v.</a:t>
            </a:r>
            <a:r>
              <a:rPr lang="zh-CN" altLang="zh-CN" sz="3200" b="1" dirty="0"/>
              <a:t>说服</a:t>
            </a:r>
            <a:r>
              <a:rPr lang="en-US" altLang="zh-CN" sz="3200" b="1" dirty="0"/>
              <a:t>→</a:t>
            </a:r>
            <a:r>
              <a:rPr lang="en-US" altLang="zh-CN" sz="3200" b="1" u="sng" dirty="0"/>
              <a:t>persuasion</a:t>
            </a:r>
            <a:r>
              <a:rPr lang="en-US" altLang="zh-CN" sz="3200" b="1" dirty="0"/>
              <a:t> n.</a:t>
            </a:r>
            <a:r>
              <a:rPr lang="zh-CN" altLang="zh-CN" sz="3200" b="1" dirty="0"/>
              <a:t>说服</a:t>
            </a:r>
            <a:r>
              <a:rPr lang="en-US" altLang="zh-CN" sz="3200" b="1" dirty="0"/>
              <a:t>→</a:t>
            </a:r>
            <a:r>
              <a:rPr lang="en-US" altLang="zh-CN" sz="3200" b="1" u="sng" dirty="0"/>
              <a:t>persuasive</a:t>
            </a:r>
            <a:r>
              <a:rPr lang="en-US" altLang="zh-CN" sz="3200" b="1" dirty="0"/>
              <a:t> a.</a:t>
            </a:r>
            <a:r>
              <a:rPr lang="zh-CN" altLang="zh-CN" sz="3200" b="1" dirty="0"/>
              <a:t>有说服力的 </a:t>
            </a:r>
          </a:p>
          <a:p>
            <a:r>
              <a:rPr lang="en-US" altLang="zh-CN" sz="3200" b="1" dirty="0"/>
              <a:t>5. psychology n. </a:t>
            </a:r>
            <a:r>
              <a:rPr lang="zh-CN" altLang="zh-CN" sz="3200" b="1" dirty="0"/>
              <a:t>心理学</a:t>
            </a:r>
            <a:r>
              <a:rPr lang="en-US" altLang="zh-CN" sz="3200" b="1" dirty="0"/>
              <a:t>→</a:t>
            </a:r>
            <a:r>
              <a:rPr lang="en-US" altLang="zh-CN" sz="3200" b="1" u="sng" dirty="0"/>
              <a:t>psychological</a:t>
            </a:r>
            <a:r>
              <a:rPr lang="en-US" altLang="zh-CN" sz="3200" b="1" dirty="0"/>
              <a:t> a.</a:t>
            </a:r>
            <a:r>
              <a:rPr lang="zh-CN" altLang="zh-CN" sz="3200" b="1" dirty="0"/>
              <a:t>心理学的</a:t>
            </a:r>
            <a:r>
              <a:rPr lang="en-US" altLang="zh-CN" sz="3200" b="1" dirty="0"/>
              <a:t>→</a:t>
            </a:r>
            <a:r>
              <a:rPr lang="en-US" altLang="zh-CN" sz="3200" b="1" u="sng" dirty="0"/>
              <a:t>psychologically</a:t>
            </a:r>
            <a:r>
              <a:rPr lang="en-US" altLang="zh-CN" sz="3200" b="1" dirty="0"/>
              <a:t> adv.</a:t>
            </a:r>
            <a:r>
              <a:rPr lang="zh-CN" altLang="zh-CN" sz="3200" b="1" dirty="0"/>
              <a:t>心理学地</a:t>
            </a:r>
            <a:r>
              <a:rPr lang="en-US" altLang="zh-CN" sz="3200" b="1" dirty="0"/>
              <a:t>→</a:t>
            </a:r>
            <a:r>
              <a:rPr lang="en-US" altLang="zh-CN" sz="3200" b="1" u="sng" dirty="0"/>
              <a:t>psychologist</a:t>
            </a:r>
            <a:r>
              <a:rPr lang="en-US" altLang="zh-CN" sz="3200" b="1" dirty="0"/>
              <a:t> n. </a:t>
            </a:r>
            <a:r>
              <a:rPr lang="zh-CN" altLang="zh-CN" sz="3200" b="1" dirty="0"/>
              <a:t>心理学家 </a:t>
            </a:r>
          </a:p>
          <a:p>
            <a:r>
              <a:rPr lang="en-US" altLang="zh-CN" sz="3200" b="1" dirty="0"/>
              <a:t>6. memorable a. </a:t>
            </a:r>
            <a:r>
              <a:rPr lang="zh-CN" altLang="zh-CN" sz="3200" b="1" dirty="0"/>
              <a:t>难忘的</a:t>
            </a:r>
            <a:r>
              <a:rPr lang="en-US" altLang="zh-CN" sz="3200" b="1" dirty="0"/>
              <a:t>→</a:t>
            </a:r>
            <a:r>
              <a:rPr lang="en-US" altLang="zh-CN" sz="3200" b="1" u="sng" dirty="0"/>
              <a:t>memory</a:t>
            </a:r>
            <a:r>
              <a:rPr lang="en-US" altLang="zh-CN" sz="3200" b="1" dirty="0"/>
              <a:t> n. </a:t>
            </a:r>
            <a:r>
              <a:rPr lang="zh-CN" altLang="zh-CN" sz="3200" b="1" dirty="0"/>
              <a:t>记忆</a:t>
            </a:r>
            <a:r>
              <a:rPr lang="en-US" altLang="zh-CN" sz="3200" b="1" dirty="0"/>
              <a:t>→</a:t>
            </a:r>
            <a:r>
              <a:rPr lang="en-US" altLang="zh-CN" sz="3200" b="1" u="sng" dirty="0"/>
              <a:t>memorize</a:t>
            </a:r>
            <a:r>
              <a:rPr lang="en-US" altLang="zh-CN" sz="3200" b="1" dirty="0"/>
              <a:t> v. </a:t>
            </a:r>
            <a:r>
              <a:rPr lang="zh-CN" altLang="zh-CN" sz="3200" b="1" dirty="0"/>
              <a:t>记住</a:t>
            </a:r>
          </a:p>
          <a:p>
            <a:r>
              <a:rPr lang="en-US" altLang="zh-CN" sz="3200" b="1" dirty="0"/>
              <a:t>7. absorb </a:t>
            </a:r>
            <a:r>
              <a:rPr lang="en-US" altLang="zh-CN" sz="3200" b="1"/>
              <a:t>v.</a:t>
            </a:r>
            <a:r>
              <a:rPr lang="zh-CN" altLang="zh-CN" sz="3200" b="1"/>
              <a:t>理解</a:t>
            </a:r>
            <a:r>
              <a:rPr lang="zh-CN" altLang="zh-CN" sz="3200" b="1" dirty="0"/>
              <a:t>掌握吸收</a:t>
            </a:r>
            <a:r>
              <a:rPr lang="en-US" altLang="zh-CN" sz="3200" b="1" dirty="0"/>
              <a:t>→</a:t>
            </a:r>
            <a:r>
              <a:rPr lang="en-US" altLang="zh-CN" sz="3200" b="1" u="sng" dirty="0"/>
              <a:t>absorption</a:t>
            </a:r>
            <a:r>
              <a:rPr lang="en-US" altLang="zh-CN" sz="3200" b="1" dirty="0"/>
              <a:t> n. </a:t>
            </a:r>
            <a:r>
              <a:rPr lang="zh-CN" altLang="zh-CN" sz="3200" b="1" dirty="0"/>
              <a:t>吸收</a:t>
            </a:r>
          </a:p>
          <a:p>
            <a:r>
              <a:rPr lang="en-US" altLang="zh-CN" sz="3200" b="1" dirty="0"/>
              <a:t>8. amuse v.</a:t>
            </a:r>
            <a:r>
              <a:rPr lang="zh-CN" altLang="zh-CN" sz="3200" b="1" dirty="0"/>
              <a:t>提供消遣逗笑</a:t>
            </a:r>
            <a:r>
              <a:rPr lang="en-US" altLang="zh-CN" sz="3200" b="1" dirty="0"/>
              <a:t>→</a:t>
            </a:r>
            <a:r>
              <a:rPr lang="en-US" altLang="zh-CN" sz="3200" b="1" u="sng" dirty="0"/>
              <a:t>amusing</a:t>
            </a:r>
            <a:r>
              <a:rPr lang="en-US" altLang="zh-CN" sz="3200" b="1" dirty="0"/>
              <a:t> a.</a:t>
            </a:r>
            <a:r>
              <a:rPr lang="zh-CN" altLang="zh-CN" sz="3200" b="1" dirty="0"/>
              <a:t>好笑的</a:t>
            </a:r>
            <a:r>
              <a:rPr lang="en-US" altLang="zh-CN" sz="3200" b="1" dirty="0"/>
              <a:t>→</a:t>
            </a:r>
            <a:r>
              <a:rPr lang="en-US" altLang="zh-CN" sz="3200" b="1" u="sng" dirty="0"/>
              <a:t>amused</a:t>
            </a:r>
            <a:r>
              <a:rPr lang="en-US" altLang="zh-CN" sz="3200" b="1" dirty="0"/>
              <a:t> a.</a:t>
            </a:r>
            <a:r>
              <a:rPr lang="zh-CN" altLang="zh-CN" sz="3200" b="1" dirty="0"/>
              <a:t>逗乐的</a:t>
            </a:r>
            <a:r>
              <a:rPr lang="en-US" altLang="zh-CN" sz="3200" b="1" dirty="0"/>
              <a:t>→</a:t>
            </a:r>
            <a:r>
              <a:rPr lang="en-US" altLang="zh-CN" sz="3200" b="1" u="sng" dirty="0"/>
              <a:t>amusement </a:t>
            </a:r>
            <a:r>
              <a:rPr lang="en-US" altLang="zh-CN" sz="3200" b="1" dirty="0"/>
              <a:t>n.</a:t>
            </a:r>
            <a:r>
              <a:rPr lang="zh-CN" altLang="zh-CN" sz="3200" b="1" dirty="0"/>
              <a:t>愉悦娱乐</a:t>
            </a:r>
            <a:endParaRPr lang="en-US" altLang="zh-CN" sz="3200" b="1" dirty="0"/>
          </a:p>
          <a:p>
            <a:r>
              <a:rPr lang="en-US" altLang="zh-CN" sz="3200" b="1" dirty="0"/>
              <a:t>trap (</a:t>
            </a:r>
            <a:r>
              <a:rPr lang="en-US" altLang="zh-CN" sz="3200" b="1" u="sng" dirty="0"/>
              <a:t>tra</a:t>
            </a:r>
            <a:r>
              <a:rPr lang="en-US" altLang="zh-CN" sz="3200" b="1" u="sng" dirty="0">
                <a:solidFill>
                  <a:srgbClr val="FF0000"/>
                </a:solidFill>
                <a:highlight>
                  <a:srgbClr val="FFFF00"/>
                </a:highlight>
              </a:rPr>
              <a:t>pp</a:t>
            </a:r>
            <a:r>
              <a:rPr lang="en-US" altLang="zh-CN" sz="3200" b="1" u="sng" dirty="0"/>
              <a:t>ed*2);</a:t>
            </a:r>
            <a:r>
              <a:rPr lang="en-US" altLang="zh-CN" sz="3200" b="1" dirty="0"/>
              <a:t> commit (</a:t>
            </a:r>
            <a:r>
              <a:rPr lang="en-US" altLang="zh-CN" sz="3200" b="1" u="sng" dirty="0"/>
              <a:t>commi</a:t>
            </a:r>
            <a:r>
              <a:rPr lang="en-US" altLang="zh-CN" sz="3200" b="1" u="sng" dirty="0">
                <a:solidFill>
                  <a:srgbClr val="FF0000"/>
                </a:solidFill>
                <a:highlight>
                  <a:srgbClr val="FFFF00"/>
                </a:highlight>
              </a:rPr>
              <a:t>tt</a:t>
            </a:r>
            <a:r>
              <a:rPr lang="en-US" altLang="zh-CN" sz="3200" b="1" u="sng" dirty="0"/>
              <a:t>ed*2);</a:t>
            </a:r>
            <a:r>
              <a:rPr lang="en-US" altLang="zh-CN" sz="3200" b="1" dirty="0"/>
              <a:t> found (</a:t>
            </a:r>
            <a:r>
              <a:rPr lang="en-US" altLang="zh-CN" sz="3200" b="1" u="sng" dirty="0"/>
              <a:t>found</a:t>
            </a:r>
            <a:r>
              <a:rPr lang="en-US" altLang="zh-CN" sz="3200" b="1" u="sng" dirty="0">
                <a:solidFill>
                  <a:srgbClr val="FF0000"/>
                </a:solidFill>
                <a:highlight>
                  <a:srgbClr val="FFFF00"/>
                </a:highlight>
              </a:rPr>
              <a:t>ed</a:t>
            </a:r>
            <a:r>
              <a:rPr lang="en-US" altLang="zh-CN" sz="3200" b="1" u="sng" dirty="0"/>
              <a:t>*2)</a:t>
            </a:r>
          </a:p>
          <a:p>
            <a:r>
              <a:rPr lang="en-US" altLang="zh-CN" sz="3200" b="1" dirty="0" err="1"/>
              <a:t>spring→sprang→sprung</a:t>
            </a:r>
            <a:r>
              <a:rPr lang="en-US" altLang="zh-CN" sz="3200" b="1" dirty="0"/>
              <a:t>;      broadcast*3</a:t>
            </a:r>
            <a:endParaRPr lang="zh-CN" altLang="en-US" sz="4000" b="1" dirty="0">
              <a:solidFill>
                <a:srgbClr val="FF00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r>
              <a:rPr lang="en-US" altLang="zh-CN" sz="3200" b="1" dirty="0">
                <a:solidFill>
                  <a:srgbClr val="FF0000"/>
                </a:solidFill>
                <a:latin typeface="Times New Roman" panose="02020603050405020304" pitchFamily="18" charset="0"/>
                <a:cs typeface="Times New Roman" panose="02020603050405020304" pitchFamily="18" charset="0"/>
              </a:rPr>
              <a:t>OB2U1 1.</a:t>
            </a:r>
            <a:r>
              <a:rPr lang="zh-CN" altLang="en-US" sz="3200" b="1" dirty="0">
                <a:solidFill>
                  <a:srgbClr val="FF0000"/>
                </a:solidFill>
                <a:latin typeface="Times New Roman" panose="02020603050405020304" pitchFamily="18" charset="0"/>
                <a:ea typeface="楷体" panose="02010609060101010101" charset="-122"/>
                <a:cs typeface="Times New Roman" panose="02020603050405020304" pitchFamily="18" charset="0"/>
              </a:rPr>
              <a:t>老年人</a:t>
            </a:r>
            <a:r>
              <a:rPr lang="en-US" altLang="zh-CN" sz="3200" b="1" dirty="0">
                <a:latin typeface="Times New Roman" panose="02020603050405020304" pitchFamily="18" charset="0"/>
                <a:cs typeface="Times New Roman" panose="02020603050405020304" pitchFamily="18" charset="0"/>
              </a:rPr>
              <a:t>2. </a:t>
            </a:r>
            <a:r>
              <a:rPr lang="zh-CN" altLang="en-US" sz="32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建立在...基础上</a:t>
            </a:r>
            <a:r>
              <a:rPr lang="en-US" altLang="zh-CN" sz="32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t>
            </a:r>
            <a:r>
              <a:rPr lang="zh-CN" altLang="en-US" sz="3200" b="1" dirty="0">
                <a:solidFill>
                  <a:srgbClr val="FF0000"/>
                </a:solidFill>
                <a:latin typeface="Times New Roman" panose="02020603050405020304" pitchFamily="18" charset="0"/>
                <a:cs typeface="Times New Roman" panose="02020603050405020304" pitchFamily="18" charset="0"/>
                <a:sym typeface="+mn-ea"/>
              </a:rPr>
              <a:t>为某事打下基础</a:t>
            </a:r>
            <a:r>
              <a:rPr lang="en-US" altLang="zh-CN" sz="3200" b="1" dirty="0">
                <a:solidFill>
                  <a:srgbClr val="FF0000"/>
                </a:solidFill>
                <a:latin typeface="Times New Roman" panose="02020603050405020304" pitchFamily="18" charset="0"/>
                <a:cs typeface="Times New Roman" panose="02020603050405020304" pitchFamily="18" charset="0"/>
                <a:sym typeface="+mn-ea"/>
              </a:rPr>
              <a:t>(__,__);</a:t>
            </a:r>
            <a:r>
              <a:rPr lang="zh-CN" altLang="en-US" sz="32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无事实根据</a:t>
            </a:r>
            <a:r>
              <a:rPr lang="en-US" altLang="zh-CN" sz="3200" b="1" dirty="0">
                <a:solidFill>
                  <a:srgbClr val="FF0000"/>
                </a:solidFill>
                <a:latin typeface="Times New Roman" panose="02020603050405020304" pitchFamily="18" charset="0"/>
                <a:cs typeface="Times New Roman" panose="02020603050405020304" pitchFamily="18" charset="0"/>
                <a:sym typeface="+mn-ea"/>
              </a:rPr>
              <a:t>;</a:t>
            </a:r>
            <a:r>
              <a:rPr lang="zh-CN" altLang="en-US" sz="3200" b="1" dirty="0">
                <a:latin typeface="Times New Roman" panose="02020603050405020304" pitchFamily="18" charset="0"/>
                <a:ea typeface="楷体" panose="02010609060101010101" charset="-122"/>
                <a:cs typeface="Times New Roman" panose="02020603050405020304" pitchFamily="18" charset="0"/>
                <a:sym typeface="+mn-ea"/>
              </a:rPr>
              <a:t>发起人</a:t>
            </a:r>
            <a:r>
              <a:rPr lang="en-US" altLang="zh-CN" sz="3200" b="1" dirty="0">
                <a:latin typeface="Times New Roman" panose="02020603050405020304" pitchFamily="18" charset="0"/>
                <a:ea typeface="楷体" panose="02010609060101010101" charset="-122"/>
                <a:cs typeface="Times New Roman" panose="02020603050405020304" pitchFamily="18" charset="0"/>
                <a:sym typeface="+mn-ea"/>
              </a:rPr>
              <a:t>;</a:t>
            </a:r>
            <a:r>
              <a:rPr lang="zh-CN" altLang="en-US" sz="3200" b="1" dirty="0">
                <a:solidFill>
                  <a:srgbClr val="FF0000"/>
                </a:solidFill>
                <a:latin typeface="Times New Roman" panose="02020603050405020304" pitchFamily="18" charset="0"/>
                <a:ea typeface="楷体" panose="02010609060101010101" charset="-122"/>
                <a:cs typeface="Times New Roman" panose="02020603050405020304" pitchFamily="18" charset="0"/>
              </a:rPr>
              <a:t>奠基人 </a:t>
            </a:r>
            <a:r>
              <a:rPr lang="en-US" altLang="zh-CN" sz="3200" b="1" dirty="0">
                <a:solidFill>
                  <a:srgbClr val="FF0000"/>
                </a:solidFill>
                <a:latin typeface="Times New Roman" panose="02020603050405020304" pitchFamily="18" charset="0"/>
                <a:ea typeface="楷体" panose="02010609060101010101" charset="-122"/>
                <a:cs typeface="Times New Roman" panose="02020603050405020304" pitchFamily="18" charset="0"/>
              </a:rPr>
              <a:t>3.</a:t>
            </a:r>
            <a:r>
              <a:rPr lang="zh-CN" altLang="en-US" sz="3200" b="1" dirty="0">
                <a:latin typeface="Times New Roman" panose="02020603050405020304" pitchFamily="18" charset="0"/>
                <a:ea typeface="楷体" panose="02010609060101010101" charset="-122"/>
                <a:cs typeface="Times New Roman" panose="02020603050405020304" pitchFamily="18" charset="0"/>
                <a:sym typeface="+mn-ea"/>
              </a:rPr>
              <a:t>政治</a:t>
            </a:r>
            <a:r>
              <a:rPr lang="en-US" altLang="zh-CN" sz="3200" b="1" dirty="0">
                <a:latin typeface="Times New Roman" panose="02020603050405020304" pitchFamily="18" charset="0"/>
                <a:ea typeface="楷体" panose="02010609060101010101" charset="-122"/>
                <a:cs typeface="Times New Roman" panose="02020603050405020304" pitchFamily="18" charset="0"/>
                <a:sym typeface="+mn-ea"/>
              </a:rPr>
              <a:t>;</a:t>
            </a:r>
            <a:r>
              <a:rPr lang="zh-CN" altLang="en-US" sz="3200" b="1" dirty="0">
                <a:latin typeface="Times New Roman" panose="02020603050405020304" pitchFamily="18" charset="0"/>
                <a:ea typeface="楷体" panose="02010609060101010101" charset="-122"/>
                <a:cs typeface="Times New Roman" panose="02020603050405020304" pitchFamily="18" charset="0"/>
                <a:sym typeface="+mn-ea"/>
              </a:rPr>
              <a:t>政治的</a:t>
            </a:r>
            <a:r>
              <a:rPr lang="en-US" altLang="zh-CN" sz="3200" b="1" dirty="0">
                <a:latin typeface="Times New Roman" panose="02020603050405020304" pitchFamily="18" charset="0"/>
                <a:ea typeface="楷体" panose="02010609060101010101" charset="-122"/>
                <a:cs typeface="Times New Roman" panose="02020603050405020304" pitchFamily="18" charset="0"/>
                <a:sym typeface="+mn-ea"/>
              </a:rPr>
              <a:t>;</a:t>
            </a:r>
            <a:r>
              <a:rPr lang="zh-CN" altLang="en-US" sz="3200" b="1" dirty="0">
                <a:latin typeface="Times New Roman" panose="02020603050405020304" pitchFamily="18" charset="0"/>
                <a:ea typeface="楷体" panose="02010609060101010101" charset="-122"/>
                <a:cs typeface="Times New Roman" panose="02020603050405020304" pitchFamily="18" charset="0"/>
                <a:sym typeface="+mn-ea"/>
              </a:rPr>
              <a:t>政客</a:t>
            </a:r>
            <a:r>
              <a:rPr lang="en-US" altLang="zh-CN" sz="3200" b="1" dirty="0">
                <a:latin typeface="Times New Roman" panose="02020603050405020304" pitchFamily="18" charset="0"/>
                <a:ea typeface="楷体" panose="02010609060101010101" charset="-122"/>
                <a:cs typeface="Times New Roman" panose="02020603050405020304" pitchFamily="18" charset="0"/>
                <a:sym typeface="+mn-ea"/>
              </a:rPr>
              <a:t>;</a:t>
            </a:r>
            <a:r>
              <a:rPr lang="zh-CN" altLang="en-US" sz="3200" b="1" dirty="0">
                <a:latin typeface="Times New Roman" panose="02020603050405020304" pitchFamily="18" charset="0"/>
                <a:ea typeface="楷体" panose="02010609060101010101" charset="-122"/>
                <a:cs typeface="Times New Roman" panose="02020603050405020304" pitchFamily="18" charset="0"/>
                <a:sym typeface="+mn-ea"/>
              </a:rPr>
              <a:t>政策</a:t>
            </a:r>
            <a:r>
              <a:rPr lang="en-US" altLang="zh-CN" sz="3200" b="1" dirty="0">
                <a:latin typeface="Times New Roman" panose="02020603050405020304" pitchFamily="18" charset="0"/>
                <a:ea typeface="楷体" panose="02010609060101010101" charset="-122"/>
                <a:cs typeface="Times New Roman" panose="02020603050405020304" pitchFamily="18" charset="0"/>
                <a:sym typeface="+mn-ea"/>
              </a:rPr>
              <a:t>4.</a:t>
            </a:r>
            <a:r>
              <a:rPr lang="zh-CN" altLang="en-US" sz="3200" b="1" dirty="0">
                <a:solidFill>
                  <a:srgbClr val="FF0000"/>
                </a:solidFill>
                <a:latin typeface="Times New Roman" panose="02020603050405020304" pitchFamily="18" charset="0"/>
                <a:cs typeface="Times New Roman" panose="02020603050405020304" pitchFamily="18" charset="0"/>
                <a:sym typeface="+mn-ea"/>
              </a:rPr>
              <a:t>因某事控诉某人</a:t>
            </a:r>
            <a:r>
              <a:rPr lang="en-US" altLang="zh-CN" sz="3200" b="1" dirty="0">
                <a:solidFill>
                  <a:srgbClr val="FF0000"/>
                </a:solidFill>
                <a:latin typeface="Times New Roman" panose="02020603050405020304" pitchFamily="18" charset="0"/>
                <a:cs typeface="Times New Roman" panose="02020603050405020304" pitchFamily="18" charset="0"/>
                <a:sym typeface="+mn-ea"/>
              </a:rPr>
              <a:t>;</a:t>
            </a:r>
            <a:r>
              <a:rPr lang="zh-CN" altLang="en-US" sz="32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被告</a:t>
            </a:r>
            <a:r>
              <a:rPr lang="en-US" altLang="zh-CN" sz="32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t>
            </a:r>
            <a:r>
              <a:rPr lang="zh-CN" altLang="en-US" sz="3200" b="1" dirty="0">
                <a:solidFill>
                  <a:srgbClr val="FF0000"/>
                </a:solidFill>
                <a:latin typeface="Times New Roman" panose="02020603050405020304" pitchFamily="18" charset="0"/>
                <a:ea typeface="楷体" panose="02010609060101010101" charset="-122"/>
                <a:cs typeface="Times New Roman" panose="02020603050405020304" pitchFamily="18" charset="0"/>
              </a:rPr>
              <a:t>指控</a:t>
            </a:r>
            <a:endParaRPr lang="en-US" altLang="zh-CN" sz="3200" b="1" dirty="0">
              <a:solidFill>
                <a:srgbClr val="FF0000"/>
              </a:solidFill>
              <a:latin typeface="Times New Roman" panose="02020603050405020304" pitchFamily="18" charset="0"/>
              <a:ea typeface="楷体" panose="02010609060101010101" charset="-122"/>
              <a:cs typeface="Times New Roman" panose="02020603050405020304" pitchFamily="18" charset="0"/>
            </a:endParaRPr>
          </a:p>
          <a:p>
            <a:r>
              <a:rPr lang="en-US" altLang="zh-CN" sz="3200" b="1" dirty="0">
                <a:solidFill>
                  <a:srgbClr val="FF0000"/>
                </a:solidFill>
                <a:latin typeface="Times New Roman" panose="02020603050405020304" pitchFamily="18" charset="0"/>
                <a:ea typeface="楷体" panose="02010609060101010101" charset="-122"/>
                <a:cs typeface="Times New Roman" panose="02020603050405020304" pitchFamily="18" charset="0"/>
              </a:rPr>
              <a:t>5.</a:t>
            </a:r>
            <a:r>
              <a:rPr lang="zh-CN" altLang="en-US" sz="3200" b="1" dirty="0">
                <a:solidFill>
                  <a:srgbClr val="FF0000"/>
                </a:solidFill>
                <a:latin typeface="Times New Roman" panose="02020603050405020304" pitchFamily="18" charset="0"/>
                <a:cs typeface="Times New Roman" panose="02020603050405020304" pitchFamily="18" charset="0"/>
              </a:rPr>
              <a:t>为某物向某人缴税</a:t>
            </a:r>
            <a:r>
              <a:rPr lang="en-US" altLang="zh-CN" sz="3200" b="1" dirty="0">
                <a:solidFill>
                  <a:srgbClr val="FF0000"/>
                </a:solidFill>
                <a:latin typeface="Times New Roman" panose="02020603050405020304" pitchFamily="18" charset="0"/>
                <a:cs typeface="Times New Roman" panose="02020603050405020304" pitchFamily="18" charset="0"/>
              </a:rPr>
              <a:t>6.</a:t>
            </a:r>
            <a:r>
              <a:rPr lang="en-US" altLang="zh-CN" sz="32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登上讲台;开展运动</a:t>
            </a:r>
            <a:r>
              <a:rPr lang="en-US" altLang="zh-CN" sz="3200" b="1" dirty="0">
                <a:latin typeface="Times New Roman" panose="02020603050405020304" pitchFamily="18" charset="0"/>
                <a:cs typeface="Times New Roman" panose="02020603050405020304" pitchFamily="18" charset="0"/>
                <a:sym typeface="+mn-ea"/>
              </a:rPr>
              <a:t>;</a:t>
            </a:r>
            <a:r>
              <a:rPr lang="zh-CN" altLang="en-US" sz="3200" b="1" dirty="0">
                <a:latin typeface="Times New Roman" panose="02020603050405020304" pitchFamily="18" charset="0"/>
                <a:cs typeface="Times New Roman" panose="02020603050405020304" pitchFamily="18" charset="0"/>
                <a:sym typeface="+mn-ea"/>
              </a:rPr>
              <a:t>增多 </a:t>
            </a:r>
            <a:r>
              <a:rPr lang="en-US" altLang="zh-CN" sz="3200" b="1" dirty="0">
                <a:latin typeface="Times New Roman" panose="02020603050405020304" pitchFamily="18" charset="0"/>
                <a:cs typeface="Times New Roman" panose="02020603050405020304" pitchFamily="18" charset="0"/>
                <a:sym typeface="+mn-ea"/>
              </a:rPr>
              <a:t>7.</a:t>
            </a:r>
            <a:r>
              <a:rPr lang="en-US" altLang="zh-CN" sz="3200" b="1" dirty="0">
                <a:solidFill>
                  <a:srgbClr val="FF0000"/>
                </a:solidFill>
                <a:latin typeface="Times New Roman" panose="02020603050405020304" pitchFamily="18" charset="0"/>
                <a:cs typeface="Times New Roman" panose="02020603050405020304" pitchFamily="18" charset="0"/>
                <a:sym typeface="+mn-ea"/>
              </a:rPr>
              <a:t>n.</a:t>
            </a:r>
            <a:r>
              <a:rPr lang="zh-CN" altLang="en-US" sz="3200" b="1" dirty="0">
                <a:solidFill>
                  <a:srgbClr val="FF0000"/>
                </a:solidFill>
                <a:latin typeface="Times New Roman" panose="02020603050405020304" pitchFamily="18" charset="0"/>
                <a:cs typeface="Times New Roman" panose="02020603050405020304" pitchFamily="18" charset="0"/>
                <a:sym typeface="+mn-ea"/>
              </a:rPr>
              <a:t>海拔</a:t>
            </a:r>
            <a:r>
              <a:rPr lang="en-US" altLang="zh-CN" sz="3200" b="1" dirty="0">
                <a:solidFill>
                  <a:srgbClr val="FF0000"/>
                </a:solidFill>
                <a:latin typeface="Times New Roman" panose="02020603050405020304" pitchFamily="18" charset="0"/>
                <a:cs typeface="Times New Roman" panose="02020603050405020304" pitchFamily="18" charset="0"/>
                <a:sym typeface="+mn-ea"/>
              </a:rPr>
              <a:t>;v.</a:t>
            </a:r>
            <a:r>
              <a:rPr lang="zh-CN" altLang="en-US" sz="3200" b="1" dirty="0">
                <a:solidFill>
                  <a:srgbClr val="FF0000"/>
                </a:solidFill>
                <a:latin typeface="Times New Roman" panose="02020603050405020304" pitchFamily="18" charset="0"/>
                <a:cs typeface="Times New Roman" panose="02020603050405020304" pitchFamily="18" charset="0"/>
                <a:sym typeface="+mn-ea"/>
              </a:rPr>
              <a:t>提高</a:t>
            </a:r>
            <a:r>
              <a:rPr lang="en-US" altLang="zh-CN" sz="3200" b="1" dirty="0">
                <a:solidFill>
                  <a:srgbClr val="FF0000"/>
                </a:solidFill>
                <a:latin typeface="Times New Roman" panose="02020603050405020304" pitchFamily="18" charset="0"/>
                <a:cs typeface="Times New Roman" panose="02020603050405020304" pitchFamily="18" charset="0"/>
                <a:sym typeface="+mn-ea"/>
              </a:rPr>
              <a:t>/</a:t>
            </a:r>
            <a:r>
              <a:rPr lang="zh-CN" altLang="en-US" sz="3200" b="1" dirty="0">
                <a:solidFill>
                  <a:srgbClr val="FF0000"/>
                </a:solidFill>
                <a:latin typeface="Times New Roman" panose="02020603050405020304" pitchFamily="18" charset="0"/>
                <a:cs typeface="Times New Roman" panose="02020603050405020304" pitchFamily="18" charset="0"/>
                <a:sym typeface="+mn-ea"/>
              </a:rPr>
              <a:t>升</a:t>
            </a:r>
            <a:r>
              <a:rPr lang="en-US" altLang="zh-CN" sz="3200" b="1" dirty="0">
                <a:solidFill>
                  <a:srgbClr val="FF0000"/>
                </a:solidFill>
                <a:latin typeface="Times New Roman" panose="02020603050405020304" pitchFamily="18" charset="0"/>
                <a:cs typeface="Times New Roman" panose="02020603050405020304" pitchFamily="18" charset="0"/>
                <a:sym typeface="+mn-ea"/>
              </a:rPr>
              <a:t>;</a:t>
            </a:r>
            <a:r>
              <a:rPr lang="zh-CN" altLang="en-US" sz="3200" b="1" dirty="0">
                <a:latin typeface="Times New Roman" panose="02020603050405020304" pitchFamily="18" charset="0"/>
                <a:cs typeface="Times New Roman" panose="02020603050405020304" pitchFamily="18" charset="0"/>
                <a:sym typeface="+mn-ea"/>
              </a:rPr>
              <a:t>电梯 </a:t>
            </a:r>
            <a:r>
              <a:rPr lang="en-US" altLang="zh-CN" sz="3200" b="1" dirty="0">
                <a:latin typeface="Times New Roman" panose="02020603050405020304" pitchFamily="18" charset="0"/>
                <a:cs typeface="Times New Roman" panose="02020603050405020304" pitchFamily="18" charset="0"/>
                <a:sym typeface="+mn-ea"/>
              </a:rPr>
              <a:t>8.</a:t>
            </a:r>
            <a:r>
              <a:rPr lang="zh-CN" altLang="en-US" sz="3200" b="1" dirty="0">
                <a:solidFill>
                  <a:srgbClr val="FF0000"/>
                </a:solidFill>
                <a:latin typeface="Times New Roman" panose="02020603050405020304" pitchFamily="18" charset="0"/>
                <a:cs typeface="Times New Roman" panose="02020603050405020304" pitchFamily="18" charset="0"/>
                <a:sym typeface="+mn-ea"/>
              </a:rPr>
              <a:t>职业</a:t>
            </a:r>
            <a:r>
              <a:rPr lang="en-US" altLang="zh-CN" sz="3200" b="1" dirty="0">
                <a:solidFill>
                  <a:srgbClr val="FF0000"/>
                </a:solidFill>
                <a:latin typeface="Times New Roman" panose="02020603050405020304" pitchFamily="18" charset="0"/>
                <a:cs typeface="Times New Roman" panose="02020603050405020304" pitchFamily="18" charset="0"/>
                <a:sym typeface="+mn-ea"/>
              </a:rPr>
              <a:t>;adj</a:t>
            </a:r>
            <a:r>
              <a:rPr lang="en-US" altLang="zh-CN" sz="3200" b="1" dirty="0">
                <a:latin typeface="Times New Roman" panose="02020603050405020304" pitchFamily="18" charset="0"/>
                <a:cs typeface="Times New Roman" panose="02020603050405020304" pitchFamily="18" charset="0"/>
                <a:sym typeface="+mn-ea"/>
              </a:rPr>
              <a:t>.</a:t>
            </a:r>
            <a:r>
              <a:rPr lang="zh-CN" altLang="en-US" sz="3200" b="1" dirty="0">
                <a:latin typeface="Times New Roman" panose="02020603050405020304" pitchFamily="18" charset="0"/>
                <a:cs typeface="Times New Roman" panose="02020603050405020304" pitchFamily="18" charset="0"/>
                <a:sym typeface="+mn-ea"/>
              </a:rPr>
              <a:t>职业的</a:t>
            </a:r>
            <a:r>
              <a:rPr lang="en-US" altLang="zh-CN" sz="3200" b="1" dirty="0">
                <a:solidFill>
                  <a:srgbClr val="FF0000"/>
                </a:solidFill>
                <a:latin typeface="Times New Roman" panose="02020603050405020304" pitchFamily="18" charset="0"/>
                <a:cs typeface="Times New Roman" panose="02020603050405020304" pitchFamily="18" charset="0"/>
                <a:sym typeface="+mn-ea"/>
              </a:rPr>
              <a:t>;</a:t>
            </a:r>
            <a:r>
              <a:rPr lang="zh-CN" altLang="en-US" sz="3200" b="1" dirty="0">
                <a:solidFill>
                  <a:srgbClr val="FF0000"/>
                </a:solidFill>
                <a:latin typeface="Times New Roman" panose="02020603050405020304" pitchFamily="18" charset="0"/>
                <a:cs typeface="Times New Roman" panose="02020603050405020304" pitchFamily="18" charset="0"/>
                <a:sym typeface="+mn-ea"/>
              </a:rPr>
              <a:t>业内人士</a:t>
            </a:r>
            <a:r>
              <a:rPr lang="en-US" altLang="zh-CN" sz="3200" b="1" dirty="0">
                <a:solidFill>
                  <a:srgbClr val="FF0000"/>
                </a:solidFill>
                <a:latin typeface="Times New Roman" panose="02020603050405020304" pitchFamily="18" charset="0"/>
                <a:ea typeface="楷体" panose="02010609060101010101" charset="-122"/>
                <a:cs typeface="Times New Roman" panose="02020603050405020304" pitchFamily="18" charset="0"/>
              </a:rPr>
              <a:t>;</a:t>
            </a:r>
            <a:r>
              <a:rPr lang="zh-CN" altLang="en-US" sz="3200" b="1" dirty="0">
                <a:solidFill>
                  <a:srgbClr val="FF0000"/>
                </a:solidFill>
                <a:latin typeface="Times New Roman" panose="02020603050405020304" pitchFamily="18" charset="0"/>
                <a:cs typeface="Times New Roman" panose="02020603050405020304" pitchFamily="18" charset="0"/>
                <a:sym typeface="+mn-ea"/>
              </a:rPr>
              <a:t>业余的</a:t>
            </a:r>
            <a:r>
              <a:rPr lang="en-US" altLang="zh-CN" sz="3200" b="1" dirty="0">
                <a:solidFill>
                  <a:srgbClr val="FF0000"/>
                </a:solidFill>
                <a:latin typeface="Times New Roman" panose="02020603050405020304" pitchFamily="18" charset="0"/>
                <a:cs typeface="Times New Roman" panose="02020603050405020304" pitchFamily="18" charset="0"/>
                <a:sym typeface="+mn-ea"/>
              </a:rPr>
              <a:t>(</a:t>
            </a:r>
            <a:r>
              <a:rPr lang="zh-CN" altLang="en-US" sz="3200" b="1" dirty="0">
                <a:solidFill>
                  <a:srgbClr val="FF0000"/>
                </a:solidFill>
                <a:latin typeface="Times New Roman" panose="02020603050405020304" pitchFamily="18" charset="0"/>
                <a:cs typeface="Times New Roman" panose="02020603050405020304" pitchFamily="18" charset="0"/>
                <a:sym typeface="+mn-ea"/>
              </a:rPr>
              <a:t>爱好者</a:t>
            </a:r>
            <a:r>
              <a:rPr lang="en-US" altLang="zh-CN" sz="3200" b="1" dirty="0">
                <a:solidFill>
                  <a:srgbClr val="FF0000"/>
                </a:solidFill>
                <a:latin typeface="Times New Roman" panose="02020603050405020304" pitchFamily="18" charset="0"/>
                <a:cs typeface="Times New Roman" panose="02020603050405020304" pitchFamily="18" charset="0"/>
                <a:sym typeface="+mn-ea"/>
              </a:rPr>
              <a:t>) 9.</a:t>
            </a:r>
            <a:r>
              <a:rPr lang="zh-CN" altLang="en-US" sz="3200" b="1" dirty="0">
                <a:latin typeface="Times New Roman" panose="02020603050405020304" pitchFamily="18" charset="0"/>
                <a:cs typeface="Times New Roman" panose="02020603050405020304" pitchFamily="18" charset="0"/>
                <a:sym typeface="+mn-ea"/>
              </a:rPr>
              <a:t>戏剧</a:t>
            </a:r>
            <a:r>
              <a:rPr lang="en-US" altLang="zh-CN" sz="3200" b="1" dirty="0">
                <a:latin typeface="Times New Roman" panose="02020603050405020304" pitchFamily="18" charset="0"/>
                <a:cs typeface="Times New Roman" panose="02020603050405020304" pitchFamily="18" charset="0"/>
                <a:sym typeface="+mn-ea"/>
              </a:rPr>
              <a:t>;</a:t>
            </a:r>
            <a:r>
              <a:rPr lang="zh-CN" altLang="en-US" sz="3200" b="1" dirty="0">
                <a:solidFill>
                  <a:srgbClr val="FF0000"/>
                </a:solidFill>
                <a:latin typeface="Times New Roman" panose="02020603050405020304" pitchFamily="18" charset="0"/>
                <a:cs typeface="Times New Roman" panose="02020603050405020304" pitchFamily="18" charset="0"/>
                <a:sym typeface="+mn-ea"/>
              </a:rPr>
              <a:t>戏剧</a:t>
            </a:r>
            <a:r>
              <a:rPr lang="en-US" altLang="zh-CN" sz="3200" b="1" dirty="0">
                <a:solidFill>
                  <a:srgbClr val="FF0000"/>
                </a:solidFill>
                <a:latin typeface="Times New Roman" panose="02020603050405020304" pitchFamily="18" charset="0"/>
                <a:cs typeface="Times New Roman" panose="02020603050405020304" pitchFamily="18" charset="0"/>
                <a:sym typeface="+mn-ea"/>
              </a:rPr>
              <a:t>(</a:t>
            </a:r>
            <a:r>
              <a:rPr lang="zh-CN" altLang="en-US" sz="3200" b="1" dirty="0">
                <a:solidFill>
                  <a:srgbClr val="FF0000"/>
                </a:solidFill>
                <a:latin typeface="Times New Roman" panose="02020603050405020304" pitchFamily="18" charset="0"/>
                <a:cs typeface="Times New Roman" panose="02020603050405020304" pitchFamily="18" charset="0"/>
                <a:sym typeface="+mn-ea"/>
              </a:rPr>
              <a:t>性</a:t>
            </a:r>
            <a:r>
              <a:rPr lang="en-US" altLang="zh-CN" sz="3200" b="1" dirty="0">
                <a:solidFill>
                  <a:srgbClr val="FF0000"/>
                </a:solidFill>
                <a:latin typeface="Times New Roman" panose="02020603050405020304" pitchFamily="18" charset="0"/>
                <a:cs typeface="Times New Roman" panose="02020603050405020304" pitchFamily="18" charset="0"/>
                <a:sym typeface="+mn-ea"/>
              </a:rPr>
              <a:t>)</a:t>
            </a:r>
            <a:r>
              <a:rPr lang="zh-CN" altLang="en-US" sz="3200" b="1" dirty="0">
                <a:solidFill>
                  <a:srgbClr val="FF0000"/>
                </a:solidFill>
                <a:latin typeface="Times New Roman" panose="02020603050405020304" pitchFamily="18" charset="0"/>
                <a:cs typeface="Times New Roman" panose="02020603050405020304" pitchFamily="18" charset="0"/>
                <a:sym typeface="+mn-ea"/>
              </a:rPr>
              <a:t>的</a:t>
            </a:r>
            <a:r>
              <a:rPr lang="en-US" altLang="zh-CN" sz="3200" b="1" dirty="0">
                <a:solidFill>
                  <a:srgbClr val="FF0000"/>
                </a:solidFill>
                <a:latin typeface="Times New Roman" panose="02020603050405020304" pitchFamily="18" charset="0"/>
                <a:cs typeface="Times New Roman" panose="02020603050405020304" pitchFamily="18" charset="0"/>
                <a:sym typeface="+mn-ea"/>
              </a:rPr>
              <a:t>;</a:t>
            </a:r>
            <a:r>
              <a:rPr lang="zh-CN" altLang="en-US" sz="3200" b="1" dirty="0">
                <a:solidFill>
                  <a:srgbClr val="FF0000"/>
                </a:solidFill>
                <a:latin typeface="Times New Roman" panose="02020603050405020304" pitchFamily="18" charset="0"/>
                <a:cs typeface="Times New Roman" panose="02020603050405020304" pitchFamily="18" charset="0"/>
                <a:sym typeface="+mn-ea"/>
              </a:rPr>
              <a:t>剧烈地</a:t>
            </a:r>
            <a:r>
              <a:rPr lang="en-US" altLang="zh-CN" sz="3200" b="1" dirty="0">
                <a:solidFill>
                  <a:srgbClr val="FF0000"/>
                </a:solidFill>
                <a:latin typeface="Times New Roman" panose="02020603050405020304" pitchFamily="18" charset="0"/>
                <a:cs typeface="Times New Roman" panose="02020603050405020304" pitchFamily="18" charset="0"/>
                <a:sym typeface="+mn-ea"/>
              </a:rPr>
              <a:t> 10.</a:t>
            </a:r>
            <a:r>
              <a:rPr lang="zh-CN" altLang="en-US" sz="3200" b="1" dirty="0">
                <a:solidFill>
                  <a:srgbClr val="FF0000"/>
                </a:solidFill>
                <a:latin typeface="Times New Roman" panose="02020603050405020304" pitchFamily="18" charset="0"/>
                <a:cs typeface="Times New Roman" panose="02020603050405020304" pitchFamily="18" charset="0"/>
                <a:sym typeface="+mn-ea"/>
              </a:rPr>
              <a:t>赢得</a:t>
            </a:r>
            <a:r>
              <a:rPr lang="en-US" altLang="zh-CN" sz="3200" b="1" dirty="0">
                <a:solidFill>
                  <a:srgbClr val="FF0000"/>
                </a:solidFill>
                <a:latin typeface="Times New Roman" panose="02020603050405020304" pitchFamily="18" charset="0"/>
                <a:cs typeface="Times New Roman" panose="02020603050405020304" pitchFamily="18" charset="0"/>
                <a:sym typeface="+mn-ea"/>
              </a:rPr>
              <a:t>…</a:t>
            </a:r>
            <a:r>
              <a:rPr lang="zh-CN" altLang="en-US" sz="3200" b="1" dirty="0">
                <a:solidFill>
                  <a:srgbClr val="FF0000"/>
                </a:solidFill>
                <a:latin typeface="Times New Roman" panose="02020603050405020304" pitchFamily="18" charset="0"/>
                <a:cs typeface="Times New Roman" panose="02020603050405020304" pitchFamily="18" charset="0"/>
                <a:sym typeface="+mn-ea"/>
              </a:rPr>
              <a:t>的奖学金</a:t>
            </a:r>
            <a:r>
              <a:rPr lang="en-US" altLang="zh-CN" sz="3200" b="1" dirty="0">
                <a:solidFill>
                  <a:srgbClr val="FF0000"/>
                </a:solidFill>
                <a:latin typeface="Times New Roman" panose="02020603050405020304" pitchFamily="18" charset="0"/>
                <a:cs typeface="Times New Roman" panose="02020603050405020304" pitchFamily="18" charset="0"/>
              </a:rPr>
              <a:t>;</a:t>
            </a:r>
            <a:r>
              <a:rPr lang="zh-CN" altLang="en-US" sz="3200" b="1" dirty="0">
                <a:latin typeface="Times New Roman" panose="02020603050405020304" pitchFamily="18" charset="0"/>
                <a:cs typeface="Times New Roman" panose="02020603050405020304" pitchFamily="18" charset="0"/>
                <a:sym typeface="+mn-ea"/>
              </a:rPr>
              <a:t>学者 </a:t>
            </a:r>
            <a:r>
              <a:rPr lang="en-US" altLang="zh-CN" sz="3200" b="1" dirty="0">
                <a:latin typeface="Times New Roman" panose="02020603050405020304" pitchFamily="18" charset="0"/>
                <a:cs typeface="Times New Roman" panose="02020603050405020304" pitchFamily="18" charset="0"/>
                <a:sym typeface="+mn-ea"/>
              </a:rPr>
              <a:t>11.</a:t>
            </a:r>
            <a:r>
              <a:rPr lang="zh-CN" altLang="en-US" sz="3200" b="1" dirty="0">
                <a:solidFill>
                  <a:srgbClr val="FF0000"/>
                </a:solidFill>
                <a:latin typeface="Times New Roman" panose="02020603050405020304" pitchFamily="18" charset="0"/>
                <a:cs typeface="Times New Roman" panose="02020603050405020304" pitchFamily="18" charset="0"/>
                <a:sym typeface="+mn-ea"/>
              </a:rPr>
              <a:t>分三大类</a:t>
            </a:r>
            <a:r>
              <a:rPr lang="en-US" altLang="zh-CN" sz="3200" b="1" dirty="0">
                <a:solidFill>
                  <a:srgbClr val="FF0000"/>
                </a:solidFill>
                <a:latin typeface="Times New Roman" panose="02020603050405020304" pitchFamily="18" charset="0"/>
                <a:cs typeface="Times New Roman" panose="02020603050405020304" pitchFamily="18" charset="0"/>
                <a:sym typeface="+mn-ea"/>
              </a:rPr>
              <a:t> 12.</a:t>
            </a:r>
            <a:r>
              <a:rPr lang="zh-CN" altLang="en-US" sz="3200" b="1" dirty="0">
                <a:solidFill>
                  <a:srgbClr val="FF0000"/>
                </a:solidFill>
                <a:latin typeface="Times New Roman" panose="02020603050405020304" pitchFamily="18" charset="0"/>
                <a:cs typeface="Times New Roman" panose="02020603050405020304" pitchFamily="18" charset="0"/>
                <a:sym typeface="+mn-ea"/>
              </a:rPr>
              <a:t>尽管如此 </a:t>
            </a:r>
            <a:endParaRPr lang="en-US" altLang="zh-CN" sz="3200" b="1" dirty="0">
              <a:solidFill>
                <a:srgbClr val="FF0000"/>
              </a:solidFill>
              <a:latin typeface="Times New Roman" panose="02020603050405020304" pitchFamily="18" charset="0"/>
              <a:cs typeface="Times New Roman" panose="02020603050405020304" pitchFamily="18" charset="0"/>
              <a:sym typeface="+mn-ea"/>
            </a:endParaRPr>
          </a:p>
          <a:p>
            <a:r>
              <a:rPr lang="en-US" altLang="zh-CN" sz="3200" b="1" dirty="0">
                <a:solidFill>
                  <a:srgbClr val="FF0000"/>
                </a:solidFill>
                <a:latin typeface="Times New Roman" panose="02020603050405020304" pitchFamily="18" charset="0"/>
                <a:cs typeface="Times New Roman" panose="02020603050405020304" pitchFamily="18" charset="0"/>
                <a:sym typeface="+mn-ea"/>
              </a:rPr>
              <a:t>13.</a:t>
            </a:r>
            <a:r>
              <a:rPr lang="zh-CN" altLang="en-US" sz="3200" b="1" dirty="0">
                <a:solidFill>
                  <a:srgbClr val="FF0000"/>
                </a:solidFill>
                <a:latin typeface="Times New Roman" panose="02020603050405020304" pitchFamily="18" charset="0"/>
                <a:cs typeface="Times New Roman" panose="02020603050405020304" pitchFamily="18" charset="0"/>
                <a:sym typeface="+mn-ea"/>
              </a:rPr>
              <a:t>是</a:t>
            </a:r>
            <a:r>
              <a:rPr lang="en-US" altLang="zh-CN" sz="3200" b="1" dirty="0">
                <a:solidFill>
                  <a:srgbClr val="FF0000"/>
                </a:solidFill>
                <a:latin typeface="Times New Roman" panose="02020603050405020304" pitchFamily="18" charset="0"/>
                <a:cs typeface="Times New Roman" panose="02020603050405020304" pitchFamily="18" charset="0"/>
                <a:sym typeface="+mn-ea"/>
              </a:rPr>
              <a:t>…</a:t>
            </a:r>
            <a:r>
              <a:rPr lang="zh-CN" altLang="en-US" sz="3200" b="1" dirty="0">
                <a:solidFill>
                  <a:srgbClr val="FF0000"/>
                </a:solidFill>
                <a:latin typeface="Times New Roman" panose="02020603050405020304" pitchFamily="18" charset="0"/>
                <a:cs typeface="Times New Roman" panose="02020603050405020304" pitchFamily="18" charset="0"/>
                <a:sym typeface="+mn-ea"/>
              </a:rPr>
              <a:t>的目击者</a:t>
            </a:r>
            <a:r>
              <a:rPr lang="en-US" altLang="zh-CN" sz="3200" b="1" dirty="0">
                <a:solidFill>
                  <a:srgbClr val="FF0000"/>
                </a:solidFill>
                <a:latin typeface="Times New Roman" panose="02020603050405020304" pitchFamily="18" charset="0"/>
                <a:cs typeface="Times New Roman" panose="02020603050405020304" pitchFamily="18" charset="0"/>
                <a:sym typeface="+mn-ea"/>
              </a:rPr>
              <a:t>;</a:t>
            </a:r>
            <a:r>
              <a:rPr lang="zh-CN" altLang="en-US" sz="3200" b="1" dirty="0">
                <a:solidFill>
                  <a:srgbClr val="FF0000"/>
                </a:solidFill>
                <a:latin typeface="Times New Roman" panose="02020603050405020304" pitchFamily="18" charset="0"/>
                <a:cs typeface="Times New Roman" panose="02020603050405020304" pitchFamily="18" charset="0"/>
                <a:sym typeface="+mn-ea"/>
              </a:rPr>
              <a:t>宣称已经看到袭击</a:t>
            </a:r>
            <a:r>
              <a:rPr lang="en-US" altLang="zh-CN" sz="3200" b="1" dirty="0">
                <a:solidFill>
                  <a:srgbClr val="FF0000"/>
                </a:solidFill>
                <a:latin typeface="Times New Roman" panose="02020603050405020304" pitchFamily="18" charset="0"/>
                <a:cs typeface="Times New Roman" panose="02020603050405020304" pitchFamily="18" charset="0"/>
                <a:sym typeface="+mn-ea"/>
              </a:rPr>
              <a:t>;</a:t>
            </a:r>
            <a:r>
              <a:rPr lang="zh-CN" altLang="en-US" sz="3200" b="1" dirty="0">
                <a:solidFill>
                  <a:srgbClr val="FF0000"/>
                </a:solidFill>
                <a:latin typeface="Times New Roman" panose="02020603050405020304" pitchFamily="18" charset="0"/>
                <a:cs typeface="Times New Roman" panose="02020603050405020304" pitchFamily="18" charset="0"/>
                <a:sym typeface="+mn-ea"/>
              </a:rPr>
              <a:t>近年来见证了</a:t>
            </a:r>
            <a:r>
              <a:rPr lang="en-US" altLang="zh-CN" sz="3200" b="1" dirty="0">
                <a:solidFill>
                  <a:srgbClr val="FF0000"/>
                </a:solidFill>
                <a:latin typeface="Times New Roman" panose="02020603050405020304" pitchFamily="18" charset="0"/>
                <a:cs typeface="Times New Roman" panose="02020603050405020304" pitchFamily="18" charset="0"/>
                <a:sym typeface="+mn-ea"/>
              </a:rPr>
              <a:t>…14.</a:t>
            </a:r>
            <a:r>
              <a:rPr lang="zh-CN" altLang="en-US" sz="3200" b="1" dirty="0">
                <a:solidFill>
                  <a:srgbClr val="FF0000"/>
                </a:solidFill>
                <a:latin typeface="Times New Roman" panose="02020603050405020304" pitchFamily="18" charset="0"/>
                <a:cs typeface="Times New Roman" panose="02020603050405020304" pitchFamily="18" charset="0"/>
                <a:sym typeface="+mn-ea"/>
              </a:rPr>
              <a:t>发行一版</a:t>
            </a:r>
            <a:r>
              <a:rPr lang="en-US" altLang="zh-CN" sz="3200" b="1" dirty="0">
                <a:solidFill>
                  <a:srgbClr val="FF0000"/>
                </a:solidFill>
                <a:latin typeface="Times New Roman" panose="02020603050405020304" pitchFamily="18" charset="0"/>
                <a:cs typeface="Times New Roman" panose="02020603050405020304" pitchFamily="18" charset="0"/>
                <a:sym typeface="+mn-ea"/>
              </a:rPr>
              <a:t>;</a:t>
            </a:r>
            <a:r>
              <a:rPr lang="zh-CN" altLang="en-US" sz="3200" b="1" dirty="0">
                <a:solidFill>
                  <a:srgbClr val="FF0000"/>
                </a:solidFill>
                <a:latin typeface="Times New Roman" panose="02020603050405020304" pitchFamily="18" charset="0"/>
                <a:cs typeface="Times New Roman" panose="02020603050405020304" pitchFamily="18" charset="0"/>
                <a:sym typeface="+mn-ea"/>
              </a:rPr>
              <a:t>编辑</a:t>
            </a:r>
            <a:r>
              <a:rPr lang="en-US" altLang="zh-CN" sz="3200" b="1" dirty="0">
                <a:solidFill>
                  <a:srgbClr val="FF0000"/>
                </a:solidFill>
                <a:latin typeface="Times New Roman" panose="02020603050405020304" pitchFamily="18" charset="0"/>
                <a:cs typeface="Times New Roman" panose="02020603050405020304" pitchFamily="18" charset="0"/>
                <a:sym typeface="+mn-ea"/>
              </a:rPr>
              <a:t>;</a:t>
            </a:r>
            <a:r>
              <a:rPr lang="zh-CN" altLang="en-US" sz="3200" b="1" dirty="0">
                <a:solidFill>
                  <a:srgbClr val="FF0000"/>
                </a:solidFill>
                <a:latin typeface="Times New Roman" panose="02020603050405020304" pitchFamily="18" charset="0"/>
                <a:cs typeface="Times New Roman" panose="02020603050405020304" pitchFamily="18" charset="0"/>
                <a:sym typeface="+mn-ea"/>
              </a:rPr>
              <a:t>编者</a:t>
            </a:r>
            <a:r>
              <a:rPr lang="en-US" altLang="zh-CN" sz="3200" b="1" dirty="0">
                <a:solidFill>
                  <a:srgbClr val="FF0000"/>
                </a:solidFill>
                <a:latin typeface="Times New Roman" panose="02020603050405020304" pitchFamily="18" charset="0"/>
                <a:cs typeface="Times New Roman" panose="02020603050405020304" pitchFamily="18" charset="0"/>
                <a:sym typeface="+mn-ea"/>
              </a:rPr>
              <a:t>15.</a:t>
            </a:r>
            <a:r>
              <a:rPr lang="zh-CN" altLang="en-US" sz="3200" b="1" dirty="0">
                <a:latin typeface="Times New Roman" panose="02020603050405020304" pitchFamily="18" charset="0"/>
                <a:cs typeface="Times New Roman" panose="02020603050405020304" pitchFamily="18" charset="0"/>
                <a:sym typeface="+mn-ea"/>
              </a:rPr>
              <a:t>为某人提供一个平台 </a:t>
            </a:r>
            <a:r>
              <a:rPr lang="en-US" altLang="zh-CN" sz="3200" b="1" dirty="0">
                <a:latin typeface="Times New Roman" panose="02020603050405020304" pitchFamily="18" charset="0"/>
                <a:cs typeface="Times New Roman" panose="02020603050405020304" pitchFamily="18" charset="0"/>
                <a:sym typeface="+mn-ea"/>
              </a:rPr>
              <a:t>16.</a:t>
            </a:r>
            <a:r>
              <a:rPr lang="zh-CN" altLang="en-US" sz="3200" b="1" dirty="0">
                <a:solidFill>
                  <a:srgbClr val="FF0000"/>
                </a:solidFill>
                <a:latin typeface="Times New Roman" panose="02020603050405020304" pitchFamily="18" charset="0"/>
                <a:cs typeface="Times New Roman" panose="02020603050405020304" pitchFamily="18" charset="0"/>
                <a:sym typeface="+mn-ea"/>
              </a:rPr>
              <a:t>涌现</a:t>
            </a:r>
            <a:r>
              <a:rPr lang="en-US" altLang="zh-CN" sz="3200" b="1" dirty="0">
                <a:solidFill>
                  <a:srgbClr val="FF0000"/>
                </a:solidFill>
                <a:latin typeface="Times New Roman" panose="02020603050405020304" pitchFamily="18" charset="0"/>
                <a:cs typeface="Times New Roman" panose="02020603050405020304" pitchFamily="18" charset="0"/>
                <a:sym typeface="+mn-ea"/>
              </a:rPr>
              <a:t>(__,__);</a:t>
            </a:r>
            <a:r>
              <a:rPr lang="zh-CN" altLang="en-US" sz="3200" b="1" dirty="0">
                <a:solidFill>
                  <a:srgbClr val="FF0000"/>
                </a:solidFill>
                <a:latin typeface="Times New Roman" panose="02020603050405020304" pitchFamily="18" charset="0"/>
                <a:cs typeface="Times New Roman" panose="02020603050405020304" pitchFamily="18" charset="0"/>
                <a:sym typeface="+mn-ea"/>
              </a:rPr>
              <a:t>脱口而出</a:t>
            </a:r>
            <a:r>
              <a:rPr lang="en-US" altLang="zh-CN" sz="3200" b="1" dirty="0">
                <a:solidFill>
                  <a:srgbClr val="FF0000"/>
                </a:solidFill>
                <a:latin typeface="Times New Roman" panose="02020603050405020304" pitchFamily="18" charset="0"/>
                <a:cs typeface="Times New Roman" panose="02020603050405020304" pitchFamily="18" charset="0"/>
                <a:sym typeface="+mn-ea"/>
              </a:rPr>
              <a:t>;</a:t>
            </a:r>
            <a:r>
              <a:rPr lang="zh-CN" altLang="en-US" sz="3200" b="1" dirty="0">
                <a:solidFill>
                  <a:srgbClr val="FF0000"/>
                </a:solidFill>
                <a:latin typeface="Times New Roman" panose="02020603050405020304" pitchFamily="18" charset="0"/>
                <a:cs typeface="Times New Roman" panose="02020603050405020304" pitchFamily="18" charset="0"/>
                <a:sym typeface="+mn-ea"/>
              </a:rPr>
              <a:t>突然在脑海中闪现</a:t>
            </a:r>
            <a:r>
              <a:rPr lang="en-US" altLang="zh-CN" sz="3200" b="1" dirty="0">
                <a:solidFill>
                  <a:srgbClr val="FF0000"/>
                </a:solidFill>
                <a:latin typeface="Times New Roman" panose="02020603050405020304" pitchFamily="18" charset="0"/>
                <a:cs typeface="Times New Roman" panose="02020603050405020304" pitchFamily="18" charset="0"/>
                <a:sym typeface="+mn-ea"/>
              </a:rPr>
              <a:t> </a:t>
            </a:r>
            <a:endParaRPr lang="en-US" altLang="zh-CN" sz="3200" b="1" dirty="0">
              <a:solidFill>
                <a:srgbClr val="FF0000"/>
              </a:solidFill>
              <a:latin typeface="Times New Roman" panose="02020603050405020304" pitchFamily="18" charset="0"/>
              <a:ea typeface="楷体" panose="02010609060101010101" charset="-122"/>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fontScale="90000" lnSpcReduction="10000"/>
          </a:bodyPr>
          <a:lstStyle/>
          <a:p>
            <a:r>
              <a:rPr lang="en-US" altLang="zh-CN" sz="3600" b="1" dirty="0">
                <a:latin typeface="Times New Roman" panose="02020603050405020304" pitchFamily="18" charset="0"/>
                <a:cs typeface="Times New Roman" panose="02020603050405020304" pitchFamily="18" charset="0"/>
                <a:sym typeface="+mn-ea"/>
              </a:rPr>
              <a:t>16.</a:t>
            </a:r>
            <a:r>
              <a:rPr lang="zh-CN" altLang="en-US" sz="3600" b="1" dirty="0">
                <a:solidFill>
                  <a:srgbClr val="FF0000"/>
                </a:solidFill>
                <a:latin typeface="Times New Roman" panose="02020603050405020304" pitchFamily="18" charset="0"/>
                <a:cs typeface="Times New Roman" panose="02020603050405020304" pitchFamily="18" charset="0"/>
                <a:sym typeface="+mn-ea"/>
              </a:rPr>
              <a:t>涌现</a:t>
            </a:r>
            <a:r>
              <a:rPr lang="en-US" altLang="zh-CN" sz="3600" b="1" dirty="0">
                <a:solidFill>
                  <a:srgbClr val="FF0000"/>
                </a:solidFill>
                <a:latin typeface="Times New Roman" panose="02020603050405020304" pitchFamily="18" charset="0"/>
                <a:cs typeface="Times New Roman" panose="02020603050405020304" pitchFamily="18" charset="0"/>
                <a:sym typeface="+mn-ea"/>
              </a:rPr>
              <a:t>(__,__);</a:t>
            </a:r>
            <a:r>
              <a:rPr lang="zh-CN" altLang="en-US" sz="3600" b="1" dirty="0">
                <a:solidFill>
                  <a:srgbClr val="FF0000"/>
                </a:solidFill>
                <a:latin typeface="Times New Roman" panose="02020603050405020304" pitchFamily="18" charset="0"/>
                <a:cs typeface="Times New Roman" panose="02020603050405020304" pitchFamily="18" charset="0"/>
                <a:sym typeface="+mn-ea"/>
              </a:rPr>
              <a:t>脱口而出</a:t>
            </a:r>
            <a:r>
              <a:rPr lang="en-US" altLang="zh-CN" sz="3600" b="1" dirty="0">
                <a:solidFill>
                  <a:srgbClr val="FF0000"/>
                </a:solidFill>
                <a:latin typeface="Times New Roman" panose="02020603050405020304" pitchFamily="18" charset="0"/>
                <a:cs typeface="Times New Roman" panose="02020603050405020304" pitchFamily="18" charset="0"/>
                <a:sym typeface="+mn-ea"/>
              </a:rPr>
              <a:t>;</a:t>
            </a:r>
            <a:r>
              <a:rPr lang="zh-CN" altLang="en-US" sz="3600" b="1" dirty="0">
                <a:solidFill>
                  <a:srgbClr val="FF0000"/>
                </a:solidFill>
                <a:latin typeface="Times New Roman" panose="02020603050405020304" pitchFamily="18" charset="0"/>
                <a:cs typeface="Times New Roman" panose="02020603050405020304" pitchFamily="18" charset="0"/>
                <a:sym typeface="+mn-ea"/>
              </a:rPr>
              <a:t>突然在脑海中闪现</a:t>
            </a:r>
            <a:r>
              <a:rPr lang="en-US" altLang="zh-CN" sz="3600" b="1" dirty="0">
                <a:solidFill>
                  <a:srgbClr val="FF0000"/>
                </a:solidFill>
                <a:latin typeface="Times New Roman" panose="02020603050405020304" pitchFamily="18" charset="0"/>
                <a:cs typeface="Times New Roman" panose="02020603050405020304" pitchFamily="18" charset="0"/>
                <a:sym typeface="+mn-ea"/>
              </a:rPr>
              <a:t> 17.n.</a:t>
            </a:r>
            <a:r>
              <a:rPr lang="zh-CN" altLang="en-US" sz="3600" b="1" dirty="0">
                <a:solidFill>
                  <a:srgbClr val="FF0000"/>
                </a:solidFill>
                <a:latin typeface="Times New Roman" panose="02020603050405020304" pitchFamily="18" charset="0"/>
                <a:cs typeface="Times New Roman" panose="02020603050405020304" pitchFamily="18" charset="0"/>
                <a:sym typeface="+mn-ea"/>
              </a:rPr>
              <a:t>相互作用</a:t>
            </a:r>
            <a:r>
              <a:rPr lang="en-US" altLang="zh-CN" sz="3600" b="1" dirty="0">
                <a:solidFill>
                  <a:srgbClr val="FF0000"/>
                </a:solidFill>
                <a:latin typeface="Times New Roman" panose="02020603050405020304" pitchFamily="18" charset="0"/>
                <a:cs typeface="Times New Roman" panose="02020603050405020304" pitchFamily="18" charset="0"/>
                <a:sym typeface="+mn-ea"/>
              </a:rPr>
              <a:t>;</a:t>
            </a:r>
            <a:r>
              <a:rPr lang="zh-CN" altLang="en-US" sz="3600" b="1" dirty="0">
                <a:solidFill>
                  <a:srgbClr val="FF0000"/>
                </a:solidFill>
                <a:latin typeface="Times New Roman" panose="02020603050405020304" pitchFamily="18" charset="0"/>
                <a:cs typeface="Times New Roman" panose="02020603050405020304" pitchFamily="18" charset="0"/>
                <a:sym typeface="+mn-ea"/>
              </a:rPr>
              <a:t>与</a:t>
            </a:r>
            <a:r>
              <a:rPr lang="en-US" altLang="zh-CN" sz="3600" b="1" dirty="0">
                <a:solidFill>
                  <a:srgbClr val="FF0000"/>
                </a:solidFill>
                <a:latin typeface="Times New Roman" panose="02020603050405020304" pitchFamily="18" charset="0"/>
                <a:cs typeface="Times New Roman" panose="02020603050405020304" pitchFamily="18" charset="0"/>
                <a:sym typeface="+mn-ea"/>
              </a:rPr>
              <a:t>…</a:t>
            </a:r>
            <a:r>
              <a:rPr lang="zh-CN" altLang="en-US" sz="3600" b="1" dirty="0">
                <a:solidFill>
                  <a:srgbClr val="FF0000"/>
                </a:solidFill>
                <a:latin typeface="Times New Roman" panose="02020603050405020304" pitchFamily="18" charset="0"/>
                <a:cs typeface="Times New Roman" panose="02020603050405020304" pitchFamily="18" charset="0"/>
                <a:sym typeface="+mn-ea"/>
              </a:rPr>
              <a:t>相互作用</a:t>
            </a:r>
            <a:r>
              <a:rPr lang="en-US" altLang="zh-CN" sz="3600" b="1" dirty="0">
                <a:solidFill>
                  <a:srgbClr val="FF0000"/>
                </a:solidFill>
                <a:latin typeface="Times New Roman" panose="02020603050405020304" pitchFamily="18" charset="0"/>
                <a:cs typeface="Times New Roman" panose="02020603050405020304" pitchFamily="18" charset="0"/>
                <a:sym typeface="+mn-ea"/>
              </a:rPr>
              <a:t>;a.</a:t>
            </a:r>
            <a:r>
              <a:rPr lang="zh-CN" altLang="en-US" sz="3600" b="1" dirty="0">
                <a:solidFill>
                  <a:srgbClr val="FF0000"/>
                </a:solidFill>
                <a:latin typeface="Times New Roman" panose="02020603050405020304" pitchFamily="18" charset="0"/>
                <a:cs typeface="Times New Roman" panose="02020603050405020304" pitchFamily="18" charset="0"/>
                <a:sym typeface="+mn-ea"/>
              </a:rPr>
              <a:t>相互作用的 </a:t>
            </a:r>
            <a:r>
              <a:rPr lang="en-US" altLang="zh-CN" sz="3600" b="1" dirty="0">
                <a:solidFill>
                  <a:srgbClr val="FF0000"/>
                </a:solidFill>
                <a:latin typeface="Times New Roman" panose="02020603050405020304" pitchFamily="18" charset="0"/>
                <a:cs typeface="Times New Roman" panose="02020603050405020304" pitchFamily="18" charset="0"/>
                <a:sym typeface="+mn-ea"/>
              </a:rPr>
              <a:t>18.</a:t>
            </a:r>
            <a:r>
              <a:rPr lang="zh-CN" altLang="en-US" sz="3600" b="1" dirty="0">
                <a:solidFill>
                  <a:srgbClr val="FF0000"/>
                </a:solidFill>
                <a:latin typeface="Times New Roman" panose="02020603050405020304" pitchFamily="18" charset="0"/>
                <a:cs typeface="Times New Roman" panose="02020603050405020304" pitchFamily="18" charset="0"/>
                <a:sym typeface="+mn-ea"/>
              </a:rPr>
              <a:t>每周排行榜首位 </a:t>
            </a:r>
            <a:r>
              <a:rPr lang="en-US" altLang="zh-CN" sz="3600" b="1" dirty="0">
                <a:latin typeface="Times New Roman" panose="02020603050405020304" pitchFamily="18" charset="0"/>
                <a:cs typeface="Times New Roman" panose="02020603050405020304" pitchFamily="18" charset="0"/>
                <a:sym typeface="+mn-ea"/>
              </a:rPr>
              <a:t>19.</a:t>
            </a:r>
            <a:r>
              <a:rPr lang="zh-CN" altLang="en-US"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向</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t>
            </a:r>
            <a:r>
              <a:rPr lang="zh-CN" altLang="en-US"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广播</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(__,__);</a:t>
            </a:r>
            <a:r>
              <a:rPr lang="zh-CN" altLang="en-US" sz="3600" b="1" dirty="0">
                <a:latin typeface="Times New Roman" panose="02020603050405020304" pitchFamily="18" charset="0"/>
                <a:ea typeface="楷体" panose="02010609060101010101" charset="-122"/>
                <a:cs typeface="Times New Roman" panose="02020603050405020304" pitchFamily="18" charset="0"/>
                <a:sym typeface="+mn-ea"/>
              </a:rPr>
              <a:t>现场直播 </a:t>
            </a:r>
            <a:r>
              <a:rPr lang="en-US" altLang="zh-CN" sz="3600" b="1" dirty="0">
                <a:latin typeface="Times New Roman" panose="02020603050405020304" pitchFamily="18" charset="0"/>
                <a:ea typeface="楷体" panose="02010609060101010101" charset="-122"/>
                <a:cs typeface="Times New Roman" panose="02020603050405020304" pitchFamily="18" charset="0"/>
                <a:sym typeface="+mn-ea"/>
              </a:rPr>
              <a:t>20.</a:t>
            </a:r>
            <a:r>
              <a:rPr lang="zh-CN" altLang="en-US"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广告业</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t>
            </a:r>
            <a:r>
              <a:rPr lang="zh-CN" altLang="en-US" sz="3600" b="1" dirty="0">
                <a:solidFill>
                  <a:srgbClr val="FF0000"/>
                </a:solidFill>
                <a:latin typeface="Times New Roman" panose="02020603050405020304" pitchFamily="18" charset="0"/>
                <a:cs typeface="Times New Roman" panose="02020603050405020304" pitchFamily="18" charset="0"/>
                <a:sym typeface="+mn-ea"/>
              </a:rPr>
              <a:t>广告</a:t>
            </a:r>
            <a:r>
              <a:rPr lang="en-US" altLang="zh-CN" sz="3600" b="1" dirty="0">
                <a:latin typeface="Times New Roman" panose="02020603050405020304" pitchFamily="18" charset="0"/>
                <a:cs typeface="Times New Roman" panose="02020603050405020304" pitchFamily="18" charset="0"/>
                <a:sym typeface="+mn-ea"/>
              </a:rPr>
              <a:t>;</a:t>
            </a:r>
            <a:r>
              <a:rPr lang="zh-CN" altLang="en-US"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征聘 </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21.</a:t>
            </a:r>
            <a:r>
              <a:rPr lang="zh-CN" altLang="en-US" sz="3600" b="1" dirty="0">
                <a:solidFill>
                  <a:srgbClr val="FF0000"/>
                </a:solidFill>
                <a:latin typeface="Times New Roman" panose="02020603050405020304" pitchFamily="18" charset="0"/>
                <a:cs typeface="Times New Roman" panose="02020603050405020304" pitchFamily="18" charset="0"/>
                <a:sym typeface="+mn-ea"/>
              </a:rPr>
              <a:t>说服某人做某事</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t>
            </a:r>
            <a:r>
              <a:rPr lang="zh-CN" altLang="en-US" sz="3600" b="1" dirty="0">
                <a:solidFill>
                  <a:srgbClr val="FF0000"/>
                </a:solidFill>
                <a:latin typeface="Times New Roman" panose="02020603050405020304" pitchFamily="18" charset="0"/>
                <a:cs typeface="Times New Roman" panose="02020603050405020304" pitchFamily="18" charset="0"/>
                <a:sym typeface="+mn-ea"/>
              </a:rPr>
              <a:t>说服某人不要做某事</a:t>
            </a:r>
            <a:r>
              <a:rPr lang="en-US" altLang="zh-CN" sz="3600" b="1" dirty="0">
                <a:solidFill>
                  <a:srgbClr val="FF0000"/>
                </a:solidFill>
                <a:latin typeface="Times New Roman" panose="02020603050405020304" pitchFamily="18" charset="0"/>
                <a:cs typeface="Times New Roman" panose="02020603050405020304" pitchFamily="18" charset="0"/>
                <a:sym typeface="+mn-ea"/>
              </a:rPr>
              <a:t>;</a:t>
            </a:r>
            <a:r>
              <a:rPr lang="zh-CN" altLang="en-US"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说服某人相信</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t>
            </a:r>
            <a:r>
              <a:rPr lang="zh-CN" altLang="zh-CN" sz="3600" b="1" dirty="0">
                <a:solidFill>
                  <a:srgbClr val="FF0000"/>
                </a:solidFill>
                <a:latin typeface="Times New Roman" panose="02020603050405020304" pitchFamily="18" charset="0"/>
                <a:cs typeface="Times New Roman" panose="02020603050405020304" pitchFamily="18" charset="0"/>
                <a:sym typeface="+mn-ea"/>
              </a:rPr>
              <a:t>令人信服的论点</a:t>
            </a:r>
            <a:r>
              <a:rPr lang="en-US" altLang="zh-CN" sz="3600" b="1" dirty="0">
                <a:solidFill>
                  <a:srgbClr val="FF0000"/>
                </a:solidFill>
                <a:latin typeface="Times New Roman" panose="02020603050405020304" pitchFamily="18" charset="0"/>
                <a:cs typeface="Times New Roman" panose="02020603050405020304" pitchFamily="18" charset="0"/>
                <a:sym typeface="+mn-ea"/>
              </a:rPr>
              <a:t> 22.</a:t>
            </a:r>
            <a:r>
              <a:rPr lang="zh-CN" altLang="en-US"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沟通的有益渠道</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t>
            </a:r>
            <a:r>
              <a:rPr lang="zh-CN" altLang="en-US"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宣泄情感的好方法 </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23.在...</a:t>
            </a:r>
            <a:r>
              <a:rPr lang="en-US" altLang="zh-CN" sz="3600" b="1" dirty="0" err="1">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的全盛期</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 24.</a:t>
            </a:r>
            <a:r>
              <a:rPr lang="zh-CN" altLang="en-US"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增强某人的自信心</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t>
            </a:r>
            <a:r>
              <a:rPr lang="zh-CN" altLang="en-US"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销售额增加</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 25.</a:t>
            </a:r>
            <a:r>
              <a:rPr lang="zh-CN" altLang="en-US"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心理学</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t>
            </a:r>
            <a:r>
              <a:rPr lang="zh-CN" altLang="en-US"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心理学家</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t>
            </a:r>
            <a:r>
              <a:rPr lang="zh-CN" altLang="en-US" sz="3600" b="1" dirty="0">
                <a:latin typeface="Times New Roman" panose="02020603050405020304" pitchFamily="18" charset="0"/>
                <a:ea typeface="楷体" panose="02010609060101010101" charset="-122"/>
                <a:cs typeface="Times New Roman" panose="02020603050405020304" pitchFamily="18" charset="0"/>
                <a:sym typeface="+mn-ea"/>
              </a:rPr>
              <a:t>心理学的</a:t>
            </a:r>
            <a:r>
              <a:rPr lang="en-US" altLang="zh-CN" sz="3600" b="1" dirty="0">
                <a:latin typeface="Times New Roman" panose="02020603050405020304" pitchFamily="18" charset="0"/>
                <a:ea typeface="楷体" panose="02010609060101010101" charset="-122"/>
                <a:cs typeface="Times New Roman" panose="02020603050405020304" pitchFamily="18" charset="0"/>
                <a:sym typeface="+mn-ea"/>
              </a:rPr>
              <a:t>;</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adv. 26.</a:t>
            </a:r>
            <a:r>
              <a:rPr lang="zh-CN" altLang="en-US"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采购</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t>
            </a:r>
            <a:r>
              <a:rPr lang="zh-CN" altLang="en-US" sz="3600" b="1" dirty="0">
                <a:latin typeface="Times New Roman" panose="02020603050405020304" pitchFamily="18" charset="0"/>
                <a:cs typeface="Times New Roman" panose="02020603050405020304" pitchFamily="18" charset="0"/>
                <a:sym typeface="+mn-ea"/>
              </a:rPr>
              <a:t>购物者</a:t>
            </a:r>
            <a:r>
              <a:rPr lang="en-US" altLang="zh-CN" sz="3600" b="1" dirty="0">
                <a:latin typeface="Times New Roman" panose="02020603050405020304" pitchFamily="18" charset="0"/>
                <a:cs typeface="Times New Roman" panose="02020603050405020304" pitchFamily="18" charset="0"/>
                <a:sym typeface="+mn-ea"/>
              </a:rPr>
              <a:t>;</a:t>
            </a:r>
            <a:r>
              <a:rPr lang="zh-CN" altLang="en-US" sz="3600" b="1" dirty="0">
                <a:latin typeface="Times New Roman" panose="02020603050405020304" pitchFamily="18" charset="0"/>
                <a:cs typeface="Times New Roman" panose="02020603050405020304" pitchFamily="18" charset="0"/>
                <a:sym typeface="+mn-ea"/>
              </a:rPr>
              <a:t>购买力</a:t>
            </a:r>
            <a:r>
              <a:rPr lang="en-US" altLang="zh-CN" sz="3600" b="1" dirty="0">
                <a:latin typeface="Times New Roman" panose="02020603050405020304" pitchFamily="18" charset="0"/>
                <a:ea typeface="楷体" panose="02010609060101010101" charset="-122"/>
                <a:cs typeface="Times New Roman" panose="02020603050405020304" pitchFamily="18" charset="0"/>
                <a:sym typeface="+mn-ea"/>
              </a:rPr>
              <a:t>27.</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adj.</a:t>
            </a:r>
            <a:r>
              <a:rPr lang="zh-CN" altLang="en-US"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难忘的</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;v.</a:t>
            </a:r>
            <a:r>
              <a:rPr lang="zh-CN" altLang="en-US"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记住</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t>
            </a:r>
            <a:r>
              <a:rPr lang="zh-CN" altLang="en-US"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纪念</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t>
            </a:r>
            <a:r>
              <a:rPr lang="zh-CN" altLang="en-US"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纪念碑 </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28.get across</a:t>
            </a:r>
            <a:r>
              <a:rPr lang="zh-CN" altLang="en-US"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翻译</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t>
            </a:r>
            <a:r>
              <a:rPr lang="zh-CN" altLang="en-US"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 </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get about/around</a:t>
            </a:r>
            <a:r>
              <a:rPr lang="zh-CN" altLang="en-US"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译</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;get through</a:t>
            </a:r>
            <a:r>
              <a:rPr lang="zh-CN" altLang="en-US"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译</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;get away with</a:t>
            </a:r>
            <a:r>
              <a:rPr lang="zh-CN" altLang="en-US"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译</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t>
            </a:r>
            <a:r>
              <a:rPr lang="zh-CN"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 </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get together</a:t>
            </a:r>
            <a:r>
              <a:rPr lang="zh-CN" altLang="en-US"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译</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t>
            </a:r>
            <a:r>
              <a:rPr lang="zh-CN" altLang="en-US"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克服恢复</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t>
            </a:r>
            <a:r>
              <a:rPr lang="zh-CN"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着手处理</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t>
            </a:r>
            <a:r>
              <a:rPr lang="zh-CN" altLang="en-US"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相处进展</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29.</a:t>
            </a:r>
            <a:r>
              <a:rPr lang="zh-CN" altLang="en-US" sz="3600" b="1" u="sng" dirty="0">
                <a:solidFill>
                  <a:srgbClr val="FF0000"/>
                </a:solidFill>
                <a:latin typeface="Times New Roman" panose="02020603050405020304" pitchFamily="18" charset="0"/>
                <a:ea typeface="楷体" panose="02010609060101010101" charset="-122"/>
                <a:sym typeface="+mn-ea"/>
              </a:rPr>
              <a:t>品牌形象</a:t>
            </a:r>
            <a:r>
              <a:rPr lang="en-US" altLang="zh-CN" sz="3600" b="1" u="sng" dirty="0">
                <a:solidFill>
                  <a:srgbClr val="FF0000"/>
                </a:solidFill>
                <a:latin typeface="Times New Roman" panose="02020603050405020304" pitchFamily="18" charset="0"/>
                <a:ea typeface="楷体" panose="02010609060101010101" charset="-122"/>
                <a:sym typeface="+mn-ea"/>
              </a:rPr>
              <a:t>;</a:t>
            </a:r>
            <a:r>
              <a:rPr lang="zh-CN" altLang="en-US" sz="3600" b="1" dirty="0">
                <a:solidFill>
                  <a:srgbClr val="FF0000"/>
                </a:solidFill>
                <a:latin typeface="Times New Roman" panose="02020603050405020304" pitchFamily="18" charset="0"/>
                <a:ea typeface="楷体" panose="02010609060101010101" charset="-122"/>
                <a:sym typeface="+mn-ea"/>
              </a:rPr>
              <a:t>崭新的</a:t>
            </a:r>
            <a:r>
              <a:rPr lang="en-US" altLang="zh-CN" sz="3600" b="1" dirty="0">
                <a:solidFill>
                  <a:srgbClr val="FF0000"/>
                </a:solidFill>
                <a:latin typeface="Times New Roman" panose="02020603050405020304" pitchFamily="18" charset="0"/>
                <a:ea typeface="楷体" panose="02010609060101010101" charset="-122"/>
                <a:sym typeface="+mn-ea"/>
              </a:rPr>
              <a:t> 30.</a:t>
            </a:r>
            <a:r>
              <a:rPr lang="zh-CN" altLang="en-US" sz="3600" b="1" dirty="0">
                <a:latin typeface="Times New Roman" panose="02020603050405020304" pitchFamily="18" charset="0"/>
                <a:ea typeface="楷体" panose="02010609060101010101" charset="-122"/>
                <a:sym typeface="+mn-ea"/>
              </a:rPr>
              <a:t>大使 </a:t>
            </a:r>
            <a:r>
              <a:rPr lang="en-US" altLang="zh-CN" sz="3600" b="1" dirty="0">
                <a:latin typeface="Times New Roman" panose="02020603050405020304" pitchFamily="18" charset="0"/>
                <a:ea typeface="楷体" panose="02010609060101010101" charset="-122"/>
                <a:sym typeface="+mn-ea"/>
              </a:rPr>
              <a:t>31.</a:t>
            </a:r>
            <a:r>
              <a:rPr lang="zh-CN" altLang="en-US" sz="3600" b="1" dirty="0">
                <a:solidFill>
                  <a:srgbClr val="FF0000"/>
                </a:solidFill>
                <a:latin typeface="Times New Roman" panose="02020603050405020304" pitchFamily="18" charset="0"/>
                <a:ea typeface="楷体" panose="02010609060101010101" charset="-122"/>
                <a:sym typeface="+mn-ea"/>
              </a:rPr>
              <a:t>安置</a:t>
            </a:r>
            <a:r>
              <a:rPr lang="en-US" altLang="zh-CN" sz="3600" b="1" dirty="0">
                <a:solidFill>
                  <a:srgbClr val="FF0000"/>
                </a:solidFill>
                <a:sym typeface="+mn-ea"/>
              </a:rPr>
              <a:t>32.</a:t>
            </a:r>
            <a:r>
              <a:rPr lang="zh-CN" altLang="en-US" sz="3600"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失业率</a:t>
            </a:r>
            <a:r>
              <a:rPr lang="en-US" altLang="zh-CN" sz="3600"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t>
            </a:r>
            <a:r>
              <a:rPr lang="en-US" altLang="zh-CN" sz="3600" dirty="0" err="1">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照此</a:t>
            </a:r>
            <a:r>
              <a:rPr lang="en-US" altLang="zh-CN" sz="3600"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t>
            </a:r>
            <a:r>
              <a:rPr lang="zh-CN" altLang="en-US" sz="3600"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那种</a:t>
            </a:r>
            <a:r>
              <a:rPr lang="en-US" altLang="zh-CN" sz="3600" dirty="0" err="1">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情形</a:t>
            </a:r>
            <a:r>
              <a:rPr lang="en-US" altLang="zh-CN" sz="3600"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t>
            </a:r>
            <a:r>
              <a:rPr lang="zh-CN" altLang="en-US" sz="3600"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以这</a:t>
            </a:r>
            <a:r>
              <a:rPr lang="en-US" altLang="zh-CN" sz="3600"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t>
            </a:r>
            <a:r>
              <a:rPr lang="zh-CN" altLang="en-US" sz="3600"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那一速度</a:t>
            </a:r>
            <a:r>
              <a:rPr lang="en-US" altLang="zh-CN" sz="3600"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t>
            </a:r>
            <a:r>
              <a:rPr lang="en-US" altLang="zh-CN" sz="3600" dirty="0" err="1">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无论如何</a:t>
            </a:r>
            <a:r>
              <a:rPr lang="zh-CN" altLang="en-US" sz="3600"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不管怎么说</a:t>
            </a:r>
            <a:r>
              <a:rPr lang="en-US" altLang="zh-CN" sz="3600"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t>
            </a:r>
            <a:r>
              <a:rPr lang="en-US" altLang="zh-CN" sz="3600" dirty="0" err="1">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评价某人</a:t>
            </a:r>
            <a:r>
              <a:rPr lang="en-US" altLang="zh-CN" sz="3600"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t>
            </a:r>
            <a:r>
              <a:rPr lang="en-US" altLang="zh-CN" sz="3600" dirty="0" err="1">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某物</a:t>
            </a:r>
            <a:r>
              <a:rPr lang="en-US" altLang="zh-CN" sz="3600"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 33.</a:t>
            </a:r>
            <a:r>
              <a:rPr lang="zh-CN" altLang="en-US"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赞助者</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t>
            </a:r>
            <a:r>
              <a:rPr lang="zh-CN" altLang="en-US" sz="3600"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被赞助</a:t>
            </a:r>
            <a:r>
              <a:rPr lang="en-US" altLang="zh-CN" sz="3600"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t>
            </a:r>
            <a:r>
              <a:rPr lang="zh-CN" altLang="en-US" sz="3600"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政府资助的 </a:t>
            </a:r>
            <a:r>
              <a:rPr lang="en-US" altLang="zh-CN" sz="3600"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34.n.</a:t>
            </a:r>
            <a:r>
              <a:rPr lang="zh-CN" altLang="en-US"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吸收理解</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t>
            </a:r>
            <a:r>
              <a:rPr lang="zh-CN" altLang="en-US"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掌握知识</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t>
            </a:r>
            <a:r>
              <a:rPr lang="en-US" altLang="zh-CN" sz="3600" b="1" dirty="0" err="1">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全神贯注</a:t>
            </a:r>
            <a:r>
              <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 35.</a:t>
            </a:r>
            <a:r>
              <a:rPr lang="zh-CN" altLang="en-US" sz="3600" u="sng"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八五折</a:t>
            </a:r>
            <a:r>
              <a:rPr lang="en-US" altLang="zh-CN" sz="3600" u="sng"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a:t>
            </a:r>
            <a:r>
              <a:rPr lang="zh-CN" altLang="en-US" sz="3600" dirty="0">
                <a:latin typeface="Times New Roman" panose="02020603050405020304" pitchFamily="18" charset="0"/>
                <a:ea typeface="楷体" panose="02010609060101010101" charset="-122"/>
                <a:cs typeface="Times New Roman" panose="02020603050405020304" pitchFamily="18" charset="0"/>
                <a:sym typeface="+mn-ea"/>
              </a:rPr>
              <a:t>打折地</a:t>
            </a:r>
            <a:r>
              <a:rPr lang="en-US" altLang="zh-CN" sz="3600" dirty="0">
                <a:latin typeface="Times New Roman" panose="02020603050405020304" pitchFamily="18" charset="0"/>
                <a:ea typeface="楷体" panose="02010609060101010101" charset="-122"/>
                <a:cs typeface="Times New Roman" panose="02020603050405020304" pitchFamily="18" charset="0"/>
                <a:sym typeface="+mn-ea"/>
              </a:rPr>
              <a:t>36.</a:t>
            </a:r>
            <a:r>
              <a:rPr lang="en-US" altLang="zh-CN" sz="3600" b="1" dirty="0">
                <a:latin typeface="Times New Roman" panose="02020603050405020304" pitchFamily="18" charset="0"/>
                <a:ea typeface="楷体" panose="02010609060101010101" charset="-122"/>
                <a:cs typeface="Times New Roman" panose="02020603050405020304" pitchFamily="18" charset="0"/>
                <a:sym typeface="+mn-ea"/>
              </a:rPr>
              <a:t>n.</a:t>
            </a:r>
            <a:r>
              <a:rPr lang="zh-CN" altLang="en-US" sz="3600" b="1" dirty="0">
                <a:latin typeface="Times New Roman" panose="02020603050405020304" pitchFamily="18" charset="0"/>
                <a:ea typeface="楷体" panose="02010609060101010101" charset="-122"/>
                <a:cs typeface="Times New Roman" panose="02020603050405020304" pitchFamily="18" charset="0"/>
                <a:sym typeface="+mn-ea"/>
              </a:rPr>
              <a:t>裁缝</a:t>
            </a:r>
            <a:r>
              <a:rPr lang="en-US" altLang="zh-CN" sz="3600" b="1" dirty="0">
                <a:latin typeface="Times New Roman" panose="02020603050405020304" pitchFamily="18" charset="0"/>
                <a:ea typeface="楷体" panose="02010609060101010101" charset="-122"/>
                <a:cs typeface="Times New Roman" panose="02020603050405020304" pitchFamily="18" charset="0"/>
                <a:sym typeface="+mn-ea"/>
              </a:rPr>
              <a:t>;</a:t>
            </a:r>
            <a:r>
              <a:rPr lang="zh-CN" altLang="zh-CN" sz="3600" b="1" dirty="0">
                <a:solidFill>
                  <a:srgbClr val="FF0000"/>
                </a:solidFill>
                <a:latin typeface="Times New Roman" panose="02020603050405020304" pitchFamily="18" charset="0"/>
                <a:cs typeface="Times New Roman" panose="02020603050405020304" pitchFamily="18" charset="0"/>
                <a:sym typeface="+mn-ea"/>
              </a:rPr>
              <a:t>在裁缝店</a:t>
            </a:r>
            <a:r>
              <a:rPr lang="en-US" altLang="zh-CN" sz="3600" b="1" dirty="0">
                <a:solidFill>
                  <a:srgbClr val="FF0000"/>
                </a:solidFill>
                <a:latin typeface="Times New Roman" panose="02020603050405020304" pitchFamily="18" charset="0"/>
                <a:cs typeface="Times New Roman" panose="02020603050405020304" pitchFamily="18" charset="0"/>
                <a:sym typeface="+mn-ea"/>
              </a:rPr>
              <a:t>;</a:t>
            </a:r>
            <a:r>
              <a:rPr lang="zh-CN" altLang="zh-CN" sz="3600" b="1" dirty="0">
                <a:solidFill>
                  <a:srgbClr val="FF0000"/>
                </a:solidFill>
                <a:latin typeface="Times New Roman" panose="02020603050405020304" pitchFamily="18" charset="0"/>
                <a:cs typeface="Times New Roman" panose="02020603050405020304" pitchFamily="18" charset="0"/>
                <a:sym typeface="+mn-ea"/>
              </a:rPr>
              <a:t>根据个人的需求</a:t>
            </a:r>
            <a:r>
              <a:rPr lang="en-US" altLang="zh-CN" sz="3600" b="1" dirty="0">
                <a:solidFill>
                  <a:srgbClr val="FF0000"/>
                </a:solidFill>
                <a:latin typeface="Times New Roman" panose="02020603050405020304" pitchFamily="18" charset="0"/>
                <a:cs typeface="Times New Roman" panose="02020603050405020304" pitchFamily="18" charset="0"/>
                <a:sym typeface="+mn-ea"/>
              </a:rPr>
              <a:t>/</a:t>
            </a:r>
            <a:r>
              <a:rPr lang="zh-CN" altLang="zh-CN" sz="3600" b="1" dirty="0">
                <a:solidFill>
                  <a:srgbClr val="FF0000"/>
                </a:solidFill>
                <a:latin typeface="Times New Roman" panose="02020603050405020304" pitchFamily="18" charset="0"/>
                <a:cs typeface="Times New Roman" panose="02020603050405020304" pitchFamily="18" charset="0"/>
                <a:sym typeface="+mn-ea"/>
              </a:rPr>
              <a:t>口味量身定制</a:t>
            </a:r>
            <a:r>
              <a:rPr lang="en-US" altLang="zh-CN" sz="3600" b="1" dirty="0">
                <a:solidFill>
                  <a:srgbClr val="FF0000"/>
                </a:solidFill>
                <a:latin typeface="Times New Roman" panose="02020603050405020304" pitchFamily="18" charset="0"/>
                <a:cs typeface="Times New Roman" panose="02020603050405020304" pitchFamily="18" charset="0"/>
                <a:sym typeface="+mn-ea"/>
              </a:rPr>
              <a:t> 37.</a:t>
            </a:r>
            <a:r>
              <a:rPr lang="zh-CN" altLang="en-US" sz="3600" b="1" dirty="0">
                <a:solidFill>
                  <a:srgbClr val="FF0000"/>
                </a:solidFill>
                <a:latin typeface="Times New Roman" panose="02020603050405020304" pitchFamily="18" charset="0"/>
                <a:ea typeface="楷体" panose="02010609060101010101" charset="-122"/>
                <a:sym typeface="+mn-ea"/>
              </a:rPr>
              <a:t>变亮改善</a:t>
            </a:r>
            <a:r>
              <a:rPr lang="en-US" altLang="zh-CN" sz="3600" b="1" dirty="0">
                <a:solidFill>
                  <a:srgbClr val="FF0000"/>
                </a:solidFill>
                <a:latin typeface="Times New Roman" panose="02020603050405020304" pitchFamily="18" charset="0"/>
                <a:ea typeface="楷体" panose="02010609060101010101" charset="-122"/>
                <a:sym typeface="+mn-ea"/>
              </a:rPr>
              <a:t>;</a:t>
            </a:r>
            <a:r>
              <a:rPr lang="zh-CN" altLang="en-US" sz="3600" b="1" dirty="0">
                <a:solidFill>
                  <a:srgbClr val="FF0000"/>
                </a:solidFill>
                <a:latin typeface="Times New Roman" panose="02020603050405020304" pitchFamily="18" charset="0"/>
                <a:ea typeface="楷体" panose="02010609060101010101" charset="-122"/>
                <a:sym typeface="+mn-ea"/>
              </a:rPr>
              <a:t>使我的一天充满了快乐</a:t>
            </a:r>
            <a:r>
              <a:rPr lang="en-US" altLang="zh-CN" sz="3600" dirty="0">
                <a:latin typeface="Times New Roman" panose="02020603050405020304" pitchFamily="18" charset="0"/>
                <a:ea typeface="楷体" panose="02010609060101010101" charset="-122"/>
                <a:sym typeface="+mn-ea"/>
              </a:rPr>
              <a:t>38.</a:t>
            </a:r>
            <a:r>
              <a:rPr lang="zh-CN" altLang="en-US" sz="3600" dirty="0">
                <a:latin typeface="Times New Roman" panose="02020603050405020304" pitchFamily="18" charset="0"/>
                <a:ea typeface="楷体" panose="02010609060101010101" charset="-122"/>
                <a:sym typeface="+mn-ea"/>
              </a:rPr>
              <a:t>住宅区</a:t>
            </a:r>
            <a:r>
              <a:rPr lang="en-US" altLang="zh-CN" sz="3600" dirty="0">
                <a:latin typeface="Times New Roman" panose="02020603050405020304" pitchFamily="18" charset="0"/>
                <a:ea typeface="楷体" panose="02010609060101010101" charset="-122"/>
                <a:sym typeface="+mn-ea"/>
              </a:rPr>
              <a:t>39.</a:t>
            </a:r>
            <a:r>
              <a:rPr lang="zh-CN" altLang="zh-CN" sz="3600" dirty="0">
                <a:solidFill>
                  <a:srgbClr val="FF0000"/>
                </a:solidFill>
                <a:latin typeface="Times New Roman" panose="02020603050405020304" pitchFamily="18" charset="0"/>
                <a:cs typeface="Times New Roman" panose="02020603050405020304" pitchFamily="18" charset="0"/>
                <a:sym typeface="+mn-ea"/>
              </a:rPr>
              <a:t>以</a:t>
            </a:r>
            <a:r>
              <a:rPr lang="en-US" altLang="zh-CN" sz="3600" dirty="0">
                <a:solidFill>
                  <a:srgbClr val="FF0000"/>
                </a:solidFill>
                <a:latin typeface="Times New Roman" panose="02020603050405020304" pitchFamily="18" charset="0"/>
                <a:cs typeface="Times New Roman" panose="02020603050405020304" pitchFamily="18" charset="0"/>
                <a:sym typeface="+mn-ea"/>
              </a:rPr>
              <a:t>…</a:t>
            </a:r>
            <a:r>
              <a:rPr lang="zh-CN" altLang="zh-CN" sz="3600" dirty="0">
                <a:solidFill>
                  <a:srgbClr val="FF0000"/>
                </a:solidFill>
                <a:latin typeface="Times New Roman" panose="02020603050405020304" pitchFamily="18" charset="0"/>
                <a:cs typeface="Times New Roman" panose="02020603050405020304" pitchFamily="18" charset="0"/>
                <a:sym typeface="+mn-ea"/>
              </a:rPr>
              <a:t>为乐</a:t>
            </a:r>
            <a:r>
              <a:rPr lang="en-US" altLang="zh-CN" sz="3600" dirty="0">
                <a:solidFill>
                  <a:srgbClr val="FF0000"/>
                </a:solidFill>
                <a:latin typeface="Times New Roman" panose="02020603050405020304" pitchFamily="18" charset="0"/>
                <a:cs typeface="Times New Roman" panose="02020603050405020304" pitchFamily="18" charset="0"/>
                <a:sym typeface="+mn-ea"/>
              </a:rPr>
              <a:t>;</a:t>
            </a:r>
            <a:r>
              <a:rPr lang="zh-CN" altLang="en-US" sz="3600" b="1" dirty="0">
                <a:solidFill>
                  <a:srgbClr val="FF0000"/>
                </a:solidFill>
                <a:latin typeface="Times New Roman" panose="02020603050405020304" pitchFamily="18" charset="0"/>
                <a:cs typeface="Times New Roman" panose="02020603050405020304" pitchFamily="18" charset="0"/>
                <a:sym typeface="+mn-ea"/>
              </a:rPr>
              <a:t>逗乐的神情</a:t>
            </a:r>
            <a:r>
              <a:rPr lang="en-US" altLang="zh-CN" sz="3600" b="1" dirty="0">
                <a:solidFill>
                  <a:srgbClr val="FF0000"/>
                </a:solidFill>
                <a:latin typeface="Times New Roman" panose="02020603050405020304" pitchFamily="18" charset="0"/>
                <a:cs typeface="Times New Roman" panose="02020603050405020304" pitchFamily="18" charset="0"/>
                <a:sym typeface="+mn-ea"/>
              </a:rPr>
              <a:t>/</a:t>
            </a:r>
            <a:r>
              <a:rPr lang="zh-CN" altLang="en-US" sz="3600" b="1" dirty="0">
                <a:solidFill>
                  <a:srgbClr val="FF0000"/>
                </a:solidFill>
                <a:latin typeface="Times New Roman" panose="02020603050405020304" pitchFamily="18" charset="0"/>
                <a:cs typeface="Times New Roman" panose="02020603050405020304" pitchFamily="18" charset="0"/>
                <a:sym typeface="+mn-ea"/>
              </a:rPr>
              <a:t>表情</a:t>
            </a:r>
            <a:r>
              <a:rPr lang="en-US" altLang="zh-CN" sz="3600" b="1" dirty="0">
                <a:solidFill>
                  <a:srgbClr val="FF0000"/>
                </a:solidFill>
                <a:latin typeface="Times New Roman" panose="02020603050405020304" pitchFamily="18" charset="0"/>
                <a:cs typeface="Times New Roman" panose="02020603050405020304" pitchFamily="18" charset="0"/>
                <a:sym typeface="+mn-ea"/>
              </a:rPr>
              <a:t>;</a:t>
            </a:r>
            <a:r>
              <a:rPr lang="zh-CN" altLang="zh-CN" sz="3600" b="1" dirty="0">
                <a:solidFill>
                  <a:srgbClr val="FF0000"/>
                </a:solidFill>
                <a:latin typeface="Times New Roman" panose="02020603050405020304" pitchFamily="18" charset="0"/>
                <a:cs typeface="Times New Roman" panose="02020603050405020304" pitchFamily="18" charset="0"/>
                <a:sym typeface="+mn-ea"/>
              </a:rPr>
              <a:t>令某人感到好笑的是</a:t>
            </a:r>
            <a:r>
              <a:rPr lang="en-US" altLang="zh-CN" sz="3600" b="1" dirty="0">
                <a:solidFill>
                  <a:srgbClr val="FF0000"/>
                </a:solidFill>
                <a:latin typeface="Times New Roman" panose="02020603050405020304" pitchFamily="18" charset="0"/>
                <a:cs typeface="Times New Roman" panose="02020603050405020304" pitchFamily="18" charset="0"/>
                <a:sym typeface="+mn-ea"/>
              </a:rPr>
              <a:t>;</a:t>
            </a:r>
            <a:r>
              <a:rPr lang="zh-CN" altLang="zh-CN" sz="3600" b="1" dirty="0">
                <a:solidFill>
                  <a:srgbClr val="FF0000"/>
                </a:solidFill>
                <a:latin typeface="Times New Roman" panose="02020603050405020304" pitchFamily="18" charset="0"/>
                <a:cs typeface="Times New Roman" panose="02020603050405020304" pitchFamily="18" charset="0"/>
                <a:sym typeface="+mn-ea"/>
              </a:rPr>
              <a:t>游乐园</a:t>
            </a:r>
            <a:r>
              <a:rPr lang="en-US" altLang="zh-CN" sz="3600" dirty="0">
                <a:latin typeface="Times New Roman" panose="02020603050405020304" pitchFamily="18" charset="0"/>
                <a:cs typeface="Times New Roman" panose="02020603050405020304" pitchFamily="18" charset="0"/>
                <a:sym typeface="阿里巴巴普惠体 2.0 55 Regular" panose="00020600040101010101" pitchFamily="18" charset="-122"/>
              </a:rPr>
              <a:t>;</a:t>
            </a:r>
            <a:r>
              <a:rPr lang="zh-CN" altLang="en-US" sz="3600" u="sng" dirty="0">
                <a:solidFill>
                  <a:srgbClr val="FF0000"/>
                </a:solidFill>
                <a:latin typeface="Times New Roman" panose="02020603050405020304" pitchFamily="18" charset="0"/>
                <a:ea typeface="楷体" panose="02010609060101010101" charset="-122"/>
                <a:sym typeface="阿里巴巴普惠体 2.0 55 Regular" panose="00020600040101010101" pitchFamily="18" charset="-122"/>
              </a:rPr>
              <a:t>可笑的是 </a:t>
            </a:r>
            <a:r>
              <a:rPr lang="en-US" altLang="zh-CN" sz="3600" u="sng" dirty="0">
                <a:solidFill>
                  <a:srgbClr val="FF0000"/>
                </a:solidFill>
                <a:latin typeface="Times New Roman" panose="02020603050405020304" pitchFamily="18" charset="0"/>
                <a:ea typeface="楷体" panose="02010609060101010101" charset="-122"/>
                <a:sym typeface="阿里巴巴普惠体 2.0 55 Regular" panose="00020600040101010101" pitchFamily="18" charset="-122"/>
              </a:rPr>
              <a:t>40.</a:t>
            </a:r>
            <a:r>
              <a:rPr lang="en-US" altLang="zh-CN" sz="3600" b="1" dirty="0">
                <a:solidFill>
                  <a:srgbClr val="7030A0"/>
                </a:solidFill>
                <a:sym typeface="+mn-ea"/>
              </a:rPr>
              <a:t>break up</a:t>
            </a:r>
            <a:r>
              <a:rPr lang="zh-CN" altLang="en-US" sz="3600" b="1" dirty="0">
                <a:solidFill>
                  <a:srgbClr val="7030A0"/>
                </a:solidFill>
                <a:sym typeface="+mn-ea"/>
              </a:rPr>
              <a:t>译</a:t>
            </a:r>
            <a:r>
              <a:rPr lang="en-US" altLang="zh-CN" sz="3600" b="1" dirty="0">
                <a:solidFill>
                  <a:srgbClr val="7030A0"/>
                </a:solidFill>
                <a:sym typeface="+mn-ea"/>
              </a:rPr>
              <a:t>; bring up</a:t>
            </a:r>
            <a:r>
              <a:rPr lang="zh-CN" altLang="en-US" sz="3600" b="1" dirty="0">
                <a:solidFill>
                  <a:srgbClr val="7030A0"/>
                </a:solidFill>
                <a:sym typeface="+mn-ea"/>
              </a:rPr>
              <a:t>译</a:t>
            </a:r>
            <a:r>
              <a:rPr lang="en-US" altLang="zh-CN" sz="3600" b="1" dirty="0">
                <a:solidFill>
                  <a:srgbClr val="7030A0"/>
                </a:solidFill>
                <a:sym typeface="+mn-ea"/>
              </a:rPr>
              <a:t>;build up</a:t>
            </a:r>
            <a:r>
              <a:rPr lang="zh-CN" altLang="en-US" sz="3600" b="1" dirty="0">
                <a:solidFill>
                  <a:srgbClr val="7030A0"/>
                </a:solidFill>
                <a:sym typeface="+mn-ea"/>
              </a:rPr>
              <a:t>译</a:t>
            </a:r>
            <a:r>
              <a:rPr lang="en-US" altLang="zh-CN" sz="3600" b="1" dirty="0">
                <a:solidFill>
                  <a:srgbClr val="7030A0"/>
                </a:solidFill>
                <a:sym typeface="+mn-ea"/>
              </a:rPr>
              <a:t>;clear up</a:t>
            </a:r>
            <a:r>
              <a:rPr lang="zh-CN" altLang="en-US" sz="3600" b="1" dirty="0">
                <a:solidFill>
                  <a:srgbClr val="7030A0"/>
                </a:solidFill>
                <a:sym typeface="+mn-ea"/>
              </a:rPr>
              <a:t>译</a:t>
            </a:r>
            <a:r>
              <a:rPr lang="en-US" altLang="zh-CN" sz="3600" b="1" dirty="0">
                <a:solidFill>
                  <a:srgbClr val="7030A0"/>
                </a:solidFill>
                <a:sym typeface="+mn-ea"/>
              </a:rPr>
              <a:t>;come up</a:t>
            </a:r>
            <a:r>
              <a:rPr lang="zh-CN" altLang="en-US" sz="3600" b="1" dirty="0">
                <a:solidFill>
                  <a:srgbClr val="7030A0"/>
                </a:solidFill>
                <a:sym typeface="+mn-ea"/>
              </a:rPr>
              <a:t>译</a:t>
            </a:r>
            <a:r>
              <a:rPr lang="en-US" altLang="zh-CN" sz="3600" b="1" dirty="0">
                <a:solidFill>
                  <a:srgbClr val="7030A0"/>
                </a:solidFill>
                <a:sym typeface="+mn-ea"/>
              </a:rPr>
              <a:t>; make up</a:t>
            </a:r>
            <a:r>
              <a:rPr lang="zh-CN" altLang="en-US" sz="3600" b="1" dirty="0">
                <a:solidFill>
                  <a:srgbClr val="7030A0"/>
                </a:solidFill>
                <a:sym typeface="+mn-ea"/>
              </a:rPr>
              <a:t>译</a:t>
            </a:r>
            <a:r>
              <a:rPr lang="en-US" altLang="zh-CN" sz="3600" b="1" dirty="0">
                <a:solidFill>
                  <a:srgbClr val="7030A0"/>
                </a:solidFill>
                <a:sym typeface="+mn-ea"/>
              </a:rPr>
              <a:t>;pick up</a:t>
            </a:r>
            <a:r>
              <a:rPr lang="zh-CN" altLang="en-US" sz="3600" b="1" dirty="0">
                <a:solidFill>
                  <a:srgbClr val="7030A0"/>
                </a:solidFill>
                <a:sym typeface="+mn-ea"/>
              </a:rPr>
              <a:t>译</a:t>
            </a:r>
            <a:r>
              <a:rPr lang="en-US" altLang="zh-CN" sz="3600" b="1" dirty="0">
                <a:solidFill>
                  <a:srgbClr val="7030A0"/>
                </a:solidFill>
                <a:sym typeface="+mn-ea"/>
              </a:rPr>
              <a:t>;put up</a:t>
            </a:r>
            <a:r>
              <a:rPr lang="zh-CN" altLang="en-US" sz="3600" b="1" dirty="0">
                <a:solidFill>
                  <a:srgbClr val="7030A0"/>
                </a:solidFill>
                <a:sym typeface="+mn-ea"/>
              </a:rPr>
              <a:t>译</a:t>
            </a:r>
            <a:r>
              <a:rPr lang="en-US" altLang="zh-CN" sz="3600" b="1" dirty="0">
                <a:solidFill>
                  <a:srgbClr val="7030A0"/>
                </a:solidFill>
                <a:sym typeface="+mn-ea"/>
              </a:rPr>
              <a:t>;split up</a:t>
            </a:r>
            <a:r>
              <a:rPr lang="zh-CN" altLang="en-US" sz="3600" b="1" dirty="0">
                <a:solidFill>
                  <a:srgbClr val="7030A0"/>
                </a:solidFill>
                <a:sym typeface="+mn-ea"/>
              </a:rPr>
              <a:t>译</a:t>
            </a:r>
            <a:r>
              <a:rPr lang="en-US" altLang="zh-CN" sz="3600" b="1" dirty="0">
                <a:solidFill>
                  <a:srgbClr val="7030A0"/>
                </a:solidFill>
                <a:sym typeface="+mn-ea"/>
              </a:rPr>
              <a:t>;take up</a:t>
            </a:r>
            <a:r>
              <a:rPr lang="zh-CN" altLang="en-US" sz="3600" b="1" dirty="0">
                <a:solidFill>
                  <a:srgbClr val="7030A0"/>
                </a:solidFill>
                <a:sym typeface="+mn-ea"/>
              </a:rPr>
              <a:t>译</a:t>
            </a:r>
            <a:r>
              <a:rPr lang="en-US" altLang="zh-CN" sz="3600" b="1" dirty="0">
                <a:solidFill>
                  <a:srgbClr val="7030A0"/>
                </a:solidFill>
                <a:sym typeface="+mn-ea"/>
              </a:rPr>
              <a:t>;turn up</a:t>
            </a:r>
            <a:r>
              <a:rPr lang="zh-CN" altLang="en-US" sz="3600" b="1" dirty="0">
                <a:solidFill>
                  <a:srgbClr val="7030A0"/>
                </a:solidFill>
                <a:sym typeface="+mn-ea"/>
              </a:rPr>
              <a:t>译</a:t>
            </a:r>
            <a:r>
              <a:rPr lang="en-US" altLang="zh-CN" sz="3600" b="1">
                <a:solidFill>
                  <a:srgbClr val="FF0000"/>
                </a:solidFill>
                <a:latin typeface="Times New Roman" panose="02020603050405020304" pitchFamily="18" charset="0"/>
                <a:cs typeface="Times New Roman" panose="02020603050405020304" pitchFamily="18" charset="0"/>
                <a:sym typeface="+mn-ea"/>
              </a:rPr>
              <a:t>;</a:t>
            </a:r>
            <a:r>
              <a:rPr lang="zh-CN" altLang="zh-CN" sz="3600" b="1">
                <a:solidFill>
                  <a:srgbClr val="7030A0"/>
                </a:solidFill>
                <a:sym typeface="+mn-ea"/>
              </a:rPr>
              <a:t>草拟</a:t>
            </a:r>
            <a:r>
              <a:rPr lang="en-US" altLang="zh-CN" sz="3600" b="1" dirty="0">
                <a:solidFill>
                  <a:srgbClr val="7030A0"/>
                </a:solidFill>
                <a:sym typeface="+mn-ea"/>
              </a:rPr>
              <a:t>;</a:t>
            </a:r>
            <a:r>
              <a:rPr lang="zh-CN" altLang="zh-CN" sz="3600" b="1" dirty="0">
                <a:solidFill>
                  <a:srgbClr val="7030A0"/>
                </a:solidFill>
                <a:sym typeface="+mn-ea"/>
              </a:rPr>
              <a:t>修理</a:t>
            </a:r>
            <a:r>
              <a:rPr lang="en-US" altLang="zh-CN" sz="3600" b="1" dirty="0">
                <a:solidFill>
                  <a:srgbClr val="7030A0"/>
                </a:solidFill>
                <a:sym typeface="+mn-ea"/>
              </a:rPr>
              <a:t>;</a:t>
            </a:r>
            <a:r>
              <a:rPr lang="zh-CN" altLang="zh-CN" sz="3600" b="1" dirty="0">
                <a:solidFill>
                  <a:srgbClr val="7030A0"/>
                </a:solidFill>
                <a:sym typeface="+mn-ea"/>
              </a:rPr>
              <a:t>阻止</a:t>
            </a:r>
            <a:r>
              <a:rPr lang="en-US" altLang="zh-CN" sz="3600" b="1" dirty="0">
                <a:solidFill>
                  <a:srgbClr val="7030A0"/>
                </a:solidFill>
                <a:sym typeface="+mn-ea"/>
              </a:rPr>
              <a:t>;</a:t>
            </a:r>
            <a:r>
              <a:rPr lang="zh-CN" altLang="zh-CN" sz="3600" b="1" dirty="0">
                <a:solidFill>
                  <a:srgbClr val="7030A0"/>
                </a:solidFill>
                <a:sym typeface="+mn-ea"/>
              </a:rPr>
              <a:t>堵塞住</a:t>
            </a:r>
            <a:r>
              <a:rPr lang="en-US" altLang="zh-CN" sz="3600" b="1" dirty="0">
                <a:solidFill>
                  <a:srgbClr val="7030A0"/>
                </a:solidFill>
                <a:sym typeface="+mn-ea"/>
              </a:rPr>
              <a:t>;</a:t>
            </a:r>
            <a:r>
              <a:rPr lang="zh-CN" altLang="en-US" sz="3600" b="1" dirty="0">
                <a:solidFill>
                  <a:srgbClr val="7030A0"/>
                </a:solidFill>
                <a:sym typeface="+mn-ea"/>
              </a:rPr>
              <a:t>弥补</a:t>
            </a:r>
            <a:r>
              <a:rPr lang="en-US" altLang="zh-CN" sz="3600" b="1" dirty="0">
                <a:solidFill>
                  <a:srgbClr val="7030A0"/>
                </a:solidFill>
                <a:sym typeface="+mn-ea"/>
              </a:rPr>
              <a:t>;</a:t>
            </a:r>
            <a:r>
              <a:rPr lang="zh-CN" altLang="zh-CN" sz="3600" b="1" dirty="0">
                <a:solidFill>
                  <a:srgbClr val="7030A0"/>
                </a:solidFill>
                <a:sym typeface="+mn-ea"/>
              </a:rPr>
              <a:t>收拾行李</a:t>
            </a:r>
            <a:r>
              <a:rPr lang="en-US" altLang="zh-CN" sz="3600" b="1" dirty="0">
                <a:solidFill>
                  <a:srgbClr val="7030A0"/>
                </a:solidFill>
                <a:sym typeface="+mn-ea"/>
              </a:rPr>
              <a:t>;</a:t>
            </a:r>
            <a:r>
              <a:rPr lang="zh-CN" altLang="en-US" sz="3600" b="1" dirty="0">
                <a:solidFill>
                  <a:srgbClr val="7030A0"/>
                </a:solidFill>
                <a:sym typeface="+mn-ea"/>
              </a:rPr>
              <a:t>停车</a:t>
            </a:r>
            <a:r>
              <a:rPr lang="en-US" altLang="zh-CN" sz="3600" b="1" dirty="0">
                <a:solidFill>
                  <a:srgbClr val="7030A0"/>
                </a:solidFill>
                <a:sym typeface="+mn-ea"/>
              </a:rPr>
              <a:t>;</a:t>
            </a:r>
            <a:r>
              <a:rPr lang="zh-CN" altLang="zh-CN" sz="3600" b="1" dirty="0">
                <a:solidFill>
                  <a:srgbClr val="7030A0"/>
                </a:solidFill>
                <a:sym typeface="+mn-ea"/>
              </a:rPr>
              <a:t>设立</a:t>
            </a:r>
            <a:r>
              <a:rPr lang="en-US" altLang="zh-CN" sz="3600" b="1" dirty="0">
                <a:solidFill>
                  <a:srgbClr val="7030A0"/>
                </a:solidFill>
                <a:sym typeface="+mn-ea"/>
              </a:rPr>
              <a:t>;</a:t>
            </a:r>
            <a:r>
              <a:rPr lang="zh-CN" altLang="zh-CN" sz="3600" b="1" dirty="0">
                <a:solidFill>
                  <a:srgbClr val="7030A0"/>
                </a:solidFill>
                <a:sym typeface="+mn-ea"/>
              </a:rPr>
              <a:t>涌现</a:t>
            </a:r>
            <a:endParaRPr lang="en-US" altLang="zh-CN" sz="3600" b="1" dirty="0">
              <a:solidFill>
                <a:srgbClr val="FF0000"/>
              </a:solidFill>
              <a:latin typeface="Times New Roman" panose="02020603050405020304" pitchFamily="18" charset="0"/>
              <a:ea typeface="楷体" panose="02010609060101010101" charset="-122"/>
              <a:cs typeface="Times New Roman" panose="02020603050405020304" pitchFamily="18" charset="0"/>
            </a:endParaRPr>
          </a:p>
          <a:p>
            <a:endParaRPr lang="zh-CN" altLang="en-US" sz="3600" b="1" dirty="0">
              <a:solidFill>
                <a:srgbClr val="FF0000"/>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fontScale="90000" lnSpcReduction="10000"/>
          </a:bodyPr>
          <a:lstStyle/>
          <a:p>
            <a:pPr algn="ctr"/>
            <a:r>
              <a:rPr lang="en-US" altLang="zh-CN" sz="3600" b="1" dirty="0">
                <a:solidFill>
                  <a:schemeClr val="tx1"/>
                </a:solidFill>
              </a:rPr>
              <a:t>Volunteer Librarian Recruitment</a:t>
            </a:r>
          </a:p>
          <a:p>
            <a:r>
              <a:rPr lang="en-US" altLang="zh-CN" sz="3600" b="1" dirty="0">
                <a:solidFill>
                  <a:schemeClr val="tx1"/>
                </a:solidFill>
              </a:rPr>
              <a:t>    The school library </a:t>
            </a:r>
            <a:r>
              <a:rPr lang="en-US" altLang="zh-CN" sz="3600" b="1" u="sng" dirty="0">
                <a:solidFill>
                  <a:srgbClr val="FF0000"/>
                </a:solidFill>
              </a:rPr>
              <a:t>is now exploring volunteer librarians. </a:t>
            </a:r>
            <a:r>
              <a:rPr lang="en-US" altLang="zh-CN" sz="3600" b="1" dirty="0">
                <a:solidFill>
                  <a:srgbClr val="FF0000"/>
                </a:solidFill>
              </a:rPr>
              <a:t>The ideal candidates </a:t>
            </a:r>
            <a:r>
              <a:rPr lang="en-US" altLang="zh-CN" sz="3600" b="1" u="sng" dirty="0">
                <a:solidFill>
                  <a:srgbClr val="FF0000"/>
                </a:solidFill>
                <a:highlight>
                  <a:srgbClr val="FFFF00"/>
                </a:highlight>
              </a:rPr>
              <a:t>should have a strong sense of responsibility,</a:t>
            </a:r>
            <a:r>
              <a:rPr lang="en-US" altLang="zh-CN" sz="3600" b="1" dirty="0">
                <a:solidFill>
                  <a:srgbClr val="FF0000"/>
                </a:solidFill>
              </a:rPr>
              <a:t> be detail-centered and possess good communication skills. A love for literature and knowledge </a:t>
            </a:r>
            <a:r>
              <a:rPr lang="en-US" altLang="zh-CN" sz="3600" b="1" u="sng" dirty="0">
                <a:solidFill>
                  <a:srgbClr val="FF0000"/>
                </a:solidFill>
                <a:highlight>
                  <a:srgbClr val="FFFF00"/>
                </a:highlight>
              </a:rPr>
              <a:t>is a must.</a:t>
            </a:r>
            <a:r>
              <a:rPr lang="en-US" altLang="zh-CN" sz="3600" b="1" dirty="0">
                <a:solidFill>
                  <a:srgbClr val="FF0000"/>
                </a:solidFill>
              </a:rPr>
              <a:t> Basic computer operation skills and a certain level of English proficiency </a:t>
            </a:r>
            <a:r>
              <a:rPr lang="en-US" altLang="zh-CN" sz="3600" b="1" u="sng" dirty="0">
                <a:solidFill>
                  <a:srgbClr val="FF0000"/>
                </a:solidFill>
                <a:highlight>
                  <a:srgbClr val="FFFF00"/>
                </a:highlight>
              </a:rPr>
              <a:t>will be an advantage.</a:t>
            </a:r>
          </a:p>
          <a:p>
            <a:r>
              <a:rPr lang="en-US" altLang="zh-CN" sz="3600" b="1" dirty="0">
                <a:solidFill>
                  <a:srgbClr val="FF0000"/>
                </a:solidFill>
              </a:rPr>
              <a:t>    Volunteers will be rewarded with free participation in library workshops and lectures, extended borrowing periods, and a cozy reading corner reserved only for them. </a:t>
            </a:r>
            <a:r>
              <a:rPr lang="en-US" altLang="zh-CN" sz="3600" b="1" u="sng" dirty="0">
                <a:solidFill>
                  <a:srgbClr val="FF0000"/>
                </a:solidFill>
                <a:highlight>
                  <a:srgbClr val="FFFF00"/>
                </a:highlight>
              </a:rPr>
              <a:t>Moreover, </a:t>
            </a:r>
            <a:r>
              <a:rPr lang="en-US" altLang="zh-CN" sz="3600" b="1" dirty="0">
                <a:solidFill>
                  <a:srgbClr val="FF0000"/>
                </a:solidFill>
              </a:rPr>
              <a:t>they can build up community service hours and get a certificate of honor.</a:t>
            </a:r>
          </a:p>
          <a:p>
            <a:r>
              <a:rPr lang="en-US" altLang="zh-CN" sz="3600" b="1" dirty="0">
                <a:solidFill>
                  <a:srgbClr val="FF0000"/>
                </a:solidFill>
              </a:rPr>
              <a:t>    To apply, please send your resume and a short self-introduction to </a:t>
            </a:r>
            <a:r>
              <a:rPr lang="en-US" altLang="zh-CN" sz="3600" b="1" i="1" dirty="0">
                <a:solidFill>
                  <a:srgbClr val="FF0000"/>
                </a:solidFill>
              </a:rPr>
              <a:t>the students union @ school.com</a:t>
            </a:r>
            <a:r>
              <a:rPr lang="en-US" altLang="zh-CN" sz="3600" b="1" dirty="0">
                <a:solidFill>
                  <a:srgbClr val="FF0000"/>
                </a:solidFill>
              </a:rPr>
              <a:t> </a:t>
            </a:r>
            <a:r>
              <a:rPr lang="en-US" altLang="zh-CN" sz="3600" b="1" dirty="0">
                <a:solidFill>
                  <a:srgbClr val="FF0000"/>
                </a:solidFill>
                <a:highlight>
                  <a:srgbClr val="FFFF00"/>
                </a:highlight>
              </a:rPr>
              <a:t>by November 20th.</a:t>
            </a:r>
            <a:r>
              <a:rPr lang="en-US" altLang="zh-CN" sz="3600" b="1" dirty="0">
                <a:solidFill>
                  <a:srgbClr val="FF0000"/>
                </a:solidFill>
              </a:rPr>
              <a:t> We look forward to your joining and growing with us in the world of books.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pPr algn="ctr"/>
            <a:r>
              <a:rPr lang="zh-CN" altLang="en-US" sz="3600" b="1" dirty="0">
                <a:solidFill>
                  <a:srgbClr val="FF0000"/>
                </a:solidFill>
              </a:rPr>
              <a:t>招聘启事</a:t>
            </a:r>
          </a:p>
          <a:p>
            <a:r>
              <a:rPr lang="zh-CN" altLang="en-US" sz="3600" b="1" dirty="0">
                <a:solidFill>
                  <a:schemeClr val="tx1"/>
                </a:solidFill>
              </a:rPr>
              <a:t>招聘启事是</a:t>
            </a:r>
            <a:r>
              <a:rPr lang="zh-CN" altLang="en-US" sz="3600" b="1" dirty="0">
                <a:solidFill>
                  <a:srgbClr val="FF0000"/>
                </a:solidFill>
              </a:rPr>
              <a:t>用人单位面向社会公开招聘</a:t>
            </a:r>
            <a:r>
              <a:rPr lang="zh-CN" altLang="en-US" sz="3600" b="1" dirty="0">
                <a:solidFill>
                  <a:schemeClr val="tx1"/>
                </a:solidFill>
              </a:rPr>
              <a:t>有关人员时使用的一种应用文文体</a:t>
            </a:r>
            <a:r>
              <a:rPr lang="zh-CN" sz="3600" b="1" dirty="0">
                <a:solidFill>
                  <a:schemeClr val="tx1"/>
                </a:solidFill>
              </a:rPr>
              <a:t>。</a:t>
            </a:r>
            <a:endParaRPr lang="zh-CN" altLang="en-US" sz="3600" b="1" dirty="0">
              <a:solidFill>
                <a:schemeClr val="tx1"/>
              </a:solidFill>
            </a:endParaRPr>
          </a:p>
          <a:p>
            <a:r>
              <a:rPr lang="zh-CN" altLang="en-US" sz="3600" b="1" dirty="0">
                <a:solidFill>
                  <a:srgbClr val="FF0000"/>
                </a:solidFill>
              </a:rPr>
              <a:t>一、写作步骤</a:t>
            </a:r>
          </a:p>
          <a:p>
            <a:r>
              <a:rPr lang="en-US" altLang="zh-CN" sz="3600" b="1" dirty="0">
                <a:solidFill>
                  <a:srgbClr val="FF0000"/>
                </a:solidFill>
              </a:rPr>
              <a:t>Step1</a:t>
            </a:r>
            <a:r>
              <a:rPr lang="zh-CN" altLang="en-US" sz="3600" b="1" dirty="0">
                <a:solidFill>
                  <a:srgbClr val="FF0000"/>
                </a:solidFill>
              </a:rPr>
              <a:t>：开门见山，说明要招聘的职位；（</a:t>
            </a:r>
            <a:r>
              <a:rPr lang="en-US" altLang="zh-CN" sz="3600" b="1" dirty="0">
                <a:solidFill>
                  <a:srgbClr val="FF0000"/>
                </a:solidFill>
              </a:rPr>
              <a:t>position</a:t>
            </a:r>
            <a:r>
              <a:rPr lang="zh-CN" altLang="en-US" sz="3600" b="1" dirty="0">
                <a:solidFill>
                  <a:srgbClr val="FF0000"/>
                </a:solidFill>
              </a:rPr>
              <a:t>）</a:t>
            </a:r>
          </a:p>
          <a:p>
            <a:r>
              <a:rPr lang="en-US" altLang="zh-CN" sz="3600" b="1" dirty="0">
                <a:solidFill>
                  <a:srgbClr val="FF0000"/>
                </a:solidFill>
              </a:rPr>
              <a:t>Step2</a:t>
            </a:r>
            <a:r>
              <a:rPr lang="zh-CN" altLang="en-US" sz="3600" b="1" dirty="0">
                <a:solidFill>
                  <a:srgbClr val="FF0000"/>
                </a:solidFill>
              </a:rPr>
              <a:t>：详细介绍岗位职责</a:t>
            </a:r>
            <a:r>
              <a:rPr lang="en-US" altLang="zh-CN" sz="3600" b="1" dirty="0">
                <a:solidFill>
                  <a:srgbClr val="FF0000"/>
                </a:solidFill>
              </a:rPr>
              <a:t>,</a:t>
            </a:r>
            <a:r>
              <a:rPr lang="zh-CN" altLang="en-US" sz="3600" b="1" dirty="0">
                <a:solidFill>
                  <a:srgbClr val="FF0000"/>
                </a:solidFill>
              </a:rPr>
              <a:t>工作时间，地点和要求：</a:t>
            </a:r>
          </a:p>
          <a:p>
            <a:r>
              <a:rPr lang="en-US" altLang="zh-CN" sz="3600" b="1" dirty="0">
                <a:solidFill>
                  <a:srgbClr val="FF0000"/>
                </a:solidFill>
              </a:rPr>
              <a:t>Step3</a:t>
            </a:r>
            <a:r>
              <a:rPr lang="zh-CN" altLang="en-US" sz="3600" b="1" dirty="0">
                <a:solidFill>
                  <a:srgbClr val="FF0000"/>
                </a:solidFill>
              </a:rPr>
              <a:t>：简要介绍福利待遇，并且给出联系方式</a:t>
            </a:r>
          </a:p>
          <a:p>
            <a:endParaRPr lang="zh-CN" altLang="en-US" sz="3600" b="1" dirty="0">
              <a:solidFill>
                <a:srgbClr val="FF0000"/>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r>
              <a:rPr lang="zh-CN" altLang="en-US" sz="3600" b="1" dirty="0">
                <a:solidFill>
                  <a:schemeClr val="tx1"/>
                </a:solidFill>
              </a:rPr>
              <a:t>二、常用语料</a:t>
            </a:r>
          </a:p>
          <a:p>
            <a:r>
              <a:rPr lang="zh-CN" altLang="en-US" sz="3600" b="1" dirty="0">
                <a:solidFill>
                  <a:srgbClr val="FF0000"/>
                </a:solidFill>
              </a:rPr>
              <a:t>说明</a:t>
            </a:r>
            <a:r>
              <a:rPr lang="zh-CN" altLang="en-US" sz="3600" b="1" dirty="0">
                <a:solidFill>
                  <a:schemeClr val="tx1"/>
                </a:solidFill>
              </a:rPr>
              <a:t>要招聘的</a:t>
            </a:r>
            <a:r>
              <a:rPr lang="zh-CN" altLang="en-US" sz="3600" b="1" dirty="0">
                <a:solidFill>
                  <a:srgbClr val="FF0000"/>
                </a:solidFill>
              </a:rPr>
              <a:t>职位：</a:t>
            </a:r>
          </a:p>
          <a:p>
            <a:r>
              <a:rPr lang="en-US" altLang="zh-CN" sz="3600" b="1" dirty="0">
                <a:solidFill>
                  <a:srgbClr val="FF0000"/>
                </a:solidFill>
              </a:rPr>
              <a:t>1....is seeking a(n)...to fill the position of...</a:t>
            </a:r>
          </a:p>
          <a:p>
            <a:r>
              <a:rPr lang="en-US" altLang="zh-CN" sz="3600" b="1" dirty="0">
                <a:solidFill>
                  <a:srgbClr val="FF0000"/>
                </a:solidFill>
              </a:rPr>
              <a:t>2.In order to ..., we plan to look for a(n)...</a:t>
            </a:r>
          </a:p>
          <a:p>
            <a:r>
              <a:rPr lang="en-US" altLang="zh-CN" sz="3600" b="1" dirty="0">
                <a:solidFill>
                  <a:srgbClr val="FF0000"/>
                </a:solidFill>
              </a:rPr>
              <a:t>3.With...approaching, we would like to invite some students to work as...</a:t>
            </a:r>
          </a:p>
          <a:p>
            <a:r>
              <a:rPr lang="zh-CN" altLang="en-US" sz="3600" b="1" dirty="0">
                <a:solidFill>
                  <a:schemeClr val="tx1"/>
                </a:solidFill>
              </a:rPr>
              <a:t>介绍</a:t>
            </a:r>
            <a:r>
              <a:rPr lang="zh-CN" altLang="en-US" sz="3600" b="1" dirty="0">
                <a:solidFill>
                  <a:srgbClr val="FF0000"/>
                </a:solidFill>
              </a:rPr>
              <a:t>岗位职责和要求：</a:t>
            </a:r>
          </a:p>
          <a:p>
            <a:r>
              <a:rPr lang="en-US" altLang="zh-CN" sz="3600" b="1" dirty="0">
                <a:solidFill>
                  <a:srgbClr val="FF0000"/>
                </a:solidFill>
              </a:rPr>
              <a:t>1.Your main responsibilities include…</a:t>
            </a:r>
          </a:p>
          <a:p>
            <a:r>
              <a:rPr lang="en-US" altLang="zh-CN" sz="3600" b="1" dirty="0">
                <a:solidFill>
                  <a:srgbClr val="FF0000"/>
                </a:solidFill>
              </a:rPr>
              <a:t>2.The applicant is required to...In addition, ..</a:t>
            </a:r>
            <a:endParaRPr lang="zh-CN" altLang="en-US" sz="3600" b="1" dirty="0">
              <a:solidFill>
                <a:srgbClr val="FF0000"/>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r>
              <a:rPr lang="zh-CN" altLang="en-US" sz="3600" b="1" dirty="0">
                <a:solidFill>
                  <a:srgbClr val="FF0000"/>
                </a:solidFill>
              </a:rPr>
              <a:t>福利待遇好处和联系方式：</a:t>
            </a:r>
          </a:p>
          <a:p>
            <a:r>
              <a:rPr lang="en-US" altLang="zh-CN" sz="3600" b="1" dirty="0">
                <a:solidFill>
                  <a:srgbClr val="FF0000"/>
                </a:solidFill>
              </a:rPr>
              <a:t>1.If you are interested, please contact...at...for an interview.</a:t>
            </a:r>
          </a:p>
          <a:p>
            <a:r>
              <a:rPr lang="en-US" altLang="zh-CN" sz="3600" b="1" dirty="0">
                <a:solidFill>
                  <a:srgbClr val="FF0000"/>
                </a:solidFill>
              </a:rPr>
              <a:t>2.Payment for the position will be discussed during the interview...</a:t>
            </a:r>
          </a:p>
          <a:p>
            <a:r>
              <a:rPr lang="en-US" altLang="zh-CN" sz="3600" b="1" dirty="0">
                <a:solidFill>
                  <a:srgbClr val="FF0000"/>
                </a:solidFill>
              </a:rPr>
              <a:t>3.For more information, please visit.../call…</a:t>
            </a:r>
          </a:p>
          <a:p>
            <a:r>
              <a:rPr lang="en-US" altLang="zh-CN" sz="3600" b="1" dirty="0">
                <a:solidFill>
                  <a:srgbClr val="FF0000"/>
                </a:solidFill>
              </a:rPr>
              <a:t>4. By participating in our activities, you will benefit a lot.</a:t>
            </a:r>
          </a:p>
          <a:p>
            <a:endParaRPr lang="zh-CN" altLang="en-US" sz="3600" b="1" dirty="0">
              <a:solidFill>
                <a:srgbClr val="FF0000"/>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r>
              <a:rPr lang="zh-CN" altLang="en-US" sz="3600" b="1" dirty="0">
                <a:solidFill>
                  <a:srgbClr val="FF0000"/>
                </a:solidFill>
              </a:rPr>
              <a:t>三、注意事项</a:t>
            </a:r>
          </a:p>
          <a:p>
            <a:r>
              <a:rPr lang="en-US" altLang="zh-CN" sz="3600" b="1" dirty="0">
                <a:solidFill>
                  <a:srgbClr val="FF0000"/>
                </a:solidFill>
              </a:rPr>
              <a:t>1.</a:t>
            </a:r>
            <a:r>
              <a:rPr lang="zh-CN" altLang="en-US" sz="3600" b="1" dirty="0">
                <a:solidFill>
                  <a:srgbClr val="FF0000"/>
                </a:solidFill>
              </a:rPr>
              <a:t>审题：</a:t>
            </a:r>
            <a:r>
              <a:rPr lang="zh-CN" altLang="en-US" sz="3600" b="1" dirty="0">
                <a:solidFill>
                  <a:schemeClr val="tx1"/>
                </a:solidFill>
              </a:rPr>
              <a:t>考生在进行写作前，</a:t>
            </a:r>
            <a:r>
              <a:rPr lang="zh-CN" altLang="en-US" sz="3600" b="1" dirty="0">
                <a:solidFill>
                  <a:srgbClr val="FF0000"/>
                </a:solidFill>
              </a:rPr>
              <a:t>要先对题目进行分析，确定</a:t>
            </a:r>
            <a:r>
              <a:rPr lang="zh-CN" altLang="en-US" sz="3600" b="1" dirty="0">
                <a:solidFill>
                  <a:schemeClr val="tx1"/>
                </a:solidFill>
              </a:rPr>
              <a:t>文章的</a:t>
            </a:r>
            <a:r>
              <a:rPr lang="zh-CN" altLang="en-US" sz="3600" b="1" dirty="0">
                <a:solidFill>
                  <a:srgbClr val="FF0000"/>
                </a:solidFill>
              </a:rPr>
              <a:t>主题，然后根据要点提示确定相应的词汇，并将其整合成完整的句子。</a:t>
            </a:r>
          </a:p>
          <a:p>
            <a:r>
              <a:rPr lang="en-US" altLang="zh-CN" sz="3600" b="1" dirty="0">
                <a:solidFill>
                  <a:srgbClr val="FF0000"/>
                </a:solidFill>
              </a:rPr>
              <a:t>2.</a:t>
            </a:r>
            <a:r>
              <a:rPr lang="zh-CN" altLang="en-US" sz="3600" b="1" dirty="0">
                <a:solidFill>
                  <a:srgbClr val="FF0000"/>
                </a:solidFill>
              </a:rPr>
              <a:t>人称和时态：人称</a:t>
            </a:r>
            <a:r>
              <a:rPr lang="zh-CN" altLang="en-US" sz="3600" b="1" dirty="0">
                <a:solidFill>
                  <a:schemeClr val="tx1"/>
                </a:solidFill>
              </a:rPr>
              <a:t>主要用</a:t>
            </a:r>
            <a:r>
              <a:rPr lang="zh-CN" altLang="en-US" sz="3600" b="1" dirty="0">
                <a:solidFill>
                  <a:srgbClr val="FF0000"/>
                </a:solidFill>
              </a:rPr>
              <a:t>第二人称和第三人称，</a:t>
            </a:r>
          </a:p>
          <a:p>
            <a:r>
              <a:rPr lang="zh-CN" altLang="en-US" sz="3600" b="1" dirty="0">
                <a:solidFill>
                  <a:srgbClr val="FF0000"/>
                </a:solidFill>
              </a:rPr>
              <a:t>时态</a:t>
            </a:r>
            <a:r>
              <a:rPr lang="zh-CN" altLang="en-US" sz="3600" b="1" dirty="0">
                <a:solidFill>
                  <a:schemeClr val="tx1"/>
                </a:solidFill>
              </a:rPr>
              <a:t>主要为</a:t>
            </a:r>
            <a:r>
              <a:rPr lang="zh-CN" altLang="en-US" sz="3600" b="1" dirty="0">
                <a:solidFill>
                  <a:srgbClr val="FF0000"/>
                </a:solidFill>
              </a:rPr>
              <a:t>一般现在时。</a:t>
            </a:r>
          </a:p>
          <a:p>
            <a:r>
              <a:rPr lang="en-US" altLang="zh-CN" sz="3600" b="1" dirty="0">
                <a:solidFill>
                  <a:srgbClr val="FF0000"/>
                </a:solidFill>
              </a:rPr>
              <a:t>3.</a:t>
            </a:r>
            <a:r>
              <a:rPr lang="zh-CN" altLang="en-US" sz="3600" b="1" dirty="0">
                <a:solidFill>
                  <a:srgbClr val="FF0000"/>
                </a:solidFill>
              </a:rPr>
              <a:t>结构和语言：</a:t>
            </a:r>
            <a:r>
              <a:rPr lang="zh-CN" altLang="en-US" sz="3600" b="1" dirty="0">
                <a:solidFill>
                  <a:schemeClr val="tx1"/>
                </a:solidFill>
              </a:rPr>
              <a:t>考生在写作时</a:t>
            </a:r>
            <a:r>
              <a:rPr lang="zh-CN" altLang="en-US" sz="3600" b="1" dirty="0">
                <a:solidFill>
                  <a:srgbClr val="FF0000"/>
                </a:solidFill>
              </a:rPr>
              <a:t>注意分好段落，</a:t>
            </a:r>
            <a:r>
              <a:rPr lang="zh-CN" altLang="en-US" sz="3600" b="1" dirty="0">
                <a:solidFill>
                  <a:schemeClr val="tx1"/>
                </a:solidFill>
              </a:rPr>
              <a:t>使得文章层次清晰、结构清楚，适当加入些</a:t>
            </a:r>
            <a:r>
              <a:rPr lang="zh-CN" altLang="en-US" sz="3600" b="1" dirty="0">
                <a:solidFill>
                  <a:srgbClr val="FF0000"/>
                </a:solidFill>
              </a:rPr>
              <a:t>衔接词，起到承上启下的作用。</a:t>
            </a:r>
            <a:r>
              <a:rPr lang="zh-CN" altLang="en-US" sz="3600" b="1" dirty="0">
                <a:solidFill>
                  <a:schemeClr val="tx1"/>
                </a:solidFill>
              </a:rPr>
              <a:t>在语言上考生要注意多使用</a:t>
            </a:r>
            <a:r>
              <a:rPr lang="zh-CN" altLang="en-US" sz="3600" b="1" dirty="0">
                <a:solidFill>
                  <a:srgbClr val="FF0000"/>
                </a:solidFill>
              </a:rPr>
              <a:t>高级词汇和表达，避免中式英语。</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pPr algn="ctr"/>
            <a:r>
              <a:rPr lang="zh-CN" altLang="en-US" sz="3600" dirty="0">
                <a:solidFill>
                  <a:schemeClr val="tx1"/>
                </a:solidFill>
                <a:latin typeface="Times New Roman" panose="02020603050405020304" pitchFamily="18" charset="0"/>
                <a:ea typeface="楷体" panose="02010609060101010101" charset="-122"/>
                <a:cs typeface="Times New Roman" panose="02020603050405020304" pitchFamily="18" charset="0"/>
                <a:sym typeface="+mn-ea"/>
              </a:rPr>
              <a:t>志愿者图书管理员招募</a:t>
            </a:r>
          </a:p>
          <a:p>
            <a:r>
              <a:rPr lang="zh-CN" altLang="en-US" sz="3600"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学校图书馆现招募志愿者图书管理员。理想的候选人应具备强烈的责任感，注重细节，拥有良好的沟通能力。热爱文学和知识是必备条件。具备基本的计算机操作技能和一定的英语水平将是一个加分项。</a:t>
            </a:r>
          </a:p>
          <a:p>
            <a:r>
              <a:rPr lang="zh-CN" altLang="en-US" sz="3600"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志愿者将获得免费参加图书馆工作坊和讲座的机会，延长借阅期限，以及专为他们预留的舒适阅读角落。此外，他们还能积累社区服务时长，并获得荣誉证书。</a:t>
            </a:r>
          </a:p>
          <a:p>
            <a:r>
              <a:rPr lang="zh-CN" altLang="en-US" sz="3600"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有意者请于</a:t>
            </a:r>
            <a:r>
              <a:rPr lang="en-US" altLang="zh-CN" sz="3600"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 11 </a:t>
            </a:r>
            <a:r>
              <a:rPr lang="zh-CN" altLang="en-US" sz="3600"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月</a:t>
            </a:r>
            <a:r>
              <a:rPr lang="en-US" altLang="zh-CN" sz="3600"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 20 </a:t>
            </a:r>
            <a:r>
              <a:rPr lang="zh-CN" altLang="en-US" sz="3600"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日前将简历和简短的自我介绍发送至学生会邮箱：</a:t>
            </a:r>
            <a:r>
              <a:rPr lang="en-US" altLang="zh-CN" sz="3600"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students union @ school.com</a:t>
            </a:r>
            <a:r>
              <a:rPr lang="zh-CN" altLang="en-US" sz="3600"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。我们期待您的加入，在书籍的世界里与我们共同成长。</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endParaRPr lang="zh-CN" altLang="en-US" sz="3600" b="1" dirty="0">
              <a:solidFill>
                <a:srgbClr val="FF0000"/>
              </a:solidFill>
            </a:endParaRPr>
          </a:p>
          <a:p>
            <a:r>
              <a:rPr lang="zh-CN" altLang="en-US" sz="3600" b="1" dirty="0">
                <a:solidFill>
                  <a:srgbClr val="FF0000"/>
                </a:solidFill>
              </a:rPr>
              <a:t>我醒来时心中既有兴奋也有紧张。</a:t>
            </a:r>
          </a:p>
          <a:p>
            <a:r>
              <a:rPr lang="zh-CN" altLang="en-US" sz="3600" b="1" dirty="0">
                <a:solidFill>
                  <a:srgbClr val="FF0000"/>
                </a:solidFill>
              </a:rPr>
              <a:t>那种萦绕在内心深处的不确定感挥之不去。</a:t>
            </a:r>
          </a:p>
          <a:p>
            <a:r>
              <a:rPr lang="zh-CN" altLang="en-US" sz="3600" b="1" dirty="0">
                <a:solidFill>
                  <a:srgbClr val="FF0000"/>
                </a:solidFill>
              </a:rPr>
              <a:t>当前一位表演者结束，掌声在音乐厅里回荡时，她带着鼓励的微笑向我走来。</a:t>
            </a:r>
            <a:endParaRPr lang="en-US" altLang="zh-CN" sz="3600" b="1" dirty="0">
              <a:solidFill>
                <a:srgbClr val="FF0000"/>
              </a:solidFill>
            </a:endParaRPr>
          </a:p>
          <a:p>
            <a:r>
              <a:rPr lang="zh-CN" altLang="en-US" sz="3600" b="1" dirty="0">
                <a:solidFill>
                  <a:srgbClr val="FF0000"/>
                </a:solidFill>
              </a:rPr>
              <a:t>她的这番话引起了我的共鸣，我深吸一口气，走上了舞台。</a:t>
            </a:r>
          </a:p>
          <a:p>
            <a:r>
              <a:rPr lang="zh-CN" altLang="en-US" sz="3600" b="1" dirty="0">
                <a:solidFill>
                  <a:srgbClr val="FF0000"/>
                </a:solidFill>
              </a:rPr>
              <a:t>一种自信的感觉开始涌上心头。</a:t>
            </a:r>
          </a:p>
          <a:p>
            <a:r>
              <a:rPr lang="zh-CN" altLang="en-US" sz="3600" b="1" dirty="0">
                <a:solidFill>
                  <a:srgbClr val="FF0000"/>
                </a:solidFill>
              </a:rPr>
              <a:t>在那一刻，我意识到天赋并非是与生俱来的，而是可以通过热情和坚持不懈去培养和发现的。</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pPr marL="0" indent="0">
              <a:lnSpc>
                <a:spcPct val="75000"/>
              </a:lnSpc>
              <a:buNone/>
            </a:pPr>
            <a:r>
              <a:rPr lang="en-US" altLang="zh-CN" sz="3600" b="1" dirty="0">
                <a:latin typeface="Times New Roman" panose="02020603050405020304" pitchFamily="18" charset="0"/>
                <a:ea typeface="宋体" panose="02010600030101010101" pitchFamily="2" charset="-122"/>
                <a:cs typeface="Times New Roman" panose="02020603050405020304" pitchFamily="18" charset="0"/>
                <a:sym typeface="+mn-ea"/>
              </a:rPr>
              <a:t>U1</a:t>
            </a:r>
            <a:r>
              <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 1.</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对</a:t>
            </a:r>
            <a:r>
              <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批评</a:t>
            </a:r>
            <a:r>
              <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对</a:t>
            </a:r>
            <a:r>
              <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至关重要</a:t>
            </a:r>
            <a:r>
              <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;n.</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批评</a:t>
            </a:r>
            <a:r>
              <a:rPr lang="en-US" altLang="zh-CN" sz="3600" b="1"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n.</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评论家</a:t>
            </a:r>
            <a:r>
              <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因</a:t>
            </a:r>
            <a:r>
              <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而受到指责 </a:t>
            </a:r>
            <a:endPar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endParaRPr>
          </a:p>
          <a:p>
            <a:pPr marL="0" indent="0">
              <a:lnSpc>
                <a:spcPct val="75000"/>
              </a:lnSpc>
              <a:buNone/>
            </a:pPr>
            <a:r>
              <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2.</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困在</a:t>
            </a:r>
            <a:r>
              <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诱骗某人做</a:t>
            </a:r>
            <a:r>
              <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落入陷阱 </a:t>
            </a:r>
            <a:r>
              <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3.</a:t>
            </a:r>
            <a:r>
              <a:rPr lang="zh-CN" altLang="en-US" sz="3600" b="1" dirty="0">
                <a:latin typeface="Times New Roman" panose="02020603050405020304" pitchFamily="18" charset="0"/>
                <a:ea typeface="宋体" panose="02010600030101010101" pitchFamily="2" charset="-122"/>
                <a:cs typeface="Times New Roman" panose="02020603050405020304" pitchFamily="18" charset="0"/>
                <a:sym typeface="+mn-ea"/>
              </a:rPr>
              <a:t>将</a:t>
            </a:r>
            <a:r>
              <a:rPr lang="en-US" altLang="zh-CN" sz="3600" b="1"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600" b="1" dirty="0">
                <a:latin typeface="Times New Roman" panose="02020603050405020304" pitchFamily="18" charset="0"/>
                <a:ea typeface="宋体" panose="02010600030101010101" pitchFamily="2" charset="-122"/>
                <a:cs typeface="Times New Roman" panose="02020603050405020304" pitchFamily="18" charset="0"/>
                <a:sym typeface="+mn-ea"/>
              </a:rPr>
              <a:t>从</a:t>
            </a:r>
            <a:r>
              <a:rPr lang="en-US" altLang="zh-CN" sz="3600" b="1"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600" b="1" dirty="0">
                <a:latin typeface="Times New Roman" panose="02020603050405020304" pitchFamily="18" charset="0"/>
                <a:ea typeface="宋体" panose="02010600030101010101" pitchFamily="2" charset="-122"/>
                <a:cs typeface="Times New Roman" panose="02020603050405020304" pitchFamily="18" charset="0"/>
                <a:sym typeface="+mn-ea"/>
              </a:rPr>
              <a:t>释放 </a:t>
            </a:r>
            <a:r>
              <a:rPr lang="en-US" altLang="zh-CN" sz="3600" b="1" dirty="0">
                <a:latin typeface="Times New Roman" panose="02020603050405020304" pitchFamily="18" charset="0"/>
                <a:ea typeface="宋体" panose="02010600030101010101" pitchFamily="2" charset="-122"/>
                <a:cs typeface="Times New Roman" panose="02020603050405020304" pitchFamily="18" charset="0"/>
                <a:sym typeface="+mn-ea"/>
              </a:rPr>
              <a:t>4.</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延长最后期限</a:t>
            </a:r>
            <a:r>
              <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伸出手</a:t>
            </a:r>
            <a:r>
              <a:rPr lang="en-US" altLang="zh-CN" sz="3600" b="1"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向某人表示热烈欢迎</a:t>
            </a:r>
            <a:r>
              <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向某人表示感谢</a:t>
            </a:r>
            <a:r>
              <a:rPr lang="en-US" altLang="zh-CN" sz="3600" b="1"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竭尽全力</a:t>
            </a:r>
            <a:r>
              <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大家庭 </a:t>
            </a:r>
            <a:endPar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endParaRPr>
          </a:p>
          <a:p>
            <a:pPr marL="0" indent="0">
              <a:lnSpc>
                <a:spcPct val="75000"/>
              </a:lnSpc>
              <a:buNone/>
            </a:pPr>
            <a:r>
              <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5.</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正在建造</a:t>
            </a:r>
            <a:r>
              <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建设性的</a:t>
            </a:r>
            <a:r>
              <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3600" b="1" dirty="0">
                <a:latin typeface="Times New Roman" panose="02020603050405020304" pitchFamily="18" charset="0"/>
                <a:ea typeface="宋体" panose="02010600030101010101" pitchFamily="2" charset="-122"/>
                <a:cs typeface="Times New Roman" panose="02020603050405020304" pitchFamily="18" charset="0"/>
                <a:sym typeface="+mn-ea"/>
              </a:rPr>
              <a:t>n.</a:t>
            </a:r>
            <a:r>
              <a:rPr lang="zh-CN" altLang="en-US" sz="3600" b="1" dirty="0">
                <a:latin typeface="Times New Roman" panose="02020603050405020304" pitchFamily="18" charset="0"/>
                <a:ea typeface="宋体" panose="02010600030101010101" pitchFamily="2" charset="-122"/>
                <a:cs typeface="Times New Roman" panose="02020603050405020304" pitchFamily="18" charset="0"/>
                <a:sym typeface="+mn-ea"/>
              </a:rPr>
              <a:t>建造者</a:t>
            </a:r>
            <a:r>
              <a:rPr lang="en-US" altLang="zh-CN" sz="3600" b="1" dirty="0">
                <a:latin typeface="Times New Roman" panose="02020603050405020304" pitchFamily="18" charset="0"/>
                <a:ea typeface="宋体" panose="02010600030101010101" pitchFamily="2" charset="-122"/>
                <a:cs typeface="Times New Roman" panose="02020603050405020304" pitchFamily="18" charset="0"/>
                <a:sym typeface="+mn-ea"/>
              </a:rPr>
              <a:t>;v.</a:t>
            </a:r>
            <a:r>
              <a:rPr lang="zh-CN" altLang="en-US" sz="3600" b="1" dirty="0">
                <a:latin typeface="Times New Roman" panose="02020603050405020304" pitchFamily="18" charset="0"/>
                <a:ea typeface="宋体" panose="02010600030101010101" pitchFamily="2" charset="-122"/>
                <a:cs typeface="Times New Roman" panose="02020603050405020304" pitchFamily="18" charset="0"/>
                <a:sym typeface="+mn-ea"/>
              </a:rPr>
              <a:t>毁灭</a:t>
            </a:r>
            <a:r>
              <a:rPr lang="en-US" altLang="zh-CN" sz="3600" b="1" dirty="0">
                <a:latin typeface="Times New Roman" panose="02020603050405020304" pitchFamily="18" charset="0"/>
                <a:ea typeface="宋体" panose="02010600030101010101" pitchFamily="2" charset="-122"/>
                <a:cs typeface="Times New Roman" panose="02020603050405020304" pitchFamily="18" charset="0"/>
                <a:sym typeface="+mn-ea"/>
              </a:rPr>
              <a:t>(__,__)</a:t>
            </a:r>
            <a:r>
              <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3600" b="1" dirty="0">
                <a:latin typeface="Times New Roman" panose="02020603050405020304" pitchFamily="18" charset="0"/>
                <a:ea typeface="宋体" panose="02010600030101010101" pitchFamily="2" charset="-122"/>
                <a:cs typeface="Times New Roman" panose="02020603050405020304" pitchFamily="18" charset="0"/>
                <a:sym typeface="+mn-ea"/>
              </a:rPr>
              <a:t>n. </a:t>
            </a:r>
            <a:r>
              <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6.</a:t>
            </a:r>
            <a:r>
              <a:rPr lang="zh-CN" altLang="en-US" sz="3600" b="1" dirty="0">
                <a:latin typeface="Times New Roman" panose="02020603050405020304" pitchFamily="18" charset="0"/>
                <a:ea typeface="宋体" panose="02010600030101010101" pitchFamily="2" charset="-122"/>
                <a:cs typeface="Times New Roman" panose="02020603050405020304" pitchFamily="18" charset="0"/>
                <a:sym typeface="+mn-ea"/>
              </a:rPr>
              <a:t>两打</a:t>
            </a:r>
            <a:r>
              <a:rPr lang="en-US" altLang="zh-CN" sz="3600" b="1"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600" b="1" dirty="0">
                <a:latin typeface="Times New Roman" panose="02020603050405020304" pitchFamily="18" charset="0"/>
                <a:ea typeface="宋体" panose="02010600030101010101" pitchFamily="2" charset="-122"/>
                <a:cs typeface="Times New Roman" panose="02020603050405020304" pitchFamily="18" charset="0"/>
                <a:sym typeface="+mn-ea"/>
              </a:rPr>
              <a:t>很多 </a:t>
            </a:r>
            <a:endParaRPr lang="en-US" altLang="zh-CN" sz="3600" b="1" dirty="0">
              <a:latin typeface="Times New Roman" panose="02020603050405020304" pitchFamily="18" charset="0"/>
              <a:ea typeface="宋体" panose="02010600030101010101" pitchFamily="2" charset="-122"/>
              <a:cs typeface="Times New Roman" panose="02020603050405020304" pitchFamily="18" charset="0"/>
            </a:endParaRPr>
          </a:p>
          <a:p>
            <a:pPr marL="0" indent="0">
              <a:lnSpc>
                <a:spcPct val="75000"/>
              </a:lnSpc>
              <a:buNone/>
            </a:pPr>
            <a:r>
              <a:rPr lang="en-US" altLang="zh-CN" sz="3600" b="1" dirty="0">
                <a:latin typeface="Times New Roman" panose="02020603050405020304" pitchFamily="18" charset="0"/>
                <a:ea typeface="宋体" panose="02010600030101010101" pitchFamily="2" charset="-122"/>
                <a:cs typeface="Times New Roman" panose="02020603050405020304" pitchFamily="18" charset="0"/>
                <a:sym typeface="+mn-ea"/>
              </a:rPr>
              <a:t>7.</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主修</a:t>
            </a:r>
            <a:r>
              <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占少</a:t>
            </a:r>
            <a:r>
              <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多数 </a:t>
            </a:r>
            <a:r>
              <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8.</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洗澡</a:t>
            </a:r>
            <a:r>
              <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清洗伤口</a:t>
            </a:r>
            <a:r>
              <a:rPr lang="en-US" altLang="zh-CN" sz="3600" b="1" kern="1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沐浴在</a:t>
            </a:r>
            <a:r>
              <a:rPr lang="zh-CN" altLang="zh-CN" sz="3600" b="1" kern="100" dirty="0">
                <a:latin typeface="Times New Roman" panose="02020603050405020304" pitchFamily="18" charset="0"/>
                <a:ea typeface="宋体" panose="02010600030101010101" pitchFamily="2" charset="-122"/>
                <a:cs typeface="Times New Roman" panose="02020603050405020304" pitchFamily="18" charset="0"/>
                <a:sym typeface="+mn-ea"/>
              </a:rPr>
              <a:t>阳光里</a:t>
            </a:r>
            <a:r>
              <a:rPr lang="en-US" altLang="zh-CN" sz="3600" b="1" kern="100" dirty="0">
                <a:latin typeface="Times New Roman" panose="02020603050405020304" pitchFamily="18" charset="0"/>
                <a:ea typeface="宋体" panose="02010600030101010101" pitchFamily="2" charset="-122"/>
                <a:cs typeface="Times New Roman" panose="02020603050405020304" pitchFamily="18" charset="0"/>
                <a:sym typeface="+mn-ea"/>
              </a:rPr>
              <a:t> 9.</a:t>
            </a:r>
            <a:r>
              <a:rPr lang="zh-CN" altLang="en-US" sz="3600" b="1" dirty="0">
                <a:latin typeface="Times New Roman" panose="02020603050405020304" pitchFamily="18" charset="0"/>
                <a:ea typeface="宋体" panose="02010600030101010101" pitchFamily="2" charset="-122"/>
                <a:cs typeface="Times New Roman" panose="02020603050405020304" pitchFamily="18" charset="0"/>
                <a:sym typeface="+mn-ea"/>
              </a:rPr>
              <a:t>吓得尖叫</a:t>
            </a:r>
            <a:r>
              <a:rPr lang="en-US" altLang="zh-CN" sz="3600" b="1"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发出一声</a:t>
            </a:r>
            <a:r>
              <a:rPr lang="zh-CN" altLang="en-US" sz="36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惊恐的尖叫</a:t>
            </a:r>
            <a:r>
              <a:rPr lang="en-US" altLang="zh-CN" sz="36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 10.</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对</a:t>
            </a:r>
            <a:r>
              <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咆哮</a:t>
            </a:r>
            <a:r>
              <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厉声说出 </a:t>
            </a:r>
            <a:endParaRPr lang="zh-CN" altLang="en-US" sz="3600" b="1" dirty="0">
              <a:solidFill>
                <a:srgbClr val="FF0000"/>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pPr marL="0" indent="0">
              <a:lnSpc>
                <a:spcPct val="75000"/>
              </a:lnSpc>
              <a:buNone/>
            </a:pP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11.</a:t>
            </a:r>
            <a:r>
              <a:rPr lang="zh-CN" altLang="en-US" sz="3200" b="1" dirty="0">
                <a:latin typeface="Times New Roman" panose="02020603050405020304" pitchFamily="18" charset="0"/>
                <a:ea typeface="宋体" panose="02010600030101010101" pitchFamily="2" charset="-122"/>
                <a:cs typeface="Times New Roman" panose="02020603050405020304" pitchFamily="18" charset="0"/>
              </a:rPr>
              <a:t>声音哽咽地</a:t>
            </a:r>
            <a:r>
              <a:rPr lang="en-US" altLang="zh-CN" sz="3200" b="1"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强忍住泪水</a:t>
            </a:r>
            <a:r>
              <a:rPr lang="en-US" altLang="zh-CN" sz="3200" b="1" kern="100" dirty="0">
                <a:latin typeface="Times New Roman" panose="02020603050405020304" pitchFamily="18" charset="0"/>
                <a:ea typeface="宋体" panose="02010600030101010101" pitchFamily="2" charset="-122"/>
                <a:cs typeface="Times New Roman" panose="02020603050405020304" pitchFamily="18" charset="0"/>
              </a:rPr>
              <a:t> 12.</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掩盖某事</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布满</a:t>
            </a:r>
            <a:r>
              <a:rPr lang="zh-CN" altLang="en-US" sz="3200" b="1" dirty="0">
                <a:latin typeface="Times New Roman" panose="02020603050405020304" pitchFamily="18" charset="0"/>
                <a:ea typeface="宋体" panose="02010600030101010101" pitchFamily="2" charset="-122"/>
                <a:cs typeface="Times New Roman" panose="02020603050405020304" pitchFamily="18" charset="0"/>
              </a:rPr>
              <a:t>鲜花</a:t>
            </a:r>
            <a:r>
              <a:rPr lang="en-US" altLang="zh-CN" sz="3200" b="1"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en-US" sz="3200" b="1" dirty="0" err="1">
                <a:solidFill>
                  <a:srgbClr val="FF0000"/>
                </a:solidFill>
                <a:latin typeface="Times New Roman" panose="02020603050405020304" pitchFamily="18" charset="0"/>
                <a:ea typeface="宋体" panose="02010600030101010101" pitchFamily="2" charset="-122"/>
                <a:cs typeface="Times New Roman" panose="02020603050405020304" pitchFamily="18" charset="0"/>
              </a:rPr>
              <a:t>一包香烟</a:t>
            </a:r>
            <a:r>
              <a:rPr lang="en-US"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p>
          <a:p>
            <a:pPr marL="0" indent="0">
              <a:lnSpc>
                <a:spcPct val="75000"/>
              </a:lnSpc>
              <a:buNone/>
            </a:pP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13.</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不假思索的反应</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3200" b="1" dirty="0">
                <a:latin typeface="Times New Roman" panose="02020603050405020304" pitchFamily="18" charset="0"/>
                <a:ea typeface="宋体" panose="02010600030101010101" pitchFamily="2" charset="-122"/>
                <a:cs typeface="Times New Roman" panose="02020603050405020304" pitchFamily="18" charset="0"/>
              </a:rPr>
              <a:t> adv.</a:t>
            </a:r>
            <a:r>
              <a:rPr lang="zh-CN" altLang="en-US" sz="3200" b="1" dirty="0">
                <a:latin typeface="Times New Roman" panose="02020603050405020304" pitchFamily="18" charset="0"/>
                <a:ea typeface="宋体" panose="02010600030101010101" pitchFamily="2" charset="-122"/>
                <a:cs typeface="Times New Roman" panose="02020603050405020304" pitchFamily="18" charset="0"/>
              </a:rPr>
              <a:t>自动地 </a:t>
            </a:r>
            <a:r>
              <a:rPr lang="en-US" altLang="zh-CN" sz="3200" b="1" dirty="0">
                <a:latin typeface="Times New Roman" panose="02020603050405020304" pitchFamily="18" charset="0"/>
                <a:ea typeface="宋体" panose="02010600030101010101" pitchFamily="2" charset="-122"/>
                <a:cs typeface="Times New Roman" panose="02020603050405020304" pitchFamily="18" charset="0"/>
              </a:rPr>
              <a:t>14.n.</a:t>
            </a:r>
            <a:r>
              <a:rPr lang="zh-CN" altLang="en-US" sz="3200" b="1" dirty="0">
                <a:latin typeface="Times New Roman" panose="02020603050405020304" pitchFamily="18" charset="0"/>
                <a:ea typeface="宋体" panose="02010600030101010101" pitchFamily="2" charset="-122"/>
                <a:cs typeface="Times New Roman" panose="02020603050405020304" pitchFamily="18" charset="0"/>
              </a:rPr>
              <a:t>调查者</a:t>
            </a:r>
            <a:r>
              <a:rPr lang="en-US" altLang="zh-CN" sz="3200" b="1"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在调查中</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3200" b="1" dirty="0" err="1">
                <a:solidFill>
                  <a:srgbClr val="FF0000"/>
                </a:solidFill>
                <a:latin typeface="Times New Roman" panose="02020603050405020304" pitchFamily="18" charset="0"/>
                <a:ea typeface="宋体" panose="02010600030101010101" pitchFamily="2" charset="-122"/>
                <a:cs typeface="Times New Roman" panose="02020603050405020304" pitchFamily="18" charset="0"/>
              </a:rPr>
              <a:t>进行彻底调查</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15.</a:t>
            </a:r>
            <a:r>
              <a:rPr lang="zh-CN" altLang="en-US" sz="3200" b="1" dirty="0">
                <a:latin typeface="Times New Roman" panose="02020603050405020304" pitchFamily="18" charset="0"/>
                <a:ea typeface="宋体" panose="02010600030101010101" pitchFamily="2" charset="-122"/>
                <a:cs typeface="Times New Roman" panose="02020603050405020304" pitchFamily="18" charset="0"/>
                <a:sym typeface="+mn-ea"/>
              </a:rPr>
              <a:t>新闻</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记者</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200" b="1" dirty="0">
                <a:latin typeface="Times New Roman" panose="02020603050405020304" pitchFamily="18" charset="0"/>
                <a:ea typeface="宋体" panose="02010600030101010101" pitchFamily="2" charset="-122"/>
                <a:cs typeface="Times New Roman" panose="02020603050405020304" pitchFamily="18" charset="0"/>
                <a:sym typeface="+mn-ea"/>
              </a:rPr>
              <a:t>新闻业</a:t>
            </a:r>
            <a:r>
              <a:rPr lang="en-US" altLang="zh-CN" sz="3200" b="1"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200" b="1" dirty="0">
                <a:latin typeface="Times New Roman" panose="02020603050405020304" pitchFamily="18" charset="0"/>
                <a:ea typeface="宋体" panose="02010600030101010101" pitchFamily="2" charset="-122"/>
                <a:cs typeface="Times New Roman" panose="02020603050405020304" pitchFamily="18" charset="0"/>
                <a:sym typeface="+mn-ea"/>
              </a:rPr>
              <a:t>新闻报道</a:t>
            </a:r>
            <a:r>
              <a:rPr lang="en-US" altLang="zh-CN" sz="3200" b="1"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期刊</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日记</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16.</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发生</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;come out</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翻译</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;come over</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译</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;come to</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译</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;come up</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译</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当谈及</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做</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某事</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提出 </a:t>
            </a:r>
          </a:p>
          <a:p>
            <a:pPr marL="0" indent="0">
              <a:lnSpc>
                <a:spcPct val="75000"/>
              </a:lnSpc>
              <a:buNone/>
            </a:pP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17.v.</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优先考虑</a:t>
            </a:r>
            <a:r>
              <a:rPr lang="en-US" altLang="zh-CN" sz="3200" b="1"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3200" b="1" dirty="0" err="1">
                <a:solidFill>
                  <a:srgbClr val="FF0000"/>
                </a:solidFill>
                <a:latin typeface="Times New Roman" panose="02020603050405020304" pitchFamily="18" charset="0"/>
                <a:ea typeface="宋体" panose="02010600030101010101" pitchFamily="2" charset="-122"/>
                <a:cs typeface="Times New Roman" panose="02020603050405020304" pitchFamily="18" charset="0"/>
              </a:rPr>
              <a:t>当务之急</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200" b="1" dirty="0">
                <a:latin typeface="Times New Roman" panose="02020603050405020304" pitchFamily="18" charset="0"/>
                <a:ea typeface="宋体" panose="02010600030101010101" pitchFamily="2" charset="-122"/>
                <a:cs typeface="Times New Roman" panose="02020603050405020304" pitchFamily="18" charset="0"/>
              </a:rPr>
              <a:t>比某事优先考虑</a:t>
            </a:r>
            <a:r>
              <a:rPr lang="en-US" altLang="zh-CN" sz="3200" b="1" dirty="0">
                <a:latin typeface="Times New Roman" panose="02020603050405020304" pitchFamily="18" charset="0"/>
                <a:ea typeface="宋体" panose="02010600030101010101" pitchFamily="2" charset="-122"/>
                <a:cs typeface="Times New Roman" panose="02020603050405020304" pitchFamily="18" charset="0"/>
              </a:rPr>
              <a:t> 18.</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自相矛盾</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;adj.</a:t>
            </a:r>
            <a:r>
              <a:rPr lang="zh-CN" altLang="en-US" sz="3200" b="1" dirty="0">
                <a:latin typeface="Times New Roman" panose="02020603050405020304" pitchFamily="18" charset="0"/>
                <a:ea typeface="宋体" panose="02010600030101010101" pitchFamily="2" charset="-122"/>
                <a:cs typeface="Times New Roman" panose="02020603050405020304" pitchFamily="18" charset="0"/>
                <a:sym typeface="+mn-ea"/>
              </a:rPr>
              <a:t>矛盾的</a:t>
            </a:r>
            <a:r>
              <a:rPr lang="en-US" altLang="zh-CN" sz="3200" b="1"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200" b="1" dirty="0">
                <a:latin typeface="Times New Roman" panose="02020603050405020304" pitchFamily="18" charset="0"/>
                <a:ea typeface="宋体" panose="02010600030101010101" pitchFamily="2" charset="-122"/>
                <a:cs typeface="Times New Roman" panose="02020603050405020304" pitchFamily="18" charset="0"/>
                <a:sym typeface="+mn-ea"/>
              </a:rPr>
              <a:t>与</a:t>
            </a:r>
            <a:r>
              <a:rPr lang="en-US" altLang="zh-CN" sz="3200" b="1"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200" b="1" dirty="0">
                <a:latin typeface="Times New Roman" panose="02020603050405020304" pitchFamily="18" charset="0"/>
                <a:ea typeface="宋体" panose="02010600030101010101" pitchFamily="2" charset="-122"/>
                <a:cs typeface="Times New Roman" panose="02020603050405020304" pitchFamily="18" charset="0"/>
                <a:sym typeface="+mn-ea"/>
              </a:rPr>
              <a:t>矛盾</a:t>
            </a:r>
            <a:r>
              <a:rPr lang="en-US" altLang="zh-CN" sz="3200" b="1" dirty="0">
                <a:latin typeface="Times New Roman" panose="02020603050405020304" pitchFamily="18" charset="0"/>
                <a:ea typeface="宋体" panose="02010600030101010101" pitchFamily="2" charset="-122"/>
                <a:cs typeface="Times New Roman" panose="02020603050405020304" pitchFamily="18" charset="0"/>
                <a:sym typeface="+mn-ea"/>
              </a:rPr>
              <a:t> 19.</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事实上 </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20.</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例如 </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21.A</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与</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B</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不同</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在…方面不同</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200" b="1" dirty="0">
                <a:latin typeface="Times New Roman" panose="02020603050405020304" pitchFamily="18" charset="0"/>
                <a:ea typeface="宋体" panose="02010600030101010101" pitchFamily="2" charset="-122"/>
                <a:cs typeface="Times New Roman" panose="02020603050405020304" pitchFamily="18" charset="0"/>
                <a:sym typeface="+mn-ea"/>
              </a:rPr>
              <a:t>起(不起)作用</a:t>
            </a:r>
            <a:r>
              <a:rPr lang="en-US" altLang="zh-CN" sz="3200" b="1"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200" b="1" dirty="0">
                <a:latin typeface="Times New Roman" panose="02020603050405020304" pitchFamily="18" charset="0"/>
                <a:ea typeface="宋体" panose="02010600030101010101" pitchFamily="2" charset="-122"/>
                <a:cs typeface="Times New Roman" panose="02020603050405020304" pitchFamily="18" charset="0"/>
                <a:sym typeface="+mn-ea"/>
              </a:rPr>
              <a:t>区分</a:t>
            </a:r>
            <a:r>
              <a:rPr lang="en-US" altLang="zh-CN" sz="3200" b="1" dirty="0">
                <a:latin typeface="Times New Roman" panose="02020603050405020304" pitchFamily="18" charset="0"/>
                <a:ea typeface="宋体" panose="02010600030101010101" pitchFamily="2" charset="-122"/>
                <a:cs typeface="Times New Roman" panose="02020603050405020304" pitchFamily="18" charset="0"/>
                <a:sym typeface="+mn-ea"/>
              </a:rPr>
              <a:t>AB;</a:t>
            </a:r>
            <a:r>
              <a:rPr lang="zh-CN" altLang="en-US" sz="3200" b="1" dirty="0">
                <a:latin typeface="Times New Roman" panose="02020603050405020304" pitchFamily="18" charset="0"/>
                <a:ea typeface="宋体" panose="02010600030101010101" pitchFamily="2" charset="-122"/>
                <a:cs typeface="Times New Roman" panose="02020603050405020304" pitchFamily="18" charset="0"/>
                <a:sym typeface="+mn-ea"/>
              </a:rPr>
              <a:t>在</a:t>
            </a:r>
            <a:r>
              <a:rPr lang="en-US" altLang="zh-CN" sz="3200" b="1"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200" b="1" dirty="0">
                <a:latin typeface="Times New Roman" panose="02020603050405020304" pitchFamily="18" charset="0"/>
                <a:ea typeface="宋体" panose="02010600030101010101" pitchFamily="2" charset="-122"/>
                <a:cs typeface="Times New Roman" panose="02020603050405020304" pitchFamily="18" charset="0"/>
                <a:sym typeface="+mn-ea"/>
              </a:rPr>
              <a:t>方面与…不同 </a:t>
            </a:r>
            <a:r>
              <a:rPr lang="en-US" altLang="zh-CN" sz="3200" b="1" dirty="0">
                <a:latin typeface="Times New Roman" panose="02020603050405020304" pitchFamily="18" charset="0"/>
                <a:ea typeface="宋体" panose="02010600030101010101" pitchFamily="2" charset="-122"/>
                <a:cs typeface="Times New Roman" panose="02020603050405020304" pitchFamily="18" charset="0"/>
                <a:sym typeface="+mn-ea"/>
              </a:rPr>
              <a:t>22.</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贸然断定</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lt"/>
              </a:rPr>
              <a:t>得出结论</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lt"/>
              </a:rPr>
              <a:t>;</a:t>
            </a:r>
            <a:r>
              <a:rPr lang="en-US" altLang="zh-CN" sz="3200" b="1" dirty="0" err="1">
                <a:solidFill>
                  <a:srgbClr val="FF0000"/>
                </a:solidFill>
                <a:latin typeface="Times New Roman" panose="02020603050405020304" pitchFamily="18" charset="0"/>
                <a:ea typeface="宋体" panose="02010600030101010101" pitchFamily="2" charset="-122"/>
                <a:cs typeface="Times New Roman" panose="02020603050405020304" pitchFamily="18" charset="0"/>
              </a:rPr>
              <a:t>总之</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以</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结束</a:t>
            </a:r>
            <a:r>
              <a:rPr lang="en-US" altLang="zh-CN" sz="3200" b="1" dirty="0">
                <a:latin typeface="Times New Roman" panose="02020603050405020304" pitchFamily="18" charset="0"/>
                <a:ea typeface="宋体" panose="02010600030101010101" pitchFamily="2" charset="-122"/>
                <a:cs typeface="Times New Roman" panose="02020603050405020304" pitchFamily="18" charset="0"/>
                <a:sym typeface="+mn-ea"/>
              </a:rPr>
              <a:t> </a:t>
            </a:r>
          </a:p>
          <a:p>
            <a:pPr marL="0" indent="0">
              <a:lnSpc>
                <a:spcPct val="75000"/>
              </a:lnSpc>
              <a:buNone/>
            </a:pPr>
            <a:r>
              <a:rPr lang="en-US" altLang="zh-CN" sz="3200" b="1" dirty="0">
                <a:latin typeface="Times New Roman" panose="02020603050405020304" pitchFamily="18" charset="0"/>
                <a:ea typeface="宋体" panose="02010600030101010101" pitchFamily="2" charset="-122"/>
                <a:cs typeface="Times New Roman" panose="02020603050405020304" pitchFamily="18" charset="0"/>
                <a:sym typeface="+mn-ea"/>
              </a:rPr>
              <a:t>23.</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b="1" dirty="0" err="1">
                <a:solidFill>
                  <a:srgbClr val="FF0000"/>
                </a:solidFill>
                <a:latin typeface="Times New Roman" panose="02020603050405020304" pitchFamily="18" charset="0"/>
                <a:ea typeface="宋体" panose="02010600030101010101" pitchFamily="2" charset="-122"/>
                <a:cs typeface="Times New Roman" panose="02020603050405020304" pitchFamily="18" charset="0"/>
              </a:rPr>
              <a:t>揭露</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200" b="1" dirty="0">
                <a:latin typeface="Times New Roman" panose="02020603050405020304" pitchFamily="18" charset="0"/>
                <a:ea typeface="宋体" panose="02010600030101010101" pitchFamily="2" charset="-122"/>
                <a:cs typeface="Times New Roman" panose="02020603050405020304" pitchFamily="18" charset="0"/>
              </a:rPr>
              <a:t>为人所知</a:t>
            </a:r>
            <a:r>
              <a:rPr lang="en-US" altLang="zh-CN" sz="3200" b="1"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点燃的蜡烛</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3200" b="1" dirty="0" err="1">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笑容满面</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 24.</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最小</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大值</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25.</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概括</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总之 </a:t>
            </a:r>
          </a:p>
          <a:p>
            <a:pPr marL="0" indent="0">
              <a:lnSpc>
                <a:spcPct val="75000"/>
              </a:lnSpc>
              <a:buNone/>
            </a:pP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26.</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准确的;</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不准确的</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;n.</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精确 </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27.</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致力于做某事</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承诺做某事</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犯罪</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尽责忠诚的 </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28.</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种族歧视</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区分</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AB;</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歧视</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偏爱 </a:t>
            </a:r>
          </a:p>
          <a:p>
            <a:pPr marL="0" indent="0">
              <a:lnSpc>
                <a:spcPct val="75000"/>
              </a:lnSpc>
              <a:buNone/>
            </a:pP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29.</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对</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好奇</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出于好奇</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满足</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激起某人的好奇心</a:t>
            </a:r>
          </a:p>
          <a:p>
            <a:pPr marL="0" indent="0">
              <a:lnSpc>
                <a:spcPct val="75000"/>
              </a:lnSpc>
              <a:buNone/>
            </a:pPr>
            <a:r>
              <a:rPr lang="zh-CN" altLang="en-US" sz="3200" b="1" dirty="0">
                <a:solidFill>
                  <a:srgbClr val="7030A0"/>
                </a:solidFill>
                <a:latin typeface="Times New Roman" panose="02020603050405020304" pitchFamily="18" charset="0"/>
                <a:ea typeface="宋体" panose="02010600030101010101" pitchFamily="2" charset="-122"/>
                <a:cs typeface="Times New Roman" panose="02020603050405020304" pitchFamily="18" charset="0"/>
              </a:rPr>
              <a:t>时态：</a:t>
            </a:r>
            <a:r>
              <a:rPr lang="en-US" altLang="zh-CN" sz="3200" b="1" dirty="0">
                <a:solidFill>
                  <a:srgbClr val="7030A0"/>
                </a:solidFill>
                <a:latin typeface="Times New Roman" panose="02020603050405020304" pitchFamily="18" charset="0"/>
                <a:ea typeface="宋体" panose="02010600030101010101" pitchFamily="2" charset="-122"/>
                <a:cs typeface="Times New Roman" panose="02020603050405020304" pitchFamily="18" charset="0"/>
              </a:rPr>
              <a:t>1.</a:t>
            </a:r>
            <a:r>
              <a:rPr lang="zh-CN" altLang="en-US" sz="3200" b="1" dirty="0">
                <a:solidFill>
                  <a:srgbClr val="7030A0"/>
                </a:solidFill>
                <a:latin typeface="Times New Roman" panose="02020603050405020304" pitchFamily="18" charset="0"/>
                <a:ea typeface="宋体" panose="02010600030101010101" pitchFamily="2" charset="-122"/>
                <a:cs typeface="Times New Roman" panose="02020603050405020304" pitchFamily="18" charset="0"/>
              </a:rPr>
              <a:t>与过去完成时连用的时间状语</a:t>
            </a:r>
            <a:r>
              <a:rPr lang="en-US" altLang="zh-CN" sz="3200" b="1" dirty="0">
                <a:solidFill>
                  <a:srgbClr val="7030A0"/>
                </a:solidFill>
                <a:latin typeface="Times New Roman" panose="02020603050405020304" pitchFamily="18" charset="0"/>
                <a:ea typeface="宋体" panose="02010600030101010101" pitchFamily="2" charset="-122"/>
                <a:cs typeface="Times New Roman" panose="02020603050405020304" pitchFamily="18" charset="0"/>
              </a:rPr>
              <a:t>(3</a:t>
            </a:r>
            <a:r>
              <a:rPr lang="zh-CN" altLang="en-US" sz="3200" b="1" dirty="0">
                <a:solidFill>
                  <a:srgbClr val="7030A0"/>
                </a:solidFill>
                <a:latin typeface="Times New Roman" panose="02020603050405020304" pitchFamily="18" charset="0"/>
                <a:ea typeface="宋体" panose="02010600030101010101" pitchFamily="2" charset="-122"/>
                <a:cs typeface="Times New Roman" panose="02020603050405020304" pitchFamily="18" charset="0"/>
              </a:rPr>
              <a:t>个</a:t>
            </a:r>
            <a:r>
              <a:rPr lang="en-US" altLang="zh-CN" sz="3200" b="1" dirty="0">
                <a:solidFill>
                  <a:srgbClr val="7030A0"/>
                </a:solidFill>
                <a:latin typeface="Times New Roman" panose="02020603050405020304" pitchFamily="18" charset="0"/>
                <a:ea typeface="宋体" panose="02010600030101010101" pitchFamily="2" charset="-122"/>
                <a:cs typeface="Times New Roman" panose="02020603050405020304" pitchFamily="18" charset="0"/>
              </a:rPr>
              <a:t>)</a:t>
            </a:r>
          </a:p>
          <a:p>
            <a:pPr marL="0" indent="0">
              <a:lnSpc>
                <a:spcPct val="75000"/>
              </a:lnSpc>
              <a:buNone/>
            </a:pPr>
            <a:r>
              <a:rPr lang="en-US" altLang="zh-CN" sz="3200" b="1" dirty="0">
                <a:solidFill>
                  <a:srgbClr val="7030A0"/>
                </a:solidFill>
                <a:latin typeface="Times New Roman" panose="02020603050405020304" pitchFamily="18" charset="0"/>
                <a:ea typeface="宋体" panose="02010600030101010101" pitchFamily="2" charset="-122"/>
                <a:cs typeface="Times New Roman" panose="02020603050405020304" pitchFamily="18" charset="0"/>
                <a:sym typeface="+mn-ea"/>
              </a:rPr>
              <a:t>2.by the time</a:t>
            </a:r>
            <a:r>
              <a:rPr lang="zh-CN" altLang="en-US" sz="3200" b="1" dirty="0">
                <a:solidFill>
                  <a:srgbClr val="7030A0"/>
                </a:solidFill>
                <a:latin typeface="Times New Roman" panose="02020603050405020304" pitchFamily="18" charset="0"/>
                <a:ea typeface="宋体" panose="02010600030101010101" pitchFamily="2" charset="-122"/>
                <a:cs typeface="Times New Roman" panose="02020603050405020304" pitchFamily="18" charset="0"/>
                <a:sym typeface="+mn-ea"/>
              </a:rPr>
              <a:t>句型</a:t>
            </a:r>
            <a:r>
              <a:rPr lang="en-US" altLang="zh-CN" sz="3200" b="1" dirty="0">
                <a:solidFill>
                  <a:srgbClr val="7030A0"/>
                </a:solidFill>
                <a:latin typeface="Times New Roman" panose="02020603050405020304" pitchFamily="18" charset="0"/>
                <a:ea typeface="宋体" panose="02010600030101010101" pitchFamily="2" charset="-122"/>
                <a:cs typeface="Times New Roman" panose="02020603050405020304" pitchFamily="18" charset="0"/>
                <a:sym typeface="+mn-ea"/>
              </a:rPr>
              <a:t> 3.</a:t>
            </a:r>
            <a:r>
              <a:rPr lang="zh-CN" altLang="en-US" sz="3200" b="1" dirty="0">
                <a:solidFill>
                  <a:srgbClr val="7030A0"/>
                </a:solidFill>
                <a:latin typeface="Times New Roman" panose="02020603050405020304" pitchFamily="18" charset="0"/>
                <a:ea typeface="宋体" panose="02010600030101010101" pitchFamily="2" charset="-122"/>
                <a:cs typeface="Times New Roman" panose="02020603050405020304" pitchFamily="18" charset="0"/>
              </a:rPr>
              <a:t>有史以来第一次句型</a:t>
            </a:r>
            <a:r>
              <a:rPr lang="en-US" altLang="zh-CN" sz="3200" b="1" dirty="0">
                <a:solidFill>
                  <a:srgbClr val="7030A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b="1" dirty="0">
                <a:solidFill>
                  <a:srgbClr val="7030A0"/>
                </a:solidFill>
                <a:latin typeface="Times New Roman" panose="02020603050405020304" pitchFamily="18" charset="0"/>
                <a:ea typeface="宋体" panose="02010600030101010101" pitchFamily="2" charset="-122"/>
                <a:cs typeface="Times New Roman" panose="02020603050405020304" pitchFamily="18" charset="0"/>
                <a:sym typeface="+mn-ea"/>
              </a:rPr>
              <a:t>4.</a:t>
            </a:r>
            <a:r>
              <a:rPr lang="zh-CN" altLang="en-US" sz="3200" b="1" dirty="0">
                <a:solidFill>
                  <a:srgbClr val="7030A0"/>
                </a:solidFill>
                <a:latin typeface="Times New Roman" panose="02020603050405020304" pitchFamily="18" charset="0"/>
                <a:ea typeface="宋体" panose="02010600030101010101" pitchFamily="2" charset="-122"/>
                <a:cs typeface="Times New Roman" panose="02020603050405020304" pitchFamily="18" charset="0"/>
                <a:sym typeface="+mn-ea"/>
              </a:rPr>
              <a:t>本打算</a:t>
            </a:r>
            <a:r>
              <a:rPr lang="en-US" altLang="zh-CN" sz="3200" b="1" dirty="0">
                <a:solidFill>
                  <a:srgbClr val="7030A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200" b="1" dirty="0">
                <a:solidFill>
                  <a:srgbClr val="7030A0"/>
                </a:solidFill>
                <a:latin typeface="Times New Roman" panose="02020603050405020304" pitchFamily="18" charset="0"/>
                <a:ea typeface="宋体" panose="02010600030101010101" pitchFamily="2" charset="-122"/>
                <a:cs typeface="Times New Roman" panose="02020603050405020304" pitchFamily="18" charset="0"/>
                <a:sym typeface="+mn-ea"/>
              </a:rPr>
              <a:t>却</a:t>
            </a:r>
            <a:r>
              <a:rPr lang="en-US" altLang="zh-CN" sz="3200" b="1" dirty="0">
                <a:solidFill>
                  <a:srgbClr val="7030A0"/>
                </a:solidFill>
                <a:latin typeface="Times New Roman" panose="02020603050405020304" pitchFamily="18" charset="0"/>
                <a:ea typeface="宋体" panose="02010600030101010101" pitchFamily="2" charset="-122"/>
                <a:cs typeface="Times New Roman" panose="02020603050405020304" pitchFamily="18" charset="0"/>
                <a:sym typeface="+mn-ea"/>
              </a:rPr>
              <a:t>… </a:t>
            </a:r>
            <a:endParaRPr lang="en-US" altLang="zh-CN" sz="3200" b="1" dirty="0">
              <a:solidFill>
                <a:srgbClr val="7030A0"/>
              </a:solidFill>
              <a:latin typeface="Times New Roman" panose="02020603050405020304" pitchFamily="18" charset="0"/>
              <a:ea typeface="宋体" panose="02010600030101010101" pitchFamily="2" charset="-122"/>
              <a:cs typeface="Times New Roman" panose="02020603050405020304" pitchFamily="18" charset="0"/>
            </a:endParaRPr>
          </a:p>
          <a:p>
            <a:pPr marL="0" indent="0">
              <a:lnSpc>
                <a:spcPct val="75000"/>
              </a:lnSpc>
              <a:buNone/>
            </a:pPr>
            <a:r>
              <a:rPr lang="en-US" altLang="zh-CN" sz="3200" b="1" dirty="0">
                <a:solidFill>
                  <a:srgbClr val="7030A0"/>
                </a:solidFill>
                <a:latin typeface="Times New Roman" panose="02020603050405020304" pitchFamily="18" charset="0"/>
                <a:ea typeface="宋体" panose="02010600030101010101" pitchFamily="2" charset="-122"/>
                <a:cs typeface="Times New Roman" panose="02020603050405020304" pitchFamily="18" charset="0"/>
              </a:rPr>
              <a:t>5.</a:t>
            </a:r>
            <a:r>
              <a:rPr lang="zh-CN" altLang="en-US" sz="3200" b="1" dirty="0">
                <a:solidFill>
                  <a:srgbClr val="7030A0"/>
                </a:solidFill>
                <a:latin typeface="Times New Roman" panose="02020603050405020304" pitchFamily="18" charset="0"/>
                <a:ea typeface="宋体" panose="02010600030101010101" pitchFamily="2" charset="-122"/>
                <a:cs typeface="Times New Roman" panose="02020603050405020304" pitchFamily="18" charset="0"/>
              </a:rPr>
              <a:t>写一个</a:t>
            </a:r>
            <a:r>
              <a:rPr lang="en-US" altLang="zh-CN" sz="3200" b="1" dirty="0">
                <a:solidFill>
                  <a:srgbClr val="7030A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200" b="1" dirty="0">
                <a:solidFill>
                  <a:srgbClr val="7030A0"/>
                </a:solidFill>
                <a:latin typeface="Times New Roman" panose="02020603050405020304" pitchFamily="18" charset="0"/>
                <a:ea typeface="宋体" panose="02010600030101010101" pitchFamily="2" charset="-122"/>
                <a:cs typeface="Times New Roman" panose="02020603050405020304" pitchFamily="18" charset="0"/>
              </a:rPr>
              <a:t>一</a:t>
            </a:r>
            <a:r>
              <a:rPr lang="en-US" altLang="zh-CN" sz="3200" b="1" dirty="0">
                <a:solidFill>
                  <a:srgbClr val="7030A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200" b="1" dirty="0">
                <a:solidFill>
                  <a:srgbClr val="7030A0"/>
                </a:solidFill>
                <a:latin typeface="Times New Roman" panose="02020603050405020304" pitchFamily="18" charset="0"/>
                <a:ea typeface="宋体" panose="02010600030101010101" pitchFamily="2" charset="-122"/>
                <a:cs typeface="Times New Roman" panose="02020603050405020304" pitchFamily="18" charset="0"/>
              </a:rPr>
              <a:t>就</a:t>
            </a:r>
            <a:r>
              <a:rPr lang="en-US" altLang="zh-CN" sz="3200" b="1" dirty="0">
                <a:solidFill>
                  <a:srgbClr val="7030A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200" b="1" dirty="0">
                <a:solidFill>
                  <a:srgbClr val="7030A0"/>
                </a:solidFill>
                <a:latin typeface="Times New Roman" panose="02020603050405020304" pitchFamily="18" charset="0"/>
                <a:ea typeface="宋体" panose="02010600030101010101" pitchFamily="2" charset="-122"/>
                <a:cs typeface="Times New Roman" panose="02020603050405020304" pitchFamily="18" charset="0"/>
              </a:rPr>
              <a:t>的倒装句</a:t>
            </a:r>
            <a:r>
              <a:rPr lang="en-US" altLang="zh-CN" sz="3200" b="1" dirty="0">
                <a:solidFill>
                  <a:srgbClr val="7030A0"/>
                </a:solidFill>
                <a:latin typeface="Times New Roman" panose="02020603050405020304" pitchFamily="18" charset="0"/>
                <a:ea typeface="宋体" panose="02010600030101010101" pitchFamily="2" charset="-122"/>
                <a:cs typeface="Times New Roman" panose="02020603050405020304" pitchFamily="18" charset="0"/>
              </a:rPr>
              <a:t>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pPr lvl="0"/>
            <a:r>
              <a:rPr lang="en-US" altLang="zh-CN" sz="3600" b="1" dirty="0"/>
              <a:t>P53-53 1.</a:t>
            </a:r>
            <a:r>
              <a:rPr lang="zh-CN" altLang="zh-CN" sz="3600" b="1" dirty="0"/>
              <a:t>伸手去够</a:t>
            </a:r>
            <a:r>
              <a:rPr lang="en-US" altLang="zh-CN" sz="3600" b="1" dirty="0"/>
              <a:t> 2.</a:t>
            </a:r>
            <a:r>
              <a:rPr lang="zh-CN" altLang="zh-CN" sz="3600" b="1" dirty="0"/>
              <a:t>因为害怕</a:t>
            </a:r>
            <a:r>
              <a:rPr lang="en-US" altLang="zh-CN" sz="3600" b="1" dirty="0"/>
              <a:t> 3.</a:t>
            </a:r>
            <a:r>
              <a:rPr lang="zh-CN" altLang="zh-CN" sz="3600" b="1" dirty="0"/>
              <a:t>吓到居民</a:t>
            </a:r>
            <a:r>
              <a:rPr lang="en-US" altLang="zh-CN" sz="3600" b="1" dirty="0"/>
              <a:t>4.</a:t>
            </a:r>
            <a:r>
              <a:rPr lang="zh-CN" altLang="zh-CN" sz="3600" b="1" dirty="0"/>
              <a:t>惊人的想象力</a:t>
            </a:r>
            <a:endParaRPr lang="en-US" altLang="zh-CN" sz="3600" b="1" dirty="0"/>
          </a:p>
          <a:p>
            <a:pPr lvl="0"/>
            <a:r>
              <a:rPr lang="en-US" altLang="zh-CN" sz="3600" b="1" dirty="0"/>
              <a:t>5.</a:t>
            </a:r>
            <a:r>
              <a:rPr lang="zh-CN" altLang="zh-CN" sz="3600" b="1" dirty="0"/>
              <a:t>导致</a:t>
            </a:r>
            <a:r>
              <a:rPr lang="en-US" altLang="zh-CN" sz="3600" b="1" dirty="0"/>
              <a:t>,</a:t>
            </a:r>
            <a:r>
              <a:rPr lang="zh-CN" altLang="zh-CN" sz="3600" b="1" dirty="0"/>
              <a:t>是</a:t>
            </a:r>
            <a:r>
              <a:rPr lang="en-US" altLang="zh-CN" sz="3600" b="1" dirty="0"/>
              <a:t>...</a:t>
            </a:r>
            <a:r>
              <a:rPr lang="zh-CN" altLang="zh-CN" sz="3600" b="1" dirty="0"/>
              <a:t>的原因之一</a:t>
            </a:r>
            <a:r>
              <a:rPr lang="en-US" altLang="zh-CN" sz="3600" b="1" dirty="0"/>
              <a:t> 6.n.</a:t>
            </a:r>
            <a:r>
              <a:rPr lang="zh-CN" altLang="zh-CN" sz="3600" b="1" dirty="0"/>
              <a:t>哲学家</a:t>
            </a:r>
            <a:r>
              <a:rPr lang="zh-CN" altLang="en-US" sz="3600" b="1" dirty="0"/>
              <a:t>→</a:t>
            </a:r>
            <a:r>
              <a:rPr lang="zh-CN" altLang="zh-CN" sz="3600" b="1" dirty="0"/>
              <a:t>哲学</a:t>
            </a:r>
            <a:r>
              <a:rPr lang="en-US" altLang="zh-CN" sz="3600" b="1" dirty="0"/>
              <a:t>7.</a:t>
            </a:r>
            <a:r>
              <a:rPr lang="zh-CN" altLang="zh-CN" sz="3600" b="1" dirty="0"/>
              <a:t>使某人自己熟悉</a:t>
            </a:r>
            <a:r>
              <a:rPr lang="en-US" altLang="zh-CN" sz="3600" b="1" dirty="0"/>
              <a:t> </a:t>
            </a:r>
          </a:p>
          <a:p>
            <a:pPr lvl="0"/>
            <a:r>
              <a:rPr lang="en-US" altLang="zh-CN" sz="3600" b="1" dirty="0"/>
              <a:t>8.</a:t>
            </a:r>
            <a:r>
              <a:rPr lang="zh-CN" altLang="zh-CN" sz="3600" b="1" dirty="0"/>
              <a:t>更重要的是</a:t>
            </a:r>
            <a:r>
              <a:rPr lang="en-US" altLang="zh-CN" sz="3600" b="1" dirty="0"/>
              <a:t> 9.</a:t>
            </a:r>
            <a:r>
              <a:rPr lang="zh-CN" altLang="zh-CN" sz="3600" b="1" dirty="0"/>
              <a:t>受到</a:t>
            </a:r>
            <a:r>
              <a:rPr lang="en-US" altLang="zh-CN" sz="3600" b="1" dirty="0"/>
              <a:t>...</a:t>
            </a:r>
            <a:r>
              <a:rPr lang="zh-CN" altLang="zh-CN" sz="3600" b="1" dirty="0"/>
              <a:t>的驱使</a:t>
            </a:r>
            <a:r>
              <a:rPr lang="en-US" altLang="zh-CN" sz="3600" b="1" dirty="0"/>
              <a:t> 10.</a:t>
            </a:r>
            <a:r>
              <a:rPr lang="zh-CN" altLang="zh-CN" sz="3600" b="1" dirty="0"/>
              <a:t>鼓舞某人做某事</a:t>
            </a:r>
            <a:r>
              <a:rPr lang="en-US" altLang="zh-CN" sz="3600" b="1" dirty="0"/>
              <a:t> </a:t>
            </a:r>
          </a:p>
          <a:p>
            <a:pPr lvl="0"/>
            <a:r>
              <a:rPr lang="en-US" altLang="zh-CN" sz="3600" b="1" dirty="0"/>
              <a:t>11.</a:t>
            </a:r>
            <a:r>
              <a:rPr lang="zh-CN" altLang="zh-CN" sz="3600" b="1" dirty="0"/>
              <a:t>培养对大自然的热爱之情</a:t>
            </a:r>
            <a:r>
              <a:rPr lang="en-US" altLang="zh-CN" sz="3600" b="1" dirty="0"/>
              <a:t> 12.</a:t>
            </a:r>
            <a:r>
              <a:rPr lang="zh-CN" altLang="zh-CN" sz="3600" b="1" dirty="0"/>
              <a:t>深深扎根于</a:t>
            </a:r>
            <a:r>
              <a:rPr lang="en-US" altLang="zh-CN" sz="3600" b="1" dirty="0"/>
              <a:t> 13.</a:t>
            </a:r>
            <a:r>
              <a:rPr lang="zh-CN" altLang="zh-CN" sz="3600" b="1" dirty="0"/>
              <a:t>社会历史背景</a:t>
            </a:r>
            <a:r>
              <a:rPr lang="en-US" altLang="zh-CN" sz="3600" b="1" dirty="0"/>
              <a:t> 14.</a:t>
            </a:r>
            <a:r>
              <a:rPr lang="zh-CN" altLang="zh-CN" sz="3600" b="1" dirty="0"/>
              <a:t>成长在唐朝最辉煌的时期</a:t>
            </a:r>
            <a:r>
              <a:rPr lang="en-US" altLang="zh-CN" sz="3600" b="1" dirty="0"/>
              <a:t> 15.</a:t>
            </a:r>
            <a:r>
              <a:rPr lang="zh-CN" altLang="zh-CN" sz="3600" b="1" dirty="0"/>
              <a:t>一个经济繁荣、社会稳定的时期</a:t>
            </a:r>
            <a:r>
              <a:rPr lang="en-US" altLang="zh-CN" sz="3600" b="1" dirty="0"/>
              <a:t> 16.</a:t>
            </a:r>
            <a:r>
              <a:rPr lang="zh-CN" altLang="en-US" sz="3600" b="1" dirty="0"/>
              <a:t>包容</a:t>
            </a:r>
            <a:r>
              <a:rPr lang="zh-CN" altLang="zh-CN" sz="3600" b="1" dirty="0"/>
              <a:t>的氛围</a:t>
            </a:r>
            <a:r>
              <a:rPr lang="en-US" altLang="zh-CN" sz="3600" b="1" dirty="0"/>
              <a:t> </a:t>
            </a:r>
            <a:r>
              <a:rPr lang="en-US" altLang="zh-CN" sz="3600" b="1" dirty="0">
                <a:latin typeface="Times New Roman" panose="02020603050405020304" pitchFamily="18" charset="0"/>
                <a:ea typeface="宋体" panose="02010600030101010101" pitchFamily="2" charset="-122"/>
              </a:rPr>
              <a:t>17.</a:t>
            </a:r>
            <a:r>
              <a:rPr lang="zh-CN" altLang="zh-CN" sz="3600" b="1" dirty="0"/>
              <a:t>允许某人自由做某事</a:t>
            </a:r>
            <a:r>
              <a:rPr lang="en-US" altLang="zh-CN" sz="3600" b="1" dirty="0"/>
              <a:t> 18.</a:t>
            </a:r>
            <a:r>
              <a:rPr lang="zh-CN" altLang="zh-CN" sz="3600" b="1" dirty="0"/>
              <a:t>培养自由不羁的个性</a:t>
            </a:r>
            <a:r>
              <a:rPr lang="en-US" altLang="zh-CN" sz="3600" b="1" dirty="0"/>
              <a:t> 19.in turn</a:t>
            </a:r>
            <a:r>
              <a:rPr lang="zh-CN" altLang="en-US" sz="3600" b="1" dirty="0"/>
              <a:t>翻译 </a:t>
            </a:r>
            <a:r>
              <a:rPr lang="en-US" altLang="zh-CN" sz="3600" b="1" dirty="0"/>
              <a:t>20.</a:t>
            </a:r>
            <a:r>
              <a:rPr lang="zh-CN" altLang="zh-CN" sz="3600" b="1" dirty="0"/>
              <a:t>考虑到</a:t>
            </a:r>
            <a:r>
              <a:rPr lang="en-US" altLang="zh-CN" sz="3600" b="1" dirty="0"/>
              <a:t> 21.</a:t>
            </a:r>
            <a:r>
              <a:rPr lang="zh-CN" altLang="zh-CN" sz="3600" b="1" dirty="0"/>
              <a:t>大部分</a:t>
            </a:r>
            <a:r>
              <a:rPr lang="en-US" altLang="zh-CN" sz="3600" b="1" dirty="0"/>
              <a:t> </a:t>
            </a:r>
          </a:p>
          <a:p>
            <a:pPr lvl="0"/>
            <a:r>
              <a:rPr lang="en-US" altLang="zh-CN" sz="3600" b="1" dirty="0"/>
              <a:t>22.</a:t>
            </a:r>
            <a:r>
              <a:rPr lang="zh-CN" altLang="zh-CN" sz="3600" b="1" dirty="0"/>
              <a:t>以</a:t>
            </a:r>
            <a:r>
              <a:rPr lang="en-US" altLang="zh-CN" sz="3600" b="1" dirty="0"/>
              <a:t>...</a:t>
            </a:r>
            <a:r>
              <a:rPr lang="zh-CN" altLang="zh-CN" sz="3600" b="1" dirty="0"/>
              <a:t>为特点</a:t>
            </a:r>
            <a:r>
              <a:rPr lang="en-US" altLang="zh-CN" sz="3600" b="1" dirty="0"/>
              <a:t> 23.</a:t>
            </a:r>
            <a:r>
              <a:rPr lang="zh-CN" altLang="zh-CN" sz="3600" b="1" dirty="0"/>
              <a:t>无知的</a:t>
            </a:r>
            <a:r>
              <a:rPr lang="en-US" altLang="zh-CN" sz="3600" b="1" dirty="0"/>
              <a:t>;</a:t>
            </a:r>
            <a:r>
              <a:rPr lang="zh-CN" altLang="zh-CN" sz="3600" b="1" dirty="0"/>
              <a:t>让某人知晓</a:t>
            </a:r>
            <a:r>
              <a:rPr lang="en-US" altLang="zh-CN" sz="3600" b="1" dirty="0"/>
              <a:t>24.</a:t>
            </a:r>
            <a:r>
              <a:rPr lang="zh-CN" altLang="zh-CN" sz="3600" b="1" dirty="0"/>
              <a:t>未能做某事</a:t>
            </a:r>
            <a:endParaRPr lang="en-US" altLang="zh-CN" sz="3600" b="1" dirty="0"/>
          </a:p>
          <a:p>
            <a:pPr lvl="0"/>
            <a:r>
              <a:rPr lang="en-US" altLang="zh-CN" sz="3600" b="1" dirty="0"/>
              <a:t>25.</a:t>
            </a:r>
            <a:r>
              <a:rPr lang="zh-CN" altLang="zh-CN" sz="3600" b="1" dirty="0"/>
              <a:t>对</a:t>
            </a:r>
            <a:r>
              <a:rPr lang="en-US" altLang="zh-CN" sz="3600" b="1" dirty="0"/>
              <a:t>...</a:t>
            </a:r>
            <a:r>
              <a:rPr lang="zh-CN" altLang="zh-CN" sz="3600" b="1" dirty="0"/>
              <a:t>印象深刻</a:t>
            </a:r>
            <a:r>
              <a:rPr lang="en-US" altLang="zh-CN" sz="3600" b="1" dirty="0"/>
              <a:t> 26.</a:t>
            </a:r>
            <a:r>
              <a:rPr lang="zh-CN" altLang="zh-CN" sz="3600" b="1" dirty="0"/>
              <a:t>同样令人印象深刻的是</a:t>
            </a:r>
            <a:r>
              <a:rPr lang="en-US" altLang="zh-CN" sz="3600" b="1" dirty="0"/>
              <a:t>27.</a:t>
            </a:r>
            <a:r>
              <a:rPr lang="zh-CN" altLang="zh-CN" sz="3600" b="1" dirty="0"/>
              <a:t>被广泛认为</a:t>
            </a:r>
            <a:endParaRPr lang="en-US" altLang="zh-CN" sz="3600" b="1" dirty="0"/>
          </a:p>
          <a:p>
            <a:pPr lvl="0"/>
            <a:r>
              <a:rPr lang="en-US" altLang="zh-CN" sz="3600" b="1" dirty="0"/>
              <a:t>28.</a:t>
            </a:r>
            <a:r>
              <a:rPr lang="zh-CN" altLang="en-US" sz="3600" b="1" dirty="0">
                <a:latin typeface="+mj-ea"/>
                <a:cs typeface="Times New Roman" panose="02020603050405020304" pitchFamily="18" charset="0"/>
                <a:sym typeface="+mn-ea"/>
              </a:rPr>
              <a:t>把</a:t>
            </a:r>
            <a:r>
              <a:rPr lang="en-US" altLang="zh-CN" sz="3600" b="1" dirty="0">
                <a:latin typeface="+mj-ea"/>
                <a:cs typeface="Times New Roman" panose="02020603050405020304" pitchFamily="18" charset="0"/>
                <a:sym typeface="+mn-ea"/>
              </a:rPr>
              <a:t>…</a:t>
            </a:r>
            <a:r>
              <a:rPr lang="zh-CN" altLang="en-US" sz="3600" b="1">
                <a:latin typeface="+mj-ea"/>
                <a:cs typeface="Times New Roman" panose="02020603050405020304" pitchFamily="18" charset="0"/>
                <a:sym typeface="+mn-ea"/>
              </a:rPr>
              <a:t>归功于某人 </a:t>
            </a:r>
            <a:r>
              <a:rPr lang="en-US" altLang="zh-CN" sz="3600" b="1"/>
              <a:t>29</a:t>
            </a:r>
            <a:r>
              <a:rPr lang="en-US" altLang="zh-CN" sz="3600" b="1" dirty="0"/>
              <a:t>.</a:t>
            </a:r>
            <a:r>
              <a:rPr lang="zh-CN" altLang="zh-CN" sz="3600" b="1" dirty="0"/>
              <a:t>启发灵感鼓舞人心的</a:t>
            </a:r>
            <a:r>
              <a:rPr lang="en-US" altLang="zh-CN" sz="3600" b="1" dirty="0"/>
              <a:t> </a:t>
            </a:r>
            <a:r>
              <a:rPr lang="zh-CN" altLang="zh-CN" sz="3600" b="1" dirty="0"/>
              <a:t>3</a:t>
            </a:r>
            <a:r>
              <a:rPr lang="en-US" altLang="zh-CN" sz="3600" b="1" dirty="0"/>
              <a:t>0.</a:t>
            </a:r>
            <a:r>
              <a:rPr lang="zh-CN" altLang="zh-CN" sz="3600" b="1" dirty="0"/>
              <a:t>着迷于</a:t>
            </a:r>
            <a:endParaRPr lang="en-US" altLang="zh-CN" sz="3600" b="1" dirty="0"/>
          </a:p>
          <a:p>
            <a:pPr lvl="0"/>
            <a:r>
              <a:rPr lang="en-US" altLang="zh-CN" sz="3600" b="1" dirty="0"/>
              <a:t>31.</a:t>
            </a:r>
            <a:r>
              <a:rPr lang="zh-CN" altLang="zh-CN" sz="3600" b="1" dirty="0"/>
              <a:t>标题为…</a:t>
            </a:r>
            <a:endParaRPr lang="en-US" altLang="zh-CN" sz="3600" b="1" dirty="0"/>
          </a:p>
          <a:p>
            <a:pPr lvl="0"/>
            <a:endParaRPr lang="zh-CN" altLang="en-US" sz="3600" b="1" dirty="0">
              <a:solidFill>
                <a:srgbClr val="FF0000"/>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 y="1"/>
            <a:ext cx="12192000" cy="6740307"/>
          </a:xfrm>
          <a:prstGeom prst="rect">
            <a:avLst/>
          </a:prstGeom>
          <a:noFill/>
        </p:spPr>
        <p:txBody>
          <a:bodyPr wrap="square">
            <a:spAutoFit/>
          </a:bodyPr>
          <a:lstStyle/>
          <a:p>
            <a:r>
              <a:rPr lang="en-US" altLang="zh-CN" sz="5400" b="1" dirty="0"/>
              <a:t>P54  at dawn</a:t>
            </a:r>
            <a:r>
              <a:rPr lang="zh-CN" altLang="zh-CN" sz="5400" b="1" dirty="0"/>
              <a:t>在黎明时刻</a:t>
            </a:r>
            <a:endParaRPr lang="en-US" altLang="zh-CN" sz="5400" b="1" dirty="0"/>
          </a:p>
          <a:p>
            <a:r>
              <a:rPr lang="en-US" altLang="zh-CN" sz="5400" b="1" dirty="0"/>
              <a:t>P55</a:t>
            </a:r>
            <a:endParaRPr lang="zh-CN" altLang="zh-CN" sz="5400" b="1" dirty="0"/>
          </a:p>
          <a:p>
            <a:pPr lvl="0"/>
            <a:r>
              <a:rPr lang="en-US" altLang="zh-CN" sz="5400" b="1" dirty="0"/>
              <a:t>blame </a:t>
            </a:r>
            <a:r>
              <a:rPr lang="en-US" altLang="zh-CN" sz="5400" b="1" dirty="0" err="1"/>
              <a:t>sth</a:t>
            </a:r>
            <a:r>
              <a:rPr lang="en-US" altLang="zh-CN" sz="5400" b="1" dirty="0"/>
              <a:t>. on sb.</a:t>
            </a:r>
            <a:r>
              <a:rPr lang="zh-CN" altLang="zh-CN" sz="5400" b="1" dirty="0"/>
              <a:t>将某事归咎于某人</a:t>
            </a:r>
          </a:p>
          <a:p>
            <a:r>
              <a:rPr lang="en-US" altLang="zh-CN" sz="5400" b="1" dirty="0"/>
              <a:t>blame sb. for </a:t>
            </a:r>
            <a:r>
              <a:rPr lang="en-US" altLang="zh-CN" sz="5400" b="1" dirty="0" err="1"/>
              <a:t>sth</a:t>
            </a:r>
            <a:r>
              <a:rPr lang="en-US" altLang="zh-CN" sz="5400" b="1" dirty="0"/>
              <a:t>. </a:t>
            </a:r>
            <a:r>
              <a:rPr lang="zh-CN" altLang="zh-CN" sz="5400" b="1" dirty="0"/>
              <a:t>因某事责怪某人</a:t>
            </a:r>
          </a:p>
          <a:p>
            <a:r>
              <a:rPr lang="en-US" altLang="zh-CN" sz="5400" b="1" dirty="0"/>
              <a:t>be to blame for </a:t>
            </a:r>
            <a:r>
              <a:rPr lang="en-US" altLang="zh-CN" sz="5400" b="1" dirty="0" err="1"/>
              <a:t>sth</a:t>
            </a:r>
            <a:r>
              <a:rPr lang="en-US" altLang="zh-CN" sz="5400" b="1" dirty="0"/>
              <a:t>. </a:t>
            </a:r>
            <a:r>
              <a:rPr lang="zh-CN" altLang="zh-CN" sz="5400" b="1" dirty="0"/>
              <a:t>对某事负有责任</a:t>
            </a:r>
          </a:p>
          <a:p>
            <a:pPr lvl="0"/>
            <a:r>
              <a:rPr lang="en-US" altLang="zh-CN" sz="5400" b="1" dirty="0"/>
              <a:t>make allowance for</a:t>
            </a:r>
            <a:r>
              <a:rPr lang="zh-CN" altLang="zh-CN" sz="5400" b="1" dirty="0"/>
              <a:t>体谅，考虑到</a:t>
            </a:r>
          </a:p>
          <a:p>
            <a:pPr lvl="0"/>
            <a:r>
              <a:rPr lang="en-US" altLang="zh-CN" sz="5400" b="1" dirty="0"/>
              <a:t>give way to</a:t>
            </a:r>
            <a:r>
              <a:rPr lang="zh-CN" altLang="zh-CN" sz="5400" b="1" dirty="0"/>
              <a:t>让位于</a:t>
            </a:r>
            <a:r>
              <a:rPr lang="en-US" altLang="zh-CN" sz="5400" b="1" dirty="0"/>
              <a:t>,</a:t>
            </a:r>
            <a:r>
              <a:rPr lang="zh-CN" altLang="zh-CN" sz="5400" b="1" dirty="0"/>
              <a:t>屈服</a:t>
            </a:r>
          </a:p>
          <a:p>
            <a:pPr lvl="0"/>
            <a:r>
              <a:rPr lang="en-US" altLang="zh-CN" sz="5400" b="1" dirty="0"/>
              <a:t>meet with triumph</a:t>
            </a:r>
            <a:r>
              <a:rPr lang="zh-CN" altLang="zh-CN" sz="5400" b="1" dirty="0"/>
              <a:t>迎接胜利</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 y="1"/>
            <a:ext cx="12192000" cy="6740307"/>
          </a:xfrm>
          <a:prstGeom prst="rect">
            <a:avLst/>
          </a:prstGeom>
          <a:noFill/>
        </p:spPr>
        <p:txBody>
          <a:bodyPr wrap="square">
            <a:spAutoFit/>
          </a:bodyPr>
          <a:lstStyle/>
          <a:p>
            <a:r>
              <a:rPr lang="en-US" altLang="zh-CN" sz="5400" b="1" dirty="0"/>
              <a:t>P47</a:t>
            </a:r>
            <a:endParaRPr lang="zh-CN" altLang="zh-CN" sz="5400" b="1" dirty="0"/>
          </a:p>
          <a:p>
            <a:pPr lvl="0"/>
            <a:r>
              <a:rPr lang="en-US" altLang="zh-CN" sz="5400" b="1" dirty="0">
                <a:solidFill>
                  <a:srgbClr val="FF0000"/>
                </a:solidFill>
              </a:rPr>
              <a:t>be covered with mist(2)</a:t>
            </a:r>
            <a:r>
              <a:rPr lang="zh-CN" altLang="zh-CN" sz="5400" b="1" dirty="0">
                <a:solidFill>
                  <a:srgbClr val="FF0000"/>
                </a:solidFill>
              </a:rPr>
              <a:t>被雾气笼罩</a:t>
            </a:r>
          </a:p>
          <a:p>
            <a:pPr lvl="0"/>
            <a:r>
              <a:rPr lang="en-US" altLang="zh-CN" sz="5400" b="1" dirty="0">
                <a:solidFill>
                  <a:srgbClr val="FF0000"/>
                </a:solidFill>
              </a:rPr>
              <a:t>be out of place(7)</a:t>
            </a:r>
            <a:r>
              <a:rPr lang="zh-CN" altLang="zh-CN" sz="5400" b="1" dirty="0">
                <a:solidFill>
                  <a:srgbClr val="FF0000"/>
                </a:solidFill>
              </a:rPr>
              <a:t>不恰当的，不和谐的</a:t>
            </a:r>
          </a:p>
          <a:p>
            <a:pPr lvl="0"/>
            <a:r>
              <a:rPr lang="en-US" altLang="zh-CN" sz="5400" b="1" dirty="0">
                <a:solidFill>
                  <a:srgbClr val="FF0000"/>
                </a:solidFill>
              </a:rPr>
              <a:t>stick out(8)</a:t>
            </a:r>
            <a:r>
              <a:rPr lang="zh-CN" altLang="zh-CN" sz="5400" b="1" dirty="0">
                <a:solidFill>
                  <a:srgbClr val="FF0000"/>
                </a:solidFill>
              </a:rPr>
              <a:t>突出显眼，坚持到底</a:t>
            </a:r>
          </a:p>
          <a:p>
            <a:pPr lvl="0"/>
            <a:r>
              <a:rPr lang="en-US" altLang="zh-CN" sz="5400" b="1" dirty="0">
                <a:solidFill>
                  <a:srgbClr val="FF0000"/>
                </a:solidFill>
              </a:rPr>
              <a:t>riddle(10)n.</a:t>
            </a:r>
            <a:r>
              <a:rPr lang="zh-CN" altLang="zh-CN" sz="5400" b="1" dirty="0">
                <a:solidFill>
                  <a:srgbClr val="FF0000"/>
                </a:solidFill>
              </a:rPr>
              <a:t>谜语</a:t>
            </a:r>
          </a:p>
          <a:p>
            <a:pPr lvl="0"/>
            <a:r>
              <a:rPr lang="en-US" altLang="zh-CN" sz="5400" b="1" dirty="0">
                <a:solidFill>
                  <a:srgbClr val="FF0000"/>
                </a:solidFill>
              </a:rPr>
              <a:t>say to oneself(11)</a:t>
            </a:r>
            <a:r>
              <a:rPr lang="zh-CN" altLang="zh-CN" sz="5400" b="1" dirty="0">
                <a:solidFill>
                  <a:srgbClr val="FF0000"/>
                </a:solidFill>
              </a:rPr>
              <a:t>自言自语</a:t>
            </a:r>
          </a:p>
          <a:p>
            <a:pPr lvl="0"/>
            <a:r>
              <a:rPr lang="en-US" altLang="zh-CN" sz="5400" b="1" dirty="0">
                <a:solidFill>
                  <a:srgbClr val="FF0000"/>
                </a:solidFill>
              </a:rPr>
              <a:t>look…up in the dictionary</a:t>
            </a:r>
            <a:r>
              <a:rPr lang="zh-CN" altLang="zh-CN" sz="5400" b="1" dirty="0">
                <a:solidFill>
                  <a:srgbClr val="FF0000"/>
                </a:solidFill>
              </a:rPr>
              <a:t>查字典</a:t>
            </a:r>
            <a:endParaRPr lang="en-US" altLang="zh-CN" sz="5400" b="1" dirty="0">
              <a:solidFill>
                <a:srgbClr val="FF0000"/>
              </a:solidFill>
            </a:endParaRPr>
          </a:p>
          <a:p>
            <a:pPr lvl="0"/>
            <a:r>
              <a:rPr lang="en-US" altLang="zh-CN" sz="5400" b="1" dirty="0">
                <a:solidFill>
                  <a:srgbClr val="FF0000"/>
                </a:solidFill>
              </a:rPr>
              <a:t>that is to say,</a:t>
            </a:r>
            <a:r>
              <a:rPr lang="zh-CN" altLang="en-US" sz="5400" b="1" dirty="0">
                <a:solidFill>
                  <a:srgbClr val="FF0000"/>
                </a:solidFill>
              </a:rPr>
              <a:t>换句话说</a:t>
            </a:r>
            <a:endParaRPr lang="en-US" altLang="zh-CN" sz="5400" b="1" dirty="0">
              <a:solidFill>
                <a:srgbClr val="FF0000"/>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 y="1"/>
            <a:ext cx="12192000" cy="6740307"/>
          </a:xfrm>
          <a:prstGeom prst="rect">
            <a:avLst/>
          </a:prstGeom>
          <a:noFill/>
        </p:spPr>
        <p:txBody>
          <a:bodyPr wrap="square">
            <a:spAutoFit/>
          </a:bodyPr>
          <a:lstStyle/>
          <a:p>
            <a:pPr lvl="0"/>
            <a:r>
              <a:rPr lang="en-US" altLang="zh-CN" sz="3600" b="1" dirty="0"/>
              <a:t>P48  </a:t>
            </a:r>
            <a:r>
              <a:rPr lang="en-US" altLang="zh-CN" sz="3600" b="1" dirty="0">
                <a:solidFill>
                  <a:srgbClr val="FF0000"/>
                </a:solidFill>
              </a:rPr>
              <a:t>a cultural movement(1)</a:t>
            </a:r>
            <a:r>
              <a:rPr lang="zh-CN" altLang="zh-CN" sz="3600" b="1" dirty="0">
                <a:solidFill>
                  <a:srgbClr val="FF0000"/>
                </a:solidFill>
              </a:rPr>
              <a:t>一场文化运动</a:t>
            </a:r>
          </a:p>
          <a:p>
            <a:pPr lvl="0"/>
            <a:r>
              <a:rPr lang="en-US" altLang="zh-CN" sz="3600" b="1" dirty="0">
                <a:solidFill>
                  <a:srgbClr val="FF0000"/>
                </a:solidFill>
              </a:rPr>
              <a:t>break with (3)</a:t>
            </a:r>
            <a:r>
              <a:rPr lang="zh-CN" altLang="zh-CN" sz="3600" b="1" dirty="0">
                <a:solidFill>
                  <a:srgbClr val="FF0000"/>
                </a:solidFill>
              </a:rPr>
              <a:t>与</a:t>
            </a:r>
            <a:r>
              <a:rPr lang="en-US" altLang="zh-CN" sz="3600" b="1" dirty="0">
                <a:solidFill>
                  <a:srgbClr val="FF0000"/>
                </a:solidFill>
              </a:rPr>
              <a:t>...</a:t>
            </a:r>
            <a:r>
              <a:rPr lang="zh-CN" altLang="zh-CN" sz="3600" b="1" dirty="0">
                <a:solidFill>
                  <a:srgbClr val="FF0000"/>
                </a:solidFill>
              </a:rPr>
              <a:t>终止关联</a:t>
            </a:r>
          </a:p>
          <a:p>
            <a:pPr lvl="0"/>
            <a:r>
              <a:rPr lang="en-US" altLang="zh-CN" sz="3600" b="1" dirty="0">
                <a:solidFill>
                  <a:srgbClr val="FF0000"/>
                </a:solidFill>
              </a:rPr>
              <a:t>refuse to follow rigid rules(4)</a:t>
            </a:r>
            <a:r>
              <a:rPr lang="zh-CN" altLang="zh-CN" sz="3600" b="1" dirty="0">
                <a:solidFill>
                  <a:srgbClr val="FF0000"/>
                </a:solidFill>
              </a:rPr>
              <a:t>拒绝遵守死板的规则</a:t>
            </a:r>
          </a:p>
          <a:p>
            <a:pPr lvl="0"/>
            <a:r>
              <a:rPr lang="en-US" altLang="zh-CN" sz="3600" b="1" dirty="0">
                <a:solidFill>
                  <a:srgbClr val="FF0000"/>
                </a:solidFill>
              </a:rPr>
              <a:t>put emphasis on(5)</a:t>
            </a:r>
            <a:r>
              <a:rPr lang="zh-CN" altLang="zh-CN" sz="3600" b="1" dirty="0">
                <a:solidFill>
                  <a:srgbClr val="FF0000"/>
                </a:solidFill>
              </a:rPr>
              <a:t>强调，重视</a:t>
            </a:r>
          </a:p>
          <a:p>
            <a:pPr lvl="0"/>
            <a:r>
              <a:rPr lang="en-US" altLang="zh-CN" sz="3600" b="1" dirty="0">
                <a:solidFill>
                  <a:srgbClr val="FF0000"/>
                </a:solidFill>
              </a:rPr>
              <a:t>return(6)n.</a:t>
            </a:r>
            <a:r>
              <a:rPr lang="zh-CN" altLang="zh-CN" sz="3600" b="1" dirty="0">
                <a:solidFill>
                  <a:srgbClr val="FF0000"/>
                </a:solidFill>
              </a:rPr>
              <a:t>返回，归来，退回，重现</a:t>
            </a:r>
          </a:p>
          <a:p>
            <a:pPr lvl="0"/>
            <a:r>
              <a:rPr lang="en-US" altLang="zh-CN" sz="3600" b="1" dirty="0">
                <a:solidFill>
                  <a:srgbClr val="FF0000"/>
                </a:solidFill>
              </a:rPr>
              <a:t>lie in</a:t>
            </a:r>
            <a:r>
              <a:rPr lang="zh-CN" altLang="zh-CN" sz="3600" b="1" dirty="0">
                <a:solidFill>
                  <a:srgbClr val="FF0000"/>
                </a:solidFill>
              </a:rPr>
              <a:t>在于</a:t>
            </a:r>
            <a:r>
              <a:rPr lang="en-US" altLang="zh-CN" sz="3600" b="1" dirty="0">
                <a:solidFill>
                  <a:srgbClr val="FF0000"/>
                </a:solidFill>
              </a:rPr>
              <a:t>(lay, lain)</a:t>
            </a:r>
            <a:endParaRPr lang="zh-CN" altLang="zh-CN" sz="3600" b="1" dirty="0">
              <a:solidFill>
                <a:srgbClr val="FF0000"/>
              </a:solidFill>
            </a:endParaRPr>
          </a:p>
          <a:p>
            <a:pPr lvl="0"/>
            <a:r>
              <a:rPr lang="en-US" altLang="zh-CN" sz="3600" b="1" dirty="0">
                <a:solidFill>
                  <a:srgbClr val="FF0000"/>
                </a:solidFill>
              </a:rPr>
              <a:t>undergo a process called industrialization(9)</a:t>
            </a:r>
            <a:r>
              <a:rPr lang="zh-CN" altLang="zh-CN" sz="3600" b="1" dirty="0">
                <a:solidFill>
                  <a:srgbClr val="FF0000"/>
                </a:solidFill>
              </a:rPr>
              <a:t>经历一个被称为工业化的过程</a:t>
            </a:r>
          </a:p>
          <a:p>
            <a:pPr lvl="0"/>
            <a:r>
              <a:rPr lang="en-US" altLang="zh-CN" sz="3600" b="1" dirty="0">
                <a:solidFill>
                  <a:srgbClr val="FF0000"/>
                </a:solidFill>
              </a:rPr>
              <a:t>be made to do </a:t>
            </a:r>
            <a:r>
              <a:rPr lang="en-US" altLang="zh-CN" sz="3600" b="1" dirty="0" err="1">
                <a:solidFill>
                  <a:srgbClr val="FF0000"/>
                </a:solidFill>
              </a:rPr>
              <a:t>sth</a:t>
            </a:r>
            <a:r>
              <a:rPr lang="en-US" altLang="zh-CN" sz="3600" b="1" dirty="0">
                <a:solidFill>
                  <a:srgbClr val="FF0000"/>
                </a:solidFill>
              </a:rPr>
              <a:t>(10)</a:t>
            </a:r>
            <a:r>
              <a:rPr lang="zh-CN" altLang="zh-CN" sz="3600" b="1" dirty="0">
                <a:solidFill>
                  <a:srgbClr val="FF0000"/>
                </a:solidFill>
              </a:rPr>
              <a:t>被迫做某事</a:t>
            </a:r>
          </a:p>
          <a:p>
            <a:pPr lvl="0"/>
            <a:r>
              <a:rPr lang="en-US" altLang="zh-CN" sz="3600" b="1" dirty="0">
                <a:solidFill>
                  <a:srgbClr val="FF0000"/>
                </a:solidFill>
              </a:rPr>
              <a:t>be pleased with(11)</a:t>
            </a:r>
            <a:r>
              <a:rPr lang="zh-CN" altLang="zh-CN" sz="3600" b="1" dirty="0">
                <a:solidFill>
                  <a:srgbClr val="FF0000"/>
                </a:solidFill>
              </a:rPr>
              <a:t>对</a:t>
            </a:r>
            <a:r>
              <a:rPr lang="en-US" altLang="zh-CN" sz="3600" b="1" dirty="0">
                <a:solidFill>
                  <a:srgbClr val="FF0000"/>
                </a:solidFill>
              </a:rPr>
              <a:t>...</a:t>
            </a:r>
            <a:r>
              <a:rPr lang="zh-CN" altLang="zh-CN" sz="3600" b="1" dirty="0">
                <a:solidFill>
                  <a:srgbClr val="FF0000"/>
                </a:solidFill>
              </a:rPr>
              <a:t>感到满意</a:t>
            </a:r>
          </a:p>
          <a:p>
            <a:pPr lvl="0"/>
            <a:r>
              <a:rPr lang="en-US" altLang="zh-CN" sz="3600" b="1" dirty="0">
                <a:solidFill>
                  <a:srgbClr val="FF0000"/>
                </a:solidFill>
              </a:rPr>
              <a:t>advocate doing(12)</a:t>
            </a:r>
            <a:r>
              <a:rPr lang="zh-CN" altLang="zh-CN" sz="3600" b="1" dirty="0">
                <a:solidFill>
                  <a:srgbClr val="FF0000"/>
                </a:solidFill>
              </a:rPr>
              <a:t>提倡做某事 </a:t>
            </a:r>
          </a:p>
          <a:p>
            <a:r>
              <a:rPr lang="en-US" altLang="zh-CN" sz="3600" b="1" dirty="0">
                <a:solidFill>
                  <a:srgbClr val="FF0000"/>
                </a:solidFill>
              </a:rPr>
              <a:t>advocate going back to nature </a:t>
            </a:r>
            <a:r>
              <a:rPr lang="zh-CN" altLang="zh-CN" sz="3600" b="1" dirty="0">
                <a:solidFill>
                  <a:srgbClr val="FF0000"/>
                </a:solidFill>
              </a:rPr>
              <a:t>支持回归自然</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 y="1"/>
            <a:ext cx="12192000" cy="6863417"/>
          </a:xfrm>
          <a:prstGeom prst="rect">
            <a:avLst/>
          </a:prstGeom>
          <a:noFill/>
        </p:spPr>
        <p:txBody>
          <a:bodyPr wrap="square">
            <a:spAutoFit/>
          </a:bodyPr>
          <a:lstStyle/>
          <a:p>
            <a:pPr lvl="0"/>
            <a:r>
              <a:rPr lang="en-US" altLang="zh-CN" sz="4400" b="1" dirty="0"/>
              <a:t>P49  </a:t>
            </a:r>
            <a:r>
              <a:rPr lang="en-US" altLang="zh-CN" sz="4400" b="1" dirty="0">
                <a:solidFill>
                  <a:srgbClr val="FF0000"/>
                </a:solidFill>
              </a:rPr>
              <a:t>experiment with</a:t>
            </a:r>
            <a:r>
              <a:rPr lang="zh-CN" altLang="zh-CN" sz="4400" b="1" dirty="0">
                <a:solidFill>
                  <a:srgbClr val="FF0000"/>
                </a:solidFill>
              </a:rPr>
              <a:t>尝试，试验</a:t>
            </a:r>
          </a:p>
          <a:p>
            <a:pPr lvl="0"/>
            <a:r>
              <a:rPr lang="en-US" altLang="zh-CN" sz="4400" b="1" dirty="0">
                <a:solidFill>
                  <a:srgbClr val="FF0000"/>
                </a:solidFill>
              </a:rPr>
              <a:t>poetic forms</a:t>
            </a:r>
            <a:r>
              <a:rPr lang="zh-CN" altLang="zh-CN" sz="4400" b="1" dirty="0">
                <a:solidFill>
                  <a:srgbClr val="FF0000"/>
                </a:solidFill>
              </a:rPr>
              <a:t>诗歌形式</a:t>
            </a:r>
            <a:r>
              <a:rPr lang="en-US" altLang="zh-CN" sz="4400" b="1" dirty="0">
                <a:solidFill>
                  <a:srgbClr val="FF0000"/>
                </a:solidFill>
              </a:rPr>
              <a:t> poetic adj.</a:t>
            </a:r>
            <a:r>
              <a:rPr lang="zh-CN" altLang="zh-CN" sz="4400" b="1" dirty="0">
                <a:solidFill>
                  <a:srgbClr val="FF0000"/>
                </a:solidFill>
              </a:rPr>
              <a:t>诗的，诗歌的</a:t>
            </a:r>
          </a:p>
          <a:p>
            <a:pPr lvl="0"/>
            <a:r>
              <a:rPr lang="en-US" altLang="zh-CN" sz="4400" b="1" dirty="0">
                <a:solidFill>
                  <a:srgbClr val="FF0000"/>
                </a:solidFill>
              </a:rPr>
              <a:t>contain rich sensory details</a:t>
            </a:r>
            <a:r>
              <a:rPr lang="zh-CN" altLang="zh-CN" sz="4400" b="1" dirty="0">
                <a:solidFill>
                  <a:srgbClr val="FF0000"/>
                </a:solidFill>
              </a:rPr>
              <a:t>包含丰富的感官细节</a:t>
            </a:r>
            <a:endParaRPr lang="en-US" altLang="zh-CN" sz="4400" b="1" dirty="0">
              <a:solidFill>
                <a:srgbClr val="FF0000"/>
              </a:solidFill>
            </a:endParaRPr>
          </a:p>
          <a:p>
            <a:pPr lvl="0"/>
            <a:r>
              <a:rPr lang="en-US" altLang="zh-CN" sz="4400" b="1" dirty="0">
                <a:solidFill>
                  <a:srgbClr val="FF0000"/>
                </a:solidFill>
              </a:rPr>
              <a:t>provide sb. with </a:t>
            </a:r>
            <a:r>
              <a:rPr lang="en-US" altLang="zh-CN" sz="4400" b="1" dirty="0" err="1">
                <a:solidFill>
                  <a:srgbClr val="FF0000"/>
                </a:solidFill>
              </a:rPr>
              <a:t>sth</a:t>
            </a:r>
            <a:r>
              <a:rPr lang="en-US" altLang="zh-CN" sz="4400" b="1" dirty="0">
                <a:solidFill>
                  <a:srgbClr val="FF0000"/>
                </a:solidFill>
              </a:rPr>
              <a:t>.=provide </a:t>
            </a:r>
            <a:r>
              <a:rPr lang="en-US" altLang="zh-CN" sz="4400" b="1" dirty="0" err="1">
                <a:solidFill>
                  <a:srgbClr val="FF0000"/>
                </a:solidFill>
              </a:rPr>
              <a:t>sth</a:t>
            </a:r>
            <a:r>
              <a:rPr lang="en-US" altLang="zh-CN" sz="4400" b="1" dirty="0">
                <a:solidFill>
                  <a:srgbClr val="FF0000"/>
                </a:solidFill>
              </a:rPr>
              <a:t>. for sb.</a:t>
            </a:r>
            <a:r>
              <a:rPr lang="zh-CN" altLang="en-US" sz="4400" b="1" dirty="0">
                <a:solidFill>
                  <a:srgbClr val="FF0000"/>
                </a:solidFill>
              </a:rPr>
              <a:t>提供某人某物</a:t>
            </a:r>
            <a:endParaRPr lang="en-US" altLang="zh-CN" sz="4400" b="1" dirty="0">
              <a:solidFill>
                <a:srgbClr val="FF0000"/>
              </a:solidFill>
            </a:endParaRPr>
          </a:p>
          <a:p>
            <a:pPr lvl="0"/>
            <a:r>
              <a:rPr lang="en-US" altLang="zh-CN" sz="4400" b="1" dirty="0">
                <a:solidFill>
                  <a:srgbClr val="FF0000"/>
                </a:solidFill>
              </a:rPr>
              <a:t>have a huge impact on</a:t>
            </a:r>
            <a:r>
              <a:rPr lang="zh-CN" altLang="en-US" sz="4400" b="1" dirty="0">
                <a:solidFill>
                  <a:srgbClr val="FF0000"/>
                </a:solidFill>
              </a:rPr>
              <a:t>有巨大影响</a:t>
            </a:r>
            <a:endParaRPr lang="en-US" altLang="zh-CN" sz="4400" b="1" dirty="0">
              <a:solidFill>
                <a:srgbClr val="FF0000"/>
              </a:solidFill>
            </a:endParaRPr>
          </a:p>
          <a:p>
            <a:pPr lvl="0"/>
            <a:r>
              <a:rPr lang="en-US" altLang="zh-CN" sz="4400" b="1" dirty="0">
                <a:solidFill>
                  <a:srgbClr val="FF0000"/>
                </a:solidFill>
              </a:rPr>
              <a:t>mark the start of the Romantic era</a:t>
            </a:r>
            <a:r>
              <a:rPr lang="zh-CN" altLang="en-US" sz="4400" b="1" dirty="0">
                <a:solidFill>
                  <a:srgbClr val="FF0000"/>
                </a:solidFill>
              </a:rPr>
              <a:t>标志着浪漫主义时代的开始</a:t>
            </a:r>
            <a:endParaRPr lang="en-US" altLang="zh-CN" sz="4400" b="1" dirty="0">
              <a:solidFill>
                <a:srgbClr val="FF0000"/>
              </a:solidFill>
            </a:endParaRPr>
          </a:p>
          <a:p>
            <a:pPr lvl="0"/>
            <a:r>
              <a:rPr lang="en-US" altLang="zh-CN" sz="4400" b="1" dirty="0">
                <a:solidFill>
                  <a:srgbClr val="FF0000"/>
                </a:solidFill>
              </a:rPr>
              <a:t>poetic devices </a:t>
            </a:r>
            <a:r>
              <a:rPr lang="en-US" altLang="zh-CN" sz="4400" b="1" u="sng" dirty="0">
                <a:solidFill>
                  <a:srgbClr val="FF0000"/>
                </a:solidFill>
              </a:rPr>
              <a:t>employed</a:t>
            </a:r>
            <a:r>
              <a:rPr lang="en-US" altLang="zh-CN" sz="4400" b="1" dirty="0">
                <a:solidFill>
                  <a:srgbClr val="FF0000"/>
                </a:solidFill>
              </a:rPr>
              <a:t> in poems</a:t>
            </a:r>
            <a:r>
              <a:rPr lang="zh-CN" altLang="en-US" sz="4400" b="1" dirty="0">
                <a:solidFill>
                  <a:srgbClr val="FF0000"/>
                </a:solidFill>
              </a:rPr>
              <a:t>诗歌中使用的诗歌手法</a:t>
            </a:r>
            <a:endParaRPr lang="zh-CN" altLang="zh-CN" sz="4400" b="1" dirty="0">
              <a:solidFill>
                <a:srgbClr val="FF0000"/>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 y="1"/>
            <a:ext cx="12192000" cy="5632311"/>
          </a:xfrm>
          <a:prstGeom prst="rect">
            <a:avLst/>
          </a:prstGeom>
          <a:noFill/>
        </p:spPr>
        <p:txBody>
          <a:bodyPr wrap="square">
            <a:spAutoFit/>
          </a:bodyPr>
          <a:lstStyle/>
          <a:p>
            <a:pPr lvl="0"/>
            <a:r>
              <a:rPr lang="en-US" altLang="zh-CN" sz="4000" b="1" dirty="0">
                <a:solidFill>
                  <a:srgbClr val="FF0000"/>
                </a:solidFill>
              </a:rPr>
              <a:t>P50</a:t>
            </a:r>
          </a:p>
          <a:p>
            <a:pPr lvl="0"/>
            <a:r>
              <a:rPr lang="en-US" altLang="zh-CN" sz="4000" b="1" dirty="0">
                <a:solidFill>
                  <a:srgbClr val="FF0000"/>
                </a:solidFill>
              </a:rPr>
              <a:t>with a sigh</a:t>
            </a:r>
            <a:r>
              <a:rPr lang="zh-CN" altLang="en-US" sz="4000" b="1" dirty="0">
                <a:solidFill>
                  <a:srgbClr val="FF0000"/>
                </a:solidFill>
              </a:rPr>
              <a:t>叹息</a:t>
            </a:r>
            <a:endParaRPr lang="en-US" altLang="zh-CN" sz="4000" b="1" dirty="0">
              <a:solidFill>
                <a:srgbClr val="FF0000"/>
              </a:solidFill>
            </a:endParaRPr>
          </a:p>
          <a:p>
            <a:pPr lvl="0"/>
            <a:r>
              <a:rPr lang="en-US" altLang="zh-CN" sz="4000" b="1" dirty="0">
                <a:solidFill>
                  <a:srgbClr val="FF0000"/>
                </a:solidFill>
              </a:rPr>
              <a:t>make all the difference</a:t>
            </a:r>
            <a:r>
              <a:rPr lang="zh-CN" altLang="en-US" sz="4000" b="1" dirty="0">
                <a:solidFill>
                  <a:srgbClr val="FF0000"/>
                </a:solidFill>
              </a:rPr>
              <a:t>起决定性作用</a:t>
            </a:r>
            <a:endParaRPr lang="en-US" altLang="zh-CN" sz="4000" b="1" dirty="0">
              <a:solidFill>
                <a:srgbClr val="FF0000"/>
              </a:solidFill>
            </a:endParaRPr>
          </a:p>
          <a:p>
            <a:pPr lvl="0"/>
            <a:endParaRPr lang="en-US" altLang="zh-CN" sz="4000" b="1" dirty="0">
              <a:solidFill>
                <a:srgbClr val="FF0000"/>
              </a:solidFill>
            </a:endParaRPr>
          </a:p>
          <a:p>
            <a:pPr lvl="0"/>
            <a:r>
              <a:rPr lang="en-US" altLang="zh-CN" sz="4000" b="1" dirty="0">
                <a:solidFill>
                  <a:srgbClr val="FF0000"/>
                </a:solidFill>
              </a:rPr>
              <a:t>P51  be inspired by...</a:t>
            </a:r>
            <a:r>
              <a:rPr lang="zh-CN" altLang="zh-CN" sz="4000" b="1" dirty="0">
                <a:solidFill>
                  <a:srgbClr val="FF0000"/>
                </a:solidFill>
              </a:rPr>
              <a:t>受到</a:t>
            </a:r>
            <a:r>
              <a:rPr lang="en-US" altLang="zh-CN" sz="4000" b="1" dirty="0">
                <a:solidFill>
                  <a:srgbClr val="FF0000"/>
                </a:solidFill>
              </a:rPr>
              <a:t>...</a:t>
            </a:r>
            <a:r>
              <a:rPr lang="zh-CN" altLang="zh-CN" sz="4000" b="1" dirty="0">
                <a:solidFill>
                  <a:srgbClr val="FF0000"/>
                </a:solidFill>
              </a:rPr>
              <a:t>启发</a:t>
            </a:r>
            <a:r>
              <a:rPr lang="en-US" altLang="zh-CN" sz="4000" b="1" dirty="0">
                <a:solidFill>
                  <a:srgbClr val="FF0000"/>
                </a:solidFill>
              </a:rPr>
              <a:t>/</a:t>
            </a:r>
            <a:r>
              <a:rPr lang="zh-CN" altLang="zh-CN" sz="4000" b="1" dirty="0">
                <a:solidFill>
                  <a:srgbClr val="FF0000"/>
                </a:solidFill>
              </a:rPr>
              <a:t>鼓舞</a:t>
            </a:r>
            <a:endParaRPr lang="en-US" altLang="zh-CN" sz="4000" b="1" dirty="0">
              <a:solidFill>
                <a:srgbClr val="FF0000"/>
              </a:solidFill>
            </a:endParaRPr>
          </a:p>
          <a:p>
            <a:pPr lvl="0"/>
            <a:r>
              <a:rPr lang="en-US" altLang="zh-CN" sz="4000" b="1" dirty="0">
                <a:solidFill>
                  <a:srgbClr val="FF0000"/>
                </a:solidFill>
              </a:rPr>
              <a:t>spend a long time </a:t>
            </a:r>
            <a:r>
              <a:rPr lang="en-US" altLang="zh-CN" sz="4000" b="1" u="sng" dirty="0">
                <a:solidFill>
                  <a:srgbClr val="FF0000"/>
                </a:solidFill>
              </a:rPr>
              <a:t>choosing</a:t>
            </a:r>
            <a:r>
              <a:rPr lang="en-US" altLang="zh-CN" sz="4000" b="1" dirty="0">
                <a:solidFill>
                  <a:srgbClr val="FF0000"/>
                </a:solidFill>
              </a:rPr>
              <a:t> </a:t>
            </a:r>
            <a:r>
              <a:rPr lang="en-US" altLang="zh-CN" sz="4000" b="1" u="sng" dirty="0">
                <a:solidFill>
                  <a:srgbClr val="FF0000"/>
                </a:solidFill>
              </a:rPr>
              <a:t>which path to take</a:t>
            </a:r>
            <a:r>
              <a:rPr lang="zh-CN" altLang="en-US" sz="4000" b="1" dirty="0">
                <a:solidFill>
                  <a:srgbClr val="FF0000"/>
                </a:solidFill>
              </a:rPr>
              <a:t>花很长时间选择走哪条路</a:t>
            </a:r>
            <a:endParaRPr lang="en-US" altLang="zh-CN" sz="4000" b="1" dirty="0">
              <a:solidFill>
                <a:srgbClr val="FF0000"/>
              </a:solidFill>
            </a:endParaRPr>
          </a:p>
          <a:p>
            <a:pPr lvl="0"/>
            <a:r>
              <a:rPr lang="en-US" altLang="zh-CN" sz="4000" b="1" dirty="0">
                <a:solidFill>
                  <a:srgbClr val="FF0000"/>
                </a:solidFill>
              </a:rPr>
              <a:t>when </a:t>
            </a:r>
            <a:r>
              <a:rPr lang="en-US" altLang="zh-CN" sz="4000" b="1" u="sng" dirty="0">
                <a:solidFill>
                  <a:srgbClr val="FF0000"/>
                </a:solidFill>
              </a:rPr>
              <a:t>faced with </a:t>
            </a:r>
            <a:r>
              <a:rPr lang="en-US" altLang="zh-CN" sz="4000" b="1" dirty="0">
                <a:solidFill>
                  <a:srgbClr val="FF0000"/>
                </a:solidFill>
              </a:rPr>
              <a:t>…</a:t>
            </a:r>
            <a:r>
              <a:rPr lang="zh-CN" altLang="en-US" sz="4000" b="1" dirty="0">
                <a:solidFill>
                  <a:srgbClr val="FF0000"/>
                </a:solidFill>
              </a:rPr>
              <a:t>当面对</a:t>
            </a:r>
            <a:endParaRPr lang="zh-CN" altLang="zh-CN" sz="4000" b="1" dirty="0">
              <a:solidFill>
                <a:srgbClr val="FF0000"/>
              </a:solidFill>
            </a:endParaRPr>
          </a:p>
          <a:p>
            <a:r>
              <a:rPr lang="en-US" altLang="zh-CN" sz="4000" b="1" dirty="0">
                <a:solidFill>
                  <a:srgbClr val="FF0000"/>
                </a:solidFill>
              </a:rPr>
              <a:t>have no choice but to do </a:t>
            </a:r>
            <a:r>
              <a:rPr lang="en-US" altLang="zh-CN" sz="4000" b="1" dirty="0" err="1">
                <a:solidFill>
                  <a:srgbClr val="FF0000"/>
                </a:solidFill>
              </a:rPr>
              <a:t>sth</a:t>
            </a:r>
            <a:r>
              <a:rPr lang="zh-CN" altLang="zh-CN" sz="4000" b="1" dirty="0">
                <a:solidFill>
                  <a:srgbClr val="FF0000"/>
                </a:solidFill>
              </a:rPr>
              <a:t>别无选择</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r>
              <a:rPr lang="en-US" altLang="zh-CN" sz="3200" b="1" dirty="0">
                <a:solidFill>
                  <a:schemeClr val="tx1"/>
                </a:solidFill>
              </a:rPr>
              <a:t>1. </a:t>
            </a:r>
            <a:r>
              <a:rPr lang="en-US" altLang="zh-CN" sz="3200" b="1" dirty="0">
                <a:solidFill>
                  <a:schemeClr val="tx1"/>
                </a:solidFill>
                <a:highlight>
                  <a:srgbClr val="FFFF00"/>
                </a:highlight>
              </a:rPr>
              <a:t>bend </a:t>
            </a:r>
            <a:r>
              <a:rPr lang="en-US" altLang="zh-CN" sz="3200" b="1" dirty="0">
                <a:solidFill>
                  <a:schemeClr val="tx1"/>
                </a:solidFill>
              </a:rPr>
              <a:t>vi. &amp; vt.</a:t>
            </a:r>
            <a:r>
              <a:rPr lang="en-US" altLang="zh-CN" sz="3200" b="1" dirty="0">
                <a:solidFill>
                  <a:schemeClr val="tx1"/>
                </a:solidFill>
                <a:highlight>
                  <a:srgbClr val="FFFF00"/>
                </a:highlight>
              </a:rPr>
              <a:t> (bent, bent)</a:t>
            </a:r>
            <a:r>
              <a:rPr lang="zh-CN" altLang="en-US" sz="3200" b="1" dirty="0">
                <a:solidFill>
                  <a:schemeClr val="tx1"/>
                </a:solidFill>
              </a:rPr>
              <a:t>（使）拐弯，弯曲</a:t>
            </a:r>
            <a:r>
              <a:rPr lang="en-US" altLang="zh-CN" sz="3200" b="1" dirty="0">
                <a:solidFill>
                  <a:schemeClr val="tx1"/>
                </a:solidFill>
              </a:rPr>
              <a:t>	n. </a:t>
            </a:r>
            <a:r>
              <a:rPr lang="zh-CN" altLang="en-US" sz="3200" b="1" dirty="0">
                <a:solidFill>
                  <a:schemeClr val="tx1"/>
                </a:solidFill>
              </a:rPr>
              <a:t>拐弯，弯道</a:t>
            </a:r>
          </a:p>
          <a:p>
            <a:r>
              <a:rPr lang="en-US" altLang="zh-CN" sz="3200" b="1" dirty="0">
                <a:solidFill>
                  <a:schemeClr val="tx1"/>
                </a:solidFill>
              </a:rPr>
              <a:t>2. </a:t>
            </a:r>
            <a:r>
              <a:rPr lang="en-US" altLang="zh-CN" sz="3200" b="1" dirty="0">
                <a:solidFill>
                  <a:schemeClr val="tx1"/>
                </a:solidFill>
                <a:highlight>
                  <a:srgbClr val="FFFF00"/>
                </a:highlight>
              </a:rPr>
              <a:t>striking </a:t>
            </a:r>
            <a:r>
              <a:rPr lang="en-US" altLang="zh-CN" sz="3200" b="1" dirty="0">
                <a:solidFill>
                  <a:schemeClr val="tx1"/>
                </a:solidFill>
              </a:rPr>
              <a:t>adj. </a:t>
            </a:r>
            <a:r>
              <a:rPr lang="zh-CN" altLang="en-US" sz="3200" b="1" dirty="0">
                <a:solidFill>
                  <a:schemeClr val="tx1"/>
                </a:solidFill>
              </a:rPr>
              <a:t>引人注目的，显著的；妩媚动人的，标致的</a:t>
            </a:r>
            <a:r>
              <a:rPr lang="en-US" altLang="en-US" sz="3200" b="1" dirty="0">
                <a:solidFill>
                  <a:schemeClr val="tx1"/>
                </a:solidFill>
              </a:rPr>
              <a:t>→</a:t>
            </a:r>
            <a:r>
              <a:rPr lang="en-US" altLang="zh-CN" sz="3200" b="1" dirty="0">
                <a:solidFill>
                  <a:schemeClr val="tx1"/>
                </a:solidFill>
                <a:highlight>
                  <a:srgbClr val="FFFF00"/>
                </a:highlight>
              </a:rPr>
              <a:t>strike v.(struck, struck)</a:t>
            </a:r>
          </a:p>
          <a:p>
            <a:r>
              <a:rPr lang="en-US" altLang="zh-CN" sz="3200" b="1" dirty="0">
                <a:solidFill>
                  <a:schemeClr val="tx1"/>
                </a:solidFill>
              </a:rPr>
              <a:t>3.</a:t>
            </a:r>
            <a:r>
              <a:rPr lang="en-US" altLang="zh-CN" sz="3200" b="1" dirty="0">
                <a:solidFill>
                  <a:schemeClr val="tx1"/>
                </a:solidFill>
                <a:highlight>
                  <a:srgbClr val="FFFF00"/>
                </a:highlight>
              </a:rPr>
              <a:t>characterize </a:t>
            </a:r>
            <a:r>
              <a:rPr lang="en-US" altLang="zh-CN" sz="3200" b="1" dirty="0">
                <a:solidFill>
                  <a:schemeClr val="tx1"/>
                </a:solidFill>
              </a:rPr>
              <a:t>(also characterise)vt. </a:t>
            </a:r>
            <a:r>
              <a:rPr lang="zh-CN" altLang="en-US" sz="3200" b="1" dirty="0">
                <a:solidFill>
                  <a:schemeClr val="tx1"/>
                </a:solidFill>
              </a:rPr>
              <a:t>是</a:t>
            </a:r>
            <a:r>
              <a:rPr lang="en-US" altLang="zh-CN" sz="3200" b="1" dirty="0">
                <a:solidFill>
                  <a:schemeClr val="tx1"/>
                </a:solidFill>
              </a:rPr>
              <a:t>…</a:t>
            </a:r>
            <a:r>
              <a:rPr lang="zh-CN" altLang="en-US" sz="3200" b="1" dirty="0">
                <a:solidFill>
                  <a:schemeClr val="tx1"/>
                </a:solidFill>
              </a:rPr>
              <a:t>的特征</a:t>
            </a:r>
            <a:r>
              <a:rPr lang="en-US" altLang="zh-CN" sz="3200" b="1" dirty="0">
                <a:solidFill>
                  <a:schemeClr val="tx1"/>
                </a:solidFill>
              </a:rPr>
              <a:t>,</a:t>
            </a:r>
            <a:r>
              <a:rPr lang="zh-CN" altLang="en-US" sz="3200" b="1" dirty="0">
                <a:solidFill>
                  <a:schemeClr val="tx1"/>
                </a:solidFill>
              </a:rPr>
              <a:t>以</a:t>
            </a:r>
            <a:r>
              <a:rPr lang="en-US" altLang="zh-CN" sz="3200" b="1" dirty="0">
                <a:solidFill>
                  <a:schemeClr val="tx1"/>
                </a:solidFill>
              </a:rPr>
              <a:t>…</a:t>
            </a:r>
            <a:r>
              <a:rPr lang="zh-CN" altLang="en-US" sz="3200" b="1" dirty="0">
                <a:solidFill>
                  <a:schemeClr val="tx1"/>
                </a:solidFill>
              </a:rPr>
              <a:t>为典型</a:t>
            </a:r>
            <a:r>
              <a:rPr lang="en-US" altLang="zh-CN" sz="3200" b="1" dirty="0">
                <a:solidFill>
                  <a:schemeClr val="tx1"/>
                </a:solidFill>
              </a:rPr>
              <a:t>;</a:t>
            </a:r>
            <a:r>
              <a:rPr lang="zh-CN" altLang="en-US" sz="3200" b="1" dirty="0">
                <a:solidFill>
                  <a:schemeClr val="tx1"/>
                </a:solidFill>
              </a:rPr>
              <a:t>使</a:t>
            </a:r>
            <a:r>
              <a:rPr lang="en-US" altLang="zh-CN" sz="3200" b="1" dirty="0">
                <a:solidFill>
                  <a:schemeClr val="tx1"/>
                </a:solidFill>
              </a:rPr>
              <a:t>…</a:t>
            </a:r>
            <a:r>
              <a:rPr lang="zh-CN" altLang="en-US" sz="3200" b="1" dirty="0">
                <a:solidFill>
                  <a:schemeClr val="tx1"/>
                </a:solidFill>
              </a:rPr>
              <a:t>具有特点</a:t>
            </a:r>
            <a:r>
              <a:rPr lang="en-US" altLang="zh-CN" sz="3200" b="1" dirty="0">
                <a:solidFill>
                  <a:schemeClr val="tx1"/>
                </a:solidFill>
              </a:rPr>
              <a:t>;</a:t>
            </a:r>
            <a:r>
              <a:rPr lang="zh-CN" altLang="en-US" sz="3200" b="1" dirty="0">
                <a:solidFill>
                  <a:schemeClr val="tx1"/>
                </a:solidFill>
              </a:rPr>
              <a:t>描述</a:t>
            </a:r>
            <a:r>
              <a:rPr lang="en-US" altLang="en-US" sz="3200" b="1" dirty="0">
                <a:solidFill>
                  <a:schemeClr val="tx1"/>
                </a:solidFill>
              </a:rPr>
              <a:t>→</a:t>
            </a:r>
            <a:r>
              <a:rPr lang="en-US" altLang="zh-CN" sz="3200" b="1" dirty="0">
                <a:solidFill>
                  <a:schemeClr val="tx1"/>
                </a:solidFill>
                <a:highlight>
                  <a:srgbClr val="FFFF00"/>
                </a:highlight>
              </a:rPr>
              <a:t>character </a:t>
            </a:r>
            <a:r>
              <a:rPr lang="en-US" altLang="zh-CN" sz="3200" b="1" dirty="0">
                <a:solidFill>
                  <a:schemeClr val="tx1"/>
                </a:solidFill>
              </a:rPr>
              <a:t>n.</a:t>
            </a:r>
            <a:r>
              <a:rPr lang="zh-CN" altLang="en-US" sz="3200" b="1" dirty="0">
                <a:solidFill>
                  <a:schemeClr val="tx1"/>
                </a:solidFill>
              </a:rPr>
              <a:t>性格</a:t>
            </a:r>
            <a:r>
              <a:rPr lang="en-US" altLang="zh-CN" sz="3200" b="1" dirty="0">
                <a:solidFill>
                  <a:schemeClr val="tx1"/>
                </a:solidFill>
              </a:rPr>
              <a:t>;</a:t>
            </a:r>
            <a:r>
              <a:rPr lang="zh-CN" altLang="en-US" sz="3200" b="1" dirty="0">
                <a:solidFill>
                  <a:schemeClr val="tx1"/>
                </a:solidFill>
              </a:rPr>
              <a:t>特色</a:t>
            </a:r>
            <a:r>
              <a:rPr lang="en-US" altLang="zh-CN" sz="3200" b="1" dirty="0">
                <a:solidFill>
                  <a:schemeClr val="tx1"/>
                </a:solidFill>
              </a:rPr>
              <a:t>;</a:t>
            </a:r>
            <a:r>
              <a:rPr lang="zh-CN" altLang="en-US" sz="3200" b="1" dirty="0">
                <a:solidFill>
                  <a:schemeClr val="tx1"/>
                </a:solidFill>
              </a:rPr>
              <a:t>角色</a:t>
            </a:r>
            <a:r>
              <a:rPr lang="en-US" altLang="en-US" sz="3200" b="1" dirty="0">
                <a:solidFill>
                  <a:schemeClr val="tx1"/>
                </a:solidFill>
              </a:rPr>
              <a:t>→</a:t>
            </a:r>
            <a:r>
              <a:rPr lang="en-US" altLang="zh-CN" sz="3200" b="1" dirty="0">
                <a:solidFill>
                  <a:schemeClr val="tx1"/>
                </a:solidFill>
              </a:rPr>
              <a:t> </a:t>
            </a:r>
            <a:r>
              <a:rPr lang="en-US" altLang="zh-CN" sz="3200" b="1" dirty="0">
                <a:solidFill>
                  <a:schemeClr val="tx1"/>
                </a:solidFill>
                <a:highlight>
                  <a:srgbClr val="FFFF00"/>
                </a:highlight>
              </a:rPr>
              <a:t>characteristic </a:t>
            </a:r>
            <a:r>
              <a:rPr lang="en-US" altLang="zh-CN" sz="3200" b="1" dirty="0">
                <a:solidFill>
                  <a:schemeClr val="tx1"/>
                </a:solidFill>
              </a:rPr>
              <a:t>  n.</a:t>
            </a:r>
            <a:r>
              <a:rPr lang="zh-CN" altLang="en-US" sz="3200" b="1" dirty="0">
                <a:solidFill>
                  <a:schemeClr val="tx1"/>
                </a:solidFill>
              </a:rPr>
              <a:t>特点</a:t>
            </a:r>
            <a:r>
              <a:rPr lang="en-US" altLang="zh-CN" sz="3200" b="1" dirty="0">
                <a:solidFill>
                  <a:schemeClr val="tx1"/>
                </a:solidFill>
              </a:rPr>
              <a:t>;</a:t>
            </a:r>
            <a:r>
              <a:rPr lang="zh-CN" altLang="en-US" sz="3200" b="1" dirty="0">
                <a:solidFill>
                  <a:schemeClr val="tx1"/>
                </a:solidFill>
              </a:rPr>
              <a:t>特性</a:t>
            </a:r>
            <a:r>
              <a:rPr lang="en-US" altLang="zh-CN" sz="3200" b="1" dirty="0">
                <a:solidFill>
                  <a:schemeClr val="tx1"/>
                </a:solidFill>
              </a:rPr>
              <a:t>;</a:t>
            </a:r>
            <a:r>
              <a:rPr lang="zh-CN" altLang="en-US" sz="3200" b="1" dirty="0">
                <a:solidFill>
                  <a:schemeClr val="tx1"/>
                </a:solidFill>
              </a:rPr>
              <a:t>品质</a:t>
            </a:r>
            <a:r>
              <a:rPr lang="en-US" altLang="zh-CN" sz="3200" b="1" dirty="0">
                <a:solidFill>
                  <a:schemeClr val="tx1"/>
                </a:solidFill>
              </a:rPr>
              <a:t> adj.</a:t>
            </a:r>
            <a:r>
              <a:rPr lang="zh-CN" altLang="en-US" sz="3200" b="1" dirty="0">
                <a:solidFill>
                  <a:schemeClr val="tx1"/>
                </a:solidFill>
              </a:rPr>
              <a:t>典型的</a:t>
            </a:r>
            <a:r>
              <a:rPr lang="en-US" altLang="zh-CN" sz="3200" b="1" dirty="0">
                <a:solidFill>
                  <a:schemeClr val="tx1"/>
                </a:solidFill>
              </a:rPr>
              <a:t>;</a:t>
            </a:r>
            <a:r>
              <a:rPr lang="zh-CN" altLang="en-US" sz="3200" b="1" dirty="0">
                <a:solidFill>
                  <a:schemeClr val="tx1"/>
                </a:solidFill>
              </a:rPr>
              <a:t>特有的</a:t>
            </a:r>
          </a:p>
          <a:p>
            <a:r>
              <a:rPr lang="en-US" altLang="zh-CN" sz="3200" b="1" dirty="0">
                <a:solidFill>
                  <a:schemeClr val="tx1"/>
                </a:solidFill>
              </a:rPr>
              <a:t>4.</a:t>
            </a:r>
            <a:r>
              <a:rPr lang="en-US" altLang="zh-CN" sz="3200" b="1" dirty="0">
                <a:solidFill>
                  <a:schemeClr val="tx1"/>
                </a:solidFill>
                <a:highlight>
                  <a:srgbClr val="FFFF00"/>
                </a:highlight>
              </a:rPr>
              <a:t>legend </a:t>
            </a:r>
            <a:r>
              <a:rPr lang="en-US" altLang="zh-CN" sz="3200" b="1" dirty="0">
                <a:solidFill>
                  <a:schemeClr val="tx1"/>
                </a:solidFill>
              </a:rPr>
              <a:t>(n.) </a:t>
            </a:r>
            <a:r>
              <a:rPr lang="zh-CN" altLang="en-US" sz="3200" b="1" dirty="0">
                <a:solidFill>
                  <a:schemeClr val="tx1"/>
                </a:solidFill>
              </a:rPr>
              <a:t>传说，传奇故事</a:t>
            </a:r>
            <a:r>
              <a:rPr lang="en-US" altLang="en-US" sz="3200" b="1" dirty="0">
                <a:solidFill>
                  <a:schemeClr val="tx1"/>
                </a:solidFill>
              </a:rPr>
              <a:t>→</a:t>
            </a:r>
            <a:r>
              <a:rPr lang="en-US" altLang="zh-CN" sz="3200" b="1" dirty="0">
                <a:solidFill>
                  <a:schemeClr val="tx1"/>
                </a:solidFill>
                <a:highlight>
                  <a:srgbClr val="FFFF00"/>
                </a:highlight>
              </a:rPr>
              <a:t>legendary </a:t>
            </a:r>
            <a:r>
              <a:rPr lang="en-US" altLang="zh-CN" sz="3200" b="1" dirty="0">
                <a:solidFill>
                  <a:schemeClr val="tx1"/>
                </a:solidFill>
              </a:rPr>
              <a:t>(adj.) </a:t>
            </a:r>
            <a:r>
              <a:rPr lang="zh-CN" altLang="en-US" sz="3200" b="1" dirty="0">
                <a:solidFill>
                  <a:schemeClr val="tx1"/>
                </a:solidFill>
              </a:rPr>
              <a:t>非常著名的</a:t>
            </a:r>
            <a:r>
              <a:rPr lang="en-US" altLang="zh-CN" sz="3200" b="1" dirty="0">
                <a:solidFill>
                  <a:schemeClr val="tx1"/>
                </a:solidFill>
              </a:rPr>
              <a:t>;</a:t>
            </a:r>
            <a:r>
              <a:rPr lang="zh-CN" altLang="en-US" sz="3200" b="1" dirty="0">
                <a:solidFill>
                  <a:schemeClr val="tx1"/>
                </a:solidFill>
              </a:rPr>
              <a:t>传奇的</a:t>
            </a:r>
            <a:r>
              <a:rPr lang="en-US" altLang="zh-CN" sz="3200" b="1" dirty="0">
                <a:solidFill>
                  <a:schemeClr val="tx1"/>
                </a:solidFill>
              </a:rPr>
              <a:t>;</a:t>
            </a:r>
            <a:r>
              <a:rPr lang="zh-CN" altLang="en-US" sz="3200" b="1" dirty="0">
                <a:solidFill>
                  <a:schemeClr val="tx1"/>
                </a:solidFill>
              </a:rPr>
              <a:t>传说的</a:t>
            </a:r>
          </a:p>
          <a:p>
            <a:r>
              <a:rPr lang="en-US" altLang="zh-CN" sz="3200" b="1" dirty="0">
                <a:solidFill>
                  <a:schemeClr val="tx1"/>
                </a:solidFill>
              </a:rPr>
              <a:t>5.</a:t>
            </a:r>
            <a:r>
              <a:rPr lang="en-US" altLang="zh-CN" sz="3200" b="1" dirty="0">
                <a:solidFill>
                  <a:schemeClr val="tx1"/>
                </a:solidFill>
                <a:highlight>
                  <a:srgbClr val="FFFF00"/>
                </a:highlight>
              </a:rPr>
              <a:t>glorious </a:t>
            </a:r>
            <a:r>
              <a:rPr lang="en-US" altLang="zh-CN" sz="3200" b="1" dirty="0">
                <a:solidFill>
                  <a:schemeClr val="tx1"/>
                </a:solidFill>
              </a:rPr>
              <a:t>(adj.) </a:t>
            </a:r>
            <a:r>
              <a:rPr lang="zh-CN" altLang="en-US" sz="3200" b="1" dirty="0">
                <a:solidFill>
                  <a:schemeClr val="tx1"/>
                </a:solidFill>
              </a:rPr>
              <a:t>荣耀的，光荣的；壮丽的，辉煌的</a:t>
            </a:r>
            <a:r>
              <a:rPr lang="en-US" altLang="en-US" sz="3200" b="1" dirty="0">
                <a:solidFill>
                  <a:schemeClr val="tx1"/>
                </a:solidFill>
              </a:rPr>
              <a:t>→</a:t>
            </a:r>
            <a:r>
              <a:rPr lang="en-US" altLang="zh-CN" sz="3200" b="1" dirty="0">
                <a:solidFill>
                  <a:schemeClr val="tx1"/>
                </a:solidFill>
                <a:highlight>
                  <a:srgbClr val="FFFF00"/>
                </a:highlight>
              </a:rPr>
              <a:t>glory </a:t>
            </a:r>
            <a:r>
              <a:rPr lang="en-US" altLang="zh-CN" sz="3200" b="1" dirty="0">
                <a:solidFill>
                  <a:schemeClr val="tx1"/>
                </a:solidFill>
              </a:rPr>
              <a:t>(n.) </a:t>
            </a:r>
            <a:r>
              <a:rPr lang="zh-CN" altLang="en-US" sz="3200" b="1" dirty="0">
                <a:solidFill>
                  <a:schemeClr val="tx1"/>
                </a:solidFill>
              </a:rPr>
              <a:t>荣誉</a:t>
            </a:r>
            <a:r>
              <a:rPr lang="en-US" altLang="zh-CN" sz="3200" b="1" dirty="0">
                <a:solidFill>
                  <a:schemeClr val="tx1"/>
                </a:solidFill>
              </a:rPr>
              <a:t>;</a:t>
            </a:r>
            <a:r>
              <a:rPr lang="zh-CN" altLang="en-US" sz="3200" b="1" dirty="0">
                <a:solidFill>
                  <a:schemeClr val="tx1"/>
                </a:solidFill>
              </a:rPr>
              <a:t>光荣</a:t>
            </a:r>
          </a:p>
          <a:p>
            <a:r>
              <a:rPr lang="en-US" altLang="zh-CN" sz="3200" b="1" dirty="0">
                <a:solidFill>
                  <a:schemeClr val="tx1"/>
                </a:solidFill>
              </a:rPr>
              <a:t>6.</a:t>
            </a:r>
            <a:r>
              <a:rPr lang="en-US" altLang="zh-CN" sz="3200" b="1" dirty="0">
                <a:solidFill>
                  <a:schemeClr val="tx1"/>
                </a:solidFill>
                <a:highlight>
                  <a:srgbClr val="FFFF00"/>
                </a:highlight>
              </a:rPr>
              <a:t>stability </a:t>
            </a:r>
            <a:r>
              <a:rPr lang="en-US" altLang="zh-CN" sz="3200" b="1" dirty="0">
                <a:solidFill>
                  <a:schemeClr val="tx1"/>
                </a:solidFill>
              </a:rPr>
              <a:t>n.</a:t>
            </a:r>
            <a:r>
              <a:rPr lang="zh-CN" altLang="en-US" sz="3200" b="1" dirty="0">
                <a:solidFill>
                  <a:schemeClr val="tx1"/>
                </a:solidFill>
              </a:rPr>
              <a:t>稳定</a:t>
            </a:r>
            <a:r>
              <a:rPr lang="en-US" altLang="zh-CN" sz="3200" b="1" dirty="0">
                <a:solidFill>
                  <a:schemeClr val="tx1"/>
                </a:solidFill>
              </a:rPr>
              <a:t>(</a:t>
            </a:r>
            <a:r>
              <a:rPr lang="zh-CN" altLang="en-US" sz="3200" b="1" dirty="0">
                <a:solidFill>
                  <a:schemeClr val="tx1"/>
                </a:solidFill>
              </a:rPr>
              <a:t>性</a:t>
            </a:r>
            <a:r>
              <a:rPr lang="en-US" altLang="zh-CN" sz="3200" b="1" dirty="0">
                <a:solidFill>
                  <a:schemeClr val="tx1"/>
                </a:solidFill>
              </a:rPr>
              <a:t>)</a:t>
            </a:r>
            <a:r>
              <a:rPr lang="zh-CN" altLang="en-US" sz="3200" b="1" dirty="0">
                <a:solidFill>
                  <a:schemeClr val="tx1"/>
                </a:solidFill>
              </a:rPr>
              <a:t>，稳固</a:t>
            </a:r>
            <a:r>
              <a:rPr lang="en-US" altLang="zh-CN" sz="3200" b="1" dirty="0">
                <a:solidFill>
                  <a:schemeClr val="tx1"/>
                </a:solidFill>
              </a:rPr>
              <a:t>(</a:t>
            </a:r>
            <a:r>
              <a:rPr lang="zh-CN" altLang="en-US" sz="3200" b="1" dirty="0">
                <a:solidFill>
                  <a:schemeClr val="tx1"/>
                </a:solidFill>
              </a:rPr>
              <a:t>性</a:t>
            </a:r>
            <a:r>
              <a:rPr lang="en-US" altLang="zh-CN" sz="3200" b="1" dirty="0">
                <a:solidFill>
                  <a:schemeClr val="tx1"/>
                </a:solidFill>
              </a:rPr>
              <a:t>)</a:t>
            </a:r>
            <a:r>
              <a:rPr lang="en-US" altLang="en-US" sz="3200" b="1" dirty="0">
                <a:solidFill>
                  <a:schemeClr val="tx1"/>
                </a:solidFill>
              </a:rPr>
              <a:t>→</a:t>
            </a:r>
            <a:r>
              <a:rPr lang="en-US" altLang="zh-CN" sz="3200" b="1" dirty="0">
                <a:solidFill>
                  <a:schemeClr val="tx1"/>
                </a:solidFill>
                <a:highlight>
                  <a:srgbClr val="FFFF00"/>
                </a:highlight>
              </a:rPr>
              <a:t>stable </a:t>
            </a:r>
            <a:r>
              <a:rPr lang="en-US" altLang="zh-CN" sz="3200" b="1" dirty="0">
                <a:solidFill>
                  <a:schemeClr val="tx1"/>
                </a:solidFill>
              </a:rPr>
              <a:t>adj.</a:t>
            </a:r>
            <a:r>
              <a:rPr lang="zh-CN" altLang="en-US" sz="3200" b="1" dirty="0">
                <a:solidFill>
                  <a:schemeClr val="tx1"/>
                </a:solidFill>
              </a:rPr>
              <a:t>稳定的</a:t>
            </a:r>
            <a:r>
              <a:rPr lang="en-US" altLang="en-US" sz="3200" b="1" dirty="0">
                <a:solidFill>
                  <a:schemeClr val="tx1"/>
                </a:solidFill>
              </a:rPr>
              <a:t>→</a:t>
            </a:r>
            <a:r>
              <a:rPr lang="en-US" altLang="zh-CN" sz="3200" b="1" dirty="0">
                <a:solidFill>
                  <a:schemeClr val="tx1"/>
                </a:solidFill>
              </a:rPr>
              <a:t> </a:t>
            </a:r>
            <a:r>
              <a:rPr lang="en-US" altLang="zh-CN" sz="3200" b="1" dirty="0">
                <a:solidFill>
                  <a:schemeClr val="tx1"/>
                </a:solidFill>
                <a:highlight>
                  <a:srgbClr val="FFFF00"/>
                </a:highlight>
              </a:rPr>
              <a:t>stably   </a:t>
            </a:r>
            <a:r>
              <a:rPr lang="en-US" altLang="zh-CN" sz="3200" b="1" dirty="0">
                <a:solidFill>
                  <a:schemeClr val="tx1"/>
                </a:solidFill>
              </a:rPr>
              <a:t>adv.</a:t>
            </a:r>
            <a:r>
              <a:rPr lang="zh-CN" altLang="en-US" sz="3200" b="1" dirty="0">
                <a:solidFill>
                  <a:schemeClr val="tx1"/>
                </a:solidFill>
              </a:rPr>
              <a:t>稳定地</a:t>
            </a:r>
          </a:p>
          <a:p>
            <a:r>
              <a:rPr lang="en-US" altLang="zh-CN" sz="3200" b="1" dirty="0">
                <a:solidFill>
                  <a:schemeClr val="tx1"/>
                </a:solidFill>
              </a:rPr>
              <a:t>7. </a:t>
            </a:r>
            <a:r>
              <a:rPr lang="en-US" altLang="zh-CN" sz="3200" b="1" dirty="0">
                <a:solidFill>
                  <a:schemeClr val="tx1"/>
                </a:solidFill>
                <a:highlight>
                  <a:srgbClr val="FFFF00"/>
                </a:highlight>
              </a:rPr>
              <a:t>tolerant </a:t>
            </a:r>
            <a:r>
              <a:rPr lang="en-US" altLang="zh-CN" sz="3200" b="1" dirty="0">
                <a:solidFill>
                  <a:schemeClr val="tx1"/>
                </a:solidFill>
              </a:rPr>
              <a:t>adj.</a:t>
            </a:r>
            <a:r>
              <a:rPr lang="zh-CN" altLang="en-US" sz="3200" b="1" dirty="0">
                <a:solidFill>
                  <a:schemeClr val="tx1"/>
                </a:solidFill>
              </a:rPr>
              <a:t>宽容的，容忍的</a:t>
            </a:r>
            <a:r>
              <a:rPr lang="en-US" altLang="en-US" sz="3200" b="1" dirty="0">
                <a:solidFill>
                  <a:schemeClr val="tx1"/>
                </a:solidFill>
              </a:rPr>
              <a:t>→</a:t>
            </a:r>
            <a:r>
              <a:rPr lang="en-US" altLang="zh-CN" sz="3200" b="1" dirty="0">
                <a:solidFill>
                  <a:schemeClr val="tx1"/>
                </a:solidFill>
                <a:highlight>
                  <a:srgbClr val="FFFF00"/>
                </a:highlight>
              </a:rPr>
              <a:t>tolerate </a:t>
            </a:r>
            <a:r>
              <a:rPr lang="en-US" altLang="zh-CN" sz="3200" b="1" dirty="0">
                <a:solidFill>
                  <a:schemeClr val="tx1"/>
                </a:solidFill>
              </a:rPr>
              <a:t>vt.</a:t>
            </a:r>
            <a:r>
              <a:rPr lang="zh-CN" altLang="en-US" sz="3200" b="1" dirty="0">
                <a:solidFill>
                  <a:schemeClr val="tx1"/>
                </a:solidFill>
              </a:rPr>
              <a:t>容许，允许</a:t>
            </a:r>
            <a:r>
              <a:rPr lang="en-US" altLang="en-US" sz="3200" b="1" dirty="0">
                <a:solidFill>
                  <a:schemeClr val="tx1"/>
                </a:solidFill>
              </a:rPr>
              <a:t>→</a:t>
            </a:r>
            <a:r>
              <a:rPr lang="en-US" altLang="zh-CN" sz="3200" b="1" dirty="0">
                <a:solidFill>
                  <a:schemeClr val="tx1"/>
                </a:solidFill>
                <a:highlight>
                  <a:srgbClr val="FFFF00"/>
                </a:highlight>
              </a:rPr>
              <a:t>tolerance </a:t>
            </a:r>
            <a:r>
              <a:rPr lang="en-US" altLang="zh-CN" sz="3200" b="1" dirty="0">
                <a:solidFill>
                  <a:schemeClr val="tx1"/>
                </a:solidFill>
              </a:rPr>
              <a:t>n.</a:t>
            </a:r>
            <a:r>
              <a:rPr lang="zh-CN" altLang="en-US" sz="3200" b="1" dirty="0">
                <a:solidFill>
                  <a:schemeClr val="tx1"/>
                </a:solidFill>
              </a:rPr>
              <a:t>忍受</a:t>
            </a:r>
            <a:r>
              <a:rPr lang="en-US" altLang="zh-CN" sz="3200" b="1" dirty="0">
                <a:solidFill>
                  <a:schemeClr val="tx1"/>
                </a:solidFill>
              </a:rPr>
              <a:t>;</a:t>
            </a:r>
            <a:r>
              <a:rPr lang="zh-CN" altLang="en-US" sz="3200" b="1" dirty="0">
                <a:solidFill>
                  <a:schemeClr val="tx1"/>
                </a:solidFill>
              </a:rPr>
              <a:t>容忍</a:t>
            </a:r>
            <a:r>
              <a:rPr lang="en-US" altLang="zh-CN" sz="3200" b="1" dirty="0">
                <a:solidFill>
                  <a:schemeClr val="tx1"/>
                </a:solidFill>
              </a:rPr>
              <a:t>;</a:t>
            </a:r>
            <a:r>
              <a:rPr lang="zh-CN" altLang="en-US" sz="3200" b="1" dirty="0">
                <a:solidFill>
                  <a:schemeClr val="tx1"/>
                </a:solidFill>
              </a:rPr>
              <a:t>宽容</a:t>
            </a:r>
            <a:r>
              <a:rPr lang="en-US" altLang="zh-CN" sz="3200" b="1" dirty="0">
                <a:solidFill>
                  <a:schemeClr val="tx1"/>
                </a:solidFill>
              </a:rPr>
              <a:t>;</a:t>
            </a:r>
            <a:r>
              <a:rPr lang="zh-CN" altLang="en-US" sz="3200" b="1" dirty="0">
                <a:solidFill>
                  <a:schemeClr val="tx1"/>
                </a:solidFill>
              </a:rPr>
              <a:t>容许</a:t>
            </a:r>
            <a:r>
              <a:rPr lang="en-US" altLang="en-US" sz="3200" b="1" dirty="0">
                <a:solidFill>
                  <a:schemeClr val="tx1"/>
                </a:solidFill>
              </a:rPr>
              <a:t>→</a:t>
            </a:r>
            <a:r>
              <a:rPr lang="en-US" altLang="zh-CN" sz="3200" b="1" dirty="0">
                <a:solidFill>
                  <a:schemeClr val="tx1"/>
                </a:solidFill>
                <a:highlight>
                  <a:srgbClr val="FFFF00"/>
                </a:highlight>
              </a:rPr>
              <a:t>intolerant </a:t>
            </a:r>
            <a:r>
              <a:rPr lang="en-US" altLang="zh-CN" sz="3200" b="1" dirty="0">
                <a:solidFill>
                  <a:schemeClr val="tx1"/>
                </a:solidFill>
              </a:rPr>
              <a:t>adj.</a:t>
            </a:r>
            <a:r>
              <a:rPr lang="zh-CN" altLang="en-US" sz="3200" b="1" dirty="0">
                <a:solidFill>
                  <a:schemeClr val="tx1"/>
                </a:solidFill>
              </a:rPr>
              <a:t>无法忍受的</a:t>
            </a:r>
          </a:p>
          <a:p>
            <a:endParaRPr lang="en-US" altLang="zh-CN" sz="3200" b="1" dirty="0">
              <a:solidFill>
                <a:schemeClr val="tx1"/>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r>
              <a:rPr lang="en-US" altLang="zh-CN" sz="3200" b="1" dirty="0">
                <a:sym typeface="+mn-ea"/>
              </a:rPr>
              <a:t>8. </a:t>
            </a:r>
            <a:r>
              <a:rPr lang="en-US" altLang="zh-CN" sz="3200" b="1" dirty="0">
                <a:highlight>
                  <a:srgbClr val="FFFF00"/>
                </a:highlight>
                <a:sym typeface="+mn-ea"/>
              </a:rPr>
              <a:t>vitality </a:t>
            </a:r>
            <a:r>
              <a:rPr lang="en-US" altLang="zh-CN" sz="3200" b="1" dirty="0">
                <a:sym typeface="+mn-ea"/>
              </a:rPr>
              <a:t>n.</a:t>
            </a:r>
            <a:r>
              <a:rPr lang="zh-CN" altLang="en-US" sz="3200" b="1" dirty="0">
                <a:sym typeface="+mn-ea"/>
              </a:rPr>
              <a:t>生命力，活力，热情</a:t>
            </a:r>
            <a:r>
              <a:rPr lang="en-US" altLang="en-US" sz="3200" b="1" dirty="0">
                <a:sym typeface="+mn-ea"/>
              </a:rPr>
              <a:t>→</a:t>
            </a:r>
            <a:r>
              <a:rPr lang="en-US" altLang="zh-CN" sz="3200" b="1" dirty="0">
                <a:highlight>
                  <a:srgbClr val="FFFF00"/>
                </a:highlight>
                <a:sym typeface="+mn-ea"/>
              </a:rPr>
              <a:t>vital </a:t>
            </a:r>
            <a:r>
              <a:rPr lang="en-US" altLang="zh-CN" sz="3200" b="1" dirty="0">
                <a:sym typeface="+mn-ea"/>
              </a:rPr>
              <a:t>adj.</a:t>
            </a:r>
            <a:r>
              <a:rPr lang="zh-CN" altLang="en-US" sz="3200" b="1" dirty="0">
                <a:sym typeface="+mn-ea"/>
              </a:rPr>
              <a:t>必不可少的，对</a:t>
            </a:r>
            <a:r>
              <a:rPr lang="en-US" altLang="zh-CN" sz="3200" b="1" dirty="0">
                <a:sym typeface="+mn-ea"/>
              </a:rPr>
              <a:t>…</a:t>
            </a:r>
            <a:r>
              <a:rPr lang="zh-CN" altLang="en-US" sz="3200" b="1" dirty="0">
                <a:sym typeface="+mn-ea"/>
              </a:rPr>
              <a:t>极重要的；维持生命所必需的；热情洋溢的</a:t>
            </a:r>
            <a:r>
              <a:rPr lang="en-US" altLang="en-US" sz="3200" b="1" dirty="0">
                <a:sym typeface="+mn-ea"/>
              </a:rPr>
              <a:t>→</a:t>
            </a:r>
            <a:r>
              <a:rPr lang="en-US" altLang="zh-CN" sz="3200" b="1" dirty="0">
                <a:highlight>
                  <a:srgbClr val="FFFF00"/>
                </a:highlight>
                <a:sym typeface="+mn-ea"/>
              </a:rPr>
              <a:t>vitally </a:t>
            </a:r>
            <a:r>
              <a:rPr lang="en-US" altLang="zh-CN" sz="3200" b="1" dirty="0">
                <a:sym typeface="+mn-ea"/>
              </a:rPr>
              <a:t>adv.</a:t>
            </a:r>
            <a:endParaRPr lang="en-US" altLang="zh-CN" sz="3200" b="1" dirty="0">
              <a:solidFill>
                <a:schemeClr val="tx1"/>
              </a:solidFill>
            </a:endParaRPr>
          </a:p>
          <a:p>
            <a:r>
              <a:rPr lang="en-US" altLang="zh-CN" sz="3200" b="1" dirty="0">
                <a:sym typeface="+mn-ea"/>
              </a:rPr>
              <a:t>9.</a:t>
            </a:r>
            <a:r>
              <a:rPr lang="en-US" altLang="zh-CN" sz="3200" b="1" dirty="0">
                <a:highlight>
                  <a:srgbClr val="FFFF00"/>
                </a:highlight>
                <a:sym typeface="+mn-ea"/>
              </a:rPr>
              <a:t>distinguish </a:t>
            </a:r>
            <a:r>
              <a:rPr lang="en-US" altLang="zh-CN" sz="3200" b="1" dirty="0">
                <a:sym typeface="+mn-ea"/>
              </a:rPr>
              <a:t>vt. &amp;vi.</a:t>
            </a:r>
            <a:r>
              <a:rPr lang="zh-CN" altLang="en-US" sz="3200" b="1" dirty="0">
                <a:sym typeface="+mn-ea"/>
              </a:rPr>
              <a:t>成为</a:t>
            </a:r>
            <a:r>
              <a:rPr lang="en-US" altLang="zh-CN" sz="3200" b="1" dirty="0">
                <a:sym typeface="+mn-ea"/>
              </a:rPr>
              <a:t>…</a:t>
            </a:r>
            <a:r>
              <a:rPr lang="zh-CN" altLang="en-US" sz="3200" b="1" dirty="0">
                <a:sym typeface="+mn-ea"/>
              </a:rPr>
              <a:t>的特征，使有别于；区分，辨别</a:t>
            </a:r>
            <a:r>
              <a:rPr lang="en-US" altLang="en-US" sz="3200" b="1" dirty="0">
                <a:sym typeface="+mn-ea"/>
              </a:rPr>
              <a:t>→</a:t>
            </a:r>
            <a:r>
              <a:rPr lang="en-US" altLang="zh-CN" sz="3200" b="1" dirty="0">
                <a:highlight>
                  <a:srgbClr val="FFFF00"/>
                </a:highlight>
                <a:sym typeface="+mn-ea"/>
              </a:rPr>
              <a:t>distinguished </a:t>
            </a:r>
            <a:r>
              <a:rPr lang="en-US" altLang="zh-CN" sz="3200" b="1" dirty="0">
                <a:sym typeface="+mn-ea"/>
              </a:rPr>
              <a:t>adj.</a:t>
            </a:r>
            <a:r>
              <a:rPr lang="zh-CN" altLang="en-US" sz="3200" b="1" dirty="0">
                <a:sym typeface="+mn-ea"/>
              </a:rPr>
              <a:t>卓越的</a:t>
            </a:r>
            <a:r>
              <a:rPr lang="en-US" altLang="zh-CN" sz="3200" b="1" dirty="0">
                <a:sym typeface="+mn-ea"/>
              </a:rPr>
              <a:t>;</a:t>
            </a:r>
            <a:r>
              <a:rPr lang="zh-CN" altLang="en-US" sz="3200" b="1" dirty="0">
                <a:sym typeface="+mn-ea"/>
              </a:rPr>
              <a:t>杰出的</a:t>
            </a:r>
            <a:r>
              <a:rPr lang="en-US" altLang="zh-CN" sz="3200" b="1" dirty="0">
                <a:sym typeface="+mn-ea"/>
              </a:rPr>
              <a:t>;</a:t>
            </a:r>
            <a:r>
              <a:rPr lang="zh-CN" altLang="en-US" sz="3200" b="1" dirty="0">
                <a:sym typeface="+mn-ea"/>
              </a:rPr>
              <a:t>著名的</a:t>
            </a:r>
            <a:r>
              <a:rPr lang="en-US" altLang="zh-CN" sz="3200" b="1" dirty="0">
                <a:sym typeface="+mn-ea"/>
              </a:rPr>
              <a:t>;</a:t>
            </a:r>
            <a:r>
              <a:rPr lang="zh-CN" altLang="en-US" sz="3200" b="1" dirty="0">
                <a:sym typeface="+mn-ea"/>
              </a:rPr>
              <a:t>显得重要的</a:t>
            </a:r>
            <a:r>
              <a:rPr lang="en-US" altLang="zh-CN" sz="3200" b="1" dirty="0">
                <a:sym typeface="+mn-ea"/>
              </a:rPr>
              <a:t>;</a:t>
            </a:r>
            <a:r>
              <a:rPr lang="zh-CN" altLang="en-US" sz="3200" b="1" dirty="0">
                <a:sym typeface="+mn-ea"/>
              </a:rPr>
              <a:t>高贵的</a:t>
            </a:r>
            <a:r>
              <a:rPr lang="en-US" altLang="zh-CN" sz="3200" b="1" dirty="0">
                <a:sym typeface="+mn-ea"/>
              </a:rPr>
              <a:t>;</a:t>
            </a:r>
            <a:r>
              <a:rPr lang="zh-CN" altLang="en-US" sz="3200" b="1" dirty="0">
                <a:sym typeface="+mn-ea"/>
              </a:rPr>
              <a:t>有尊严的</a:t>
            </a:r>
            <a:endParaRPr lang="zh-CN" altLang="en-US" sz="3200" b="1" dirty="0">
              <a:solidFill>
                <a:schemeClr val="tx1"/>
              </a:solidFill>
            </a:endParaRPr>
          </a:p>
          <a:p>
            <a:r>
              <a:rPr lang="en-US" altLang="zh-CN" sz="3200" b="1" dirty="0">
                <a:sym typeface="+mn-ea"/>
              </a:rPr>
              <a:t>10.</a:t>
            </a:r>
            <a:r>
              <a:rPr lang="en-US" altLang="zh-CN" sz="3200" b="1" dirty="0">
                <a:highlight>
                  <a:srgbClr val="FFFF00"/>
                </a:highlight>
                <a:sym typeface="+mn-ea"/>
              </a:rPr>
              <a:t>exaggeration </a:t>
            </a:r>
            <a:r>
              <a:rPr lang="en-US" altLang="zh-CN" sz="3200" b="1" dirty="0">
                <a:sym typeface="+mn-ea"/>
              </a:rPr>
              <a:t>n. </a:t>
            </a:r>
            <a:r>
              <a:rPr lang="zh-CN" altLang="en-US" sz="3200" b="1" dirty="0">
                <a:sym typeface="+mn-ea"/>
              </a:rPr>
              <a:t>夸张</a:t>
            </a:r>
            <a:r>
              <a:rPr lang="en-US" altLang="en-US" sz="3200" b="1" dirty="0">
                <a:sym typeface="+mn-ea"/>
              </a:rPr>
              <a:t>→</a:t>
            </a:r>
            <a:r>
              <a:rPr lang="en-US" altLang="zh-CN" sz="3200" b="1" dirty="0">
                <a:highlight>
                  <a:srgbClr val="FFFF00"/>
                </a:highlight>
                <a:sym typeface="+mn-ea"/>
              </a:rPr>
              <a:t>exaggerate </a:t>
            </a:r>
            <a:r>
              <a:rPr lang="en-US" altLang="zh-CN" sz="3200" b="1" dirty="0">
                <a:sym typeface="+mn-ea"/>
              </a:rPr>
              <a:t>v.</a:t>
            </a:r>
            <a:r>
              <a:rPr lang="zh-CN" altLang="en-US" sz="3200" b="1" dirty="0">
                <a:sym typeface="+mn-ea"/>
              </a:rPr>
              <a:t>夸张</a:t>
            </a:r>
            <a:r>
              <a:rPr lang="en-US" altLang="zh-CN" sz="3200" b="1" dirty="0">
                <a:sym typeface="+mn-ea"/>
              </a:rPr>
              <a:t>; </a:t>
            </a:r>
            <a:r>
              <a:rPr lang="zh-CN" altLang="en-US" sz="3200" b="1" dirty="0">
                <a:sym typeface="+mn-ea"/>
              </a:rPr>
              <a:t>夸大</a:t>
            </a:r>
            <a:r>
              <a:rPr lang="en-US" altLang="zh-CN" sz="3200" b="1" dirty="0">
                <a:sym typeface="+mn-ea"/>
              </a:rPr>
              <a:t>; </a:t>
            </a:r>
            <a:r>
              <a:rPr lang="zh-CN" altLang="en-US" sz="3200" b="1" dirty="0">
                <a:sym typeface="+mn-ea"/>
              </a:rPr>
              <a:t>言过其实</a:t>
            </a:r>
            <a:endParaRPr lang="zh-CN" altLang="en-US" sz="3200" b="1" dirty="0">
              <a:solidFill>
                <a:schemeClr val="tx1"/>
              </a:solidFill>
            </a:endParaRPr>
          </a:p>
          <a:p>
            <a:r>
              <a:rPr lang="en-US" altLang="zh-CN" sz="3200" b="1" dirty="0">
                <a:sym typeface="+mn-ea"/>
              </a:rPr>
              <a:t>11.</a:t>
            </a:r>
            <a:r>
              <a:rPr lang="en-US" altLang="zh-CN" sz="3200" b="1" dirty="0">
                <a:highlight>
                  <a:srgbClr val="FFFF00"/>
                </a:highlight>
                <a:sym typeface="+mn-ea"/>
              </a:rPr>
              <a:t>representative </a:t>
            </a:r>
            <a:r>
              <a:rPr lang="en-US" altLang="zh-CN" sz="3200" b="1" dirty="0">
                <a:sym typeface="+mn-ea"/>
              </a:rPr>
              <a:t>adj.</a:t>
            </a:r>
            <a:r>
              <a:rPr lang="zh-CN" altLang="en-US" sz="3200" b="1" dirty="0">
                <a:sym typeface="+mn-ea"/>
              </a:rPr>
              <a:t>典型的，有代表性的；</a:t>
            </a:r>
            <a:r>
              <a:rPr lang="en-US" altLang="zh-CN" sz="3200" b="1" dirty="0">
                <a:sym typeface="+mn-ea"/>
              </a:rPr>
              <a:t>n.</a:t>
            </a:r>
            <a:r>
              <a:rPr lang="zh-CN" altLang="en-US" sz="3200" b="1" dirty="0">
                <a:sym typeface="+mn-ea"/>
              </a:rPr>
              <a:t>典型人物</a:t>
            </a:r>
            <a:r>
              <a:rPr lang="en-US" altLang="en-US" sz="3200" b="1" dirty="0">
                <a:sym typeface="+mn-ea"/>
              </a:rPr>
              <a:t>→</a:t>
            </a:r>
            <a:r>
              <a:rPr lang="en-US" altLang="zh-CN" sz="3200" b="1" dirty="0">
                <a:highlight>
                  <a:srgbClr val="FFFF00"/>
                </a:highlight>
                <a:sym typeface="+mn-ea"/>
              </a:rPr>
              <a:t>represent </a:t>
            </a:r>
            <a:r>
              <a:rPr lang="en-US" altLang="zh-CN" sz="3200" b="1" dirty="0">
                <a:sym typeface="+mn-ea"/>
              </a:rPr>
              <a:t>vt. </a:t>
            </a:r>
            <a:r>
              <a:rPr lang="zh-CN" altLang="en-US" sz="3200" b="1" dirty="0">
                <a:sym typeface="+mn-ea"/>
              </a:rPr>
              <a:t>代表；作为</a:t>
            </a:r>
            <a:r>
              <a:rPr lang="en-US" altLang="zh-CN" sz="3200" b="1" dirty="0">
                <a:sym typeface="+mn-ea"/>
              </a:rPr>
              <a:t>…</a:t>
            </a:r>
            <a:r>
              <a:rPr lang="zh-CN" altLang="en-US" sz="3200" b="1" dirty="0">
                <a:sym typeface="+mn-ea"/>
              </a:rPr>
              <a:t>的象征</a:t>
            </a:r>
            <a:r>
              <a:rPr lang="en-US" altLang="zh-CN" sz="3200" b="1" dirty="0">
                <a:sym typeface="+mn-ea"/>
              </a:rPr>
              <a:t>; </a:t>
            </a:r>
            <a:r>
              <a:rPr lang="zh-CN" altLang="en-US" sz="3200" b="1" dirty="0">
                <a:sym typeface="+mn-ea"/>
              </a:rPr>
              <a:t>意味着</a:t>
            </a:r>
            <a:r>
              <a:rPr lang="en-US" altLang="en-US" sz="3200" b="1" dirty="0">
                <a:sym typeface="+mn-ea"/>
              </a:rPr>
              <a:t>→</a:t>
            </a:r>
            <a:r>
              <a:rPr lang="en-US" altLang="zh-CN" sz="3200" b="1" dirty="0">
                <a:sym typeface="+mn-ea"/>
              </a:rPr>
              <a:t> </a:t>
            </a:r>
            <a:r>
              <a:rPr lang="en-US" altLang="zh-CN" sz="3200" b="1" dirty="0">
                <a:highlight>
                  <a:srgbClr val="FFFF00"/>
                </a:highlight>
                <a:sym typeface="+mn-ea"/>
              </a:rPr>
              <a:t>representation </a:t>
            </a:r>
            <a:r>
              <a:rPr lang="en-US" altLang="zh-CN" sz="3200" b="1" dirty="0">
                <a:sym typeface="+mn-ea"/>
              </a:rPr>
              <a:t>n.</a:t>
            </a:r>
            <a:r>
              <a:rPr lang="zh-CN" altLang="en-US" sz="3200" b="1" dirty="0">
                <a:sym typeface="+mn-ea"/>
              </a:rPr>
              <a:t>表现</a:t>
            </a:r>
            <a:r>
              <a:rPr lang="en-US" altLang="zh-CN" sz="3200" b="1" dirty="0">
                <a:sym typeface="+mn-ea"/>
              </a:rPr>
              <a:t>; </a:t>
            </a:r>
            <a:r>
              <a:rPr lang="zh-CN" altLang="en-US" sz="3200" b="1" dirty="0">
                <a:sym typeface="+mn-ea"/>
              </a:rPr>
              <a:t>描述</a:t>
            </a:r>
            <a:r>
              <a:rPr lang="en-US" altLang="zh-CN" sz="3200" b="1" dirty="0">
                <a:sym typeface="+mn-ea"/>
              </a:rPr>
              <a:t>; </a:t>
            </a:r>
            <a:r>
              <a:rPr lang="zh-CN" altLang="en-US" sz="3200" b="1" dirty="0">
                <a:sym typeface="+mn-ea"/>
              </a:rPr>
              <a:t>描绘</a:t>
            </a:r>
            <a:endParaRPr lang="zh-CN" altLang="en-US" sz="3200" b="1" dirty="0">
              <a:solidFill>
                <a:schemeClr val="tx1"/>
              </a:solidFill>
            </a:endParaRPr>
          </a:p>
          <a:p>
            <a:r>
              <a:rPr lang="en-US" altLang="zh-CN" sz="3200" b="1" dirty="0">
                <a:sym typeface="+mn-ea"/>
              </a:rPr>
              <a:t>12.</a:t>
            </a:r>
            <a:r>
              <a:rPr lang="en-US" altLang="zh-CN" sz="3200" b="1" dirty="0">
                <a:highlight>
                  <a:srgbClr val="FFFF00"/>
                </a:highlight>
                <a:sym typeface="+mn-ea"/>
              </a:rPr>
              <a:t>frost </a:t>
            </a:r>
            <a:r>
              <a:rPr lang="en-US" altLang="zh-CN" sz="3200" b="1" dirty="0">
                <a:sym typeface="+mn-ea"/>
              </a:rPr>
              <a:t>n.</a:t>
            </a:r>
            <a:r>
              <a:rPr lang="zh-CN" altLang="en-US" sz="3200" b="1" dirty="0">
                <a:sym typeface="+mn-ea"/>
              </a:rPr>
              <a:t>霜冻</a:t>
            </a:r>
            <a:r>
              <a:rPr lang="en-US" altLang="en-US" sz="3200" b="1" dirty="0">
                <a:sym typeface="+mn-ea"/>
              </a:rPr>
              <a:t>→</a:t>
            </a:r>
            <a:r>
              <a:rPr lang="en-US" altLang="zh-CN" sz="3200" b="1" dirty="0">
                <a:highlight>
                  <a:srgbClr val="FFFF00"/>
                </a:highlight>
                <a:sym typeface="+mn-ea"/>
              </a:rPr>
              <a:t>frosty </a:t>
            </a:r>
            <a:r>
              <a:rPr lang="en-US" altLang="zh-CN" sz="3200" b="1" dirty="0">
                <a:sym typeface="+mn-ea"/>
              </a:rPr>
              <a:t>adj.</a:t>
            </a:r>
            <a:r>
              <a:rPr lang="zh-CN" altLang="en-US" sz="3200" b="1" dirty="0">
                <a:sym typeface="+mn-ea"/>
              </a:rPr>
              <a:t>严寒的</a:t>
            </a:r>
            <a:r>
              <a:rPr lang="en-US" altLang="zh-CN" sz="3200" b="1" dirty="0">
                <a:sym typeface="+mn-ea"/>
              </a:rPr>
              <a:t>;</a:t>
            </a:r>
            <a:r>
              <a:rPr lang="zh-CN" altLang="en-US" sz="3200" b="1" dirty="0">
                <a:sym typeface="+mn-ea"/>
              </a:rPr>
              <a:t>霜冻的</a:t>
            </a:r>
            <a:endParaRPr lang="zh-CN" altLang="en-US" sz="3200" b="1" dirty="0">
              <a:solidFill>
                <a:schemeClr val="tx1"/>
              </a:solidFill>
            </a:endParaRPr>
          </a:p>
          <a:p>
            <a:r>
              <a:rPr lang="en-US" altLang="zh-CN" sz="3200" b="1" dirty="0">
                <a:sym typeface="+mn-ea"/>
              </a:rPr>
              <a:t>13.</a:t>
            </a:r>
            <a:r>
              <a:rPr lang="en-US" altLang="zh-CN" sz="3200" b="1" dirty="0">
                <a:highlight>
                  <a:srgbClr val="FFFF00"/>
                </a:highlight>
                <a:sym typeface="+mn-ea"/>
              </a:rPr>
              <a:t>cast </a:t>
            </a:r>
            <a:r>
              <a:rPr lang="en-US" altLang="zh-CN" sz="3200" b="1" dirty="0">
                <a:sym typeface="+mn-ea"/>
              </a:rPr>
              <a:t>vt. </a:t>
            </a:r>
            <a:r>
              <a:rPr lang="en-US" altLang="zh-CN" sz="3200" b="1" dirty="0">
                <a:highlight>
                  <a:srgbClr val="FFFF00"/>
                </a:highlight>
                <a:sym typeface="+mn-ea"/>
              </a:rPr>
              <a:t>(cast, cast)</a:t>
            </a:r>
            <a:r>
              <a:rPr lang="en-US" altLang="zh-CN" sz="3200" b="1" dirty="0">
                <a:sym typeface="+mn-ea"/>
              </a:rPr>
              <a:t> </a:t>
            </a:r>
            <a:r>
              <a:rPr lang="zh-CN" altLang="en-US" sz="3200" b="1" dirty="0">
                <a:sym typeface="+mn-ea"/>
              </a:rPr>
              <a:t>投射；向</a:t>
            </a:r>
            <a:r>
              <a:rPr lang="en-US" altLang="zh-CN" sz="3200" b="1" dirty="0">
                <a:sym typeface="+mn-ea"/>
              </a:rPr>
              <a:t>…</a:t>
            </a:r>
            <a:r>
              <a:rPr lang="zh-CN" altLang="en-US" sz="3200" b="1" dirty="0">
                <a:sym typeface="+mn-ea"/>
              </a:rPr>
              <a:t>投以（视线、笑容等）；投，抛；选派</a:t>
            </a:r>
            <a:r>
              <a:rPr lang="en-US" altLang="zh-CN" sz="3200" b="1" dirty="0">
                <a:sym typeface="+mn-ea"/>
              </a:rPr>
              <a:t>	n. </a:t>
            </a:r>
            <a:r>
              <a:rPr lang="zh-CN" altLang="en-US" sz="3200" b="1" dirty="0">
                <a:sym typeface="+mn-ea"/>
              </a:rPr>
              <a:t>全体演员；投，抛</a:t>
            </a:r>
            <a:endParaRPr lang="zh-CN" altLang="en-US" sz="3200" b="1" dirty="0">
              <a:solidFill>
                <a:schemeClr val="tx1"/>
              </a:solidFill>
            </a:endParaRPr>
          </a:p>
          <a:p>
            <a:endParaRPr lang="en-US" altLang="zh-CN" sz="3200" b="1" dirty="0">
              <a:solidFill>
                <a:schemeClr val="tx1"/>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fontScale="92500" lnSpcReduction="10000"/>
          </a:bodyPr>
          <a:lstStyle/>
          <a:p>
            <a:r>
              <a:rPr lang="en-US" altLang="zh-CN" sz="3600" b="1" dirty="0">
                <a:sym typeface="+mn-ea"/>
              </a:rPr>
              <a:t>14.</a:t>
            </a:r>
            <a:r>
              <a:rPr lang="en-US" altLang="zh-CN" sz="3600" b="1" dirty="0">
                <a:highlight>
                  <a:srgbClr val="FFFF00"/>
                </a:highlight>
                <a:sym typeface="+mn-ea"/>
              </a:rPr>
              <a:t>fascinate </a:t>
            </a:r>
            <a:r>
              <a:rPr lang="en-US" altLang="zh-CN" sz="3600" b="1" dirty="0">
                <a:sym typeface="+mn-ea"/>
              </a:rPr>
              <a:t>(vt.&amp;vi.)</a:t>
            </a:r>
            <a:r>
              <a:rPr lang="zh-CN" altLang="en-US" sz="3600" b="1" dirty="0">
                <a:sym typeface="+mn-ea"/>
              </a:rPr>
              <a:t>深深吸引，迷住</a:t>
            </a:r>
            <a:r>
              <a:rPr lang="en-US" altLang="en-US" sz="3600" b="1" dirty="0">
                <a:sym typeface="+mn-ea"/>
              </a:rPr>
              <a:t>→</a:t>
            </a:r>
            <a:r>
              <a:rPr lang="en-US" altLang="zh-CN" sz="3600" b="1" dirty="0">
                <a:highlight>
                  <a:srgbClr val="FFFF00"/>
                </a:highlight>
                <a:sym typeface="+mn-ea"/>
              </a:rPr>
              <a:t>fascination </a:t>
            </a:r>
            <a:r>
              <a:rPr lang="en-US" altLang="zh-CN" sz="3600" b="1" dirty="0">
                <a:sym typeface="+mn-ea"/>
              </a:rPr>
              <a:t>n.</a:t>
            </a:r>
            <a:r>
              <a:rPr lang="zh-CN" altLang="en-US" sz="3600" b="1" dirty="0">
                <a:sym typeface="+mn-ea"/>
              </a:rPr>
              <a:t>魅力</a:t>
            </a:r>
            <a:r>
              <a:rPr lang="en-US" altLang="zh-CN" sz="3600" b="1" dirty="0">
                <a:sym typeface="+mn-ea"/>
              </a:rPr>
              <a:t>;</a:t>
            </a:r>
            <a:r>
              <a:rPr lang="zh-CN" altLang="en-US" sz="3600" b="1" dirty="0">
                <a:sym typeface="+mn-ea"/>
              </a:rPr>
              <a:t>极大的吸引力</a:t>
            </a:r>
            <a:r>
              <a:rPr lang="en-US" altLang="zh-CN" sz="3600" b="1" dirty="0">
                <a:sym typeface="+mn-ea"/>
              </a:rPr>
              <a:t>;</a:t>
            </a:r>
            <a:r>
              <a:rPr lang="zh-CN" altLang="en-US" sz="3600" b="1" dirty="0">
                <a:sym typeface="+mn-ea"/>
              </a:rPr>
              <a:t>入迷</a:t>
            </a:r>
            <a:r>
              <a:rPr lang="en-US" altLang="zh-CN" sz="3600" b="1" dirty="0">
                <a:sym typeface="+mn-ea"/>
              </a:rPr>
              <a:t>;</a:t>
            </a:r>
            <a:r>
              <a:rPr lang="zh-CN" altLang="en-US" sz="3600" b="1" dirty="0">
                <a:sym typeface="+mn-ea"/>
              </a:rPr>
              <a:t>着迷</a:t>
            </a:r>
            <a:r>
              <a:rPr lang="en-US" altLang="en-US" sz="3600" b="1" dirty="0">
                <a:sym typeface="+mn-ea"/>
              </a:rPr>
              <a:t>→</a:t>
            </a:r>
            <a:r>
              <a:rPr lang="en-US" altLang="zh-CN" sz="3600" b="1" dirty="0">
                <a:highlight>
                  <a:srgbClr val="FFFF00"/>
                </a:highlight>
                <a:sym typeface="+mn-ea"/>
              </a:rPr>
              <a:t>fascinated </a:t>
            </a:r>
            <a:r>
              <a:rPr lang="en-US" altLang="zh-CN" sz="3600" b="1" dirty="0">
                <a:sym typeface="+mn-ea"/>
              </a:rPr>
              <a:t>adj.</a:t>
            </a:r>
            <a:r>
              <a:rPr lang="zh-CN" altLang="en-US" sz="3600" b="1" dirty="0">
                <a:sym typeface="+mn-ea"/>
              </a:rPr>
              <a:t>入迷的</a:t>
            </a:r>
            <a:r>
              <a:rPr lang="en-US" altLang="zh-CN" sz="3600" b="1" dirty="0">
                <a:sym typeface="+mn-ea"/>
              </a:rPr>
              <a:t>;</a:t>
            </a:r>
            <a:r>
              <a:rPr lang="zh-CN" altLang="en-US" sz="3600" b="1" dirty="0">
                <a:sym typeface="+mn-ea"/>
              </a:rPr>
              <a:t>极感兴趣的</a:t>
            </a:r>
            <a:r>
              <a:rPr lang="en-US" altLang="en-US" sz="3600" b="1" dirty="0">
                <a:sym typeface="+mn-ea"/>
              </a:rPr>
              <a:t>→</a:t>
            </a:r>
            <a:r>
              <a:rPr lang="en-US" altLang="zh-CN" sz="3600" b="1" dirty="0">
                <a:highlight>
                  <a:srgbClr val="FFFF00"/>
                </a:highlight>
                <a:sym typeface="+mn-ea"/>
              </a:rPr>
              <a:t>fascinating </a:t>
            </a:r>
            <a:r>
              <a:rPr lang="en-US" altLang="zh-CN" sz="3600" b="1" dirty="0">
                <a:sym typeface="+mn-ea"/>
              </a:rPr>
              <a:t>adj.</a:t>
            </a:r>
            <a:r>
              <a:rPr lang="zh-CN" altLang="en-US" sz="3600" b="1" dirty="0">
                <a:sym typeface="+mn-ea"/>
              </a:rPr>
              <a:t>极有吸引力的</a:t>
            </a:r>
            <a:r>
              <a:rPr lang="en-US" altLang="zh-CN" sz="3600" b="1" dirty="0">
                <a:sym typeface="+mn-ea"/>
              </a:rPr>
              <a:t>;</a:t>
            </a:r>
            <a:r>
              <a:rPr lang="zh-CN" altLang="en-US" sz="3600" b="1" dirty="0">
                <a:sym typeface="+mn-ea"/>
              </a:rPr>
              <a:t>迷人的</a:t>
            </a:r>
            <a:endParaRPr lang="zh-CN" altLang="en-US" sz="3600" b="1" dirty="0">
              <a:solidFill>
                <a:schemeClr val="tx1"/>
              </a:solidFill>
            </a:endParaRPr>
          </a:p>
          <a:p>
            <a:r>
              <a:rPr lang="en-US" altLang="zh-CN" sz="3600" b="1" dirty="0">
                <a:sym typeface="+mn-ea"/>
              </a:rPr>
              <a:t>15.</a:t>
            </a:r>
            <a:r>
              <a:rPr lang="en-US" altLang="zh-CN" sz="3600" b="1" dirty="0">
                <a:highlight>
                  <a:srgbClr val="FFFF00"/>
                </a:highlight>
                <a:sym typeface="+mn-ea"/>
              </a:rPr>
              <a:t>entitle </a:t>
            </a:r>
            <a:r>
              <a:rPr lang="en-US" altLang="zh-CN" sz="3600" b="1" dirty="0">
                <a:sym typeface="+mn-ea"/>
              </a:rPr>
              <a:t>vt.</a:t>
            </a:r>
            <a:r>
              <a:rPr lang="zh-CN" altLang="en-US" sz="3600" b="1" dirty="0">
                <a:sym typeface="+mn-ea"/>
              </a:rPr>
              <a:t>给</a:t>
            </a:r>
            <a:r>
              <a:rPr lang="en-US" altLang="zh-CN" sz="3600" b="1" dirty="0">
                <a:sym typeface="+mn-ea"/>
              </a:rPr>
              <a:t>……</a:t>
            </a:r>
            <a:r>
              <a:rPr lang="zh-CN" altLang="en-US" sz="3600" b="1" dirty="0">
                <a:sym typeface="+mn-ea"/>
              </a:rPr>
              <a:t>命名；使享有权利，使符合资格</a:t>
            </a:r>
            <a:r>
              <a:rPr lang="en-US" altLang="en-US" sz="3600" b="1" dirty="0">
                <a:sym typeface="+mn-ea"/>
              </a:rPr>
              <a:t>→</a:t>
            </a:r>
            <a:r>
              <a:rPr lang="en-US" altLang="zh-CN" sz="3600" b="1" dirty="0">
                <a:highlight>
                  <a:srgbClr val="FFFF00"/>
                </a:highlight>
                <a:sym typeface="+mn-ea"/>
              </a:rPr>
              <a:t>title </a:t>
            </a:r>
            <a:r>
              <a:rPr lang="en-US" altLang="zh-CN" sz="3600" b="1" dirty="0">
                <a:sym typeface="+mn-ea"/>
              </a:rPr>
              <a:t>n</a:t>
            </a:r>
            <a:r>
              <a:rPr lang="zh-CN" altLang="en-US" sz="3600" b="1" dirty="0">
                <a:sym typeface="+mn-ea"/>
              </a:rPr>
              <a:t>．标题，权利，头衔</a:t>
            </a:r>
            <a:r>
              <a:rPr lang="en-US" altLang="zh-CN" sz="3600" b="1" dirty="0">
                <a:sym typeface="+mn-ea"/>
              </a:rPr>
              <a:t> v</a:t>
            </a:r>
            <a:r>
              <a:rPr lang="zh-CN" altLang="en-US" sz="3600" b="1" dirty="0">
                <a:sym typeface="+mn-ea"/>
              </a:rPr>
              <a:t>．加标题，定题目</a:t>
            </a:r>
            <a:endParaRPr lang="zh-CN" altLang="en-US" sz="3600" b="1" dirty="0">
              <a:solidFill>
                <a:schemeClr val="tx1"/>
              </a:solidFill>
            </a:endParaRPr>
          </a:p>
          <a:p>
            <a:r>
              <a:rPr lang="en-US" altLang="zh-CN" sz="3600" b="1" dirty="0">
                <a:sym typeface="+mn-ea"/>
              </a:rPr>
              <a:t>16.</a:t>
            </a:r>
            <a:r>
              <a:rPr lang="en-US" altLang="zh-CN" sz="3600" b="1" dirty="0">
                <a:highlight>
                  <a:srgbClr val="FFFF00"/>
                </a:highlight>
                <a:sym typeface="+mn-ea"/>
              </a:rPr>
              <a:t>allowance </a:t>
            </a:r>
            <a:r>
              <a:rPr lang="en-US" altLang="zh-CN" sz="3600" b="1" dirty="0">
                <a:sym typeface="+mn-ea"/>
              </a:rPr>
              <a:t>n.</a:t>
            </a:r>
            <a:r>
              <a:rPr lang="zh-CN" altLang="en-US" sz="3600" b="1" dirty="0">
                <a:sym typeface="+mn-ea"/>
              </a:rPr>
              <a:t>津贴，补助</a:t>
            </a:r>
            <a:r>
              <a:rPr lang="en-US" altLang="en-US" sz="3600" b="1" dirty="0">
                <a:sym typeface="+mn-ea"/>
              </a:rPr>
              <a:t>→</a:t>
            </a:r>
            <a:r>
              <a:rPr lang="en-US" altLang="zh-CN" sz="3600" b="1" dirty="0">
                <a:highlight>
                  <a:srgbClr val="FFFF00"/>
                </a:highlight>
                <a:sym typeface="+mn-ea"/>
              </a:rPr>
              <a:t>allow </a:t>
            </a:r>
            <a:r>
              <a:rPr lang="en-US" altLang="zh-CN" sz="3600" b="1" dirty="0">
                <a:sym typeface="+mn-ea"/>
              </a:rPr>
              <a:t>vt.</a:t>
            </a:r>
            <a:r>
              <a:rPr lang="zh-CN" altLang="en-US" sz="3600" b="1" dirty="0">
                <a:sym typeface="+mn-ea"/>
              </a:rPr>
              <a:t>允许</a:t>
            </a:r>
            <a:endParaRPr lang="zh-CN" altLang="en-US" sz="3600" b="1" dirty="0">
              <a:solidFill>
                <a:schemeClr val="tx1"/>
              </a:solidFill>
            </a:endParaRPr>
          </a:p>
          <a:p>
            <a:r>
              <a:rPr lang="en-US" altLang="zh-CN" sz="3600" b="1" dirty="0">
                <a:sym typeface="+mn-ea"/>
              </a:rPr>
              <a:t>17.</a:t>
            </a:r>
            <a:r>
              <a:rPr lang="en-US" altLang="zh-CN" sz="3600" b="1" dirty="0">
                <a:highlight>
                  <a:srgbClr val="FFFF00"/>
                </a:highlight>
                <a:sym typeface="+mn-ea"/>
              </a:rPr>
              <a:t>unforgiving </a:t>
            </a:r>
            <a:r>
              <a:rPr lang="en-US" altLang="zh-CN" sz="3600" b="1" dirty="0">
                <a:sym typeface="+mn-ea"/>
              </a:rPr>
              <a:t>adj.</a:t>
            </a:r>
            <a:r>
              <a:rPr lang="zh-CN" altLang="en-US" sz="3600" b="1" dirty="0">
                <a:sym typeface="+mn-ea"/>
              </a:rPr>
              <a:t>棘手的</a:t>
            </a:r>
            <a:r>
              <a:rPr lang="en-US" altLang="zh-CN" sz="3600" b="1" dirty="0">
                <a:sym typeface="+mn-ea"/>
              </a:rPr>
              <a:t>;</a:t>
            </a:r>
            <a:r>
              <a:rPr lang="zh-CN" altLang="en-US" sz="3600" b="1" dirty="0">
                <a:sym typeface="+mn-ea"/>
              </a:rPr>
              <a:t>不饶人的</a:t>
            </a:r>
            <a:r>
              <a:rPr lang="en-US" altLang="en-US" sz="3600" b="1" dirty="0">
                <a:sym typeface="+mn-ea"/>
              </a:rPr>
              <a:t>→</a:t>
            </a:r>
            <a:r>
              <a:rPr lang="en-US" altLang="zh-CN" sz="3600" b="1" dirty="0">
                <a:highlight>
                  <a:srgbClr val="FFFF00"/>
                </a:highlight>
                <a:sym typeface="+mn-ea"/>
              </a:rPr>
              <a:t>forgive </a:t>
            </a:r>
            <a:r>
              <a:rPr lang="en-US" altLang="zh-CN" sz="3600" b="1" dirty="0">
                <a:sym typeface="+mn-ea"/>
              </a:rPr>
              <a:t>v.</a:t>
            </a:r>
            <a:r>
              <a:rPr lang="zh-CN" altLang="en-US" sz="3600" b="1" dirty="0">
                <a:sym typeface="+mn-ea"/>
              </a:rPr>
              <a:t>原谅</a:t>
            </a:r>
            <a:r>
              <a:rPr lang="en-US" altLang="zh-CN" sz="3600" b="1" dirty="0">
                <a:highlight>
                  <a:srgbClr val="FFFF00"/>
                </a:highlight>
                <a:sym typeface="+mn-ea"/>
              </a:rPr>
              <a:t>(forgave, forgiven)</a:t>
            </a:r>
            <a:endParaRPr lang="en-US" altLang="zh-CN" sz="3600" b="1" dirty="0">
              <a:solidFill>
                <a:schemeClr val="tx1"/>
              </a:solidFill>
              <a:highlight>
                <a:srgbClr val="FFFF00"/>
              </a:highlight>
            </a:endParaRPr>
          </a:p>
          <a:p>
            <a:r>
              <a:rPr lang="zh-CN" altLang="en-US" sz="3600" b="1" dirty="0">
                <a:sym typeface="+mn-ea"/>
              </a:rPr>
              <a:t>二、动词过去式</a:t>
            </a:r>
            <a:r>
              <a:rPr lang="en-US" altLang="zh-CN" sz="3600" b="1" dirty="0">
                <a:sym typeface="+mn-ea"/>
              </a:rPr>
              <a:t>&amp;</a:t>
            </a:r>
            <a:r>
              <a:rPr lang="zh-CN" altLang="en-US" sz="3600" b="1" dirty="0">
                <a:sym typeface="+mn-ea"/>
              </a:rPr>
              <a:t>过去分词变化</a:t>
            </a:r>
            <a:endParaRPr lang="zh-CN" altLang="en-US" sz="3600" b="1" dirty="0">
              <a:solidFill>
                <a:schemeClr val="tx1"/>
              </a:solidFill>
            </a:endParaRPr>
          </a:p>
          <a:p>
            <a:r>
              <a:rPr lang="en-US" altLang="zh-CN" sz="3600" b="1" dirty="0">
                <a:sym typeface="+mn-ea"/>
              </a:rPr>
              <a:t>1. </a:t>
            </a:r>
            <a:r>
              <a:rPr lang="en-US" altLang="zh-CN" sz="3600" b="1" dirty="0">
                <a:highlight>
                  <a:srgbClr val="FFFF00"/>
                </a:highlight>
                <a:sym typeface="+mn-ea"/>
              </a:rPr>
              <a:t>bend</a:t>
            </a:r>
            <a:r>
              <a:rPr lang="en-US" altLang="en-US" sz="3600" b="1" dirty="0">
                <a:highlight>
                  <a:srgbClr val="FFFF00"/>
                </a:highlight>
                <a:sym typeface="+mn-ea"/>
              </a:rPr>
              <a:t>→</a:t>
            </a:r>
            <a:r>
              <a:rPr lang="en-US" altLang="zh-CN" sz="3600" b="1" dirty="0">
                <a:highlight>
                  <a:srgbClr val="FFFF00"/>
                </a:highlight>
                <a:sym typeface="+mn-ea"/>
              </a:rPr>
              <a:t>bent</a:t>
            </a:r>
            <a:r>
              <a:rPr lang="en-US" altLang="en-US" sz="3600" b="1" dirty="0">
                <a:highlight>
                  <a:srgbClr val="FFFF00"/>
                </a:highlight>
                <a:sym typeface="+mn-ea"/>
              </a:rPr>
              <a:t>→</a:t>
            </a:r>
            <a:r>
              <a:rPr lang="en-US" altLang="zh-CN" sz="3600" b="1" dirty="0">
                <a:highlight>
                  <a:srgbClr val="FFFF00"/>
                </a:highlight>
                <a:sym typeface="+mn-ea"/>
              </a:rPr>
              <a:t> bent  2. cast</a:t>
            </a:r>
            <a:r>
              <a:rPr lang="en-US" altLang="en-US" sz="3600" b="1" dirty="0">
                <a:highlight>
                  <a:srgbClr val="FFFF00"/>
                </a:highlight>
                <a:sym typeface="+mn-ea"/>
              </a:rPr>
              <a:t>→</a:t>
            </a:r>
            <a:r>
              <a:rPr lang="en-US" altLang="zh-CN" sz="3600" b="1" dirty="0">
                <a:highlight>
                  <a:srgbClr val="FFFF00"/>
                </a:highlight>
                <a:sym typeface="+mn-ea"/>
              </a:rPr>
              <a:t>cast</a:t>
            </a:r>
            <a:r>
              <a:rPr lang="en-US" altLang="en-US" sz="3600" b="1" dirty="0">
                <a:highlight>
                  <a:srgbClr val="FFFF00"/>
                </a:highlight>
                <a:sym typeface="+mn-ea"/>
              </a:rPr>
              <a:t>→</a:t>
            </a:r>
            <a:r>
              <a:rPr lang="en-US" altLang="zh-CN" sz="3600" b="1" dirty="0">
                <a:highlight>
                  <a:srgbClr val="FFFF00"/>
                </a:highlight>
                <a:sym typeface="+mn-ea"/>
              </a:rPr>
              <a:t>cast</a:t>
            </a:r>
            <a:endParaRPr lang="en-US" altLang="zh-CN" sz="3600" b="1" dirty="0">
              <a:solidFill>
                <a:schemeClr val="tx1"/>
              </a:solidFill>
              <a:highlight>
                <a:srgbClr val="FFFF00"/>
              </a:highlight>
            </a:endParaRPr>
          </a:p>
          <a:p>
            <a:r>
              <a:rPr lang="en-US" altLang="zh-CN" sz="3600" b="1" dirty="0">
                <a:highlight>
                  <a:srgbClr val="FFFF00"/>
                </a:highlight>
                <a:sym typeface="+mn-ea"/>
              </a:rPr>
              <a:t>3. strike</a:t>
            </a:r>
            <a:r>
              <a:rPr lang="en-US" altLang="en-US" sz="3600" b="1" dirty="0">
                <a:highlight>
                  <a:srgbClr val="FFFF00"/>
                </a:highlight>
                <a:sym typeface="+mn-ea"/>
              </a:rPr>
              <a:t>→</a:t>
            </a:r>
            <a:r>
              <a:rPr lang="en-US" altLang="zh-CN" sz="3600" b="1" dirty="0">
                <a:highlight>
                  <a:srgbClr val="FFFF00"/>
                </a:highlight>
                <a:sym typeface="+mn-ea"/>
              </a:rPr>
              <a:t>struck</a:t>
            </a:r>
            <a:r>
              <a:rPr lang="en-US" altLang="en-US" sz="3600" b="1" dirty="0">
                <a:highlight>
                  <a:srgbClr val="FFFF00"/>
                </a:highlight>
                <a:sym typeface="+mn-ea"/>
              </a:rPr>
              <a:t>→</a:t>
            </a:r>
            <a:r>
              <a:rPr lang="en-US" altLang="zh-CN" sz="3600" b="1" dirty="0">
                <a:highlight>
                  <a:srgbClr val="FFFF00"/>
                </a:highlight>
                <a:sym typeface="+mn-ea"/>
              </a:rPr>
              <a:t>struck 4. forgive</a:t>
            </a:r>
            <a:r>
              <a:rPr lang="en-US" altLang="en-US" sz="3600" b="1" dirty="0">
                <a:highlight>
                  <a:srgbClr val="FFFF00"/>
                </a:highlight>
                <a:sym typeface="+mn-ea"/>
              </a:rPr>
              <a:t>→</a:t>
            </a:r>
            <a:r>
              <a:rPr lang="en-US" altLang="zh-CN" sz="3600" b="1" dirty="0">
                <a:highlight>
                  <a:srgbClr val="FFFF00"/>
                </a:highlight>
                <a:sym typeface="+mn-ea"/>
              </a:rPr>
              <a:t>forgave</a:t>
            </a:r>
            <a:r>
              <a:rPr lang="en-US" altLang="en-US" sz="3600" b="1" dirty="0">
                <a:highlight>
                  <a:srgbClr val="FFFF00"/>
                </a:highlight>
                <a:sym typeface="+mn-ea"/>
              </a:rPr>
              <a:t>→</a:t>
            </a:r>
            <a:r>
              <a:rPr lang="en-US" altLang="zh-CN" sz="3600" b="1" dirty="0">
                <a:highlight>
                  <a:srgbClr val="FFFF00"/>
                </a:highlight>
                <a:sym typeface="+mn-ea"/>
              </a:rPr>
              <a:t>forgiven</a:t>
            </a:r>
            <a:endParaRPr lang="en-US" altLang="zh-CN" sz="3600" b="1" dirty="0">
              <a:solidFill>
                <a:schemeClr val="tx1"/>
              </a:solidFill>
              <a:highlight>
                <a:srgbClr val="FFFF00"/>
              </a:highlight>
            </a:endParaRPr>
          </a:p>
          <a:p>
            <a:r>
              <a:rPr lang="en-US" altLang="zh-CN" sz="3600" b="1" dirty="0">
                <a:highlight>
                  <a:srgbClr val="FFFF00"/>
                </a:highlight>
                <a:sym typeface="+mn-ea"/>
              </a:rPr>
              <a:t>5. tread vi. &amp; vt. (trod, trodden) </a:t>
            </a:r>
            <a:r>
              <a:rPr lang="zh-CN" altLang="en-US" sz="3600" b="1" dirty="0">
                <a:sym typeface="+mn-ea"/>
              </a:rPr>
              <a:t>踩</a:t>
            </a:r>
            <a:r>
              <a:rPr lang="en-US" altLang="zh-CN" sz="3600" b="1" dirty="0">
                <a:sym typeface="+mn-ea"/>
              </a:rPr>
              <a:t>,</a:t>
            </a:r>
            <a:r>
              <a:rPr lang="zh-CN" altLang="en-US" sz="3600" b="1" dirty="0">
                <a:sym typeface="+mn-ea"/>
              </a:rPr>
              <a:t>踏</a:t>
            </a:r>
            <a:r>
              <a:rPr lang="en-US" altLang="zh-CN" sz="3600" b="1" dirty="0">
                <a:sym typeface="+mn-ea"/>
              </a:rPr>
              <a:t>;</a:t>
            </a:r>
            <a:r>
              <a:rPr lang="zh-CN" altLang="en-US" sz="3600" b="1" dirty="0">
                <a:sym typeface="+mn-ea"/>
              </a:rPr>
              <a:t>行走</a:t>
            </a:r>
            <a:endParaRPr lang="zh-CN" altLang="en-US" sz="3600" b="1" dirty="0">
              <a:solidFill>
                <a:schemeClr val="tx1"/>
              </a:solidFill>
            </a:endParaRPr>
          </a:p>
          <a:p>
            <a:r>
              <a:rPr lang="en-US" altLang="zh-CN" sz="3600" b="1" dirty="0">
                <a:sym typeface="+mn-ea"/>
              </a:rPr>
              <a:t>1.</a:t>
            </a:r>
            <a:r>
              <a:rPr lang="en-US" altLang="zh-CN" sz="3600" b="1" dirty="0">
                <a:highlight>
                  <a:srgbClr val="FFFF00"/>
                </a:highlight>
                <a:sym typeface="+mn-ea"/>
              </a:rPr>
              <a:t>make allowance for</a:t>
            </a:r>
            <a:r>
              <a:rPr lang="zh-CN" altLang="en-US" sz="3600" b="1" dirty="0">
                <a:sym typeface="+mn-ea"/>
              </a:rPr>
              <a:t>体谅；考虑到</a:t>
            </a:r>
            <a:r>
              <a:rPr lang="en-US" altLang="zh-CN" sz="3600" b="1" dirty="0">
                <a:sym typeface="+mn-ea"/>
              </a:rPr>
              <a:t> (made, made)</a:t>
            </a:r>
            <a:endParaRPr lang="en-US" altLang="zh-CN" sz="3600" b="1" dirty="0">
              <a:solidFill>
                <a:schemeClr val="tx1"/>
              </a:solidFill>
            </a:endParaRPr>
          </a:p>
          <a:p>
            <a:endParaRPr lang="zh-CN" altLang="en-US" sz="3600" b="1" dirty="0">
              <a:solidFill>
                <a:srgbClr val="FF0000"/>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fontScale="92500"/>
          </a:bodyPr>
          <a:lstStyle/>
          <a:p>
            <a:r>
              <a:rPr lang="en-US" altLang="zh-CN" b="1" dirty="0"/>
              <a:t>1. ________ v. (____, ____)</a:t>
            </a:r>
            <a:r>
              <a:rPr lang="zh-CN" altLang="zh-CN" b="1" dirty="0"/>
              <a:t>（使）拐弯</a:t>
            </a:r>
            <a:r>
              <a:rPr lang="en-US" altLang="zh-CN" b="1" dirty="0"/>
              <a:t>,</a:t>
            </a:r>
            <a:r>
              <a:rPr lang="zh-CN" altLang="zh-CN" b="1" dirty="0"/>
              <a:t>弯曲</a:t>
            </a:r>
            <a:r>
              <a:rPr lang="en-US" altLang="zh-CN" b="1" dirty="0"/>
              <a:t> n. </a:t>
            </a:r>
          </a:p>
          <a:p>
            <a:r>
              <a:rPr lang="en-US" altLang="zh-CN" b="1" dirty="0"/>
              <a:t>2. _____ adj.</a:t>
            </a:r>
            <a:r>
              <a:rPr lang="zh-CN" altLang="zh-CN" b="1" dirty="0"/>
              <a:t>引人注目的</a:t>
            </a:r>
            <a:r>
              <a:rPr lang="en-US" altLang="zh-CN" b="1" dirty="0"/>
              <a:t>,</a:t>
            </a:r>
            <a:r>
              <a:rPr lang="zh-CN" altLang="zh-CN" b="1" dirty="0"/>
              <a:t>显著</a:t>
            </a:r>
            <a:r>
              <a:rPr lang="en-US" altLang="zh-CN" b="1" dirty="0"/>
              <a:t>→strike v.(______, ___)</a:t>
            </a:r>
            <a:endParaRPr lang="zh-CN" altLang="zh-CN" b="1" dirty="0"/>
          </a:p>
          <a:p>
            <a:r>
              <a:rPr lang="en-US" altLang="zh-CN" b="1" dirty="0"/>
              <a:t>3. ___</a:t>
            </a:r>
            <a:r>
              <a:rPr lang="en-US" altLang="zh-CN" b="1" dirty="0" err="1"/>
              <a:t>vt.</a:t>
            </a:r>
            <a:r>
              <a:rPr lang="zh-CN" altLang="zh-CN" b="1" dirty="0"/>
              <a:t>是</a:t>
            </a:r>
            <a:r>
              <a:rPr lang="en-US" altLang="zh-CN" b="1" dirty="0"/>
              <a:t>…</a:t>
            </a:r>
            <a:r>
              <a:rPr lang="zh-CN" altLang="zh-CN" b="1" dirty="0"/>
              <a:t>的特征</a:t>
            </a:r>
            <a:r>
              <a:rPr lang="en-US" altLang="zh-CN" b="1" dirty="0"/>
              <a:t>;</a:t>
            </a:r>
            <a:r>
              <a:rPr lang="zh-CN" altLang="zh-CN" b="1" dirty="0"/>
              <a:t>描述</a:t>
            </a:r>
            <a:r>
              <a:rPr lang="en-US" altLang="zh-CN" b="1" dirty="0"/>
              <a:t>→___n.</a:t>
            </a:r>
            <a:r>
              <a:rPr lang="zh-CN" altLang="zh-CN" b="1" dirty="0"/>
              <a:t>性格</a:t>
            </a:r>
            <a:r>
              <a:rPr lang="en-US" altLang="zh-CN" b="1" dirty="0"/>
              <a:t>;</a:t>
            </a:r>
            <a:r>
              <a:rPr lang="zh-CN" altLang="zh-CN" b="1" dirty="0"/>
              <a:t>特色</a:t>
            </a:r>
            <a:r>
              <a:rPr lang="en-US" altLang="zh-CN" b="1" dirty="0"/>
              <a:t>;</a:t>
            </a:r>
            <a:r>
              <a:rPr lang="zh-CN" altLang="zh-CN" b="1" dirty="0"/>
              <a:t>角色</a:t>
            </a:r>
            <a:r>
              <a:rPr lang="en-US" altLang="zh-CN" b="1" dirty="0"/>
              <a:t>→__n.</a:t>
            </a:r>
            <a:r>
              <a:rPr lang="zh-CN" altLang="zh-CN" b="1" dirty="0"/>
              <a:t>特点品质</a:t>
            </a:r>
            <a:r>
              <a:rPr lang="en-US" altLang="zh-CN" b="1" dirty="0"/>
              <a:t>→___adj.</a:t>
            </a:r>
            <a:r>
              <a:rPr lang="zh-CN" altLang="zh-CN" b="1" dirty="0"/>
              <a:t>典型特有的</a:t>
            </a:r>
          </a:p>
          <a:p>
            <a:r>
              <a:rPr lang="en-US" altLang="zh-CN" b="1" dirty="0"/>
              <a:t>4. ____ n.</a:t>
            </a:r>
            <a:r>
              <a:rPr lang="zh-CN" altLang="zh-CN" b="1" dirty="0"/>
              <a:t>传奇故事</a:t>
            </a:r>
            <a:r>
              <a:rPr lang="en-US" altLang="zh-CN" b="1" dirty="0"/>
              <a:t>→_____ adj.</a:t>
            </a:r>
            <a:r>
              <a:rPr lang="zh-CN" altLang="zh-CN" b="1" dirty="0"/>
              <a:t>传奇的</a:t>
            </a:r>
            <a:r>
              <a:rPr lang="en-US" altLang="zh-CN" b="1" dirty="0"/>
              <a:t> 5. ___ adj.</a:t>
            </a:r>
            <a:r>
              <a:rPr lang="zh-CN" altLang="zh-CN" b="1" dirty="0"/>
              <a:t>光荣的</a:t>
            </a:r>
            <a:r>
              <a:rPr lang="en-US" altLang="zh-CN" b="1" dirty="0"/>
              <a:t>;</a:t>
            </a:r>
            <a:r>
              <a:rPr lang="zh-CN" altLang="zh-CN" b="1" dirty="0"/>
              <a:t>壮丽的</a:t>
            </a:r>
            <a:r>
              <a:rPr lang="en-US" altLang="zh-CN" b="1" dirty="0"/>
              <a:t>→___n.</a:t>
            </a:r>
            <a:r>
              <a:rPr lang="zh-CN" altLang="zh-CN" b="1" dirty="0"/>
              <a:t>光荣</a:t>
            </a:r>
          </a:p>
          <a:p>
            <a:r>
              <a:rPr lang="en-US" altLang="zh-CN" b="1" dirty="0"/>
              <a:t>6. ________ n.</a:t>
            </a:r>
            <a:r>
              <a:rPr lang="zh-CN" altLang="zh-CN" b="1" dirty="0"/>
              <a:t>稳定</a:t>
            </a:r>
            <a:r>
              <a:rPr lang="en-US" altLang="zh-CN" b="1" dirty="0"/>
              <a:t>(</a:t>
            </a:r>
            <a:r>
              <a:rPr lang="zh-CN" altLang="zh-CN" b="1" dirty="0"/>
              <a:t>性</a:t>
            </a:r>
            <a:r>
              <a:rPr lang="en-US" altLang="zh-CN" b="1" dirty="0"/>
              <a:t>)→____ adj.</a:t>
            </a:r>
            <a:r>
              <a:rPr lang="zh-CN" altLang="zh-CN" b="1" dirty="0"/>
              <a:t>稳定的</a:t>
            </a:r>
            <a:r>
              <a:rPr lang="en-US" altLang="zh-CN" b="1" dirty="0"/>
              <a:t>→ ___adv</a:t>
            </a:r>
            <a:endParaRPr lang="zh-CN" altLang="zh-CN" b="1" dirty="0"/>
          </a:p>
          <a:p>
            <a:r>
              <a:rPr lang="en-US" altLang="zh-CN" b="1" dirty="0"/>
              <a:t>7. ___ adj.</a:t>
            </a:r>
            <a:r>
              <a:rPr lang="zh-CN" altLang="zh-CN" b="1" dirty="0"/>
              <a:t>宽容容忍的</a:t>
            </a:r>
            <a:r>
              <a:rPr lang="en-US" altLang="zh-CN" b="1" dirty="0"/>
              <a:t>→____ </a:t>
            </a:r>
            <a:r>
              <a:rPr lang="en-US" altLang="zh-CN" b="1" dirty="0" err="1"/>
              <a:t>vt.</a:t>
            </a:r>
            <a:r>
              <a:rPr lang="zh-CN" altLang="zh-CN" b="1" dirty="0"/>
              <a:t>容许</a:t>
            </a:r>
            <a:r>
              <a:rPr lang="en-US" altLang="zh-CN" b="1" dirty="0"/>
              <a:t>→_____ n.</a:t>
            </a:r>
            <a:r>
              <a:rPr lang="zh-CN" altLang="zh-CN" b="1" dirty="0"/>
              <a:t>忍受</a:t>
            </a:r>
            <a:r>
              <a:rPr lang="en-US" altLang="zh-CN" b="1" dirty="0"/>
              <a:t>;</a:t>
            </a:r>
            <a:r>
              <a:rPr lang="zh-CN" altLang="zh-CN" b="1" dirty="0"/>
              <a:t>容忍</a:t>
            </a:r>
            <a:r>
              <a:rPr lang="en-US" altLang="zh-CN" b="1" dirty="0"/>
              <a:t>→___ adj.</a:t>
            </a:r>
            <a:r>
              <a:rPr lang="zh-CN" altLang="zh-CN" b="1" dirty="0"/>
              <a:t>无法忍受的</a:t>
            </a:r>
          </a:p>
          <a:p>
            <a:r>
              <a:rPr lang="en-US" altLang="zh-CN" b="1" dirty="0"/>
              <a:t>8. ________ n.</a:t>
            </a:r>
            <a:r>
              <a:rPr lang="zh-CN" altLang="zh-CN" b="1" dirty="0"/>
              <a:t>生命力</a:t>
            </a:r>
            <a:r>
              <a:rPr lang="en-US" altLang="zh-CN" b="1" dirty="0"/>
              <a:t>,</a:t>
            </a:r>
            <a:r>
              <a:rPr lang="zh-CN" altLang="zh-CN" b="1" dirty="0"/>
              <a:t>活力</a:t>
            </a:r>
            <a:r>
              <a:rPr lang="en-US" altLang="zh-CN" b="1" dirty="0"/>
              <a:t>,</a:t>
            </a:r>
            <a:r>
              <a:rPr lang="zh-CN" altLang="zh-CN" b="1" dirty="0"/>
              <a:t>热情</a:t>
            </a:r>
            <a:r>
              <a:rPr lang="en-US" altLang="zh-CN" b="1" dirty="0"/>
              <a:t>→_______adj.</a:t>
            </a:r>
            <a:r>
              <a:rPr lang="zh-CN" altLang="zh-CN" b="1" dirty="0"/>
              <a:t>必不可少的</a:t>
            </a:r>
            <a:r>
              <a:rPr lang="en-US" altLang="zh-CN" b="1" dirty="0"/>
              <a:t>,</a:t>
            </a:r>
            <a:r>
              <a:rPr lang="zh-CN" altLang="zh-CN" b="1" dirty="0"/>
              <a:t>对</a:t>
            </a:r>
            <a:r>
              <a:rPr lang="en-US" altLang="zh-CN" b="1" dirty="0"/>
              <a:t>…</a:t>
            </a:r>
            <a:r>
              <a:rPr lang="zh-CN" altLang="zh-CN" b="1" dirty="0"/>
              <a:t>极重要的</a:t>
            </a:r>
            <a:r>
              <a:rPr lang="en-US" altLang="zh-CN" b="1" dirty="0"/>
              <a:t>→________ adv.</a:t>
            </a:r>
            <a:endParaRPr lang="zh-CN" altLang="zh-CN" b="1" dirty="0"/>
          </a:p>
          <a:p>
            <a:r>
              <a:rPr lang="en-US" altLang="zh-CN" b="1" dirty="0"/>
              <a:t>9. ______ v.</a:t>
            </a:r>
            <a:r>
              <a:rPr lang="zh-CN" altLang="zh-CN" b="1" dirty="0"/>
              <a:t>成为</a:t>
            </a:r>
            <a:r>
              <a:rPr lang="en-US" altLang="zh-CN" b="1" dirty="0"/>
              <a:t>…</a:t>
            </a:r>
            <a:r>
              <a:rPr lang="zh-CN" altLang="zh-CN" b="1" dirty="0"/>
              <a:t>的特征</a:t>
            </a:r>
            <a:r>
              <a:rPr lang="en-US" altLang="zh-CN" b="1" dirty="0"/>
              <a:t>,</a:t>
            </a:r>
            <a:r>
              <a:rPr lang="zh-CN" altLang="zh-CN" b="1" dirty="0"/>
              <a:t>使有别于</a:t>
            </a:r>
            <a:r>
              <a:rPr lang="en-US" altLang="zh-CN" b="1" dirty="0"/>
              <a:t>;</a:t>
            </a:r>
            <a:r>
              <a:rPr lang="zh-CN" altLang="zh-CN" b="1" dirty="0"/>
              <a:t>区分辨别</a:t>
            </a:r>
            <a:r>
              <a:rPr lang="en-US" altLang="zh-CN" b="1" dirty="0"/>
              <a:t>→________ adj.</a:t>
            </a:r>
            <a:r>
              <a:rPr lang="zh-CN" altLang="zh-CN" b="1" dirty="0"/>
              <a:t>卓越的</a:t>
            </a:r>
            <a:r>
              <a:rPr lang="en-US" altLang="zh-CN" b="1" dirty="0"/>
              <a:t>;</a:t>
            </a:r>
            <a:r>
              <a:rPr lang="zh-CN" altLang="zh-CN" b="1" dirty="0"/>
              <a:t>杰出的</a:t>
            </a:r>
            <a:r>
              <a:rPr lang="en-US" altLang="zh-CN" b="1" dirty="0"/>
              <a:t>;</a:t>
            </a:r>
            <a:r>
              <a:rPr lang="zh-CN" altLang="zh-CN" b="1" dirty="0"/>
              <a:t>著名的</a:t>
            </a:r>
            <a:endParaRPr lang="en-US" altLang="zh-CN" b="1" dirty="0"/>
          </a:p>
          <a:p>
            <a:r>
              <a:rPr lang="en-US" altLang="zh-CN" b="1" dirty="0"/>
              <a:t>11. ___ adj.</a:t>
            </a:r>
            <a:r>
              <a:rPr lang="zh-CN" altLang="zh-CN" b="1" dirty="0"/>
              <a:t>典型的</a:t>
            </a:r>
            <a:r>
              <a:rPr lang="en-US" altLang="zh-CN" b="1" dirty="0"/>
              <a:t>→___ n.</a:t>
            </a:r>
            <a:r>
              <a:rPr lang="zh-CN" altLang="zh-CN" b="1" dirty="0"/>
              <a:t>典型人物</a:t>
            </a:r>
            <a:r>
              <a:rPr lang="en-US" altLang="zh-CN" b="1" dirty="0"/>
              <a:t>→____ </a:t>
            </a:r>
            <a:r>
              <a:rPr lang="en-US" altLang="zh-CN" b="1" dirty="0" err="1"/>
              <a:t>vt.</a:t>
            </a:r>
            <a:r>
              <a:rPr lang="en-US" altLang="zh-CN" b="1" dirty="0"/>
              <a:t> </a:t>
            </a:r>
            <a:r>
              <a:rPr lang="zh-CN" altLang="zh-CN" b="1" dirty="0"/>
              <a:t>代表</a:t>
            </a:r>
            <a:r>
              <a:rPr lang="en-US" altLang="zh-CN" b="1" dirty="0"/>
              <a:t>;</a:t>
            </a:r>
            <a:r>
              <a:rPr lang="zh-CN" altLang="zh-CN" b="1" dirty="0"/>
              <a:t>意味着</a:t>
            </a:r>
            <a:r>
              <a:rPr lang="en-US" altLang="zh-CN" b="1" dirty="0"/>
              <a:t>→____ n.</a:t>
            </a:r>
            <a:r>
              <a:rPr lang="zh-CN" altLang="zh-CN" b="1" dirty="0"/>
              <a:t>表现</a:t>
            </a:r>
            <a:r>
              <a:rPr lang="en-US" altLang="zh-CN" b="1" dirty="0"/>
              <a:t>; </a:t>
            </a:r>
            <a:r>
              <a:rPr lang="zh-CN" altLang="zh-CN" b="1" dirty="0"/>
              <a:t>描述</a:t>
            </a:r>
          </a:p>
          <a:p>
            <a:r>
              <a:rPr lang="en-US" altLang="zh-CN" b="1" dirty="0"/>
              <a:t>12. ___ </a:t>
            </a:r>
            <a:r>
              <a:rPr lang="en-US" altLang="zh-CN" b="1" dirty="0" err="1"/>
              <a:t>vt.</a:t>
            </a:r>
            <a:r>
              <a:rPr lang="en-US" altLang="zh-CN" b="1" dirty="0"/>
              <a:t> (__, __)</a:t>
            </a:r>
            <a:r>
              <a:rPr lang="zh-CN" altLang="zh-CN" b="1" dirty="0"/>
              <a:t>投射</a:t>
            </a:r>
            <a:r>
              <a:rPr lang="en-US" altLang="zh-CN" b="1" dirty="0"/>
              <a:t>;</a:t>
            </a:r>
            <a:r>
              <a:rPr lang="zh-CN" altLang="zh-CN" b="1" dirty="0"/>
              <a:t>向</a:t>
            </a:r>
            <a:r>
              <a:rPr lang="en-US" altLang="zh-CN" b="1" dirty="0"/>
              <a:t>…</a:t>
            </a:r>
            <a:r>
              <a:rPr lang="zh-CN" altLang="zh-CN" b="1" dirty="0"/>
              <a:t>投以视线、笑容等</a:t>
            </a:r>
            <a:r>
              <a:rPr lang="en-US" altLang="zh-CN" b="1" dirty="0"/>
              <a:t>;</a:t>
            </a:r>
            <a:r>
              <a:rPr lang="zh-CN" altLang="zh-CN" b="1" dirty="0"/>
              <a:t>投</a:t>
            </a:r>
            <a:r>
              <a:rPr lang="en-US" altLang="zh-CN" b="1" dirty="0"/>
              <a:t>,</a:t>
            </a:r>
            <a:r>
              <a:rPr lang="zh-CN" altLang="zh-CN" b="1" dirty="0"/>
              <a:t>抛</a:t>
            </a:r>
            <a:r>
              <a:rPr lang="en-US" altLang="zh-CN" b="1" dirty="0"/>
              <a:t>;</a:t>
            </a:r>
            <a:r>
              <a:rPr lang="zh-CN" altLang="zh-CN" b="1" dirty="0"/>
              <a:t>选派</a:t>
            </a:r>
            <a:r>
              <a:rPr lang="en-US" altLang="zh-CN" b="1" dirty="0"/>
              <a:t>→ __n. </a:t>
            </a:r>
            <a:r>
              <a:rPr lang="zh-CN" altLang="zh-CN" b="1" dirty="0"/>
              <a:t>全体演员</a:t>
            </a:r>
            <a:r>
              <a:rPr lang="en-US" altLang="zh-CN" b="1" dirty="0"/>
              <a:t>;</a:t>
            </a:r>
            <a:r>
              <a:rPr lang="zh-CN" altLang="zh-CN" b="1" dirty="0"/>
              <a:t>投</a:t>
            </a:r>
            <a:r>
              <a:rPr lang="en-US" altLang="zh-CN" b="1" dirty="0"/>
              <a:t>.</a:t>
            </a:r>
            <a:r>
              <a:rPr lang="zh-CN" altLang="zh-CN" b="1" dirty="0"/>
              <a:t>抛</a:t>
            </a:r>
          </a:p>
          <a:p>
            <a:r>
              <a:rPr lang="en-US" altLang="zh-CN" b="1" dirty="0"/>
              <a:t>13. ___ v.</a:t>
            </a:r>
            <a:r>
              <a:rPr lang="zh-CN" altLang="zh-CN" b="1" dirty="0"/>
              <a:t>深深吸引迷住</a:t>
            </a:r>
            <a:r>
              <a:rPr lang="en-US" altLang="zh-CN" b="1" dirty="0"/>
              <a:t>→_____ n.</a:t>
            </a:r>
            <a:r>
              <a:rPr lang="zh-CN" altLang="zh-CN" b="1" dirty="0"/>
              <a:t>魅力</a:t>
            </a:r>
            <a:r>
              <a:rPr lang="en-US" altLang="zh-CN" b="1" dirty="0"/>
              <a:t>;</a:t>
            </a:r>
            <a:r>
              <a:rPr lang="zh-CN" altLang="zh-CN" b="1" dirty="0"/>
              <a:t>入迷</a:t>
            </a:r>
            <a:r>
              <a:rPr lang="en-US" altLang="zh-CN" b="1" dirty="0"/>
              <a:t>→__ adj.</a:t>
            </a:r>
            <a:r>
              <a:rPr lang="zh-CN" altLang="zh-CN" b="1" dirty="0"/>
              <a:t>入迷的</a:t>
            </a:r>
            <a:r>
              <a:rPr lang="en-US" altLang="zh-CN" b="1" dirty="0"/>
              <a:t>→__ adj.</a:t>
            </a:r>
            <a:r>
              <a:rPr lang="zh-CN" altLang="zh-CN" b="1" dirty="0"/>
              <a:t>迷人的</a:t>
            </a:r>
          </a:p>
          <a:p>
            <a:r>
              <a:rPr lang="en-US" altLang="zh-CN" b="1" dirty="0"/>
              <a:t>14. __ </a:t>
            </a:r>
            <a:r>
              <a:rPr lang="en-US" altLang="zh-CN" b="1" dirty="0" err="1"/>
              <a:t>vt.</a:t>
            </a:r>
            <a:r>
              <a:rPr lang="zh-CN" altLang="zh-CN" b="1" dirty="0"/>
              <a:t>给</a:t>
            </a:r>
            <a:r>
              <a:rPr lang="en-US" altLang="zh-CN" b="1" dirty="0"/>
              <a:t>…</a:t>
            </a:r>
            <a:r>
              <a:rPr lang="zh-CN" altLang="zh-CN" b="1" dirty="0"/>
              <a:t>命名</a:t>
            </a:r>
            <a:r>
              <a:rPr lang="en-US" altLang="zh-CN" b="1" dirty="0"/>
              <a:t>;</a:t>
            </a:r>
            <a:r>
              <a:rPr lang="zh-CN" altLang="zh-CN" b="1" dirty="0"/>
              <a:t>使享有权利</a:t>
            </a:r>
            <a:r>
              <a:rPr lang="en-US" altLang="zh-CN" b="1" dirty="0"/>
              <a:t>,</a:t>
            </a:r>
            <a:r>
              <a:rPr lang="zh-CN" altLang="zh-CN" b="1" dirty="0"/>
              <a:t>使符合资格</a:t>
            </a:r>
          </a:p>
          <a:p>
            <a:r>
              <a:rPr lang="en-US" altLang="zh-CN" b="1" dirty="0"/>
              <a:t>15. ____ n.</a:t>
            </a:r>
            <a:r>
              <a:rPr lang="zh-CN" altLang="zh-CN" b="1" dirty="0"/>
              <a:t>津贴补助</a:t>
            </a:r>
            <a:r>
              <a:rPr lang="en-US" altLang="zh-CN" b="1" dirty="0"/>
              <a:t>→ </a:t>
            </a:r>
            <a:r>
              <a:rPr lang="zh-CN" altLang="en-US" b="1" dirty="0"/>
              <a:t>考虑到</a:t>
            </a:r>
            <a:r>
              <a:rPr lang="en-US" altLang="zh-CN" b="1" dirty="0"/>
              <a:t>(</a:t>
            </a:r>
            <a:r>
              <a:rPr lang="zh-CN" altLang="en-US" b="1" dirty="0"/>
              <a:t>词组</a:t>
            </a:r>
            <a:r>
              <a:rPr lang="en-US" altLang="zh-CN" b="1" dirty="0"/>
              <a:t>2</a:t>
            </a:r>
            <a:r>
              <a:rPr lang="zh-CN" altLang="en-US" b="1" dirty="0"/>
              <a:t>个</a:t>
            </a:r>
            <a:r>
              <a:rPr lang="en-US" altLang="zh-CN" b="1" dirty="0"/>
              <a:t>)__________________</a:t>
            </a:r>
            <a:endParaRPr lang="zh-CN" altLang="zh-CN" b="1" dirty="0"/>
          </a:p>
          <a:p>
            <a:r>
              <a:rPr lang="en-US" altLang="zh-CN" b="1" dirty="0"/>
              <a:t>16. ___ adj.</a:t>
            </a:r>
            <a:r>
              <a:rPr lang="zh-CN" altLang="zh-CN" b="1" dirty="0"/>
              <a:t>棘手的</a:t>
            </a:r>
            <a:r>
              <a:rPr lang="en-US" altLang="zh-CN" b="1" dirty="0"/>
              <a:t>;</a:t>
            </a:r>
            <a:r>
              <a:rPr lang="zh-CN" altLang="zh-CN" b="1" dirty="0"/>
              <a:t>不饶人的</a:t>
            </a:r>
            <a:r>
              <a:rPr lang="en-US" altLang="zh-CN" b="1" dirty="0"/>
              <a:t>→_______ v.</a:t>
            </a:r>
            <a:r>
              <a:rPr lang="zh-CN" altLang="zh-CN" b="1" dirty="0"/>
              <a:t>原谅</a:t>
            </a:r>
            <a:r>
              <a:rPr lang="en-US" altLang="zh-CN" b="1" dirty="0"/>
              <a:t>.(_____, ______)</a:t>
            </a:r>
            <a:endParaRPr lang="zh-CN" altLang="zh-CN" b="1"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pPr fontAlgn="ctr"/>
            <a:r>
              <a:rPr lang="en-US" altLang="zh-CN" sz="3200" b="1" dirty="0">
                <a:solidFill>
                  <a:srgbClr val="FF0000"/>
                </a:solidFill>
              </a:rPr>
              <a:t>Delighted to know that you are determined to</a:t>
            </a:r>
            <a:r>
              <a:rPr lang="en-US" altLang="zh-CN" sz="3200" b="1" dirty="0"/>
              <a:t> teach </a:t>
            </a:r>
            <a:r>
              <a:rPr lang="en-US" altLang="zh-CN" sz="3200" b="1" dirty="0">
                <a:solidFill>
                  <a:srgbClr val="FF0000"/>
                </a:solidFill>
              </a:rPr>
              <a:t>English in a scenic place</a:t>
            </a:r>
            <a:r>
              <a:rPr lang="en-US" altLang="zh-CN" sz="3200" b="1" dirty="0"/>
              <a:t> in China</a:t>
            </a:r>
            <a:r>
              <a:rPr lang="en-US" altLang="zh-CN" sz="3200" b="1" dirty="0">
                <a:solidFill>
                  <a:srgbClr val="FF0000"/>
                </a:solidFill>
              </a:rPr>
              <a:t>, I highly recommend </a:t>
            </a:r>
            <a:r>
              <a:rPr lang="en-US" altLang="zh-CN" sz="3200" b="1" dirty="0"/>
              <a:t>my hometown --Yangzhou and </a:t>
            </a:r>
            <a:r>
              <a:rPr lang="en-US" altLang="zh-CN" sz="3200" b="1" dirty="0">
                <a:solidFill>
                  <a:srgbClr val="FF0000"/>
                </a:solidFill>
              </a:rPr>
              <a:t>extend my warmest welcome to you.</a:t>
            </a:r>
            <a:endParaRPr lang="zh-CN" altLang="zh-CN" sz="3200" b="1" dirty="0">
              <a:solidFill>
                <a:srgbClr val="FF0000"/>
              </a:solidFill>
            </a:endParaRPr>
          </a:p>
          <a:p>
            <a:pPr fontAlgn="ctr"/>
            <a:r>
              <a:rPr lang="en-US" altLang="zh-CN" sz="3200" b="1" dirty="0">
                <a:solidFill>
                  <a:srgbClr val="FF0000"/>
                </a:solidFill>
              </a:rPr>
              <a:t>To begin with, when it comes to the ideal destination both for education and tourism, never will Yangzhou city be neglected. Not only is the scenery splendid, but also the discipline construction</a:t>
            </a:r>
            <a:r>
              <a:rPr lang="zh-CN" altLang="zh-CN" sz="3200" b="1" dirty="0">
                <a:solidFill>
                  <a:srgbClr val="FF0000"/>
                </a:solidFill>
              </a:rPr>
              <a:t>（</a:t>
            </a:r>
            <a:r>
              <a:rPr lang="en-US" altLang="zh-CN" sz="3200" b="1" dirty="0">
                <a:solidFill>
                  <a:srgbClr val="FF0000"/>
                </a:solidFill>
              </a:rPr>
              <a:t>academic construction</a:t>
            </a:r>
            <a:r>
              <a:rPr lang="zh-CN" altLang="zh-CN" sz="3200" b="1" dirty="0">
                <a:solidFill>
                  <a:srgbClr val="FF0000"/>
                </a:solidFill>
              </a:rPr>
              <a:t>）</a:t>
            </a:r>
            <a:r>
              <a:rPr lang="en-US" altLang="zh-CN" sz="3200" b="1" dirty="0">
                <a:solidFill>
                  <a:srgbClr val="FF0000"/>
                </a:solidFill>
              </a:rPr>
              <a:t> has gained a high reputation at home and abroad. In addition, you can always enjoy numerous tasty food here in the night fairs. Last but not least, Yangzhou being an outstanding historic city, its people are eager to learn English to embrace the world, making it an inviting city undoubtedly worth working in.</a:t>
            </a:r>
            <a:endParaRPr lang="zh-CN" altLang="zh-CN" sz="3200" b="1" dirty="0">
              <a:solidFill>
                <a:srgbClr val="FF0000"/>
              </a:solidFill>
            </a:endParaRPr>
          </a:p>
          <a:p>
            <a:pPr fontAlgn="ctr"/>
            <a:r>
              <a:rPr lang="en-US" altLang="zh-CN" sz="3200" b="1" dirty="0">
                <a:solidFill>
                  <a:srgbClr val="FF0000"/>
                </a:solidFill>
              </a:rPr>
              <a:t>Should my suggestions be taken into consideration, I would be extremely privileged.</a:t>
            </a:r>
            <a:endParaRPr lang="zh-CN" altLang="zh-CN" sz="3200" b="1" dirty="0">
              <a:solidFill>
                <a:srgbClr val="FF0000"/>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endParaRPr lang="en-US" altLang="zh-CN" sz="3600" b="1" dirty="0"/>
          </a:p>
          <a:p>
            <a:r>
              <a:rPr lang="zh-CN" altLang="en-US" sz="3600" b="1" dirty="0"/>
              <a:t>很高兴得知你决定在中国风景优美的地方教英语，我强烈推荐我的家乡</a:t>
            </a:r>
            <a:r>
              <a:rPr lang="en-US" altLang="zh-CN" sz="3600" b="1" dirty="0"/>
              <a:t>——</a:t>
            </a:r>
            <a:r>
              <a:rPr lang="zh-CN" altLang="en-US" sz="3600" b="1" dirty="0"/>
              <a:t>扬州，并向你表示最热烈的欢迎。</a:t>
            </a:r>
            <a:endParaRPr lang="en-US" altLang="zh-CN" sz="3600" b="1" dirty="0"/>
          </a:p>
          <a:p>
            <a:r>
              <a:rPr lang="zh-CN" altLang="en-US" sz="3600" b="1" dirty="0"/>
              <a:t>首先，当谈到理想的教育和旅游目的地时，扬州永远不会被忽视。不仅风景秀丽，而且学科建设也在国内外赢得了很高的声誉。此外，你还可以在夜市上享受到无数美味的食物。最后但并非最不重要的是，扬州作为一个杰出的历史名城，它的人民渴望学习英语，拥抱世界，使它成为一个吸引人的城市，无疑值得在这里工作。</a:t>
            </a:r>
            <a:endParaRPr lang="en-US" altLang="zh-CN" sz="3600" b="1" dirty="0"/>
          </a:p>
          <a:p>
            <a:r>
              <a:rPr lang="zh-CN" altLang="en-US" sz="3600" b="1" dirty="0"/>
              <a:t>如果我的建议被考虑，我将不胜荣幸。</a:t>
            </a:r>
            <a:endParaRPr lang="zh-CN" altLang="en-US" sz="3600" b="1" dirty="0">
              <a:solidFill>
                <a:srgbClr val="FF0000"/>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sz="3600" b="1" dirty="0">
                <a:solidFill>
                  <a:srgbClr val="FF0000"/>
                </a:solidFill>
              </a:rPr>
              <a:t>1.it</a:t>
            </a:r>
            <a:r>
              <a:rPr lang="zh-CN" altLang="en-US" sz="3600" b="1" dirty="0">
                <a:solidFill>
                  <a:srgbClr val="FF0000"/>
                </a:solidFill>
              </a:rPr>
              <a:t>作形式主语句型</a:t>
            </a:r>
            <a:r>
              <a:rPr lang="en-US" altLang="zh-CN" sz="3600" b="1" dirty="0">
                <a:solidFill>
                  <a:srgbClr val="FF0000"/>
                </a:solidFill>
              </a:rPr>
              <a:t>(1)+to do; (2)+doing</a:t>
            </a:r>
          </a:p>
          <a:p>
            <a:r>
              <a:rPr lang="en-US" altLang="zh-CN" sz="3600" b="1" dirty="0">
                <a:solidFill>
                  <a:srgbClr val="FF0000"/>
                </a:solidFill>
              </a:rPr>
              <a:t>2.(1)</a:t>
            </a:r>
            <a:r>
              <a:rPr lang="en-US" altLang="zh-CN" sz="3600" b="1" dirty="0" err="1">
                <a:solidFill>
                  <a:srgbClr val="FF0000"/>
                </a:solidFill>
              </a:rPr>
              <a:t>v.+to</a:t>
            </a:r>
            <a:r>
              <a:rPr lang="en-US" altLang="zh-CN" sz="3600" b="1" dirty="0">
                <a:solidFill>
                  <a:srgbClr val="FF0000"/>
                </a:solidFill>
              </a:rPr>
              <a:t> do: v.</a:t>
            </a:r>
            <a:r>
              <a:rPr lang="zh-CN" altLang="en-US" sz="3600" b="1" dirty="0">
                <a:solidFill>
                  <a:srgbClr val="FF0000"/>
                </a:solidFill>
              </a:rPr>
              <a:t>举例至少</a:t>
            </a:r>
            <a:r>
              <a:rPr lang="en-US" altLang="zh-CN" sz="3600" b="1" dirty="0">
                <a:solidFill>
                  <a:srgbClr val="FF0000"/>
                </a:solidFill>
              </a:rPr>
              <a:t>6</a:t>
            </a:r>
            <a:r>
              <a:rPr lang="zh-CN" altLang="en-US" sz="3600" b="1" dirty="0">
                <a:solidFill>
                  <a:srgbClr val="FF0000"/>
                </a:solidFill>
              </a:rPr>
              <a:t>个</a:t>
            </a:r>
            <a:r>
              <a:rPr lang="en-US" altLang="zh-CN" sz="3600" b="1" dirty="0">
                <a:solidFill>
                  <a:srgbClr val="FF0000"/>
                </a:solidFill>
              </a:rPr>
              <a:t>; (2)</a:t>
            </a:r>
            <a:r>
              <a:rPr lang="en-US" altLang="zh-CN" sz="3600" b="1" dirty="0" err="1">
                <a:solidFill>
                  <a:srgbClr val="FF0000"/>
                </a:solidFill>
              </a:rPr>
              <a:t>v.+doing</a:t>
            </a:r>
            <a:r>
              <a:rPr lang="en-US" altLang="zh-CN" sz="3600" b="1" dirty="0">
                <a:solidFill>
                  <a:srgbClr val="FF0000"/>
                </a:solidFill>
              </a:rPr>
              <a:t>: v.</a:t>
            </a:r>
            <a:r>
              <a:rPr lang="zh-CN" altLang="en-US" sz="3600" b="1" dirty="0">
                <a:solidFill>
                  <a:srgbClr val="FF0000"/>
                </a:solidFill>
              </a:rPr>
              <a:t>举例至少</a:t>
            </a:r>
            <a:r>
              <a:rPr lang="en-US" altLang="zh-CN" sz="3600" b="1" dirty="0">
                <a:solidFill>
                  <a:srgbClr val="FF0000"/>
                </a:solidFill>
              </a:rPr>
              <a:t>6</a:t>
            </a:r>
            <a:r>
              <a:rPr lang="zh-CN" altLang="en-US" sz="3600" b="1">
                <a:solidFill>
                  <a:srgbClr val="FF0000"/>
                </a:solidFill>
              </a:rPr>
              <a:t>个</a:t>
            </a:r>
            <a:endParaRPr lang="en-US" altLang="zh-CN" sz="3600" b="1" dirty="0">
              <a:solidFill>
                <a:srgbClr val="FF0000"/>
              </a:solidFill>
            </a:endParaRPr>
          </a:p>
          <a:p>
            <a:r>
              <a:rPr lang="en-US" altLang="zh-CN" sz="3600" b="1" dirty="0">
                <a:solidFill>
                  <a:srgbClr val="FF0000"/>
                </a:solidFill>
              </a:rPr>
              <a:t>3.(1)regret to do</a:t>
            </a:r>
            <a:r>
              <a:rPr lang="zh-CN" altLang="en-US" sz="3600" b="1" dirty="0">
                <a:solidFill>
                  <a:srgbClr val="FF0000"/>
                </a:solidFill>
              </a:rPr>
              <a:t>翻译</a:t>
            </a:r>
            <a:r>
              <a:rPr lang="en-US" altLang="zh-CN" sz="3600" b="1" dirty="0">
                <a:solidFill>
                  <a:srgbClr val="FF0000"/>
                </a:solidFill>
              </a:rPr>
              <a:t>; regret doing</a:t>
            </a:r>
            <a:r>
              <a:rPr lang="zh-CN" altLang="en-US" sz="3600" b="1" dirty="0">
                <a:solidFill>
                  <a:srgbClr val="FF0000"/>
                </a:solidFill>
              </a:rPr>
              <a:t>翻译</a:t>
            </a:r>
            <a:endParaRPr lang="en-US" altLang="zh-CN" sz="3600" b="1" dirty="0">
              <a:solidFill>
                <a:srgbClr val="FF0000"/>
              </a:solidFill>
            </a:endParaRPr>
          </a:p>
          <a:p>
            <a:r>
              <a:rPr lang="en-US" altLang="zh-CN" sz="3600" b="1" dirty="0">
                <a:solidFill>
                  <a:srgbClr val="FF0000"/>
                </a:solidFill>
              </a:rPr>
              <a:t> (2)</a:t>
            </a:r>
            <a:r>
              <a:rPr lang="zh-CN" altLang="en-US" sz="3600" b="1" dirty="0">
                <a:solidFill>
                  <a:srgbClr val="FF0000"/>
                </a:solidFill>
              </a:rPr>
              <a:t>不能帮忙做某事</a:t>
            </a:r>
            <a:r>
              <a:rPr lang="en-US" altLang="zh-CN" sz="3600" b="1" dirty="0">
                <a:solidFill>
                  <a:srgbClr val="FF0000"/>
                </a:solidFill>
              </a:rPr>
              <a:t>;</a:t>
            </a:r>
            <a:r>
              <a:rPr lang="zh-CN" altLang="en-US" sz="3600" b="1" dirty="0">
                <a:solidFill>
                  <a:srgbClr val="FF0000"/>
                </a:solidFill>
              </a:rPr>
              <a:t>情不自禁做某事</a:t>
            </a:r>
            <a:endParaRPr lang="en-US" altLang="zh-CN" sz="3600" b="1" dirty="0">
              <a:solidFill>
                <a:srgbClr val="FF0000"/>
              </a:solidFill>
            </a:endParaRPr>
          </a:p>
          <a:p>
            <a:r>
              <a:rPr lang="en-US" altLang="zh-CN" sz="3600" b="1" dirty="0">
                <a:solidFill>
                  <a:srgbClr val="FF0000"/>
                </a:solidFill>
              </a:rPr>
              <a:t>4.require/desire</a:t>
            </a:r>
            <a:r>
              <a:rPr lang="zh-CN" altLang="en-US" sz="3600" b="1" dirty="0">
                <a:solidFill>
                  <a:srgbClr val="FF0000"/>
                </a:solidFill>
              </a:rPr>
              <a:t>“值得被”句型</a:t>
            </a:r>
            <a:r>
              <a:rPr lang="en-US" altLang="zh-CN" sz="3600" b="1" dirty="0">
                <a:solidFill>
                  <a:srgbClr val="FF0000"/>
                </a:solidFill>
              </a:rPr>
              <a:t> 5.</a:t>
            </a:r>
            <a:r>
              <a:rPr lang="zh-CN" altLang="en-US" sz="3600" b="1" dirty="0">
                <a:solidFill>
                  <a:srgbClr val="FF0000"/>
                </a:solidFill>
              </a:rPr>
              <a:t>别无选择只好做某事</a:t>
            </a:r>
            <a:endParaRPr lang="en-US" altLang="zh-CN" sz="3600" b="1" dirty="0">
              <a:solidFill>
                <a:srgbClr val="FF0000"/>
              </a:solidFill>
            </a:endParaRPr>
          </a:p>
          <a:p>
            <a:r>
              <a:rPr lang="en-US" altLang="zh-CN" sz="3600" b="1" dirty="0">
                <a:solidFill>
                  <a:srgbClr val="FF0000"/>
                </a:solidFill>
              </a:rPr>
              <a:t>6.remain(1)</a:t>
            </a:r>
            <a:r>
              <a:rPr lang="zh-CN" altLang="en-US" sz="3600" b="1" dirty="0">
                <a:solidFill>
                  <a:srgbClr val="FF0000"/>
                </a:solidFill>
              </a:rPr>
              <a:t>继续坐着 </a:t>
            </a:r>
            <a:r>
              <a:rPr lang="en-US" altLang="zh-CN" sz="3600" b="1" dirty="0">
                <a:solidFill>
                  <a:srgbClr val="FF0000"/>
                </a:solidFill>
              </a:rPr>
              <a:t>(2)</a:t>
            </a:r>
            <a:r>
              <a:rPr lang="zh-CN" altLang="en-US" sz="3600" b="1" dirty="0">
                <a:solidFill>
                  <a:srgbClr val="FF0000"/>
                </a:solidFill>
              </a:rPr>
              <a:t>有待被解决</a:t>
            </a:r>
            <a:endParaRPr lang="en-US" altLang="zh-CN" sz="3600" b="1" dirty="0">
              <a:solidFill>
                <a:srgbClr val="FF0000"/>
              </a:solidFill>
            </a:endParaRPr>
          </a:p>
          <a:p>
            <a:r>
              <a:rPr lang="en-US" altLang="zh-CN" sz="3600" b="1" dirty="0">
                <a:solidFill>
                  <a:srgbClr val="FF0000"/>
                </a:solidFill>
              </a:rPr>
              <a:t>7.the house(1)</a:t>
            </a:r>
            <a:r>
              <a:rPr lang="zh-CN" altLang="en-US" sz="3600" b="1" dirty="0">
                <a:solidFill>
                  <a:srgbClr val="FF0000"/>
                </a:solidFill>
              </a:rPr>
              <a:t>正在被建 </a:t>
            </a:r>
            <a:r>
              <a:rPr lang="en-US" altLang="zh-CN" sz="3600" b="1" dirty="0">
                <a:solidFill>
                  <a:srgbClr val="FF0000"/>
                </a:solidFill>
              </a:rPr>
              <a:t>(2)</a:t>
            </a:r>
            <a:r>
              <a:rPr lang="zh-CN" altLang="en-US" sz="3600" b="1" dirty="0">
                <a:solidFill>
                  <a:srgbClr val="FF0000"/>
                </a:solidFill>
              </a:rPr>
              <a:t>已经建成 </a:t>
            </a:r>
            <a:r>
              <a:rPr lang="en-US" altLang="zh-CN" sz="3600" b="1" dirty="0">
                <a:solidFill>
                  <a:srgbClr val="FF0000"/>
                </a:solidFill>
              </a:rPr>
              <a:t>(3)</a:t>
            </a:r>
            <a:r>
              <a:rPr lang="zh-CN" altLang="en-US" sz="3600" b="1" dirty="0">
                <a:solidFill>
                  <a:srgbClr val="FF0000"/>
                </a:solidFill>
              </a:rPr>
              <a:t>将要被建</a:t>
            </a:r>
            <a:endParaRPr lang="en-US" altLang="zh-CN" sz="3600" b="1" dirty="0">
              <a:solidFill>
                <a:srgbClr val="FF0000"/>
              </a:solidFill>
            </a:endParaRPr>
          </a:p>
          <a:p>
            <a:r>
              <a:rPr lang="en-US" altLang="zh-CN" sz="3600" b="1" dirty="0">
                <a:solidFill>
                  <a:srgbClr val="FF0000"/>
                </a:solidFill>
              </a:rPr>
              <a:t>8.</a:t>
            </a:r>
            <a:r>
              <a:rPr lang="zh-CN" altLang="en-US" sz="3600" b="1" dirty="0">
                <a:solidFill>
                  <a:srgbClr val="FF0000"/>
                </a:solidFill>
              </a:rPr>
              <a:t>不定式作定语</a:t>
            </a:r>
            <a:r>
              <a:rPr lang="en-US" altLang="zh-CN" sz="3600" b="1" dirty="0">
                <a:solidFill>
                  <a:srgbClr val="FF0000"/>
                </a:solidFill>
              </a:rPr>
              <a:t>(</a:t>
            </a:r>
            <a:r>
              <a:rPr lang="zh-CN" altLang="en-US" sz="3600" b="1" dirty="0">
                <a:solidFill>
                  <a:srgbClr val="FF0000"/>
                </a:solidFill>
              </a:rPr>
              <a:t>写全</a:t>
            </a:r>
            <a:r>
              <a:rPr lang="en-US" altLang="zh-CN" sz="3600" b="1" dirty="0">
                <a:solidFill>
                  <a:srgbClr val="FF0000"/>
                </a:solidFill>
              </a:rPr>
              <a:t>)  9.(1)</a:t>
            </a:r>
            <a:r>
              <a:rPr lang="zh-CN" altLang="en-US" sz="3600" b="1" dirty="0">
                <a:solidFill>
                  <a:srgbClr val="FF0000"/>
                </a:solidFill>
              </a:rPr>
              <a:t>作目的状语用</a:t>
            </a:r>
            <a:r>
              <a:rPr lang="en-US" altLang="zh-CN" sz="3600" b="1" dirty="0">
                <a:solidFill>
                  <a:srgbClr val="FF0000"/>
                </a:solidFill>
              </a:rPr>
              <a:t>____ </a:t>
            </a:r>
          </a:p>
          <a:p>
            <a:r>
              <a:rPr lang="en-US" altLang="zh-CN" sz="3600" b="1" dirty="0">
                <a:solidFill>
                  <a:srgbClr val="FF0000"/>
                </a:solidFill>
              </a:rPr>
              <a:t> (2)</a:t>
            </a:r>
            <a:r>
              <a:rPr lang="zh-CN" altLang="en-US" sz="3600" b="1" dirty="0">
                <a:solidFill>
                  <a:srgbClr val="FF0000"/>
                </a:solidFill>
              </a:rPr>
              <a:t>作结果状语</a:t>
            </a:r>
            <a:r>
              <a:rPr lang="en-US" altLang="zh-CN" sz="3600" b="1" dirty="0">
                <a:solidFill>
                  <a:srgbClr val="FF0000"/>
                </a:solidFill>
              </a:rPr>
              <a:t>:</a:t>
            </a:r>
            <a:r>
              <a:rPr lang="zh-CN" altLang="en-US" sz="3600" b="1" dirty="0">
                <a:solidFill>
                  <a:srgbClr val="FF0000"/>
                </a:solidFill>
              </a:rPr>
              <a:t>用</a:t>
            </a:r>
            <a:r>
              <a:rPr lang="en-US" altLang="zh-CN" sz="3600" b="1" dirty="0">
                <a:solidFill>
                  <a:srgbClr val="FF0000"/>
                </a:solidFill>
              </a:rPr>
              <a:t>___</a:t>
            </a:r>
            <a:r>
              <a:rPr lang="zh-CN" altLang="en-US" sz="3600" b="1" dirty="0">
                <a:solidFill>
                  <a:srgbClr val="FF0000"/>
                </a:solidFill>
              </a:rPr>
              <a:t>表示</a:t>
            </a:r>
            <a:r>
              <a:rPr lang="en-US" altLang="zh-CN" sz="3600" b="1" dirty="0">
                <a:solidFill>
                  <a:srgbClr val="FF0000"/>
                </a:solidFill>
              </a:rPr>
              <a:t>___</a:t>
            </a:r>
            <a:r>
              <a:rPr lang="zh-CN" altLang="en-US" sz="3600" b="1" dirty="0">
                <a:solidFill>
                  <a:srgbClr val="FF0000"/>
                </a:solidFill>
              </a:rPr>
              <a:t>的结果</a:t>
            </a:r>
            <a:r>
              <a:rPr lang="en-US" altLang="zh-CN" sz="3600" b="1" dirty="0">
                <a:solidFill>
                  <a:srgbClr val="FF0000"/>
                </a:solidFill>
              </a:rPr>
              <a:t>; </a:t>
            </a:r>
            <a:r>
              <a:rPr lang="zh-CN" altLang="en-US" sz="3600" b="1" dirty="0">
                <a:solidFill>
                  <a:srgbClr val="FF0000"/>
                </a:solidFill>
              </a:rPr>
              <a:t>用</a:t>
            </a:r>
            <a:r>
              <a:rPr lang="en-US" altLang="zh-CN" sz="3600" b="1" dirty="0">
                <a:solidFill>
                  <a:srgbClr val="FF0000"/>
                </a:solidFill>
              </a:rPr>
              <a:t>___</a:t>
            </a:r>
            <a:r>
              <a:rPr lang="zh-CN" altLang="en-US" sz="3600" b="1" dirty="0">
                <a:solidFill>
                  <a:srgbClr val="FF0000"/>
                </a:solidFill>
              </a:rPr>
              <a:t>表示</a:t>
            </a:r>
            <a:r>
              <a:rPr lang="en-US" altLang="zh-CN" sz="3600" b="1" dirty="0">
                <a:solidFill>
                  <a:srgbClr val="FF0000"/>
                </a:solidFill>
              </a:rPr>
              <a:t>____</a:t>
            </a:r>
            <a:r>
              <a:rPr lang="zh-CN" altLang="en-US" sz="3600" b="1" dirty="0">
                <a:solidFill>
                  <a:srgbClr val="FF0000"/>
                </a:solidFill>
              </a:rPr>
              <a:t>的结果</a:t>
            </a:r>
            <a:endParaRPr lang="en-US" altLang="zh-CN" sz="3600" b="1" dirty="0">
              <a:solidFill>
                <a:srgbClr val="FF0000"/>
              </a:solidFill>
            </a:endParaRPr>
          </a:p>
          <a:p>
            <a:r>
              <a:rPr lang="en-US" altLang="zh-CN" sz="3600" b="1" dirty="0">
                <a:solidFill>
                  <a:srgbClr val="FF0000"/>
                </a:solidFill>
              </a:rPr>
              <a:t>10.</a:t>
            </a:r>
            <a:r>
              <a:rPr lang="zh-CN" altLang="en-US" sz="3600" b="1" dirty="0">
                <a:solidFill>
                  <a:srgbClr val="FF0000"/>
                </a:solidFill>
              </a:rPr>
              <a:t>坦率地说</a:t>
            </a:r>
            <a:r>
              <a:rPr lang="en-US" altLang="zh-CN" sz="3600" b="1" dirty="0">
                <a:solidFill>
                  <a:srgbClr val="FF0000"/>
                </a:solidFill>
              </a:rPr>
              <a:t>;</a:t>
            </a:r>
            <a:r>
              <a:rPr lang="zh-CN" altLang="en-US" sz="3600" b="1" dirty="0">
                <a:solidFill>
                  <a:srgbClr val="FF0000"/>
                </a:solidFill>
              </a:rPr>
              <a:t>说到</a:t>
            </a:r>
            <a:r>
              <a:rPr lang="en-US" altLang="zh-CN" sz="3600" b="1" dirty="0">
                <a:solidFill>
                  <a:srgbClr val="FF0000"/>
                </a:solidFill>
              </a:rPr>
              <a:t>;</a:t>
            </a:r>
            <a:r>
              <a:rPr lang="zh-CN" altLang="en-US" sz="3600" b="1" dirty="0">
                <a:solidFill>
                  <a:srgbClr val="FF0000"/>
                </a:solidFill>
              </a:rPr>
              <a:t>时间</a:t>
            </a:r>
            <a:r>
              <a:rPr lang="en-US" altLang="zh-CN" sz="3600" b="1" dirty="0">
                <a:solidFill>
                  <a:srgbClr val="FF0000"/>
                </a:solidFill>
              </a:rPr>
              <a:t>/</a:t>
            </a:r>
            <a:r>
              <a:rPr lang="zh-CN" altLang="en-US" sz="3600" b="1" dirty="0">
                <a:solidFill>
                  <a:srgbClr val="FF0000"/>
                </a:solidFill>
              </a:rPr>
              <a:t>天气允许的话</a:t>
            </a:r>
            <a:r>
              <a:rPr lang="en-US" altLang="zh-CN" sz="3600" b="1" dirty="0">
                <a:solidFill>
                  <a:srgbClr val="FF0000"/>
                </a:solidFill>
              </a:rPr>
              <a:t>;</a:t>
            </a:r>
            <a:r>
              <a:rPr lang="zh-CN" altLang="en-US" sz="3600" b="1" dirty="0">
                <a:solidFill>
                  <a:srgbClr val="FF0000"/>
                </a:solidFill>
              </a:rPr>
              <a:t> 考虑到一切的</a:t>
            </a:r>
            <a:r>
              <a:rPr lang="en-US" altLang="zh-CN" sz="3600" b="1" dirty="0">
                <a:solidFill>
                  <a:srgbClr val="FF0000"/>
                </a:solidFill>
              </a:rPr>
              <a:t>;</a:t>
            </a:r>
            <a:r>
              <a:rPr lang="zh-CN" altLang="en-US" sz="3600" b="1" dirty="0">
                <a:solidFill>
                  <a:srgbClr val="FF0000"/>
                </a:solidFill>
              </a:rPr>
              <a:t>提供</a:t>
            </a:r>
            <a:r>
              <a:rPr lang="en-US" altLang="zh-CN" sz="3600" b="1" dirty="0">
                <a:solidFill>
                  <a:srgbClr val="FF0000"/>
                </a:solidFill>
              </a:rPr>
              <a:t>;</a:t>
            </a:r>
            <a:r>
              <a:rPr lang="zh-CN" altLang="en-US" sz="3600" b="1" dirty="0">
                <a:solidFill>
                  <a:srgbClr val="FF0000"/>
                </a:solidFill>
              </a:rPr>
              <a:t>假设</a:t>
            </a:r>
            <a:r>
              <a:rPr lang="en-US" altLang="zh-CN" sz="3600" b="1" dirty="0">
                <a:solidFill>
                  <a:srgbClr val="FF0000"/>
                </a:solidFill>
              </a:rPr>
              <a:t>;</a:t>
            </a:r>
            <a:r>
              <a:rPr lang="zh-CN" altLang="en-US" sz="3600" b="1" dirty="0">
                <a:solidFill>
                  <a:srgbClr val="FF0000"/>
                </a:solidFill>
              </a:rPr>
              <a:t>考虑到</a:t>
            </a:r>
            <a:r>
              <a:rPr lang="en-US" altLang="zh-CN" sz="3600" b="1" dirty="0">
                <a:solidFill>
                  <a:srgbClr val="FF0000"/>
                </a:solidFill>
              </a:rPr>
              <a:t>;</a:t>
            </a:r>
            <a:r>
              <a:rPr lang="zh-CN" altLang="en-US" sz="3600" b="1" dirty="0">
                <a:solidFill>
                  <a:srgbClr val="FF0000"/>
                </a:solidFill>
              </a:rPr>
              <a:t>与</a:t>
            </a:r>
            <a:r>
              <a:rPr lang="en-US" altLang="zh-CN" sz="3600" b="1" dirty="0">
                <a:solidFill>
                  <a:srgbClr val="FF0000"/>
                </a:solidFill>
              </a:rPr>
              <a:t>…</a:t>
            </a:r>
            <a:r>
              <a:rPr lang="zh-CN" altLang="en-US" sz="3600" b="1" dirty="0">
                <a:solidFill>
                  <a:srgbClr val="FF0000"/>
                </a:solidFill>
              </a:rPr>
              <a:t>相比</a:t>
            </a:r>
            <a:r>
              <a:rPr lang="en-US" altLang="zh-CN" sz="3600" b="1" dirty="0">
                <a:solidFill>
                  <a:srgbClr val="FF0000"/>
                </a:solidFill>
              </a:rPr>
              <a:t>;</a:t>
            </a:r>
            <a:r>
              <a:rPr lang="zh-CN" altLang="en-US" sz="3600" b="1" dirty="0">
                <a:solidFill>
                  <a:srgbClr val="FF0000"/>
                </a:solidFill>
              </a:rPr>
              <a:t>实话实说</a:t>
            </a:r>
            <a:r>
              <a:rPr lang="en-US" altLang="zh-CN" sz="3600" b="1" dirty="0">
                <a:solidFill>
                  <a:srgbClr val="FF0000"/>
                </a:solidFill>
              </a:rPr>
              <a:t>;</a:t>
            </a:r>
            <a:r>
              <a:rPr lang="zh-CN" altLang="en-US" sz="3600" b="1" dirty="0">
                <a:solidFill>
                  <a:srgbClr val="FF0000"/>
                </a:solidFill>
              </a:rPr>
              <a:t>开始</a:t>
            </a:r>
            <a:r>
              <a:rPr lang="en-US" altLang="zh-CN" sz="3600" b="1" dirty="0">
                <a:solidFill>
                  <a:srgbClr val="FF0000"/>
                </a:solidFill>
              </a:rPr>
              <a:t>;</a:t>
            </a:r>
            <a:r>
              <a:rPr lang="zh-CN" altLang="en-US" sz="3600" b="1" dirty="0">
                <a:solidFill>
                  <a:srgbClr val="FF0000"/>
                </a:solidFill>
              </a:rPr>
              <a:t>使事情更糟</a:t>
            </a:r>
            <a:r>
              <a:rPr lang="en-US" altLang="zh-CN" sz="3600" b="1" dirty="0">
                <a:solidFill>
                  <a:srgbClr val="FF0000"/>
                </a:solidFill>
              </a:rPr>
              <a:t>;</a:t>
            </a:r>
            <a:r>
              <a:rPr lang="zh-CN" altLang="en-US" sz="3600" b="1" dirty="0">
                <a:solidFill>
                  <a:srgbClr val="FF0000"/>
                </a:solidFill>
              </a:rPr>
              <a:t>长话短说</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pPr marL="0" indent="0">
              <a:buNone/>
            </a:pPr>
            <a:r>
              <a:rPr lang="en-US" altLang="zh-CN" sz="3500" b="1" dirty="0">
                <a:solidFill>
                  <a:srgbClr val="FF0000"/>
                </a:solidFill>
                <a:sym typeface="+mn-ea"/>
              </a:rPr>
              <a:t>11.</a:t>
            </a:r>
            <a:r>
              <a:rPr lang="zh-CN" altLang="en-US" sz="3500" b="1" dirty="0">
                <a:solidFill>
                  <a:srgbClr val="FF0000"/>
                </a:solidFill>
                <a:sym typeface="+mn-ea"/>
              </a:rPr>
              <a:t>用不定式做宾补的</a:t>
            </a:r>
            <a:r>
              <a:rPr lang="en-US" altLang="zh-CN" sz="3500" b="1" dirty="0">
                <a:solidFill>
                  <a:srgbClr val="FF0000"/>
                </a:solidFill>
                <a:sym typeface="+mn-ea"/>
              </a:rPr>
              <a:t>v.</a:t>
            </a:r>
            <a:r>
              <a:rPr lang="zh-CN" altLang="en-US" sz="3500" b="1" dirty="0">
                <a:solidFill>
                  <a:srgbClr val="FF0000"/>
                </a:solidFill>
                <a:sym typeface="+mn-ea"/>
              </a:rPr>
              <a:t>和词组</a:t>
            </a:r>
            <a:r>
              <a:rPr lang="en-US" altLang="zh-CN" sz="3500" b="1" dirty="0">
                <a:solidFill>
                  <a:srgbClr val="FF0000"/>
                </a:solidFill>
                <a:sym typeface="+mn-ea"/>
              </a:rPr>
              <a:t>(6</a:t>
            </a:r>
            <a:r>
              <a:rPr lang="zh-CN" altLang="en-US" sz="3500" b="1" dirty="0">
                <a:solidFill>
                  <a:srgbClr val="FF0000"/>
                </a:solidFill>
                <a:sym typeface="+mn-ea"/>
              </a:rPr>
              <a:t>个</a:t>
            </a:r>
            <a:r>
              <a:rPr lang="en-US" altLang="zh-CN" sz="3500" b="1" dirty="0">
                <a:solidFill>
                  <a:srgbClr val="FF0000"/>
                </a:solidFill>
                <a:sym typeface="+mn-ea"/>
              </a:rPr>
              <a:t>)</a:t>
            </a:r>
            <a:endParaRPr lang="en-US" altLang="zh-CN" sz="3500" b="1" dirty="0">
              <a:solidFill>
                <a:srgbClr val="FF0000"/>
              </a:solidFill>
            </a:endParaRPr>
          </a:p>
          <a:p>
            <a:pPr marL="0" indent="0">
              <a:buNone/>
            </a:pPr>
            <a:r>
              <a:rPr lang="en-US" altLang="zh-CN" sz="3500" b="1" dirty="0">
                <a:solidFill>
                  <a:srgbClr val="FF0000"/>
                </a:solidFill>
                <a:sym typeface="+mn-ea"/>
              </a:rPr>
              <a:t>12.</a:t>
            </a:r>
            <a:r>
              <a:rPr lang="zh-CN" altLang="en-US" sz="3500" b="1" dirty="0">
                <a:solidFill>
                  <a:srgbClr val="FF0000"/>
                </a:solidFill>
                <a:sym typeface="+mn-ea"/>
              </a:rPr>
              <a:t>感官动词加宾补的区别</a:t>
            </a:r>
            <a:r>
              <a:rPr lang="en-US" altLang="zh-CN" sz="3500" b="1" dirty="0">
                <a:solidFill>
                  <a:srgbClr val="FF0000"/>
                </a:solidFill>
                <a:sym typeface="+mn-ea"/>
              </a:rPr>
              <a:t>  13.</a:t>
            </a:r>
            <a:r>
              <a:rPr lang="zh-CN" altLang="en-US" sz="3500" b="1" dirty="0">
                <a:solidFill>
                  <a:srgbClr val="FF0000"/>
                </a:solidFill>
                <a:sym typeface="+mn-ea"/>
              </a:rPr>
              <a:t>被认为是句型</a:t>
            </a:r>
            <a:endParaRPr lang="zh-CN" altLang="en-US" sz="3500" b="1" dirty="0">
              <a:solidFill>
                <a:srgbClr val="FF0000"/>
              </a:solidFill>
            </a:endParaRPr>
          </a:p>
          <a:p>
            <a:pPr marL="0" indent="0">
              <a:buNone/>
            </a:pPr>
            <a:r>
              <a:rPr lang="en-US" altLang="zh-CN" sz="3500" b="1" dirty="0">
                <a:solidFill>
                  <a:srgbClr val="FF0000"/>
                </a:solidFill>
                <a:sym typeface="+mn-ea"/>
              </a:rPr>
              <a:t>14.</a:t>
            </a:r>
            <a:r>
              <a:rPr lang="zh-CN" altLang="en-US" sz="3500" b="1" dirty="0">
                <a:solidFill>
                  <a:srgbClr val="FF0000"/>
                </a:solidFill>
                <a:sym typeface="+mn-ea"/>
              </a:rPr>
              <a:t>据说据报道结构</a:t>
            </a:r>
            <a:r>
              <a:rPr lang="en-US" altLang="zh-CN" sz="3500" b="1" dirty="0">
                <a:solidFill>
                  <a:srgbClr val="FF0000"/>
                </a:solidFill>
                <a:sym typeface="+mn-ea"/>
              </a:rPr>
              <a:t>   15.</a:t>
            </a:r>
            <a:r>
              <a:rPr lang="zh-CN" altLang="en-US" sz="3500" b="1" dirty="0">
                <a:solidFill>
                  <a:srgbClr val="FF0000"/>
                </a:solidFill>
                <a:sym typeface="+mn-ea"/>
              </a:rPr>
              <a:t>让某人做某事句型；变被动</a:t>
            </a:r>
            <a:r>
              <a:rPr lang="en-US" altLang="zh-CN" sz="3500" b="1" dirty="0">
                <a:solidFill>
                  <a:srgbClr val="FF0000"/>
                </a:solidFill>
                <a:sym typeface="+mn-ea"/>
              </a:rPr>
              <a:t> </a:t>
            </a:r>
            <a:endParaRPr lang="en-US" altLang="zh-CN" sz="3500" b="1" dirty="0">
              <a:solidFill>
                <a:srgbClr val="FF0000"/>
              </a:solidFill>
            </a:endParaRPr>
          </a:p>
          <a:p>
            <a:pPr marL="0" indent="0">
              <a:buNone/>
            </a:pPr>
            <a:r>
              <a:rPr lang="en-US" altLang="zh-CN" sz="3500" b="1" dirty="0">
                <a:solidFill>
                  <a:srgbClr val="FF0000"/>
                </a:solidFill>
                <a:sym typeface="+mn-ea"/>
              </a:rPr>
              <a:t>16.with</a:t>
            </a:r>
            <a:r>
              <a:rPr lang="zh-CN" altLang="en-US" sz="3500" b="1" dirty="0">
                <a:solidFill>
                  <a:srgbClr val="FF0000"/>
                </a:solidFill>
                <a:sym typeface="+mn-ea"/>
              </a:rPr>
              <a:t>的复合结构</a:t>
            </a:r>
            <a:r>
              <a:rPr lang="en-US" altLang="zh-CN" sz="3500" b="1" dirty="0">
                <a:solidFill>
                  <a:srgbClr val="FF0000"/>
                </a:solidFill>
                <a:sym typeface="+mn-ea"/>
              </a:rPr>
              <a:t>   17.</a:t>
            </a:r>
            <a:r>
              <a:rPr lang="zh-CN" altLang="en-US" sz="3500" b="1" dirty="0">
                <a:solidFill>
                  <a:srgbClr val="FF0000"/>
                </a:solidFill>
                <a:sym typeface="+mn-ea"/>
              </a:rPr>
              <a:t>坐落于</a:t>
            </a:r>
            <a:r>
              <a:rPr lang="en-US" altLang="zh-CN" sz="3500" b="1" dirty="0">
                <a:solidFill>
                  <a:srgbClr val="FF0000"/>
                </a:solidFill>
                <a:sym typeface="+mn-ea"/>
              </a:rPr>
              <a:t>;</a:t>
            </a:r>
            <a:r>
              <a:rPr lang="zh-CN" altLang="en-US" sz="3500" b="1" dirty="0">
                <a:solidFill>
                  <a:srgbClr val="FF0000"/>
                </a:solidFill>
                <a:sym typeface="+mn-ea"/>
              </a:rPr>
              <a:t>沉思</a:t>
            </a:r>
            <a:r>
              <a:rPr lang="en-US" altLang="zh-CN" sz="3500" b="1" dirty="0">
                <a:solidFill>
                  <a:srgbClr val="FF0000"/>
                </a:solidFill>
                <a:sym typeface="+mn-ea"/>
              </a:rPr>
              <a:t>;</a:t>
            </a:r>
            <a:r>
              <a:rPr lang="zh-CN" altLang="en-US" sz="3500" b="1" dirty="0">
                <a:solidFill>
                  <a:srgbClr val="FF0000"/>
                </a:solidFill>
                <a:sym typeface="+mn-ea"/>
              </a:rPr>
              <a:t>沉迷于</a:t>
            </a:r>
            <a:endParaRPr lang="en-US" altLang="zh-CN" sz="3500" b="1" dirty="0">
              <a:solidFill>
                <a:schemeClr val="tx1"/>
              </a:solidFill>
            </a:endParaRPr>
          </a:p>
          <a:p>
            <a:r>
              <a:rPr lang="en-US" altLang="zh-CN" sz="3500" b="1" dirty="0">
                <a:solidFill>
                  <a:schemeClr val="tx1"/>
                </a:solidFill>
              </a:rPr>
              <a:t>1.</a:t>
            </a:r>
            <a:r>
              <a:rPr lang="zh-CN" altLang="en-US" sz="3500" b="1" dirty="0">
                <a:solidFill>
                  <a:schemeClr val="tx1"/>
                </a:solidFill>
              </a:rPr>
              <a:t>被一阵</a:t>
            </a:r>
            <a:r>
              <a:rPr lang="zh-CN" altLang="en-US" sz="3500" b="1" dirty="0"/>
              <a:t>困惑</a:t>
            </a:r>
            <a:r>
              <a:rPr lang="zh-CN" altLang="en-US" sz="3500" b="1" dirty="0">
                <a:solidFill>
                  <a:schemeClr val="tx1"/>
                </a:solidFill>
              </a:rPr>
              <a:t>压倒了    </a:t>
            </a:r>
            <a:r>
              <a:rPr lang="en-US" altLang="zh-CN" sz="3500" b="1" dirty="0">
                <a:solidFill>
                  <a:schemeClr val="tx1"/>
                </a:solidFill>
              </a:rPr>
              <a:t>2.</a:t>
            </a:r>
            <a:r>
              <a:rPr lang="zh-CN" altLang="en-US" sz="3500" b="1" dirty="0">
                <a:solidFill>
                  <a:schemeClr val="tx1"/>
                </a:solidFill>
              </a:rPr>
              <a:t>当他的目光落在</a:t>
            </a:r>
            <a:r>
              <a:rPr lang="en-US" altLang="zh-CN" sz="3500" b="1" dirty="0">
                <a:solidFill>
                  <a:schemeClr val="tx1"/>
                </a:solidFill>
              </a:rPr>
              <a:t>…</a:t>
            </a:r>
            <a:r>
              <a:rPr lang="zh-CN" altLang="en-US" sz="3500" b="1" dirty="0">
                <a:solidFill>
                  <a:schemeClr val="tx1"/>
                </a:solidFill>
              </a:rPr>
              <a:t>上时</a:t>
            </a:r>
            <a:endParaRPr lang="en-US" altLang="zh-CN" sz="3500" b="1" dirty="0">
              <a:solidFill>
                <a:schemeClr val="tx1"/>
              </a:solidFill>
            </a:endParaRPr>
          </a:p>
          <a:p>
            <a:r>
              <a:rPr lang="en-US" altLang="zh-CN" sz="3500" b="1" dirty="0">
                <a:solidFill>
                  <a:schemeClr val="tx1"/>
                </a:solidFill>
              </a:rPr>
              <a:t>3.</a:t>
            </a:r>
            <a:r>
              <a:rPr lang="zh-CN" altLang="en-US" sz="3500" b="1" dirty="0">
                <a:solidFill>
                  <a:schemeClr val="tx1"/>
                </a:solidFill>
              </a:rPr>
              <a:t>他的心漏了一跳</a:t>
            </a:r>
            <a:r>
              <a:rPr lang="en-US" altLang="zh-CN" sz="3500" b="1" dirty="0">
                <a:solidFill>
                  <a:schemeClr val="tx1"/>
                </a:solidFill>
              </a:rPr>
              <a:t>—</a:t>
            </a:r>
            <a:r>
              <a:rPr lang="zh-CN" altLang="en-US" sz="3500" b="1" dirty="0">
                <a:solidFill>
                  <a:schemeClr val="tx1"/>
                </a:solidFill>
              </a:rPr>
              <a:t>他</a:t>
            </a:r>
            <a:r>
              <a:rPr lang="zh-CN" altLang="en-US" sz="3500" b="1" dirty="0"/>
              <a:t>毁了他妈妈最喜欢的衣服</a:t>
            </a:r>
            <a:r>
              <a:rPr lang="en-US" altLang="zh-CN" sz="3500" b="1" dirty="0"/>
              <a:t>,</a:t>
            </a:r>
            <a:r>
              <a:rPr lang="zh-CN" altLang="en-US" sz="3500" b="1" dirty="0"/>
              <a:t>因为没有</a:t>
            </a:r>
            <a:r>
              <a:rPr lang="zh-CN" altLang="en-US" sz="3500" b="1" dirty="0">
                <a:solidFill>
                  <a:schemeClr val="tx1"/>
                </a:solidFill>
              </a:rPr>
              <a:t>把分开洗</a:t>
            </a:r>
            <a:r>
              <a:rPr lang="en-US" altLang="zh-CN" sz="3500" b="1" dirty="0">
                <a:solidFill>
                  <a:schemeClr val="tx1"/>
                </a:solidFill>
              </a:rPr>
              <a:t>.</a:t>
            </a:r>
            <a:r>
              <a:rPr lang="zh-CN" altLang="en-US" sz="3500" b="1" dirty="0">
                <a:solidFill>
                  <a:schemeClr val="tx1"/>
                </a:solidFill>
              </a:rPr>
              <a:t>    </a:t>
            </a:r>
            <a:r>
              <a:rPr lang="en-US" altLang="zh-CN" sz="3500" b="1" dirty="0">
                <a:solidFill>
                  <a:schemeClr val="tx1"/>
                </a:solidFill>
              </a:rPr>
              <a:t>4.</a:t>
            </a:r>
            <a:r>
              <a:rPr lang="zh-CN" altLang="en-US" sz="3500" b="1" dirty="0">
                <a:solidFill>
                  <a:schemeClr val="tx1"/>
                </a:solidFill>
              </a:rPr>
              <a:t>杰里米惊慌失措</a:t>
            </a:r>
            <a:r>
              <a:rPr lang="en-US" altLang="zh-CN" sz="3500" b="1" dirty="0">
                <a:solidFill>
                  <a:schemeClr val="tx1"/>
                </a:solidFill>
              </a:rPr>
              <a:t>,</a:t>
            </a:r>
            <a:r>
              <a:rPr lang="zh-CN" altLang="en-US" sz="3500" b="1" dirty="0">
                <a:solidFill>
                  <a:schemeClr val="tx1"/>
                </a:solidFill>
              </a:rPr>
              <a:t>满头大汗。</a:t>
            </a:r>
            <a:r>
              <a:rPr lang="en-US" altLang="zh-CN" sz="3500" b="1" dirty="0">
                <a:solidFill>
                  <a:schemeClr val="tx1"/>
                </a:solidFill>
              </a:rPr>
              <a:t>5.</a:t>
            </a:r>
            <a:r>
              <a:rPr lang="zh-CN" altLang="en-US" sz="3500" b="1" dirty="0">
                <a:solidFill>
                  <a:schemeClr val="tx1"/>
                </a:solidFill>
              </a:rPr>
              <a:t>必须面对现实 </a:t>
            </a:r>
            <a:r>
              <a:rPr lang="en-US" altLang="zh-CN" sz="3500" b="1" dirty="0"/>
              <a:t>       </a:t>
            </a:r>
          </a:p>
          <a:p>
            <a:r>
              <a:rPr lang="en-US" altLang="zh-CN" sz="3500" b="1" dirty="0">
                <a:solidFill>
                  <a:schemeClr val="tx1"/>
                </a:solidFill>
              </a:rPr>
              <a:t>6.</a:t>
            </a:r>
            <a:r>
              <a:rPr lang="zh-CN" altLang="en-US" sz="3500" b="1" dirty="0">
                <a:solidFill>
                  <a:schemeClr val="tx1"/>
                </a:solidFill>
              </a:rPr>
              <a:t>他深吸了一口气</a:t>
            </a:r>
            <a:r>
              <a:rPr lang="en-US" altLang="zh-CN" sz="3500" b="1" dirty="0">
                <a:solidFill>
                  <a:schemeClr val="tx1"/>
                </a:solidFill>
              </a:rPr>
              <a:t>,</a:t>
            </a:r>
            <a:r>
              <a:rPr lang="zh-CN" altLang="en-US" sz="3500" b="1" dirty="0">
                <a:solidFill>
                  <a:schemeClr val="tx1"/>
                </a:solidFill>
              </a:rPr>
              <a:t>使自己镇定下来</a:t>
            </a:r>
            <a:r>
              <a:rPr lang="en-US" altLang="zh-CN" sz="3500" b="1" dirty="0">
                <a:solidFill>
                  <a:schemeClr val="tx1"/>
                </a:solidFill>
              </a:rPr>
              <a:t>.7.</a:t>
            </a:r>
            <a:r>
              <a:rPr lang="zh-CN" altLang="en-US" sz="3500" b="1" dirty="0">
                <a:solidFill>
                  <a:schemeClr val="tx1"/>
                </a:solidFill>
              </a:rPr>
              <a:t>拖着沉重的步子走向卧室</a:t>
            </a:r>
            <a:r>
              <a:rPr lang="en-US" altLang="zh-CN" sz="3500" b="1" dirty="0">
                <a:solidFill>
                  <a:schemeClr val="tx1"/>
                </a:solidFill>
              </a:rPr>
              <a:t>  8.</a:t>
            </a:r>
            <a:r>
              <a:rPr lang="zh-CN" altLang="en-US" sz="3500" b="1" dirty="0">
                <a:solidFill>
                  <a:schemeClr val="tx1"/>
                </a:solidFill>
              </a:rPr>
              <a:t>他刚走到床边，妈妈就注意到儿子的不安。</a:t>
            </a:r>
            <a:endParaRPr lang="en-US" altLang="zh-CN" sz="3500" b="1" dirty="0">
              <a:solidFill>
                <a:schemeClr val="tx1"/>
              </a:solidFill>
            </a:endParaRPr>
          </a:p>
          <a:p>
            <a:r>
              <a:rPr lang="en-US" altLang="zh-CN" sz="3500" b="1" dirty="0">
                <a:solidFill>
                  <a:schemeClr val="tx1"/>
                </a:solidFill>
              </a:rPr>
              <a:t>9.</a:t>
            </a:r>
            <a:r>
              <a:rPr lang="zh-CN" altLang="en-US" sz="3500" b="1" dirty="0">
                <a:solidFill>
                  <a:schemeClr val="tx1"/>
                </a:solidFill>
              </a:rPr>
              <a:t>结结巴巴地解释着   </a:t>
            </a:r>
            <a:r>
              <a:rPr lang="en-US" altLang="zh-CN" sz="3500" b="1" dirty="0">
                <a:solidFill>
                  <a:schemeClr val="tx1"/>
                </a:solidFill>
              </a:rPr>
              <a:t>10.</a:t>
            </a:r>
            <a:r>
              <a:rPr lang="zh-CN" altLang="en-US" sz="3500" b="1" dirty="0">
                <a:solidFill>
                  <a:schemeClr val="tx1"/>
                </a:solidFill>
              </a:rPr>
              <a:t>朝</a:t>
            </a:r>
            <a:r>
              <a:rPr lang="en-US" altLang="zh-CN" sz="3500" b="1" dirty="0">
                <a:solidFill>
                  <a:schemeClr val="tx1"/>
                </a:solidFill>
              </a:rPr>
              <a:t>...</a:t>
            </a:r>
            <a:r>
              <a:rPr lang="zh-CN" altLang="en-US" sz="3500" b="1" dirty="0">
                <a:solidFill>
                  <a:schemeClr val="tx1"/>
                </a:solidFill>
              </a:rPr>
              <a:t>微笑</a:t>
            </a:r>
            <a:r>
              <a:rPr lang="en-US" altLang="zh-CN" sz="3500" b="1" dirty="0">
                <a:solidFill>
                  <a:schemeClr val="tx1"/>
                </a:solidFill>
              </a:rPr>
              <a:t> 11.</a:t>
            </a:r>
            <a:r>
              <a:rPr lang="zh-CN" altLang="en-US" sz="3500" b="1" dirty="0">
                <a:solidFill>
                  <a:schemeClr val="tx1"/>
                </a:solidFill>
              </a:rPr>
              <a:t>用赞许的语气说</a:t>
            </a:r>
            <a:endParaRPr lang="en-US" altLang="zh-CN" sz="3500" b="1" dirty="0">
              <a:solidFill>
                <a:schemeClr val="tx1"/>
              </a:solidFill>
            </a:endParaRPr>
          </a:p>
          <a:p>
            <a:r>
              <a:rPr lang="en-US" altLang="zh-CN" sz="3500" b="1" dirty="0">
                <a:solidFill>
                  <a:schemeClr val="tx1"/>
                </a:solidFill>
              </a:rPr>
              <a:t>12.</a:t>
            </a:r>
            <a:r>
              <a:rPr lang="zh-CN" altLang="en-US" sz="3500" b="1" dirty="0">
                <a:solidFill>
                  <a:schemeClr val="tx1"/>
                </a:solidFill>
              </a:rPr>
              <a:t>听到这里</a:t>
            </a:r>
            <a:r>
              <a:rPr lang="en-US" altLang="zh-CN" sz="3500" b="1" dirty="0">
                <a:solidFill>
                  <a:schemeClr val="tx1"/>
                </a:solidFill>
              </a:rPr>
              <a:t>,</a:t>
            </a:r>
            <a:r>
              <a:rPr lang="zh-CN" altLang="en-US" sz="3500" b="1" dirty="0">
                <a:solidFill>
                  <a:schemeClr val="tx1"/>
                </a:solidFill>
              </a:rPr>
              <a:t>他笑得合不拢嘴</a:t>
            </a:r>
            <a:r>
              <a:rPr lang="en-US" altLang="zh-CN" sz="3500" b="1" dirty="0">
                <a:solidFill>
                  <a:schemeClr val="tx1"/>
                </a:solidFill>
              </a:rPr>
              <a:t>,</a:t>
            </a:r>
            <a:r>
              <a:rPr lang="zh-CN" altLang="en-US" sz="3500" b="1" dirty="0">
                <a:solidFill>
                  <a:schemeClr val="tx1"/>
                </a:solidFill>
              </a:rPr>
              <a:t>给了妈妈一个温暖的拥抱</a:t>
            </a:r>
            <a:r>
              <a:rPr lang="en-US" altLang="zh-CN" sz="3500" b="1" dirty="0">
                <a:solidFill>
                  <a:schemeClr val="tx1"/>
                </a:solidFill>
              </a:rPr>
              <a:t>.</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fontScale="90000" lnSpcReduction="10000"/>
          </a:bodyPr>
          <a:lstStyle/>
          <a:p>
            <a:r>
              <a:rPr lang="en-US" altLang="zh-CN" sz="3600" b="1" dirty="0"/>
              <a:t>But he remembered there was no pink dress in the laundry basket. Overwhelmed by a surge of confusion, Jeremy pulled out a few more clothes and checked over each item. As his eyes rested on the red socks, Jeremy was sure that he had found the answer. His heart missed a beat—he had spoiled his mom’s favorite dress by not washing them separately! Panic seized Jeremy, leaving him in a sweat. However, he knew he had to face the music. He took a deep breath to compose himself.</a:t>
            </a:r>
          </a:p>
          <a:p>
            <a:r>
              <a:rPr lang="en-US" altLang="zh-CN" sz="3600" b="1" dirty="0"/>
              <a:t>Holding the pink dress, Jeremy dragged himself towards his mom’s bedroom. Hardly had he approached the bedside when Mom noticed her son’s unease. She sat up, asking him what was wrong. Jeremy held out the pink dress, stumbling through an explanation. “I know you meant to help,” Mom beamed at Jeremy. Then she held the dress up before her and said in an approving tone, “I think it looks nice.” At this, Jeremy grinned from ear to ear, giving his mom a warm hug.</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lnSpcReduction="10000"/>
          </a:bodyPr>
          <a:lstStyle/>
          <a:p>
            <a:pPr algn="ctr"/>
            <a:r>
              <a:rPr lang="zh-CN" altLang="en-US" sz="3600" b="1" dirty="0">
                <a:solidFill>
                  <a:srgbClr val="FF0000"/>
                </a:solidFill>
              </a:rPr>
              <a:t>语言自查表：</a:t>
            </a:r>
          </a:p>
          <a:p>
            <a:r>
              <a:rPr lang="en-US" altLang="zh-CN" sz="3600" b="1" dirty="0">
                <a:solidFill>
                  <a:srgbClr val="FF0000"/>
                </a:solidFill>
              </a:rPr>
              <a:t>1.</a:t>
            </a:r>
            <a:r>
              <a:rPr lang="zh-CN" altLang="en-US" sz="3600" b="1" dirty="0">
                <a:solidFill>
                  <a:srgbClr val="FF0000"/>
                </a:solidFill>
              </a:rPr>
              <a:t>非谓语：</a:t>
            </a:r>
            <a:r>
              <a:rPr lang="en-US" altLang="zh-CN" sz="3600" b="1" dirty="0">
                <a:solidFill>
                  <a:srgbClr val="FF0000"/>
                </a:solidFill>
              </a:rPr>
              <a:t>Doing, </a:t>
            </a:r>
            <a:r>
              <a:rPr lang="zh-CN" altLang="en-US" sz="3600" b="1" dirty="0">
                <a:solidFill>
                  <a:srgbClr val="FF0000"/>
                </a:solidFill>
              </a:rPr>
              <a:t>主语</a:t>
            </a:r>
            <a:r>
              <a:rPr lang="en-US" altLang="zh-CN" sz="3600" b="1" dirty="0">
                <a:solidFill>
                  <a:srgbClr val="FF0000"/>
                </a:solidFill>
              </a:rPr>
              <a:t>+</a:t>
            </a:r>
            <a:r>
              <a:rPr lang="zh-CN" altLang="en-US" sz="3600" b="1" dirty="0">
                <a:solidFill>
                  <a:srgbClr val="FF0000"/>
                </a:solidFill>
              </a:rPr>
              <a:t>谓语动词</a:t>
            </a:r>
          </a:p>
          <a:p>
            <a:r>
              <a:rPr lang="zh-CN" altLang="en-US" sz="3600" b="1" dirty="0">
                <a:solidFill>
                  <a:srgbClr val="FF0000"/>
                </a:solidFill>
              </a:rPr>
              <a:t> </a:t>
            </a:r>
            <a:r>
              <a:rPr lang="en-US" altLang="zh-CN" sz="3600" b="1" dirty="0">
                <a:solidFill>
                  <a:srgbClr val="FF0000"/>
                </a:solidFill>
              </a:rPr>
              <a:t>    adj./P.P.+and+adj./P.P.,</a:t>
            </a:r>
            <a:r>
              <a:rPr lang="zh-CN" altLang="en-US" sz="3600" b="1" dirty="0">
                <a:solidFill>
                  <a:srgbClr val="FF0000"/>
                </a:solidFill>
                <a:sym typeface="+mn-ea"/>
              </a:rPr>
              <a:t>主语</a:t>
            </a:r>
            <a:r>
              <a:rPr lang="en-US" altLang="zh-CN" sz="3600" b="1" dirty="0">
                <a:solidFill>
                  <a:srgbClr val="FF0000"/>
                </a:solidFill>
                <a:sym typeface="+mn-ea"/>
              </a:rPr>
              <a:t>+</a:t>
            </a:r>
            <a:r>
              <a:rPr lang="zh-CN" altLang="en-US" sz="3600" b="1" dirty="0">
                <a:solidFill>
                  <a:srgbClr val="FF0000"/>
                </a:solidFill>
                <a:sym typeface="+mn-ea"/>
              </a:rPr>
              <a:t>谓语动词</a:t>
            </a:r>
          </a:p>
          <a:p>
            <a:r>
              <a:rPr lang="zh-CN" altLang="en-US" sz="3600" b="1" dirty="0">
                <a:solidFill>
                  <a:srgbClr val="FF0000"/>
                </a:solidFill>
                <a:sym typeface="+mn-ea"/>
              </a:rPr>
              <a:t> </a:t>
            </a:r>
            <a:r>
              <a:rPr lang="en-US" altLang="zh-CN" sz="3600" b="1" dirty="0">
                <a:solidFill>
                  <a:srgbClr val="FF0000"/>
                </a:solidFill>
                <a:sym typeface="+mn-ea"/>
              </a:rPr>
              <a:t>    SVO, +ving</a:t>
            </a:r>
            <a:r>
              <a:rPr lang="zh-CN" altLang="en-US" sz="3600" b="1" dirty="0">
                <a:solidFill>
                  <a:srgbClr val="FF0000"/>
                </a:solidFill>
                <a:sym typeface="+mn-ea"/>
              </a:rPr>
              <a:t>自然而然结果</a:t>
            </a:r>
            <a:r>
              <a:rPr lang="en-US" altLang="zh-CN" sz="3600" b="1" dirty="0">
                <a:solidFill>
                  <a:srgbClr val="FF0000"/>
                </a:solidFill>
                <a:sym typeface="+mn-ea"/>
              </a:rPr>
              <a:t>/ </a:t>
            </a:r>
            <a:r>
              <a:rPr lang="zh-CN" altLang="en-US" sz="3600" b="1" dirty="0">
                <a:solidFill>
                  <a:srgbClr val="FF0000"/>
                </a:solidFill>
                <a:sym typeface="+mn-ea"/>
              </a:rPr>
              <a:t>伴随</a:t>
            </a:r>
          </a:p>
          <a:p>
            <a:r>
              <a:rPr lang="zh-CN" altLang="en-US" sz="3600" b="1" dirty="0">
                <a:solidFill>
                  <a:srgbClr val="FF0000"/>
                </a:solidFill>
                <a:sym typeface="+mn-ea"/>
              </a:rPr>
              <a:t> </a:t>
            </a:r>
            <a:r>
              <a:rPr lang="en-US" altLang="zh-CN" sz="3600" b="1" dirty="0">
                <a:solidFill>
                  <a:srgbClr val="FF0000"/>
                </a:solidFill>
                <a:sym typeface="+mn-ea"/>
              </a:rPr>
              <a:t>             +only to do</a:t>
            </a:r>
            <a:r>
              <a:rPr lang="zh-CN" altLang="en-US" sz="3600" b="1" dirty="0">
                <a:solidFill>
                  <a:srgbClr val="FF0000"/>
                </a:solidFill>
                <a:sym typeface="+mn-ea"/>
              </a:rPr>
              <a:t>出乎意外结果</a:t>
            </a:r>
            <a:endParaRPr lang="zh-CN" altLang="en-US" sz="3600" b="1" dirty="0">
              <a:solidFill>
                <a:srgbClr val="FF0000"/>
              </a:solidFill>
            </a:endParaRPr>
          </a:p>
          <a:p>
            <a:r>
              <a:rPr lang="en-US" altLang="zh-CN" sz="3600" b="1" dirty="0">
                <a:solidFill>
                  <a:srgbClr val="FF0000"/>
                </a:solidFill>
              </a:rPr>
              <a:t>2.</a:t>
            </a:r>
            <a:r>
              <a:rPr lang="zh-CN" altLang="en-US" sz="3600" b="1" dirty="0">
                <a:solidFill>
                  <a:srgbClr val="FF0000"/>
                </a:solidFill>
              </a:rPr>
              <a:t>动作链：</a:t>
            </a:r>
            <a:r>
              <a:rPr lang="en-US" altLang="zh-CN" sz="3600" b="1" dirty="0">
                <a:solidFill>
                  <a:srgbClr val="FF0000"/>
                </a:solidFill>
              </a:rPr>
              <a:t>A, B and C</a:t>
            </a:r>
          </a:p>
          <a:p>
            <a:r>
              <a:rPr lang="en-US" altLang="zh-CN" sz="3600" b="1" dirty="0">
                <a:solidFill>
                  <a:srgbClr val="FF0000"/>
                </a:solidFill>
              </a:rPr>
              <a:t>3.</a:t>
            </a:r>
            <a:r>
              <a:rPr lang="zh-CN" altLang="en-US" sz="3600" b="1" dirty="0">
                <a:solidFill>
                  <a:srgbClr val="FF0000"/>
                </a:solidFill>
                <a:sym typeface="+mn-ea"/>
              </a:rPr>
              <a:t>倒装句：</a:t>
            </a:r>
          </a:p>
          <a:p>
            <a:r>
              <a:rPr lang="en-US" altLang="zh-CN" sz="3600" b="1" dirty="0">
                <a:solidFill>
                  <a:srgbClr val="FF0000"/>
                </a:solidFill>
              </a:rPr>
              <a:t>“</a:t>
            </a:r>
            <a:r>
              <a:rPr lang="zh-CN" altLang="en-US" sz="3600" b="1" dirty="0">
                <a:solidFill>
                  <a:srgbClr val="FF0000"/>
                </a:solidFill>
              </a:rPr>
              <a:t>一</a:t>
            </a:r>
            <a:r>
              <a:rPr lang="en-US" altLang="zh-CN" sz="3600" b="1" dirty="0">
                <a:solidFill>
                  <a:srgbClr val="FF0000"/>
                </a:solidFill>
              </a:rPr>
              <a:t>…</a:t>
            </a:r>
            <a:r>
              <a:rPr lang="zh-CN" altLang="en-US" sz="3600" b="1" dirty="0">
                <a:solidFill>
                  <a:srgbClr val="FF0000"/>
                </a:solidFill>
              </a:rPr>
              <a:t>就</a:t>
            </a:r>
            <a:r>
              <a:rPr lang="en-US" altLang="zh-CN" sz="3600" b="1" dirty="0">
                <a:solidFill>
                  <a:srgbClr val="FF0000"/>
                </a:solidFill>
              </a:rPr>
              <a:t>…” No sooner...than.../ Hardly...when...</a:t>
            </a:r>
          </a:p>
          <a:p>
            <a:r>
              <a:rPr lang="en-US" altLang="zh-CN" sz="3600" b="1" dirty="0">
                <a:solidFill>
                  <a:srgbClr val="FF0000"/>
                </a:solidFill>
              </a:rPr>
              <a:t>4.with+</a:t>
            </a:r>
            <a:r>
              <a:rPr lang="zh-CN" altLang="en-US" sz="3600" b="1" dirty="0">
                <a:solidFill>
                  <a:srgbClr val="FF0000"/>
                </a:solidFill>
              </a:rPr>
              <a:t>宾语</a:t>
            </a:r>
            <a:r>
              <a:rPr lang="en-US" altLang="zh-CN" sz="3600" b="1" dirty="0">
                <a:solidFill>
                  <a:srgbClr val="FF0000"/>
                </a:solidFill>
              </a:rPr>
              <a:t>+</a:t>
            </a:r>
            <a:r>
              <a:rPr lang="zh-CN" altLang="en-US" sz="3600" b="1" dirty="0">
                <a:solidFill>
                  <a:srgbClr val="FF0000"/>
                </a:solidFill>
              </a:rPr>
              <a:t>宾补</a:t>
            </a:r>
          </a:p>
          <a:p>
            <a:r>
              <a:rPr lang="en-US" altLang="zh-CN" sz="3600" b="1" dirty="0">
                <a:solidFill>
                  <a:srgbClr val="FF0000"/>
                </a:solidFill>
              </a:rPr>
              <a:t>5.</a:t>
            </a:r>
            <a:r>
              <a:rPr lang="zh-CN" altLang="en-US" sz="3600" b="1" dirty="0">
                <a:solidFill>
                  <a:srgbClr val="FF0000"/>
                </a:solidFill>
              </a:rPr>
              <a:t>强调句型：</a:t>
            </a:r>
            <a:r>
              <a:rPr lang="en-US" altLang="zh-CN" sz="3600" b="1" dirty="0">
                <a:solidFill>
                  <a:srgbClr val="FF0000"/>
                </a:solidFill>
              </a:rPr>
              <a:t>It is/was...that...</a:t>
            </a:r>
            <a:endParaRPr lang="zh-CN" altLang="en-US" sz="3600" b="1" dirty="0">
              <a:solidFill>
                <a:srgbClr val="FF0000"/>
              </a:solidFill>
            </a:endParaRPr>
          </a:p>
          <a:p>
            <a:r>
              <a:rPr lang="en-US" altLang="zh-CN" sz="3600" b="1" dirty="0">
                <a:solidFill>
                  <a:srgbClr val="FF0000"/>
                </a:solidFill>
              </a:rPr>
              <a:t>6.</a:t>
            </a:r>
            <a:r>
              <a:rPr lang="zh-CN" altLang="en-US" sz="3600" b="1" dirty="0">
                <a:solidFill>
                  <a:srgbClr val="FF0000"/>
                </a:solidFill>
              </a:rPr>
              <a:t>定语从句</a:t>
            </a:r>
          </a:p>
          <a:p>
            <a:r>
              <a:rPr lang="en-US" altLang="zh-CN" sz="3600" b="1" dirty="0">
                <a:solidFill>
                  <a:srgbClr val="FF0000"/>
                </a:solidFill>
              </a:rPr>
              <a:t>7.</a:t>
            </a:r>
            <a:r>
              <a:rPr lang="zh-CN" altLang="en-US" sz="3600" b="1" dirty="0">
                <a:solidFill>
                  <a:srgbClr val="FF0000"/>
                </a:solidFill>
              </a:rPr>
              <a:t>其他主从复合句</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pPr lvl="0" algn="just"/>
            <a:r>
              <a:rPr lang="en-US" altLang="zh-CN" sz="3600" b="1" dirty="0">
                <a:solidFill>
                  <a:srgbClr val="FF0000"/>
                </a:solidFill>
              </a:rPr>
              <a:t> 1.</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难以置信地</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信任</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2.</a:t>
            </a:r>
            <a:r>
              <a:rPr kumimoji="1" lang="zh-CN" altLang="en-US" sz="3600" b="1" dirty="0">
                <a:solidFill>
                  <a:srgbClr val="FF0000"/>
                </a:solidFill>
              </a:rPr>
              <a:t>偏离某事物 </a:t>
            </a:r>
            <a:r>
              <a:rPr kumimoji="1" lang="en-US" altLang="zh-CN" sz="3600" b="1" dirty="0">
                <a:solidFill>
                  <a:srgbClr val="FF0000"/>
                </a:solidFill>
              </a:rPr>
              <a:t>3.</a:t>
            </a:r>
            <a:r>
              <a:rPr lang="zh-CN" altLang="zh-CN" sz="3600" b="1" dirty="0">
                <a:solidFill>
                  <a:srgbClr val="FF0000"/>
                </a:solidFill>
              </a:rPr>
              <a:t>歪曲事实</a:t>
            </a:r>
            <a:r>
              <a:rPr lang="en-US" altLang="zh-CN" sz="3600" b="1" dirty="0">
                <a:solidFill>
                  <a:srgbClr val="FF0000"/>
                </a:solidFill>
              </a:rPr>
              <a:t>;</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一个急拐弯</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600" b="1" dirty="0"/>
              <a:t>决心做某事</a:t>
            </a:r>
            <a:r>
              <a:rPr lang="en-US" altLang="zh-CN" sz="3600" b="1" dirty="0"/>
              <a:t>;</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有</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的天赋</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(__,__) 4.</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声称</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做某事</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要求损害赔偿</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认领</a:t>
            </a:r>
            <a:r>
              <a:rPr lang="zh-CN" altLang="zh-CN" sz="3600" b="1" kern="100" dirty="0">
                <a:latin typeface="Times New Roman" panose="02020603050405020304" pitchFamily="18" charset="0"/>
                <a:ea typeface="宋体" panose="02010600030101010101" pitchFamily="2" charset="-122"/>
                <a:cs typeface="Times New Roman" panose="02020603050405020304" pitchFamily="18" charset="0"/>
              </a:rPr>
              <a:t>钱包</a:t>
            </a:r>
            <a:r>
              <a:rPr lang="en-US" altLang="zh-CN" sz="3600" b="1" kern="100" dirty="0">
                <a:latin typeface="Times New Roman" panose="02020603050405020304" pitchFamily="18" charset="0"/>
                <a:ea typeface="宋体" panose="02010600030101010101" pitchFamily="2" charset="-122"/>
                <a:cs typeface="Times New Roman" panose="02020603050405020304" pitchFamily="18" charset="0"/>
              </a:rPr>
              <a:t>;</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夺去生命</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引起某人的注意</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占一席之地 </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5.</a:t>
            </a:r>
            <a:r>
              <a:rPr kumimoji="1" lang="zh-CN" altLang="en-US" sz="3600" b="1" dirty="0">
                <a:solidFill>
                  <a:srgbClr val="FF0000"/>
                </a:solidFill>
              </a:rPr>
              <a:t>紧随某人之后 </a:t>
            </a:r>
            <a:r>
              <a:rPr kumimoji="1" lang="en-US" altLang="zh-CN" sz="3600" b="1" dirty="0">
                <a:solidFill>
                  <a:srgbClr val="FF0000"/>
                </a:solidFill>
              </a:rPr>
              <a:t>6.</a:t>
            </a:r>
            <a:r>
              <a:rPr kumimoji="1" lang="zh-CN" altLang="en-US" sz="3600" b="1" dirty="0">
                <a:solidFill>
                  <a:srgbClr val="FF0000"/>
                </a:solidFill>
              </a:rPr>
              <a:t>舒了一口气</a:t>
            </a:r>
            <a:r>
              <a:rPr kumimoji="1" lang="en-US" altLang="zh-CN" sz="3600" b="1" dirty="0">
                <a:solidFill>
                  <a:srgbClr val="FF0000"/>
                </a:solidFill>
              </a:rPr>
              <a:t>;</a:t>
            </a:r>
            <a:r>
              <a:rPr kumimoji="1" lang="zh-CN" altLang="en-US" sz="3600" b="1" dirty="0">
                <a:solidFill>
                  <a:srgbClr val="FF0000"/>
                </a:solidFill>
              </a:rPr>
              <a:t>发出叹息 </a:t>
            </a:r>
            <a:r>
              <a:rPr kumimoji="1" lang="en-US" altLang="zh-CN" sz="3600" b="1" dirty="0">
                <a:solidFill>
                  <a:srgbClr val="FF0000"/>
                </a:solidFill>
              </a:rPr>
              <a:t>7.</a:t>
            </a:r>
            <a:r>
              <a:rPr kumimoji="1" lang="zh-CN" altLang="en-US" sz="3600" b="1" dirty="0">
                <a:solidFill>
                  <a:srgbClr val="FF0000"/>
                </a:solidFill>
              </a:rPr>
              <a:t>敢做某事</a:t>
            </a:r>
            <a:r>
              <a:rPr kumimoji="1" lang="en-US" altLang="zh-CN" sz="3600" b="1" dirty="0">
                <a:solidFill>
                  <a:srgbClr val="FF0000"/>
                </a:solidFill>
              </a:rPr>
              <a:t>;</a:t>
            </a:r>
            <a:r>
              <a:rPr kumimoji="1" lang="zh-CN" altLang="en-US" sz="3600" b="1" dirty="0">
                <a:solidFill>
                  <a:srgbClr val="FF0000"/>
                </a:solidFill>
              </a:rPr>
              <a:t>不敢做某事 </a:t>
            </a:r>
            <a:r>
              <a:rPr kumimoji="1" lang="en-US" altLang="zh-CN" sz="3600" b="1" dirty="0"/>
              <a:t>8.</a:t>
            </a:r>
            <a:r>
              <a:rPr kumimoji="1" lang="zh-CN" altLang="en-US" sz="3600" b="1" dirty="0"/>
              <a:t>居住者</a:t>
            </a:r>
            <a:r>
              <a:rPr kumimoji="1" lang="en-US" altLang="zh-CN" sz="3600" b="1" dirty="0"/>
              <a:t>;</a:t>
            </a:r>
            <a:r>
              <a:rPr kumimoji="1" lang="zh-CN" altLang="en-US" sz="3600" b="1" dirty="0"/>
              <a:t>住处</a:t>
            </a:r>
            <a:r>
              <a:rPr kumimoji="1" lang="en-US" altLang="zh-CN" sz="3600" b="1" dirty="0"/>
              <a:t>;</a:t>
            </a:r>
            <a:r>
              <a:rPr kumimoji="1" lang="zh-CN" altLang="en-US" sz="3600" b="1" dirty="0">
                <a:solidFill>
                  <a:srgbClr val="FF0000"/>
                </a:solidFill>
              </a:rPr>
              <a:t>老是想着</a:t>
            </a:r>
            <a:r>
              <a:rPr kumimoji="1" lang="en-US" altLang="zh-CN" sz="3600" b="1" dirty="0">
                <a:solidFill>
                  <a:srgbClr val="FF0000"/>
                </a:solidFill>
              </a:rPr>
              <a:t>/</a:t>
            </a:r>
            <a:r>
              <a:rPr kumimoji="1" lang="zh-CN" altLang="en-US" sz="3600" b="1" dirty="0">
                <a:solidFill>
                  <a:srgbClr val="FF0000"/>
                </a:solidFill>
              </a:rPr>
              <a:t>详述</a:t>
            </a:r>
            <a:r>
              <a:rPr kumimoji="1" lang="en-US" altLang="zh-CN" sz="3600" b="1" dirty="0">
                <a:solidFill>
                  <a:srgbClr val="FF0000"/>
                </a:solidFill>
              </a:rPr>
              <a:t>/</a:t>
            </a:r>
            <a:r>
              <a:rPr kumimoji="1" lang="zh-CN" altLang="en-US" sz="3600" b="1" dirty="0">
                <a:solidFill>
                  <a:srgbClr val="FF0000"/>
                </a:solidFill>
              </a:rPr>
              <a:t>停留在</a:t>
            </a:r>
            <a:r>
              <a:rPr kumimoji="1" lang="en-US" altLang="zh-CN" sz="3600" b="1" dirty="0">
                <a:solidFill>
                  <a:srgbClr val="FF0000"/>
                </a:solidFill>
              </a:rPr>
              <a:t>…</a:t>
            </a:r>
            <a:r>
              <a:rPr kumimoji="1" lang="zh-CN" altLang="en-US" sz="3600" b="1" dirty="0">
                <a:solidFill>
                  <a:srgbClr val="FF0000"/>
                </a:solidFill>
              </a:rPr>
              <a:t>身上 </a:t>
            </a:r>
            <a:r>
              <a:rPr kumimoji="1" lang="en-US" altLang="zh-CN" sz="3600" b="1" dirty="0">
                <a:solidFill>
                  <a:srgbClr val="FF0000"/>
                </a:solidFill>
              </a:rPr>
              <a:t>9.</a:t>
            </a:r>
            <a:r>
              <a:rPr kumimoji="1" lang="zh-CN" altLang="en-US" sz="3600" b="1" dirty="0">
                <a:solidFill>
                  <a:srgbClr val="FF0000"/>
                </a:solidFill>
              </a:rPr>
              <a:t>显著的特征</a:t>
            </a:r>
            <a:r>
              <a:rPr kumimoji="1" lang="en-US" altLang="zh-CN" sz="3600" b="1" dirty="0">
                <a:solidFill>
                  <a:srgbClr val="FF0000"/>
                </a:solidFill>
              </a:rPr>
              <a:t>; strike (__, __) 10.</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描述</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刻画</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的特点</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具有某种特点</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是</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的特点</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;n.</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特质符号人物</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;n.</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特点品质</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adj.</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典型特有的</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11.</a:t>
            </a:r>
            <a:r>
              <a:rPr kumimoji="1" lang="en-US" altLang="zh-CN" sz="3600" b="1" dirty="0">
                <a:solidFill>
                  <a:srgbClr val="FF0000"/>
                </a:solidFill>
              </a:rPr>
              <a:t>n.</a:t>
            </a:r>
            <a:r>
              <a:rPr kumimoji="1" lang="zh-CN" altLang="en-US" sz="3600" b="1" dirty="0">
                <a:solidFill>
                  <a:srgbClr val="FF0000"/>
                </a:solidFill>
              </a:rPr>
              <a:t>儒学</a:t>
            </a:r>
            <a:r>
              <a:rPr kumimoji="1" lang="en-US" altLang="zh-CN" sz="3600" b="1" dirty="0">
                <a:solidFill>
                  <a:srgbClr val="FF0000"/>
                </a:solidFill>
              </a:rPr>
              <a:t>;adj.</a:t>
            </a:r>
            <a:r>
              <a:rPr kumimoji="1" lang="zh-CN" altLang="en-US" sz="3600" b="1" dirty="0">
                <a:solidFill>
                  <a:srgbClr val="FF0000"/>
                </a:solidFill>
              </a:rPr>
              <a:t>孔子</a:t>
            </a:r>
            <a:r>
              <a:rPr kumimoji="1" lang="zh-CN" altLang="en-US" sz="3600" b="1" dirty="0"/>
              <a:t>儒家的</a:t>
            </a:r>
            <a:r>
              <a:rPr kumimoji="1" lang="en-US" altLang="zh-CN" sz="3600" b="1" dirty="0"/>
              <a:t>;</a:t>
            </a:r>
            <a:r>
              <a:rPr kumimoji="1" lang="zh-CN" altLang="en-US" sz="3600" b="1" dirty="0">
                <a:solidFill>
                  <a:srgbClr val="FF0000"/>
                </a:solidFill>
              </a:rPr>
              <a:t>孔子语录 </a:t>
            </a:r>
            <a:r>
              <a:rPr kumimoji="1" lang="en-US" altLang="zh-CN" sz="3600" b="1" dirty="0"/>
              <a:t>12.</a:t>
            </a:r>
            <a:r>
              <a:rPr lang="en-US" altLang="zh-CN" sz="3600" b="1" kern="1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adj.</a:t>
            </a:r>
            <a:r>
              <a:rPr lang="zh-CN" altLang="en-US" sz="3600" b="1" kern="1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传说中的</a:t>
            </a:r>
            <a:r>
              <a:rPr kumimoji="1" lang="en-US" altLang="zh-CN" sz="3600" b="1" kern="100" dirty="0">
                <a:latin typeface="Times New Roman" panose="02020603050405020304" pitchFamily="18" charset="0"/>
                <a:ea typeface="宋体" panose="02010600030101010101" pitchFamily="2" charset="-122"/>
                <a:cs typeface="Times New Roman" panose="02020603050405020304" pitchFamily="18" charset="0"/>
              </a:rPr>
              <a:t>;</a:t>
            </a:r>
            <a:r>
              <a:rPr kumimoji="1" lang="zh-CN" altLang="en-US" sz="3600" b="1" dirty="0">
                <a:solidFill>
                  <a:srgbClr val="FF0000"/>
                </a:solidFill>
              </a:rPr>
              <a:t>传说 </a:t>
            </a:r>
            <a:r>
              <a:rPr kumimoji="1" lang="en-US" altLang="zh-CN" sz="3600" b="1" dirty="0">
                <a:solidFill>
                  <a:srgbClr val="FF0000"/>
                </a:solidFill>
              </a:rPr>
              <a:t>13.</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偶然碰到遭遇</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秘密非法地</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14.</a:t>
            </a:r>
            <a:r>
              <a:rPr kumimoji="1" lang="en-US" altLang="zh-CN" sz="3600" b="1" dirty="0">
                <a:solidFill>
                  <a:srgbClr val="FF0000"/>
                </a:solidFill>
              </a:rPr>
              <a:t>v.</a:t>
            </a:r>
            <a:r>
              <a:rPr kumimoji="1" lang="zh-CN" altLang="en-US" sz="3600" b="1" dirty="0">
                <a:solidFill>
                  <a:srgbClr val="FF0000"/>
                </a:solidFill>
              </a:rPr>
              <a:t>养育培养</a:t>
            </a:r>
            <a:r>
              <a:rPr kumimoji="1" lang="en-US" altLang="zh-CN" sz="3600" b="1" dirty="0">
                <a:solidFill>
                  <a:srgbClr val="FF0000"/>
                </a:solidFill>
              </a:rPr>
              <a:t>;</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adj.</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营养丰富的</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3600" b="1" kern="1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n.</a:t>
            </a:r>
            <a:r>
              <a:rPr lang="zh-CN" altLang="en-US" sz="3600" b="1" kern="1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营养食物</a:t>
            </a:r>
            <a:r>
              <a:rPr lang="en-US" altLang="zh-CN" sz="3600" b="1" kern="1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 15.</a:t>
            </a:r>
            <a:r>
              <a:rPr kumimoji="1" lang="zh-CN" altLang="en-US" sz="3600" b="1" dirty="0">
                <a:solidFill>
                  <a:srgbClr val="FF0000"/>
                </a:solidFill>
              </a:rPr>
              <a:t>在诸多场合 </a:t>
            </a:r>
            <a:r>
              <a:rPr kumimoji="1" lang="en-US" altLang="zh-CN" sz="3600" b="1" dirty="0"/>
              <a:t>16.</a:t>
            </a:r>
            <a:r>
              <a:rPr lang="zh-CN" altLang="en-US" sz="3600" b="1" kern="100" dirty="0">
                <a:latin typeface="Times New Roman" panose="02020603050405020304" pitchFamily="18" charset="0"/>
                <a:ea typeface="宋体" panose="02010600030101010101" pitchFamily="2" charset="-122"/>
                <a:cs typeface="Times New Roman" panose="02020603050405020304" pitchFamily="18" charset="0"/>
              </a:rPr>
              <a:t>光荣的</a:t>
            </a:r>
            <a:r>
              <a:rPr lang="en-US" altLang="zh-CN" sz="3600" b="1" kern="100" dirty="0">
                <a:latin typeface="Times New Roman" panose="02020603050405020304" pitchFamily="18" charset="0"/>
                <a:ea typeface="宋体" panose="02010600030101010101" pitchFamily="2" charset="-122"/>
                <a:cs typeface="Times New Roman" panose="02020603050405020304" pitchFamily="18" charset="0"/>
              </a:rPr>
              <a:t>;n.</a:t>
            </a:r>
            <a:r>
              <a:rPr lang="zh-CN" altLang="zh-CN" sz="3600" b="1" kern="100" dirty="0">
                <a:latin typeface="Times New Roman" panose="02020603050405020304" pitchFamily="18" charset="0"/>
                <a:ea typeface="宋体" panose="02010600030101010101" pitchFamily="2" charset="-122"/>
                <a:cs typeface="Times New Roman" panose="02020603050405020304" pitchFamily="18" charset="0"/>
              </a:rPr>
              <a:t>光荣</a:t>
            </a:r>
            <a:r>
              <a:rPr lang="en-US" altLang="zh-CN" sz="3600" b="1" kern="100" dirty="0">
                <a:latin typeface="Times New Roman" panose="02020603050405020304" pitchFamily="18" charset="0"/>
                <a:ea typeface="宋体" panose="02010600030101010101" pitchFamily="2" charset="-122"/>
                <a:cs typeface="Times New Roman" panose="02020603050405020304" pitchFamily="18" charset="0"/>
              </a:rPr>
              <a:t> 17.…</a:t>
            </a:r>
            <a:r>
              <a:rPr lang="zh-CN" altLang="zh-CN" sz="3600" b="1" kern="100" dirty="0">
                <a:latin typeface="Times New Roman" panose="02020603050405020304" pitchFamily="18" charset="0"/>
                <a:ea typeface="宋体" panose="02010600030101010101" pitchFamily="2" charset="-122"/>
                <a:cs typeface="Times New Roman" panose="02020603050405020304" pitchFamily="18" charset="0"/>
              </a:rPr>
              <a:t>的剧增</a:t>
            </a:r>
            <a:r>
              <a:rPr lang="en-US" altLang="zh-CN" sz="3600" b="1" kern="1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人口激增</a:t>
            </a:r>
            <a:r>
              <a:rPr lang="en-US" altLang="zh-CN" sz="3600" b="1" kern="100" dirty="0">
                <a:latin typeface="Times New Roman" panose="02020603050405020304" pitchFamily="18" charset="0"/>
                <a:ea typeface="宋体" panose="02010600030101010101" pitchFamily="2" charset="-122"/>
                <a:cs typeface="Times New Roman" panose="02020603050405020304" pitchFamily="18" charset="0"/>
              </a:rPr>
              <a:t>18.n.</a:t>
            </a:r>
            <a:r>
              <a:rPr lang="zh-CN" altLang="zh-CN" sz="3600" b="1" kern="100" dirty="0">
                <a:latin typeface="Times New Roman" panose="02020603050405020304" pitchFamily="18" charset="0"/>
                <a:ea typeface="宋体" panose="02010600030101010101" pitchFamily="2" charset="-122"/>
                <a:cs typeface="Times New Roman" panose="02020603050405020304" pitchFamily="18" charset="0"/>
              </a:rPr>
              <a:t>稳定性</a:t>
            </a:r>
            <a:r>
              <a:rPr lang="en-US" altLang="zh-CN" sz="3600" b="1" kern="1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v.</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使</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稳定</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;adj.</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稳定的</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3600" b="1" kern="100" dirty="0">
                <a:latin typeface="Times New Roman" panose="02020603050405020304" pitchFamily="18" charset="0"/>
                <a:ea typeface="宋体" panose="02010600030101010101" pitchFamily="2" charset="-122"/>
                <a:cs typeface="Times New Roman" panose="02020603050405020304" pitchFamily="18" charset="0"/>
              </a:rPr>
              <a:t>adv. </a:t>
            </a:r>
            <a:endParaRPr lang="zh-CN" altLang="en-US" sz="3600" b="1" dirty="0">
              <a:solidFill>
                <a:srgbClr val="FF0000"/>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fontScale="92500" lnSpcReduction="10000"/>
          </a:bodyPr>
          <a:lstStyle/>
          <a:p>
            <a:endParaRPr lang="en-US" altLang="zh-CN" sz="3600" b="1" kern="100" dirty="0">
              <a:latin typeface="Times New Roman" panose="02020603050405020304" pitchFamily="18" charset="0"/>
              <a:ea typeface="宋体" panose="02010600030101010101" pitchFamily="2" charset="-122"/>
              <a:cs typeface="Times New Roman" panose="02020603050405020304" pitchFamily="18" charset="0"/>
              <a:sym typeface="+mn-ea"/>
            </a:endParaRPr>
          </a:p>
          <a:p>
            <a:r>
              <a:rPr lang="en-US" altLang="zh-CN" sz="3600" b="1" kern="100" dirty="0">
                <a:latin typeface="Times New Roman" panose="02020603050405020304" pitchFamily="18" charset="0"/>
                <a:ea typeface="宋体" panose="02010600030101010101" pitchFamily="2" charset="-122"/>
                <a:cs typeface="Times New Roman" panose="02020603050405020304" pitchFamily="18" charset="0"/>
                <a:sym typeface="+mn-ea"/>
              </a:rPr>
              <a:t>19.</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容忍做某事</a:t>
            </a:r>
            <a:r>
              <a:rPr lang="en-US" altLang="zh-CN" sz="3600" b="1" kern="100" dirty="0">
                <a:latin typeface="Times New Roman" panose="02020603050405020304" pitchFamily="18" charset="0"/>
                <a:ea typeface="宋体" panose="02010600030101010101" pitchFamily="2" charset="-122"/>
                <a:cs typeface="Times New Roman" panose="02020603050405020304" pitchFamily="18" charset="0"/>
                <a:sym typeface="+mn-ea"/>
              </a:rPr>
              <a:t>20.</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剥夺某人的自由</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可以随意做某事</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慷慨给予某物</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21.</a:t>
            </a:r>
            <a:r>
              <a:rPr kumimoji="1" lang="en-US" altLang="zh-CN" sz="3600" b="1" dirty="0">
                <a:solidFill>
                  <a:srgbClr val="FF0000"/>
                </a:solidFill>
              </a:rPr>
              <a:t>adj.</a:t>
            </a:r>
            <a:r>
              <a:rPr kumimoji="1" lang="zh-CN" altLang="en-US" sz="3600" b="1" dirty="0">
                <a:solidFill>
                  <a:srgbClr val="FF0000"/>
                </a:solidFill>
              </a:rPr>
              <a:t>不受拘束的</a:t>
            </a:r>
            <a:r>
              <a:rPr kumimoji="1" lang="en-US" altLang="zh-CN" sz="3600" b="1" dirty="0">
                <a:solidFill>
                  <a:srgbClr val="FF0000"/>
                </a:solidFill>
              </a:rPr>
              <a:t>;</a:t>
            </a:r>
            <a:r>
              <a:rPr kumimoji="1" lang="zh-CN" altLang="en-US" sz="3600" b="1" dirty="0"/>
              <a:t>限制某人做某事 </a:t>
            </a:r>
            <a:r>
              <a:rPr kumimoji="1" lang="en-US" altLang="zh-CN" sz="3600" b="1" dirty="0"/>
              <a:t>22.</a:t>
            </a:r>
            <a:r>
              <a:rPr kumimoji="1" lang="zh-CN" altLang="en-US" sz="3600" b="1" dirty="0">
                <a:solidFill>
                  <a:srgbClr val="FF0000"/>
                </a:solidFill>
              </a:rPr>
              <a:t>朝气蓬勃</a:t>
            </a:r>
            <a:r>
              <a:rPr kumimoji="1" lang="en-US" altLang="zh-CN" sz="3600" b="1" dirty="0"/>
              <a:t>;</a:t>
            </a:r>
            <a:r>
              <a:rPr kumimoji="1" lang="en-US" altLang="zh-CN" sz="3600" b="1" dirty="0">
                <a:solidFill>
                  <a:srgbClr val="FF0000"/>
                </a:solidFill>
              </a:rPr>
              <a:t>…</a:t>
            </a:r>
            <a:r>
              <a:rPr kumimoji="1" lang="zh-CN" altLang="en-US" sz="3600" b="1" dirty="0">
                <a:solidFill>
                  <a:srgbClr val="FF0000"/>
                </a:solidFill>
              </a:rPr>
              <a:t>是极其重要的</a:t>
            </a:r>
            <a:r>
              <a:rPr kumimoji="1" lang="en-US" altLang="zh-CN" sz="3600" b="1" dirty="0">
                <a:solidFill>
                  <a:srgbClr val="FF0000"/>
                </a:solidFill>
              </a:rPr>
              <a:t>;</a:t>
            </a:r>
            <a:r>
              <a:rPr kumimoji="1" lang="zh-CN" altLang="en-US" sz="3600" b="1" dirty="0">
                <a:solidFill>
                  <a:srgbClr val="FF0000"/>
                </a:solidFill>
              </a:rPr>
              <a:t>起着至关重要的作用 </a:t>
            </a:r>
            <a:r>
              <a:rPr kumimoji="1" lang="en-US" altLang="zh-CN" sz="3600" b="1" dirty="0">
                <a:solidFill>
                  <a:srgbClr val="FF0000"/>
                </a:solidFill>
              </a:rPr>
              <a:t>23.</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区分</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和</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B;</a:t>
            </a:r>
            <a:r>
              <a:rPr lang="zh-CN" altLang="zh-CN" sz="3600" b="1" u="sng"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享有盛名</a:t>
            </a:r>
            <a:r>
              <a:rPr lang="en-US" altLang="zh-CN" sz="3600" b="1" u="sng"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adj.</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卓越的</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600" b="1" dirty="0"/>
              <a:t>adj.</a:t>
            </a:r>
            <a:r>
              <a:rPr kumimoji="1" lang="zh-CN" altLang="en-US" sz="3600" b="1" dirty="0"/>
              <a:t>可辨认出的</a:t>
            </a:r>
            <a:r>
              <a:rPr kumimoji="1" lang="en-US" altLang="zh-CN" sz="3600" b="1" dirty="0"/>
              <a:t>;</a:t>
            </a:r>
            <a:r>
              <a:rPr kumimoji="1" lang="zh-CN" altLang="en-US" sz="3600" b="1" dirty="0">
                <a:solidFill>
                  <a:srgbClr val="FF0000"/>
                </a:solidFill>
              </a:rPr>
              <a:t>把</a:t>
            </a:r>
            <a:r>
              <a:rPr kumimoji="1" lang="en-US" altLang="zh-CN" sz="3600" b="1" dirty="0">
                <a:solidFill>
                  <a:srgbClr val="FF0000"/>
                </a:solidFill>
              </a:rPr>
              <a:t>…</a:t>
            </a:r>
            <a:r>
              <a:rPr kumimoji="1" lang="zh-CN" altLang="en-US" sz="3600" b="1" dirty="0">
                <a:solidFill>
                  <a:srgbClr val="FF0000"/>
                </a:solidFill>
              </a:rPr>
              <a:t>和</a:t>
            </a:r>
            <a:r>
              <a:rPr kumimoji="1" lang="en-US" altLang="zh-CN" sz="3600" b="1" dirty="0">
                <a:solidFill>
                  <a:srgbClr val="FF0000"/>
                </a:solidFill>
              </a:rPr>
              <a:t>…</a:t>
            </a:r>
            <a:r>
              <a:rPr kumimoji="1" lang="zh-CN" altLang="en-US" sz="3600" b="1" dirty="0">
                <a:solidFill>
                  <a:srgbClr val="FF0000"/>
                </a:solidFill>
              </a:rPr>
              <a:t>区别开</a:t>
            </a:r>
            <a:r>
              <a:rPr kumimoji="1" lang="en-US" altLang="zh-CN" sz="3600" b="1" dirty="0">
                <a:solidFill>
                  <a:srgbClr val="FF0000"/>
                </a:solidFill>
              </a:rPr>
              <a:t>;</a:t>
            </a:r>
            <a:r>
              <a:rPr kumimoji="1" lang="zh-CN" altLang="en-US" sz="3600" b="1" dirty="0">
                <a:solidFill>
                  <a:srgbClr val="FF0000"/>
                </a:solidFill>
              </a:rPr>
              <a:t>优秀作家</a:t>
            </a:r>
            <a:r>
              <a:rPr kumimoji="1" lang="en-US" altLang="zh-CN" sz="3600" b="1" dirty="0">
                <a:solidFill>
                  <a:srgbClr val="FF0000"/>
                </a:solidFill>
              </a:rPr>
              <a:t>;</a:t>
            </a:r>
            <a:r>
              <a:rPr kumimoji="1" lang="zh-CN" altLang="en-US" sz="3600" b="1" dirty="0">
                <a:solidFill>
                  <a:srgbClr val="FF0000"/>
                </a:solidFill>
              </a:rPr>
              <a:t>是某物的特点</a:t>
            </a:r>
            <a:r>
              <a:rPr kumimoji="1" lang="en-US" altLang="zh-CN" sz="3600" b="1" dirty="0">
                <a:solidFill>
                  <a:srgbClr val="FF0000"/>
                </a:solidFill>
              </a:rPr>
              <a:t>;</a:t>
            </a:r>
            <a:r>
              <a:rPr kumimoji="1" lang="zh-CN" altLang="en-US" sz="3600" b="1" dirty="0">
                <a:solidFill>
                  <a:srgbClr val="FF0000"/>
                </a:solidFill>
              </a:rPr>
              <a:t>与某事物不同</a:t>
            </a:r>
            <a:r>
              <a:rPr kumimoji="1" lang="en-US" altLang="zh-CN" sz="3600" b="1" dirty="0">
                <a:solidFill>
                  <a:srgbClr val="FF0000"/>
                </a:solidFill>
              </a:rPr>
              <a:t> 24.n.</a:t>
            </a:r>
            <a:r>
              <a:rPr kumimoji="1" lang="zh-CN" altLang="en-US" sz="3600" b="1" dirty="0"/>
              <a:t>夸大</a:t>
            </a:r>
            <a:r>
              <a:rPr kumimoji="1" lang="en-US" altLang="zh-CN" sz="3600" b="1" dirty="0"/>
              <a:t>;</a:t>
            </a:r>
            <a:r>
              <a:rPr kumimoji="1" lang="en-US" altLang="zh-CN" sz="3600" b="1" dirty="0">
                <a:solidFill>
                  <a:srgbClr val="FF0000"/>
                </a:solidFill>
              </a:rPr>
              <a:t>v.</a:t>
            </a:r>
            <a:r>
              <a:rPr kumimoji="1" lang="zh-CN" altLang="en-US" sz="3600" b="1" dirty="0"/>
              <a:t>夸大</a:t>
            </a:r>
            <a:r>
              <a:rPr kumimoji="1" lang="en-US" altLang="zh-CN" sz="3600" b="1" dirty="0"/>
              <a:t>;</a:t>
            </a:r>
            <a:r>
              <a:rPr kumimoji="1" lang="en-US" altLang="zh-CN" sz="3600" b="1" dirty="0">
                <a:solidFill>
                  <a:srgbClr val="FF0000"/>
                </a:solidFill>
              </a:rPr>
              <a:t>adj</a:t>
            </a:r>
            <a:r>
              <a:rPr kumimoji="1" lang="en-US" altLang="zh-CN" sz="3600" b="1" dirty="0"/>
              <a:t>.</a:t>
            </a:r>
            <a:r>
              <a:rPr kumimoji="1" lang="zh-CN" altLang="en-US" sz="3600" b="1" dirty="0"/>
              <a:t>夸张的</a:t>
            </a:r>
            <a:r>
              <a:rPr kumimoji="1" lang="en-US" altLang="zh-CN" sz="3600" b="1" dirty="0"/>
              <a:t> </a:t>
            </a:r>
          </a:p>
          <a:p>
            <a:r>
              <a:rPr kumimoji="1" lang="en-US" altLang="zh-CN" sz="3600" b="1" dirty="0"/>
              <a:t>25.</a:t>
            </a:r>
            <a:r>
              <a:rPr kumimoji="1" lang="zh-CN" altLang="en-US" sz="3600" b="1" dirty="0">
                <a:solidFill>
                  <a:srgbClr val="FF0000"/>
                </a:solidFill>
              </a:rPr>
              <a:t>隐喻</a:t>
            </a:r>
            <a:r>
              <a:rPr kumimoji="1" lang="en-US" altLang="zh-CN" sz="3600" b="1" dirty="0"/>
              <a:t>;</a:t>
            </a:r>
            <a:r>
              <a:rPr kumimoji="1" lang="zh-CN" altLang="en-US" sz="3600" b="1" dirty="0">
                <a:solidFill>
                  <a:srgbClr val="FF0000"/>
                </a:solidFill>
              </a:rPr>
              <a:t>明喻 </a:t>
            </a:r>
            <a:r>
              <a:rPr kumimoji="1" lang="en-US" altLang="zh-CN" sz="3600" b="1" dirty="0">
                <a:solidFill>
                  <a:srgbClr val="FF0000"/>
                </a:solidFill>
              </a:rPr>
              <a:t>26.</a:t>
            </a:r>
            <a:r>
              <a:rPr lang="zh-CN" altLang="zh-CN" sz="3600" b="1" kern="1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3600" b="1" kern="100" dirty="0">
                <a:latin typeface="Times New Roman" panose="02020603050405020304" pitchFamily="18" charset="0"/>
                <a:ea typeface="宋体" panose="02010600030101010101" pitchFamily="2" charset="-122"/>
                <a:cs typeface="Times New Roman" panose="02020603050405020304" pitchFamily="18" charset="0"/>
              </a:rPr>
              <a:t>…</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的代表</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把</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描绘成</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3600" b="1" kern="100" dirty="0">
                <a:latin typeface="Times New Roman" panose="02020603050405020304" pitchFamily="18" charset="0"/>
                <a:ea typeface="宋体" panose="02010600030101010101" pitchFamily="2" charset="-122"/>
                <a:cs typeface="Times New Roman" panose="02020603050405020304" pitchFamily="18" charset="0"/>
              </a:rPr>
              <a:t> n.</a:t>
            </a:r>
            <a:r>
              <a:rPr lang="zh-CN" altLang="zh-CN" sz="3600" b="1" kern="100" dirty="0">
                <a:latin typeface="Times New Roman" panose="02020603050405020304" pitchFamily="18" charset="0"/>
                <a:ea typeface="宋体" panose="02010600030101010101" pitchFamily="2" charset="-122"/>
                <a:cs typeface="Times New Roman" panose="02020603050405020304" pitchFamily="18" charset="0"/>
              </a:rPr>
              <a:t>描述</a:t>
            </a:r>
            <a:r>
              <a:rPr lang="en-US" altLang="zh-CN" sz="3600" b="1" kern="100" dirty="0">
                <a:latin typeface="Times New Roman" panose="02020603050405020304" pitchFamily="18" charset="0"/>
                <a:ea typeface="宋体" panose="02010600030101010101" pitchFamily="2" charset="-122"/>
                <a:cs typeface="Times New Roman" panose="02020603050405020304" pitchFamily="18" charset="0"/>
              </a:rPr>
              <a:t>/</a:t>
            </a:r>
            <a:r>
              <a:rPr lang="zh-CN" altLang="zh-CN" sz="3600" b="1" kern="100" dirty="0">
                <a:latin typeface="Times New Roman" panose="02020603050405020304" pitchFamily="18" charset="0"/>
                <a:ea typeface="宋体" panose="02010600030101010101" pitchFamily="2" charset="-122"/>
                <a:cs typeface="Times New Roman" panose="02020603050405020304" pitchFamily="18" charset="0"/>
              </a:rPr>
              <a:t>表现</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p>
          <a:p>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27.</a:t>
            </a:r>
            <a:r>
              <a:rPr kumimoji="1" lang="en-US" altLang="zh-CN" sz="3600" b="1" dirty="0">
                <a:solidFill>
                  <a:srgbClr val="FF0000"/>
                </a:solidFill>
              </a:rPr>
              <a:t>n.</a:t>
            </a:r>
            <a:r>
              <a:rPr kumimoji="1" lang="zh-CN" altLang="en-US" sz="3600" b="1" dirty="0">
                <a:solidFill>
                  <a:srgbClr val="FF0000"/>
                </a:solidFill>
              </a:rPr>
              <a:t>霜冻期</a:t>
            </a:r>
            <a:r>
              <a:rPr kumimoji="1" lang="en-US" altLang="zh-CN" sz="3600" b="1" dirty="0">
                <a:solidFill>
                  <a:srgbClr val="FF0000"/>
                </a:solidFill>
              </a:rPr>
              <a:t>;adj.</a:t>
            </a:r>
            <a:r>
              <a:rPr kumimoji="1" lang="zh-CN" altLang="en-US" sz="3600" b="1" dirty="0">
                <a:solidFill>
                  <a:srgbClr val="FF0000"/>
                </a:solidFill>
              </a:rPr>
              <a:t>严寒结霜的</a:t>
            </a:r>
            <a:r>
              <a:rPr kumimoji="1" lang="en-US" altLang="zh-CN" sz="3600" b="1" dirty="0">
                <a:solidFill>
                  <a:srgbClr val="FF0000"/>
                </a:solidFill>
              </a:rPr>
              <a:t>;</a:t>
            </a:r>
            <a:r>
              <a:rPr kumimoji="1" lang="zh-CN" altLang="en-US" sz="3600" b="1" dirty="0">
                <a:solidFill>
                  <a:srgbClr val="FF0000"/>
                </a:solidFill>
              </a:rPr>
              <a:t>冻伤</a:t>
            </a:r>
            <a:r>
              <a:rPr kumimoji="1" lang="en-US" altLang="zh-CN" sz="3600" b="1" dirty="0">
                <a:solidFill>
                  <a:srgbClr val="FF0000"/>
                </a:solidFill>
              </a:rPr>
              <a:t> 28.</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使人对某物有新的认识</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给</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蒙上一层阴影</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使人怀疑</a:t>
            </a:r>
            <a:r>
              <a:rPr lang="en-US" altLang="zh-CN" sz="3600" b="1" kern="100" dirty="0">
                <a:latin typeface="Times New Roman" panose="02020603050405020304" pitchFamily="18" charset="0"/>
                <a:ea typeface="宋体" panose="02010600030101010101" pitchFamily="2" charset="-122"/>
                <a:cs typeface="Times New Roman" panose="02020603050405020304" pitchFamily="18" charset="0"/>
              </a:rPr>
              <a:t>;</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扮演</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(__,__) 29.</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欠债</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账</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情</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认为自己应该做某事</a:t>
            </a:r>
            <a:r>
              <a:rPr lang="en-US" altLang="zh-CN" sz="3600" b="1" kern="100" dirty="0">
                <a:latin typeface="Times New Roman" panose="02020603050405020304" pitchFamily="18" charset="0"/>
                <a:ea typeface="宋体" panose="02010600030101010101" pitchFamily="2" charset="-122"/>
                <a:cs typeface="Times New Roman" panose="02020603050405020304" pitchFamily="18" charset="0"/>
              </a:rPr>
              <a:t>;</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归因于</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由于因为 </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30.</a:t>
            </a:r>
            <a:r>
              <a:rPr kumimoji="1" lang="zh-CN" altLang="en-US" sz="3600" b="1" dirty="0">
                <a:solidFill>
                  <a:srgbClr val="FF0000"/>
                </a:solidFill>
              </a:rPr>
              <a:t>付清欠款</a:t>
            </a:r>
            <a:r>
              <a:rPr kumimoji="1" lang="en-US" altLang="zh-CN" sz="3600" b="1" dirty="0">
                <a:solidFill>
                  <a:srgbClr val="FF0000"/>
                </a:solidFill>
              </a:rPr>
              <a:t>;</a:t>
            </a:r>
            <a:r>
              <a:rPr kumimoji="1" lang="zh-CN" altLang="en-US" sz="3600" b="1" dirty="0">
                <a:solidFill>
                  <a:srgbClr val="FF0000"/>
                </a:solidFill>
              </a:rPr>
              <a:t>不负债</a:t>
            </a:r>
            <a:r>
              <a:rPr kumimoji="1" lang="en-US" altLang="zh-CN" sz="3600" b="1" dirty="0">
                <a:solidFill>
                  <a:srgbClr val="FF0000"/>
                </a:solidFill>
              </a:rPr>
              <a:t>;</a:t>
            </a:r>
            <a:r>
              <a:rPr kumimoji="1" lang="zh-CN" altLang="en-US" sz="3600" b="1" u="sng" dirty="0">
                <a:solidFill>
                  <a:srgbClr val="FF0000"/>
                </a:solidFill>
              </a:rPr>
              <a:t>欠债 </a:t>
            </a:r>
            <a:r>
              <a:rPr kumimoji="1" lang="en-US" altLang="zh-CN" sz="3600" b="1" u="sng" dirty="0">
                <a:solidFill>
                  <a:srgbClr val="FF0000"/>
                </a:solidFill>
              </a:rPr>
              <a:t>31.</a:t>
            </a:r>
            <a:r>
              <a:rPr lang="en-US" altLang="zh-CN" sz="3600" b="1" kern="100" dirty="0">
                <a:latin typeface="Times New Roman" panose="02020603050405020304" pitchFamily="18" charset="0"/>
                <a:ea typeface="宋体" panose="02010600030101010101" pitchFamily="2" charset="-122"/>
                <a:cs typeface="Times New Roman" panose="02020603050405020304" pitchFamily="18" charset="0"/>
              </a:rPr>
              <a:t>v.</a:t>
            </a:r>
            <a:r>
              <a:rPr lang="zh-CN" altLang="zh-CN" sz="3600" b="1" kern="100" dirty="0">
                <a:latin typeface="Times New Roman" panose="02020603050405020304" pitchFamily="18" charset="0"/>
                <a:ea typeface="宋体" panose="02010600030101010101" pitchFamily="2" charset="-122"/>
                <a:cs typeface="Times New Roman" panose="02020603050405020304" pitchFamily="18" charset="0"/>
              </a:rPr>
              <a:t>迷住</a:t>
            </a:r>
            <a:r>
              <a:rPr lang="en-US" altLang="zh-CN" sz="3600" b="1" kern="100" dirty="0">
                <a:latin typeface="Times New Roman" panose="02020603050405020304" pitchFamily="18" charset="0"/>
                <a:ea typeface="宋体" panose="02010600030101010101" pitchFamily="2" charset="-122"/>
                <a:cs typeface="Times New Roman" panose="02020603050405020304" pitchFamily="18" charset="0"/>
              </a:rPr>
              <a:t>;adj.</a:t>
            </a:r>
            <a:r>
              <a:rPr lang="zh-CN" altLang="zh-CN" sz="3600" b="1" kern="100" dirty="0">
                <a:latin typeface="Times New Roman" panose="02020603050405020304" pitchFamily="18" charset="0"/>
                <a:ea typeface="宋体" panose="02010600030101010101" pitchFamily="2" charset="-122"/>
                <a:cs typeface="Times New Roman" panose="02020603050405020304" pitchFamily="18" charset="0"/>
              </a:rPr>
              <a:t>入迷的</a:t>
            </a:r>
            <a:r>
              <a:rPr lang="en-US" altLang="zh-CN" sz="3600" b="1" kern="100" dirty="0">
                <a:latin typeface="Times New Roman" panose="02020603050405020304" pitchFamily="18" charset="0"/>
                <a:ea typeface="宋体" panose="02010600030101010101" pitchFamily="2" charset="-122"/>
                <a:cs typeface="Times New Roman" panose="02020603050405020304" pitchFamily="18" charset="0"/>
              </a:rPr>
              <a:t>;adj.</a:t>
            </a:r>
            <a:r>
              <a:rPr lang="zh-CN" altLang="zh-CN" sz="3600" b="1" kern="100" dirty="0">
                <a:latin typeface="Times New Roman" panose="02020603050405020304" pitchFamily="18" charset="0"/>
                <a:ea typeface="宋体" panose="02010600030101010101" pitchFamily="2" charset="-122"/>
                <a:cs typeface="Times New Roman" panose="02020603050405020304" pitchFamily="18" charset="0"/>
              </a:rPr>
              <a:t>迷人的</a:t>
            </a:r>
            <a:r>
              <a:rPr lang="en-US" altLang="zh-CN" sz="3600" b="1" kern="100" dirty="0">
                <a:latin typeface="Times New Roman" panose="02020603050405020304" pitchFamily="18" charset="0"/>
                <a:ea typeface="宋体" panose="02010600030101010101" pitchFamily="2" charset="-122"/>
                <a:cs typeface="Times New Roman" panose="02020603050405020304" pitchFamily="18" charset="0"/>
              </a:rPr>
              <a:t>;n.</a:t>
            </a:r>
            <a:r>
              <a:rPr lang="zh-CN" altLang="zh-CN" sz="3600" b="1" kern="100" dirty="0">
                <a:latin typeface="Times New Roman" panose="02020603050405020304" pitchFamily="18" charset="0"/>
                <a:ea typeface="宋体" panose="02010600030101010101" pitchFamily="2" charset="-122"/>
                <a:cs typeface="Times New Roman" panose="02020603050405020304" pitchFamily="18" charset="0"/>
              </a:rPr>
              <a:t>吸引力入迷</a:t>
            </a:r>
            <a:r>
              <a:rPr kumimoji="1" lang="en-US" altLang="zh-CN" sz="3600" b="1" kern="100" dirty="0"/>
              <a:t> 32.</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使享有权利</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标</a:t>
            </a:r>
            <a:r>
              <a:rPr lang="zh-CN" altLang="en-US" sz="3600" b="1" u="sng"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题</a:t>
            </a:r>
            <a:r>
              <a:rPr lang="zh-CN" altLang="en-US" sz="3600" b="1" kern="100" dirty="0">
                <a:latin typeface="Times New Roman" panose="02020603050405020304" pitchFamily="18" charset="0"/>
                <a:ea typeface="宋体" panose="02010600030101010101" pitchFamily="2" charset="-122"/>
                <a:cs typeface="Times New Roman" panose="02020603050405020304" pitchFamily="18" charset="0"/>
              </a:rPr>
              <a:t>是</a:t>
            </a:r>
            <a:r>
              <a:rPr lang="en-US" altLang="zh-CN" sz="3600" b="1" kern="1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n.</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权利 </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33.</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因某事责备某人</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把某事归咎于某人</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因某事而受到责备</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34.</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考虑到体谅</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600" b="1" kern="1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补贴</a:t>
            </a:r>
            <a:r>
              <a:rPr lang="en-US" altLang="zh-CN" sz="3600" b="1" kern="1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行李限重</a:t>
            </a:r>
            <a:r>
              <a:rPr lang="en-US" altLang="zh-CN" sz="3600" b="1" kern="1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容许</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的发生</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允许某人做某事 </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35.</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战胜</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打败某人</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物</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因</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而狂喜</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36.</a:t>
            </a:r>
            <a:r>
              <a:rPr kumimoji="1" lang="en-US" altLang="zh-CN" sz="3600" b="1" dirty="0">
                <a:solidFill>
                  <a:srgbClr val="FF0000"/>
                </a:solidFill>
              </a:rPr>
              <a:t>adj.</a:t>
            </a:r>
            <a:r>
              <a:rPr kumimoji="1" lang="zh-CN" altLang="en-US" sz="3600" b="1" dirty="0">
                <a:solidFill>
                  <a:srgbClr val="FF0000"/>
                </a:solidFill>
              </a:rPr>
              <a:t>不可原谅人棘手的</a:t>
            </a:r>
            <a:r>
              <a:rPr kumimoji="1" lang="en-US" altLang="zh-CN" sz="3600" b="1" dirty="0">
                <a:solidFill>
                  <a:srgbClr val="FF0000"/>
                </a:solidFill>
              </a:rPr>
              <a:t>;adj.</a:t>
            </a:r>
            <a:r>
              <a:rPr kumimoji="1" lang="zh-CN" altLang="en-US" sz="3600" b="1" dirty="0">
                <a:solidFill>
                  <a:srgbClr val="FF0000"/>
                </a:solidFill>
              </a:rPr>
              <a:t>宽容的</a:t>
            </a:r>
            <a:r>
              <a:rPr kumimoji="1" lang="en-US" altLang="zh-CN" sz="3600" b="1" dirty="0">
                <a:solidFill>
                  <a:srgbClr val="FF0000"/>
                </a:solidFill>
              </a:rPr>
              <a:t>;</a:t>
            </a:r>
            <a:r>
              <a:rPr kumimoji="1" lang="zh-CN" altLang="zh-CN" sz="3600" b="1" dirty="0">
                <a:solidFill>
                  <a:srgbClr val="FF0000"/>
                </a:solidFill>
              </a:rPr>
              <a:t> </a:t>
            </a:r>
            <a:r>
              <a:rPr kumimoji="1" lang="en-US" altLang="zh-CN" sz="3600" b="1" dirty="0">
                <a:solidFill>
                  <a:srgbClr val="FF0000"/>
                </a:solidFill>
              </a:rPr>
              <a:t>forgive (__, __);</a:t>
            </a:r>
            <a:r>
              <a:rPr kumimoji="1" lang="zh-CN" altLang="en-US" sz="3600" b="1" dirty="0">
                <a:solidFill>
                  <a:srgbClr val="FF0000"/>
                </a:solidFill>
              </a:rPr>
              <a:t>原谅某人做</a:t>
            </a:r>
            <a:endParaRPr lang="zh-CN" altLang="zh-CN" sz="3600" b="1" kern="100" dirty="0">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lnSpcReduction="10000"/>
          </a:bodyPr>
          <a:lstStyle/>
          <a:p>
            <a:pPr lvl="0"/>
            <a:r>
              <a:rPr lang="en-US" altLang="zh-CN" sz="3600" b="1" dirty="0">
                <a:solidFill>
                  <a:srgbClr val="FF0000"/>
                </a:solidFill>
              </a:rPr>
              <a:t>U4</a:t>
            </a:r>
            <a:r>
              <a:rPr lang="zh-CN" altLang="en-US" sz="3600" b="1" dirty="0">
                <a:solidFill>
                  <a:srgbClr val="FF0000"/>
                </a:solidFill>
              </a:rPr>
              <a:t>词组</a:t>
            </a:r>
            <a:r>
              <a:rPr lang="en-US" altLang="zh-CN" sz="3600" b="1" dirty="0">
                <a:solidFill>
                  <a:srgbClr val="FF0000"/>
                </a:solidFill>
              </a:rPr>
              <a:t>P43-47</a:t>
            </a:r>
          </a:p>
          <a:p>
            <a:pPr lvl="0"/>
            <a:r>
              <a:rPr lang="en-US" altLang="zh-CN" sz="3600" b="1" dirty="0">
                <a:solidFill>
                  <a:srgbClr val="FF0000"/>
                </a:solidFill>
              </a:rPr>
              <a:t>1.</a:t>
            </a:r>
            <a:r>
              <a:rPr lang="zh-CN" altLang="en-US" sz="3600" b="1" dirty="0">
                <a:solidFill>
                  <a:srgbClr val="FF0000"/>
                </a:solidFill>
              </a:rPr>
              <a:t>演讲稿 </a:t>
            </a:r>
            <a:r>
              <a:rPr lang="en-US" altLang="zh-CN" sz="3600" b="1" dirty="0">
                <a:solidFill>
                  <a:srgbClr val="FF0000"/>
                </a:solidFill>
              </a:rPr>
              <a:t>2.</a:t>
            </a:r>
            <a:r>
              <a:rPr lang="zh-CN" altLang="en-US" sz="3600" b="1" dirty="0">
                <a:solidFill>
                  <a:srgbClr val="FF0000"/>
                </a:solidFill>
              </a:rPr>
              <a:t>落花 </a:t>
            </a:r>
            <a:r>
              <a:rPr lang="en-US" altLang="zh-CN" sz="3600" b="1" dirty="0">
                <a:solidFill>
                  <a:srgbClr val="FF0000"/>
                </a:solidFill>
              </a:rPr>
              <a:t>3.</a:t>
            </a:r>
            <a:r>
              <a:rPr lang="zh-CN" altLang="en-US" sz="3600" b="1" dirty="0">
                <a:solidFill>
                  <a:srgbClr val="FF0000"/>
                </a:solidFill>
              </a:rPr>
              <a:t>紧紧抓住 </a:t>
            </a:r>
            <a:r>
              <a:rPr lang="en-US" altLang="zh-CN" sz="3600" b="1" dirty="0">
                <a:solidFill>
                  <a:srgbClr val="FF0000"/>
                </a:solidFill>
              </a:rPr>
              <a:t>4.</a:t>
            </a:r>
            <a:r>
              <a:rPr lang="zh-CN" altLang="en-US" sz="3600" b="1" dirty="0">
                <a:solidFill>
                  <a:srgbClr val="FF0000"/>
                </a:solidFill>
              </a:rPr>
              <a:t>折翼的鸟 </a:t>
            </a:r>
            <a:r>
              <a:rPr lang="en-US" altLang="zh-CN" sz="3600" b="1" dirty="0">
                <a:solidFill>
                  <a:srgbClr val="FF0000"/>
                </a:solidFill>
              </a:rPr>
              <a:t>5.</a:t>
            </a:r>
            <a:r>
              <a:rPr lang="en-US" altLang="zh-CN" sz="3600" b="1" kern="100" dirty="0">
                <a:solidFill>
                  <a:srgbClr val="FF0000"/>
                </a:solidFill>
                <a:latin typeface="Calibri" panose="020F0502020204030204" charset="0"/>
                <a:ea typeface="宋体" panose="02010600030101010101" pitchFamily="2" charset="-122"/>
                <a:cs typeface="Times New Roman" panose="02020603050405020304" pitchFamily="18" charset="0"/>
              </a:rPr>
              <a:t>..</a:t>
            </a:r>
            <a:r>
              <a:rPr lang="zh-CN" altLang="zh-CN" sz="3600" b="1" kern="100" dirty="0">
                <a:solidFill>
                  <a:srgbClr val="FF0000"/>
                </a:solidFill>
                <a:latin typeface="Calibri" panose="020F0502020204030204" charset="0"/>
                <a:ea typeface="宋体" panose="02010600030101010101" pitchFamily="2" charset="-122"/>
                <a:cs typeface="Times New Roman" panose="02020603050405020304" pitchFamily="18" charset="0"/>
              </a:rPr>
              <a:t>和</a:t>
            </a:r>
            <a:r>
              <a:rPr lang="en-US" altLang="zh-CN" sz="3600" b="1" kern="100" dirty="0">
                <a:solidFill>
                  <a:srgbClr val="FF0000"/>
                </a:solidFill>
                <a:latin typeface="Calibri" panose="020F0502020204030204" charset="0"/>
                <a:ea typeface="宋体" panose="02010600030101010101" pitchFamily="2" charset="-122"/>
                <a:cs typeface="Times New Roman" panose="02020603050405020304" pitchFamily="18" charset="0"/>
              </a:rPr>
              <a:t>...</a:t>
            </a:r>
            <a:r>
              <a:rPr lang="zh-CN" altLang="zh-CN" sz="3600" b="1" kern="100" dirty="0">
                <a:solidFill>
                  <a:srgbClr val="FF0000"/>
                </a:solidFill>
                <a:latin typeface="Calibri" panose="020F0502020204030204" charset="0"/>
                <a:ea typeface="宋体" panose="02010600030101010101" pitchFamily="2" charset="-122"/>
                <a:cs typeface="Times New Roman" panose="02020603050405020304" pitchFamily="18" charset="0"/>
              </a:rPr>
              <a:t>的结合</a:t>
            </a:r>
            <a:r>
              <a:rPr lang="en-US" altLang="zh-CN" sz="3600" b="1" kern="100" dirty="0">
                <a:solidFill>
                  <a:srgbClr val="FF0000"/>
                </a:solidFill>
                <a:latin typeface="Calibri" panose="020F0502020204030204" charset="0"/>
                <a:ea typeface="宋体" panose="02010600030101010101" pitchFamily="2" charset="-122"/>
                <a:cs typeface="Times New Roman" panose="02020603050405020304" pitchFamily="18" charset="0"/>
              </a:rPr>
              <a:t> </a:t>
            </a:r>
          </a:p>
          <a:p>
            <a:pPr lvl="0"/>
            <a:r>
              <a:rPr lang="en-US" altLang="zh-CN" sz="3600" b="1" kern="100" dirty="0">
                <a:solidFill>
                  <a:srgbClr val="FF0000"/>
                </a:solidFill>
                <a:latin typeface="Calibri" panose="020F0502020204030204" charset="0"/>
                <a:ea typeface="宋体" panose="02010600030101010101" pitchFamily="2" charset="-122"/>
                <a:cs typeface="Times New Roman" panose="02020603050405020304" pitchFamily="18" charset="0"/>
              </a:rPr>
              <a:t>6.</a:t>
            </a:r>
            <a:r>
              <a:rPr lang="zh-CN" altLang="zh-CN" sz="3600" b="1" kern="100" dirty="0">
                <a:solidFill>
                  <a:srgbClr val="FF0000"/>
                </a:solidFill>
                <a:latin typeface="Calibri" panose="020F0502020204030204" charset="0"/>
                <a:ea typeface="宋体" panose="02010600030101010101" pitchFamily="2" charset="-122"/>
                <a:cs typeface="Times New Roman" panose="02020603050405020304" pitchFamily="18" charset="0"/>
              </a:rPr>
              <a:t>不仅仅是</a:t>
            </a:r>
            <a:r>
              <a:rPr lang="en-US" altLang="zh-CN" sz="3600" b="1" kern="100" dirty="0">
                <a:solidFill>
                  <a:srgbClr val="FF0000"/>
                </a:solidFill>
                <a:latin typeface="Calibri" panose="020F0502020204030204" charset="0"/>
                <a:ea typeface="宋体" panose="02010600030101010101" pitchFamily="2" charset="-122"/>
                <a:cs typeface="Times New Roman" panose="02020603050405020304" pitchFamily="18" charset="0"/>
              </a:rPr>
              <a:t> 7.</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隐含更深意义</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3600" b="1" kern="100" dirty="0">
                <a:solidFill>
                  <a:srgbClr val="FF0000"/>
                </a:solidFill>
                <a:latin typeface="宋体" panose="02010600030101010101" pitchFamily="2" charset="-122"/>
                <a:ea typeface="宋体" panose="02010600030101010101" pitchFamily="2" charset="-122"/>
                <a:cs typeface="Courier New" panose="02070309020205020404" pitchFamily="49" charset="0"/>
              </a:rPr>
              <a:t>8.</a:t>
            </a:r>
            <a:r>
              <a:rPr lang="zh-CN" altLang="zh-CN" sz="3600" b="1" kern="100" dirty="0">
                <a:solidFill>
                  <a:srgbClr val="FF0000"/>
                </a:solidFill>
                <a:latin typeface="Calibri" panose="020F0502020204030204" charset="0"/>
                <a:ea typeface="宋体" panose="02010600030101010101" pitchFamily="2" charset="-122"/>
                <a:cs typeface="Times New Roman" panose="02020603050405020304" pitchFamily="18" charset="0"/>
              </a:rPr>
              <a:t>超越文字</a:t>
            </a:r>
            <a:r>
              <a:rPr lang="en-US" altLang="zh-CN" sz="3600" b="1" kern="100" dirty="0">
                <a:solidFill>
                  <a:srgbClr val="FF0000"/>
                </a:solidFill>
                <a:latin typeface="Calibri" panose="020F0502020204030204" charset="0"/>
                <a:ea typeface="宋体" panose="02010600030101010101" pitchFamily="2" charset="-122"/>
                <a:cs typeface="Times New Roman" panose="02020603050405020304" pitchFamily="18" charset="0"/>
              </a:rPr>
              <a:t> </a:t>
            </a:r>
            <a:r>
              <a:rPr lang="en-US" altLang="zh-CN" sz="3600" b="1" kern="100" dirty="0">
                <a:solidFill>
                  <a:srgbClr val="FF0000"/>
                </a:solidFill>
                <a:latin typeface="Times New Roman" panose="02020603050405020304" pitchFamily="18" charset="0"/>
                <a:ea typeface="宋体" panose="02010600030101010101" pitchFamily="2" charset="-122"/>
                <a:cs typeface="Courier New" panose="02070309020205020404" pitchFamily="49" charset="0"/>
              </a:rPr>
              <a:t>9.</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揭露隐藏的层面</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p>
          <a:p>
            <a:pPr lvl="0"/>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10.</a:t>
            </a:r>
            <a:r>
              <a:rPr lang="zh-CN" altLang="zh-CN" sz="3600" b="1" dirty="0">
                <a:solidFill>
                  <a:srgbClr val="FF0000"/>
                </a:solidFill>
              </a:rPr>
              <a:t>似乎已经做了</a:t>
            </a:r>
            <a:r>
              <a:rPr lang="en-US" altLang="zh-CN" sz="3600" b="1" dirty="0">
                <a:solidFill>
                  <a:srgbClr val="FF0000"/>
                </a:solidFill>
              </a:rPr>
              <a:t> 11.</a:t>
            </a:r>
            <a:r>
              <a:rPr lang="zh-CN" altLang="zh-CN" sz="3600" b="1" dirty="0">
                <a:solidFill>
                  <a:srgbClr val="FF0000"/>
                </a:solidFill>
              </a:rPr>
              <a:t>力所不及无法理解</a:t>
            </a:r>
            <a:r>
              <a:rPr lang="en-US" altLang="zh-CN" sz="3600" b="1" dirty="0">
                <a:solidFill>
                  <a:srgbClr val="FF0000"/>
                </a:solidFill>
              </a:rPr>
              <a:t> 12.n.</a:t>
            </a:r>
            <a:r>
              <a:rPr lang="zh-CN" altLang="zh-CN" sz="3600" b="1" dirty="0">
                <a:solidFill>
                  <a:srgbClr val="FF0000"/>
                </a:solidFill>
              </a:rPr>
              <a:t>重复</a:t>
            </a:r>
            <a:r>
              <a:rPr lang="en-US" altLang="zh-CN" sz="3600" b="1" dirty="0">
                <a:solidFill>
                  <a:srgbClr val="FF0000"/>
                </a:solidFill>
              </a:rPr>
              <a:t> 13.</a:t>
            </a:r>
            <a:r>
              <a:rPr lang="zh-CN" altLang="zh-CN" sz="3600" b="1" dirty="0">
                <a:solidFill>
                  <a:srgbClr val="FF0000"/>
                </a:solidFill>
              </a:rPr>
              <a:t>对</a:t>
            </a:r>
            <a:r>
              <a:rPr lang="en-US" altLang="zh-CN" sz="3600" b="1" dirty="0">
                <a:solidFill>
                  <a:srgbClr val="FF0000"/>
                </a:solidFill>
              </a:rPr>
              <a:t>...</a:t>
            </a:r>
            <a:r>
              <a:rPr lang="zh-CN" altLang="zh-CN" sz="3600" b="1" dirty="0">
                <a:solidFill>
                  <a:srgbClr val="FF0000"/>
                </a:solidFill>
              </a:rPr>
              <a:t>有更好的理解</a:t>
            </a:r>
            <a:r>
              <a:rPr lang="en-US" altLang="zh-CN" sz="3600" b="1" dirty="0">
                <a:solidFill>
                  <a:srgbClr val="FF0000"/>
                </a:solidFill>
              </a:rPr>
              <a:t> 14.</a:t>
            </a:r>
            <a:r>
              <a:rPr lang="zh-CN" altLang="zh-CN" sz="3600" b="1" dirty="0">
                <a:solidFill>
                  <a:srgbClr val="FF0000"/>
                </a:solidFill>
              </a:rPr>
              <a:t>最终</a:t>
            </a:r>
            <a:r>
              <a:rPr lang="en-US" altLang="zh-CN" sz="3600" b="1" dirty="0">
                <a:solidFill>
                  <a:srgbClr val="FF0000"/>
                </a:solidFill>
              </a:rPr>
              <a:t> 15.</a:t>
            </a:r>
            <a:r>
              <a:rPr lang="zh-CN" altLang="zh-CN" sz="3600" b="1" dirty="0">
                <a:solidFill>
                  <a:srgbClr val="FF0000"/>
                </a:solidFill>
              </a:rPr>
              <a:t>反对</a:t>
            </a:r>
            <a:r>
              <a:rPr lang="zh-CN" altLang="en-US" sz="3600" b="1" dirty="0">
                <a:solidFill>
                  <a:srgbClr val="FF0000"/>
                </a:solidFill>
              </a:rPr>
              <a:t>做某事 </a:t>
            </a:r>
            <a:r>
              <a:rPr lang="en-US" altLang="zh-CN" sz="3600" b="1" dirty="0">
                <a:solidFill>
                  <a:srgbClr val="FF0000"/>
                </a:solidFill>
              </a:rPr>
              <a:t>16.</a:t>
            </a:r>
            <a:r>
              <a:rPr lang="zh-CN" altLang="zh-CN" sz="3600" b="1" dirty="0">
                <a:solidFill>
                  <a:srgbClr val="FF0000"/>
                </a:solidFill>
              </a:rPr>
              <a:t>组装</a:t>
            </a:r>
            <a:r>
              <a:rPr lang="en-US" altLang="zh-CN" sz="3600" b="1" dirty="0">
                <a:solidFill>
                  <a:srgbClr val="FF0000"/>
                </a:solidFill>
              </a:rPr>
              <a:t> 17.</a:t>
            </a:r>
            <a:r>
              <a:rPr lang="zh-CN" altLang="en-US" sz="3600" b="1" dirty="0">
                <a:solidFill>
                  <a:srgbClr val="FF0000"/>
                </a:solidFill>
              </a:rPr>
              <a:t>复杂的</a:t>
            </a:r>
            <a:r>
              <a:rPr lang="en-US" altLang="zh-CN" sz="3600" b="1" dirty="0">
                <a:solidFill>
                  <a:srgbClr val="FF0000"/>
                </a:solidFill>
              </a:rPr>
              <a:t>;</a:t>
            </a:r>
            <a:r>
              <a:rPr lang="zh-CN" altLang="en-US" sz="3600" b="1" dirty="0">
                <a:solidFill>
                  <a:srgbClr val="FF0000"/>
                </a:solidFill>
              </a:rPr>
              <a:t>矛盾的</a:t>
            </a:r>
            <a:r>
              <a:rPr lang="en-US" altLang="zh-CN" sz="3600" b="1" dirty="0">
                <a:solidFill>
                  <a:srgbClr val="FF0000"/>
                </a:solidFill>
              </a:rPr>
              <a:t>18.</a:t>
            </a:r>
            <a:r>
              <a:rPr lang="zh-CN" altLang="zh-CN" sz="3600" b="1" dirty="0">
                <a:solidFill>
                  <a:srgbClr val="FF0000"/>
                </a:solidFill>
              </a:rPr>
              <a:t>挖掘线索</a:t>
            </a:r>
            <a:r>
              <a:rPr lang="en-US" altLang="zh-CN" sz="3600" b="1" dirty="0">
                <a:solidFill>
                  <a:srgbClr val="FF0000"/>
                </a:solidFill>
              </a:rPr>
              <a:t>19.</a:t>
            </a:r>
            <a:r>
              <a:rPr lang="zh-CN" altLang="en-US" sz="3600" b="1" dirty="0">
                <a:solidFill>
                  <a:srgbClr val="FF0000"/>
                </a:solidFill>
              </a:rPr>
              <a:t>渴望做某事 </a:t>
            </a:r>
            <a:r>
              <a:rPr lang="en-US" altLang="zh-CN" sz="3600" b="1" dirty="0">
                <a:solidFill>
                  <a:srgbClr val="FF0000"/>
                </a:solidFill>
              </a:rPr>
              <a:t>20.</a:t>
            </a:r>
            <a:r>
              <a:rPr lang="zh-CN" altLang="zh-CN" sz="3600" b="1" dirty="0">
                <a:solidFill>
                  <a:srgbClr val="FF0000"/>
                </a:solidFill>
              </a:rPr>
              <a:t>难以诠释一首诗的意义</a:t>
            </a:r>
            <a:endParaRPr lang="en-US" altLang="zh-CN" sz="3600" b="1" dirty="0">
              <a:solidFill>
                <a:srgbClr val="FF0000"/>
              </a:solidFill>
            </a:endParaRPr>
          </a:p>
          <a:p>
            <a:pPr lvl="0"/>
            <a:r>
              <a:rPr lang="en-US" altLang="zh-CN" sz="3600" b="1" dirty="0">
                <a:solidFill>
                  <a:srgbClr val="FF0000"/>
                </a:solidFill>
              </a:rPr>
              <a:t>21.</a:t>
            </a:r>
            <a:r>
              <a:rPr lang="zh-CN" altLang="zh-CN" sz="3600" b="1" dirty="0">
                <a:solidFill>
                  <a:srgbClr val="FF0000"/>
                </a:solidFill>
              </a:rPr>
              <a:t>下了很大功夫</a:t>
            </a:r>
            <a:r>
              <a:rPr lang="en-US" altLang="zh-CN" sz="3600" b="1" dirty="0">
                <a:solidFill>
                  <a:srgbClr val="FF0000"/>
                </a:solidFill>
              </a:rPr>
              <a:t> 22.get it</a:t>
            </a:r>
            <a:r>
              <a:rPr lang="zh-CN" altLang="en-US" sz="3600" b="1" dirty="0">
                <a:solidFill>
                  <a:srgbClr val="FF0000"/>
                </a:solidFill>
              </a:rPr>
              <a:t>翻译 </a:t>
            </a:r>
            <a:r>
              <a:rPr lang="en-US" altLang="zh-CN" sz="3600" b="1" dirty="0">
                <a:solidFill>
                  <a:srgbClr val="FF0000"/>
                </a:solidFill>
              </a:rPr>
              <a:t>23.</a:t>
            </a:r>
            <a:r>
              <a:rPr lang="zh-CN" altLang="zh-CN" sz="3600" b="1" dirty="0">
                <a:solidFill>
                  <a:srgbClr val="FF0000"/>
                </a:solidFill>
              </a:rPr>
              <a:t>把</a:t>
            </a:r>
            <a:r>
              <a:rPr lang="en-US" altLang="zh-CN" sz="3600" b="1" dirty="0">
                <a:solidFill>
                  <a:srgbClr val="FF0000"/>
                </a:solidFill>
              </a:rPr>
              <a:t>…</a:t>
            </a:r>
            <a:r>
              <a:rPr lang="zh-CN" altLang="zh-CN" sz="3600" b="1" dirty="0">
                <a:solidFill>
                  <a:srgbClr val="FF0000"/>
                </a:solidFill>
              </a:rPr>
              <a:t>放到一边</a:t>
            </a:r>
            <a:r>
              <a:rPr lang="en-US" altLang="zh-CN" sz="3600" b="1" dirty="0">
                <a:solidFill>
                  <a:srgbClr val="FF0000"/>
                </a:solidFill>
              </a:rPr>
              <a:t>set(__,__)</a:t>
            </a:r>
          </a:p>
          <a:p>
            <a:pPr lvl="0"/>
            <a:r>
              <a:rPr lang="en-US" altLang="zh-CN" sz="3600" b="1" dirty="0">
                <a:solidFill>
                  <a:srgbClr val="FF0000"/>
                </a:solidFill>
              </a:rPr>
              <a:t>24.</a:t>
            </a:r>
            <a:r>
              <a:rPr lang="zh-CN" altLang="zh-CN" sz="3600" b="1" dirty="0">
                <a:solidFill>
                  <a:srgbClr val="FF0000"/>
                </a:solidFill>
              </a:rPr>
              <a:t>去一个遥远而未知的目的地旅行</a:t>
            </a:r>
            <a:r>
              <a:rPr lang="en-US" altLang="zh-CN" sz="3600" b="1" dirty="0">
                <a:solidFill>
                  <a:srgbClr val="FF0000"/>
                </a:solidFill>
              </a:rPr>
              <a:t>25.</a:t>
            </a:r>
            <a:r>
              <a:rPr lang="zh-CN" altLang="zh-CN" sz="3600" b="1" dirty="0">
                <a:solidFill>
                  <a:srgbClr val="FF0000"/>
                </a:solidFill>
              </a:rPr>
              <a:t>你的努力会有回报的</a:t>
            </a:r>
            <a:r>
              <a:rPr lang="en-US" altLang="zh-CN" sz="3600" b="1" dirty="0">
                <a:solidFill>
                  <a:srgbClr val="FF0000"/>
                </a:solidFill>
              </a:rPr>
              <a:t> </a:t>
            </a:r>
          </a:p>
          <a:p>
            <a:pPr lvl="0"/>
            <a:r>
              <a:rPr lang="en-US" altLang="zh-CN" sz="3600" b="1" dirty="0">
                <a:solidFill>
                  <a:srgbClr val="FF0000"/>
                </a:solidFill>
              </a:rPr>
              <a:t>26.adj.</a:t>
            </a:r>
            <a:r>
              <a:rPr lang="zh-CN" altLang="zh-CN" sz="3600" b="1" dirty="0">
                <a:solidFill>
                  <a:srgbClr val="FF0000"/>
                </a:solidFill>
              </a:rPr>
              <a:t>未被承认</a:t>
            </a:r>
            <a:r>
              <a:rPr lang="en-US" altLang="zh-CN" sz="3600" b="1" dirty="0">
                <a:solidFill>
                  <a:srgbClr val="FF0000"/>
                </a:solidFill>
              </a:rPr>
              <a:t>/</a:t>
            </a:r>
            <a:r>
              <a:rPr lang="zh-CN" altLang="zh-CN" sz="3600" b="1" dirty="0">
                <a:solidFill>
                  <a:srgbClr val="FF0000"/>
                </a:solidFill>
              </a:rPr>
              <a:t>认出的</a:t>
            </a:r>
            <a:r>
              <a:rPr lang="en-US" altLang="zh-CN" sz="3600" b="1" dirty="0">
                <a:solidFill>
                  <a:srgbClr val="FF0000"/>
                </a:solidFill>
              </a:rPr>
              <a:t>; </a:t>
            </a:r>
            <a:r>
              <a:rPr lang="zh-CN" altLang="en-US" sz="3600" b="1" dirty="0">
                <a:solidFill>
                  <a:srgbClr val="FF0000"/>
                </a:solidFill>
              </a:rPr>
              <a:t>→</a:t>
            </a:r>
            <a:r>
              <a:rPr lang="en-US" altLang="zh-CN" sz="3600" b="1" dirty="0">
                <a:solidFill>
                  <a:srgbClr val="FF0000"/>
                </a:solidFill>
              </a:rPr>
              <a:t>n.</a:t>
            </a:r>
            <a:r>
              <a:rPr lang="zh-CN" altLang="en-US" sz="3600" b="1" dirty="0">
                <a:solidFill>
                  <a:srgbClr val="FF0000"/>
                </a:solidFill>
              </a:rPr>
              <a:t>认出</a:t>
            </a:r>
            <a:r>
              <a:rPr lang="en-US" altLang="zh-CN" sz="3600" b="1" dirty="0">
                <a:solidFill>
                  <a:srgbClr val="FF0000"/>
                </a:solidFill>
              </a:rPr>
              <a:t>/</a:t>
            </a:r>
            <a:r>
              <a:rPr lang="zh-CN" altLang="en-US" sz="3600" b="1" dirty="0">
                <a:solidFill>
                  <a:srgbClr val="FF0000"/>
                </a:solidFill>
              </a:rPr>
              <a:t>可 </a:t>
            </a:r>
            <a:r>
              <a:rPr lang="en-US" altLang="zh-CN" sz="3600" b="1" dirty="0">
                <a:solidFill>
                  <a:srgbClr val="FF0000"/>
                </a:solidFill>
              </a:rPr>
              <a:t>27.</a:t>
            </a:r>
            <a:r>
              <a:rPr lang="zh-CN" altLang="zh-CN" sz="3600" b="1" dirty="0">
                <a:solidFill>
                  <a:srgbClr val="FF0000"/>
                </a:solidFill>
              </a:rPr>
              <a:t>抛弃逻辑思维</a:t>
            </a:r>
            <a:endParaRPr lang="en-US" altLang="zh-CN" sz="3600" b="1" dirty="0">
              <a:solidFill>
                <a:srgbClr val="FF0000"/>
              </a:solidFill>
            </a:endParaRPr>
          </a:p>
          <a:p>
            <a:pPr lvl="0"/>
            <a:r>
              <a:rPr lang="en-US" altLang="zh-CN" sz="3600" b="1" dirty="0">
                <a:solidFill>
                  <a:srgbClr val="FF0000"/>
                </a:solidFill>
              </a:rPr>
              <a:t>28.</a:t>
            </a:r>
            <a:r>
              <a:rPr lang="zh-CN" altLang="zh-CN" sz="3600" b="1" dirty="0">
                <a:solidFill>
                  <a:srgbClr val="FF0000"/>
                </a:solidFill>
              </a:rPr>
              <a:t>只要</a:t>
            </a:r>
            <a:r>
              <a:rPr lang="en-US" altLang="zh-CN" sz="3600" b="1" dirty="0">
                <a:solidFill>
                  <a:srgbClr val="FF0000"/>
                </a:solidFill>
              </a:rPr>
              <a:t> 29.v.</a:t>
            </a:r>
            <a:r>
              <a:rPr lang="zh-CN" altLang="zh-CN" sz="3600" b="1" dirty="0">
                <a:solidFill>
                  <a:srgbClr val="FF0000"/>
                </a:solidFill>
              </a:rPr>
              <a:t>感知</a:t>
            </a:r>
            <a:r>
              <a:rPr lang="zh-CN" altLang="en-US" sz="3600" b="1" dirty="0">
                <a:solidFill>
                  <a:srgbClr val="FF0000"/>
                </a:solidFill>
              </a:rPr>
              <a:t>→</a:t>
            </a:r>
            <a:r>
              <a:rPr lang="en-US" altLang="zh-CN" sz="3600" b="1" dirty="0">
                <a:solidFill>
                  <a:srgbClr val="FF0000"/>
                </a:solidFill>
              </a:rPr>
              <a:t>n. 30.</a:t>
            </a:r>
            <a:r>
              <a:rPr lang="zh-CN" altLang="zh-CN" sz="3600" b="1" dirty="0">
                <a:solidFill>
                  <a:srgbClr val="FF0000"/>
                </a:solidFill>
              </a:rPr>
              <a:t>值得你的努力</a:t>
            </a:r>
            <a:r>
              <a:rPr lang="en-US" altLang="zh-CN" sz="3600" b="1" dirty="0">
                <a:solidFill>
                  <a:srgbClr val="FF0000"/>
                </a:solidFill>
              </a:rPr>
              <a:t> 31.</a:t>
            </a:r>
            <a:r>
              <a:rPr lang="zh-CN" altLang="zh-CN" sz="3600" b="1" dirty="0">
                <a:solidFill>
                  <a:srgbClr val="FF0000"/>
                </a:solidFill>
              </a:rPr>
              <a:t>让你超越正常的现实</a:t>
            </a:r>
            <a:r>
              <a:rPr lang="en-US" altLang="zh-CN" sz="3600" b="1" dirty="0">
                <a:solidFill>
                  <a:srgbClr val="FF0000"/>
                </a:solidFill>
              </a:rPr>
              <a:t>,</a:t>
            </a:r>
            <a:r>
              <a:rPr lang="zh-CN" altLang="zh-CN" sz="3600" b="1" dirty="0">
                <a:solidFill>
                  <a:srgbClr val="FF0000"/>
                </a:solidFill>
              </a:rPr>
              <a:t>追求永恒的美丽 </a:t>
            </a:r>
            <a:r>
              <a:rPr lang="en-US" altLang="zh-CN" sz="3600" b="1" dirty="0">
                <a:solidFill>
                  <a:srgbClr val="FF0000"/>
                </a:solidFill>
              </a:rPr>
              <a:t>32.</a:t>
            </a:r>
            <a:r>
              <a:rPr lang="zh-CN" altLang="zh-CN" sz="3600" b="1" dirty="0">
                <a:solidFill>
                  <a:srgbClr val="FF0000"/>
                </a:solidFill>
              </a:rPr>
              <a:t>被雾气笼罩</a:t>
            </a:r>
            <a:r>
              <a:rPr lang="en-US" altLang="zh-CN" sz="3600" b="1" dirty="0">
                <a:solidFill>
                  <a:srgbClr val="FF0000"/>
                </a:solidFill>
              </a:rPr>
              <a:t> 33.</a:t>
            </a:r>
            <a:r>
              <a:rPr lang="zh-CN" altLang="zh-CN" sz="3600" b="1" dirty="0">
                <a:solidFill>
                  <a:srgbClr val="FF0000"/>
                </a:solidFill>
              </a:rPr>
              <a:t>不恰当的</a:t>
            </a:r>
            <a:endParaRPr lang="en-US" altLang="zh-CN" sz="3600" b="1" dirty="0">
              <a:solidFill>
                <a:srgbClr val="FF0000"/>
              </a:solidFill>
            </a:endParaRPr>
          </a:p>
          <a:p>
            <a:pPr lvl="0"/>
            <a:r>
              <a:rPr lang="en-US" altLang="zh-CN" sz="3600" b="1" dirty="0">
                <a:solidFill>
                  <a:srgbClr val="FF0000"/>
                </a:solidFill>
              </a:rPr>
              <a:t>34.</a:t>
            </a:r>
            <a:r>
              <a:rPr lang="zh-CN" altLang="zh-CN" sz="3600" b="1" dirty="0">
                <a:solidFill>
                  <a:srgbClr val="FF0000"/>
                </a:solidFill>
              </a:rPr>
              <a:t>突出显眼</a:t>
            </a:r>
            <a:r>
              <a:rPr lang="en-US" altLang="zh-CN" sz="3600" b="1" dirty="0">
                <a:solidFill>
                  <a:srgbClr val="FF0000"/>
                </a:solidFill>
              </a:rPr>
              <a:t>(__,__)35.</a:t>
            </a:r>
            <a:r>
              <a:rPr lang="zh-CN" altLang="zh-CN" sz="3600" b="1" dirty="0">
                <a:solidFill>
                  <a:srgbClr val="FF0000"/>
                </a:solidFill>
              </a:rPr>
              <a:t>查字典</a:t>
            </a:r>
            <a:r>
              <a:rPr lang="en-US" altLang="zh-CN" sz="3600" b="1" dirty="0">
                <a:solidFill>
                  <a:srgbClr val="FF0000"/>
                </a:solidFill>
              </a:rPr>
              <a:t>36.</a:t>
            </a:r>
            <a:r>
              <a:rPr lang="zh-CN" altLang="en-US" sz="3600" b="1" dirty="0">
                <a:solidFill>
                  <a:srgbClr val="FF0000"/>
                </a:solidFill>
              </a:rPr>
              <a:t>换句话说</a:t>
            </a:r>
            <a:endParaRPr lang="en-US" altLang="zh-CN" sz="3600" b="1" dirty="0">
              <a:solidFill>
                <a:srgbClr val="FF0000"/>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pPr algn="just"/>
            <a:r>
              <a:rPr lang="en-US" altLang="zh-CN" sz="3300" b="1" dirty="0"/>
              <a:t>U4 </a:t>
            </a:r>
            <a:r>
              <a:rPr lang="en-US" altLang="zh-CN" sz="3300" b="1" dirty="0">
                <a:solidFill>
                  <a:srgbClr val="FF0000"/>
                </a:solidFill>
              </a:rPr>
              <a:t>1.v.</a:t>
            </a:r>
            <a:r>
              <a:rPr lang="zh-CN" altLang="en-US" sz="3300" b="1" dirty="0">
                <a:solidFill>
                  <a:srgbClr val="FF0000"/>
                </a:solidFill>
              </a:rPr>
              <a:t>结冰</a:t>
            </a:r>
            <a:r>
              <a:rPr lang="en-US" altLang="zh-CN" sz="3300" b="1" dirty="0">
                <a:solidFill>
                  <a:srgbClr val="FF0000"/>
                </a:solidFill>
              </a:rPr>
              <a:t>(__, __);</a:t>
            </a:r>
            <a:r>
              <a:rPr lang="zh-CN" altLang="en-US" sz="3300" b="1" dirty="0">
                <a:solidFill>
                  <a:srgbClr val="FF0000"/>
                </a:solidFill>
              </a:rPr>
              <a:t>极冷的</a:t>
            </a:r>
            <a:r>
              <a:rPr lang="en-US" altLang="zh-CN" sz="3300" b="1" dirty="0">
                <a:solidFill>
                  <a:srgbClr val="FF0000"/>
                </a:solidFill>
              </a:rPr>
              <a:t>;</a:t>
            </a:r>
            <a:r>
              <a:rPr lang="zh-CN" altLang="en-US" sz="3300" b="1" dirty="0">
                <a:solidFill>
                  <a:srgbClr val="FF0000"/>
                </a:solidFill>
              </a:rPr>
              <a:t>吓呆</a:t>
            </a:r>
            <a:r>
              <a:rPr lang="en-US" altLang="zh-CN" sz="3300" b="1" dirty="0">
                <a:solidFill>
                  <a:srgbClr val="FF0000"/>
                </a:solidFill>
              </a:rPr>
              <a:t>;</a:t>
            </a:r>
            <a:r>
              <a:rPr lang="zh-CN" altLang="en-US" sz="3300" b="1" dirty="0">
                <a:solidFill>
                  <a:srgbClr val="FF0000"/>
                </a:solidFill>
              </a:rPr>
              <a:t>冰点以下</a:t>
            </a:r>
            <a:r>
              <a:rPr lang="en-US" altLang="zh-CN" sz="3300" b="1" dirty="0">
                <a:solidFill>
                  <a:srgbClr val="FF0000"/>
                </a:solidFill>
              </a:rPr>
              <a:t>;</a:t>
            </a:r>
            <a:r>
              <a:rPr lang="zh-CN" altLang="zh-CN" sz="3300" dirty="0">
                <a:solidFill>
                  <a:srgbClr val="FF0000"/>
                </a:solidFill>
              </a:rPr>
              <a:t>笑容在他的脸上僵住了</a:t>
            </a:r>
            <a:endParaRPr lang="en-US" altLang="zh-CN" sz="3300" dirty="0">
              <a:solidFill>
                <a:srgbClr val="FF0000"/>
              </a:solidFill>
            </a:endParaRPr>
          </a:p>
          <a:p>
            <a:pPr algn="just"/>
            <a:r>
              <a:rPr lang="en-US" altLang="zh-CN" sz="3300" b="1" dirty="0">
                <a:solidFill>
                  <a:srgbClr val="FF0000"/>
                </a:solidFill>
              </a:rPr>
              <a:t>2.v.</a:t>
            </a:r>
            <a:r>
              <a:rPr lang="zh-CN" altLang="en-US" sz="3300" b="1" dirty="0">
                <a:solidFill>
                  <a:srgbClr val="FF0000"/>
                </a:solidFill>
              </a:rPr>
              <a:t>暗示</a:t>
            </a:r>
            <a:r>
              <a:rPr lang="en-US" altLang="zh-CN" sz="3300" b="1" dirty="0">
                <a:solidFill>
                  <a:srgbClr val="FF0000"/>
                </a:solidFill>
              </a:rPr>
              <a:t>(__, __);n.</a:t>
            </a:r>
            <a:r>
              <a:rPr lang="zh-CN" altLang="en-US" sz="3300" b="1" dirty="0">
                <a:solidFill>
                  <a:srgbClr val="FF0000"/>
                </a:solidFill>
              </a:rPr>
              <a:t>暗示</a:t>
            </a:r>
            <a:r>
              <a:rPr lang="en-US" altLang="zh-CN" sz="3300" b="1" dirty="0">
                <a:solidFill>
                  <a:srgbClr val="FF0000"/>
                </a:solidFill>
              </a:rPr>
              <a:t>3.</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增添了新内容</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三维</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4.</a:t>
            </a:r>
            <a:r>
              <a:rPr lang="zh-CN"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对</a:t>
            </a:r>
            <a:r>
              <a:rPr lang="en-US"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彻底了解</a:t>
            </a:r>
            <a:r>
              <a:rPr lang="en-US"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为某人不能</a:t>
            </a:r>
            <a:r>
              <a:rPr lang="en-US"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能理解的</a:t>
            </a:r>
            <a:r>
              <a:rPr lang="en-US"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5.</a:t>
            </a:r>
            <a:r>
              <a:rPr lang="en-US" altLang="zh-CN" sz="3300" i="1" dirty="0">
                <a:latin typeface="Times New Roman" panose="02020603050405020304" pitchFamily="18" charset="0"/>
                <a:ea typeface="宋体" panose="02010600030101010101" pitchFamily="2" charset="-122"/>
                <a:cs typeface="Times New Roman" panose="02020603050405020304" pitchFamily="18" charset="0"/>
              </a:rPr>
              <a:t>vt.</a:t>
            </a:r>
            <a:r>
              <a:rPr lang="zh-CN" altLang="zh-CN" sz="3300" kern="100" dirty="0">
                <a:latin typeface="Times New Roman" panose="02020603050405020304" pitchFamily="18" charset="0"/>
                <a:ea typeface="宋体" panose="02010600030101010101" pitchFamily="2" charset="-122"/>
                <a:cs typeface="Times New Roman" panose="02020603050405020304" pitchFamily="18" charset="0"/>
              </a:rPr>
              <a:t>发现查明</a:t>
            </a:r>
            <a:r>
              <a:rPr lang="en-US" altLang="zh-CN" sz="3300" kern="1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3300" i="1" kern="100" dirty="0">
                <a:latin typeface="Times New Roman" panose="02020603050405020304" pitchFamily="18" charset="0"/>
                <a:ea typeface="宋体" panose="02010600030101010101" pitchFamily="2" charset="-122"/>
                <a:cs typeface="Times New Roman" panose="02020603050405020304" pitchFamily="18" charset="0"/>
              </a:rPr>
              <a:t>n.</a:t>
            </a:r>
            <a:r>
              <a:rPr lang="zh-CN" altLang="zh-CN" sz="3300" kern="100" dirty="0">
                <a:latin typeface="Times New Roman" panose="02020603050405020304" pitchFamily="18" charset="0"/>
                <a:ea typeface="宋体" panose="02010600030101010101" pitchFamily="2" charset="-122"/>
                <a:cs typeface="Times New Roman" panose="02020603050405020304" pitchFamily="18" charset="0"/>
              </a:rPr>
              <a:t>发现</a:t>
            </a:r>
            <a:r>
              <a:rPr lang="en-US" altLang="zh-CN" sz="3300" kern="1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3300" b="1" i="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n</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侦探</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3300" b="1" i="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n.</a:t>
            </a:r>
            <a:r>
              <a:rPr lang="zh-CN" altLang="zh-CN"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侦探器</a:t>
            </a:r>
            <a:r>
              <a:rPr lang="en-US" altLang="zh-CN"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6.</a:t>
            </a:r>
            <a:r>
              <a:rPr lang="en-US" altLang="zh-CN" sz="3300" b="1" kern="100" dirty="0">
                <a:latin typeface="Times New Roman" panose="02020603050405020304" pitchFamily="18" charset="0"/>
                <a:ea typeface="宋体" panose="02010600030101010101" pitchFamily="2" charset="-122"/>
                <a:cs typeface="Times New Roman" panose="02020603050405020304" pitchFamily="18" charset="0"/>
              </a:rPr>
              <a:t>adj.</a:t>
            </a:r>
            <a:r>
              <a:rPr lang="zh-CN" altLang="zh-CN" sz="3300" b="1" kern="100" dirty="0">
                <a:latin typeface="Times New Roman" panose="02020603050405020304" pitchFamily="18" charset="0"/>
                <a:ea typeface="宋体" panose="02010600030101010101" pitchFamily="2" charset="-122"/>
                <a:cs typeface="Times New Roman" panose="02020603050405020304" pitchFamily="18" charset="0"/>
              </a:rPr>
              <a:t>复杂的</a:t>
            </a:r>
            <a:r>
              <a:rPr lang="en-US" altLang="zh-CN" sz="3300" b="1" kern="1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n.</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建筑群</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情结</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3300" b="1" kern="100" dirty="0">
                <a:latin typeface="Times New Roman" panose="02020603050405020304" pitchFamily="18" charset="0"/>
                <a:ea typeface="宋体" panose="02010600030101010101" pitchFamily="2" charset="-122"/>
                <a:cs typeface="Times New Roman" panose="02020603050405020304" pitchFamily="18" charset="0"/>
              </a:rPr>
              <a:t>n.</a:t>
            </a:r>
            <a:r>
              <a:rPr lang="zh-CN" altLang="zh-CN" sz="3300" b="1" kern="100" dirty="0">
                <a:latin typeface="Times New Roman" panose="02020603050405020304" pitchFamily="18" charset="0"/>
                <a:ea typeface="宋体" panose="02010600030101010101" pitchFamily="2" charset="-122"/>
                <a:cs typeface="Times New Roman" panose="02020603050405020304" pitchFamily="18" charset="0"/>
              </a:rPr>
              <a:t>错综复杂</a:t>
            </a:r>
            <a:r>
              <a:rPr lang="en-US" altLang="zh-CN" sz="3300" b="1" kern="100" dirty="0">
                <a:latin typeface="Times New Roman" panose="02020603050405020304" pitchFamily="18" charset="0"/>
                <a:ea typeface="宋体" panose="02010600030101010101" pitchFamily="2" charset="-122"/>
                <a:cs typeface="Times New Roman" panose="02020603050405020304" pitchFamily="18" charset="0"/>
              </a:rPr>
              <a:t>7.</a:t>
            </a:r>
            <a:r>
              <a:rPr lang="zh-CN"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与</a:t>
            </a:r>
            <a:r>
              <a:rPr lang="en-US"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相矛盾</a:t>
            </a:r>
            <a:r>
              <a:rPr lang="en-US"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(3</a:t>
            </a:r>
            <a:r>
              <a:rPr lang="zh-CN" altLang="en-US"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个</a:t>
            </a:r>
            <a:r>
              <a:rPr lang="en-US"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发现</a:t>
            </a:r>
            <a:r>
              <a:rPr lang="en-US"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dig(__,__);-</a:t>
            </a:r>
            <a:r>
              <a:rPr lang="en-US" altLang="zh-CN" sz="3300" kern="100" dirty="0" err="1">
                <a:solidFill>
                  <a:srgbClr val="FF0000"/>
                </a:solidFill>
                <a:latin typeface="Times New Roman" panose="02020603050405020304" pitchFamily="18" charset="0"/>
                <a:ea typeface="宋体" panose="02010600030101010101" pitchFamily="2" charset="-122"/>
                <a:cs typeface="Times New Roman" panose="02020603050405020304" pitchFamily="18" charset="0"/>
              </a:rPr>
              <a:t>ing</a:t>
            </a:r>
            <a:r>
              <a:rPr lang="en-US"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8.</a:t>
            </a:r>
            <a:r>
              <a:rPr lang="zh-CN"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搜寻线索</a:t>
            </a:r>
            <a:r>
              <a:rPr lang="en-US"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300" dirty="0">
                <a:solidFill>
                  <a:srgbClr val="FF0000"/>
                </a:solidFill>
              </a:rPr>
              <a:t>对</a:t>
            </a:r>
            <a:r>
              <a:rPr lang="en-US" altLang="zh-CN" sz="3300" dirty="0">
                <a:solidFill>
                  <a:srgbClr val="FF0000"/>
                </a:solidFill>
              </a:rPr>
              <a:t>…</a:t>
            </a:r>
            <a:r>
              <a:rPr lang="zh-CN" altLang="zh-CN" sz="3300" dirty="0">
                <a:solidFill>
                  <a:srgbClr val="FF0000"/>
                </a:solidFill>
              </a:rPr>
              <a:t>一无所知</a:t>
            </a:r>
            <a:r>
              <a:rPr lang="en-US" altLang="zh-CN" sz="3300" dirty="0">
                <a:solidFill>
                  <a:srgbClr val="FF0000"/>
                </a:solidFill>
              </a:rPr>
              <a:t> </a:t>
            </a:r>
            <a:r>
              <a:rPr lang="en-US"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9.</a:t>
            </a:r>
            <a:r>
              <a:rPr lang="zh-CN"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把</a:t>
            </a:r>
            <a:r>
              <a:rPr lang="en-US"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理解为</a:t>
            </a:r>
            <a:r>
              <a:rPr lang="en-US"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口译者</a:t>
            </a:r>
            <a:r>
              <a:rPr lang="en-US"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3300" i="1" kern="100" dirty="0">
                <a:latin typeface="Times New Roman" panose="02020603050405020304" pitchFamily="18" charset="0"/>
                <a:ea typeface="宋体" panose="02010600030101010101" pitchFamily="2" charset="-122"/>
                <a:cs typeface="Times New Roman" panose="02020603050405020304" pitchFamily="18" charset="0"/>
              </a:rPr>
              <a:t>n.</a:t>
            </a:r>
            <a:r>
              <a:rPr lang="zh-CN" altLang="zh-CN" sz="3300" dirty="0">
                <a:latin typeface="Times New Roman" panose="02020603050405020304" pitchFamily="18" charset="0"/>
                <a:ea typeface="宋体" panose="02010600030101010101" pitchFamily="2" charset="-122"/>
                <a:cs typeface="Times New Roman" panose="02020603050405020304" pitchFamily="18" charset="0"/>
              </a:rPr>
              <a:t>解释口译</a:t>
            </a:r>
            <a:endParaRPr lang="en-US" altLang="zh-CN" sz="3300" dirty="0">
              <a:latin typeface="Times New Roman" panose="02020603050405020304" pitchFamily="18" charset="0"/>
              <a:ea typeface="宋体" panose="02010600030101010101" pitchFamily="2" charset="-122"/>
              <a:cs typeface="Times New Roman" panose="02020603050405020304" pitchFamily="18" charset="0"/>
            </a:endParaRPr>
          </a:p>
          <a:p>
            <a:pPr algn="just"/>
            <a:r>
              <a:rPr lang="en-US" altLang="zh-CN" sz="3300" dirty="0">
                <a:latin typeface="Times New Roman" panose="02020603050405020304" pitchFamily="18" charset="0"/>
                <a:ea typeface="宋体" panose="02010600030101010101" pitchFamily="2" charset="-122"/>
                <a:cs typeface="Times New Roman" panose="02020603050405020304" pitchFamily="18" charset="0"/>
              </a:rPr>
              <a:t>10.</a:t>
            </a:r>
            <a:r>
              <a:rPr lang="zh-CN"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耐心做</a:t>
            </a:r>
            <a:r>
              <a:rPr lang="zh-CN" altLang="en-US"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某事</a:t>
            </a:r>
            <a:r>
              <a:rPr lang="en-US"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对</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有</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无耐心</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耐心</a:t>
            </a:r>
            <a:r>
              <a:rPr lang="en-US"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的必要条件</a:t>
            </a:r>
            <a:r>
              <a:rPr lang="en-US" altLang="zh-CN" sz="33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3300" dirty="0">
                <a:latin typeface="Times New Roman" panose="02020603050405020304" pitchFamily="18" charset="0"/>
                <a:ea typeface="宋体" panose="02010600030101010101" pitchFamily="2" charset="-122"/>
                <a:cs typeface="Times New Roman" panose="02020603050405020304" pitchFamily="18" charset="0"/>
              </a:rPr>
              <a:t>耐心耗尽</a:t>
            </a:r>
            <a:endParaRPr lang="en-US" altLang="zh-CN" sz="3300" dirty="0">
              <a:latin typeface="Times New Roman" panose="02020603050405020304" pitchFamily="18" charset="0"/>
              <a:ea typeface="宋体" panose="02010600030101010101" pitchFamily="2" charset="-122"/>
              <a:cs typeface="Times New Roman" panose="02020603050405020304" pitchFamily="18" charset="0"/>
            </a:endParaRPr>
          </a:p>
          <a:p>
            <a:pPr algn="just"/>
            <a:r>
              <a:rPr lang="en-US" altLang="zh-CN" sz="3300" dirty="0">
                <a:latin typeface="Times New Roman" panose="02020603050405020304" pitchFamily="18" charset="0"/>
                <a:ea typeface="宋体" panose="02010600030101010101" pitchFamily="2" charset="-122"/>
                <a:cs typeface="Times New Roman" panose="02020603050405020304" pitchFamily="18" charset="0"/>
              </a:rPr>
              <a:t>11.</a:t>
            </a:r>
            <a:r>
              <a:rPr lang="zh-CN"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把</a:t>
            </a:r>
            <a:r>
              <a:rPr lang="en-US"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放一边</a:t>
            </a:r>
            <a:r>
              <a:rPr lang="en-US"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留</a:t>
            </a:r>
            <a:r>
              <a:rPr lang="zh-CN" altLang="en-US"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出</a:t>
            </a:r>
            <a:r>
              <a:rPr lang="en-US"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3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除</a:t>
            </a:r>
            <a:r>
              <a:rPr lang="en-US" altLang="zh-CN" sz="33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3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之外</a:t>
            </a:r>
            <a:r>
              <a:rPr lang="en-US" altLang="zh-CN" sz="33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300" dirty="0">
                <a:solidFill>
                  <a:srgbClr val="FF0000"/>
                </a:solidFill>
              </a:rPr>
              <a:t>开始着手做</a:t>
            </a:r>
            <a:r>
              <a:rPr lang="en-US" altLang="zh-CN" sz="3300" dirty="0">
                <a:solidFill>
                  <a:srgbClr val="FF0000"/>
                </a:solidFill>
              </a:rPr>
              <a:t>;</a:t>
            </a:r>
            <a:r>
              <a:rPr lang="zh-CN" altLang="zh-CN" sz="3300" dirty="0">
                <a:solidFill>
                  <a:srgbClr val="FF0000"/>
                </a:solidFill>
              </a:rPr>
              <a:t>以</a:t>
            </a:r>
            <a:r>
              <a:rPr lang="en-US" altLang="zh-CN" sz="3300" dirty="0">
                <a:solidFill>
                  <a:srgbClr val="FF0000"/>
                </a:solidFill>
              </a:rPr>
              <a:t>…</a:t>
            </a:r>
            <a:r>
              <a:rPr lang="zh-CN" altLang="zh-CN" sz="3300" dirty="0">
                <a:solidFill>
                  <a:srgbClr val="FF0000"/>
                </a:solidFill>
              </a:rPr>
              <a:t>为背景</a:t>
            </a:r>
            <a:r>
              <a:rPr lang="en-US" altLang="zh-CN" sz="3300" dirty="0">
                <a:solidFill>
                  <a:srgbClr val="FF0000"/>
                </a:solidFill>
              </a:rPr>
              <a:t>;</a:t>
            </a:r>
            <a:r>
              <a:rPr lang="zh-CN" altLang="zh-CN" sz="3300" dirty="0">
                <a:solidFill>
                  <a:srgbClr val="FF0000"/>
                </a:solidFill>
              </a:rPr>
              <a:t>使与众不同</a:t>
            </a:r>
            <a:r>
              <a:rPr lang="en-US" altLang="zh-CN" sz="3300" dirty="0">
                <a:solidFill>
                  <a:srgbClr val="FF0000"/>
                </a:solidFill>
              </a:rPr>
              <a:t>; set off</a:t>
            </a:r>
            <a:r>
              <a:rPr lang="zh-CN" altLang="en-US" sz="3300" dirty="0">
                <a:solidFill>
                  <a:srgbClr val="FF0000"/>
                </a:solidFill>
              </a:rPr>
              <a:t>翻译</a:t>
            </a:r>
            <a:r>
              <a:rPr lang="en-US" altLang="zh-CN" sz="3300" dirty="0">
                <a:solidFill>
                  <a:srgbClr val="FF0000"/>
                </a:solidFill>
              </a:rPr>
              <a:t>;set forth</a:t>
            </a:r>
            <a:r>
              <a:rPr lang="zh-CN" altLang="en-US" sz="3300" dirty="0">
                <a:solidFill>
                  <a:srgbClr val="FF0000"/>
                </a:solidFill>
              </a:rPr>
              <a:t>翻译</a:t>
            </a:r>
            <a:r>
              <a:rPr lang="en-US" altLang="zh-CN" sz="3300" dirty="0">
                <a:solidFill>
                  <a:srgbClr val="FF0000"/>
                </a:solidFill>
              </a:rPr>
              <a:t>12.</a:t>
            </a:r>
            <a:r>
              <a:rPr lang="zh-CN" altLang="zh-CN"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冷淡的态度</a:t>
            </a:r>
            <a:r>
              <a:rPr lang="en-US"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13.</a:t>
            </a:r>
            <a:r>
              <a:rPr lang="zh-CN"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用</a:t>
            </a:r>
            <a:r>
              <a:rPr lang="en-US"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酬谢某人做了某事</a:t>
            </a:r>
            <a:r>
              <a:rPr lang="en-US"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得到回报取得成功</a:t>
            </a:r>
            <a:r>
              <a:rPr lang="en-US"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作为…的回报</a:t>
            </a:r>
            <a:r>
              <a:rPr lang="en-US"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3300" b="1" i="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a:t>
            </a:r>
            <a:r>
              <a:rPr lang="zh-CN" altLang="zh-CN"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有益的值得的</a:t>
            </a:r>
            <a:r>
              <a:rPr lang="en-US" altLang="zh-CN"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14.</a:t>
            </a:r>
            <a:r>
              <a:rPr lang="zh-CN" altLang="zh-CN" sz="3300" dirty="0">
                <a:solidFill>
                  <a:srgbClr val="FF0000"/>
                </a:solidFill>
              </a:rPr>
              <a:t>络绎不绝的游客</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滴水穿石</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15.</a:t>
            </a:r>
            <a:r>
              <a:rPr lang="zh-CN" altLang="zh-CN" sz="3300" kern="100" dirty="0">
                <a:latin typeface="Times New Roman" panose="02020603050405020304" pitchFamily="18" charset="0"/>
                <a:ea typeface="宋体" panose="02010600030101010101" pitchFamily="2" charset="-122"/>
                <a:cs typeface="Times New Roman" panose="02020603050405020304" pitchFamily="18" charset="0"/>
              </a:rPr>
              <a:t>符合逻辑的</a:t>
            </a:r>
            <a:r>
              <a:rPr lang="en-US" altLang="zh-CN" sz="3300" kern="100" dirty="0">
                <a:latin typeface="Times New Roman" panose="02020603050405020304" pitchFamily="18" charset="0"/>
                <a:ea typeface="宋体" panose="02010600030101010101" pitchFamily="2" charset="-122"/>
                <a:cs typeface="Times New Roman" panose="02020603050405020304" pitchFamily="18" charset="0"/>
              </a:rPr>
              <a:t>;</a:t>
            </a:r>
            <a:r>
              <a:rPr lang="zh-CN" altLang="zh-CN" sz="3300" kern="100" dirty="0">
                <a:latin typeface="Times New Roman" panose="02020603050405020304" pitchFamily="18" charset="0"/>
                <a:ea typeface="宋体" panose="02010600030101010101" pitchFamily="2" charset="-122"/>
                <a:cs typeface="Times New Roman" panose="02020603050405020304" pitchFamily="18" charset="0"/>
              </a:rPr>
              <a:t>不符合逻辑的</a:t>
            </a:r>
            <a:r>
              <a:rPr lang="en-US" altLang="zh-CN" sz="3300" kern="100" dirty="0">
                <a:latin typeface="Times New Roman" panose="02020603050405020304" pitchFamily="18" charset="0"/>
                <a:ea typeface="宋体" panose="02010600030101010101" pitchFamily="2" charset="-122"/>
                <a:cs typeface="Times New Roman" panose="02020603050405020304" pitchFamily="18" charset="0"/>
              </a:rPr>
              <a:t>;</a:t>
            </a:r>
            <a:r>
              <a:rPr lang="zh-CN" altLang="zh-CN" sz="3300" dirty="0">
                <a:latin typeface="Times New Roman" panose="02020603050405020304" pitchFamily="18" charset="0"/>
                <a:ea typeface="宋体" panose="02010600030101010101" pitchFamily="2" charset="-122"/>
                <a:cs typeface="Times New Roman" panose="02020603050405020304" pitchFamily="18" charset="0"/>
              </a:rPr>
              <a:t>逻辑</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16.</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内心的想法</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17.</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觉察到某人在做某事</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把</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视作</a:t>
            </a:r>
            <a:r>
              <a:rPr lang="zh-CN" altLang="en-US"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300" kern="100" dirty="0">
                <a:latin typeface="Times New Roman" panose="02020603050405020304" pitchFamily="18" charset="0"/>
                <a:ea typeface="宋体" panose="02010600030101010101" pitchFamily="2" charset="-122"/>
                <a:cs typeface="Times New Roman" panose="02020603050405020304" pitchFamily="18" charset="0"/>
              </a:rPr>
              <a:t>知觉</a:t>
            </a:r>
            <a:r>
              <a:rPr lang="en-US" altLang="zh-CN" sz="3300" kern="100" dirty="0">
                <a:latin typeface="Times New Roman" panose="02020603050405020304" pitchFamily="18" charset="0"/>
                <a:ea typeface="宋体" panose="02010600030101010101" pitchFamily="2" charset="-122"/>
                <a:cs typeface="Times New Roman" panose="02020603050405020304" pitchFamily="18" charset="0"/>
              </a:rPr>
              <a:t>;</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洞察力</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18.</a:t>
            </a:r>
            <a:r>
              <a:rPr lang="zh-CN"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把…变成现实</a:t>
            </a:r>
            <a:r>
              <a:rPr lang="en-US"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实际上</a:t>
            </a:r>
            <a:r>
              <a:rPr lang="en-US"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300" dirty="0">
                <a:solidFill>
                  <a:srgbClr val="FF0000"/>
                </a:solidFill>
              </a:rPr>
              <a:t>对某事物实事求是</a:t>
            </a:r>
            <a:r>
              <a:rPr lang="en-US" altLang="zh-CN" sz="3300" dirty="0">
                <a:solidFill>
                  <a:srgbClr val="FF0000"/>
                </a:solidFill>
              </a:rPr>
              <a:t>;adv.</a:t>
            </a:r>
            <a:r>
              <a:rPr lang="zh-CN" altLang="en-US" sz="3300" dirty="0">
                <a:solidFill>
                  <a:srgbClr val="FF0000"/>
                </a:solidFill>
              </a:rPr>
              <a:t>现实地</a:t>
            </a:r>
            <a:r>
              <a:rPr lang="en-US" altLang="zh-CN" sz="3300" dirty="0">
                <a:solidFill>
                  <a:srgbClr val="FF0000"/>
                </a:solidFill>
              </a:rPr>
              <a:t>19.</a:t>
            </a:r>
            <a:r>
              <a:rPr kumimoji="1" lang="zh-CN" altLang="en-US" sz="3300" u="sng" dirty="0">
                <a:solidFill>
                  <a:srgbClr val="FF0000"/>
                </a:solidFill>
              </a:rPr>
              <a:t>他泪眼模糊</a:t>
            </a:r>
            <a:r>
              <a:rPr kumimoji="1" lang="en-US" altLang="zh-CN" sz="3300" u="sng" dirty="0">
                <a:solidFill>
                  <a:srgbClr val="FF0000"/>
                </a:solidFill>
              </a:rPr>
              <a:t>20.</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小说家</a:t>
            </a:r>
            <a:r>
              <a:rPr lang="zh-CN"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小说</a:t>
            </a:r>
            <a:r>
              <a:rPr lang="en-US" altLang="zh-CN" sz="3300" b="1" i="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a:t>
            </a:r>
            <a:r>
              <a:rPr lang="zh-CN" altLang="zh-CN"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新颖的</a:t>
            </a:r>
            <a:r>
              <a:rPr lang="en-US" altLang="zh-CN"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21.</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n.</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理想</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完美的</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左右为难</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22.</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因害怕而变僵硬</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3300" i="1" kern="100" dirty="0">
                <a:latin typeface="Times New Roman" panose="02020603050405020304" pitchFamily="18" charset="0"/>
                <a:ea typeface="宋体" panose="02010600030101010101" pitchFamily="2" charset="-122"/>
                <a:cs typeface="Times New Roman" panose="02020603050405020304" pitchFamily="18" charset="0"/>
              </a:rPr>
              <a:t> n.</a:t>
            </a:r>
            <a:r>
              <a:rPr lang="zh-CN" altLang="zh-CN" sz="3300" kern="100" dirty="0">
                <a:latin typeface="Times New Roman" panose="02020603050405020304" pitchFamily="18" charset="0"/>
                <a:ea typeface="宋体" panose="02010600030101010101" pitchFamily="2" charset="-122"/>
                <a:cs typeface="Times New Roman" panose="02020603050405020304" pitchFamily="18" charset="0"/>
              </a:rPr>
              <a:t>呆板</a:t>
            </a:r>
            <a:r>
              <a:rPr lang="en-US" altLang="zh-CN" sz="33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3300" i="1" dirty="0">
                <a:latin typeface="Times New Roman" panose="02020603050405020304" pitchFamily="18" charset="0"/>
                <a:ea typeface="宋体" panose="02010600030101010101" pitchFamily="2" charset="-122"/>
                <a:cs typeface="Times New Roman" panose="02020603050405020304" pitchFamily="18" charset="0"/>
              </a:rPr>
              <a:t>ad.</a:t>
            </a:r>
            <a:r>
              <a:rPr lang="zh-CN" altLang="zh-CN" sz="3300" dirty="0">
                <a:latin typeface="Times New Roman" panose="02020603050405020304" pitchFamily="18" charset="0"/>
                <a:ea typeface="宋体" panose="02010600030101010101" pitchFamily="2" charset="-122"/>
                <a:cs typeface="Times New Roman" panose="02020603050405020304" pitchFamily="18" charset="0"/>
              </a:rPr>
              <a:t>固执地</a:t>
            </a:r>
            <a:r>
              <a:rPr lang="en-US" altLang="zh-CN" sz="3300" dirty="0">
                <a:latin typeface="Times New Roman" panose="02020603050405020304" pitchFamily="18" charset="0"/>
                <a:ea typeface="宋体" panose="02010600030101010101" pitchFamily="2" charset="-122"/>
                <a:cs typeface="Times New Roman" panose="02020603050405020304" pitchFamily="18" charset="0"/>
              </a:rPr>
              <a:t> 23.</a:t>
            </a:r>
            <a:r>
              <a:rPr lang="zh-CN" altLang="zh-CN" sz="3300" kern="100" dirty="0">
                <a:latin typeface="Times New Roman" panose="02020603050405020304" pitchFamily="18" charset="0"/>
                <a:ea typeface="宋体" panose="02010600030101010101" pitchFamily="2" charset="-122"/>
                <a:cs typeface="Times New Roman" panose="02020603050405020304" pitchFamily="18" charset="0"/>
              </a:rPr>
              <a:t>经历</a:t>
            </a:r>
            <a:r>
              <a:rPr lang="en-US" altLang="zh-CN" sz="3300" kern="100" dirty="0">
                <a:latin typeface="Times New Roman" panose="02020603050405020304" pitchFamily="18" charset="0"/>
                <a:ea typeface="宋体" panose="02010600030101010101" pitchFamily="2" charset="-122"/>
                <a:cs typeface="Times New Roman" panose="02020603050405020304" pitchFamily="18" charset="0"/>
              </a:rPr>
              <a:t>(__,__) 24.</a:t>
            </a:r>
            <a:r>
              <a:rPr lang="zh-CN"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提倡做某事</a:t>
            </a:r>
            <a:r>
              <a:rPr lang="en-US" altLang="zh-CN"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3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拥护者</a:t>
            </a:r>
            <a:endParaRPr lang="zh-CN" altLang="zh-CN" sz="3300" dirty="0">
              <a:solidFill>
                <a:srgbClr val="FF0000"/>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fontScale="85000" lnSpcReduction="20000"/>
          </a:bodyPr>
          <a:lstStyle/>
          <a:p>
            <a:r>
              <a:rPr lang="zh-CN" altLang="en-US" sz="3600" b="1" dirty="0"/>
              <a:t>凤</a:t>
            </a:r>
            <a:r>
              <a:rPr lang="en-US" altLang="zh-CN" sz="3600" b="1" dirty="0"/>
              <a:t>P73-80</a:t>
            </a:r>
          </a:p>
          <a:p>
            <a:r>
              <a:rPr lang="en-US" altLang="zh-CN" sz="3600" b="1" dirty="0">
                <a:solidFill>
                  <a:srgbClr val="FF0000"/>
                </a:solidFill>
              </a:rPr>
              <a:t> on-the-go </a:t>
            </a:r>
            <a:r>
              <a:rPr lang="zh-CN" altLang="en-US" sz="3600" b="1" dirty="0">
                <a:solidFill>
                  <a:srgbClr val="FF0000"/>
                </a:solidFill>
              </a:rPr>
              <a:t>忙个不停的</a:t>
            </a:r>
            <a:r>
              <a:rPr lang="en-US" altLang="zh-CN" sz="3600" b="1" dirty="0">
                <a:solidFill>
                  <a:srgbClr val="FF0000"/>
                </a:solidFill>
              </a:rPr>
              <a:t> reject v.</a:t>
            </a:r>
            <a:r>
              <a:rPr lang="zh-CN" altLang="en-US" sz="3600" b="1" dirty="0">
                <a:solidFill>
                  <a:srgbClr val="FF0000"/>
                </a:solidFill>
              </a:rPr>
              <a:t>拒绝</a:t>
            </a:r>
            <a:r>
              <a:rPr lang="en-US" altLang="zh-CN" sz="3600" b="1" dirty="0">
                <a:solidFill>
                  <a:srgbClr val="FF0000"/>
                </a:solidFill>
              </a:rPr>
              <a:t>;</a:t>
            </a:r>
            <a:r>
              <a:rPr lang="zh-CN" altLang="en-US" sz="3600" b="1" dirty="0">
                <a:solidFill>
                  <a:srgbClr val="FF0000"/>
                </a:solidFill>
              </a:rPr>
              <a:t>否认</a:t>
            </a:r>
            <a:r>
              <a:rPr lang="en-US" altLang="zh-CN" sz="3600" b="1" dirty="0">
                <a:solidFill>
                  <a:srgbClr val="FF0000"/>
                </a:solidFill>
              </a:rPr>
              <a:t>;</a:t>
            </a:r>
            <a:r>
              <a:rPr lang="zh-CN" altLang="en-US" sz="3600" b="1" dirty="0">
                <a:solidFill>
                  <a:srgbClr val="FF0000"/>
                </a:solidFill>
              </a:rPr>
              <a:t>排异</a:t>
            </a:r>
            <a:endParaRPr lang="en-US" altLang="zh-CN" sz="3600" b="1" dirty="0">
              <a:solidFill>
                <a:srgbClr val="FF0000"/>
              </a:solidFill>
            </a:endParaRPr>
          </a:p>
          <a:p>
            <a:r>
              <a:rPr lang="en-US" altLang="zh-CN" sz="3600" b="1" dirty="0">
                <a:solidFill>
                  <a:srgbClr val="FF0000"/>
                </a:solidFill>
              </a:rPr>
              <a:t> celebrity n.</a:t>
            </a:r>
            <a:r>
              <a:rPr lang="zh-CN" altLang="en-US" sz="3600" b="1" dirty="0">
                <a:solidFill>
                  <a:srgbClr val="FF0000"/>
                </a:solidFill>
              </a:rPr>
              <a:t>名人</a:t>
            </a:r>
            <a:r>
              <a:rPr lang="en-US" altLang="zh-CN" sz="3600" b="1" dirty="0">
                <a:solidFill>
                  <a:srgbClr val="FF0000"/>
                </a:solidFill>
              </a:rPr>
              <a:t>;</a:t>
            </a:r>
            <a:r>
              <a:rPr lang="zh-CN" altLang="en-US" sz="3600" b="1" dirty="0">
                <a:solidFill>
                  <a:srgbClr val="FF0000"/>
                </a:solidFill>
              </a:rPr>
              <a:t>名声</a:t>
            </a:r>
            <a:r>
              <a:rPr lang="en-US" altLang="zh-CN" sz="3600" b="1" dirty="0">
                <a:solidFill>
                  <a:srgbClr val="FF0000"/>
                </a:solidFill>
              </a:rPr>
              <a:t> leave behind</a:t>
            </a:r>
            <a:r>
              <a:rPr lang="zh-CN" altLang="en-US" sz="3600" b="1" dirty="0">
                <a:solidFill>
                  <a:srgbClr val="FF0000"/>
                </a:solidFill>
              </a:rPr>
              <a:t>遗弃</a:t>
            </a:r>
            <a:r>
              <a:rPr lang="en-US" altLang="zh-CN" sz="3600" b="1" dirty="0">
                <a:solidFill>
                  <a:srgbClr val="FF0000"/>
                </a:solidFill>
              </a:rPr>
              <a:t>;</a:t>
            </a:r>
            <a:r>
              <a:rPr lang="zh-CN" altLang="en-US" sz="3600" b="1" dirty="0">
                <a:solidFill>
                  <a:srgbClr val="FF0000"/>
                </a:solidFill>
              </a:rPr>
              <a:t>忘记</a:t>
            </a:r>
            <a:endParaRPr lang="en-US" altLang="zh-CN" sz="3600" b="1" dirty="0">
              <a:solidFill>
                <a:srgbClr val="FF0000"/>
              </a:solidFill>
            </a:endParaRPr>
          </a:p>
          <a:p>
            <a:r>
              <a:rPr lang="en-US" altLang="zh-CN" sz="3600" b="1" dirty="0">
                <a:solidFill>
                  <a:srgbClr val="FF0000"/>
                </a:solidFill>
              </a:rPr>
              <a:t> highlight the importance of</a:t>
            </a:r>
            <a:r>
              <a:rPr lang="zh-CN" altLang="en-US" sz="3600" b="1" dirty="0">
                <a:solidFill>
                  <a:srgbClr val="FF0000"/>
                </a:solidFill>
              </a:rPr>
              <a:t>强调</a:t>
            </a:r>
            <a:r>
              <a:rPr lang="en-US" altLang="zh-CN" sz="3600" b="1" dirty="0">
                <a:solidFill>
                  <a:srgbClr val="FF0000"/>
                </a:solidFill>
              </a:rPr>
              <a:t>…</a:t>
            </a:r>
            <a:r>
              <a:rPr lang="zh-CN" altLang="en-US" sz="3600" b="1" dirty="0">
                <a:solidFill>
                  <a:srgbClr val="FF0000"/>
                </a:solidFill>
              </a:rPr>
              <a:t>的重要性</a:t>
            </a:r>
            <a:endParaRPr lang="en-US" altLang="zh-CN" sz="3600" b="1" dirty="0">
              <a:solidFill>
                <a:srgbClr val="FF0000"/>
              </a:solidFill>
            </a:endParaRPr>
          </a:p>
          <a:p>
            <a:r>
              <a:rPr lang="en-US" altLang="zh-CN" sz="3600" b="1" dirty="0">
                <a:solidFill>
                  <a:srgbClr val="FF0000"/>
                </a:solidFill>
              </a:rPr>
              <a:t> be proposed by</a:t>
            </a:r>
            <a:r>
              <a:rPr lang="zh-CN" altLang="en-US" sz="3600" b="1" dirty="0">
                <a:solidFill>
                  <a:srgbClr val="FF0000"/>
                </a:solidFill>
              </a:rPr>
              <a:t>由</a:t>
            </a:r>
            <a:r>
              <a:rPr lang="en-US" altLang="zh-CN" sz="3600" b="1" dirty="0">
                <a:solidFill>
                  <a:srgbClr val="FF0000"/>
                </a:solidFill>
              </a:rPr>
              <a:t>…</a:t>
            </a:r>
            <a:r>
              <a:rPr lang="zh-CN" altLang="en-US" sz="3600" b="1" dirty="0">
                <a:solidFill>
                  <a:srgbClr val="FF0000"/>
                </a:solidFill>
              </a:rPr>
              <a:t>提议</a:t>
            </a:r>
            <a:endParaRPr lang="en-US" altLang="zh-CN" sz="3600" b="1" dirty="0">
              <a:solidFill>
                <a:srgbClr val="FF0000"/>
              </a:solidFill>
            </a:endParaRPr>
          </a:p>
          <a:p>
            <a:r>
              <a:rPr lang="en-US" altLang="zh-CN" sz="3600" b="1" dirty="0">
                <a:solidFill>
                  <a:srgbClr val="FF0000"/>
                </a:solidFill>
              </a:rPr>
              <a:t> settle a disagreement</a:t>
            </a:r>
            <a:r>
              <a:rPr lang="zh-CN" altLang="en-US" sz="3600" b="1" dirty="0">
                <a:solidFill>
                  <a:srgbClr val="FF0000"/>
                </a:solidFill>
              </a:rPr>
              <a:t>解决分歧</a:t>
            </a:r>
            <a:r>
              <a:rPr lang="en-US" altLang="zh-CN" sz="3600" b="1" dirty="0">
                <a:solidFill>
                  <a:srgbClr val="FF0000"/>
                </a:solidFill>
              </a:rPr>
              <a:t>  heroic adj.</a:t>
            </a:r>
            <a:r>
              <a:rPr lang="zh-CN" altLang="en-US" sz="3600" b="1" dirty="0">
                <a:solidFill>
                  <a:srgbClr val="FF0000"/>
                </a:solidFill>
              </a:rPr>
              <a:t>英雄的</a:t>
            </a:r>
            <a:endParaRPr lang="en-US" altLang="zh-CN" sz="3600" b="1" dirty="0">
              <a:solidFill>
                <a:srgbClr val="FF0000"/>
              </a:solidFill>
            </a:endParaRPr>
          </a:p>
          <a:p>
            <a:r>
              <a:rPr lang="en-US" altLang="zh-CN" sz="3600" b="1" dirty="0">
                <a:solidFill>
                  <a:srgbClr val="FF0000"/>
                </a:solidFill>
              </a:rPr>
              <a:t> be no match for</a:t>
            </a:r>
            <a:r>
              <a:rPr lang="zh-CN" altLang="en-US" sz="3600" b="1" dirty="0">
                <a:solidFill>
                  <a:srgbClr val="FF0000"/>
                </a:solidFill>
              </a:rPr>
              <a:t>不是</a:t>
            </a:r>
            <a:r>
              <a:rPr lang="en-US" altLang="zh-CN" sz="3600" b="1" dirty="0">
                <a:solidFill>
                  <a:srgbClr val="FF0000"/>
                </a:solidFill>
              </a:rPr>
              <a:t>…</a:t>
            </a:r>
            <a:r>
              <a:rPr lang="zh-CN" altLang="en-US" sz="3600" b="1" dirty="0">
                <a:solidFill>
                  <a:srgbClr val="FF0000"/>
                </a:solidFill>
              </a:rPr>
              <a:t>的对手</a:t>
            </a:r>
            <a:r>
              <a:rPr lang="en-US" altLang="zh-CN" sz="3600" b="1" dirty="0">
                <a:solidFill>
                  <a:srgbClr val="FF0000"/>
                </a:solidFill>
              </a:rPr>
              <a:t>;</a:t>
            </a:r>
            <a:r>
              <a:rPr lang="zh-CN" altLang="en-US" sz="3600" b="1" dirty="0">
                <a:solidFill>
                  <a:srgbClr val="FF0000"/>
                </a:solidFill>
              </a:rPr>
              <a:t>比不上</a:t>
            </a:r>
            <a:endParaRPr lang="en-US" altLang="zh-CN" sz="3600" b="1" dirty="0">
              <a:solidFill>
                <a:srgbClr val="FF0000"/>
              </a:solidFill>
            </a:endParaRPr>
          </a:p>
          <a:p>
            <a:r>
              <a:rPr lang="en-US" altLang="zh-CN" sz="3600" b="1" dirty="0">
                <a:solidFill>
                  <a:srgbClr val="FF0000"/>
                </a:solidFill>
              </a:rPr>
              <a:t> cheer up</a:t>
            </a:r>
            <a:r>
              <a:rPr lang="zh-CN" altLang="en-US" sz="3600" b="1" dirty="0">
                <a:solidFill>
                  <a:srgbClr val="FF0000"/>
                </a:solidFill>
              </a:rPr>
              <a:t>振作</a:t>
            </a:r>
            <a:r>
              <a:rPr lang="en-US" altLang="zh-CN" sz="3600" b="1" dirty="0">
                <a:solidFill>
                  <a:srgbClr val="FF0000"/>
                </a:solidFill>
              </a:rPr>
              <a:t>;</a:t>
            </a:r>
            <a:r>
              <a:rPr lang="zh-CN" altLang="en-US" sz="3600" b="1" dirty="0">
                <a:solidFill>
                  <a:srgbClr val="FF0000"/>
                </a:solidFill>
              </a:rPr>
              <a:t>高兴</a:t>
            </a:r>
            <a:r>
              <a:rPr lang="en-US" altLang="zh-CN" sz="3600" b="1" dirty="0">
                <a:solidFill>
                  <a:srgbClr val="FF0000"/>
                </a:solidFill>
              </a:rPr>
              <a:t> knock off</a:t>
            </a:r>
            <a:r>
              <a:rPr lang="zh-CN" altLang="en-US" sz="3600" b="1" dirty="0">
                <a:solidFill>
                  <a:srgbClr val="FF0000"/>
                </a:solidFill>
              </a:rPr>
              <a:t>停止</a:t>
            </a:r>
            <a:r>
              <a:rPr lang="en-US" altLang="zh-CN" sz="3600" b="1" dirty="0">
                <a:solidFill>
                  <a:srgbClr val="FF0000"/>
                </a:solidFill>
              </a:rPr>
              <a:t>;</a:t>
            </a:r>
            <a:r>
              <a:rPr lang="zh-CN" altLang="en-US" sz="3600" b="1" dirty="0">
                <a:solidFill>
                  <a:srgbClr val="FF0000"/>
                </a:solidFill>
              </a:rPr>
              <a:t>击败</a:t>
            </a:r>
            <a:endParaRPr lang="en-US" altLang="zh-CN" sz="3600" b="1" dirty="0">
              <a:solidFill>
                <a:srgbClr val="FF0000"/>
              </a:solidFill>
            </a:endParaRPr>
          </a:p>
          <a:p>
            <a:r>
              <a:rPr lang="en-US" altLang="zh-CN" sz="3600" b="1" dirty="0">
                <a:solidFill>
                  <a:srgbClr val="FF0000"/>
                </a:solidFill>
              </a:rPr>
              <a:t> store up</a:t>
            </a:r>
            <a:r>
              <a:rPr lang="zh-CN" altLang="en-US" sz="3600" b="1" dirty="0">
                <a:solidFill>
                  <a:srgbClr val="FF0000"/>
                </a:solidFill>
              </a:rPr>
              <a:t>存储收藏</a:t>
            </a:r>
            <a:r>
              <a:rPr lang="en-US" altLang="zh-CN" sz="3600" b="1" dirty="0">
                <a:solidFill>
                  <a:srgbClr val="FF0000"/>
                </a:solidFill>
              </a:rPr>
              <a:t> give away</a:t>
            </a:r>
            <a:r>
              <a:rPr lang="zh-CN" altLang="en-US" sz="3600" b="1" dirty="0">
                <a:solidFill>
                  <a:srgbClr val="FF0000"/>
                </a:solidFill>
              </a:rPr>
              <a:t>赠送</a:t>
            </a:r>
            <a:r>
              <a:rPr lang="en-US" altLang="zh-CN" sz="3600" b="1" dirty="0">
                <a:solidFill>
                  <a:srgbClr val="FF0000"/>
                </a:solidFill>
              </a:rPr>
              <a:t>;</a:t>
            </a:r>
            <a:r>
              <a:rPr lang="zh-CN" altLang="en-US" sz="3600" b="1" dirty="0">
                <a:solidFill>
                  <a:srgbClr val="FF0000"/>
                </a:solidFill>
              </a:rPr>
              <a:t>泄露</a:t>
            </a:r>
            <a:endParaRPr lang="en-US" altLang="zh-CN" sz="3600" b="1" dirty="0">
              <a:solidFill>
                <a:srgbClr val="FF0000"/>
              </a:solidFill>
            </a:endParaRPr>
          </a:p>
          <a:p>
            <a:r>
              <a:rPr lang="en-US" altLang="zh-CN" sz="3600" b="1" dirty="0">
                <a:solidFill>
                  <a:srgbClr val="FF0000"/>
                </a:solidFill>
              </a:rPr>
              <a:t> put on</a:t>
            </a:r>
            <a:r>
              <a:rPr lang="zh-CN" altLang="en-US" sz="3600" b="1" dirty="0">
                <a:solidFill>
                  <a:srgbClr val="FF0000"/>
                </a:solidFill>
              </a:rPr>
              <a:t>穿上</a:t>
            </a:r>
            <a:r>
              <a:rPr lang="en-US" altLang="zh-CN" sz="3600" b="1" dirty="0">
                <a:solidFill>
                  <a:srgbClr val="FF0000"/>
                </a:solidFill>
              </a:rPr>
              <a:t>;</a:t>
            </a:r>
            <a:r>
              <a:rPr lang="zh-CN" altLang="en-US" sz="3600" b="1" dirty="0">
                <a:solidFill>
                  <a:srgbClr val="FF0000"/>
                </a:solidFill>
              </a:rPr>
              <a:t>戴上</a:t>
            </a:r>
            <a:r>
              <a:rPr lang="en-US" altLang="zh-CN" sz="3600" b="1" dirty="0">
                <a:solidFill>
                  <a:srgbClr val="FF0000"/>
                </a:solidFill>
              </a:rPr>
              <a:t>;</a:t>
            </a:r>
            <a:r>
              <a:rPr lang="zh-CN" altLang="en-US" sz="3600" b="1" dirty="0">
                <a:solidFill>
                  <a:srgbClr val="FF0000"/>
                </a:solidFill>
              </a:rPr>
              <a:t>增加</a:t>
            </a:r>
            <a:r>
              <a:rPr lang="en-US" altLang="zh-CN" sz="3600" b="1" dirty="0">
                <a:solidFill>
                  <a:srgbClr val="FF0000"/>
                </a:solidFill>
              </a:rPr>
              <a:t>;</a:t>
            </a:r>
            <a:r>
              <a:rPr lang="zh-CN" altLang="en-US" sz="3600" b="1" dirty="0">
                <a:solidFill>
                  <a:srgbClr val="FF0000"/>
                </a:solidFill>
              </a:rPr>
              <a:t>假装</a:t>
            </a:r>
            <a:r>
              <a:rPr lang="en-US" altLang="zh-CN" sz="3600" b="1" dirty="0">
                <a:solidFill>
                  <a:srgbClr val="FF0000"/>
                </a:solidFill>
              </a:rPr>
              <a:t>;</a:t>
            </a:r>
            <a:r>
              <a:rPr lang="zh-CN" altLang="en-US" sz="3600" b="1" dirty="0">
                <a:solidFill>
                  <a:srgbClr val="FF0000"/>
                </a:solidFill>
              </a:rPr>
              <a:t>上演</a:t>
            </a:r>
            <a:r>
              <a:rPr lang="en-US" altLang="zh-CN" sz="3600" b="1" dirty="0">
                <a:solidFill>
                  <a:srgbClr val="FF0000"/>
                </a:solidFill>
              </a:rPr>
              <a:t> </a:t>
            </a:r>
            <a:r>
              <a:rPr lang="en-US" altLang="zh-CN" sz="3600" b="1" dirty="0"/>
              <a:t>search for</a:t>
            </a:r>
            <a:r>
              <a:rPr lang="zh-CN" altLang="en-US" sz="3600" b="1" dirty="0"/>
              <a:t>寻找</a:t>
            </a:r>
            <a:endParaRPr lang="en-US" altLang="zh-CN" sz="3600" b="1" dirty="0"/>
          </a:p>
          <a:p>
            <a:r>
              <a:rPr lang="en-US" altLang="zh-CN" sz="3600" b="1" dirty="0">
                <a:solidFill>
                  <a:srgbClr val="FF0000"/>
                </a:solidFill>
              </a:rPr>
              <a:t> beat</a:t>
            </a:r>
            <a:r>
              <a:rPr lang="zh-CN" altLang="en-US" sz="3600" b="1" dirty="0">
                <a:solidFill>
                  <a:srgbClr val="FF0000"/>
                </a:solidFill>
              </a:rPr>
              <a:t>节拍  </a:t>
            </a:r>
            <a:r>
              <a:rPr lang="en-US" altLang="zh-CN" sz="3600" b="1" dirty="0">
                <a:solidFill>
                  <a:srgbClr val="FF0000"/>
                </a:solidFill>
              </a:rPr>
              <a:t>be thankful for</a:t>
            </a:r>
            <a:r>
              <a:rPr lang="zh-CN" altLang="en-US" sz="3600" b="1" dirty="0">
                <a:solidFill>
                  <a:srgbClr val="FF0000"/>
                </a:solidFill>
              </a:rPr>
              <a:t>感激</a:t>
            </a:r>
            <a:r>
              <a:rPr lang="en-US" altLang="zh-CN" sz="3600" b="1" dirty="0">
                <a:solidFill>
                  <a:srgbClr val="FF0000"/>
                </a:solidFill>
              </a:rPr>
              <a:t> commenter</a:t>
            </a:r>
            <a:r>
              <a:rPr lang="zh-CN" altLang="en-US" sz="3600" b="1" dirty="0">
                <a:solidFill>
                  <a:srgbClr val="FF0000"/>
                </a:solidFill>
              </a:rPr>
              <a:t>评论家</a:t>
            </a:r>
            <a:r>
              <a:rPr lang="en-US" altLang="zh-CN" sz="3600" b="1" dirty="0">
                <a:solidFill>
                  <a:srgbClr val="FF0000"/>
                </a:solidFill>
              </a:rPr>
              <a:t>=critic</a:t>
            </a:r>
          </a:p>
          <a:p>
            <a:r>
              <a:rPr lang="en-US" altLang="zh-CN" sz="3600" b="1" dirty="0">
                <a:solidFill>
                  <a:srgbClr val="FF0000"/>
                </a:solidFill>
              </a:rPr>
              <a:t> another added, </a:t>
            </a:r>
            <a:r>
              <a:rPr lang="zh-CN" altLang="en-US" sz="3600" b="1" dirty="0">
                <a:solidFill>
                  <a:srgbClr val="FF0000"/>
                </a:solidFill>
              </a:rPr>
              <a:t>还有人补充道</a:t>
            </a:r>
            <a:endParaRPr lang="en-US" altLang="zh-CN" sz="3600" b="1" dirty="0">
              <a:solidFill>
                <a:srgbClr val="FF0000"/>
              </a:solidFill>
            </a:endParaRPr>
          </a:p>
          <a:p>
            <a:r>
              <a:rPr lang="en-US" altLang="zh-CN" sz="3600" b="1" dirty="0">
                <a:solidFill>
                  <a:srgbClr val="FF0000"/>
                </a:solidFill>
              </a:rPr>
              <a:t> make an impact</a:t>
            </a:r>
            <a:r>
              <a:rPr lang="zh-CN" altLang="en-US" sz="3600" b="1" dirty="0">
                <a:solidFill>
                  <a:srgbClr val="FF0000"/>
                </a:solidFill>
              </a:rPr>
              <a:t>产生影响</a:t>
            </a:r>
            <a:endParaRPr lang="en-US" altLang="zh-CN" sz="3600" b="1" dirty="0">
              <a:solidFill>
                <a:srgbClr val="FF0000"/>
              </a:solidFill>
            </a:endParaRPr>
          </a:p>
          <a:p>
            <a:r>
              <a:rPr lang="en-US" altLang="zh-CN" sz="3600" b="1" dirty="0">
                <a:solidFill>
                  <a:srgbClr val="FF0000"/>
                </a:solidFill>
              </a:rPr>
              <a:t> make an assumption</a:t>
            </a:r>
            <a:r>
              <a:rPr lang="zh-CN" altLang="en-US" sz="3600" b="1" dirty="0">
                <a:solidFill>
                  <a:srgbClr val="FF0000"/>
                </a:solidFill>
              </a:rPr>
              <a:t>作出假设</a:t>
            </a:r>
            <a:endParaRPr lang="en-US" altLang="zh-CN" sz="3600" b="1" dirty="0">
              <a:solidFill>
                <a:srgbClr val="FF0000"/>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sz="3600" b="1" dirty="0"/>
              <a:t>31. named             32.graduating </a:t>
            </a:r>
          </a:p>
          <a:p>
            <a:r>
              <a:rPr lang="en-US" altLang="zh-CN" sz="3600" b="1" dirty="0"/>
              <a:t>33. to take </a:t>
            </a:r>
          </a:p>
          <a:p>
            <a:r>
              <a:rPr lang="en-US" altLang="zh-CN" sz="3600" b="1" dirty="0">
                <a:solidFill>
                  <a:srgbClr val="FF0000"/>
                </a:solidFill>
              </a:rPr>
              <a:t>inspire sb. to do </a:t>
            </a:r>
            <a:r>
              <a:rPr lang="en-US" altLang="zh-CN" sz="3600" b="1" dirty="0" err="1">
                <a:solidFill>
                  <a:srgbClr val="FF0000"/>
                </a:solidFill>
              </a:rPr>
              <a:t>sth</a:t>
            </a:r>
            <a:r>
              <a:rPr lang="en-US" altLang="zh-CN" sz="3600" b="1" dirty="0">
                <a:solidFill>
                  <a:srgbClr val="FF0000"/>
                </a:solidFill>
              </a:rPr>
              <a:t>.</a:t>
            </a:r>
            <a:r>
              <a:rPr lang="zh-CN" altLang="en-US" sz="3600" b="1" dirty="0">
                <a:solidFill>
                  <a:srgbClr val="FF0000"/>
                </a:solidFill>
              </a:rPr>
              <a:t>激励某人做某事</a:t>
            </a:r>
            <a:r>
              <a:rPr lang="en-US" altLang="zh-CN" sz="3600" b="1" dirty="0">
                <a:solidFill>
                  <a:srgbClr val="FF0000"/>
                </a:solidFill>
              </a:rPr>
              <a:t> </a:t>
            </a:r>
          </a:p>
          <a:p>
            <a:r>
              <a:rPr lang="en-US" altLang="zh-CN" sz="3600" b="1" dirty="0"/>
              <a:t>34.devotion           35.</a:t>
            </a:r>
            <a:r>
              <a:rPr lang="en-US" altLang="zh-CN" sz="3600" b="1" dirty="0">
                <a:solidFill>
                  <a:srgbClr val="FF0000"/>
                </a:solidFill>
              </a:rPr>
              <a:t>companion n.</a:t>
            </a:r>
            <a:r>
              <a:rPr lang="zh-CN" altLang="en-US" sz="3600" b="1" dirty="0">
                <a:solidFill>
                  <a:srgbClr val="FF0000"/>
                </a:solidFill>
              </a:rPr>
              <a:t>同伴</a:t>
            </a:r>
            <a:r>
              <a:rPr lang="en-US" altLang="zh-CN" sz="3600" b="1" dirty="0">
                <a:solidFill>
                  <a:srgbClr val="FF0000"/>
                </a:solidFill>
              </a:rPr>
              <a:t>;</a:t>
            </a:r>
            <a:r>
              <a:rPr lang="zh-CN" altLang="en-US" sz="3600" b="1" dirty="0">
                <a:solidFill>
                  <a:srgbClr val="FF0000"/>
                </a:solidFill>
              </a:rPr>
              <a:t>伴侣</a:t>
            </a:r>
            <a:endParaRPr lang="en-US" altLang="zh-CN" sz="3600" b="1" dirty="0">
              <a:solidFill>
                <a:srgbClr val="FF0000"/>
              </a:solidFill>
            </a:endParaRPr>
          </a:p>
          <a:p>
            <a:r>
              <a:rPr lang="en-US" altLang="zh-CN" sz="3600" b="1" dirty="0"/>
              <a:t>36.with                   </a:t>
            </a:r>
            <a:r>
              <a:rPr lang="en-US" altLang="zh-CN" sz="3600" b="1" dirty="0">
                <a:solidFill>
                  <a:srgbClr val="FF0000"/>
                </a:solidFill>
              </a:rPr>
              <a:t>live with</a:t>
            </a:r>
            <a:r>
              <a:rPr lang="zh-CN" altLang="en-US" sz="3600" b="1" dirty="0">
                <a:solidFill>
                  <a:srgbClr val="FF0000"/>
                </a:solidFill>
              </a:rPr>
              <a:t>与</a:t>
            </a:r>
            <a:r>
              <a:rPr lang="en-US" altLang="zh-CN" sz="3600" b="1" dirty="0">
                <a:solidFill>
                  <a:srgbClr val="FF0000"/>
                </a:solidFill>
              </a:rPr>
              <a:t>…</a:t>
            </a:r>
            <a:r>
              <a:rPr lang="zh-CN" altLang="en-US" sz="3600" b="1" dirty="0">
                <a:solidFill>
                  <a:srgbClr val="FF0000"/>
                </a:solidFill>
              </a:rPr>
              <a:t>一起生活</a:t>
            </a:r>
            <a:r>
              <a:rPr lang="en-US" altLang="zh-CN" sz="3600" b="1" dirty="0">
                <a:solidFill>
                  <a:srgbClr val="FF0000"/>
                </a:solidFill>
              </a:rPr>
              <a:t>;</a:t>
            </a:r>
            <a:r>
              <a:rPr lang="zh-CN" altLang="en-US" sz="3600" b="1" dirty="0">
                <a:solidFill>
                  <a:srgbClr val="FF0000"/>
                </a:solidFill>
              </a:rPr>
              <a:t>接受忍受</a:t>
            </a:r>
            <a:endParaRPr lang="en-US" altLang="zh-CN" sz="3600" b="1" dirty="0">
              <a:solidFill>
                <a:srgbClr val="FF0000"/>
              </a:solidFill>
            </a:endParaRPr>
          </a:p>
          <a:p>
            <a:r>
              <a:rPr lang="en-US" altLang="zh-CN" sz="3600" b="1" dirty="0"/>
              <a:t>37.that                   </a:t>
            </a:r>
            <a:r>
              <a:rPr lang="en-US" altLang="zh-CN" sz="3600" b="1" i="1" dirty="0">
                <a:solidFill>
                  <a:srgbClr val="FF0000"/>
                </a:solidFill>
              </a:rPr>
              <a:t>It is…that…</a:t>
            </a:r>
            <a:r>
              <a:rPr lang="zh-CN" altLang="en-US" sz="3600" b="1" i="1" dirty="0">
                <a:solidFill>
                  <a:srgbClr val="FF0000"/>
                </a:solidFill>
              </a:rPr>
              <a:t>强调句型</a:t>
            </a:r>
            <a:endParaRPr lang="en-US" altLang="zh-CN" sz="3600" b="1" i="1" dirty="0">
              <a:solidFill>
                <a:srgbClr val="FF0000"/>
              </a:solidFill>
            </a:endParaRPr>
          </a:p>
          <a:p>
            <a:r>
              <a:rPr lang="en-US" altLang="zh-CN" sz="3600" b="1" dirty="0"/>
              <a:t>38.are faced with</a:t>
            </a:r>
          </a:p>
          <a:p>
            <a:r>
              <a:rPr lang="en-US" altLang="zh-CN" sz="3600" b="1" dirty="0">
                <a:solidFill>
                  <a:srgbClr val="FF0000"/>
                </a:solidFill>
              </a:rPr>
              <a:t> sb. face </a:t>
            </a:r>
            <a:r>
              <a:rPr lang="en-US" altLang="zh-CN" sz="3600" b="1" dirty="0" err="1">
                <a:solidFill>
                  <a:srgbClr val="FF0000"/>
                </a:solidFill>
              </a:rPr>
              <a:t>sth</a:t>
            </a:r>
            <a:r>
              <a:rPr lang="en-US" altLang="zh-CN" sz="3600" b="1" dirty="0">
                <a:solidFill>
                  <a:srgbClr val="FF0000"/>
                </a:solidFill>
              </a:rPr>
              <a:t>.= sb. be faced with </a:t>
            </a:r>
            <a:r>
              <a:rPr lang="en-US" altLang="zh-CN" sz="3600" b="1" dirty="0" err="1">
                <a:solidFill>
                  <a:srgbClr val="FF0000"/>
                </a:solidFill>
              </a:rPr>
              <a:t>sth</a:t>
            </a:r>
            <a:r>
              <a:rPr lang="en-US" altLang="zh-CN" sz="3600" b="1" dirty="0">
                <a:solidFill>
                  <a:srgbClr val="FF0000"/>
                </a:solidFill>
              </a:rPr>
              <a:t>.</a:t>
            </a:r>
            <a:r>
              <a:rPr lang="zh-CN" altLang="en-US" sz="3600" b="1" dirty="0">
                <a:solidFill>
                  <a:srgbClr val="FF0000"/>
                </a:solidFill>
              </a:rPr>
              <a:t>面对</a:t>
            </a:r>
            <a:endParaRPr lang="en-US" altLang="zh-CN" sz="3600" b="1" dirty="0">
              <a:solidFill>
                <a:srgbClr val="FF0000"/>
              </a:solidFill>
            </a:endParaRPr>
          </a:p>
          <a:p>
            <a:r>
              <a:rPr lang="en-US" altLang="zh-CN" sz="3600" b="1" dirty="0"/>
              <a:t>39.</a:t>
            </a:r>
            <a:r>
              <a:rPr lang="en-US" altLang="zh-CN" sz="3600" b="1"/>
              <a:t>Without            40</a:t>
            </a:r>
            <a:r>
              <a:rPr lang="en-US" altLang="zh-CN" sz="3600" b="1" dirty="0"/>
              <a:t>.</a:t>
            </a:r>
            <a:r>
              <a:rPr lang="en-US" altLang="zh-CN" sz="3600" b="1" dirty="0">
                <a:solidFill>
                  <a:srgbClr val="FF0000"/>
                </a:solidFill>
              </a:rPr>
              <a:t>fame n.</a:t>
            </a:r>
            <a:r>
              <a:rPr lang="zh-CN" altLang="en-US" sz="3600" b="1" dirty="0">
                <a:solidFill>
                  <a:srgbClr val="FF0000"/>
                </a:solidFill>
              </a:rPr>
              <a:t>名望</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sz="3600" b="1" dirty="0"/>
              <a:t>P39-40</a:t>
            </a:r>
            <a:r>
              <a:rPr lang="zh-CN" altLang="en-US" sz="3600" b="1" dirty="0"/>
              <a:t>词组</a:t>
            </a:r>
            <a:endParaRPr lang="en-US" altLang="zh-CN" sz="3600" b="1" dirty="0"/>
          </a:p>
          <a:p>
            <a:r>
              <a:rPr lang="en-US" altLang="zh-CN" sz="3600" b="1" dirty="0"/>
              <a:t>1.</a:t>
            </a:r>
            <a:r>
              <a:rPr lang="zh-CN" altLang="en-US" sz="3600" b="1" dirty="0"/>
              <a:t>洞悉</a:t>
            </a:r>
            <a:r>
              <a:rPr lang="en-US" altLang="zh-CN" sz="3600" b="1" dirty="0"/>
              <a:t>…</a:t>
            </a:r>
            <a:r>
              <a:rPr lang="zh-CN" altLang="en-US" sz="3600" b="1" dirty="0"/>
              <a:t>生活面貌</a:t>
            </a:r>
            <a:r>
              <a:rPr lang="en-US" altLang="zh-CN" sz="3600" b="1" dirty="0"/>
              <a:t>2.</a:t>
            </a:r>
            <a:r>
              <a:rPr lang="zh-CN" altLang="en-US" sz="3600" b="1" dirty="0"/>
              <a:t>历经沧桑</a:t>
            </a:r>
            <a:r>
              <a:rPr lang="en-US" altLang="zh-CN" sz="3600" b="1" dirty="0"/>
              <a:t>3.</a:t>
            </a:r>
            <a:r>
              <a:rPr lang="zh-CN" altLang="en-US" sz="3600" b="1" dirty="0"/>
              <a:t>藏于 </a:t>
            </a:r>
            <a:r>
              <a:rPr lang="en-US" altLang="zh-CN" sz="3600" b="1" dirty="0"/>
              <a:t>4.</a:t>
            </a:r>
            <a:r>
              <a:rPr lang="zh-CN" altLang="en-US" sz="3600" b="1" dirty="0"/>
              <a:t>由</a:t>
            </a:r>
            <a:r>
              <a:rPr lang="en-US" altLang="zh-CN" sz="3600" b="1" dirty="0"/>
              <a:t>…</a:t>
            </a:r>
            <a:r>
              <a:rPr lang="zh-CN" altLang="en-US" sz="3600" b="1" dirty="0"/>
              <a:t>组成</a:t>
            </a:r>
            <a:r>
              <a:rPr lang="en-US" altLang="zh-CN" sz="3600" b="1" dirty="0"/>
              <a:t>5.</a:t>
            </a:r>
            <a:r>
              <a:rPr lang="zh-CN" altLang="en-US" sz="3600" b="1" dirty="0"/>
              <a:t>展现了恬静的乡村生活</a:t>
            </a:r>
            <a:r>
              <a:rPr lang="en-US" altLang="zh-CN" sz="3600" b="1" dirty="0"/>
              <a:t>6.</a:t>
            </a:r>
            <a:r>
              <a:rPr lang="zh-CN" altLang="en-US" sz="3600" b="1" dirty="0"/>
              <a:t>蜿蜒而过的河流</a:t>
            </a:r>
            <a:r>
              <a:rPr lang="en-US" altLang="zh-CN" sz="3600" b="1" dirty="0"/>
              <a:t>7.</a:t>
            </a:r>
            <a:r>
              <a:rPr lang="zh-CN" altLang="en-US" sz="3600" b="1" dirty="0"/>
              <a:t>各行各业的人</a:t>
            </a:r>
            <a:r>
              <a:rPr lang="en-US" altLang="zh-CN" sz="3600" b="1" dirty="0"/>
              <a:t>8.</a:t>
            </a:r>
            <a:r>
              <a:rPr lang="zh-CN" altLang="en-US" sz="3600" b="1" dirty="0"/>
              <a:t>忙着各自的营生</a:t>
            </a:r>
            <a:r>
              <a:rPr lang="en-US" altLang="zh-CN" sz="3600" b="1" dirty="0"/>
              <a:t>9.</a:t>
            </a:r>
            <a:r>
              <a:rPr lang="zh-CN" altLang="en-US" sz="3600" b="1" dirty="0"/>
              <a:t>综合起来</a:t>
            </a:r>
            <a:r>
              <a:rPr lang="en-US" altLang="zh-CN" sz="3600" b="1" dirty="0"/>
              <a:t>10.</a:t>
            </a:r>
            <a:r>
              <a:rPr lang="zh-CN" altLang="en-US" sz="3600" b="1" dirty="0"/>
              <a:t>表现了他高妙的艺术技巧</a:t>
            </a:r>
            <a:r>
              <a:rPr lang="en-US" altLang="zh-CN" sz="3600" b="1" dirty="0"/>
              <a:t>11.</a:t>
            </a:r>
            <a:r>
              <a:rPr lang="zh-CN" altLang="en-US" sz="3600" b="1" dirty="0"/>
              <a:t>全面展示了北宋时期的生活景象</a:t>
            </a:r>
            <a:r>
              <a:rPr lang="en-US" altLang="zh-CN" sz="3600" b="1" dirty="0"/>
              <a:t>12.</a:t>
            </a:r>
            <a:r>
              <a:rPr lang="zh-CN" altLang="en-US" sz="3600" b="1" dirty="0"/>
              <a:t>种类繁多的建筑</a:t>
            </a:r>
            <a:r>
              <a:rPr lang="en-US" altLang="zh-CN" sz="3600" b="1" dirty="0"/>
              <a:t>13.</a:t>
            </a:r>
            <a:r>
              <a:rPr lang="zh-CN" altLang="en-US" sz="3600" b="1" dirty="0"/>
              <a:t>乍看上去</a:t>
            </a:r>
            <a:r>
              <a:rPr lang="en-US" altLang="zh-CN" sz="3600" b="1" dirty="0"/>
              <a:t>14.</a:t>
            </a:r>
            <a:r>
              <a:rPr lang="zh-CN" altLang="en-US" sz="3600" b="1" dirty="0"/>
              <a:t>细心观察</a:t>
            </a:r>
            <a:r>
              <a:rPr lang="en-US" altLang="zh-CN" sz="3600" b="1" dirty="0"/>
              <a:t>15.</a:t>
            </a:r>
            <a:r>
              <a:rPr lang="zh-CN" altLang="en-US" sz="3600" b="1" dirty="0"/>
              <a:t>揭露了严重的政治和社会问题</a:t>
            </a:r>
            <a:r>
              <a:rPr lang="en-US" altLang="zh-CN" sz="3600" b="1" dirty="0"/>
              <a:t>16.</a:t>
            </a:r>
            <a:r>
              <a:rPr lang="zh-CN" altLang="en-US" sz="3600" b="1" dirty="0"/>
              <a:t>失控 </a:t>
            </a:r>
            <a:r>
              <a:rPr lang="en-US" altLang="zh-CN" sz="3600" b="1" dirty="0"/>
              <a:t>17.</a:t>
            </a:r>
            <a:r>
              <a:rPr lang="zh-CN" altLang="en-US" sz="3600" b="1" dirty="0"/>
              <a:t>似乎疏于职守 </a:t>
            </a:r>
            <a:r>
              <a:rPr lang="en-US" altLang="zh-CN" sz="3600" b="1" dirty="0"/>
              <a:t>18.</a:t>
            </a:r>
            <a:r>
              <a:rPr lang="zh-CN" altLang="en-US" sz="3600" b="1" dirty="0"/>
              <a:t>有撞到桥的危险</a:t>
            </a:r>
            <a:r>
              <a:rPr lang="en-US" altLang="zh-CN" sz="3600" b="1" dirty="0"/>
              <a:t>19.</a:t>
            </a:r>
            <a:r>
              <a:rPr lang="zh-CN" altLang="en-US" sz="3600" b="1" dirty="0"/>
              <a:t>走下坡路</a:t>
            </a:r>
            <a:r>
              <a:rPr lang="en-US" altLang="zh-CN" sz="3600" b="1" dirty="0"/>
              <a:t> 20.</a:t>
            </a:r>
            <a:r>
              <a:rPr lang="zh-CN" altLang="en-US" sz="3600" b="1" dirty="0"/>
              <a:t>覆灭</a:t>
            </a:r>
            <a:r>
              <a:rPr lang="en-US" altLang="zh-CN" sz="3600" b="1" dirty="0"/>
              <a:t>21.</a:t>
            </a:r>
            <a:r>
              <a:rPr lang="zh-CN" altLang="en-US" sz="3600" b="1" dirty="0"/>
              <a:t>在于</a:t>
            </a:r>
            <a:r>
              <a:rPr lang="en-US" altLang="zh-CN" sz="3600" b="1" dirty="0"/>
              <a:t>,</a:t>
            </a:r>
            <a:r>
              <a:rPr lang="zh-CN" altLang="en-US" sz="3600" b="1" dirty="0"/>
              <a:t>归因于 </a:t>
            </a:r>
            <a:r>
              <a:rPr lang="en-US" altLang="zh-CN" sz="3600" b="1" dirty="0"/>
              <a:t>22.</a:t>
            </a:r>
            <a:r>
              <a:rPr lang="zh-CN" altLang="en-US" sz="3600" b="1" dirty="0"/>
              <a:t>其价值之高，以至</a:t>
            </a:r>
            <a:r>
              <a:rPr lang="en-US" altLang="zh-CN" sz="3600" b="1" dirty="0"/>
              <a:t>… 23.</a:t>
            </a:r>
            <a:r>
              <a:rPr lang="zh-CN" altLang="en-US" sz="3600" b="1" dirty="0"/>
              <a:t>临摹</a:t>
            </a:r>
            <a:r>
              <a:rPr lang="en-US" altLang="zh-CN" sz="3600" b="1" dirty="0"/>
              <a:t>24.</a:t>
            </a:r>
            <a:r>
              <a:rPr lang="zh-CN" altLang="en-US" sz="3600" b="1" dirty="0"/>
              <a:t>摹本自身被视为艺术珍品</a:t>
            </a:r>
            <a:r>
              <a:rPr lang="en-US" altLang="zh-CN" sz="3600" b="1" dirty="0"/>
              <a:t>25.</a:t>
            </a:r>
            <a:r>
              <a:rPr lang="zh-CN" altLang="en-US" sz="3600" b="1" dirty="0"/>
              <a:t>对</a:t>
            </a:r>
            <a:r>
              <a:rPr lang="en-US" altLang="zh-CN" sz="3600" b="1" dirty="0"/>
              <a:t>…</a:t>
            </a:r>
            <a:r>
              <a:rPr lang="zh-CN" altLang="en-US" sz="3600" b="1" dirty="0"/>
              <a:t>做出了卓越贡献</a:t>
            </a:r>
            <a:r>
              <a:rPr lang="en-US" altLang="zh-CN" sz="3600" b="1" dirty="0"/>
              <a:t>26.</a:t>
            </a:r>
            <a:r>
              <a:rPr lang="zh-CN" altLang="en-US" sz="3600" b="1" dirty="0"/>
              <a:t>完好</a:t>
            </a:r>
            <a:r>
              <a:rPr lang="en-US" altLang="zh-CN" sz="3600" b="1" dirty="0"/>
              <a:t>27.</a:t>
            </a:r>
            <a:r>
              <a:rPr lang="zh-CN" altLang="en-US" sz="3600" b="1" dirty="0"/>
              <a:t>极为脆弱</a:t>
            </a:r>
            <a:r>
              <a:rPr lang="en-US" altLang="zh-CN" sz="3600" b="1" dirty="0"/>
              <a:t>28.</a:t>
            </a:r>
            <a:r>
              <a:rPr lang="zh-CN" altLang="en-US" sz="3600" b="1" dirty="0"/>
              <a:t>展出</a:t>
            </a:r>
            <a:r>
              <a:rPr lang="en-US" altLang="zh-CN" sz="3600" b="1" dirty="0"/>
              <a:t>29.</a:t>
            </a:r>
            <a:r>
              <a:rPr lang="zh-CN" altLang="en-US" sz="3600" b="1" dirty="0"/>
              <a:t>热情不减</a:t>
            </a:r>
            <a:r>
              <a:rPr lang="en-US" altLang="zh-CN" sz="3600" b="1" dirty="0"/>
              <a:t>30.</a:t>
            </a:r>
            <a:r>
              <a:rPr lang="zh-CN" altLang="en-US" sz="3600" b="1" dirty="0"/>
              <a:t>足以证明这幅历史名画的魅力</a:t>
            </a:r>
            <a:endParaRPr lang="zh-CN" altLang="en-US" sz="3600" b="1" dirty="0">
              <a:solidFill>
                <a:srgbClr val="FF0000"/>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lnSpcReduction="10000"/>
          </a:bodyPr>
          <a:lstStyle/>
          <a:p>
            <a:r>
              <a:rPr lang="zh-CN" altLang="en-US" sz="3600" b="1" dirty="0">
                <a:solidFill>
                  <a:srgbClr val="FF0000"/>
                </a:solidFill>
              </a:rPr>
              <a:t>试卷</a:t>
            </a:r>
            <a:r>
              <a:rPr lang="en-US" altLang="zh-CN" sz="3600" b="1" dirty="0">
                <a:solidFill>
                  <a:srgbClr val="FF0000"/>
                </a:solidFill>
              </a:rPr>
              <a:t> 1.interest</a:t>
            </a:r>
            <a:r>
              <a:rPr lang="zh-CN" altLang="en-US" sz="3600" b="1" dirty="0">
                <a:solidFill>
                  <a:srgbClr val="FF0000"/>
                </a:solidFill>
              </a:rPr>
              <a:t>翻译</a:t>
            </a:r>
            <a:r>
              <a:rPr lang="en-US" altLang="zh-CN" sz="3600" b="1" dirty="0">
                <a:solidFill>
                  <a:srgbClr val="FF0000"/>
                </a:solidFill>
              </a:rPr>
              <a:t>;balance</a:t>
            </a:r>
            <a:r>
              <a:rPr lang="zh-CN" altLang="en-US" sz="3600" b="1" dirty="0">
                <a:solidFill>
                  <a:srgbClr val="FF0000"/>
                </a:solidFill>
              </a:rPr>
              <a:t>翻译</a:t>
            </a:r>
            <a:r>
              <a:rPr lang="en-US" altLang="zh-CN" sz="3600" b="1" dirty="0">
                <a:solidFill>
                  <a:srgbClr val="FF0000"/>
                </a:solidFill>
              </a:rPr>
              <a:t> 2.</a:t>
            </a:r>
            <a:r>
              <a:rPr lang="zh-CN" altLang="zh-CN" sz="3600" b="1" dirty="0">
                <a:solidFill>
                  <a:srgbClr val="FF0000"/>
                </a:solidFill>
              </a:rPr>
              <a:t>必不可少的</a:t>
            </a:r>
            <a:r>
              <a:rPr lang="zh-CN" altLang="en-US" sz="3600" b="1" dirty="0">
                <a:solidFill>
                  <a:srgbClr val="FF0000"/>
                </a:solidFill>
              </a:rPr>
              <a:t>金融工具 </a:t>
            </a:r>
            <a:endParaRPr lang="en-US" altLang="zh-CN" sz="3600" b="1" dirty="0">
              <a:solidFill>
                <a:srgbClr val="FF0000"/>
              </a:solidFill>
            </a:endParaRPr>
          </a:p>
          <a:p>
            <a:r>
              <a:rPr lang="en-US" altLang="zh-CN" sz="3600" b="1" dirty="0">
                <a:solidFill>
                  <a:srgbClr val="FF0000"/>
                </a:solidFill>
              </a:rPr>
              <a:t>3.</a:t>
            </a:r>
            <a:r>
              <a:rPr lang="zh-CN" altLang="en-US" sz="3600" b="1" dirty="0">
                <a:solidFill>
                  <a:srgbClr val="FF0000"/>
                </a:solidFill>
              </a:rPr>
              <a:t>与我们的期望相去甚远</a:t>
            </a:r>
            <a:r>
              <a:rPr lang="en-US" altLang="zh-CN" sz="3600" b="1" dirty="0">
                <a:solidFill>
                  <a:srgbClr val="FF0000"/>
                </a:solidFill>
              </a:rPr>
              <a:t> 4.</a:t>
            </a:r>
            <a:r>
              <a:rPr lang="zh-CN" altLang="zh-CN" sz="3600" b="1" dirty="0">
                <a:solidFill>
                  <a:srgbClr val="FF0000"/>
                </a:solidFill>
              </a:rPr>
              <a:t>便利性</a:t>
            </a:r>
            <a:r>
              <a:rPr lang="zh-CN" altLang="en-US" sz="3600" b="1" dirty="0">
                <a:solidFill>
                  <a:srgbClr val="FF0000"/>
                </a:solidFill>
              </a:rPr>
              <a:t>和</a:t>
            </a:r>
            <a:r>
              <a:rPr lang="zh-CN" altLang="zh-CN" sz="3600" b="1" dirty="0">
                <a:solidFill>
                  <a:srgbClr val="FF0000"/>
                </a:solidFill>
              </a:rPr>
              <a:t>灵活性</a:t>
            </a:r>
            <a:r>
              <a:rPr lang="en-US" altLang="zh-CN" sz="3600" b="1" dirty="0">
                <a:solidFill>
                  <a:srgbClr val="FF0000"/>
                </a:solidFill>
              </a:rPr>
              <a:t>5.</a:t>
            </a:r>
            <a:r>
              <a:rPr lang="zh-CN" altLang="en-US" sz="3600" b="1" dirty="0">
                <a:solidFill>
                  <a:srgbClr val="FF0000"/>
                </a:solidFill>
              </a:rPr>
              <a:t>心理问题 </a:t>
            </a:r>
            <a:endParaRPr lang="en-US" altLang="zh-CN" sz="3600" b="1" dirty="0">
              <a:solidFill>
                <a:srgbClr val="FF0000"/>
              </a:solidFill>
            </a:endParaRPr>
          </a:p>
          <a:p>
            <a:r>
              <a:rPr lang="en-US" altLang="zh-CN" sz="3600" b="1" dirty="0">
                <a:solidFill>
                  <a:srgbClr val="FF0000"/>
                </a:solidFill>
              </a:rPr>
              <a:t>6.</a:t>
            </a:r>
            <a:r>
              <a:rPr lang="zh-CN" altLang="en-US" sz="3600" b="1" dirty="0">
                <a:solidFill>
                  <a:srgbClr val="FF0000"/>
                </a:solidFill>
              </a:rPr>
              <a:t>欠债 </a:t>
            </a:r>
            <a:r>
              <a:rPr lang="en-US" altLang="zh-CN" sz="3600" b="1" dirty="0">
                <a:solidFill>
                  <a:srgbClr val="FF0000"/>
                </a:solidFill>
              </a:rPr>
              <a:t>7.</a:t>
            </a:r>
            <a:r>
              <a:rPr lang="zh-CN" altLang="en-US" sz="3600" b="1" dirty="0">
                <a:solidFill>
                  <a:srgbClr val="FF0000"/>
                </a:solidFill>
              </a:rPr>
              <a:t>身体健康 </a:t>
            </a:r>
            <a:r>
              <a:rPr lang="en-US" altLang="zh-CN" sz="3600" b="1" dirty="0">
                <a:solidFill>
                  <a:srgbClr val="FF0000"/>
                </a:solidFill>
              </a:rPr>
              <a:t>8.</a:t>
            </a:r>
            <a:r>
              <a:rPr lang="zh-CN" altLang="en-US" sz="3600" b="1" dirty="0">
                <a:solidFill>
                  <a:srgbClr val="FF0000"/>
                </a:solidFill>
              </a:rPr>
              <a:t>多样性</a:t>
            </a:r>
            <a:r>
              <a:rPr lang="en-US" altLang="zh-CN" sz="3600" dirty="0"/>
              <a:t>9.</a:t>
            </a:r>
            <a:r>
              <a:rPr lang="zh-CN" altLang="en-US" sz="3600" dirty="0"/>
              <a:t>残疾人权益倡导者</a:t>
            </a:r>
            <a:r>
              <a:rPr lang="en-US" altLang="zh-CN" sz="3600" b="1" dirty="0">
                <a:solidFill>
                  <a:srgbClr val="FF0000"/>
                </a:solidFill>
              </a:rPr>
              <a:t>10.</a:t>
            </a:r>
            <a:r>
              <a:rPr lang="zh-CN" altLang="en-US" sz="3600" b="1" dirty="0">
                <a:solidFill>
                  <a:srgbClr val="FF0000"/>
                </a:solidFill>
              </a:rPr>
              <a:t>决心做</a:t>
            </a:r>
            <a:endParaRPr lang="en-US" altLang="zh-CN" sz="3600" b="1" dirty="0">
              <a:solidFill>
                <a:srgbClr val="FF0000"/>
              </a:solidFill>
            </a:endParaRPr>
          </a:p>
          <a:p>
            <a:r>
              <a:rPr lang="en-US" altLang="zh-CN" sz="3600" b="1" dirty="0">
                <a:solidFill>
                  <a:srgbClr val="FF0000"/>
                </a:solidFill>
              </a:rPr>
              <a:t>11.</a:t>
            </a:r>
            <a:r>
              <a:rPr lang="zh-CN" altLang="en-US" sz="3600" b="1" dirty="0">
                <a:solidFill>
                  <a:srgbClr val="FF0000"/>
                </a:solidFill>
              </a:rPr>
              <a:t>起初</a:t>
            </a:r>
            <a:r>
              <a:rPr lang="en-US" altLang="zh-CN" sz="3600" b="1" dirty="0">
                <a:solidFill>
                  <a:srgbClr val="FF0000"/>
                </a:solidFill>
              </a:rPr>
              <a:t> 12.hold back</a:t>
            </a:r>
            <a:r>
              <a:rPr lang="zh-CN" altLang="en-US" sz="3600" b="1" dirty="0">
                <a:solidFill>
                  <a:srgbClr val="FF0000"/>
                </a:solidFill>
              </a:rPr>
              <a:t>翻译</a:t>
            </a:r>
            <a:r>
              <a:rPr lang="en-US" altLang="zh-CN" sz="3600" b="1" dirty="0">
                <a:solidFill>
                  <a:srgbClr val="FF0000"/>
                </a:solidFill>
              </a:rPr>
              <a:t>;out of place</a:t>
            </a:r>
            <a:r>
              <a:rPr lang="zh-CN" altLang="en-US" sz="3600" b="1" dirty="0">
                <a:solidFill>
                  <a:srgbClr val="FF0000"/>
                </a:solidFill>
              </a:rPr>
              <a:t>翻译</a:t>
            </a:r>
            <a:r>
              <a:rPr lang="en-US" altLang="zh-CN" sz="3600" b="1" dirty="0">
                <a:solidFill>
                  <a:srgbClr val="FF0000"/>
                </a:solidFill>
              </a:rPr>
              <a:t>;</a:t>
            </a:r>
            <a:r>
              <a:rPr lang="zh-CN" altLang="en-US" sz="3600" b="1" dirty="0">
                <a:solidFill>
                  <a:srgbClr val="FF0000"/>
                </a:solidFill>
              </a:rPr>
              <a:t> </a:t>
            </a:r>
            <a:r>
              <a:rPr lang="en-US" altLang="zh-CN" sz="3600" b="1" dirty="0">
                <a:solidFill>
                  <a:srgbClr val="FF0000"/>
                </a:solidFill>
              </a:rPr>
              <a:t>in the way</a:t>
            </a:r>
            <a:r>
              <a:rPr lang="zh-CN" altLang="en-US" sz="3600" b="1" dirty="0">
                <a:solidFill>
                  <a:srgbClr val="FF0000"/>
                </a:solidFill>
              </a:rPr>
              <a:t>译</a:t>
            </a:r>
            <a:endParaRPr lang="en-US" altLang="zh-CN" sz="3600" b="1" dirty="0">
              <a:solidFill>
                <a:srgbClr val="FF0000"/>
              </a:solidFill>
            </a:endParaRPr>
          </a:p>
          <a:p>
            <a:r>
              <a:rPr lang="en-US" altLang="zh-CN" sz="3600" b="1" dirty="0">
                <a:solidFill>
                  <a:srgbClr val="FF0000"/>
                </a:solidFill>
              </a:rPr>
              <a:t>13.</a:t>
            </a:r>
            <a:r>
              <a:rPr lang="zh-CN" altLang="en-US" sz="3600" b="1" dirty="0">
                <a:solidFill>
                  <a:srgbClr val="FF0000"/>
                </a:solidFill>
              </a:rPr>
              <a:t>应对挑战</a:t>
            </a:r>
            <a:r>
              <a:rPr lang="en-US" altLang="zh-CN" sz="3600" b="1" dirty="0">
                <a:solidFill>
                  <a:srgbClr val="FF0000"/>
                </a:solidFill>
              </a:rPr>
              <a:t>14.</a:t>
            </a:r>
            <a:r>
              <a:rPr lang="zh-CN" altLang="en-US" sz="3600" b="1" dirty="0">
                <a:solidFill>
                  <a:srgbClr val="FF0000"/>
                </a:solidFill>
              </a:rPr>
              <a:t>拒绝接受不予考虑</a:t>
            </a:r>
            <a:r>
              <a:rPr lang="en-US" altLang="zh-CN" sz="3600" b="1" dirty="0">
                <a:solidFill>
                  <a:srgbClr val="FF0000"/>
                </a:solidFill>
              </a:rPr>
              <a:t>15.</a:t>
            </a:r>
            <a:r>
              <a:rPr lang="zh-CN" altLang="en-US" sz="3600" b="1" dirty="0">
                <a:solidFill>
                  <a:srgbClr val="FF0000"/>
                </a:solidFill>
              </a:rPr>
              <a:t> </a:t>
            </a:r>
            <a:r>
              <a:rPr lang="en-US" altLang="zh-CN" sz="3600" b="1" dirty="0">
                <a:solidFill>
                  <a:srgbClr val="FF0000"/>
                </a:solidFill>
              </a:rPr>
              <a:t>issue</a:t>
            </a:r>
            <a:r>
              <a:rPr lang="zh-CN" altLang="en-US" sz="3600" b="1" dirty="0">
                <a:solidFill>
                  <a:srgbClr val="FF0000"/>
                </a:solidFill>
              </a:rPr>
              <a:t>翻译</a:t>
            </a:r>
            <a:r>
              <a:rPr lang="en-US" altLang="zh-CN" sz="3600" b="1" dirty="0">
                <a:solidFill>
                  <a:srgbClr val="FF0000"/>
                </a:solidFill>
              </a:rPr>
              <a:t>;eventually</a:t>
            </a:r>
            <a:r>
              <a:rPr lang="zh-CN" altLang="en-US" sz="3600" b="1" dirty="0">
                <a:solidFill>
                  <a:srgbClr val="FF0000"/>
                </a:solidFill>
              </a:rPr>
              <a:t>翻译</a:t>
            </a:r>
            <a:r>
              <a:rPr lang="en-US" altLang="zh-CN" sz="3600" b="1" dirty="0">
                <a:solidFill>
                  <a:srgbClr val="FF0000"/>
                </a:solidFill>
              </a:rPr>
              <a:t>;classic</a:t>
            </a:r>
            <a:r>
              <a:rPr lang="zh-CN" altLang="en-US" sz="3600" b="1" dirty="0">
                <a:solidFill>
                  <a:srgbClr val="FF0000"/>
                </a:solidFill>
              </a:rPr>
              <a:t>翻译 </a:t>
            </a:r>
            <a:r>
              <a:rPr lang="en-US" altLang="zh-CN" sz="3600" b="1" dirty="0">
                <a:solidFill>
                  <a:srgbClr val="FF0000"/>
                </a:solidFill>
              </a:rPr>
              <a:t>16.</a:t>
            </a:r>
            <a:r>
              <a:rPr lang="zh-CN" altLang="en-US" sz="3600" b="1" dirty="0">
                <a:solidFill>
                  <a:srgbClr val="FF0000"/>
                </a:solidFill>
              </a:rPr>
              <a:t>认出识别理解</a:t>
            </a:r>
            <a:r>
              <a:rPr lang="en-US" altLang="zh-CN" sz="3600" b="1" dirty="0">
                <a:solidFill>
                  <a:srgbClr val="FF0000"/>
                </a:solidFill>
              </a:rPr>
              <a:t>17.</a:t>
            </a:r>
            <a:r>
              <a:rPr lang="zh-CN" altLang="en-US" sz="3600" b="1" dirty="0">
                <a:solidFill>
                  <a:srgbClr val="FF0000"/>
                </a:solidFill>
              </a:rPr>
              <a:t>人生哲学生活准则 </a:t>
            </a:r>
            <a:endParaRPr lang="en-US" altLang="zh-CN" sz="3600" b="1" dirty="0">
              <a:solidFill>
                <a:srgbClr val="FF0000"/>
              </a:solidFill>
            </a:endParaRPr>
          </a:p>
          <a:p>
            <a:r>
              <a:rPr lang="en-US" altLang="zh-CN" sz="3600" b="1" dirty="0">
                <a:solidFill>
                  <a:srgbClr val="FF0000"/>
                </a:solidFill>
              </a:rPr>
              <a:t>18.</a:t>
            </a:r>
            <a:r>
              <a:rPr lang="zh-CN" altLang="en-US" sz="3600" b="1" dirty="0">
                <a:solidFill>
                  <a:srgbClr val="FF0000"/>
                </a:solidFill>
              </a:rPr>
              <a:t>可忍受的</a:t>
            </a:r>
            <a:r>
              <a:rPr lang="en-US" altLang="zh-CN" sz="3600" b="1" dirty="0">
                <a:solidFill>
                  <a:srgbClr val="FF0000"/>
                </a:solidFill>
              </a:rPr>
              <a:t>;</a:t>
            </a:r>
            <a:r>
              <a:rPr lang="zh-CN" altLang="en-US" sz="3600" b="1" dirty="0">
                <a:solidFill>
                  <a:srgbClr val="FF0000"/>
                </a:solidFill>
              </a:rPr>
              <a:t>过得去的</a:t>
            </a:r>
            <a:r>
              <a:rPr lang="en-US" altLang="zh-CN" sz="3600" b="1" dirty="0">
                <a:solidFill>
                  <a:srgbClr val="FF0000"/>
                </a:solidFill>
              </a:rPr>
              <a:t>19.tricky</a:t>
            </a:r>
            <a:r>
              <a:rPr lang="zh-CN" altLang="en-US" sz="3600" b="1" dirty="0">
                <a:solidFill>
                  <a:srgbClr val="FF0000"/>
                </a:solidFill>
              </a:rPr>
              <a:t>翻译</a:t>
            </a:r>
            <a:r>
              <a:rPr lang="en-US" altLang="zh-CN" sz="3600" b="1" dirty="0">
                <a:solidFill>
                  <a:srgbClr val="FF0000"/>
                </a:solidFill>
              </a:rPr>
              <a:t> pull through</a:t>
            </a:r>
            <a:r>
              <a:rPr lang="zh-CN" altLang="en-US" sz="3600" b="1" dirty="0">
                <a:solidFill>
                  <a:srgbClr val="FF0000"/>
                </a:solidFill>
              </a:rPr>
              <a:t>翻译 </a:t>
            </a:r>
            <a:endParaRPr lang="en-US" altLang="zh-CN" sz="3600" b="1" dirty="0">
              <a:solidFill>
                <a:srgbClr val="FF0000"/>
              </a:solidFill>
            </a:endParaRPr>
          </a:p>
          <a:p>
            <a:r>
              <a:rPr lang="en-US" altLang="zh-CN" sz="3600" b="1" dirty="0">
                <a:solidFill>
                  <a:srgbClr val="FF0000"/>
                </a:solidFill>
              </a:rPr>
              <a:t>20.</a:t>
            </a:r>
            <a:r>
              <a:rPr lang="zh-CN" altLang="en-US" sz="3600" b="1" dirty="0">
                <a:solidFill>
                  <a:srgbClr val="FF0000"/>
                </a:solidFill>
              </a:rPr>
              <a:t>打破界限</a:t>
            </a:r>
            <a:r>
              <a:rPr lang="en-US" altLang="zh-CN" sz="3600" b="1" dirty="0">
                <a:solidFill>
                  <a:srgbClr val="FF0000"/>
                </a:solidFill>
              </a:rPr>
              <a:t>/</a:t>
            </a:r>
            <a:r>
              <a:rPr lang="zh-CN" altLang="en-US" sz="3600" b="1" dirty="0">
                <a:solidFill>
                  <a:srgbClr val="FF0000"/>
                </a:solidFill>
              </a:rPr>
              <a:t>障碍</a:t>
            </a:r>
            <a:r>
              <a:rPr lang="en-US" altLang="zh-CN" sz="3600" dirty="0"/>
              <a:t>21.</a:t>
            </a:r>
            <a:r>
              <a:rPr lang="zh-CN" altLang="en-US" sz="3600" dirty="0"/>
              <a:t>给大牌做模特</a:t>
            </a:r>
            <a:r>
              <a:rPr lang="en-US" altLang="zh-CN" sz="3600" b="1" dirty="0">
                <a:solidFill>
                  <a:srgbClr val="FF0000"/>
                </a:solidFill>
              </a:rPr>
              <a:t>22.</a:t>
            </a:r>
            <a:r>
              <a:rPr lang="zh-CN" altLang="en-US" sz="3600" b="1" dirty="0">
                <a:solidFill>
                  <a:srgbClr val="FF0000"/>
                </a:solidFill>
              </a:rPr>
              <a:t>暂时地</a:t>
            </a:r>
            <a:r>
              <a:rPr lang="en-US" altLang="zh-CN" sz="3600" b="1" dirty="0">
                <a:solidFill>
                  <a:srgbClr val="FF0000"/>
                </a:solidFill>
              </a:rPr>
              <a:t> 23.</a:t>
            </a:r>
            <a:r>
              <a:rPr lang="zh-CN" altLang="en-US" sz="3600" b="1" dirty="0">
                <a:solidFill>
                  <a:srgbClr val="FF0000"/>
                </a:solidFill>
              </a:rPr>
              <a:t>意外地</a:t>
            </a:r>
            <a:r>
              <a:rPr lang="en-US" altLang="zh-CN" sz="3600" b="1" dirty="0">
                <a:solidFill>
                  <a:srgbClr val="FF0000"/>
                </a:solidFill>
              </a:rPr>
              <a:t> </a:t>
            </a:r>
          </a:p>
          <a:p>
            <a:r>
              <a:rPr lang="en-US" altLang="zh-CN" sz="3600" b="1" dirty="0">
                <a:solidFill>
                  <a:srgbClr val="FF0000"/>
                </a:solidFill>
              </a:rPr>
              <a:t>24.</a:t>
            </a:r>
            <a:r>
              <a:rPr lang="zh-CN" altLang="en-US" sz="3600" b="1" dirty="0">
                <a:solidFill>
                  <a:srgbClr val="FF0000"/>
                </a:solidFill>
              </a:rPr>
              <a:t>同情共鸣</a:t>
            </a:r>
            <a:r>
              <a:rPr lang="en-US" altLang="zh-CN" sz="3600" b="1" dirty="0">
                <a:solidFill>
                  <a:srgbClr val="FF0000"/>
                </a:solidFill>
              </a:rPr>
              <a:t> 25.</a:t>
            </a:r>
            <a:r>
              <a:rPr lang="zh-CN" altLang="en-US" sz="3600" b="1" dirty="0">
                <a:solidFill>
                  <a:srgbClr val="FF0000"/>
                </a:solidFill>
              </a:rPr>
              <a:t>可靠 </a:t>
            </a:r>
            <a:r>
              <a:rPr lang="en-US" altLang="zh-CN" sz="3600" b="1" dirty="0">
                <a:solidFill>
                  <a:srgbClr val="FF0000"/>
                </a:solidFill>
              </a:rPr>
              <a:t>26.</a:t>
            </a:r>
            <a:r>
              <a:rPr lang="zh-CN" altLang="en-US" sz="3600" b="1" dirty="0">
                <a:solidFill>
                  <a:srgbClr val="FF0000"/>
                </a:solidFill>
              </a:rPr>
              <a:t>决心</a:t>
            </a:r>
            <a:r>
              <a:rPr lang="en-US" altLang="zh-CN" sz="3600" b="1" dirty="0">
                <a:solidFill>
                  <a:srgbClr val="FF0000"/>
                </a:solidFill>
              </a:rPr>
              <a:t> 27.</a:t>
            </a:r>
            <a:r>
              <a:rPr lang="zh-CN" altLang="en-US" sz="3600" b="1" dirty="0">
                <a:solidFill>
                  <a:srgbClr val="FF0000"/>
                </a:solidFill>
              </a:rPr>
              <a:t>想象力</a:t>
            </a:r>
            <a:r>
              <a:rPr lang="en-US" altLang="zh-CN" sz="3600" b="1" dirty="0">
                <a:solidFill>
                  <a:srgbClr val="FF0000"/>
                </a:solidFill>
              </a:rPr>
              <a:t>28.</a:t>
            </a:r>
            <a:r>
              <a:rPr lang="zh-CN" altLang="en-US" sz="3600" b="1" dirty="0">
                <a:solidFill>
                  <a:srgbClr val="FF0000"/>
                </a:solidFill>
              </a:rPr>
              <a:t>始终如一地</a:t>
            </a:r>
            <a:r>
              <a:rPr lang="en-US" altLang="zh-CN" sz="3600" b="1" dirty="0">
                <a:solidFill>
                  <a:srgbClr val="FF0000"/>
                </a:solidFill>
              </a:rPr>
              <a:t> </a:t>
            </a:r>
          </a:p>
          <a:p>
            <a:r>
              <a:rPr lang="en-US" altLang="zh-CN" sz="3600" b="1" dirty="0">
                <a:solidFill>
                  <a:srgbClr val="FF0000"/>
                </a:solidFill>
              </a:rPr>
              <a:t>29.</a:t>
            </a:r>
            <a:r>
              <a:rPr lang="zh-CN" altLang="en-US" sz="3600" b="1" dirty="0">
                <a:solidFill>
                  <a:srgbClr val="FF0000"/>
                </a:solidFill>
              </a:rPr>
              <a:t>革新的新颖的</a:t>
            </a:r>
            <a:r>
              <a:rPr lang="en-US" altLang="zh-CN" sz="3600" b="1">
                <a:solidFill>
                  <a:srgbClr val="FF0000"/>
                </a:solidFill>
              </a:rPr>
              <a:t>;</a:t>
            </a:r>
            <a:r>
              <a:rPr lang="en-US" altLang="zh-CN" sz="3600" b="1" dirty="0">
                <a:solidFill>
                  <a:srgbClr val="FF0000"/>
                </a:solidFill>
              </a:rPr>
              <a:t> </a:t>
            </a:r>
            <a:r>
              <a:rPr lang="zh-CN" altLang="zh-CN" sz="3600" b="1">
                <a:solidFill>
                  <a:srgbClr val="FF0000"/>
                </a:solidFill>
              </a:rPr>
              <a:t>时尚</a:t>
            </a:r>
            <a:r>
              <a:rPr lang="zh-CN" altLang="zh-CN" sz="3600" b="1" dirty="0">
                <a:solidFill>
                  <a:srgbClr val="FF0000"/>
                </a:solidFill>
              </a:rPr>
              <a:t>的</a:t>
            </a:r>
            <a:r>
              <a:rPr lang="en-US" altLang="zh-CN" sz="3600" b="1" dirty="0">
                <a:solidFill>
                  <a:srgbClr val="FF0000"/>
                </a:solidFill>
              </a:rPr>
              <a:t>30.</a:t>
            </a:r>
            <a:r>
              <a:rPr lang="zh-CN" altLang="en-US" sz="3600" b="1" dirty="0">
                <a:solidFill>
                  <a:srgbClr val="FF0000"/>
                </a:solidFill>
              </a:rPr>
              <a:t>常客 </a:t>
            </a:r>
            <a:r>
              <a:rPr lang="en-US" altLang="zh-CN" sz="3600" b="1" dirty="0">
                <a:solidFill>
                  <a:srgbClr val="FF0000"/>
                </a:solidFill>
              </a:rPr>
              <a:t>31.</a:t>
            </a:r>
            <a:r>
              <a:rPr lang="zh-CN" altLang="en-US" sz="3600" b="1" dirty="0">
                <a:solidFill>
                  <a:srgbClr val="FF0000"/>
                </a:solidFill>
              </a:rPr>
              <a:t>例外 </a:t>
            </a:r>
            <a:r>
              <a:rPr lang="en-US" altLang="zh-CN" sz="3600" b="1" dirty="0">
                <a:solidFill>
                  <a:srgbClr val="FF0000"/>
                </a:solidFill>
              </a:rPr>
              <a:t>32.v.</a:t>
            </a:r>
            <a:r>
              <a:rPr lang="zh-CN" altLang="en-US" sz="3600" b="1" dirty="0">
                <a:solidFill>
                  <a:srgbClr val="FF0000"/>
                </a:solidFill>
              </a:rPr>
              <a:t>出发离开违背</a:t>
            </a:r>
            <a:r>
              <a:rPr lang="en-US" altLang="zh-CN" sz="3600" b="1" dirty="0">
                <a:solidFill>
                  <a:srgbClr val="FF0000"/>
                </a:solidFill>
              </a:rPr>
              <a:t>;_____ n. </a:t>
            </a:r>
            <a:r>
              <a:rPr lang="en-US" altLang="zh-CN" sz="3600" dirty="0"/>
              <a:t>33.</a:t>
            </a:r>
            <a:r>
              <a:rPr lang="zh-CN" altLang="en-US" sz="3600" dirty="0"/>
              <a:t>屈服 </a:t>
            </a:r>
            <a:r>
              <a:rPr lang="en-US" altLang="zh-CN" sz="3600" b="1" dirty="0">
                <a:solidFill>
                  <a:srgbClr val="FF0000"/>
                </a:solidFill>
              </a:rPr>
              <a:t>34.make up</a:t>
            </a:r>
            <a:r>
              <a:rPr lang="zh-CN" altLang="en-US" sz="3600" b="1" dirty="0">
                <a:solidFill>
                  <a:srgbClr val="FF0000"/>
                </a:solidFill>
              </a:rPr>
              <a:t>翻译</a:t>
            </a:r>
            <a:r>
              <a:rPr lang="en-US" altLang="zh-CN" sz="3600" b="1" dirty="0">
                <a:solidFill>
                  <a:srgbClr val="FF0000"/>
                </a:solidFill>
              </a:rPr>
              <a:t>;</a:t>
            </a:r>
            <a:r>
              <a:rPr lang="zh-CN" altLang="en-US" sz="3600" b="1" dirty="0">
                <a:solidFill>
                  <a:srgbClr val="FF0000"/>
                </a:solidFill>
              </a:rPr>
              <a:t> </a:t>
            </a:r>
            <a:r>
              <a:rPr lang="en-US" altLang="zh-CN" sz="3600" b="1" dirty="0">
                <a:solidFill>
                  <a:srgbClr val="FF0000"/>
                </a:solidFill>
              </a:rPr>
              <a:t>check out</a:t>
            </a:r>
            <a:r>
              <a:rPr lang="zh-CN" altLang="en-US" sz="3600" b="1" dirty="0">
                <a:solidFill>
                  <a:srgbClr val="FF0000"/>
                </a:solidFill>
              </a:rPr>
              <a:t>翻译</a:t>
            </a:r>
            <a:r>
              <a:rPr lang="en-US" altLang="zh-CN" sz="3600" b="1" dirty="0">
                <a:solidFill>
                  <a:srgbClr val="FF0000"/>
                </a:solidFill>
              </a:rPr>
              <a:t>;set aside</a:t>
            </a:r>
            <a:r>
              <a:rPr lang="zh-CN" altLang="en-US" sz="3600" b="1" dirty="0">
                <a:solidFill>
                  <a:srgbClr val="FF0000"/>
                </a:solidFill>
              </a:rPr>
              <a:t>翻译</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zh-CN" altLang="en-US" sz="3600" b="1" dirty="0">
                <a:solidFill>
                  <a:srgbClr val="FF0000"/>
                </a:solidFill>
              </a:rPr>
              <a:t>卷四</a:t>
            </a:r>
            <a:endParaRPr lang="en-US" altLang="zh-CN" sz="3600" b="1" dirty="0">
              <a:solidFill>
                <a:srgbClr val="FF0000"/>
              </a:solidFill>
            </a:endParaRPr>
          </a:p>
          <a:p>
            <a:r>
              <a:rPr lang="en-US" altLang="zh-CN" sz="3600" b="1" dirty="0">
                <a:solidFill>
                  <a:srgbClr val="FF0000"/>
                </a:solidFill>
              </a:rPr>
              <a:t>1.</a:t>
            </a:r>
            <a:r>
              <a:rPr lang="zh-CN" altLang="en-US" sz="3600" b="1" dirty="0">
                <a:solidFill>
                  <a:srgbClr val="FF0000"/>
                </a:solidFill>
              </a:rPr>
              <a:t>活在当下</a:t>
            </a:r>
            <a:r>
              <a:rPr lang="en-US" altLang="zh-CN" sz="3600" b="1" dirty="0">
                <a:solidFill>
                  <a:srgbClr val="FF0000"/>
                </a:solidFill>
              </a:rPr>
              <a:t> 2.</a:t>
            </a:r>
            <a:r>
              <a:rPr lang="zh-CN" altLang="en-US" sz="3600" b="1" dirty="0">
                <a:solidFill>
                  <a:srgbClr val="FF0000"/>
                </a:solidFill>
              </a:rPr>
              <a:t>愤世嫉俗的 </a:t>
            </a:r>
            <a:r>
              <a:rPr lang="en-US" altLang="zh-CN" sz="3600" b="1" dirty="0">
                <a:solidFill>
                  <a:srgbClr val="FF0000"/>
                </a:solidFill>
              </a:rPr>
              <a:t>3.</a:t>
            </a:r>
            <a:r>
              <a:rPr lang="zh-CN" altLang="en-US" sz="3600" b="1" dirty="0">
                <a:solidFill>
                  <a:srgbClr val="FF0000"/>
                </a:solidFill>
              </a:rPr>
              <a:t>远非完美</a:t>
            </a:r>
            <a:r>
              <a:rPr lang="en-US" altLang="zh-CN" sz="3600" b="1" dirty="0">
                <a:solidFill>
                  <a:srgbClr val="FF0000"/>
                </a:solidFill>
              </a:rPr>
              <a:t> 4.__n.</a:t>
            </a:r>
            <a:r>
              <a:rPr lang="zh-CN" altLang="en-US" sz="3600" b="1" dirty="0">
                <a:solidFill>
                  <a:srgbClr val="FF0000"/>
                </a:solidFill>
              </a:rPr>
              <a:t>渴望</a:t>
            </a:r>
            <a:r>
              <a:rPr lang="en-US" altLang="zh-CN" sz="3600" b="1" dirty="0">
                <a:solidFill>
                  <a:srgbClr val="FF0000"/>
                </a:solidFill>
              </a:rPr>
              <a:t>;</a:t>
            </a:r>
            <a:r>
              <a:rPr lang="zh-CN" altLang="en-US" sz="3600" b="1" dirty="0">
                <a:solidFill>
                  <a:srgbClr val="FF0000"/>
                </a:solidFill>
              </a:rPr>
              <a:t> </a:t>
            </a:r>
            <a:r>
              <a:rPr lang="en-US" altLang="zh-CN" sz="3600" b="1" dirty="0">
                <a:solidFill>
                  <a:srgbClr val="FF0000"/>
                </a:solidFill>
              </a:rPr>
              <a:t>__v.</a:t>
            </a:r>
          </a:p>
          <a:p>
            <a:r>
              <a:rPr lang="en-US" altLang="zh-CN" sz="3600" b="1" dirty="0">
                <a:solidFill>
                  <a:srgbClr val="FF0000"/>
                </a:solidFill>
              </a:rPr>
              <a:t>5.n.</a:t>
            </a:r>
            <a:r>
              <a:rPr lang="zh-CN" altLang="en-US" sz="3600" b="1" dirty="0">
                <a:solidFill>
                  <a:srgbClr val="FF0000"/>
                </a:solidFill>
              </a:rPr>
              <a:t>规章制度</a:t>
            </a:r>
            <a:r>
              <a:rPr lang="en-US" altLang="zh-CN" sz="3600" b="1" dirty="0">
                <a:solidFill>
                  <a:srgbClr val="FF0000"/>
                </a:solidFill>
              </a:rPr>
              <a:t>6.</a:t>
            </a:r>
            <a:r>
              <a:rPr lang="zh-CN" altLang="en-US" sz="3600" b="1" dirty="0">
                <a:solidFill>
                  <a:srgbClr val="FF0000"/>
                </a:solidFill>
              </a:rPr>
              <a:t>的障碍</a:t>
            </a:r>
            <a:r>
              <a:rPr lang="en-US" altLang="zh-CN" sz="3600" b="1" dirty="0">
                <a:solidFill>
                  <a:srgbClr val="FF0000"/>
                </a:solidFill>
              </a:rPr>
              <a:t> 7.</a:t>
            </a:r>
            <a:r>
              <a:rPr lang="zh-CN" altLang="en-US" sz="3600" b="1" dirty="0">
                <a:solidFill>
                  <a:srgbClr val="FF0000"/>
                </a:solidFill>
              </a:rPr>
              <a:t>杂货</a:t>
            </a:r>
            <a:r>
              <a:rPr lang="en-US" altLang="zh-CN" sz="3600" b="1" dirty="0">
                <a:solidFill>
                  <a:srgbClr val="FF0000"/>
                </a:solidFill>
              </a:rPr>
              <a:t>/</a:t>
            </a:r>
            <a:r>
              <a:rPr lang="zh-CN" altLang="en-US" sz="3600" b="1" dirty="0">
                <a:solidFill>
                  <a:srgbClr val="FF0000"/>
                </a:solidFill>
              </a:rPr>
              <a:t>食品</a:t>
            </a:r>
            <a:r>
              <a:rPr lang="en-US" altLang="zh-CN" sz="3600" b="1" dirty="0">
                <a:solidFill>
                  <a:srgbClr val="FF0000"/>
                </a:solidFill>
              </a:rPr>
              <a:t>/</a:t>
            </a:r>
            <a:r>
              <a:rPr lang="zh-CN" altLang="en-US" sz="3600" b="1" dirty="0">
                <a:solidFill>
                  <a:srgbClr val="FF0000"/>
                </a:solidFill>
              </a:rPr>
              <a:t>生活用品</a:t>
            </a:r>
            <a:r>
              <a:rPr lang="en-US" altLang="zh-CN" sz="3600" b="1" dirty="0">
                <a:solidFill>
                  <a:srgbClr val="FF0000"/>
                </a:solidFill>
              </a:rPr>
              <a:t>8.</a:t>
            </a:r>
            <a:r>
              <a:rPr lang="zh-CN" altLang="en-US" sz="3600" b="1" dirty="0">
                <a:solidFill>
                  <a:srgbClr val="FF0000"/>
                </a:solidFill>
              </a:rPr>
              <a:t>成分</a:t>
            </a:r>
            <a:r>
              <a:rPr lang="en-US" altLang="zh-CN" sz="3600" b="1" dirty="0">
                <a:solidFill>
                  <a:srgbClr val="FF0000"/>
                </a:solidFill>
              </a:rPr>
              <a:t>;</a:t>
            </a:r>
            <a:r>
              <a:rPr lang="zh-CN" altLang="en-US" sz="3600" b="1" dirty="0">
                <a:solidFill>
                  <a:srgbClr val="FF0000"/>
                </a:solidFill>
              </a:rPr>
              <a:t>因素</a:t>
            </a:r>
            <a:endParaRPr lang="en-US" altLang="zh-CN" sz="3600" b="1" dirty="0">
              <a:solidFill>
                <a:srgbClr val="FF0000"/>
              </a:solidFill>
            </a:endParaRPr>
          </a:p>
          <a:p>
            <a:r>
              <a:rPr lang="en-US" altLang="zh-CN" sz="3600" b="1" dirty="0">
                <a:solidFill>
                  <a:srgbClr val="FF0000"/>
                </a:solidFill>
              </a:rPr>
              <a:t>9.</a:t>
            </a:r>
            <a:r>
              <a:rPr lang="zh-CN" altLang="en-US" sz="3600" b="1" dirty="0">
                <a:solidFill>
                  <a:srgbClr val="FF0000"/>
                </a:solidFill>
              </a:rPr>
              <a:t>大声讲</a:t>
            </a:r>
            <a:r>
              <a:rPr lang="en-US" altLang="zh-CN" sz="3600" b="1" dirty="0">
                <a:solidFill>
                  <a:srgbClr val="FF0000"/>
                </a:solidFill>
              </a:rPr>
              <a:t>10. make out</a:t>
            </a:r>
            <a:r>
              <a:rPr lang="zh-CN" altLang="en-US" sz="3600" b="1" dirty="0">
                <a:solidFill>
                  <a:srgbClr val="FF0000"/>
                </a:solidFill>
              </a:rPr>
              <a:t>翻译 </a:t>
            </a:r>
            <a:r>
              <a:rPr lang="en-US" altLang="zh-CN" sz="3600" b="1" dirty="0">
                <a:solidFill>
                  <a:srgbClr val="FF0000"/>
                </a:solidFill>
              </a:rPr>
              <a:t>11.</a:t>
            </a:r>
            <a:r>
              <a:rPr lang="zh-CN" altLang="en-US" sz="3600" b="1" dirty="0">
                <a:solidFill>
                  <a:srgbClr val="FF0000"/>
                </a:solidFill>
              </a:rPr>
              <a:t>调查</a:t>
            </a:r>
            <a:r>
              <a:rPr lang="en-US" altLang="zh-CN" sz="3600" b="1" dirty="0">
                <a:solidFill>
                  <a:srgbClr val="FF0000"/>
                </a:solidFill>
              </a:rPr>
              <a:t> 12.</a:t>
            </a:r>
            <a:r>
              <a:rPr lang="zh-CN" altLang="en-US" sz="3600" b="1" dirty="0">
                <a:solidFill>
                  <a:srgbClr val="FF0000"/>
                </a:solidFill>
              </a:rPr>
              <a:t>及时</a:t>
            </a:r>
            <a:r>
              <a:rPr lang="en-US" altLang="zh-CN" sz="3600" b="1" dirty="0">
                <a:solidFill>
                  <a:srgbClr val="FF0000"/>
                </a:solidFill>
              </a:rPr>
              <a:t>;</a:t>
            </a:r>
            <a:r>
              <a:rPr lang="zh-CN" altLang="en-US" sz="3600" b="1" dirty="0">
                <a:solidFill>
                  <a:srgbClr val="FF0000"/>
                </a:solidFill>
              </a:rPr>
              <a:t>赶得上 </a:t>
            </a:r>
            <a:endParaRPr lang="en-US" altLang="zh-CN" sz="3600" b="1" dirty="0">
              <a:solidFill>
                <a:srgbClr val="FF0000"/>
              </a:solidFill>
            </a:endParaRPr>
          </a:p>
          <a:p>
            <a:r>
              <a:rPr lang="en-US" altLang="zh-CN" sz="3600" b="1" dirty="0">
                <a:solidFill>
                  <a:srgbClr val="FF0000"/>
                </a:solidFill>
              </a:rPr>
              <a:t>13.</a:t>
            </a:r>
            <a:r>
              <a:rPr lang="zh-CN" altLang="en-US" sz="3600" b="1" dirty="0">
                <a:solidFill>
                  <a:srgbClr val="FF0000"/>
                </a:solidFill>
              </a:rPr>
              <a:t> </a:t>
            </a:r>
            <a:r>
              <a:rPr lang="en-US" altLang="zh-CN" sz="3600" b="1" dirty="0">
                <a:solidFill>
                  <a:srgbClr val="FF0000"/>
                </a:solidFill>
              </a:rPr>
              <a:t>in favor of</a:t>
            </a:r>
            <a:r>
              <a:rPr lang="zh-CN" altLang="en-US" sz="3600" b="1" dirty="0">
                <a:solidFill>
                  <a:srgbClr val="FF0000"/>
                </a:solidFill>
              </a:rPr>
              <a:t>翻译 </a:t>
            </a:r>
            <a:r>
              <a:rPr lang="en-US" altLang="zh-CN" sz="3600" b="1" dirty="0">
                <a:solidFill>
                  <a:srgbClr val="FF0000"/>
                </a:solidFill>
              </a:rPr>
              <a:t>14.</a:t>
            </a:r>
            <a:r>
              <a:rPr lang="zh-CN" altLang="en-US" sz="3600" b="1" dirty="0">
                <a:solidFill>
                  <a:srgbClr val="FF0000"/>
                </a:solidFill>
              </a:rPr>
              <a:t>缺乏</a:t>
            </a:r>
            <a:r>
              <a:rPr lang="en-US" altLang="zh-CN" sz="3600" b="1" dirty="0">
                <a:solidFill>
                  <a:srgbClr val="FF0000"/>
                </a:solidFill>
              </a:rPr>
              <a:t> 15.write(__, __) speak(__, __)</a:t>
            </a:r>
          </a:p>
          <a:p>
            <a:r>
              <a:rPr lang="en-US" altLang="zh-CN" sz="3600" b="1" dirty="0">
                <a:solidFill>
                  <a:srgbClr val="FF0000"/>
                </a:solidFill>
              </a:rPr>
              <a:t> 16.</a:t>
            </a:r>
            <a:r>
              <a:rPr lang="zh-CN" altLang="en-US" sz="3600" b="1" dirty="0">
                <a:solidFill>
                  <a:srgbClr val="FF0000"/>
                </a:solidFill>
              </a:rPr>
              <a:t>基于</a:t>
            </a:r>
            <a:r>
              <a:rPr lang="en-US" altLang="zh-CN" sz="3600" b="1" dirty="0">
                <a:solidFill>
                  <a:srgbClr val="FF0000"/>
                </a:solidFill>
              </a:rPr>
              <a:t> 17. n.</a:t>
            </a:r>
            <a:r>
              <a:rPr lang="zh-CN" altLang="en-US" sz="3600" b="1" dirty="0">
                <a:solidFill>
                  <a:srgbClr val="FF0000"/>
                </a:solidFill>
              </a:rPr>
              <a:t>温暖</a:t>
            </a:r>
            <a:r>
              <a:rPr lang="en-US" altLang="zh-CN" sz="3600" b="1" dirty="0">
                <a:solidFill>
                  <a:srgbClr val="FF0000"/>
                </a:solidFill>
              </a:rPr>
              <a:t>;</a:t>
            </a:r>
            <a:r>
              <a:rPr lang="zh-CN" altLang="en-US" sz="3600" b="1" dirty="0">
                <a:solidFill>
                  <a:srgbClr val="FF0000"/>
                </a:solidFill>
              </a:rPr>
              <a:t>热情友好</a:t>
            </a:r>
            <a:r>
              <a:rPr lang="en-US" altLang="zh-CN" sz="3600" b="1" dirty="0">
                <a:solidFill>
                  <a:srgbClr val="FF0000"/>
                </a:solidFill>
              </a:rPr>
              <a:t> 18.</a:t>
            </a:r>
            <a:r>
              <a:rPr lang="zh-CN" altLang="en-US" sz="3600" b="1" dirty="0">
                <a:solidFill>
                  <a:srgbClr val="FF0000"/>
                </a:solidFill>
              </a:rPr>
              <a:t>密切关注</a:t>
            </a:r>
          </a:p>
          <a:p>
            <a:endParaRPr lang="zh-CN" altLang="en-US" sz="3600" b="1" dirty="0">
              <a:solidFill>
                <a:srgbClr val="FF0000"/>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lnSpcReduction="10000"/>
          </a:bodyPr>
          <a:lstStyle/>
          <a:p>
            <a:r>
              <a:rPr lang="en-US" altLang="zh-CN" sz="3600" b="1" u="sng" dirty="0">
                <a:solidFill>
                  <a:srgbClr val="FF0000"/>
                </a:solidFill>
              </a:rPr>
              <a:t>1. </a:t>
            </a:r>
            <a:r>
              <a:rPr lang="zh-CN" altLang="en-US" sz="3600" b="1" dirty="0"/>
              <a:t>他把目光移开</a:t>
            </a:r>
            <a:r>
              <a:rPr lang="en-US" altLang="zh-CN" sz="3600" b="1" dirty="0"/>
              <a:t>,</a:t>
            </a:r>
            <a:r>
              <a:rPr lang="zh-CN" altLang="en-US" sz="3600" b="1" u="sng" dirty="0">
                <a:solidFill>
                  <a:srgbClr val="FF0000"/>
                </a:solidFill>
              </a:rPr>
              <a:t>吞下肿块</a:t>
            </a:r>
            <a:r>
              <a:rPr lang="en-US" altLang="zh-CN" sz="3600" b="1" u="sng" dirty="0">
                <a:solidFill>
                  <a:srgbClr val="FF0000"/>
                </a:solidFill>
              </a:rPr>
              <a:t> </a:t>
            </a:r>
            <a:r>
              <a:rPr lang="en-US" altLang="zh-CN" sz="3600" b="1" dirty="0"/>
              <a:t>2.Ted</a:t>
            </a:r>
            <a:r>
              <a:rPr lang="zh-CN" altLang="en-US" sz="3600" b="1" dirty="0"/>
              <a:t>抬头看着他</a:t>
            </a:r>
            <a:r>
              <a:rPr lang="en-US" altLang="zh-CN" sz="3600" b="1" dirty="0"/>
              <a:t>,</a:t>
            </a:r>
            <a:r>
              <a:rPr lang="zh-CN" altLang="en-US" sz="3600" b="1" dirty="0">
                <a:solidFill>
                  <a:srgbClr val="FF0000"/>
                </a:solidFill>
              </a:rPr>
              <a:t>从父亲的眼中看到了自己的失望</a:t>
            </a:r>
            <a:r>
              <a:rPr lang="en-US" altLang="zh-CN" sz="3600" b="1" dirty="0">
                <a:solidFill>
                  <a:srgbClr val="FF0000"/>
                </a:solidFill>
              </a:rPr>
              <a:t>3.</a:t>
            </a:r>
            <a:r>
              <a:rPr lang="zh-CN" altLang="en-US" sz="3600" b="1" dirty="0"/>
              <a:t>他看着那辆二手自行车</a:t>
            </a:r>
            <a:r>
              <a:rPr lang="en-US" altLang="zh-CN" sz="3600" b="1" dirty="0"/>
              <a:t>,</a:t>
            </a:r>
            <a:r>
              <a:rPr lang="zh-CN" altLang="en-US" sz="3600" b="1" dirty="0"/>
              <a:t>心一沉</a:t>
            </a:r>
            <a:r>
              <a:rPr lang="en-US" altLang="zh-CN" sz="3600" b="1" dirty="0"/>
              <a:t>4.</a:t>
            </a:r>
            <a:r>
              <a:rPr lang="en-US" altLang="zh-CN" sz="3600" b="1" dirty="0">
                <a:solidFill>
                  <a:srgbClr val="FF0000"/>
                </a:solidFill>
              </a:rPr>
              <a:t> </a:t>
            </a:r>
            <a:r>
              <a:rPr lang="zh-CN" altLang="en-US" sz="3600" b="1" dirty="0"/>
              <a:t>他感到一阵失望的情绪涌上心头</a:t>
            </a:r>
            <a:r>
              <a:rPr lang="en-US" altLang="zh-CN" sz="3600" b="1" dirty="0"/>
              <a:t>5.</a:t>
            </a:r>
            <a:r>
              <a:rPr lang="en-US" altLang="zh-CN" sz="3600" b="1" dirty="0">
                <a:solidFill>
                  <a:srgbClr val="FF0000"/>
                </a:solidFill>
              </a:rPr>
              <a:t> </a:t>
            </a:r>
            <a:r>
              <a:rPr lang="zh-CN" altLang="en-US" sz="3600" b="1" dirty="0"/>
              <a:t>一股苦涩的失望情绪涌上他的胸膛，他的喉咙也绷紧了</a:t>
            </a:r>
            <a:r>
              <a:rPr lang="en-US" altLang="zh-CN" sz="3600" b="1" dirty="0">
                <a:solidFill>
                  <a:srgbClr val="FF0000"/>
                </a:solidFill>
              </a:rPr>
              <a:t>6.</a:t>
            </a:r>
            <a:r>
              <a:rPr lang="en-US" altLang="zh-CN" sz="3600" b="1" dirty="0"/>
              <a:t> </a:t>
            </a:r>
            <a:r>
              <a:rPr lang="zh-CN" altLang="en-US" sz="3600" b="1" dirty="0"/>
              <a:t>他意识到自己是多么自私只考虑自己的愿望，而不考虑他们的困难</a:t>
            </a:r>
            <a:r>
              <a:rPr lang="en-US" altLang="zh-CN" sz="3600" b="1" dirty="0">
                <a:solidFill>
                  <a:srgbClr val="FF0000"/>
                </a:solidFill>
              </a:rPr>
              <a:t>7. </a:t>
            </a:r>
            <a:r>
              <a:rPr lang="zh-CN" altLang="en-US" sz="3600" b="1" dirty="0"/>
              <a:t>带着感激的微笑他拥抱父亲</a:t>
            </a:r>
            <a:r>
              <a:rPr lang="en-US" altLang="zh-CN" sz="3600" b="1" dirty="0">
                <a:solidFill>
                  <a:srgbClr val="FF0000"/>
                </a:solidFill>
              </a:rPr>
              <a:t>8.</a:t>
            </a:r>
            <a:r>
              <a:rPr lang="zh-CN" altLang="en-US" sz="3600" b="1" dirty="0"/>
              <a:t>脸上绽开了真诚的笑容</a:t>
            </a:r>
            <a:endParaRPr lang="en-US" altLang="zh-CN" sz="3600" b="1" dirty="0"/>
          </a:p>
          <a:p>
            <a:r>
              <a:rPr lang="en-US" altLang="zh-CN" sz="3600" b="1" dirty="0"/>
              <a:t>1.</a:t>
            </a:r>
            <a:r>
              <a:rPr lang="zh-CN" altLang="en-US" sz="3600" b="1" dirty="0"/>
              <a:t>拥抱美好</a:t>
            </a:r>
            <a:r>
              <a:rPr lang="en-US" altLang="zh-CN" sz="3600" b="1" dirty="0"/>
              <a:t> 2.</a:t>
            </a:r>
            <a:r>
              <a:rPr lang="zh-CN" altLang="en-US" sz="3600" b="1" dirty="0"/>
              <a:t>亲爱的同学们</a:t>
            </a:r>
            <a:endParaRPr lang="en-US" altLang="zh-CN" sz="3600" b="1" dirty="0"/>
          </a:p>
          <a:p>
            <a:r>
              <a:rPr lang="en-US" altLang="zh-CN" sz="3600" b="1" dirty="0"/>
              <a:t>3.</a:t>
            </a:r>
            <a:r>
              <a:rPr lang="zh-CN" altLang="en-US" sz="3600" b="1" dirty="0"/>
              <a:t>为了给我们的校园生活增添更多色彩，并响应美育倡议，学生会非常高兴地推出即将举行的“艺术周”活动。</a:t>
            </a:r>
            <a:endParaRPr lang="en-US" altLang="zh-CN" sz="3600" b="1" dirty="0"/>
          </a:p>
          <a:p>
            <a:r>
              <a:rPr lang="en-US" altLang="zh-CN" sz="3600" b="1" dirty="0"/>
              <a:t>4.</a:t>
            </a:r>
            <a:r>
              <a:rPr lang="zh-CN" altLang="en-US" sz="3600" b="1" dirty="0"/>
              <a:t>一系列精彩活动正等待着您：</a:t>
            </a:r>
            <a:endParaRPr lang="en-US" altLang="zh-CN" sz="3600" b="1" dirty="0"/>
          </a:p>
          <a:p>
            <a:r>
              <a:rPr lang="en-US" altLang="zh-CN" sz="3600" b="1" dirty="0"/>
              <a:t>5.</a:t>
            </a:r>
            <a:r>
              <a:rPr lang="zh-CN" altLang="en-US" sz="3600" b="1" dirty="0"/>
              <a:t>艺术不仅能悦目，还能塑造心灵。让我们携手共进，共同创造一个充满创造力和欢乐的周。您的参与是使这次活动取得辉煌成功的关键</a:t>
            </a:r>
            <a:r>
              <a:rPr lang="zh-CN" altLang="en-US" sz="3600" b="1" dirty="0">
                <a:solidFill>
                  <a:srgbClr val="FF0000"/>
                </a:solidFill>
              </a:rPr>
              <a:t>。</a:t>
            </a:r>
          </a:p>
          <a:p>
            <a:endParaRPr lang="zh-CN" altLang="en-US" sz="3600" b="1" dirty="0">
              <a:solidFill>
                <a:srgbClr val="FF0000"/>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pPr algn="just"/>
            <a:r>
              <a:rPr lang="en-US" altLang="zh-CN" sz="3600" b="1" u="sng" dirty="0"/>
              <a:t>Luckily,</a:t>
            </a:r>
            <a:r>
              <a:rPr lang="en-US" altLang="zh-CN" sz="3600" b="1" dirty="0"/>
              <a:t>_</a:t>
            </a:r>
            <a:r>
              <a:rPr lang="en-US" altLang="zh-CN" sz="3600" b="1" u="sng" dirty="0" err="1"/>
              <a:t>he</a:t>
            </a:r>
            <a:r>
              <a:rPr lang="en-US" altLang="zh-CN" sz="3600" b="1" dirty="0" err="1"/>
              <a:t>_</a:t>
            </a:r>
            <a:r>
              <a:rPr lang="en-US" altLang="zh-CN" sz="3600" b="1" u="sng" dirty="0" err="1"/>
              <a:t>had</a:t>
            </a:r>
            <a:r>
              <a:rPr lang="en-US" altLang="zh-CN" sz="3600" b="1" dirty="0" err="1"/>
              <a:t>_</a:t>
            </a:r>
            <a:r>
              <a:rPr lang="en-US" altLang="zh-CN" sz="3600" b="1" u="sng" dirty="0" err="1"/>
              <a:t>a</a:t>
            </a:r>
            <a:r>
              <a:rPr lang="en-US" altLang="zh-CN" sz="3600" b="1" dirty="0" err="1"/>
              <a:t>_</a:t>
            </a:r>
            <a:r>
              <a:rPr lang="en-US" altLang="zh-CN" sz="3600" b="1" u="sng" dirty="0" err="1"/>
              <a:t>first­aid</a:t>
            </a:r>
            <a:r>
              <a:rPr lang="en-US" altLang="zh-CN" sz="3600" b="1" dirty="0" err="1"/>
              <a:t>_</a:t>
            </a:r>
            <a:r>
              <a:rPr lang="en-US" altLang="zh-CN" sz="3600" b="1" u="sng" dirty="0" err="1"/>
              <a:t>kit</a:t>
            </a:r>
            <a:r>
              <a:rPr lang="en-US" altLang="zh-CN" sz="3600" b="1" dirty="0" err="1"/>
              <a:t>_</a:t>
            </a:r>
            <a:r>
              <a:rPr lang="en-US" altLang="zh-CN" sz="3600" b="1" u="sng" dirty="0" err="1"/>
              <a:t>in</a:t>
            </a:r>
            <a:r>
              <a:rPr lang="en-US" altLang="zh-CN" sz="3600" b="1" dirty="0" err="1"/>
              <a:t>_</a:t>
            </a:r>
            <a:r>
              <a:rPr lang="en-US" altLang="zh-CN" sz="3600" b="1" u="sng" dirty="0" err="1"/>
              <a:t>the</a:t>
            </a:r>
            <a:r>
              <a:rPr lang="en-US" altLang="zh-CN" sz="3600" b="1" dirty="0" err="1"/>
              <a:t>_</a:t>
            </a:r>
            <a:r>
              <a:rPr lang="en-US" altLang="zh-CN" sz="3600" b="1" u="sng" dirty="0" err="1"/>
              <a:t>car</a:t>
            </a:r>
            <a:r>
              <a:rPr lang="en-US" altLang="zh-CN" sz="3600" b="1" u="sng" dirty="0"/>
              <a:t>.</a:t>
            </a:r>
            <a:r>
              <a:rPr lang="en-US" altLang="zh-CN" sz="3600" b="1" dirty="0"/>
              <a:t> Immediately, he took out a bandage from the kit, and tied it lightly around the wound. Slowly, he got the disabled into the back seat of the car, while the younger brother sat beside to take care of him. Then the manager folded the wheelchair and put it into the trunk. Starting the car quickly again(</a:t>
            </a:r>
            <a:r>
              <a:rPr lang="zh-CN" altLang="zh-CN" sz="3600" b="1" dirty="0"/>
              <a:t>现在分词做状语</a:t>
            </a:r>
            <a:r>
              <a:rPr lang="en-US" altLang="zh-CN" sz="3600" b="1" dirty="0"/>
              <a:t>), he rushed toward the nearest hospital. On the way, he handed his smart phone to the younger brother to call their parents, and constantly comforted the two brothers to take it easy.</a:t>
            </a:r>
            <a:endParaRPr lang="zh-CN" altLang="zh-CN" sz="3600" b="1"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pPr algn="just"/>
            <a:r>
              <a:rPr lang="en-US" altLang="zh-CN" sz="3600" b="1" u="sng" dirty="0"/>
              <a:t>In</a:t>
            </a:r>
            <a:r>
              <a:rPr lang="en-US" altLang="zh-CN" sz="3600" b="1" dirty="0"/>
              <a:t>_</a:t>
            </a:r>
            <a:r>
              <a:rPr lang="en-US" altLang="zh-CN" sz="3600" b="1" u="sng" dirty="0"/>
              <a:t>fifteen</a:t>
            </a:r>
            <a:r>
              <a:rPr lang="en-US" altLang="zh-CN" sz="3600" b="1" dirty="0"/>
              <a:t>_</a:t>
            </a:r>
            <a:r>
              <a:rPr lang="en-US" altLang="zh-CN" sz="3600" b="1" u="sng" dirty="0"/>
              <a:t>minutes,</a:t>
            </a:r>
            <a:r>
              <a:rPr lang="en-US" altLang="zh-CN" sz="3600" b="1" dirty="0"/>
              <a:t>_</a:t>
            </a:r>
            <a:r>
              <a:rPr lang="en-US" altLang="zh-CN" sz="3600" b="1" u="sng" dirty="0" err="1"/>
              <a:t>they</a:t>
            </a:r>
            <a:r>
              <a:rPr lang="en-US" altLang="zh-CN" sz="3600" b="1" dirty="0" err="1"/>
              <a:t>_</a:t>
            </a:r>
            <a:r>
              <a:rPr lang="en-US" altLang="zh-CN" sz="3600" b="1" u="sng" dirty="0" err="1"/>
              <a:t>arrived</a:t>
            </a:r>
            <a:r>
              <a:rPr lang="en-US" altLang="zh-CN" sz="3600" b="1" dirty="0" err="1"/>
              <a:t>_</a:t>
            </a:r>
            <a:r>
              <a:rPr lang="en-US" altLang="zh-CN" sz="3600" b="1" u="sng" dirty="0" err="1"/>
              <a:t>at</a:t>
            </a:r>
            <a:r>
              <a:rPr lang="en-US" altLang="zh-CN" sz="3600" b="1" dirty="0" err="1"/>
              <a:t>_</a:t>
            </a:r>
            <a:r>
              <a:rPr lang="en-US" altLang="zh-CN" sz="3600" b="1" u="sng" dirty="0" err="1"/>
              <a:t>the</a:t>
            </a:r>
            <a:r>
              <a:rPr lang="en-US" altLang="zh-CN" sz="3600" b="1" dirty="0" err="1"/>
              <a:t>_</a:t>
            </a:r>
            <a:r>
              <a:rPr lang="en-US" altLang="zh-CN" sz="3600" b="1" u="sng" dirty="0" err="1"/>
              <a:t>nearest</a:t>
            </a:r>
            <a:r>
              <a:rPr lang="en-US" altLang="zh-CN" sz="3600" b="1" dirty="0" err="1"/>
              <a:t>_</a:t>
            </a:r>
            <a:r>
              <a:rPr lang="en-US" altLang="zh-CN" sz="3600" b="1" u="sng" dirty="0" err="1"/>
              <a:t>hospital</a:t>
            </a:r>
            <a:r>
              <a:rPr lang="en-US" altLang="zh-CN" sz="3600" b="1" u="sng" dirty="0"/>
              <a:t>.</a:t>
            </a:r>
            <a:r>
              <a:rPr lang="en-US" altLang="zh-CN" sz="3600" b="1" dirty="0"/>
              <a:t> The manager got the wheelchair out, lifted the disabled into it and hurriedly pushed him to the emergency center. When giving the injured boy to the medical workers(when</a:t>
            </a:r>
            <a:r>
              <a:rPr lang="zh-CN" altLang="zh-CN" sz="3600" b="1" dirty="0"/>
              <a:t>引导的时间状语从句的省略</a:t>
            </a:r>
            <a:r>
              <a:rPr lang="en-US" altLang="zh-CN" sz="3600" b="1" dirty="0"/>
              <a:t>), he got released. At this time, the younger boy and his parents came to him and gave him heartfelt thanks. Finally, he drove his car to work, with the side door still dented(with</a:t>
            </a:r>
            <a:r>
              <a:rPr lang="zh-CN" altLang="zh-CN" sz="3600" b="1" dirty="0"/>
              <a:t>的复合结构</a:t>
            </a:r>
            <a:r>
              <a:rPr lang="en-US" altLang="zh-CN" sz="3600" b="1" dirty="0"/>
              <a:t>).</a:t>
            </a:r>
            <a:endParaRPr lang="zh-CN" altLang="zh-CN" sz="3600" b="1" dirty="0"/>
          </a:p>
          <a:p>
            <a:pPr algn="just"/>
            <a:endParaRPr lang="zh-CN" altLang="en-US" sz="3600" b="1" dirty="0">
              <a:solidFill>
                <a:srgbClr val="FF0000"/>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pPr algn="just">
              <a:lnSpc>
                <a:spcPct val="80000"/>
              </a:lnSpc>
            </a:pPr>
            <a:r>
              <a:rPr lang="en-US" sz="32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 </a:t>
            </a:r>
            <a:r>
              <a:rPr lang="en-US" altLang="zh-CN" sz="32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U3 </a:t>
            </a:r>
            <a:r>
              <a:rPr lang="zh-CN" altLang="en-US" sz="32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单词后半</a:t>
            </a:r>
            <a:endParaRPr lang="en-US" sz="32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endParaRPr>
          </a:p>
          <a:p>
            <a:pPr algn="just">
              <a:lnSpc>
                <a:spcPct val="80000"/>
              </a:lnSpc>
            </a:pPr>
            <a:r>
              <a:rPr kumimoji="1" lang="en-US" sz="32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1</a:t>
            </a:r>
            <a:r>
              <a:rPr kumimoji="1" lang="en-US" altLang="zh-CN" sz="3200" b="1" dirty="0">
                <a:solidFill>
                  <a:srgbClr val="FF0000"/>
                </a:solidFill>
                <a:sym typeface="+mn-ea"/>
              </a:rPr>
              <a:t>.</a:t>
            </a:r>
            <a:r>
              <a:rPr lang="zh-CN" altLang="en-US" sz="32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使某人</a:t>
            </a:r>
            <a:r>
              <a:rPr lang="en-US" altLang="zh-CN" sz="32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2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物相形见绌</a:t>
            </a:r>
            <a:r>
              <a:rPr lang="en-US" altLang="zh-CN" sz="32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32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在阴凉处</a:t>
            </a:r>
            <a:r>
              <a:rPr lang="en-US" altLang="zh-CN" sz="32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2.</a:t>
            </a:r>
            <a:r>
              <a:rPr kumimoji="1" lang="zh-CN" altLang="en-US" sz="3200" b="1" dirty="0">
                <a:solidFill>
                  <a:srgbClr val="FF0000"/>
                </a:solidFill>
                <a:sym typeface="+mn-ea"/>
              </a:rPr>
              <a:t>收获庄稼 </a:t>
            </a:r>
            <a:r>
              <a:rPr kumimoji="1" lang="en-US" altLang="zh-CN" sz="3200" b="1" dirty="0">
                <a:solidFill>
                  <a:srgbClr val="FF0000"/>
                </a:solidFill>
                <a:sym typeface="+mn-ea"/>
              </a:rPr>
              <a:t>3.</a:t>
            </a:r>
            <a:r>
              <a:rPr lang="zh-CN"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蜿蜒的小路</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蜿蜒穿过</a:t>
            </a:r>
            <a:r>
              <a:rPr lang="en-US" altLang="zh-CN"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32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wind </a:t>
            </a:r>
            <a:r>
              <a:rPr lang="en-US" altLang="zh-CN" sz="3200" b="1" kern="100" dirty="0" err="1">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sth</a:t>
            </a:r>
            <a:r>
              <a:rPr lang="en-US" altLang="zh-CN" sz="32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 up</a:t>
            </a:r>
            <a:r>
              <a:rPr lang="zh-CN" altLang="en-US" sz="32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翻译</a:t>
            </a:r>
            <a:r>
              <a:rPr lang="en-US" altLang="zh-CN" sz="32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(3</a:t>
            </a:r>
            <a:r>
              <a:rPr lang="zh-CN" altLang="en-US" sz="32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个</a:t>
            </a:r>
            <a:r>
              <a:rPr lang="en-US" altLang="zh-CN" sz="32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);wind(__,__)4.</a:t>
            </a:r>
            <a:r>
              <a:rPr lang="zh-CN" altLang="en-US" sz="32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洞悉某事</a:t>
            </a:r>
            <a:r>
              <a:rPr lang="en-US" altLang="zh-CN" sz="32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a:t>
            </a:r>
            <a:r>
              <a:rPr lang="zh-CN" altLang="en-US" sz="32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有见解的 </a:t>
            </a:r>
            <a:r>
              <a:rPr lang="en-US" altLang="zh-CN" sz="32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5</a:t>
            </a:r>
            <a:r>
              <a:rPr lang="en-US" altLang="zh-CN" sz="32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a:t>
            </a:r>
            <a:r>
              <a:rPr kumimoji="1" lang="zh-CN" altLang="en-US" sz="3200" b="1" dirty="0">
                <a:solidFill>
                  <a:srgbClr val="FF0000"/>
                </a:solidFill>
                <a:sym typeface="+mn-ea"/>
              </a:rPr>
              <a:t>拜访</a:t>
            </a:r>
            <a:r>
              <a:rPr kumimoji="1" lang="en-US" altLang="zh-CN" sz="3200" b="1" dirty="0">
                <a:solidFill>
                  <a:srgbClr val="FF0000"/>
                </a:solidFill>
                <a:sym typeface="+mn-ea"/>
              </a:rPr>
              <a:t>;</a:t>
            </a:r>
            <a:r>
              <a:rPr kumimoji="1" lang="zh-CN" altLang="en-US" sz="3200" b="1" dirty="0">
                <a:solidFill>
                  <a:srgbClr val="FF0000"/>
                </a:solidFill>
                <a:sym typeface="+mn-ea"/>
              </a:rPr>
              <a:t>取消</a:t>
            </a:r>
            <a:r>
              <a:rPr kumimoji="1" lang="en-US" altLang="zh-CN" sz="3200" b="1" dirty="0">
                <a:solidFill>
                  <a:srgbClr val="FF0000"/>
                </a:solidFill>
                <a:sym typeface="+mn-ea"/>
              </a:rPr>
              <a:t>;</a:t>
            </a:r>
            <a:r>
              <a:rPr kumimoji="1" lang="zh-CN" altLang="en-US" sz="3200" b="1" dirty="0">
                <a:solidFill>
                  <a:srgbClr val="FF0000"/>
                </a:solidFill>
                <a:sym typeface="+mn-ea"/>
              </a:rPr>
              <a:t>推迟</a:t>
            </a:r>
            <a:r>
              <a:rPr kumimoji="1" lang="en-US" altLang="zh-CN" sz="3200" b="1" dirty="0">
                <a:solidFill>
                  <a:srgbClr val="FF0000"/>
                </a:solidFill>
                <a:sym typeface="+mn-ea"/>
              </a:rPr>
              <a:t>6.</a:t>
            </a:r>
            <a:r>
              <a:rPr lang="zh-CN" altLang="zh-CN" sz="32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启航去</a:t>
            </a:r>
            <a:r>
              <a:rPr lang="en-US" altLang="zh-CN" sz="32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;__n.</a:t>
            </a:r>
            <a:r>
              <a:rPr lang="zh-CN" altLang="zh-CN" sz="3200" b="1" kern="100" dirty="0">
                <a:effectLst/>
                <a:latin typeface="Times New Roman" panose="02020603050405020304" pitchFamily="18" charset="0"/>
                <a:ea typeface="宋体" panose="02010600030101010101" pitchFamily="2" charset="-122"/>
                <a:cs typeface="Times New Roman" panose="02020603050405020304" pitchFamily="18" charset="0"/>
                <a:sym typeface="+mn-ea"/>
              </a:rPr>
              <a:t>航行</a:t>
            </a:r>
            <a:r>
              <a:rPr lang="en-US" altLang="zh-CN" sz="3200" b="1" kern="100" dirty="0">
                <a:effectLst/>
                <a:latin typeface="Times New Roman" panose="02020603050405020304" pitchFamily="18" charset="0"/>
                <a:ea typeface="宋体" panose="02010600030101010101" pitchFamily="2" charset="-122"/>
                <a:cs typeface="Times New Roman" panose="02020603050405020304" pitchFamily="18" charset="0"/>
                <a:sym typeface="+mn-ea"/>
              </a:rPr>
              <a:t>;</a:t>
            </a:r>
            <a:r>
              <a:rPr lang="en-US" sz="3200" b="1" kern="100" dirty="0">
                <a:effectLst/>
                <a:latin typeface="Times New Roman" panose="02020603050405020304" pitchFamily="18" charset="0"/>
                <a:ea typeface="宋体" panose="02010600030101010101" pitchFamily="2" charset="-122"/>
                <a:cs typeface="Times New Roman" panose="02020603050405020304" pitchFamily="18" charset="0"/>
                <a:sym typeface="+mn-ea"/>
              </a:rPr>
              <a:t>__</a:t>
            </a:r>
            <a:r>
              <a:rPr lang="en-US" altLang="zh-CN" sz="32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n.</a:t>
            </a:r>
            <a:r>
              <a:rPr lang="zh-CN" altLang="zh-CN" sz="3200" b="1" dirty="0">
                <a:effectLst/>
                <a:latin typeface="Times New Roman" panose="02020603050405020304" pitchFamily="18" charset="0"/>
                <a:ea typeface="宋体" panose="02010600030101010101" pitchFamily="2" charset="-122"/>
                <a:cs typeface="Times New Roman" panose="02020603050405020304" pitchFamily="18" charset="0"/>
                <a:sym typeface="+mn-ea"/>
              </a:rPr>
              <a:t>水手</a:t>
            </a:r>
            <a:r>
              <a:rPr lang="en-US" altLang="zh-CN" sz="3200" b="1" dirty="0">
                <a:latin typeface="Times New Roman" panose="02020603050405020304" pitchFamily="18" charset="0"/>
                <a:ea typeface="宋体" panose="02010600030101010101" pitchFamily="2" charset="-122"/>
                <a:cs typeface="Times New Roman" panose="02020603050405020304" pitchFamily="18" charset="0"/>
                <a:sym typeface="+mn-ea"/>
              </a:rPr>
              <a:t>7</a:t>
            </a:r>
            <a:r>
              <a:rPr lang="en-US" altLang="zh-CN" sz="3200" b="1" dirty="0">
                <a:effectLst/>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32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士兵和平民</a:t>
            </a:r>
            <a:r>
              <a:rPr lang="en-US" sz="3200" b="1" kern="100" dirty="0">
                <a:effectLst/>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32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过平民生活</a:t>
            </a:r>
            <a:r>
              <a:rPr lang="en-US" altLang="zh-CN" sz="32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32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公民权</a:t>
            </a:r>
            <a:r>
              <a:rPr lang="en-US" sz="32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32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文明</a:t>
            </a:r>
            <a:r>
              <a:rPr lang="zh-CN" altLang="en-US" sz="32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举止</a:t>
            </a:r>
            <a:r>
              <a:rPr lang="en-US" altLang="zh-CN" sz="32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;__</a:t>
            </a:r>
            <a:r>
              <a:rPr lang="en-US" altLang="zh-CN" sz="32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n. </a:t>
            </a:r>
            <a:r>
              <a:rPr lang="zh-CN" altLang="zh-CN" sz="3200" b="1" dirty="0">
                <a:effectLst/>
                <a:latin typeface="Times New Roman" panose="02020603050405020304" pitchFamily="18" charset="0"/>
                <a:ea typeface="宋体" panose="02010600030101010101" pitchFamily="2" charset="-122"/>
                <a:cs typeface="Times New Roman" panose="02020603050405020304" pitchFamily="18" charset="0"/>
                <a:sym typeface="+mn-ea"/>
              </a:rPr>
              <a:t>文明</a:t>
            </a:r>
            <a:endParaRPr lang="zh-CN" altLang="zh-CN" sz="32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8.</a:t>
            </a:r>
            <a:r>
              <a:rPr lang="zh-CN" altLang="en-US"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来自各行各业</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9.</a:t>
            </a:r>
            <a:r>
              <a:rPr lang="zh-CN" altLang="zh-CN"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在肉店</a:t>
            </a:r>
            <a:r>
              <a:rPr lang="en-US" altLang="zh-CN"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10.</a:t>
            </a:r>
            <a:r>
              <a:rPr lang="zh-CN" altLang="en-US"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忙于做某事</a:t>
            </a:r>
            <a:r>
              <a:rPr lang="en-US" altLang="zh-CN"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3300" b="1" kern="100" dirty="0" err="1">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违背自然;参加爱好;四处奔走;全力以赴做某事;go</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 off</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译</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;go through</a:t>
            </a:r>
            <a:r>
              <a:rPr lang="zh-CN" altLang="en-US"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译</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;go around</a:t>
            </a:r>
            <a:r>
              <a:rPr lang="zh-CN" altLang="en-US"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译</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11.</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明显是</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;adv.</a:t>
            </a:r>
            <a:r>
              <a:rPr lang="zh-CN" altLang="zh-CN" sz="3300" b="1" dirty="0">
                <a:latin typeface="Times New Roman" panose="02020603050405020304" pitchFamily="18" charset="0"/>
                <a:ea typeface="宋体" panose="02010600030101010101" pitchFamily="2" charset="-122"/>
                <a:cs typeface="Times New Roman" panose="02020603050405020304" pitchFamily="18" charset="0"/>
                <a:sym typeface="+mn-ea"/>
              </a:rPr>
              <a:t>显然</a:t>
            </a:r>
            <a:r>
              <a:rPr lang="en-US" altLang="zh-CN" sz="3300" b="1" dirty="0">
                <a:latin typeface="Times New Roman" panose="02020603050405020304" pitchFamily="18" charset="0"/>
                <a:ea typeface="宋体" panose="02010600030101010101" pitchFamily="2" charset="-122"/>
                <a:cs typeface="Times New Roman" panose="02020603050405020304" pitchFamily="18" charset="0"/>
                <a:sym typeface="+mn-ea"/>
              </a:rPr>
              <a:t>12.</a:t>
            </a:r>
            <a:r>
              <a:rPr kumimoji="1" lang="zh-CN" altLang="en-US" sz="3300" b="1" dirty="0">
                <a:solidFill>
                  <a:srgbClr val="FF0000"/>
                </a:solidFill>
                <a:sym typeface="+mn-ea"/>
              </a:rPr>
              <a:t>用墨水写</a:t>
            </a:r>
            <a:r>
              <a:rPr kumimoji="1" lang="en-US" altLang="zh-CN" sz="3300" b="1" dirty="0">
                <a:solidFill>
                  <a:srgbClr val="FF0000"/>
                </a:solidFill>
                <a:sym typeface="+mn-ea"/>
              </a:rPr>
              <a:t>13.</a:t>
            </a:r>
            <a:r>
              <a:rPr kumimoji="1" lang="zh-CN" altLang="en-US" sz="3300" b="1" dirty="0">
                <a:solidFill>
                  <a:srgbClr val="FF0000"/>
                </a:solidFill>
                <a:sym typeface="+mn-ea"/>
              </a:rPr>
              <a:t>从某人的观点看来</a:t>
            </a:r>
            <a:r>
              <a:rPr kumimoji="1" lang="en-US" altLang="zh-CN" sz="3300" b="1" dirty="0">
                <a:solidFill>
                  <a:srgbClr val="FF0000"/>
                </a:solidFill>
                <a:sym typeface="+mn-ea"/>
              </a:rPr>
              <a:t>;</a:t>
            </a:r>
            <a:r>
              <a:rPr kumimoji="1" lang="zh-CN" altLang="en-US" sz="3300" b="1" dirty="0">
                <a:solidFill>
                  <a:srgbClr val="FF0000"/>
                </a:solidFill>
                <a:sym typeface="+mn-ea"/>
              </a:rPr>
              <a:t>正确处理某事</a:t>
            </a:r>
            <a:r>
              <a:rPr kumimoji="1" lang="en-US" altLang="zh-CN" sz="3300" b="1" dirty="0">
                <a:solidFill>
                  <a:srgbClr val="FF0000"/>
                </a:solidFill>
                <a:sym typeface="+mn-ea"/>
              </a:rPr>
              <a:t> 14.确切地说;</a:t>
            </a:r>
            <a:r>
              <a:rPr kumimoji="1" lang="zh-CN" altLang="en-US" sz="3300" b="1" dirty="0">
                <a:solidFill>
                  <a:srgbClr val="FF0000"/>
                </a:solidFill>
                <a:sym typeface="+mn-ea"/>
              </a:rPr>
              <a:t>准确地</a:t>
            </a:r>
            <a:r>
              <a:rPr kumimoji="1" lang="en-US" altLang="zh-CN" sz="3300" b="1" dirty="0">
                <a:solidFill>
                  <a:srgbClr val="FF0000"/>
                </a:solidFill>
                <a:sym typeface="+mn-ea"/>
              </a:rPr>
              <a:t> 15.</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有做某事的雄心壮志</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实现某人的抱负</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 16.</a:t>
            </a:r>
            <a:r>
              <a:rPr lang="en-US" altLang="zh-CN" sz="3300" b="1" dirty="0">
                <a:latin typeface="Times New Roman" panose="02020603050405020304" pitchFamily="18" charset="0"/>
                <a:ea typeface="宋体" panose="02010600030101010101" pitchFamily="2" charset="-122"/>
                <a:cs typeface="Times New Roman" panose="02020603050405020304" pitchFamily="18" charset="0"/>
                <a:sym typeface="+mn-ea"/>
              </a:rPr>
              <a:t>adj.</a:t>
            </a:r>
            <a:r>
              <a:rPr lang="zh-CN" altLang="en-US" sz="3300" b="1" dirty="0">
                <a:latin typeface="Times New Roman" panose="02020603050405020304" pitchFamily="18" charset="0"/>
                <a:ea typeface="宋体" panose="02010600030101010101" pitchFamily="2" charset="-122"/>
                <a:cs typeface="Times New Roman" panose="02020603050405020304" pitchFamily="18" charset="0"/>
                <a:sym typeface="+mn-ea"/>
              </a:rPr>
              <a:t>庞大的</a:t>
            </a:r>
            <a:r>
              <a:rPr lang="en-US" altLang="zh-CN" sz="3300" b="1"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dv.</a:t>
            </a:r>
            <a:r>
              <a:rPr lang="zh-CN" altLang="en-US"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极其非常</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 17.</a:t>
            </a:r>
            <a:r>
              <a:rPr lang="en-US" altLang="zh-CN"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全面详尽的</a:t>
            </a:r>
            <a:r>
              <a:rPr lang="en-US" altLang="zh-CN" sz="3300" b="1" kern="100" dirty="0">
                <a:latin typeface="Times New Roman" panose="02020603050405020304" pitchFamily="18" charset="0"/>
                <a:ea typeface="宋体" panose="02010600030101010101" pitchFamily="2" charset="-122"/>
                <a:cs typeface="Times New Roman" panose="02020603050405020304" pitchFamily="18" charset="0"/>
                <a:sym typeface="+mn-ea"/>
              </a:rPr>
              <a:t>;v.</a:t>
            </a:r>
            <a:r>
              <a:rPr lang="zh-CN" altLang="en-US" sz="3300" b="1" kern="100" dirty="0">
                <a:latin typeface="Times New Roman" panose="02020603050405020304" pitchFamily="18" charset="0"/>
                <a:ea typeface="宋体" panose="02010600030101010101" pitchFamily="2" charset="-122"/>
                <a:cs typeface="Times New Roman" panose="02020603050405020304" pitchFamily="18" charset="0"/>
                <a:sym typeface="+mn-ea"/>
              </a:rPr>
              <a:t>理解</a:t>
            </a:r>
            <a:r>
              <a:rPr lang="en-US" altLang="zh-CN" sz="3300" b="1" kern="1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不可理解的</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18.</a:t>
            </a:r>
            <a:r>
              <a:rPr lang="zh-CN" altLang="en-US"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一件衣服</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19.</a:t>
            </a:r>
            <a:r>
              <a:rPr kumimoji="1" lang="zh-CN" altLang="en-US" sz="3300" b="1" dirty="0">
                <a:solidFill>
                  <a:srgbClr val="FF0000"/>
                </a:solidFill>
                <a:sym typeface="+mn-ea"/>
              </a:rPr>
              <a:t>社会结构</a:t>
            </a:r>
            <a:r>
              <a:rPr kumimoji="1" lang="en-US" altLang="zh-CN" sz="3300" b="1" dirty="0">
                <a:solidFill>
                  <a:srgbClr val="FF0000"/>
                </a:solidFill>
                <a:sym typeface="+mn-ea"/>
              </a:rPr>
              <a:t>;</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adj.</a:t>
            </a:r>
            <a:r>
              <a:rPr lang="zh-CN" altLang="en-US"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建筑结构的</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 20.</a:t>
            </a:r>
            <a:r>
              <a:rPr kumimoji="1" lang="en-US" altLang="zh-CN" sz="3300" b="1" dirty="0">
                <a:solidFill>
                  <a:srgbClr val="FF0000"/>
                </a:solidFill>
                <a:sym typeface="+mn-ea"/>
              </a:rPr>
              <a:t>adj.</a:t>
            </a:r>
            <a:r>
              <a:rPr kumimoji="1" lang="zh-CN" altLang="en-US" sz="3300" b="1" dirty="0">
                <a:solidFill>
                  <a:srgbClr val="FF0000"/>
                </a:solidFill>
                <a:sym typeface="+mn-ea"/>
              </a:rPr>
              <a:t>总体的</a:t>
            </a:r>
            <a:r>
              <a:rPr kumimoji="1" lang="en-US" altLang="zh-CN" sz="3300" b="1" dirty="0">
                <a:solidFill>
                  <a:srgbClr val="FF0000"/>
                </a:solidFill>
                <a:sym typeface="+mn-ea"/>
              </a:rPr>
              <a:t> 21.</a:t>
            </a:r>
            <a:r>
              <a:rPr lang="zh-CN" altLang="en-US"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对</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至关重要</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极为重要</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对</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批评</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指责</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批判性思维</a:t>
            </a:r>
            <a:r>
              <a:rPr lang="en-US" altLang="zh-CN"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n.</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批评家</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v.</a:t>
            </a:r>
            <a:r>
              <a:rPr lang="zh-CN" altLang="zh-CN" sz="3300" b="1" dirty="0">
                <a:latin typeface="Times New Roman" panose="02020603050405020304" pitchFamily="18" charset="0"/>
                <a:ea typeface="宋体" panose="02010600030101010101" pitchFamily="2" charset="-122"/>
                <a:cs typeface="Times New Roman" panose="02020603050405020304" pitchFamily="18" charset="0"/>
                <a:sym typeface="+mn-ea"/>
              </a:rPr>
              <a:t>批评</a:t>
            </a:r>
            <a:r>
              <a:rPr lang="en-US" altLang="zh-CN" sz="3300" b="1"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adv.</a:t>
            </a:r>
            <a:r>
              <a:rPr lang="zh-CN" altLang="en-US" sz="3300" b="1" dirty="0">
                <a:latin typeface="Times New Roman" panose="02020603050405020304" pitchFamily="18" charset="0"/>
                <a:ea typeface="宋体" panose="02010600030101010101" pitchFamily="2" charset="-122"/>
                <a:cs typeface="Times New Roman" panose="02020603050405020304" pitchFamily="18" charset="0"/>
                <a:sym typeface="+mn-ea"/>
              </a:rPr>
              <a:t>批判性地</a:t>
            </a:r>
            <a:r>
              <a:rPr lang="en-US" altLang="zh-CN" sz="3300" b="1" dirty="0">
                <a:latin typeface="Times New Roman" panose="02020603050405020304" pitchFamily="18" charset="0"/>
                <a:ea typeface="宋体" panose="02010600030101010101" pitchFamily="2" charset="-122"/>
                <a:cs typeface="Times New Roman" panose="02020603050405020304" pitchFamily="18" charset="0"/>
                <a:sym typeface="+mn-ea"/>
              </a:rPr>
              <a:t>22.</a:t>
            </a:r>
            <a:r>
              <a:rPr lang="zh-CN" altLang="en-US"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进行</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调查</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进一步检查</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检察员</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23.</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使某人接触某事</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置身于</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24.adj.</a:t>
            </a:r>
            <a:r>
              <a:rPr lang="zh-CN" altLang="en-US"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政治的</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;adv.</a:t>
            </a:r>
            <a:r>
              <a:rPr lang="zh-CN" altLang="en-US"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政治上</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n.</a:t>
            </a:r>
            <a:r>
              <a:rPr lang="zh-CN" altLang="en-US"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政治家</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;n.</a:t>
            </a:r>
            <a:r>
              <a:rPr lang="zh-CN" altLang="en-US"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政治</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25.</a:t>
            </a:r>
            <a:r>
              <a:rPr lang="zh-CN" altLang="en-US"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处于危机之中</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感情危机</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金融危机</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;__</a:t>
            </a:r>
            <a:r>
              <a:rPr lang="en-US" altLang="zh-CN" sz="3300" b="1" dirty="0">
                <a:latin typeface="Times New Roman" panose="02020603050405020304" pitchFamily="18" charset="0"/>
                <a:ea typeface="宋体" panose="02010600030101010101" pitchFamily="2" charset="-122"/>
                <a:cs typeface="Times New Roman" panose="02020603050405020304" pitchFamily="18" charset="0"/>
                <a:sym typeface="+mn-ea"/>
              </a:rPr>
              <a:t>pl. 26.</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在衰退中</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下降了</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至</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在</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方面减少</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拒绝做某事</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婉拒</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27.</a:t>
            </a:r>
            <a:r>
              <a:rPr lang="zh-CN" altLang="zh-CN" sz="3300" b="1" dirty="0">
                <a:latin typeface="Times New Roman" panose="02020603050405020304" pitchFamily="18" charset="0"/>
                <a:ea typeface="宋体" panose="02010600030101010101" pitchFamily="2" charset="-122"/>
                <a:cs typeface="Times New Roman" panose="02020603050405020304" pitchFamily="18" charset="0"/>
                <a:sym typeface="+mn-ea"/>
              </a:rPr>
              <a:t>推翻</a:t>
            </a:r>
            <a:r>
              <a:rPr lang="en-US" altLang="zh-CN" sz="3300" b="1" dirty="0">
                <a:latin typeface="Times New Roman" panose="02020603050405020304" pitchFamily="18" charset="0"/>
                <a:ea typeface="宋体" panose="02010600030101010101" pitchFamily="2" charset="-122"/>
                <a:cs typeface="Times New Roman" panose="02020603050405020304" pitchFamily="18" charset="0"/>
                <a:sym typeface="+mn-ea"/>
              </a:rPr>
              <a:t>(__,__)</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28.</a:t>
            </a:r>
            <a:r>
              <a:rPr lang="zh-CN" altLang="en-US"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归因于</a:t>
            </a:r>
            <a:r>
              <a:rPr lang="en-US" altLang="zh-CN"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29.</a:t>
            </a:r>
            <a:r>
              <a:rPr lang="zh-CN" altLang="en-US"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大规模地</a:t>
            </a:r>
            <a:r>
              <a:rPr lang="en-US" altLang="zh-CN"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30.</a:t>
            </a:r>
            <a:r>
              <a:rPr lang="zh-CN" altLang="en-US"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凭本人的资格</a:t>
            </a:r>
            <a:r>
              <a:rPr lang="en-US" altLang="zh-CN"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有权做某事</a:t>
            </a:r>
            <a:r>
              <a:rPr lang="en-US" altLang="zh-CN"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人权</a:t>
            </a:r>
            <a:r>
              <a:rPr lang="en-US" altLang="zh-CN"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版权所有</a:t>
            </a:r>
            <a:r>
              <a:rPr lang="en-US" altLang="zh-CN"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31.</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adj.</a:t>
            </a:r>
            <a:r>
              <a:rPr lang="zh-CN" altLang="en-US"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杰出的</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;adv.</a:t>
            </a:r>
            <a:r>
              <a:rPr lang="zh-CN" altLang="en-US"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特别地</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32.</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展览</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举办</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组织艺术展</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33</a:t>
            </a:r>
            <a:r>
              <a:rPr lang="en-US" altLang="zh-CN" sz="3300" b="1" kern="1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充分表明</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34.(</a:t>
            </a:r>
            <a:r>
              <a:rPr lang="zh-CN" altLang="en-US"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某人</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做某事难得</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写一个部分倒装句</a:t>
            </a:r>
            <a:r>
              <a:rPr lang="en-US"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35.</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历史性</a:t>
            </a:r>
            <a:r>
              <a:rPr lang="zh-CN" altLang="zh-CN" sz="3300" b="1" kern="100" dirty="0">
                <a:latin typeface="Times New Roman" panose="02020603050405020304" pitchFamily="18" charset="0"/>
                <a:ea typeface="宋体" panose="02010600030101010101" pitchFamily="2" charset="-122"/>
                <a:cs typeface="Times New Roman" panose="02020603050405020304" pitchFamily="18" charset="0"/>
                <a:sym typeface="+mn-ea"/>
              </a:rPr>
              <a:t>事件</a:t>
            </a:r>
            <a:r>
              <a:rPr lang="en-US" altLang="zh-CN" sz="3300" b="1" kern="1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33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历史</a:t>
            </a:r>
            <a:r>
              <a:rPr lang="zh-CN" altLang="zh-CN" sz="3300" b="1" kern="100" dirty="0">
                <a:latin typeface="Times New Roman" panose="02020603050405020304" pitchFamily="18" charset="0"/>
                <a:ea typeface="宋体" panose="02010600030101010101" pitchFamily="2" charset="-122"/>
                <a:cs typeface="Times New Roman" panose="02020603050405020304" pitchFamily="18" charset="0"/>
                <a:sym typeface="+mn-ea"/>
              </a:rPr>
              <a:t>电影</a:t>
            </a:r>
            <a:r>
              <a:rPr lang="en-US" altLang="zh-CN" sz="3300" b="1" kern="1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载入史册</a:t>
            </a:r>
            <a:r>
              <a:rPr lang="en-US" altLang="zh-CN"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;n.</a:t>
            </a:r>
            <a:r>
              <a:rPr lang="zh-CN" altLang="zh-CN"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历史学家</a:t>
            </a:r>
            <a:r>
              <a:rPr lang="en-US" altLang="zh-CN"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 36.</a:t>
            </a:r>
            <a:r>
              <a:rPr lang="zh-CN" altLang="en-US" sz="33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事业</a:t>
            </a:r>
            <a:endParaRPr lang="zh-CN" altLang="en-US" sz="3300" b="1" dirty="0">
              <a:solidFill>
                <a:srgbClr val="FF0000"/>
              </a:solidFil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fontScale="92500" lnSpcReduction="10000"/>
          </a:bodyPr>
          <a:lstStyle/>
          <a:p>
            <a:r>
              <a:rPr lang="en-US" altLang="zh-CN" sz="3600" b="1" dirty="0"/>
              <a:t>P29-38 1.</a:t>
            </a:r>
            <a:r>
              <a:rPr lang="zh-CN" altLang="en-US" sz="3600" b="1" dirty="0"/>
              <a:t>游记 </a:t>
            </a:r>
            <a:r>
              <a:rPr lang="en-US" altLang="zh-CN" sz="3600" b="1" dirty="0"/>
              <a:t>2.</a:t>
            </a:r>
            <a:r>
              <a:rPr lang="zh-CN" altLang="en-US" sz="3600" b="1" dirty="0"/>
              <a:t>一次有益的经历 </a:t>
            </a:r>
            <a:r>
              <a:rPr lang="en-US" altLang="zh-CN" sz="3600" b="1" dirty="0"/>
              <a:t>3.</a:t>
            </a:r>
            <a:r>
              <a:rPr lang="zh-CN" altLang="en-US" sz="3600" b="1" dirty="0"/>
              <a:t>安置坐落在</a:t>
            </a:r>
            <a:r>
              <a:rPr lang="en-US" altLang="zh-CN" sz="3600" b="1" dirty="0"/>
              <a:t>4.</a:t>
            </a:r>
            <a:r>
              <a:rPr lang="zh-CN" altLang="en-US" sz="3600" b="1" dirty="0"/>
              <a:t>漫步于</a:t>
            </a:r>
            <a:r>
              <a:rPr lang="en-US" altLang="zh-CN" sz="3600" b="1" dirty="0"/>
              <a:t>5.</a:t>
            </a:r>
            <a:r>
              <a:rPr lang="zh-CN" altLang="en-US" sz="3600" b="1" dirty="0"/>
              <a:t>注视见到 </a:t>
            </a:r>
            <a:r>
              <a:rPr lang="en-US" altLang="zh-CN" sz="3600" b="1" dirty="0"/>
              <a:t>6.</a:t>
            </a:r>
            <a:r>
              <a:rPr lang="zh-CN" altLang="en-US" sz="3600" b="1" dirty="0"/>
              <a:t>挑选出 </a:t>
            </a:r>
            <a:r>
              <a:rPr lang="en-US" altLang="zh-CN" sz="3600" b="1" dirty="0"/>
              <a:t>7.</a:t>
            </a:r>
            <a:r>
              <a:rPr lang="zh-CN" altLang="en-US" sz="3600" b="1" dirty="0"/>
              <a:t>留下了最深的印象</a:t>
            </a:r>
            <a:r>
              <a:rPr lang="en-US" altLang="zh-CN" sz="3600" b="1" dirty="0"/>
              <a:t> 8.</a:t>
            </a:r>
            <a:r>
              <a:rPr lang="zh-CN" altLang="en-US" sz="3600" b="1" dirty="0"/>
              <a:t>深受大自然的启发 </a:t>
            </a:r>
            <a:r>
              <a:rPr lang="en-US" altLang="zh-CN" sz="3600" b="1" dirty="0"/>
              <a:t>9.</a:t>
            </a:r>
            <a:r>
              <a:rPr lang="zh-CN" altLang="en-US" sz="3600" b="1" dirty="0"/>
              <a:t>在他生命的最后三十年 </a:t>
            </a:r>
            <a:r>
              <a:rPr lang="en-US" altLang="zh-CN" sz="3600" b="1" dirty="0"/>
              <a:t>10.</a:t>
            </a:r>
            <a:r>
              <a:rPr lang="zh-CN" altLang="en-US" sz="3600" b="1" dirty="0"/>
              <a:t>端详了好一阵子 </a:t>
            </a:r>
            <a:r>
              <a:rPr lang="en-US" altLang="zh-CN" sz="3600" b="1" dirty="0"/>
              <a:t>11.</a:t>
            </a:r>
            <a:r>
              <a:rPr lang="zh-CN" altLang="en-US" sz="3600" b="1" dirty="0"/>
              <a:t>令人赞叹的是</a:t>
            </a:r>
            <a:r>
              <a:rPr lang="en-US" altLang="zh-CN" sz="3600" b="1" dirty="0"/>
              <a:t>12.</a:t>
            </a:r>
            <a:r>
              <a:rPr lang="zh-CN" altLang="en-US" sz="3600" b="1" dirty="0"/>
              <a:t>以独特的方式让它的美跃然于画布之上</a:t>
            </a:r>
            <a:r>
              <a:rPr lang="en-US" altLang="zh-CN" sz="3600" b="1" dirty="0"/>
              <a:t>13.</a:t>
            </a:r>
            <a:r>
              <a:rPr lang="zh-CN" altLang="en-US" sz="3600" b="1" dirty="0"/>
              <a:t>更喜欢做</a:t>
            </a:r>
            <a:r>
              <a:rPr lang="en-US" altLang="zh-CN" sz="3600" b="1" dirty="0"/>
              <a:t>…</a:t>
            </a:r>
            <a:r>
              <a:rPr lang="zh-CN" altLang="en-US" sz="3600" b="1" dirty="0"/>
              <a:t>而不是</a:t>
            </a:r>
            <a:r>
              <a:rPr lang="en-US" altLang="zh-CN" sz="3600" b="1" dirty="0"/>
              <a:t>…(2</a:t>
            </a:r>
            <a:r>
              <a:rPr lang="zh-CN" altLang="en-US" sz="3600" b="1" dirty="0"/>
              <a:t>个</a:t>
            </a:r>
            <a:r>
              <a:rPr lang="en-US" altLang="zh-CN" sz="3600" b="1" dirty="0"/>
              <a:t>)14.</a:t>
            </a:r>
            <a:r>
              <a:rPr lang="zh-CN" altLang="en-US" sz="3600" b="1" dirty="0"/>
              <a:t>一处热闹街区</a:t>
            </a:r>
            <a:r>
              <a:rPr lang="en-US" altLang="zh-CN" sz="3600" b="1" dirty="0"/>
              <a:t>15.</a:t>
            </a:r>
            <a:r>
              <a:rPr lang="zh-CN" altLang="en-US" sz="3600" b="1" dirty="0"/>
              <a:t>近距离</a:t>
            </a:r>
            <a:r>
              <a:rPr lang="en-US" altLang="zh-CN" sz="3600" b="1" dirty="0"/>
              <a:t>16.</a:t>
            </a:r>
            <a:r>
              <a:rPr lang="zh-CN" altLang="en-US" sz="3600" b="1" dirty="0"/>
              <a:t>令我大为震撼</a:t>
            </a:r>
            <a:r>
              <a:rPr lang="en-US" altLang="zh-CN" sz="3600" b="1" dirty="0"/>
              <a:t>17.</a:t>
            </a:r>
            <a:r>
              <a:rPr lang="zh-CN" altLang="en-US" sz="3600" b="1" dirty="0"/>
              <a:t>志趣相投的艺术家</a:t>
            </a:r>
            <a:r>
              <a:rPr lang="en-US" altLang="zh-CN" sz="3600" b="1" dirty="0"/>
              <a:t>18.</a:t>
            </a:r>
            <a:r>
              <a:rPr lang="zh-CN" altLang="en-US" sz="3600" b="1" dirty="0"/>
              <a:t>力求从</a:t>
            </a:r>
            <a:r>
              <a:rPr lang="en-US" altLang="zh-CN" sz="3600" b="1" dirty="0"/>
              <a:t>…</a:t>
            </a:r>
            <a:r>
              <a:rPr lang="zh-CN" altLang="en-US" sz="3600" b="1" dirty="0"/>
              <a:t>的束缚中挣脱出来</a:t>
            </a:r>
            <a:r>
              <a:rPr lang="en-US" altLang="zh-CN" sz="3600" b="1" dirty="0"/>
              <a:t>19.</a:t>
            </a:r>
            <a:r>
              <a:rPr lang="zh-CN" altLang="en-US" sz="3600" b="1" dirty="0"/>
              <a:t>与</a:t>
            </a:r>
            <a:r>
              <a:rPr lang="en-US" altLang="zh-CN" sz="3600" b="1" dirty="0"/>
              <a:t>…</a:t>
            </a:r>
            <a:r>
              <a:rPr lang="zh-CN" altLang="en-US" sz="3600" b="1" dirty="0"/>
              <a:t>不同 </a:t>
            </a:r>
            <a:r>
              <a:rPr lang="en-US" altLang="zh-CN" sz="3600" b="1" dirty="0"/>
              <a:t>20.</a:t>
            </a:r>
            <a:r>
              <a:rPr lang="zh-CN" altLang="en-US" sz="3600" b="1" dirty="0"/>
              <a:t>运用自由的笔法</a:t>
            </a:r>
            <a:r>
              <a:rPr lang="en-US" altLang="zh-CN" sz="3600" b="1" dirty="0"/>
              <a:t>21.…</a:t>
            </a:r>
            <a:r>
              <a:rPr lang="zh-CN" altLang="en-US" sz="3600" b="1" dirty="0"/>
              <a:t>的精髓</a:t>
            </a:r>
            <a:r>
              <a:rPr lang="en-US" altLang="zh-CN" sz="3600" b="1" dirty="0"/>
              <a:t>22.</a:t>
            </a:r>
            <a:r>
              <a:rPr lang="zh-CN" altLang="en-US" sz="3600" b="1" dirty="0"/>
              <a:t>迸发着鲜明的光彩</a:t>
            </a:r>
            <a:r>
              <a:rPr lang="en-US" altLang="zh-CN" sz="3600" b="1" dirty="0"/>
              <a:t>23.</a:t>
            </a:r>
            <a:r>
              <a:rPr lang="zh-CN" altLang="en-US" sz="3600" b="1" dirty="0"/>
              <a:t>启发了新一代的画家</a:t>
            </a:r>
            <a:r>
              <a:rPr lang="en-US" altLang="zh-CN" sz="3600" b="1" dirty="0"/>
              <a:t>24.</a:t>
            </a:r>
            <a:r>
              <a:rPr lang="zh-CN" altLang="en-US" sz="3600" b="1" dirty="0"/>
              <a:t>值得注意的是</a:t>
            </a:r>
            <a:r>
              <a:rPr lang="en-US" altLang="zh-CN" sz="3600" b="1" dirty="0"/>
              <a:t>25.</a:t>
            </a:r>
            <a:r>
              <a:rPr lang="zh-CN" altLang="en-US" sz="3600" b="1" dirty="0"/>
              <a:t>对</a:t>
            </a:r>
            <a:r>
              <a:rPr lang="en-US" altLang="zh-CN" sz="3600" b="1" dirty="0"/>
              <a:t>…</a:t>
            </a:r>
            <a:r>
              <a:rPr lang="zh-CN" altLang="en-US" sz="3600" b="1" dirty="0"/>
              <a:t>产生了持久的影响 </a:t>
            </a:r>
            <a:r>
              <a:rPr lang="en-US" altLang="zh-CN" sz="3600" b="1" dirty="0"/>
              <a:t>26.</a:t>
            </a:r>
            <a:r>
              <a:rPr lang="zh-CN" altLang="en-US" sz="3600" b="1" dirty="0"/>
              <a:t>鼓励着艺术家们从一个全新的视角去看待世界 </a:t>
            </a:r>
            <a:r>
              <a:rPr lang="en-US" altLang="zh-CN" sz="3600" b="1" dirty="0"/>
              <a:t>27.</a:t>
            </a:r>
            <a:r>
              <a:rPr lang="zh-CN" altLang="en-US" sz="3600" b="1" dirty="0"/>
              <a:t>给我留下了难忘的印象 </a:t>
            </a:r>
            <a:r>
              <a:rPr lang="en-US" altLang="zh-CN" sz="3600" b="1" dirty="0"/>
              <a:t>28.</a:t>
            </a:r>
            <a:r>
              <a:rPr lang="zh-CN" altLang="en-US" sz="3600" b="1" dirty="0"/>
              <a:t>从</a:t>
            </a:r>
            <a:r>
              <a:rPr lang="en-US" altLang="zh-CN" sz="3600" b="1" dirty="0"/>
              <a:t>…</a:t>
            </a:r>
            <a:r>
              <a:rPr lang="zh-CN" altLang="en-US" sz="3600" b="1" dirty="0"/>
              <a:t>种寻求安慰 </a:t>
            </a:r>
            <a:r>
              <a:rPr lang="en-US" altLang="zh-CN" sz="3600" b="1" dirty="0"/>
              <a:t>29.</a:t>
            </a:r>
            <a:r>
              <a:rPr lang="zh-CN" altLang="en-US" sz="3600" b="1" dirty="0"/>
              <a:t>展现</a:t>
            </a:r>
            <a:r>
              <a:rPr lang="en-US" altLang="zh-CN" sz="3600" b="1" dirty="0"/>
              <a:t>…</a:t>
            </a:r>
            <a:r>
              <a:rPr lang="zh-CN" altLang="en-US" sz="3600" b="1" dirty="0"/>
              <a:t>的天赋 </a:t>
            </a:r>
            <a:r>
              <a:rPr lang="en-US" altLang="zh-CN" sz="3600" b="1" dirty="0"/>
              <a:t>30.A</a:t>
            </a:r>
            <a:r>
              <a:rPr lang="zh-CN" altLang="en-US" sz="3600" b="1" dirty="0"/>
              <a:t>与</a:t>
            </a:r>
            <a:r>
              <a:rPr lang="en-US" altLang="zh-CN" sz="3600" b="1" dirty="0"/>
              <a:t>B</a:t>
            </a:r>
            <a:r>
              <a:rPr lang="zh-CN" altLang="en-US" sz="3600" b="1" dirty="0"/>
              <a:t>在某方面相似 </a:t>
            </a:r>
            <a:r>
              <a:rPr lang="en-US" altLang="zh-CN" sz="3600" b="1" dirty="0"/>
              <a:t>31.</a:t>
            </a:r>
            <a:r>
              <a:rPr lang="zh-CN" altLang="en-US" sz="3600" b="1" dirty="0"/>
              <a:t>扩大词汇量 </a:t>
            </a:r>
            <a:r>
              <a:rPr lang="en-US" altLang="zh-CN" sz="3600" b="1" dirty="0"/>
              <a:t>32.</a:t>
            </a:r>
            <a:r>
              <a:rPr lang="zh-CN" altLang="en-US" sz="3600" b="1" dirty="0"/>
              <a:t>与</a:t>
            </a:r>
            <a:r>
              <a:rPr lang="en-US" altLang="zh-CN" sz="3600" b="1" dirty="0"/>
              <a:t>…</a:t>
            </a:r>
            <a:r>
              <a:rPr lang="zh-CN" altLang="en-US" sz="3600" b="1" dirty="0"/>
              <a:t>相反 </a:t>
            </a:r>
            <a:r>
              <a:rPr lang="en-US" altLang="zh-CN" sz="3600" b="1" dirty="0"/>
              <a:t>33.</a:t>
            </a:r>
            <a:r>
              <a:rPr lang="zh-CN" altLang="en-US" sz="3600" b="1" dirty="0"/>
              <a:t>坐落在 </a:t>
            </a:r>
            <a:r>
              <a:rPr lang="en-US" altLang="zh-CN" sz="3600" b="1" dirty="0"/>
              <a:t>34.</a:t>
            </a:r>
            <a:r>
              <a:rPr lang="zh-CN" altLang="en-US" sz="3600" b="1" dirty="0"/>
              <a:t>范围从</a:t>
            </a:r>
            <a:r>
              <a:rPr lang="en-US" altLang="zh-CN" sz="3600" b="1" dirty="0"/>
              <a:t>…</a:t>
            </a:r>
            <a:r>
              <a:rPr lang="zh-CN" altLang="en-US" sz="3600" b="1" dirty="0"/>
              <a:t>到</a:t>
            </a:r>
            <a:r>
              <a:rPr lang="en-US" altLang="zh-CN" sz="3600" b="1" dirty="0"/>
              <a:t>… 35.</a:t>
            </a:r>
            <a:r>
              <a:rPr lang="zh-CN" altLang="en-US" sz="3600" b="1" dirty="0"/>
              <a:t>在数字时代 </a:t>
            </a:r>
            <a:r>
              <a:rPr lang="en-US" altLang="zh-CN" sz="3600" b="1" dirty="0"/>
              <a:t>36.</a:t>
            </a:r>
            <a:r>
              <a:rPr lang="zh-CN" altLang="en-US" sz="3600" b="1" dirty="0"/>
              <a:t>惊奇的看到 </a:t>
            </a:r>
            <a:r>
              <a:rPr lang="en-US" altLang="zh-CN" sz="3600" b="1" dirty="0"/>
              <a:t>37.</a:t>
            </a:r>
            <a:r>
              <a:rPr lang="zh-CN" altLang="en-US" sz="3600" b="1" dirty="0"/>
              <a:t>令人吃惊的发现 </a:t>
            </a:r>
            <a:r>
              <a:rPr lang="en-US" altLang="zh-CN" sz="3600" b="1" dirty="0"/>
              <a:t>38.</a:t>
            </a:r>
            <a:r>
              <a:rPr lang="zh-CN" altLang="en-US" sz="3600" b="1" dirty="0"/>
              <a:t>沐浴在</a:t>
            </a:r>
            <a:r>
              <a:rPr lang="en-US" altLang="zh-CN" sz="3600" b="1" dirty="0"/>
              <a:t>…</a:t>
            </a:r>
            <a:r>
              <a:rPr lang="zh-CN" altLang="en-US" sz="3600" b="1" dirty="0"/>
              <a:t>下 </a:t>
            </a:r>
            <a:r>
              <a:rPr lang="en-US" altLang="zh-CN" sz="3600" b="1" dirty="0"/>
              <a:t>39.</a:t>
            </a:r>
            <a:r>
              <a:rPr lang="zh-CN" altLang="en-US" sz="3600" b="1" dirty="0"/>
              <a:t>对拍照感兴趣 </a:t>
            </a:r>
            <a:r>
              <a:rPr lang="en-US" altLang="zh-CN" sz="3600" b="1" dirty="0"/>
              <a:t>40.</a:t>
            </a:r>
            <a:r>
              <a:rPr lang="zh-CN" altLang="en-US" sz="3600" b="1" dirty="0"/>
              <a:t>沦落到做某事 </a:t>
            </a:r>
            <a:r>
              <a:rPr lang="en-US" altLang="zh-CN" sz="3600" b="1" dirty="0"/>
              <a:t>41.</a:t>
            </a:r>
            <a:r>
              <a:rPr lang="zh-CN" altLang="en-US" sz="3600" b="1" dirty="0"/>
              <a:t>感受到微风拂面 </a:t>
            </a:r>
            <a:r>
              <a:rPr lang="en-US" altLang="zh-CN" sz="3600" b="1" dirty="0"/>
              <a:t>42.</a:t>
            </a:r>
            <a:r>
              <a:rPr lang="zh-CN" altLang="en-US" sz="3600" b="1" dirty="0"/>
              <a:t>下定决心做某事 </a:t>
            </a:r>
            <a:r>
              <a:rPr lang="en-US" altLang="zh-CN" sz="3600" b="1" dirty="0"/>
              <a:t>43.</a:t>
            </a:r>
            <a:r>
              <a:rPr lang="zh-CN" altLang="en-US" sz="3600" b="1" dirty="0"/>
              <a:t>免费参观 </a:t>
            </a:r>
            <a:r>
              <a:rPr lang="en-US" altLang="zh-CN" sz="3600" b="1" dirty="0"/>
              <a:t>44.</a:t>
            </a:r>
            <a:r>
              <a:rPr lang="zh-CN" altLang="en-US" sz="3600" b="1" dirty="0"/>
              <a:t>只不过仅仅 </a:t>
            </a:r>
            <a:r>
              <a:rPr lang="en-US" altLang="zh-CN" sz="3600" b="1" dirty="0"/>
              <a:t>45.</a:t>
            </a:r>
            <a:r>
              <a:rPr lang="zh-CN" altLang="en-US" sz="3600" b="1" dirty="0"/>
              <a:t>发布到社交媒体上 </a:t>
            </a:r>
            <a:r>
              <a:rPr lang="en-US" altLang="zh-CN" sz="3600" b="1" dirty="0"/>
              <a:t>46.</a:t>
            </a:r>
            <a:r>
              <a:rPr lang="zh-CN" altLang="en-US" sz="3600" b="1" dirty="0"/>
              <a:t>发起一场运动</a:t>
            </a:r>
            <a:r>
              <a:rPr lang="en-US" altLang="zh-CN" sz="3600" b="1" dirty="0"/>
              <a:t>47.</a:t>
            </a:r>
            <a:r>
              <a:rPr lang="zh-CN" altLang="en-US" sz="3600" b="1" dirty="0"/>
              <a:t>鼓励某人做某事</a:t>
            </a:r>
            <a:r>
              <a:rPr lang="en-US" altLang="zh-CN" sz="3600" b="1" dirty="0"/>
              <a:t>;</a:t>
            </a:r>
            <a:r>
              <a:rPr lang="zh-CN" altLang="en-US" sz="3600" b="1" dirty="0"/>
              <a:t>打消某人做某事的念头 </a:t>
            </a:r>
            <a:r>
              <a:rPr lang="en-US" altLang="zh-CN" sz="3600" b="1" dirty="0"/>
              <a:t>48.</a:t>
            </a:r>
            <a:r>
              <a:rPr lang="zh-CN" altLang="en-US" sz="3600" b="1" dirty="0"/>
              <a:t>有很长的路要走</a:t>
            </a:r>
            <a:r>
              <a:rPr lang="en-US" altLang="zh-CN" sz="3600" b="1" dirty="0"/>
              <a:t>49.</a:t>
            </a:r>
            <a:r>
              <a:rPr lang="zh-CN" altLang="en-US" sz="3600" b="1"/>
              <a:t>铺开陈列</a:t>
            </a:r>
            <a:r>
              <a:rPr lang="en-US" altLang="zh-CN" sz="3600" b="1"/>
              <a:t>50</a:t>
            </a:r>
            <a:r>
              <a:rPr lang="en-US" altLang="zh-CN" sz="3600" b="1" dirty="0"/>
              <a:t>.</a:t>
            </a:r>
            <a:r>
              <a:rPr lang="zh-CN" altLang="en-US" sz="3600" b="1" dirty="0"/>
              <a:t>原材料</a:t>
            </a:r>
            <a:r>
              <a:rPr lang="en-US" altLang="zh-CN" sz="3600" b="1" dirty="0"/>
              <a:t>51.</a:t>
            </a:r>
            <a:r>
              <a:rPr lang="zh-CN" altLang="en-US" sz="3600" b="1" dirty="0"/>
              <a:t>有很多品种</a:t>
            </a:r>
            <a:r>
              <a:rPr lang="en-US" altLang="zh-CN" sz="3600" b="1" dirty="0"/>
              <a:t>52.</a:t>
            </a:r>
            <a:r>
              <a:rPr lang="zh-CN" altLang="en-US" sz="3600" b="1" dirty="0"/>
              <a:t>粘贴</a:t>
            </a:r>
            <a:r>
              <a:rPr lang="en-US" altLang="zh-CN" sz="3600" b="1" dirty="0"/>
              <a:t>(__,__) 53.</a:t>
            </a:r>
            <a:r>
              <a:rPr lang="zh-CN" altLang="en-US" sz="3600" b="1" dirty="0"/>
              <a:t>开始</a:t>
            </a:r>
            <a:r>
              <a:rPr lang="en-US" altLang="zh-CN" sz="3600" b="1" dirty="0"/>
              <a:t>;</a:t>
            </a:r>
            <a:r>
              <a:rPr lang="zh-CN" altLang="en-US" sz="3600" b="1" dirty="0"/>
              <a:t>随后</a:t>
            </a:r>
            <a:r>
              <a:rPr lang="en-US" altLang="zh-CN" sz="3600" b="1" dirty="0"/>
              <a:t>;</a:t>
            </a:r>
            <a:r>
              <a:rPr lang="zh-CN" altLang="en-US" sz="3600" b="1" dirty="0"/>
              <a:t>最后</a:t>
            </a:r>
            <a:endParaRPr lang="zh-CN" altLang="en-US" sz="3600" b="1" dirty="0">
              <a:solidFill>
                <a:srgbClr val="FF0000"/>
              </a:solidFil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fontScale="90000" lnSpcReduction="10000"/>
          </a:bodyPr>
          <a:lstStyle/>
          <a:p>
            <a:pPr algn="just"/>
            <a:r>
              <a:rPr lang="en-US" altLang="zh-CN" sz="3600" b="1" dirty="0"/>
              <a:t>U3 </a:t>
            </a:r>
            <a:r>
              <a:rPr lang="en-US" altLang="zh-CN" sz="3600" b="1" dirty="0">
                <a:solidFill>
                  <a:srgbClr val="FF0000"/>
                </a:solidFill>
              </a:rPr>
              <a:t>1.</a:t>
            </a:r>
            <a:r>
              <a:rPr lang="zh-CN" altLang="en-US" sz="3600" b="1" dirty="0">
                <a:solidFill>
                  <a:srgbClr val="FF0000"/>
                </a:solidFill>
              </a:rPr>
              <a:t>肖像画</a:t>
            </a:r>
            <a:r>
              <a:rPr lang="en-US" altLang="zh-CN" sz="3600" b="1" dirty="0">
                <a:solidFill>
                  <a:srgbClr val="FF0000"/>
                </a:solidFill>
              </a:rPr>
              <a:t>;</a:t>
            </a:r>
            <a:r>
              <a:rPr lang="zh-CN" altLang="en-US" sz="3600" b="1" dirty="0">
                <a:solidFill>
                  <a:srgbClr val="FF0000"/>
                </a:solidFill>
              </a:rPr>
              <a:t>风景画</a:t>
            </a:r>
            <a:r>
              <a:rPr lang="en-US" altLang="zh-CN" sz="3600" b="1" dirty="0">
                <a:solidFill>
                  <a:srgbClr val="FF0000"/>
                </a:solidFill>
              </a:rPr>
              <a:t>;</a:t>
            </a:r>
            <a:r>
              <a:rPr lang="zh-CN" altLang="en-US" sz="3600" b="1" dirty="0">
                <a:solidFill>
                  <a:srgbClr val="FF0000"/>
                </a:solidFill>
              </a:rPr>
              <a:t>美术馆 </a:t>
            </a:r>
            <a:r>
              <a:rPr lang="en-US" altLang="zh-CN" sz="3600" b="1" dirty="0">
                <a:solidFill>
                  <a:srgbClr val="FF0000"/>
                </a:solidFill>
              </a:rPr>
              <a:t>2.</a:t>
            </a:r>
            <a:r>
              <a:rPr lang="zh-CN" altLang="en-US" sz="3600" b="1" dirty="0">
                <a:solidFill>
                  <a:srgbClr val="FF0000"/>
                </a:solidFill>
              </a:rPr>
              <a:t>闲逛</a:t>
            </a:r>
            <a:r>
              <a:rPr lang="en-US" altLang="zh-CN" sz="3600" b="1" dirty="0">
                <a:solidFill>
                  <a:srgbClr val="FF0000"/>
                </a:solidFill>
              </a:rPr>
              <a:t>;</a:t>
            </a:r>
            <a:r>
              <a:rPr lang="zh-CN" altLang="en-US" sz="3600" b="1" dirty="0">
                <a:solidFill>
                  <a:srgbClr val="FF0000"/>
                </a:solidFill>
              </a:rPr>
              <a:t>偏题</a:t>
            </a:r>
            <a:r>
              <a:rPr lang="en-US" altLang="zh-CN" sz="3600" b="1" dirty="0">
                <a:solidFill>
                  <a:srgbClr val="FF0000"/>
                </a:solidFill>
              </a:rPr>
              <a:t>;__n.</a:t>
            </a:r>
            <a:r>
              <a:rPr lang="zh-CN" altLang="en-US" sz="3600" b="1" dirty="0">
                <a:solidFill>
                  <a:srgbClr val="FF0000"/>
                </a:solidFill>
              </a:rPr>
              <a:t>者</a:t>
            </a:r>
            <a:r>
              <a:rPr lang="en-US" altLang="zh-CN" sz="3600" b="1" dirty="0">
                <a:solidFill>
                  <a:srgbClr val="FF0000"/>
                </a:solidFill>
              </a:rPr>
              <a:t>;__a.</a:t>
            </a:r>
            <a:r>
              <a:rPr lang="zh-CN" altLang="en-US" sz="3600" b="1" dirty="0">
                <a:solidFill>
                  <a:srgbClr val="FF0000"/>
                </a:solidFill>
              </a:rPr>
              <a:t>漂泊的  </a:t>
            </a:r>
            <a:r>
              <a:rPr lang="en-US" altLang="zh-CN" sz="3600" b="1" dirty="0">
                <a:solidFill>
                  <a:srgbClr val="FF0000"/>
                </a:solidFill>
              </a:rPr>
              <a:t>3.</a:t>
            </a:r>
            <a:r>
              <a:rPr lang="zh-CN" altLang="en-US" sz="3600" b="1" dirty="0">
                <a:solidFill>
                  <a:srgbClr val="FF0000"/>
                </a:solidFill>
              </a:rPr>
              <a:t>在过去十年</a:t>
            </a:r>
            <a:r>
              <a:rPr lang="en-US" altLang="zh-CN" sz="3600" b="1" dirty="0">
                <a:solidFill>
                  <a:srgbClr val="FF0000"/>
                </a:solidFill>
              </a:rPr>
              <a:t>+</a:t>
            </a:r>
            <a:r>
              <a:rPr lang="zh-CN" altLang="en-US" sz="3600" b="1" dirty="0">
                <a:solidFill>
                  <a:srgbClr val="FF0000"/>
                </a:solidFill>
              </a:rPr>
              <a:t>时态</a:t>
            </a:r>
            <a:r>
              <a:rPr lang="en-US" altLang="zh-CN" sz="3600" b="1" dirty="0">
                <a:solidFill>
                  <a:srgbClr val="FF0000"/>
                </a:solidFill>
              </a:rPr>
              <a:t>:__;</a:t>
            </a:r>
            <a:r>
              <a:rPr lang="zh-CN" altLang="en-US" sz="3600" b="1" dirty="0">
                <a:solidFill>
                  <a:srgbClr val="FF0000"/>
                </a:solidFill>
              </a:rPr>
              <a:t> </a:t>
            </a:r>
            <a:r>
              <a:rPr lang="en-US" altLang="zh-CN" sz="3600" b="1" dirty="0">
                <a:solidFill>
                  <a:srgbClr val="FF0000"/>
                </a:solidFill>
              </a:rPr>
              <a:t>30</a:t>
            </a:r>
            <a:r>
              <a:rPr lang="zh-CN" altLang="en-US" sz="3600" b="1" dirty="0">
                <a:solidFill>
                  <a:srgbClr val="FF0000"/>
                </a:solidFill>
              </a:rPr>
              <a:t>年前</a:t>
            </a:r>
            <a:r>
              <a:rPr lang="en-US" altLang="zh-CN" sz="3600" b="1" dirty="0">
                <a:solidFill>
                  <a:srgbClr val="FF0000"/>
                </a:solidFill>
              </a:rPr>
              <a:t>+</a:t>
            </a:r>
            <a:r>
              <a:rPr lang="zh-CN" altLang="en-US" sz="3600" b="1" dirty="0">
                <a:solidFill>
                  <a:srgbClr val="FF0000"/>
                </a:solidFill>
              </a:rPr>
              <a:t>时态</a:t>
            </a:r>
            <a:r>
              <a:rPr lang="en-US" altLang="zh-CN" sz="3600" b="1" dirty="0">
                <a:solidFill>
                  <a:srgbClr val="FF0000"/>
                </a:solidFill>
              </a:rPr>
              <a:t>:__ 4.</a:t>
            </a:r>
            <a:r>
              <a:rPr lang="zh-CN" altLang="en-US" sz="3600" b="1" dirty="0">
                <a:solidFill>
                  <a:srgbClr val="FF0000"/>
                </a:solidFill>
              </a:rPr>
              <a:t>在</a:t>
            </a:r>
            <a:r>
              <a:rPr lang="en-US" altLang="zh-CN" sz="3600" b="1" dirty="0">
                <a:solidFill>
                  <a:srgbClr val="FF0000"/>
                </a:solidFill>
              </a:rPr>
              <a:t>…</a:t>
            </a:r>
            <a:r>
              <a:rPr lang="zh-CN" altLang="en-US" sz="3600" b="1" dirty="0">
                <a:solidFill>
                  <a:srgbClr val="FF0000"/>
                </a:solidFill>
              </a:rPr>
              <a:t>附近</a:t>
            </a:r>
            <a:r>
              <a:rPr lang="en-US" altLang="zh-CN" sz="3600" b="1" dirty="0">
                <a:solidFill>
                  <a:srgbClr val="FF0000"/>
                </a:solidFill>
              </a:rPr>
              <a:t>;__n.</a:t>
            </a:r>
            <a:r>
              <a:rPr lang="zh-CN" altLang="en-US" sz="3600" b="1" dirty="0">
                <a:solidFill>
                  <a:srgbClr val="FF0000"/>
                </a:solidFill>
              </a:rPr>
              <a:t>邻居</a:t>
            </a:r>
            <a:r>
              <a:rPr lang="en-US" altLang="zh-CN" sz="3600" b="1" dirty="0">
                <a:solidFill>
                  <a:srgbClr val="FF0000"/>
                </a:solidFill>
              </a:rPr>
              <a:t>;__a.</a:t>
            </a:r>
            <a:r>
              <a:rPr lang="zh-CN" altLang="en-US" sz="3600" b="1" dirty="0">
                <a:solidFill>
                  <a:srgbClr val="FF0000"/>
                </a:solidFill>
              </a:rPr>
              <a:t>临近的 </a:t>
            </a:r>
            <a:r>
              <a:rPr lang="en-US" altLang="zh-CN" sz="3600" b="1" dirty="0">
                <a:solidFill>
                  <a:srgbClr val="FF0000"/>
                </a:solidFill>
              </a:rPr>
              <a:t>5.</a:t>
            </a:r>
            <a:r>
              <a:rPr lang="zh-CN" altLang="en-US" sz="3600" b="1" dirty="0">
                <a:solidFill>
                  <a:srgbClr val="FF0000"/>
                </a:solidFill>
              </a:rPr>
              <a:t>某人突然想到某事</a:t>
            </a:r>
            <a:r>
              <a:rPr lang="en-US" altLang="zh-CN" sz="3600" b="1" dirty="0">
                <a:solidFill>
                  <a:srgbClr val="FF0000"/>
                </a:solidFill>
              </a:rPr>
              <a:t>;</a:t>
            </a:r>
            <a:r>
              <a:rPr lang="zh-CN" altLang="en-US" sz="3600" b="1" dirty="0">
                <a:solidFill>
                  <a:srgbClr val="FF0000"/>
                </a:solidFill>
              </a:rPr>
              <a:t>某人突然想到句型</a:t>
            </a:r>
            <a:r>
              <a:rPr lang="en-US" altLang="zh-CN" sz="3600" b="1" dirty="0">
                <a:solidFill>
                  <a:srgbClr val="FF0000"/>
                </a:solidFill>
              </a:rPr>
              <a:t>;</a:t>
            </a:r>
            <a:r>
              <a:rPr lang="zh-CN" altLang="en-US" sz="3600" b="1" dirty="0">
                <a:solidFill>
                  <a:srgbClr val="FF0000"/>
                </a:solidFill>
              </a:rPr>
              <a:t>给我印象最深的是</a:t>
            </a:r>
            <a:r>
              <a:rPr lang="en-US" altLang="zh-CN" sz="3600" b="1" dirty="0">
                <a:solidFill>
                  <a:srgbClr val="FF0000"/>
                </a:solidFill>
              </a:rPr>
              <a:t>;</a:t>
            </a:r>
            <a:r>
              <a:rPr lang="zh-CN" altLang="en-US" sz="3600" b="1" dirty="0">
                <a:solidFill>
                  <a:srgbClr val="FF0000"/>
                </a:solidFill>
              </a:rPr>
              <a:t>被</a:t>
            </a:r>
            <a:r>
              <a:rPr lang="en-US" altLang="zh-CN" sz="3600" b="1" dirty="0">
                <a:solidFill>
                  <a:srgbClr val="FF0000"/>
                </a:solidFill>
              </a:rPr>
              <a:t>…</a:t>
            </a:r>
            <a:r>
              <a:rPr lang="zh-CN" altLang="en-US" sz="3600" b="1" dirty="0">
                <a:solidFill>
                  <a:srgbClr val="FF0000"/>
                </a:solidFill>
              </a:rPr>
              <a:t>打动</a:t>
            </a:r>
            <a:r>
              <a:rPr lang="en-US" altLang="zh-CN" sz="3600" b="1" dirty="0">
                <a:solidFill>
                  <a:srgbClr val="FF0000"/>
                </a:solidFill>
              </a:rPr>
              <a:t>;</a:t>
            </a:r>
            <a:r>
              <a:rPr lang="zh-CN" altLang="en-US" sz="3600" b="1" dirty="0">
                <a:solidFill>
                  <a:srgbClr val="FF0000"/>
                </a:solidFill>
              </a:rPr>
              <a:t>达成协议</a:t>
            </a:r>
            <a:r>
              <a:rPr lang="en-US" altLang="zh-CN" sz="3600" b="1" dirty="0">
                <a:solidFill>
                  <a:srgbClr val="FF0000"/>
                </a:solidFill>
              </a:rPr>
              <a:t>;</a:t>
            </a:r>
            <a:r>
              <a:rPr lang="zh-CN" altLang="en-US" sz="3600" b="1" dirty="0">
                <a:solidFill>
                  <a:srgbClr val="FF0000"/>
                </a:solidFill>
              </a:rPr>
              <a:t>在</a:t>
            </a:r>
            <a:r>
              <a:rPr lang="en-US" altLang="zh-CN" sz="3600" b="1" dirty="0">
                <a:solidFill>
                  <a:srgbClr val="FF0000"/>
                </a:solidFill>
              </a:rPr>
              <a:t>…</a:t>
            </a:r>
            <a:r>
              <a:rPr lang="zh-CN" altLang="en-US" sz="3600" b="1" dirty="0">
                <a:solidFill>
                  <a:srgbClr val="FF0000"/>
                </a:solidFill>
              </a:rPr>
              <a:t>和</a:t>
            </a:r>
            <a:r>
              <a:rPr lang="en-US" altLang="zh-CN" sz="3600" b="1" dirty="0">
                <a:solidFill>
                  <a:srgbClr val="FF0000"/>
                </a:solidFill>
              </a:rPr>
              <a:t>…</a:t>
            </a:r>
            <a:r>
              <a:rPr lang="zh-CN" altLang="en-US" sz="3600" b="1" dirty="0">
                <a:solidFill>
                  <a:srgbClr val="FF0000"/>
                </a:solidFill>
              </a:rPr>
              <a:t>取得平衡</a:t>
            </a:r>
            <a:r>
              <a:rPr lang="en-US" altLang="zh-CN" sz="3600" b="1" dirty="0">
                <a:solidFill>
                  <a:srgbClr val="FF0000"/>
                </a:solidFill>
              </a:rPr>
              <a:t>;</a:t>
            </a:r>
            <a:r>
              <a:rPr lang="zh-CN" altLang="en-US" sz="3600" b="1" dirty="0">
                <a:solidFill>
                  <a:srgbClr val="FF0000"/>
                </a:solidFill>
              </a:rPr>
              <a:t>开始交谈</a:t>
            </a:r>
            <a:r>
              <a:rPr lang="en-US" altLang="zh-CN" sz="3600" b="1" dirty="0">
                <a:solidFill>
                  <a:srgbClr val="FF0000"/>
                </a:solidFill>
              </a:rPr>
              <a:t>;</a:t>
            </a:r>
            <a:r>
              <a:rPr lang="zh-CN" altLang="en-US" sz="3600" b="1" dirty="0">
                <a:solidFill>
                  <a:srgbClr val="FF0000"/>
                </a:solidFill>
              </a:rPr>
              <a:t>罢工</a:t>
            </a:r>
            <a:r>
              <a:rPr lang="en-US" altLang="zh-CN" sz="3600" b="1" dirty="0">
                <a:solidFill>
                  <a:srgbClr val="FF0000"/>
                </a:solidFill>
              </a:rPr>
              <a:t>;</a:t>
            </a:r>
            <a:r>
              <a:rPr lang="zh-CN" altLang="en-US" sz="3600" b="1" dirty="0">
                <a:solidFill>
                  <a:srgbClr val="FF0000"/>
                </a:solidFill>
              </a:rPr>
              <a:t>发动对</a:t>
            </a:r>
            <a:r>
              <a:rPr lang="en-US" altLang="zh-CN" sz="3600" b="1" dirty="0">
                <a:solidFill>
                  <a:srgbClr val="FF0000"/>
                </a:solidFill>
              </a:rPr>
              <a:t>…</a:t>
            </a:r>
            <a:r>
              <a:rPr lang="zh-CN" altLang="en-US" sz="3600" b="1" dirty="0">
                <a:solidFill>
                  <a:srgbClr val="FF0000"/>
                </a:solidFill>
              </a:rPr>
              <a:t>袭击</a:t>
            </a:r>
            <a:r>
              <a:rPr lang="en-US" altLang="zh-CN" sz="3600" b="1" dirty="0">
                <a:solidFill>
                  <a:srgbClr val="FF0000"/>
                </a:solidFill>
              </a:rPr>
              <a:t>;</a:t>
            </a:r>
            <a:r>
              <a:rPr lang="zh-CN" altLang="en-US" sz="3600" b="1" dirty="0">
                <a:solidFill>
                  <a:srgbClr val="FF0000"/>
                </a:solidFill>
              </a:rPr>
              <a:t>地震灾区</a:t>
            </a:r>
            <a:r>
              <a:rPr lang="en-US" altLang="zh-CN" sz="3600" b="1" dirty="0">
                <a:solidFill>
                  <a:srgbClr val="FF0000"/>
                </a:solidFill>
              </a:rPr>
              <a:t>;</a:t>
            </a:r>
            <a:r>
              <a:rPr lang="zh-CN" altLang="en-US" sz="3600" b="1" dirty="0">
                <a:solidFill>
                  <a:srgbClr val="FF0000"/>
                </a:solidFill>
              </a:rPr>
              <a:t>趁热打铁</a:t>
            </a:r>
            <a:r>
              <a:rPr lang="en-US" altLang="zh-CN" sz="3600" b="1" dirty="0">
                <a:solidFill>
                  <a:srgbClr val="FF0000"/>
                </a:solidFill>
              </a:rPr>
              <a:t>;__a.</a:t>
            </a:r>
            <a:r>
              <a:rPr lang="zh-CN" altLang="en-US" sz="3600" b="1" dirty="0">
                <a:solidFill>
                  <a:srgbClr val="FF0000"/>
                </a:solidFill>
              </a:rPr>
              <a:t>惊人显著的 </a:t>
            </a:r>
            <a:r>
              <a:rPr lang="en-US" altLang="zh-CN" sz="3600" b="1" dirty="0">
                <a:solidFill>
                  <a:srgbClr val="FF0000"/>
                </a:solidFill>
              </a:rPr>
              <a:t>6.</a:t>
            </a:r>
            <a:r>
              <a:rPr lang="zh-CN" altLang="en-US" sz="3600" b="1" dirty="0">
                <a:solidFill>
                  <a:srgbClr val="FF0000"/>
                </a:solidFill>
              </a:rPr>
              <a:t>以</a:t>
            </a:r>
            <a:r>
              <a:rPr lang="en-US" altLang="zh-CN" sz="3600" b="1" dirty="0">
                <a:solidFill>
                  <a:srgbClr val="FF0000"/>
                </a:solidFill>
              </a:rPr>
              <a:t>…</a:t>
            </a:r>
            <a:r>
              <a:rPr lang="zh-CN" altLang="en-US" sz="3600" b="1" dirty="0">
                <a:solidFill>
                  <a:srgbClr val="FF0000"/>
                </a:solidFill>
              </a:rPr>
              <a:t>为背景</a:t>
            </a:r>
            <a:r>
              <a:rPr lang="en-US" altLang="zh-CN" sz="3600" b="1" dirty="0">
                <a:solidFill>
                  <a:srgbClr val="FF0000"/>
                </a:solidFill>
              </a:rPr>
              <a:t>;__n.</a:t>
            </a:r>
            <a:r>
              <a:rPr lang="zh-CN" altLang="en-US" sz="3600" b="1" dirty="0">
                <a:solidFill>
                  <a:srgbClr val="FF0000"/>
                </a:solidFill>
              </a:rPr>
              <a:t>背景 </a:t>
            </a:r>
            <a:r>
              <a:rPr lang="en-US" altLang="zh-CN" sz="3600" b="1" dirty="0">
                <a:solidFill>
                  <a:srgbClr val="FF0000"/>
                </a:solidFill>
              </a:rPr>
              <a:t>7.</a:t>
            </a:r>
            <a:r>
              <a:rPr lang="zh-CN" altLang="en-US" sz="3600" b="1" dirty="0">
                <a:solidFill>
                  <a:srgbClr val="FF0000"/>
                </a:solidFill>
              </a:rPr>
              <a:t>摆脱</a:t>
            </a:r>
            <a:r>
              <a:rPr lang="en-US" altLang="zh-CN" sz="3600" b="1" dirty="0">
                <a:solidFill>
                  <a:srgbClr val="FF0000"/>
                </a:solidFill>
              </a:rPr>
              <a:t>…</a:t>
            </a:r>
            <a:r>
              <a:rPr lang="zh-CN" altLang="en-US" sz="3600" b="1" dirty="0">
                <a:solidFill>
                  <a:srgbClr val="FF0000"/>
                </a:solidFill>
              </a:rPr>
              <a:t>的束缚</a:t>
            </a:r>
            <a:r>
              <a:rPr lang="en-US" altLang="zh-CN" sz="3600" b="1" dirty="0">
                <a:solidFill>
                  <a:srgbClr val="FF0000"/>
                </a:solidFill>
              </a:rPr>
              <a:t>(2</a:t>
            </a:r>
            <a:r>
              <a:rPr lang="zh-CN" altLang="en-US" sz="3600" b="1" dirty="0">
                <a:solidFill>
                  <a:srgbClr val="FF0000"/>
                </a:solidFill>
              </a:rPr>
              <a:t>个</a:t>
            </a:r>
            <a:r>
              <a:rPr lang="en-US" altLang="zh-CN" sz="3600" b="1" dirty="0">
                <a:solidFill>
                  <a:srgbClr val="FF0000"/>
                </a:solidFill>
              </a:rPr>
              <a:t>);__n.</a:t>
            </a:r>
            <a:r>
              <a:rPr lang="zh-CN" altLang="en-US" sz="3600" b="1" dirty="0">
                <a:solidFill>
                  <a:srgbClr val="FF0000"/>
                </a:solidFill>
              </a:rPr>
              <a:t>者 </a:t>
            </a:r>
            <a:r>
              <a:rPr lang="en-US" altLang="zh-CN" sz="3600" b="1" dirty="0">
                <a:solidFill>
                  <a:srgbClr val="FF0000"/>
                </a:solidFill>
              </a:rPr>
              <a:t>8.</a:t>
            </a:r>
            <a:r>
              <a:rPr lang="zh-CN" altLang="en-US" sz="3600" b="1" dirty="0">
                <a:solidFill>
                  <a:srgbClr val="FF0000"/>
                </a:solidFill>
              </a:rPr>
              <a:t>相对于</a:t>
            </a:r>
            <a:r>
              <a:rPr lang="en-US" altLang="zh-CN" sz="3600" b="1" dirty="0">
                <a:solidFill>
                  <a:srgbClr val="FF0000"/>
                </a:solidFill>
              </a:rPr>
              <a:t>;</a:t>
            </a:r>
            <a:r>
              <a:rPr lang="zh-CN" altLang="en-US" sz="3600" b="1" dirty="0">
                <a:solidFill>
                  <a:srgbClr val="FF0000"/>
                </a:solidFill>
              </a:rPr>
              <a:t>反对做某事</a:t>
            </a:r>
            <a:r>
              <a:rPr lang="en-US" altLang="zh-CN" sz="3600" b="1" dirty="0">
                <a:solidFill>
                  <a:srgbClr val="FF0000"/>
                </a:solidFill>
              </a:rPr>
              <a:t>(4</a:t>
            </a:r>
            <a:r>
              <a:rPr lang="zh-CN" altLang="en-US" sz="3600" b="1" dirty="0">
                <a:solidFill>
                  <a:srgbClr val="FF0000"/>
                </a:solidFill>
              </a:rPr>
              <a:t>个</a:t>
            </a:r>
            <a:r>
              <a:rPr lang="en-US" altLang="zh-CN" sz="3600" b="1" dirty="0">
                <a:solidFill>
                  <a:srgbClr val="FF0000"/>
                </a:solidFill>
              </a:rPr>
              <a:t>);__a.</a:t>
            </a:r>
            <a:r>
              <a:rPr lang="zh-CN" altLang="en-US" sz="3600" b="1" dirty="0">
                <a:solidFill>
                  <a:srgbClr val="FF0000"/>
                </a:solidFill>
              </a:rPr>
              <a:t>相反的</a:t>
            </a:r>
            <a:r>
              <a:rPr lang="en-US" altLang="zh-CN" sz="3600" b="1" dirty="0">
                <a:solidFill>
                  <a:srgbClr val="FF0000"/>
                </a:solidFill>
              </a:rPr>
              <a:t>;__n.</a:t>
            </a:r>
            <a:r>
              <a:rPr lang="zh-CN" altLang="en-US" sz="3600" b="1" dirty="0">
                <a:solidFill>
                  <a:srgbClr val="FF0000"/>
                </a:solidFill>
              </a:rPr>
              <a:t>反对</a:t>
            </a:r>
            <a:r>
              <a:rPr lang="en-US" altLang="zh-CN" sz="3600" b="1" dirty="0">
                <a:solidFill>
                  <a:srgbClr val="FF0000"/>
                </a:solidFill>
              </a:rPr>
              <a:t>;__n.</a:t>
            </a:r>
            <a:r>
              <a:rPr lang="zh-CN" altLang="en-US" sz="3600" b="1" dirty="0">
                <a:solidFill>
                  <a:srgbClr val="FF0000"/>
                </a:solidFill>
              </a:rPr>
              <a:t>对手 </a:t>
            </a:r>
            <a:r>
              <a:rPr lang="en-US" altLang="zh-CN" sz="3600" b="1" dirty="0">
                <a:solidFill>
                  <a:srgbClr val="FF0000"/>
                </a:solidFill>
              </a:rPr>
              <a:t>9.__v.</a:t>
            </a:r>
            <a:r>
              <a:rPr lang="zh-CN" altLang="en-US" sz="3600" b="1" dirty="0">
                <a:solidFill>
                  <a:srgbClr val="FF0000"/>
                </a:solidFill>
              </a:rPr>
              <a:t>支配控制</a:t>
            </a:r>
            <a:r>
              <a:rPr lang="en-US" altLang="zh-CN" sz="3600" b="1" dirty="0">
                <a:solidFill>
                  <a:srgbClr val="FF0000"/>
                </a:solidFill>
              </a:rPr>
              <a:t>; __a.</a:t>
            </a:r>
            <a:r>
              <a:rPr lang="zh-CN" altLang="en-US" sz="3600" b="1" dirty="0">
                <a:solidFill>
                  <a:srgbClr val="FF0000"/>
                </a:solidFill>
              </a:rPr>
              <a:t>占支配地位的</a:t>
            </a:r>
            <a:r>
              <a:rPr lang="en-US" altLang="zh-CN" sz="3600" b="1" dirty="0">
                <a:solidFill>
                  <a:srgbClr val="FF0000"/>
                </a:solidFill>
              </a:rPr>
              <a:t>;</a:t>
            </a:r>
            <a:r>
              <a:rPr lang="zh-CN" altLang="en-US" sz="3600" b="1" dirty="0">
                <a:solidFill>
                  <a:srgbClr val="FF0000"/>
                </a:solidFill>
              </a:rPr>
              <a:t>在某人的统治下</a:t>
            </a:r>
            <a:r>
              <a:rPr lang="en-US" altLang="zh-CN" sz="3600" b="1" dirty="0">
                <a:solidFill>
                  <a:srgbClr val="FF0000"/>
                </a:solidFill>
              </a:rPr>
              <a:t>;</a:t>
            </a:r>
            <a:r>
              <a:rPr lang="zh-CN" altLang="en-US" sz="3600" b="1" dirty="0">
                <a:solidFill>
                  <a:srgbClr val="FF0000"/>
                </a:solidFill>
              </a:rPr>
              <a:t>男性主导的 </a:t>
            </a:r>
            <a:r>
              <a:rPr lang="en-US" altLang="zh-CN" sz="3600" b="1" dirty="0">
                <a:solidFill>
                  <a:srgbClr val="FF0000"/>
                </a:solidFill>
              </a:rPr>
              <a:t>10.</a:t>
            </a:r>
            <a:r>
              <a:rPr lang="zh-CN" altLang="en-US" sz="3600" b="1" dirty="0">
                <a:solidFill>
                  <a:srgbClr val="FF0000"/>
                </a:solidFill>
              </a:rPr>
              <a:t>把</a:t>
            </a:r>
            <a:r>
              <a:rPr lang="en-US" altLang="zh-CN" sz="3600" b="1" dirty="0">
                <a:solidFill>
                  <a:srgbClr val="FF0000"/>
                </a:solidFill>
              </a:rPr>
              <a:t>…</a:t>
            </a:r>
            <a:r>
              <a:rPr lang="zh-CN" altLang="en-US" sz="3600" b="1" dirty="0">
                <a:solidFill>
                  <a:srgbClr val="FF0000"/>
                </a:solidFill>
              </a:rPr>
              <a:t>运用于</a:t>
            </a:r>
            <a:r>
              <a:rPr lang="en-US" altLang="zh-CN" sz="3600" b="1" dirty="0">
                <a:solidFill>
                  <a:srgbClr val="FF0000"/>
                </a:solidFill>
              </a:rPr>
              <a:t>…;</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雇用某人担任</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雇用某人做某事</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忙于做某事</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失业</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失业者</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雇主</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雇员 </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11.</a:t>
            </a:r>
            <a:r>
              <a:rPr kumimoji="1" lang="zh-CN" altLang="en-US" sz="3600" b="1" dirty="0">
                <a:solidFill>
                  <a:srgbClr val="FF0000"/>
                </a:solidFill>
              </a:rPr>
              <a:t>对</a:t>
            </a:r>
            <a:r>
              <a:rPr kumimoji="1" lang="en-US" altLang="zh-CN" sz="3600" b="1" dirty="0">
                <a:solidFill>
                  <a:srgbClr val="FF0000"/>
                </a:solidFill>
              </a:rPr>
              <a:t>…</a:t>
            </a:r>
            <a:r>
              <a:rPr kumimoji="1" lang="zh-CN" altLang="en-US" sz="3600" b="1" dirty="0">
                <a:solidFill>
                  <a:srgbClr val="FF0000"/>
                </a:solidFill>
              </a:rPr>
              <a:t>实事求是</a:t>
            </a:r>
            <a:r>
              <a:rPr kumimoji="1" lang="en-US" altLang="zh-CN" sz="3600" b="1" dirty="0">
                <a:solidFill>
                  <a:srgbClr val="FF0000"/>
                </a:solidFill>
              </a:rPr>
              <a:t>;__a.</a:t>
            </a:r>
            <a:r>
              <a:rPr kumimoji="1" lang="zh-CN" altLang="en-US" sz="3600" b="1" dirty="0">
                <a:solidFill>
                  <a:srgbClr val="FF0000"/>
                </a:solidFill>
              </a:rPr>
              <a:t>不切实际的</a:t>
            </a:r>
            <a:r>
              <a:rPr kumimoji="1" lang="en-US" altLang="zh-CN" sz="3600" b="1" dirty="0">
                <a:solidFill>
                  <a:srgbClr val="FF0000"/>
                </a:solidFill>
              </a:rPr>
              <a:t>;__ad.;</a:t>
            </a:r>
            <a:r>
              <a:rPr kumimoji="1" lang="zh-CN" altLang="en-US" sz="3600" b="1" dirty="0">
                <a:solidFill>
                  <a:srgbClr val="FF0000"/>
                </a:solidFill>
              </a:rPr>
              <a:t>事实上</a:t>
            </a:r>
            <a:r>
              <a:rPr kumimoji="1" lang="en-US" altLang="zh-CN" sz="3600" b="1" dirty="0">
                <a:solidFill>
                  <a:srgbClr val="FF0000"/>
                </a:solidFill>
              </a:rPr>
              <a:t>;(</a:t>
            </a:r>
            <a:r>
              <a:rPr kumimoji="1" lang="zh-CN" altLang="en-US" sz="3600" b="1" dirty="0">
                <a:solidFill>
                  <a:srgbClr val="FF0000"/>
                </a:solidFill>
              </a:rPr>
              <a:t>梦想</a:t>
            </a:r>
            <a:r>
              <a:rPr kumimoji="1" lang="en-US" altLang="zh-CN" sz="3600" b="1" dirty="0">
                <a:solidFill>
                  <a:srgbClr val="FF0000"/>
                </a:solidFill>
              </a:rPr>
              <a:t>)</a:t>
            </a:r>
            <a:r>
              <a:rPr kumimoji="1" lang="zh-CN" altLang="en-US" sz="3600" b="1" dirty="0">
                <a:solidFill>
                  <a:srgbClr val="FF0000"/>
                </a:solidFill>
              </a:rPr>
              <a:t>实现</a:t>
            </a:r>
            <a:r>
              <a:rPr kumimoji="1" lang="en-US" altLang="zh-CN" sz="3600" b="1" dirty="0">
                <a:solidFill>
                  <a:srgbClr val="FF0000"/>
                </a:solidFill>
              </a:rPr>
              <a:t>;</a:t>
            </a:r>
            <a:r>
              <a:rPr kumimoji="1" lang="zh-CN" altLang="en-US" sz="3600" b="1" dirty="0">
                <a:solidFill>
                  <a:srgbClr val="FF0000"/>
                </a:solidFill>
              </a:rPr>
              <a:t>实现某人的梦想</a:t>
            </a:r>
            <a:r>
              <a:rPr kumimoji="1" lang="en-US" altLang="zh-CN" sz="3600" b="1" dirty="0">
                <a:solidFill>
                  <a:srgbClr val="FF0000"/>
                </a:solidFill>
              </a:rPr>
              <a:t>(2</a:t>
            </a:r>
            <a:r>
              <a:rPr kumimoji="1" lang="zh-CN" altLang="en-US" sz="3600" b="1" dirty="0">
                <a:solidFill>
                  <a:srgbClr val="FF0000"/>
                </a:solidFill>
              </a:rPr>
              <a:t>个</a:t>
            </a:r>
            <a:r>
              <a:rPr kumimoji="1" lang="en-US" altLang="zh-CN" sz="3600" b="1" dirty="0">
                <a:solidFill>
                  <a:srgbClr val="FF0000"/>
                </a:solidFill>
              </a:rPr>
              <a:t>) </a:t>
            </a:r>
            <a:r>
              <a:rPr kumimoji="1" lang="en-US" altLang="zh-CN" sz="3600" b="1" dirty="0">
                <a:solidFill>
                  <a:srgbClr val="FF0000"/>
                </a:solidFill>
                <a:sym typeface="+mn-ea"/>
              </a:rPr>
              <a:t>12.</a:t>
            </a:r>
            <a:r>
              <a:rPr kumimoji="1" lang="zh-CN" altLang="en-US" sz="3600" b="1" dirty="0">
                <a:solidFill>
                  <a:srgbClr val="FF0000"/>
                </a:solidFill>
                <a:sym typeface="+mn-ea"/>
              </a:rPr>
              <a:t>本质上</a:t>
            </a:r>
            <a:r>
              <a:rPr kumimoji="1" lang="en-US" altLang="zh-CN" sz="3600" b="1" dirty="0">
                <a:solidFill>
                  <a:srgbClr val="FF0000"/>
                </a:solidFill>
                <a:sym typeface="+mn-ea"/>
              </a:rPr>
              <a:t>;</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对</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极为重要</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做某事是</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必不可少</a:t>
            </a:r>
            <a:r>
              <a:rPr lang="zh-CN"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的</a:t>
            </a:r>
            <a:r>
              <a:rPr kumimoji="1"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;__n.</a:t>
            </a:r>
            <a:r>
              <a:rPr kumimoji="1"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必需品基本要素</a:t>
            </a:r>
            <a:r>
              <a:rPr kumimoji="1"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;__ad.</a:t>
            </a:r>
            <a:r>
              <a:rPr kumimoji="1"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本质上地 </a:t>
            </a:r>
            <a:r>
              <a:rPr kumimoji="1"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13.</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生动地描述</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(2</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个</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);__n.</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鲜艳生动 </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14.</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有远见的人</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拓宽视野</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;__a.</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视觉的</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 15.</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在被展出</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(2</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个</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)16.worth, worthy, worthwhile</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各写两个用法</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崇高的事业</a:t>
            </a:r>
            <a:r>
              <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 </a:t>
            </a:r>
            <a:r>
              <a:rPr lang="en-US" altLang="zh-CN" sz="3600" b="1" dirty="0">
                <a:solidFill>
                  <a:srgbClr val="FF0000"/>
                </a:solidFill>
                <a:sym typeface="+mn-ea"/>
              </a:rPr>
              <a:t>17.</a:t>
            </a:r>
            <a:r>
              <a:rPr lang="zh-CN" altLang="zh-CN" sz="36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沐浴在</a:t>
            </a:r>
            <a:r>
              <a:rPr lang="en-US" altLang="zh-CN" sz="36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36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用</a:t>
            </a:r>
            <a:r>
              <a:rPr lang="en-US" altLang="zh-CN" sz="36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36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清洗伤口</a:t>
            </a:r>
            <a:r>
              <a:rPr lang="en-US" altLang="zh-CN" sz="36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36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洗澡</a:t>
            </a:r>
            <a:r>
              <a:rPr lang="en-US" altLang="zh-CN" sz="36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 18.</a:t>
            </a:r>
            <a:r>
              <a:rPr lang="zh-CN" altLang="en-US" sz="36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发起一场战争</a:t>
            </a:r>
            <a:r>
              <a:rPr lang="en-US" altLang="zh-CN" sz="36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6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运动支持</a:t>
            </a:r>
            <a:r>
              <a:rPr lang="en-US" altLang="zh-CN" sz="36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36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反对</a:t>
            </a:r>
            <a:r>
              <a:rPr lang="en-US" altLang="zh-CN" sz="36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;__n.</a:t>
            </a:r>
            <a:r>
              <a:rPr lang="zh-CN" altLang="en-US" sz="36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者</a:t>
            </a:r>
            <a:r>
              <a:rPr lang="en-US" altLang="zh-CN" sz="36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 19.__</a:t>
            </a:r>
            <a:r>
              <a:rPr lang="zh-CN" altLang="zh-CN" sz="36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建筑设计</a:t>
            </a:r>
            <a:r>
              <a:rPr lang="en-US" altLang="zh-CN" sz="36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;__</a:t>
            </a:r>
            <a:r>
              <a:rPr lang="zh-CN" altLang="zh-CN" sz="36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建筑师</a:t>
            </a:r>
            <a:r>
              <a:rPr lang="en-US" altLang="zh-CN" sz="36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a:t>
            </a:r>
            <a:r>
              <a:rPr lang="en-US"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__</a:t>
            </a:r>
            <a:r>
              <a:rPr lang="en-US" altLang="zh-CN" sz="3600" b="1" i="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a.</a:t>
            </a:r>
            <a:r>
              <a:rPr lang="zh-CN" altLang="zh-CN" sz="3600" b="1" dirty="0">
                <a:effectLst/>
                <a:latin typeface="Times New Roman" panose="02020603050405020304" pitchFamily="18" charset="0"/>
                <a:ea typeface="宋体" panose="02010600030101010101" pitchFamily="2" charset="-122"/>
                <a:cs typeface="Times New Roman" panose="02020603050405020304" pitchFamily="18" charset="0"/>
                <a:sym typeface="+mn-ea"/>
              </a:rPr>
              <a:t>建筑学的</a:t>
            </a:r>
            <a:r>
              <a:rPr lang="en-US" altLang="zh-CN" sz="3600" b="1" dirty="0">
                <a:effectLst/>
                <a:latin typeface="Times New Roman" panose="02020603050405020304" pitchFamily="18" charset="0"/>
                <a:ea typeface="宋体" panose="02010600030101010101" pitchFamily="2" charset="-122"/>
                <a:cs typeface="Times New Roman" panose="02020603050405020304" pitchFamily="18" charset="0"/>
                <a:sym typeface="+mn-ea"/>
              </a:rPr>
              <a:t> 20.</a:t>
            </a:r>
            <a:r>
              <a:rPr lang="zh-CN" altLang="zh-CN" sz="36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为</a:t>
            </a:r>
            <a:r>
              <a:rPr lang="en-US" altLang="zh-CN" sz="36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36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干杯</a:t>
            </a:r>
            <a:r>
              <a:rPr lang="en-US" altLang="zh-CN" sz="36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 21.</a:t>
            </a:r>
            <a:r>
              <a:rPr lang="zh-CN" altLang="zh-CN" sz="36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安排某人做某事</a:t>
            </a:r>
            <a:r>
              <a:rPr lang="en-US" altLang="zh-CN" sz="36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36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为</a:t>
            </a:r>
            <a:r>
              <a:rPr lang="en-US" altLang="zh-CN" sz="36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36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做安排</a:t>
            </a:r>
            <a:r>
              <a:rPr lang="en-US" sz="36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22.</a:t>
            </a:r>
            <a:r>
              <a:rPr lang="zh-CN" altLang="zh-CN" sz="36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收集原材料</a:t>
            </a:r>
            <a:r>
              <a:rPr lang="en-US" altLang="zh-CN" sz="36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 23.</a:t>
            </a:r>
            <a:r>
              <a:rPr kumimoji="1" lang="zh-CN" altLang="en-US" sz="3600" b="1" dirty="0">
                <a:solidFill>
                  <a:srgbClr val="FF0000"/>
                </a:solidFill>
                <a:sym typeface="+mn-ea"/>
              </a:rPr>
              <a:t>向下滚屏</a:t>
            </a:r>
            <a:endParaRPr lang="en-US" altLang="zh-CN" sz="3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fontScale="70000" lnSpcReduction="20000"/>
          </a:bodyPr>
          <a:lstStyle/>
          <a:p>
            <a:pPr>
              <a:lnSpc>
                <a:spcPct val="70000"/>
              </a:lnSpc>
            </a:pPr>
            <a:r>
              <a:rPr lang="en-US" altLang="zh-CN" sz="3600" b="1" dirty="0">
                <a:solidFill>
                  <a:srgbClr val="FF0000"/>
                </a:solidFill>
              </a:rPr>
              <a:t> </a:t>
            </a:r>
            <a:r>
              <a:rPr lang="en-US" altLang="zh-CN" sz="3600" b="1" dirty="0"/>
              <a:t>U2</a:t>
            </a:r>
            <a:r>
              <a:rPr lang="zh-CN" altLang="en-US" sz="3600" b="1" dirty="0"/>
              <a:t>易错的</a:t>
            </a:r>
            <a:r>
              <a:rPr lang="zh-CN" altLang="en-US" sz="3600" b="1" dirty="0">
                <a:solidFill>
                  <a:srgbClr val="FF0000"/>
                </a:solidFill>
              </a:rPr>
              <a:t>   </a:t>
            </a:r>
            <a:r>
              <a:rPr lang="en-US" altLang="zh-CN" sz="3600" b="1" dirty="0">
                <a:solidFill>
                  <a:srgbClr val="FF0000"/>
                </a:solidFill>
              </a:rPr>
              <a:t>compo</a:t>
            </a:r>
            <a:r>
              <a:rPr lang="en-US" altLang="zh-CN" sz="3600" b="1" u="sng" dirty="0">
                <a:solidFill>
                  <a:srgbClr val="FF0000"/>
                </a:solidFill>
                <a:highlight>
                  <a:srgbClr val="FFFF00"/>
                </a:highlight>
              </a:rPr>
              <a:t>sition</a:t>
            </a:r>
            <a:r>
              <a:rPr lang="en-US" altLang="zh-CN" sz="3600" b="1" dirty="0">
                <a:solidFill>
                  <a:srgbClr val="FF0000"/>
                </a:solidFill>
              </a:rPr>
              <a:t> n.</a:t>
            </a:r>
            <a:r>
              <a:rPr lang="zh-CN" altLang="en-US" sz="3600" b="1" dirty="0">
                <a:solidFill>
                  <a:srgbClr val="FF0000"/>
                </a:solidFill>
              </a:rPr>
              <a:t>作品  </a:t>
            </a:r>
            <a:r>
              <a:rPr lang="en-US" altLang="zh-CN" sz="3600" b="1" dirty="0">
                <a:solidFill>
                  <a:srgbClr val="FF0000"/>
                </a:solidFill>
              </a:rPr>
              <a:t>compose oneself</a:t>
            </a:r>
            <a:r>
              <a:rPr lang="zh-CN" altLang="en-US" sz="3600" b="1" dirty="0">
                <a:solidFill>
                  <a:srgbClr val="FF0000"/>
                </a:solidFill>
              </a:rPr>
              <a:t>镇定  </a:t>
            </a:r>
            <a:endParaRPr lang="en-US" altLang="zh-CN" sz="3600" b="1" dirty="0">
              <a:solidFill>
                <a:srgbClr val="FF0000"/>
              </a:solidFill>
            </a:endParaRPr>
          </a:p>
          <a:p>
            <a:pPr>
              <a:lnSpc>
                <a:spcPct val="70000"/>
              </a:lnSpc>
            </a:pPr>
            <a:r>
              <a:rPr lang="en-US" altLang="zh-CN" sz="3600" b="1" u="sng" dirty="0">
                <a:solidFill>
                  <a:srgbClr val="FF0000"/>
                </a:solidFill>
              </a:rPr>
              <a:t> consist of</a:t>
            </a:r>
            <a:r>
              <a:rPr lang="en-US" altLang="zh-CN" sz="3600" b="1" dirty="0">
                <a:solidFill>
                  <a:srgbClr val="FF0000"/>
                </a:solidFill>
              </a:rPr>
              <a:t>=</a:t>
            </a:r>
            <a:r>
              <a:rPr lang="en-US" altLang="zh-CN" sz="3600" b="1" u="sng" dirty="0">
                <a:solidFill>
                  <a:srgbClr val="FF0000"/>
                </a:solidFill>
              </a:rPr>
              <a:t>be composed of </a:t>
            </a:r>
            <a:r>
              <a:rPr lang="en-US" altLang="zh-CN" sz="3600" b="1" dirty="0">
                <a:solidFill>
                  <a:srgbClr val="FF0000"/>
                </a:solidFill>
              </a:rPr>
              <a:t>=</a:t>
            </a:r>
            <a:r>
              <a:rPr lang="en-US" altLang="zh-CN" sz="3600" b="1" u="sng" dirty="0">
                <a:solidFill>
                  <a:srgbClr val="FF0000"/>
                </a:solidFill>
              </a:rPr>
              <a:t>be made </a:t>
            </a:r>
            <a:r>
              <a:rPr lang="en-US" altLang="zh-CN" sz="3600" b="1" u="sng" dirty="0">
                <a:solidFill>
                  <a:srgbClr val="FF0000"/>
                </a:solidFill>
                <a:highlight>
                  <a:srgbClr val="FFFF00"/>
                </a:highlight>
              </a:rPr>
              <a:t>up</a:t>
            </a:r>
            <a:r>
              <a:rPr lang="en-US" altLang="zh-CN" sz="3600" b="1" u="sng" dirty="0">
                <a:solidFill>
                  <a:srgbClr val="FF0000"/>
                </a:solidFill>
              </a:rPr>
              <a:t> of</a:t>
            </a:r>
            <a:r>
              <a:rPr lang="zh-CN" altLang="en-US" sz="3600" b="1" dirty="0">
                <a:solidFill>
                  <a:srgbClr val="FF0000"/>
                </a:solidFill>
              </a:rPr>
              <a:t>由</a:t>
            </a:r>
            <a:r>
              <a:rPr lang="en-US" altLang="zh-CN" sz="3600" b="1" dirty="0">
                <a:solidFill>
                  <a:srgbClr val="FF0000"/>
                </a:solidFill>
              </a:rPr>
              <a:t>…</a:t>
            </a:r>
            <a:r>
              <a:rPr lang="zh-CN" altLang="en-US" sz="3600" b="1" dirty="0">
                <a:solidFill>
                  <a:srgbClr val="FF0000"/>
                </a:solidFill>
              </a:rPr>
              <a:t>构成</a:t>
            </a:r>
            <a:endParaRPr lang="en-US" altLang="zh-CN" sz="3600" b="1" u="sng" dirty="0">
              <a:solidFill>
                <a:srgbClr val="FF0000"/>
              </a:solidFill>
            </a:endParaRPr>
          </a:p>
          <a:p>
            <a:pPr>
              <a:lnSpc>
                <a:spcPct val="70000"/>
              </a:lnSpc>
            </a:pPr>
            <a:r>
              <a:rPr lang="en-US" altLang="zh-CN" sz="3600" b="1" dirty="0">
                <a:solidFill>
                  <a:srgbClr val="FF0000"/>
                </a:solidFill>
              </a:rPr>
              <a:t> deserve </a:t>
            </a:r>
            <a:r>
              <a:rPr lang="en-US" altLang="zh-CN" sz="3600" b="1" u="sng" dirty="0">
                <a:solidFill>
                  <a:srgbClr val="FF0000"/>
                </a:solidFill>
                <a:highlight>
                  <a:srgbClr val="FFFF00"/>
                </a:highlight>
              </a:rPr>
              <a:t>doing</a:t>
            </a:r>
            <a:r>
              <a:rPr lang="en-US" altLang="zh-CN" sz="3600" b="1" dirty="0">
                <a:solidFill>
                  <a:srgbClr val="FF0000"/>
                </a:solidFill>
              </a:rPr>
              <a:t>=deserve </a:t>
            </a:r>
            <a:r>
              <a:rPr lang="en-US" altLang="zh-CN" sz="3600" b="1" u="sng" dirty="0">
                <a:solidFill>
                  <a:srgbClr val="FF0000"/>
                </a:solidFill>
                <a:highlight>
                  <a:srgbClr val="FFFF00"/>
                </a:highlight>
              </a:rPr>
              <a:t>to be done</a:t>
            </a:r>
            <a:r>
              <a:rPr lang="zh-CN" altLang="en-US" sz="3600" b="1" dirty="0">
                <a:solidFill>
                  <a:srgbClr val="FF0000"/>
                </a:solidFill>
              </a:rPr>
              <a:t>值得被</a:t>
            </a:r>
            <a:endParaRPr lang="en-US" altLang="zh-CN" sz="3600" b="1" dirty="0">
              <a:solidFill>
                <a:srgbClr val="FF0000"/>
              </a:solidFill>
            </a:endParaRPr>
          </a:p>
          <a:p>
            <a:pPr>
              <a:lnSpc>
                <a:spcPct val="70000"/>
              </a:lnSpc>
            </a:pPr>
            <a:r>
              <a:rPr lang="en-US" altLang="zh-CN" sz="3600" b="1" dirty="0">
                <a:solidFill>
                  <a:srgbClr val="FF0000"/>
                </a:solidFill>
              </a:rPr>
              <a:t> abandon </a:t>
            </a:r>
            <a:r>
              <a:rPr lang="en-US" altLang="zh-CN" sz="3600" b="1" u="sng" dirty="0">
                <a:solidFill>
                  <a:srgbClr val="FF0000"/>
                </a:solidFill>
                <a:highlight>
                  <a:srgbClr val="FFFF00"/>
                </a:highlight>
              </a:rPr>
              <a:t>doing</a:t>
            </a:r>
            <a:r>
              <a:rPr lang="en-US" altLang="zh-CN" sz="3600" b="1" dirty="0">
                <a:solidFill>
                  <a:srgbClr val="FF0000"/>
                </a:solidFill>
              </a:rPr>
              <a:t> </a:t>
            </a:r>
            <a:r>
              <a:rPr lang="en-US" altLang="zh-CN" sz="3600" b="1" dirty="0" err="1">
                <a:solidFill>
                  <a:srgbClr val="FF0000"/>
                </a:solidFill>
              </a:rPr>
              <a:t>sth</a:t>
            </a:r>
            <a:r>
              <a:rPr lang="en-US" altLang="zh-CN" sz="3600" b="1" dirty="0">
                <a:solidFill>
                  <a:srgbClr val="FF0000"/>
                </a:solidFill>
              </a:rPr>
              <a:t>.</a:t>
            </a:r>
            <a:r>
              <a:rPr lang="zh-CN" altLang="en-US" sz="3600" b="1" dirty="0">
                <a:solidFill>
                  <a:srgbClr val="FF0000"/>
                </a:solidFill>
              </a:rPr>
              <a:t>放弃</a:t>
            </a:r>
            <a:r>
              <a:rPr lang="en-US" altLang="zh-CN" sz="3600" b="1" dirty="0">
                <a:solidFill>
                  <a:srgbClr val="FF0000"/>
                </a:solidFill>
              </a:rPr>
              <a:t>;abandon </a:t>
            </a:r>
            <a:r>
              <a:rPr lang="en-US" altLang="zh-CN" sz="3600" b="1" u="sng" dirty="0">
                <a:solidFill>
                  <a:srgbClr val="FF0000"/>
                </a:solidFill>
              </a:rPr>
              <a:t>oneself to doing </a:t>
            </a:r>
            <a:r>
              <a:rPr lang="en-US" altLang="zh-CN" sz="3600" b="1" u="sng" dirty="0" err="1">
                <a:solidFill>
                  <a:srgbClr val="FF0000"/>
                </a:solidFill>
              </a:rPr>
              <a:t>sth</a:t>
            </a:r>
            <a:r>
              <a:rPr lang="en-US" altLang="zh-CN" sz="3600" b="1" dirty="0">
                <a:solidFill>
                  <a:srgbClr val="FF0000"/>
                </a:solidFill>
              </a:rPr>
              <a:t>.</a:t>
            </a:r>
            <a:r>
              <a:rPr lang="zh-CN" altLang="en-US" sz="3600" b="1" dirty="0">
                <a:solidFill>
                  <a:srgbClr val="FF0000"/>
                </a:solidFill>
              </a:rPr>
              <a:t>沉溺</a:t>
            </a:r>
            <a:endParaRPr lang="en-US" altLang="zh-CN" sz="3600" b="1" dirty="0">
              <a:solidFill>
                <a:srgbClr val="FF0000"/>
              </a:solidFill>
            </a:endParaRPr>
          </a:p>
          <a:p>
            <a:pPr>
              <a:lnSpc>
                <a:spcPct val="70000"/>
              </a:lnSpc>
            </a:pPr>
            <a:r>
              <a:rPr lang="en-US" altLang="zh-CN" sz="3600" b="1" dirty="0">
                <a:solidFill>
                  <a:srgbClr val="FF0000"/>
                </a:solidFill>
              </a:rPr>
              <a:t> be </a:t>
            </a:r>
            <a:r>
              <a:rPr lang="en-US" altLang="zh-CN" sz="3600" b="1" u="sng" dirty="0">
                <a:solidFill>
                  <a:srgbClr val="FF0000"/>
                </a:solidFill>
                <a:highlight>
                  <a:srgbClr val="FFFF00"/>
                </a:highlight>
              </a:rPr>
              <a:t>desperate</a:t>
            </a:r>
            <a:r>
              <a:rPr lang="en-US" altLang="zh-CN" sz="3600" b="1" dirty="0">
                <a:solidFill>
                  <a:srgbClr val="FF0000"/>
                </a:solidFill>
              </a:rPr>
              <a:t> to do</a:t>
            </a:r>
            <a:r>
              <a:rPr lang="zh-CN" altLang="en-US" sz="3600" b="1" dirty="0">
                <a:solidFill>
                  <a:srgbClr val="FF0000"/>
                </a:solidFill>
              </a:rPr>
              <a:t>渴望</a:t>
            </a:r>
            <a:r>
              <a:rPr lang="en-US" altLang="zh-CN" sz="3600" b="1" dirty="0">
                <a:solidFill>
                  <a:srgbClr val="FF0000"/>
                </a:solidFill>
              </a:rPr>
              <a:t>; </a:t>
            </a:r>
            <a:r>
              <a:rPr lang="zh-CN" altLang="en-US" sz="3600" b="1" dirty="0">
                <a:solidFill>
                  <a:srgbClr val="FF0000"/>
                </a:solidFill>
              </a:rPr>
              <a:t>→</a:t>
            </a:r>
            <a:r>
              <a:rPr lang="en-US" altLang="zh-CN" sz="3600" b="1" dirty="0">
                <a:solidFill>
                  <a:srgbClr val="FF0000"/>
                </a:solidFill>
                <a:highlight>
                  <a:srgbClr val="FFFF00"/>
                </a:highlight>
              </a:rPr>
              <a:t>desperately</a:t>
            </a:r>
            <a:r>
              <a:rPr lang="en-US" altLang="zh-CN" sz="3600" b="1" dirty="0">
                <a:solidFill>
                  <a:srgbClr val="FF0000"/>
                </a:solidFill>
              </a:rPr>
              <a:t> adv. </a:t>
            </a:r>
            <a:r>
              <a:rPr lang="zh-CN" altLang="en-US" sz="3600" b="1" dirty="0">
                <a:solidFill>
                  <a:srgbClr val="FF0000"/>
                </a:solidFill>
              </a:rPr>
              <a:t>→</a:t>
            </a:r>
            <a:r>
              <a:rPr lang="en-US" altLang="zh-CN" sz="3600" b="1" dirty="0">
                <a:solidFill>
                  <a:srgbClr val="FF0000"/>
                </a:solidFill>
                <a:highlight>
                  <a:srgbClr val="FFFF00"/>
                </a:highlight>
              </a:rPr>
              <a:t>desperation</a:t>
            </a:r>
            <a:r>
              <a:rPr lang="en-US" altLang="zh-CN" sz="3600" b="1" dirty="0">
                <a:solidFill>
                  <a:srgbClr val="FF0000"/>
                </a:solidFill>
              </a:rPr>
              <a:t> n.</a:t>
            </a:r>
          </a:p>
          <a:p>
            <a:pPr>
              <a:lnSpc>
                <a:spcPct val="70000"/>
              </a:lnSpc>
            </a:pPr>
            <a:r>
              <a:rPr lang="en-US" altLang="zh-CN" sz="3600" b="1" dirty="0">
                <a:solidFill>
                  <a:srgbClr val="FF0000"/>
                </a:solidFill>
              </a:rPr>
              <a:t> </a:t>
            </a:r>
            <a:r>
              <a:rPr lang="en-US" altLang="zh-CN" sz="3600" b="1" u="sng" dirty="0">
                <a:solidFill>
                  <a:srgbClr val="FF0000"/>
                </a:solidFill>
                <a:highlight>
                  <a:srgbClr val="FFFF00"/>
                </a:highlight>
              </a:rPr>
              <a:t>under</a:t>
            </a:r>
            <a:r>
              <a:rPr lang="en-US" altLang="zh-CN" sz="3600" b="1" dirty="0">
                <a:solidFill>
                  <a:srgbClr val="FF0000"/>
                </a:solidFill>
              </a:rPr>
              <a:t> guarantee (guaran</a:t>
            </a:r>
            <a:r>
              <a:rPr lang="en-US" altLang="zh-CN" sz="3600" b="1" dirty="0">
                <a:solidFill>
                  <a:srgbClr val="FF0000"/>
                </a:solidFill>
                <a:highlight>
                  <a:srgbClr val="FFFF00"/>
                </a:highlight>
              </a:rPr>
              <a:t>teed</a:t>
            </a:r>
            <a:r>
              <a:rPr lang="en-US" altLang="zh-CN" sz="3600" b="1" dirty="0">
                <a:solidFill>
                  <a:srgbClr val="FF0000"/>
                </a:solidFill>
              </a:rPr>
              <a:t>*2, guaran</a:t>
            </a:r>
            <a:r>
              <a:rPr lang="en-US" altLang="zh-CN" sz="3600" b="1" dirty="0">
                <a:solidFill>
                  <a:srgbClr val="FF0000"/>
                </a:solidFill>
                <a:highlight>
                  <a:srgbClr val="FFFF00"/>
                </a:highlight>
              </a:rPr>
              <a:t>teeing</a:t>
            </a:r>
            <a:r>
              <a:rPr lang="en-US" altLang="zh-CN" sz="3600" b="1" dirty="0">
                <a:solidFill>
                  <a:srgbClr val="FF0000"/>
                </a:solidFill>
              </a:rPr>
              <a:t>)</a:t>
            </a:r>
          </a:p>
          <a:p>
            <a:pPr>
              <a:lnSpc>
                <a:spcPct val="70000"/>
              </a:lnSpc>
            </a:pPr>
            <a:r>
              <a:rPr lang="en-US" altLang="zh-CN" sz="3600" b="1" dirty="0">
                <a:solidFill>
                  <a:srgbClr val="FF0000"/>
                </a:solidFill>
              </a:rPr>
              <a:t> be</a:t>
            </a:r>
            <a:r>
              <a:rPr lang="zh-CN" altLang="en-US" sz="3600" b="1" dirty="0">
                <a:solidFill>
                  <a:srgbClr val="FF0000"/>
                </a:solidFill>
              </a:rPr>
              <a:t> </a:t>
            </a:r>
            <a:r>
              <a:rPr lang="en-US" altLang="zh-CN" sz="3600" b="1" dirty="0">
                <a:solidFill>
                  <a:srgbClr val="FF0000"/>
                </a:solidFill>
              </a:rPr>
              <a:t>overc</a:t>
            </a:r>
            <a:r>
              <a:rPr lang="en-US" altLang="zh-CN" sz="3600" b="1" dirty="0">
                <a:solidFill>
                  <a:srgbClr val="FF0000"/>
                </a:solidFill>
                <a:highlight>
                  <a:srgbClr val="FFFF00"/>
                </a:highlight>
              </a:rPr>
              <a:t>o</a:t>
            </a:r>
            <a:r>
              <a:rPr lang="en-US" altLang="zh-CN" sz="3600" b="1" dirty="0">
                <a:solidFill>
                  <a:srgbClr val="FF0000"/>
                </a:solidFill>
              </a:rPr>
              <a:t>me</a:t>
            </a:r>
            <a:r>
              <a:rPr lang="zh-CN" altLang="en-US" sz="3600" b="1" dirty="0">
                <a:solidFill>
                  <a:srgbClr val="FF0000"/>
                </a:solidFill>
              </a:rPr>
              <a:t> </a:t>
            </a:r>
            <a:r>
              <a:rPr lang="en-US" altLang="zh-CN" sz="3600" b="1" dirty="0">
                <a:solidFill>
                  <a:srgbClr val="FF0000"/>
                </a:solidFill>
              </a:rPr>
              <a:t>with/by</a:t>
            </a:r>
            <a:r>
              <a:rPr lang="zh-CN" altLang="en-US" sz="3600" b="1" dirty="0">
                <a:solidFill>
                  <a:srgbClr val="FF0000"/>
                </a:solidFill>
              </a:rPr>
              <a:t>充斥压倒</a:t>
            </a:r>
            <a:r>
              <a:rPr lang="en-US" altLang="zh-CN" sz="3600" b="1" dirty="0">
                <a:solidFill>
                  <a:srgbClr val="FF0000"/>
                </a:solidFill>
              </a:rPr>
              <a:t>(overc</a:t>
            </a:r>
            <a:r>
              <a:rPr lang="en-US" altLang="zh-CN" sz="3600" b="1" dirty="0">
                <a:solidFill>
                  <a:srgbClr val="FF0000"/>
                </a:solidFill>
                <a:highlight>
                  <a:srgbClr val="FFFF00"/>
                </a:highlight>
              </a:rPr>
              <a:t>a</a:t>
            </a:r>
            <a:r>
              <a:rPr lang="en-US" altLang="zh-CN" sz="3600" b="1" dirty="0">
                <a:solidFill>
                  <a:srgbClr val="FF0000"/>
                </a:solidFill>
              </a:rPr>
              <a:t>me, overc</a:t>
            </a:r>
            <a:r>
              <a:rPr lang="en-US" altLang="zh-CN" sz="3600" b="1" dirty="0">
                <a:solidFill>
                  <a:srgbClr val="FF0000"/>
                </a:solidFill>
                <a:highlight>
                  <a:srgbClr val="FFFF00"/>
                </a:highlight>
              </a:rPr>
              <a:t>o</a:t>
            </a:r>
            <a:r>
              <a:rPr lang="en-US" altLang="zh-CN" sz="3600" b="1" dirty="0">
                <a:solidFill>
                  <a:srgbClr val="FF0000"/>
                </a:solidFill>
              </a:rPr>
              <a:t>me); </a:t>
            </a:r>
          </a:p>
          <a:p>
            <a:pPr>
              <a:lnSpc>
                <a:spcPct val="70000"/>
              </a:lnSpc>
            </a:pPr>
            <a:r>
              <a:rPr lang="en-US" altLang="zh-CN" sz="3600" b="1" dirty="0">
                <a:solidFill>
                  <a:srgbClr val="FF0000"/>
                </a:solidFill>
              </a:rPr>
              <a:t> tear apart (</a:t>
            </a:r>
            <a:r>
              <a:rPr lang="en-US" altLang="zh-CN" sz="3600" b="1" dirty="0">
                <a:solidFill>
                  <a:srgbClr val="FF0000"/>
                </a:solidFill>
                <a:highlight>
                  <a:srgbClr val="FFFF00"/>
                </a:highlight>
              </a:rPr>
              <a:t>tore, torn</a:t>
            </a:r>
            <a:r>
              <a:rPr lang="en-US" altLang="zh-CN" sz="3600" b="1" dirty="0">
                <a:solidFill>
                  <a:srgbClr val="FF0000"/>
                </a:solidFill>
              </a:rPr>
              <a:t>)</a:t>
            </a:r>
            <a:r>
              <a:rPr lang="zh-CN" altLang="en-US" sz="3600" b="1" dirty="0">
                <a:solidFill>
                  <a:srgbClr val="FF0000"/>
                </a:solidFill>
              </a:rPr>
              <a:t>分离→</a:t>
            </a:r>
            <a:r>
              <a:rPr lang="en-US" altLang="zh-CN" sz="3600" b="1" u="sng" dirty="0">
                <a:solidFill>
                  <a:srgbClr val="FF0000"/>
                </a:solidFill>
              </a:rPr>
              <a:t>be </a:t>
            </a:r>
            <a:r>
              <a:rPr lang="en-US" altLang="zh-CN" sz="3600" b="1" u="sng" dirty="0">
                <a:solidFill>
                  <a:srgbClr val="FF0000"/>
                </a:solidFill>
                <a:highlight>
                  <a:srgbClr val="FFFF00"/>
                </a:highlight>
              </a:rPr>
              <a:t>torn</a:t>
            </a:r>
            <a:r>
              <a:rPr lang="en-US" altLang="zh-CN" sz="3600" b="1" u="sng" dirty="0">
                <a:solidFill>
                  <a:srgbClr val="FF0000"/>
                </a:solidFill>
              </a:rPr>
              <a:t> apart by</a:t>
            </a:r>
            <a:r>
              <a:rPr lang="zh-CN" altLang="en-US" sz="3600" b="1" dirty="0">
                <a:solidFill>
                  <a:srgbClr val="FF0000"/>
                </a:solidFill>
              </a:rPr>
              <a:t>被拆散</a:t>
            </a:r>
            <a:endParaRPr lang="en-US" altLang="zh-CN" sz="3600" b="1" dirty="0">
              <a:solidFill>
                <a:srgbClr val="FF0000"/>
              </a:solidFill>
            </a:endParaRPr>
          </a:p>
          <a:p>
            <a:pPr>
              <a:lnSpc>
                <a:spcPct val="70000"/>
              </a:lnSpc>
            </a:pPr>
            <a:r>
              <a:rPr lang="en-US" altLang="zh-CN" sz="3600" b="1" dirty="0">
                <a:solidFill>
                  <a:srgbClr val="FF0000"/>
                </a:solidFill>
              </a:rPr>
              <a:t> in </a:t>
            </a:r>
            <a:r>
              <a:rPr lang="en-US" altLang="zh-CN" sz="3600" b="1" u="sng" dirty="0">
                <a:solidFill>
                  <a:srgbClr val="FF0000"/>
                </a:solidFill>
                <a:highlight>
                  <a:srgbClr val="FFFF00"/>
                </a:highlight>
              </a:rPr>
              <a:t>a</a:t>
            </a:r>
            <a:r>
              <a:rPr lang="en-US" altLang="zh-CN" sz="3600" b="1" dirty="0">
                <a:solidFill>
                  <a:srgbClr val="FF0000"/>
                </a:solidFill>
              </a:rPr>
              <a:t> whisper</a:t>
            </a:r>
            <a:r>
              <a:rPr lang="zh-CN" altLang="en-US" sz="3600" b="1" dirty="0">
                <a:solidFill>
                  <a:srgbClr val="FF0000"/>
                </a:solidFill>
              </a:rPr>
              <a:t>低语</a:t>
            </a:r>
            <a:r>
              <a:rPr lang="en-US" altLang="zh-CN" sz="3600" b="1" dirty="0">
                <a:solidFill>
                  <a:srgbClr val="FF0000"/>
                </a:solidFill>
              </a:rPr>
              <a:t>; all of </a:t>
            </a:r>
            <a:r>
              <a:rPr lang="en-US" altLang="zh-CN" sz="3600" b="1" u="sng" dirty="0">
                <a:solidFill>
                  <a:srgbClr val="FF0000"/>
                </a:solidFill>
                <a:highlight>
                  <a:srgbClr val="FFFF00"/>
                </a:highlight>
              </a:rPr>
              <a:t>a</a:t>
            </a:r>
            <a:r>
              <a:rPr lang="en-US" altLang="zh-CN" sz="3600" b="1" dirty="0">
                <a:solidFill>
                  <a:srgbClr val="FF0000"/>
                </a:solidFill>
              </a:rPr>
              <a:t> sudden; have </a:t>
            </a:r>
            <a:r>
              <a:rPr lang="en-US" altLang="zh-CN" sz="3600" b="1" u="sng" dirty="0">
                <a:solidFill>
                  <a:srgbClr val="FF0000"/>
                </a:solidFill>
                <a:highlight>
                  <a:srgbClr val="FFFF00"/>
                </a:highlight>
              </a:rPr>
              <a:t>a</a:t>
            </a:r>
            <a:r>
              <a:rPr lang="en-US" altLang="zh-CN" sz="3600" b="1" dirty="0">
                <a:solidFill>
                  <a:srgbClr val="FF0000"/>
                </a:solidFill>
              </a:rPr>
              <a:t> reputation for;</a:t>
            </a:r>
            <a:r>
              <a:rPr lang="zh-CN" altLang="en-US" sz="3600" b="1" dirty="0">
                <a:solidFill>
                  <a:srgbClr val="FF0000"/>
                </a:solidFill>
              </a:rPr>
              <a:t> </a:t>
            </a:r>
            <a:r>
              <a:rPr lang="en-US" altLang="zh-CN" sz="3600" b="1" dirty="0">
                <a:solidFill>
                  <a:srgbClr val="FF0000"/>
                </a:solidFill>
              </a:rPr>
              <a:t>have</a:t>
            </a:r>
            <a:r>
              <a:rPr lang="zh-CN" altLang="en-US" sz="3600" b="1" dirty="0">
                <a:solidFill>
                  <a:srgbClr val="FF0000"/>
                </a:solidFill>
              </a:rPr>
              <a:t> </a:t>
            </a:r>
            <a:r>
              <a:rPr lang="en-US" altLang="zh-CN" sz="3600" b="1" u="sng" dirty="0">
                <a:solidFill>
                  <a:srgbClr val="FF0000"/>
                </a:solidFill>
                <a:highlight>
                  <a:srgbClr val="FFFF00"/>
                </a:highlight>
              </a:rPr>
              <a:t>a</a:t>
            </a:r>
            <a:r>
              <a:rPr lang="zh-CN" altLang="en-US" sz="3600" b="1" dirty="0">
                <a:solidFill>
                  <a:srgbClr val="FF0000"/>
                </a:solidFill>
              </a:rPr>
              <a:t> </a:t>
            </a:r>
            <a:r>
              <a:rPr lang="en-US" altLang="zh-CN" sz="3600" b="1" dirty="0">
                <a:solidFill>
                  <a:srgbClr val="FF0000"/>
                </a:solidFill>
              </a:rPr>
              <a:t>gift for</a:t>
            </a:r>
          </a:p>
          <a:p>
            <a:pPr>
              <a:lnSpc>
                <a:spcPct val="70000"/>
              </a:lnSpc>
            </a:pPr>
            <a:r>
              <a:rPr lang="en-US" altLang="zh-CN" sz="3600" b="1" dirty="0">
                <a:solidFill>
                  <a:srgbClr val="FF0000"/>
                </a:solidFill>
              </a:rPr>
              <a:t> in </a:t>
            </a:r>
            <a:r>
              <a:rPr lang="en-US" altLang="zh-CN" sz="3600" b="1" u="sng" dirty="0">
                <a:solidFill>
                  <a:srgbClr val="FF0000"/>
                </a:solidFill>
                <a:highlight>
                  <a:srgbClr val="FFFF00"/>
                </a:highlight>
              </a:rPr>
              <a:t>the</a:t>
            </a:r>
            <a:r>
              <a:rPr lang="en-US" altLang="zh-CN" sz="3600" b="1" dirty="0">
                <a:solidFill>
                  <a:srgbClr val="FF0000"/>
                </a:solidFill>
              </a:rPr>
              <a:t> distance; at </a:t>
            </a:r>
            <a:r>
              <a:rPr lang="en-US" altLang="zh-CN" sz="3600" b="1" u="sng" dirty="0">
                <a:solidFill>
                  <a:srgbClr val="FF0000"/>
                </a:solidFill>
                <a:highlight>
                  <a:srgbClr val="FFFF00"/>
                </a:highlight>
              </a:rPr>
              <a:t>a</a:t>
            </a:r>
            <a:r>
              <a:rPr lang="en-US" altLang="zh-CN" sz="3600" b="1" dirty="0">
                <a:solidFill>
                  <a:srgbClr val="FF0000"/>
                </a:solidFill>
              </a:rPr>
              <a:t> distance of…; keep sb. </a:t>
            </a:r>
            <a:r>
              <a:rPr lang="en-US" altLang="zh-CN" sz="3600" b="1" dirty="0">
                <a:solidFill>
                  <a:srgbClr val="FF0000"/>
                </a:solidFill>
                <a:highlight>
                  <a:srgbClr val="FFFF00"/>
                </a:highlight>
              </a:rPr>
              <a:t>at a</a:t>
            </a:r>
            <a:r>
              <a:rPr lang="en-US" altLang="zh-CN" sz="3600" b="1" dirty="0">
                <a:solidFill>
                  <a:srgbClr val="FF0000"/>
                </a:solidFill>
              </a:rPr>
              <a:t> distance;</a:t>
            </a:r>
          </a:p>
          <a:p>
            <a:pPr>
              <a:lnSpc>
                <a:spcPct val="70000"/>
              </a:lnSpc>
            </a:pPr>
            <a:r>
              <a:rPr lang="en-US" altLang="zh-CN" sz="3600" b="1" u="sng" dirty="0">
                <a:solidFill>
                  <a:srgbClr val="FF0000"/>
                </a:solidFill>
              </a:rPr>
              <a:t> live up to </a:t>
            </a:r>
            <a:r>
              <a:rPr lang="en-US" altLang="zh-CN" sz="3600" b="1" dirty="0">
                <a:solidFill>
                  <a:srgbClr val="FF0000"/>
                </a:solidFill>
              </a:rPr>
              <a:t>one’s expectation</a:t>
            </a:r>
            <a:r>
              <a:rPr lang="en-US" altLang="zh-CN" sz="3600" b="1" u="sng" dirty="0">
                <a:solidFill>
                  <a:srgbClr val="FF0000"/>
                </a:solidFill>
                <a:highlight>
                  <a:srgbClr val="FFFF00"/>
                </a:highlight>
              </a:rPr>
              <a:t>s</a:t>
            </a:r>
            <a:r>
              <a:rPr lang="zh-CN" altLang="en-US" sz="3600" b="1" dirty="0">
                <a:solidFill>
                  <a:srgbClr val="FF0000"/>
                </a:solidFill>
              </a:rPr>
              <a:t>不辜负期待</a:t>
            </a:r>
            <a:r>
              <a:rPr lang="en-US" altLang="zh-CN" sz="3600" b="1" dirty="0">
                <a:solidFill>
                  <a:srgbClr val="FF0000"/>
                </a:solidFill>
              </a:rPr>
              <a:t>; in </a:t>
            </a:r>
            <a:r>
              <a:rPr lang="en-US" altLang="zh-CN" sz="3600" b="1" u="sng" dirty="0">
                <a:solidFill>
                  <a:srgbClr val="FF0000"/>
                </a:solidFill>
              </a:rPr>
              <a:t>expectation</a:t>
            </a:r>
            <a:r>
              <a:rPr lang="en-US" altLang="zh-CN" sz="3600" b="1" dirty="0">
                <a:solidFill>
                  <a:srgbClr val="FF0000"/>
                </a:solidFill>
              </a:rPr>
              <a:t> of</a:t>
            </a:r>
            <a:r>
              <a:rPr lang="zh-CN" altLang="en-US" sz="3600" b="1" dirty="0">
                <a:solidFill>
                  <a:srgbClr val="FF0000"/>
                </a:solidFill>
              </a:rPr>
              <a:t>期待</a:t>
            </a:r>
            <a:endParaRPr lang="en-US" altLang="zh-CN" sz="3600" b="1" dirty="0">
              <a:solidFill>
                <a:srgbClr val="FF0000"/>
              </a:solidFill>
            </a:endParaRPr>
          </a:p>
          <a:p>
            <a:pPr>
              <a:lnSpc>
                <a:spcPct val="70000"/>
              </a:lnSpc>
            </a:pPr>
            <a:r>
              <a:rPr lang="en-US" altLang="zh-CN" sz="3600" b="1" dirty="0">
                <a:solidFill>
                  <a:srgbClr val="FF0000"/>
                </a:solidFill>
                <a:highlight>
                  <a:srgbClr val="FFFF00"/>
                </a:highlight>
              </a:rPr>
              <a:t> accompany</a:t>
            </a:r>
            <a:r>
              <a:rPr lang="en-US" altLang="zh-CN" sz="3600" b="1" dirty="0">
                <a:solidFill>
                  <a:srgbClr val="FF0000"/>
                </a:solidFill>
              </a:rPr>
              <a:t> sb. to sp. (accompa</a:t>
            </a:r>
            <a:r>
              <a:rPr lang="en-US" altLang="zh-CN" sz="3600" b="1" u="sng" dirty="0">
                <a:solidFill>
                  <a:srgbClr val="FF0000"/>
                </a:solidFill>
                <a:highlight>
                  <a:srgbClr val="FFFF00"/>
                </a:highlight>
              </a:rPr>
              <a:t>nied</a:t>
            </a:r>
            <a:r>
              <a:rPr lang="en-US" altLang="zh-CN" sz="3600" b="1" dirty="0">
                <a:solidFill>
                  <a:srgbClr val="FF0000"/>
                </a:solidFill>
              </a:rPr>
              <a:t>*2);  </a:t>
            </a:r>
            <a:r>
              <a:rPr lang="en-US" altLang="zh-CN" sz="3600" b="1" u="sng" dirty="0">
                <a:solidFill>
                  <a:srgbClr val="FF0000"/>
                </a:solidFill>
                <a:highlight>
                  <a:srgbClr val="FFFF00"/>
                </a:highlight>
              </a:rPr>
              <a:t>ease</a:t>
            </a:r>
            <a:r>
              <a:rPr lang="en-US" altLang="zh-CN" sz="3600" b="1" dirty="0">
                <a:solidFill>
                  <a:srgbClr val="FF0000"/>
                </a:solidFill>
              </a:rPr>
              <a:t> sb. </a:t>
            </a:r>
            <a:r>
              <a:rPr lang="en-US" altLang="zh-CN" sz="3600" b="1" u="sng" dirty="0">
                <a:solidFill>
                  <a:srgbClr val="FF0000"/>
                </a:solidFill>
                <a:highlight>
                  <a:srgbClr val="FFFF00"/>
                </a:highlight>
              </a:rPr>
              <a:t>of</a:t>
            </a:r>
            <a:r>
              <a:rPr lang="en-US" altLang="zh-CN" sz="3600" b="1" dirty="0">
                <a:solidFill>
                  <a:srgbClr val="FF0000"/>
                </a:solidFill>
              </a:rPr>
              <a:t> one’s burden; </a:t>
            </a:r>
          </a:p>
          <a:p>
            <a:pPr>
              <a:lnSpc>
                <a:spcPct val="70000"/>
              </a:lnSpc>
            </a:pPr>
            <a:r>
              <a:rPr lang="en-US" altLang="zh-CN" sz="3600" b="1" dirty="0">
                <a:solidFill>
                  <a:srgbClr val="FF0000"/>
                </a:solidFill>
              </a:rPr>
              <a:t> be enthusiastic about; enthusiasti</a:t>
            </a:r>
            <a:r>
              <a:rPr lang="en-US" altLang="zh-CN" sz="3600" b="1" u="sng" dirty="0">
                <a:solidFill>
                  <a:srgbClr val="FF0000"/>
                </a:solidFill>
                <a:highlight>
                  <a:srgbClr val="FFFF00"/>
                </a:highlight>
              </a:rPr>
              <a:t>cally</a:t>
            </a:r>
            <a:r>
              <a:rPr lang="en-US" altLang="zh-CN" sz="3600" b="1" dirty="0">
                <a:solidFill>
                  <a:srgbClr val="FF0000"/>
                </a:solidFill>
              </a:rPr>
              <a:t> ad.; </a:t>
            </a:r>
          </a:p>
          <a:p>
            <a:pPr>
              <a:lnSpc>
                <a:spcPct val="70000"/>
              </a:lnSpc>
            </a:pPr>
            <a:r>
              <a:rPr lang="zh-CN" altLang="en-US" sz="3600" b="1" dirty="0">
                <a:solidFill>
                  <a:srgbClr val="FF0000"/>
                </a:solidFill>
              </a:rPr>
              <a:t> 人</a:t>
            </a:r>
            <a:r>
              <a:rPr lang="en-US" altLang="zh-CN" sz="3600" b="1" dirty="0">
                <a:solidFill>
                  <a:srgbClr val="FF0000"/>
                </a:solidFill>
              </a:rPr>
              <a:t>be </a:t>
            </a:r>
            <a:r>
              <a:rPr lang="en-US" altLang="zh-CN" sz="3600" b="1" u="sng" dirty="0">
                <a:solidFill>
                  <a:srgbClr val="FF0000"/>
                </a:solidFill>
              </a:rPr>
              <a:t>in possession of</a:t>
            </a:r>
            <a:r>
              <a:rPr lang="zh-CN" altLang="en-US" sz="3600" b="1" dirty="0">
                <a:solidFill>
                  <a:srgbClr val="FF0000"/>
                </a:solidFill>
              </a:rPr>
              <a:t>物</a:t>
            </a:r>
            <a:r>
              <a:rPr lang="en-US" altLang="zh-CN" sz="3600" b="1" dirty="0">
                <a:solidFill>
                  <a:srgbClr val="FF0000"/>
                </a:solidFill>
              </a:rPr>
              <a:t>; </a:t>
            </a:r>
            <a:r>
              <a:rPr lang="zh-CN" altLang="en-US" sz="3600" b="1" dirty="0">
                <a:solidFill>
                  <a:srgbClr val="FF0000"/>
                </a:solidFill>
              </a:rPr>
              <a:t>物</a:t>
            </a:r>
            <a:r>
              <a:rPr lang="en-US" altLang="zh-CN" sz="3600" b="1" dirty="0">
                <a:solidFill>
                  <a:srgbClr val="FF0000"/>
                </a:solidFill>
              </a:rPr>
              <a:t>be </a:t>
            </a:r>
            <a:r>
              <a:rPr lang="en-US" altLang="zh-CN" sz="3600" b="1" u="sng" dirty="0">
                <a:solidFill>
                  <a:srgbClr val="FF0000"/>
                </a:solidFill>
              </a:rPr>
              <a:t>in </a:t>
            </a:r>
            <a:r>
              <a:rPr lang="en-US" altLang="zh-CN" sz="3600" b="1" u="sng" dirty="0">
                <a:solidFill>
                  <a:srgbClr val="FF0000"/>
                </a:solidFill>
                <a:highlight>
                  <a:srgbClr val="FFFF00"/>
                </a:highlight>
              </a:rPr>
              <a:t>the</a:t>
            </a:r>
            <a:r>
              <a:rPr lang="en-US" altLang="zh-CN" sz="3600" b="1" u="sng" dirty="0">
                <a:solidFill>
                  <a:srgbClr val="FF0000"/>
                </a:solidFill>
              </a:rPr>
              <a:t> possession of</a:t>
            </a:r>
            <a:r>
              <a:rPr lang="zh-CN" altLang="en-US" sz="3600" b="1" u="sng" dirty="0">
                <a:solidFill>
                  <a:srgbClr val="FF0000"/>
                </a:solidFill>
              </a:rPr>
              <a:t> </a:t>
            </a:r>
            <a:r>
              <a:rPr lang="en-US" altLang="zh-CN" sz="3600" b="1" u="sng" dirty="0">
                <a:solidFill>
                  <a:srgbClr val="FF0000"/>
                </a:solidFill>
              </a:rPr>
              <a:t>sb.</a:t>
            </a:r>
            <a:r>
              <a:rPr lang="en-US" altLang="zh-CN" sz="3600" b="1" dirty="0">
                <a:solidFill>
                  <a:srgbClr val="FF0000"/>
                </a:solidFill>
              </a:rPr>
              <a:t>=in one’s possession</a:t>
            </a:r>
          </a:p>
          <a:p>
            <a:pPr>
              <a:lnSpc>
                <a:spcPct val="70000"/>
              </a:lnSpc>
            </a:pPr>
            <a:r>
              <a:rPr lang="en-US" altLang="zh-CN" sz="3600" b="1" dirty="0">
                <a:solidFill>
                  <a:srgbClr val="FF0000"/>
                </a:solidFill>
              </a:rPr>
              <a:t> in </a:t>
            </a:r>
            <a:r>
              <a:rPr lang="en-US" altLang="zh-CN" sz="3600" b="1" dirty="0">
                <a:solidFill>
                  <a:srgbClr val="FF0000"/>
                </a:solidFill>
                <a:highlight>
                  <a:srgbClr val="FFFF00"/>
                </a:highlight>
              </a:rPr>
              <a:t>combination</a:t>
            </a:r>
            <a:r>
              <a:rPr lang="en-US" altLang="zh-CN" sz="3600" b="1" dirty="0">
                <a:solidFill>
                  <a:srgbClr val="FF0000"/>
                </a:solidFill>
              </a:rPr>
              <a:t> with</a:t>
            </a:r>
            <a:r>
              <a:rPr lang="zh-CN" altLang="en-US" sz="3600" b="1" dirty="0">
                <a:solidFill>
                  <a:srgbClr val="FF0000"/>
                </a:solidFill>
              </a:rPr>
              <a:t>与</a:t>
            </a:r>
            <a:r>
              <a:rPr lang="en-US" altLang="zh-CN" sz="3600" b="1" dirty="0">
                <a:solidFill>
                  <a:srgbClr val="FF0000"/>
                </a:solidFill>
              </a:rPr>
              <a:t>…</a:t>
            </a:r>
            <a:r>
              <a:rPr lang="zh-CN" altLang="en-US" sz="3600" b="1" dirty="0">
                <a:solidFill>
                  <a:srgbClr val="FF0000"/>
                </a:solidFill>
              </a:rPr>
              <a:t>结合</a:t>
            </a:r>
            <a:r>
              <a:rPr lang="en-US" altLang="zh-CN" sz="3600" b="1" dirty="0">
                <a:solidFill>
                  <a:srgbClr val="FF0000"/>
                </a:solidFill>
              </a:rPr>
              <a:t>; in </a:t>
            </a:r>
            <a:r>
              <a:rPr lang="en-US" altLang="zh-CN" sz="3600" b="1" dirty="0" err="1">
                <a:solidFill>
                  <a:srgbClr val="FF0000"/>
                </a:solidFill>
                <a:highlight>
                  <a:srgbClr val="FFFF00"/>
                </a:highlight>
              </a:rPr>
              <a:t>defence</a:t>
            </a:r>
            <a:r>
              <a:rPr lang="en-US" altLang="zh-CN" sz="3600" b="1" dirty="0">
                <a:solidFill>
                  <a:srgbClr val="FF0000"/>
                </a:solidFill>
              </a:rPr>
              <a:t> of</a:t>
            </a:r>
            <a:r>
              <a:rPr lang="zh-CN" altLang="en-US" sz="3600" b="1" dirty="0">
                <a:solidFill>
                  <a:srgbClr val="FF0000"/>
                </a:solidFill>
              </a:rPr>
              <a:t>保卫</a:t>
            </a:r>
            <a:r>
              <a:rPr lang="en-US" altLang="zh-CN" sz="3600" b="1" dirty="0">
                <a:solidFill>
                  <a:srgbClr val="FF0000"/>
                </a:solidFill>
              </a:rPr>
              <a:t>/</a:t>
            </a:r>
            <a:r>
              <a:rPr lang="zh-CN" altLang="en-US" sz="3600" b="1" dirty="0">
                <a:solidFill>
                  <a:srgbClr val="FF0000"/>
                </a:solidFill>
              </a:rPr>
              <a:t>辩护</a:t>
            </a:r>
            <a:r>
              <a:rPr lang="en-US" altLang="zh-CN" sz="3600" b="1" dirty="0">
                <a:solidFill>
                  <a:srgbClr val="FF0000"/>
                </a:solidFill>
              </a:rPr>
              <a:t>;</a:t>
            </a:r>
          </a:p>
          <a:p>
            <a:pPr>
              <a:lnSpc>
                <a:spcPct val="70000"/>
              </a:lnSpc>
            </a:pPr>
            <a:r>
              <a:rPr lang="en-US" altLang="zh-CN" sz="3600" b="1" dirty="0">
                <a:solidFill>
                  <a:srgbClr val="FF0000"/>
                </a:solidFill>
              </a:rPr>
              <a:t> rely on sb. </a:t>
            </a:r>
            <a:r>
              <a:rPr lang="en-US" altLang="zh-CN" sz="3600" b="1" dirty="0">
                <a:solidFill>
                  <a:srgbClr val="FF0000"/>
                </a:solidFill>
                <a:highlight>
                  <a:srgbClr val="FFFF00"/>
                </a:highlight>
              </a:rPr>
              <a:t>to do </a:t>
            </a:r>
            <a:r>
              <a:rPr lang="en-US" altLang="zh-CN" sz="3600" b="1" dirty="0" err="1">
                <a:solidFill>
                  <a:srgbClr val="FF0000"/>
                </a:solidFill>
                <a:highlight>
                  <a:srgbClr val="FFFF00"/>
                </a:highlight>
              </a:rPr>
              <a:t>sth</a:t>
            </a:r>
            <a:r>
              <a:rPr lang="en-US" altLang="zh-CN" sz="3600" b="1" dirty="0">
                <a:solidFill>
                  <a:srgbClr val="FF0000"/>
                </a:solidFill>
              </a:rPr>
              <a:t>.; rely on </a:t>
            </a:r>
            <a:r>
              <a:rPr lang="en-US" altLang="zh-CN" sz="3600" b="1" u="sng" dirty="0">
                <a:solidFill>
                  <a:srgbClr val="FF0000"/>
                </a:solidFill>
                <a:highlight>
                  <a:srgbClr val="FFFF00"/>
                </a:highlight>
              </a:rPr>
              <a:t>it</a:t>
            </a:r>
            <a:r>
              <a:rPr lang="en-US" altLang="zh-CN" sz="3600" b="1" dirty="0">
                <a:solidFill>
                  <a:srgbClr val="FF0000"/>
                </a:solidFill>
              </a:rPr>
              <a:t> that…; grab(gra</a:t>
            </a:r>
            <a:r>
              <a:rPr lang="en-US" altLang="zh-CN" sz="3600" b="1" u="sng" dirty="0">
                <a:solidFill>
                  <a:srgbClr val="FF0000"/>
                </a:solidFill>
                <a:highlight>
                  <a:srgbClr val="FFFF00"/>
                </a:highlight>
              </a:rPr>
              <a:t>bbed</a:t>
            </a:r>
            <a:r>
              <a:rPr lang="en-US" altLang="zh-CN" sz="3600" b="1" dirty="0">
                <a:solidFill>
                  <a:srgbClr val="FF0000"/>
                </a:solidFill>
              </a:rPr>
              <a:t>*2)</a:t>
            </a:r>
          </a:p>
          <a:p>
            <a:r>
              <a:rPr lang="en-US" altLang="zh-CN" sz="3600" b="1" dirty="0">
                <a:solidFill>
                  <a:srgbClr val="FF0000"/>
                </a:solidFill>
              </a:rPr>
              <a:t> weep over/at/for</a:t>
            </a:r>
            <a:r>
              <a:rPr lang="zh-CN" altLang="en-US" sz="3600" b="1" dirty="0">
                <a:solidFill>
                  <a:srgbClr val="FF0000"/>
                </a:solidFill>
              </a:rPr>
              <a:t> </a:t>
            </a:r>
            <a:r>
              <a:rPr lang="en-US" altLang="zh-CN" sz="3600" b="1" dirty="0">
                <a:solidFill>
                  <a:srgbClr val="FF0000"/>
                </a:solidFill>
              </a:rPr>
              <a:t>(</a:t>
            </a:r>
            <a:r>
              <a:rPr lang="en-US" altLang="zh-CN" sz="3600" b="1" dirty="0">
                <a:solidFill>
                  <a:srgbClr val="FF0000"/>
                </a:solidFill>
                <a:highlight>
                  <a:srgbClr val="FFFF00"/>
                </a:highlight>
              </a:rPr>
              <a:t>wept</a:t>
            </a:r>
            <a:r>
              <a:rPr lang="en-US" altLang="zh-CN" sz="3600" b="1" dirty="0">
                <a:solidFill>
                  <a:srgbClr val="FF0000"/>
                </a:solidFill>
              </a:rPr>
              <a:t>*2)</a:t>
            </a:r>
            <a:r>
              <a:rPr lang="zh-CN" altLang="en-US" sz="3600" b="1" dirty="0">
                <a:solidFill>
                  <a:srgbClr val="FF0000"/>
                </a:solidFill>
              </a:rPr>
              <a:t>哭泣</a:t>
            </a:r>
            <a:r>
              <a:rPr lang="en-US" altLang="zh-CN" sz="3600" b="1" dirty="0">
                <a:solidFill>
                  <a:srgbClr val="FF0000"/>
                </a:solidFill>
              </a:rPr>
              <a:t>; sweep (</a:t>
            </a:r>
            <a:r>
              <a:rPr lang="en-US" altLang="zh-CN" sz="3600" b="1" dirty="0">
                <a:solidFill>
                  <a:srgbClr val="FF0000"/>
                </a:solidFill>
                <a:highlight>
                  <a:srgbClr val="FFFF00"/>
                </a:highlight>
              </a:rPr>
              <a:t>swept*2</a:t>
            </a:r>
            <a:r>
              <a:rPr lang="en-US" altLang="zh-CN" sz="3600" b="1" dirty="0">
                <a:solidFill>
                  <a:srgbClr val="FF0000"/>
                </a:solidFill>
              </a:rPr>
              <a:t>); flow(</a:t>
            </a:r>
            <a:r>
              <a:rPr lang="en-US" altLang="zh-CN" sz="3600" b="1" dirty="0">
                <a:solidFill>
                  <a:srgbClr val="FF0000"/>
                </a:solidFill>
                <a:highlight>
                  <a:srgbClr val="FFFF00"/>
                </a:highlight>
              </a:rPr>
              <a:t>flowed*</a:t>
            </a:r>
            <a:r>
              <a:rPr lang="en-US" altLang="zh-CN" sz="3600" b="1" dirty="0">
                <a:solidFill>
                  <a:srgbClr val="FF0000"/>
                </a:solidFill>
              </a:rPr>
              <a:t>2)</a:t>
            </a:r>
            <a:r>
              <a:rPr lang="zh-CN" altLang="en-US" sz="3600" b="1" dirty="0">
                <a:solidFill>
                  <a:srgbClr val="FF0000"/>
                </a:solidFill>
              </a:rPr>
              <a:t>流动</a:t>
            </a:r>
            <a:r>
              <a:rPr lang="en-US" altLang="zh-CN" sz="3600" b="1" dirty="0">
                <a:solidFill>
                  <a:srgbClr val="FF0000"/>
                </a:solidFill>
              </a:rPr>
              <a:t>; upset(</a:t>
            </a:r>
            <a:r>
              <a:rPr lang="en-US" altLang="zh-CN" sz="3600" b="1" dirty="0">
                <a:solidFill>
                  <a:srgbClr val="FF0000"/>
                </a:solidFill>
                <a:highlight>
                  <a:srgbClr val="FFFF00"/>
                </a:highlight>
              </a:rPr>
              <a:t>upset</a:t>
            </a:r>
            <a:r>
              <a:rPr lang="en-US" altLang="zh-CN" sz="3600" b="1" dirty="0">
                <a:solidFill>
                  <a:srgbClr val="FF0000"/>
                </a:solidFill>
              </a:rPr>
              <a:t>*3)-upse</a:t>
            </a:r>
            <a:r>
              <a:rPr lang="en-US" altLang="zh-CN" sz="3600" b="1" u="sng" dirty="0">
                <a:solidFill>
                  <a:srgbClr val="FF0000"/>
                </a:solidFill>
                <a:highlight>
                  <a:srgbClr val="FFFF00"/>
                </a:highlight>
              </a:rPr>
              <a:t>tting</a:t>
            </a:r>
            <a:r>
              <a:rPr lang="en-US" altLang="zh-CN" sz="3600" b="1" dirty="0">
                <a:solidFill>
                  <a:srgbClr val="FF0000"/>
                </a:solidFill>
              </a:rPr>
              <a:t>; dramatic</a:t>
            </a:r>
            <a:r>
              <a:rPr lang="zh-CN" altLang="en-US" sz="3600" b="1" dirty="0">
                <a:solidFill>
                  <a:srgbClr val="FF0000"/>
                </a:solidFill>
              </a:rPr>
              <a:t>→</a:t>
            </a:r>
            <a:r>
              <a:rPr lang="en-US" altLang="zh-CN" sz="3600" b="1" dirty="0">
                <a:solidFill>
                  <a:srgbClr val="FF0000"/>
                </a:solidFill>
              </a:rPr>
              <a:t>dramatic</a:t>
            </a:r>
            <a:r>
              <a:rPr lang="en-US" altLang="zh-CN" sz="3600" b="1" dirty="0">
                <a:solidFill>
                  <a:srgbClr val="FF0000"/>
                </a:solidFill>
                <a:highlight>
                  <a:srgbClr val="FFFF00"/>
                </a:highlight>
              </a:rPr>
              <a:t>ally</a:t>
            </a:r>
            <a:r>
              <a:rPr lang="en-US" altLang="zh-CN" sz="3600" b="1" dirty="0">
                <a:solidFill>
                  <a:srgbClr val="FF0000"/>
                </a:solidFill>
              </a:rPr>
              <a:t>; sorrow</a:t>
            </a:r>
            <a:r>
              <a:rPr lang="zh-CN" altLang="en-US" sz="3600" b="1" dirty="0">
                <a:solidFill>
                  <a:srgbClr val="FF0000"/>
                </a:solidFill>
              </a:rPr>
              <a:t>→</a:t>
            </a:r>
            <a:r>
              <a:rPr lang="en-US" altLang="zh-CN" sz="3600" b="1" dirty="0">
                <a:solidFill>
                  <a:srgbClr val="FF0000"/>
                </a:solidFill>
              </a:rPr>
              <a:t>sorrow</a:t>
            </a:r>
            <a:r>
              <a:rPr lang="en-US" altLang="zh-CN" sz="3600" b="1" dirty="0">
                <a:solidFill>
                  <a:srgbClr val="FF0000"/>
                </a:solidFill>
                <a:highlight>
                  <a:srgbClr val="FFFF00"/>
                </a:highlight>
              </a:rPr>
              <a:t>ful; </a:t>
            </a:r>
            <a:r>
              <a:rPr lang="en-US" altLang="zh-CN" sz="3600" b="1" dirty="0">
                <a:solidFill>
                  <a:srgbClr val="FF0000"/>
                </a:solidFill>
              </a:rPr>
              <a:t>transform</a:t>
            </a:r>
            <a:r>
              <a:rPr lang="zh-CN" altLang="en-US" sz="3600" b="1" dirty="0">
                <a:solidFill>
                  <a:srgbClr val="FF0000"/>
                </a:solidFill>
              </a:rPr>
              <a:t>→</a:t>
            </a:r>
            <a:r>
              <a:rPr lang="en-US" altLang="zh-CN" sz="3600" b="1" dirty="0">
                <a:solidFill>
                  <a:srgbClr val="FF0000"/>
                </a:solidFill>
              </a:rPr>
              <a:t>transfor</a:t>
            </a:r>
            <a:r>
              <a:rPr lang="en-US" altLang="zh-CN" sz="3600" b="1" u="sng" dirty="0">
                <a:solidFill>
                  <a:srgbClr val="FF0000"/>
                </a:solidFill>
              </a:rPr>
              <a:t>mation</a:t>
            </a:r>
            <a:r>
              <a:rPr lang="en-US" altLang="zh-CN" sz="3600" b="1" dirty="0">
                <a:solidFill>
                  <a:srgbClr val="FF0000"/>
                </a:solidFill>
              </a:rPr>
              <a:t>; breath n.</a:t>
            </a:r>
            <a:r>
              <a:rPr lang="zh-CN" altLang="en-US" sz="3600" b="1" dirty="0">
                <a:solidFill>
                  <a:srgbClr val="FF0000"/>
                </a:solidFill>
              </a:rPr>
              <a:t>→</a:t>
            </a:r>
            <a:r>
              <a:rPr lang="en-US" altLang="zh-CN" sz="3600" b="1" dirty="0">
                <a:solidFill>
                  <a:srgbClr val="FF0000"/>
                </a:solidFill>
              </a:rPr>
              <a:t>breath</a:t>
            </a:r>
            <a:r>
              <a:rPr lang="en-US" altLang="zh-CN" sz="3600" b="1" dirty="0">
                <a:solidFill>
                  <a:srgbClr val="FF0000"/>
                </a:solidFill>
                <a:highlight>
                  <a:srgbClr val="FFFF00"/>
                </a:highlight>
              </a:rPr>
              <a:t>e</a:t>
            </a:r>
            <a:r>
              <a:rPr lang="en-US" altLang="zh-CN" sz="3600" b="1" dirty="0">
                <a:solidFill>
                  <a:srgbClr val="FF0000"/>
                </a:solidFill>
              </a:rPr>
              <a:t> v. </a:t>
            </a:r>
          </a:p>
          <a:p>
            <a:r>
              <a:rPr lang="en-US" altLang="zh-CN" sz="3600" b="1" dirty="0">
                <a:solidFill>
                  <a:srgbClr val="FF0000"/>
                </a:solidFill>
              </a:rPr>
              <a:t> surrounding</a:t>
            </a:r>
            <a:r>
              <a:rPr lang="en-US" altLang="zh-CN" sz="3600" b="1" u="sng" dirty="0">
                <a:solidFill>
                  <a:srgbClr val="FF0000"/>
                </a:solidFill>
                <a:highlight>
                  <a:srgbClr val="FFFF00"/>
                </a:highlight>
              </a:rPr>
              <a:t>s</a:t>
            </a:r>
            <a:r>
              <a:rPr lang="en-US" altLang="zh-CN" sz="3600" b="1" dirty="0">
                <a:solidFill>
                  <a:srgbClr val="FF0000"/>
                </a:solidFill>
              </a:rPr>
              <a:t> n.</a:t>
            </a:r>
            <a:r>
              <a:rPr lang="zh-CN" altLang="en-US" sz="3600" b="1" dirty="0">
                <a:solidFill>
                  <a:srgbClr val="FF0000"/>
                </a:solidFill>
              </a:rPr>
              <a:t>周围环境 </a:t>
            </a:r>
            <a:r>
              <a:rPr lang="en-US" altLang="zh-CN" sz="3600" b="1" dirty="0">
                <a:solidFill>
                  <a:srgbClr val="FF0000"/>
                </a:solidFill>
              </a:rPr>
              <a:t>adap</a:t>
            </a:r>
            <a:r>
              <a:rPr lang="en-US" altLang="zh-CN" sz="3600" b="1" u="sng" dirty="0">
                <a:solidFill>
                  <a:srgbClr val="FF0000"/>
                </a:solidFill>
                <a:highlight>
                  <a:srgbClr val="FFFF00"/>
                </a:highlight>
              </a:rPr>
              <a:t>ta</a:t>
            </a:r>
            <a:r>
              <a:rPr lang="en-US" altLang="zh-CN" sz="3600" b="1" dirty="0">
                <a:solidFill>
                  <a:srgbClr val="FF0000"/>
                </a:solidFill>
              </a:rPr>
              <a:t>tion n.</a:t>
            </a:r>
            <a:r>
              <a:rPr lang="zh-CN" altLang="en-US" sz="3600" b="1" dirty="0">
                <a:solidFill>
                  <a:srgbClr val="FF0000"/>
                </a:solidFill>
              </a:rPr>
              <a:t>改编本</a:t>
            </a:r>
            <a:r>
              <a:rPr lang="en-US" altLang="zh-CN" sz="3600" b="1" dirty="0">
                <a:solidFill>
                  <a:srgbClr val="FF0000"/>
                </a:solidFill>
              </a:rPr>
              <a:t>;</a:t>
            </a:r>
            <a:r>
              <a:rPr lang="zh-CN" altLang="en-US" sz="3600" b="1" dirty="0">
                <a:solidFill>
                  <a:srgbClr val="FF0000"/>
                </a:solidFill>
              </a:rPr>
              <a:t>适应 </a:t>
            </a:r>
            <a:r>
              <a:rPr lang="en-US" altLang="zh-CN" sz="3600" b="1" dirty="0">
                <a:solidFill>
                  <a:srgbClr val="FF0000"/>
                </a:solidFill>
              </a:rPr>
              <a:t>genius</a:t>
            </a:r>
            <a:r>
              <a:rPr lang="zh-CN" altLang="en-US" sz="3600" b="1" dirty="0">
                <a:solidFill>
                  <a:srgbClr val="FF0000"/>
                </a:solidFill>
              </a:rPr>
              <a:t>天赋</a:t>
            </a:r>
            <a:r>
              <a:rPr lang="en-US" altLang="zh-CN" sz="3600" b="1" dirty="0">
                <a:solidFill>
                  <a:srgbClr val="FF0000"/>
                </a:solidFill>
              </a:rPr>
              <a:t>/</a:t>
            </a:r>
            <a:r>
              <a:rPr lang="zh-CN" altLang="en-US" sz="3600" b="1" dirty="0">
                <a:solidFill>
                  <a:srgbClr val="FF0000"/>
                </a:solidFill>
              </a:rPr>
              <a:t>才 </a:t>
            </a:r>
            <a:endParaRPr lang="en-US" altLang="zh-CN" sz="3600" b="1" dirty="0">
              <a:solidFill>
                <a:srgbClr val="FF0000"/>
              </a:solidFill>
            </a:endParaRPr>
          </a:p>
          <a:p>
            <a:r>
              <a:rPr lang="en-US" altLang="zh-CN" sz="3600" b="1" dirty="0">
                <a:solidFill>
                  <a:srgbClr val="FF0000"/>
                </a:solidFill>
              </a:rPr>
              <a:t> complicated a.</a:t>
            </a:r>
            <a:r>
              <a:rPr lang="zh-CN" altLang="en-US" sz="3600" b="1" dirty="0">
                <a:solidFill>
                  <a:srgbClr val="FF0000"/>
                </a:solidFill>
              </a:rPr>
              <a:t>复杂的 </a:t>
            </a:r>
            <a:r>
              <a:rPr lang="en-US" altLang="zh-CN" sz="3600" b="1" dirty="0">
                <a:solidFill>
                  <a:srgbClr val="FF0000"/>
                </a:solidFill>
              </a:rPr>
              <a:t>unpredictable a.</a:t>
            </a:r>
            <a:r>
              <a:rPr lang="zh-CN" altLang="en-US" sz="3600" b="1" dirty="0">
                <a:solidFill>
                  <a:srgbClr val="FF0000"/>
                </a:solidFill>
              </a:rPr>
              <a:t>不可预测的</a:t>
            </a:r>
            <a:endParaRPr lang="en-US" altLang="zh-CN" sz="3600" b="1" dirty="0">
              <a:solidFill>
                <a:srgbClr val="FF0000"/>
              </a:solidFil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sz="3600" b="1" dirty="0">
                <a:solidFill>
                  <a:srgbClr val="FF0000"/>
                </a:solidFill>
              </a:rPr>
              <a:t> </a:t>
            </a:r>
            <a:r>
              <a:rPr lang="en-US" sz="3600" b="1" dirty="0">
                <a:solidFill>
                  <a:srgbClr val="FF0000"/>
                </a:solidFill>
              </a:rPr>
              <a:t>P25-27</a:t>
            </a:r>
            <a:r>
              <a:rPr lang="zh-CN" altLang="en-US" sz="3600" b="1" dirty="0">
                <a:solidFill>
                  <a:srgbClr val="FF0000"/>
                </a:solidFill>
              </a:rPr>
              <a:t>词组</a:t>
            </a:r>
            <a:r>
              <a:rPr lang="en-US" altLang="zh-CN" sz="3600" b="1" dirty="0">
                <a:solidFill>
                  <a:srgbClr val="FF0000"/>
                </a:solidFill>
              </a:rPr>
              <a:t> </a:t>
            </a:r>
          </a:p>
          <a:p>
            <a:r>
              <a:rPr lang="en-US" altLang="zh-CN" sz="3600" b="1" dirty="0">
                <a:solidFill>
                  <a:srgbClr val="FF0000"/>
                </a:solidFill>
              </a:rPr>
              <a:t>1.</a:t>
            </a:r>
            <a:r>
              <a:rPr lang="zh-CN" altLang="en-US" sz="3600" b="1" dirty="0">
                <a:solidFill>
                  <a:srgbClr val="FF0000"/>
                </a:solidFill>
              </a:rPr>
              <a:t>涌入</a:t>
            </a:r>
            <a:r>
              <a:rPr lang="en-US" altLang="zh-CN" sz="3600" b="1" dirty="0">
                <a:solidFill>
                  <a:srgbClr val="FF0000"/>
                </a:solidFill>
              </a:rPr>
              <a:t> 2.</a:t>
            </a:r>
            <a:r>
              <a:rPr lang="zh-CN" altLang="en-US" sz="3600" b="1" dirty="0">
                <a:solidFill>
                  <a:srgbClr val="FF0000"/>
                </a:solidFill>
              </a:rPr>
              <a:t>结束的那一刻</a:t>
            </a:r>
            <a:r>
              <a:rPr lang="en-US" altLang="zh-CN" sz="3600" b="1" dirty="0">
                <a:solidFill>
                  <a:srgbClr val="FF0000"/>
                </a:solidFill>
              </a:rPr>
              <a:t> 3.</a:t>
            </a:r>
            <a:r>
              <a:rPr lang="zh-CN" altLang="en-US" sz="3600" b="1" dirty="0">
                <a:solidFill>
                  <a:srgbClr val="FF0000"/>
                </a:solidFill>
              </a:rPr>
              <a:t>爆发出热情的欢呼</a:t>
            </a:r>
            <a:r>
              <a:rPr lang="en-US" altLang="zh-CN" sz="3600" b="1" dirty="0">
                <a:solidFill>
                  <a:srgbClr val="FF0000"/>
                </a:solidFill>
              </a:rPr>
              <a:t> 4.</a:t>
            </a:r>
            <a:r>
              <a:rPr lang="zh-CN" altLang="en-US" sz="3600" b="1" dirty="0">
                <a:solidFill>
                  <a:srgbClr val="FF0000"/>
                </a:solidFill>
              </a:rPr>
              <a:t>没有意识到</a:t>
            </a:r>
            <a:r>
              <a:rPr lang="en-US" altLang="zh-CN" sz="3600" b="1" dirty="0">
                <a:solidFill>
                  <a:srgbClr val="FF0000"/>
                </a:solidFill>
              </a:rPr>
              <a:t> 5.</a:t>
            </a:r>
            <a:r>
              <a:rPr lang="zh-CN" altLang="en-US" sz="3600" b="1" dirty="0">
                <a:solidFill>
                  <a:srgbClr val="FF0000"/>
                </a:solidFill>
              </a:rPr>
              <a:t>看见眼前的人山人海全部起立</a:t>
            </a:r>
            <a:r>
              <a:rPr lang="en-US" altLang="zh-CN" sz="3600" b="1" dirty="0">
                <a:solidFill>
                  <a:srgbClr val="FF0000"/>
                </a:solidFill>
              </a:rPr>
              <a:t> 6.</a:t>
            </a:r>
            <a:r>
              <a:rPr lang="zh-CN" altLang="en-US" sz="3600" b="1" dirty="0">
                <a:solidFill>
                  <a:srgbClr val="FF0000"/>
                </a:solidFill>
              </a:rPr>
              <a:t>表达着对这部杰作的赞赏</a:t>
            </a:r>
            <a:r>
              <a:rPr lang="en-US" altLang="zh-CN" sz="3600" b="1" dirty="0">
                <a:solidFill>
                  <a:srgbClr val="FF0000"/>
                </a:solidFill>
              </a:rPr>
              <a:t> 7.</a:t>
            </a:r>
            <a:r>
              <a:rPr lang="zh-CN" altLang="en-US" sz="3600" b="1" dirty="0">
                <a:solidFill>
                  <a:srgbClr val="FF0000"/>
                </a:solidFill>
              </a:rPr>
              <a:t>非凡的一生</a:t>
            </a:r>
            <a:r>
              <a:rPr lang="en-US" altLang="zh-CN" sz="3600" b="1" dirty="0">
                <a:solidFill>
                  <a:srgbClr val="FF0000"/>
                </a:solidFill>
              </a:rPr>
              <a:t> 8.</a:t>
            </a:r>
            <a:r>
              <a:rPr lang="zh-CN" altLang="en-US" sz="3600" b="1" dirty="0">
                <a:solidFill>
                  <a:srgbClr val="FF0000"/>
                </a:solidFill>
              </a:rPr>
              <a:t>丰厚的作品</a:t>
            </a:r>
            <a:r>
              <a:rPr lang="en-US" altLang="zh-CN" sz="3600" b="1" dirty="0">
                <a:solidFill>
                  <a:srgbClr val="FF0000"/>
                </a:solidFill>
              </a:rPr>
              <a:t> 9.</a:t>
            </a:r>
            <a:r>
              <a:rPr lang="zh-CN" altLang="en-US" sz="3600" b="1" dirty="0">
                <a:solidFill>
                  <a:srgbClr val="FF0000"/>
                </a:solidFill>
              </a:rPr>
              <a:t>夜以继日地</a:t>
            </a:r>
            <a:r>
              <a:rPr lang="en-US" altLang="zh-CN" sz="3600" b="1" dirty="0">
                <a:solidFill>
                  <a:srgbClr val="FF0000"/>
                </a:solidFill>
              </a:rPr>
              <a:t> 10.</a:t>
            </a:r>
            <a:r>
              <a:rPr lang="zh-CN" altLang="en-US" sz="3600" b="1" dirty="0">
                <a:solidFill>
                  <a:srgbClr val="FF0000"/>
                </a:solidFill>
              </a:rPr>
              <a:t>受人赏识</a:t>
            </a:r>
            <a:r>
              <a:rPr lang="en-US" altLang="zh-CN" sz="3600" b="1" dirty="0">
                <a:solidFill>
                  <a:srgbClr val="FF0000"/>
                </a:solidFill>
              </a:rPr>
              <a:t> 11.</a:t>
            </a:r>
            <a:r>
              <a:rPr lang="zh-CN" altLang="en-US" sz="3600" b="1" dirty="0">
                <a:solidFill>
                  <a:srgbClr val="FF0000"/>
                </a:solidFill>
              </a:rPr>
              <a:t>作为</a:t>
            </a:r>
            <a:r>
              <a:rPr lang="en-US" altLang="zh-CN" sz="3600" b="1" dirty="0">
                <a:solidFill>
                  <a:srgbClr val="FF0000"/>
                </a:solidFill>
              </a:rPr>
              <a:t>…</a:t>
            </a:r>
            <a:r>
              <a:rPr lang="zh-CN" altLang="en-US" sz="3600" b="1" dirty="0">
                <a:solidFill>
                  <a:srgbClr val="FF0000"/>
                </a:solidFill>
              </a:rPr>
              <a:t>而享有盛名</a:t>
            </a:r>
            <a:r>
              <a:rPr lang="en-US" altLang="zh-CN" sz="3600" b="1" dirty="0">
                <a:solidFill>
                  <a:srgbClr val="FF0000"/>
                </a:solidFill>
              </a:rPr>
              <a:t>  12.</a:t>
            </a:r>
            <a:r>
              <a:rPr lang="zh-CN" altLang="en-US" sz="3600" b="1" dirty="0">
                <a:solidFill>
                  <a:srgbClr val="FF0000"/>
                </a:solidFill>
              </a:rPr>
              <a:t>给出预言</a:t>
            </a:r>
            <a:r>
              <a:rPr lang="en-US" altLang="zh-CN" sz="3600" b="1" dirty="0">
                <a:solidFill>
                  <a:srgbClr val="FF0000"/>
                </a:solidFill>
              </a:rPr>
              <a:t> 13.</a:t>
            </a:r>
            <a:r>
              <a:rPr lang="zh-CN" altLang="en-US" sz="3600" b="1" dirty="0">
                <a:solidFill>
                  <a:srgbClr val="FF0000"/>
                </a:solidFill>
              </a:rPr>
              <a:t>急转弯</a:t>
            </a:r>
            <a:r>
              <a:rPr lang="en-US" altLang="zh-CN" sz="3600" b="1" dirty="0">
                <a:solidFill>
                  <a:srgbClr val="FF0000"/>
                </a:solidFill>
              </a:rPr>
              <a:t>,</a:t>
            </a:r>
            <a:r>
              <a:rPr lang="zh-CN" altLang="en-US" sz="3600" b="1" dirty="0">
                <a:solidFill>
                  <a:srgbClr val="FF0000"/>
                </a:solidFill>
              </a:rPr>
              <a:t>厄运突至</a:t>
            </a:r>
            <a:r>
              <a:rPr lang="en-US" altLang="zh-CN" sz="3600" b="1" dirty="0">
                <a:solidFill>
                  <a:srgbClr val="FF0000"/>
                </a:solidFill>
              </a:rPr>
              <a:t> 14.</a:t>
            </a:r>
            <a:r>
              <a:rPr lang="zh-CN" altLang="en-US" sz="3600" b="1" dirty="0">
                <a:solidFill>
                  <a:srgbClr val="FF0000"/>
                </a:solidFill>
              </a:rPr>
              <a:t>听觉下降</a:t>
            </a:r>
            <a:r>
              <a:rPr lang="en-US" altLang="zh-CN" sz="3600" b="1" dirty="0">
                <a:solidFill>
                  <a:srgbClr val="FF0000"/>
                </a:solidFill>
              </a:rPr>
              <a:t> 15.</a:t>
            </a:r>
            <a:r>
              <a:rPr lang="zh-CN" altLang="en-US" sz="3600" b="1" dirty="0">
                <a:solidFill>
                  <a:srgbClr val="FF0000"/>
                </a:solidFill>
              </a:rPr>
              <a:t>痛苦不堪</a:t>
            </a:r>
            <a:r>
              <a:rPr lang="en-US" altLang="zh-CN" sz="3600" b="1" dirty="0">
                <a:solidFill>
                  <a:srgbClr val="FF0000"/>
                </a:solidFill>
              </a:rPr>
              <a:t> 16.</a:t>
            </a:r>
            <a:r>
              <a:rPr lang="zh-CN" altLang="en-US" sz="3600" b="1" dirty="0">
                <a:solidFill>
                  <a:srgbClr val="FF0000"/>
                </a:solidFill>
              </a:rPr>
              <a:t>隐瞒</a:t>
            </a:r>
            <a:r>
              <a:rPr lang="en-US" altLang="zh-CN" sz="3600" b="1" dirty="0">
                <a:solidFill>
                  <a:srgbClr val="FF0000"/>
                </a:solidFill>
              </a:rPr>
              <a:t> 17.</a:t>
            </a:r>
            <a:r>
              <a:rPr lang="zh-CN" altLang="en-US" sz="3600" b="1" dirty="0">
                <a:solidFill>
                  <a:srgbClr val="FF0000"/>
                </a:solidFill>
              </a:rPr>
              <a:t>承认缺陷</a:t>
            </a:r>
            <a:r>
              <a:rPr lang="en-US" altLang="zh-CN" sz="3600" b="1" dirty="0">
                <a:solidFill>
                  <a:srgbClr val="FF0000"/>
                </a:solidFill>
              </a:rPr>
              <a:t> 18.</a:t>
            </a:r>
            <a:r>
              <a:rPr lang="zh-CN" altLang="en-US" sz="3600" b="1" dirty="0">
                <a:solidFill>
                  <a:srgbClr val="FF0000"/>
                </a:solidFill>
              </a:rPr>
              <a:t>决心想办法让生活继续充满音乐</a:t>
            </a:r>
            <a:r>
              <a:rPr lang="en-US" altLang="zh-CN" sz="3600" b="1" dirty="0">
                <a:solidFill>
                  <a:srgbClr val="FF0000"/>
                </a:solidFill>
              </a:rPr>
              <a:t> 19.</a:t>
            </a:r>
            <a:r>
              <a:rPr lang="zh-CN" altLang="en-US" sz="3600" b="1" dirty="0">
                <a:solidFill>
                  <a:srgbClr val="FF0000"/>
                </a:solidFill>
              </a:rPr>
              <a:t>各种各样的助听设备</a:t>
            </a:r>
            <a:r>
              <a:rPr lang="en-US" altLang="zh-CN" sz="3600" b="1" dirty="0">
                <a:solidFill>
                  <a:srgbClr val="FF0000"/>
                </a:solidFill>
              </a:rPr>
              <a:t> 20.</a:t>
            </a:r>
            <a:r>
              <a:rPr lang="zh-CN" altLang="en-US" sz="3600" b="1" dirty="0">
                <a:solidFill>
                  <a:srgbClr val="FF0000"/>
                </a:solidFill>
              </a:rPr>
              <a:t>在作曲时</a:t>
            </a:r>
            <a:r>
              <a:rPr lang="en-US" altLang="zh-CN" sz="3600" b="1" dirty="0">
                <a:solidFill>
                  <a:srgbClr val="FF0000"/>
                </a:solidFill>
              </a:rPr>
              <a:t> 21.</a:t>
            </a:r>
            <a:r>
              <a:rPr lang="zh-CN" altLang="en-US" sz="3600" b="1" dirty="0">
                <a:solidFill>
                  <a:srgbClr val="FF0000"/>
                </a:solidFill>
              </a:rPr>
              <a:t>公开演出对于他而言越来越艰难了</a:t>
            </a:r>
            <a:r>
              <a:rPr lang="en-US" altLang="zh-CN" sz="3600" b="1" dirty="0">
                <a:solidFill>
                  <a:srgbClr val="FF0000"/>
                </a:solidFill>
              </a:rPr>
              <a:t> 22.</a:t>
            </a:r>
            <a:r>
              <a:rPr lang="en-US" altLang="zh-CN" sz="3600" b="1" dirty="0">
                <a:solidFill>
                  <a:srgbClr val="FF0000"/>
                </a:solidFill>
                <a:sym typeface="+mn-ea"/>
              </a:rPr>
              <a:t>by the time</a:t>
            </a:r>
            <a:r>
              <a:rPr lang="zh-CN" altLang="en-US" sz="3600" b="1" dirty="0">
                <a:solidFill>
                  <a:srgbClr val="FF0000"/>
                </a:solidFill>
                <a:sym typeface="+mn-ea"/>
              </a:rPr>
              <a:t>用法</a:t>
            </a:r>
            <a:r>
              <a:rPr lang="en-US" altLang="zh-CN" sz="3600" b="1" dirty="0">
                <a:solidFill>
                  <a:srgbClr val="FF0000"/>
                </a:solidFill>
                <a:sym typeface="+mn-ea"/>
              </a:rPr>
              <a:t>; 23.since</a:t>
            </a:r>
            <a:r>
              <a:rPr lang="zh-CN" altLang="en-US" sz="3600" b="1" dirty="0">
                <a:solidFill>
                  <a:srgbClr val="FF0000"/>
                </a:solidFill>
                <a:sym typeface="+mn-ea"/>
              </a:rPr>
              <a:t>用法</a:t>
            </a:r>
            <a:r>
              <a:rPr lang="en-US" altLang="zh-CN" sz="3600" b="1" dirty="0">
                <a:solidFill>
                  <a:srgbClr val="FF0000"/>
                </a:solidFill>
                <a:sym typeface="+mn-ea"/>
              </a:rPr>
              <a:t> </a:t>
            </a:r>
            <a:r>
              <a:rPr lang="en-US" altLang="zh-CN" sz="3600" b="1" dirty="0">
                <a:solidFill>
                  <a:srgbClr val="FF0000"/>
                </a:solidFill>
              </a:rPr>
              <a:t>24.</a:t>
            </a:r>
            <a:r>
              <a:rPr lang="zh-CN" altLang="en-US" sz="3600" b="1" dirty="0">
                <a:solidFill>
                  <a:srgbClr val="FF0000"/>
                </a:solidFill>
              </a:rPr>
              <a:t>在历史上</a:t>
            </a:r>
            <a:r>
              <a:rPr lang="en-US" altLang="zh-CN" sz="3600" b="1" dirty="0">
                <a:solidFill>
                  <a:srgbClr val="FF0000"/>
                </a:solidFill>
              </a:rPr>
              <a:t> 25.</a:t>
            </a:r>
            <a:r>
              <a:rPr lang="zh-CN" altLang="en-US" sz="3600" b="1" dirty="0">
                <a:solidFill>
                  <a:srgbClr val="FF0000"/>
                </a:solidFill>
              </a:rPr>
              <a:t>突然</a:t>
            </a:r>
            <a:r>
              <a:rPr lang="en-US" altLang="zh-CN" sz="3600" b="1" dirty="0">
                <a:solidFill>
                  <a:srgbClr val="FF0000"/>
                </a:solidFill>
              </a:rPr>
              <a:t>  26.</a:t>
            </a:r>
            <a:r>
              <a:rPr lang="zh-CN" altLang="en-US" sz="3600" b="1" dirty="0">
                <a:solidFill>
                  <a:srgbClr val="FF0000"/>
                </a:solidFill>
              </a:rPr>
              <a:t>贯穿</a:t>
            </a:r>
            <a:r>
              <a:rPr lang="en-US" altLang="zh-CN" sz="3600" b="1" dirty="0">
                <a:solidFill>
                  <a:srgbClr val="FF0000"/>
                </a:solidFill>
              </a:rPr>
              <a:t> 27.</a:t>
            </a:r>
            <a:r>
              <a:rPr lang="zh-CN" altLang="en-US" sz="3600" b="1" dirty="0">
                <a:solidFill>
                  <a:srgbClr val="FF0000"/>
                </a:solidFill>
              </a:rPr>
              <a:t>绝望的低声部和激越的高声部</a:t>
            </a:r>
            <a:r>
              <a:rPr lang="en-US" altLang="zh-CN" sz="3600" b="1" dirty="0">
                <a:solidFill>
                  <a:srgbClr val="FF0000"/>
                </a:solidFill>
              </a:rPr>
              <a:t> 28.</a:t>
            </a:r>
            <a:r>
              <a:rPr lang="zh-CN" altLang="en-US" sz="3600" b="1" dirty="0">
                <a:solidFill>
                  <a:srgbClr val="FF0000"/>
                </a:solidFill>
              </a:rPr>
              <a:t>抗争的坚强意志</a:t>
            </a:r>
            <a:r>
              <a:rPr lang="en-US" altLang="zh-CN" sz="3600" b="1" dirty="0">
                <a:solidFill>
                  <a:srgbClr val="FF0000"/>
                </a:solidFill>
              </a:rPr>
              <a:t> 29.</a:t>
            </a:r>
            <a:r>
              <a:rPr lang="zh-CN" altLang="en-US" sz="3600" b="1" dirty="0">
                <a:solidFill>
                  <a:srgbClr val="FF0000"/>
                </a:solidFill>
              </a:rPr>
              <a:t>轻易从容</a:t>
            </a:r>
            <a:r>
              <a:rPr lang="en-US" altLang="zh-CN" sz="3600" b="1" dirty="0">
                <a:solidFill>
                  <a:srgbClr val="FF0000"/>
                </a:solidFill>
              </a:rPr>
              <a:t> 30.</a:t>
            </a:r>
            <a:r>
              <a:rPr lang="zh-CN" altLang="en-US" sz="3600" b="1" dirty="0">
                <a:solidFill>
                  <a:srgbClr val="FF0000"/>
                </a:solidFill>
              </a:rPr>
              <a:t>欢乐的合唱</a:t>
            </a:r>
            <a:r>
              <a:rPr lang="en-US" altLang="zh-CN" sz="3600" b="1" dirty="0">
                <a:solidFill>
                  <a:srgbClr val="FF0000"/>
                </a:solidFill>
              </a:rPr>
              <a:t> 31.</a:t>
            </a:r>
            <a:r>
              <a:rPr lang="zh-CN" altLang="en-US" sz="3600" b="1" dirty="0">
                <a:solidFill>
                  <a:srgbClr val="FF0000"/>
                </a:solidFill>
              </a:rPr>
              <a:t>人生绝唱</a:t>
            </a:r>
            <a:r>
              <a:rPr lang="en-US" altLang="zh-CN" sz="3600" b="1" dirty="0">
                <a:solidFill>
                  <a:srgbClr val="FF0000"/>
                </a:solidFill>
              </a:rPr>
              <a:t> 32.</a:t>
            </a:r>
            <a:r>
              <a:rPr lang="zh-CN" altLang="en-US" sz="3600" b="1" dirty="0">
                <a:solidFill>
                  <a:srgbClr val="FF0000"/>
                </a:solidFill>
              </a:rPr>
              <a:t>被公认为有史以来最卓越的音乐家之一</a:t>
            </a:r>
            <a:r>
              <a:rPr lang="en-US" altLang="zh-CN" sz="3600" b="1" dirty="0">
                <a:solidFill>
                  <a:srgbClr val="FF0000"/>
                </a:solidFill>
              </a:rPr>
              <a:t> 33.</a:t>
            </a:r>
            <a:r>
              <a:rPr lang="zh-CN" altLang="en-US" sz="3600" b="1" dirty="0">
                <a:solidFill>
                  <a:srgbClr val="FF0000"/>
                </a:solidFill>
              </a:rPr>
              <a:t>热门电影</a:t>
            </a:r>
            <a:r>
              <a:rPr lang="en-US" altLang="zh-CN" sz="3600" b="1" dirty="0">
                <a:solidFill>
                  <a:srgbClr val="FF0000"/>
                </a:solidFill>
              </a:rPr>
              <a:t> 34.</a:t>
            </a:r>
            <a:r>
              <a:rPr lang="zh-CN" altLang="en-US" sz="3600" b="1" dirty="0">
                <a:solidFill>
                  <a:srgbClr val="FF0000"/>
                </a:solidFill>
              </a:rPr>
              <a:t>承担角色</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pPr algn="just" fontAlgn="ctr">
              <a:lnSpc>
                <a:spcPct val="68000"/>
              </a:lnSpc>
            </a:pPr>
            <a:r>
              <a:rPr lang="en-US" altLang="zh-CN" sz="3200" dirty="0"/>
              <a:t>On Monday morning, </a:t>
            </a:r>
            <a:r>
              <a:rPr lang="en-US" altLang="zh-CN" sz="3200" b="1" u="sng" dirty="0">
                <a:solidFill>
                  <a:srgbClr val="FF0000"/>
                </a:solidFill>
              </a:rPr>
              <a:t>Mike unwillingly approached the classroom</a:t>
            </a:r>
            <a:r>
              <a:rPr lang="en-US" altLang="zh-CN" sz="3200" dirty="0"/>
              <a:t>. </a:t>
            </a:r>
            <a:r>
              <a:rPr lang="en-US" altLang="zh-CN" sz="3200" b="1" u="sng" dirty="0">
                <a:solidFill>
                  <a:srgbClr val="FF0000"/>
                </a:solidFill>
              </a:rPr>
              <a:t>Feeling nervous and embarrassed, his heart was heavy with worry that his classmates would tease him. </a:t>
            </a:r>
            <a:r>
              <a:rPr lang="en-US" altLang="zh-CN" sz="3200" b="1" dirty="0"/>
              <a:t>His hair had been cut so short that the skin under the hair was nearly visible. </a:t>
            </a:r>
            <a:r>
              <a:rPr lang="en-US" altLang="zh-CN" sz="3200" b="1" dirty="0">
                <a:solidFill>
                  <a:srgbClr val="FF0000"/>
                </a:solidFill>
              </a:rPr>
              <a:t>As he stepped through the door</a:t>
            </a:r>
            <a:r>
              <a:rPr lang="zh-CN" altLang="zh-CN" sz="3200" b="1" dirty="0">
                <a:solidFill>
                  <a:srgbClr val="FF0000"/>
                </a:solidFill>
              </a:rPr>
              <a:t>，</a:t>
            </a:r>
            <a:r>
              <a:rPr lang="en-US" altLang="zh-CN" sz="3200" b="1" dirty="0">
                <a:solidFill>
                  <a:srgbClr val="FF0000"/>
                </a:solidFill>
              </a:rPr>
              <a:t>the room erupted in giggles, </a:t>
            </a:r>
            <a:r>
              <a:rPr lang="en-US" altLang="zh-CN" sz="3200" b="1" dirty="0"/>
              <a:t>nicknaming him “Baldy.” A few curious boys came up and attempted to touch his newly shaved head. </a:t>
            </a:r>
            <a:r>
              <a:rPr lang="en-US" altLang="zh-CN" sz="3200" b="1" u="sng" dirty="0">
                <a:solidFill>
                  <a:srgbClr val="FF0000"/>
                </a:solidFill>
              </a:rPr>
              <a:t>Overwhelmed by shame and anger, Mike shouted out</a:t>
            </a:r>
            <a:r>
              <a:rPr lang="en-US" altLang="zh-CN" sz="3200" b="1" dirty="0">
                <a:solidFill>
                  <a:srgbClr val="FF0000"/>
                </a:solidFill>
              </a:rPr>
              <a:t>, “You are mean!” </a:t>
            </a:r>
            <a:r>
              <a:rPr lang="en-US" altLang="zh-CN" sz="3200" b="1" u="sng" dirty="0">
                <a:solidFill>
                  <a:srgbClr val="FF0000"/>
                </a:solidFill>
              </a:rPr>
              <a:t>Tears welled up in his eyes as Mike stood up and ran towards the door.</a:t>
            </a:r>
            <a:endParaRPr lang="zh-CN" altLang="zh-CN" sz="3200" b="1" u="sng" dirty="0">
              <a:solidFill>
                <a:srgbClr val="FF0000"/>
              </a:solidFill>
            </a:endParaRPr>
          </a:p>
          <a:p>
            <a:pPr algn="just" fontAlgn="ctr">
              <a:lnSpc>
                <a:spcPct val="68000"/>
              </a:lnSpc>
            </a:pPr>
            <a:r>
              <a:rPr lang="en-US" altLang="zh-CN" sz="3200" b="1" dirty="0"/>
              <a:t>At that moment, </a:t>
            </a:r>
            <a:r>
              <a:rPr lang="en-US" altLang="zh-CN" sz="3200" dirty="0"/>
              <a:t>Mr. Stone walked into the classroom with a crumpled ball of paper. </a:t>
            </a:r>
            <a:r>
              <a:rPr lang="en-US" altLang="zh-CN" sz="3200" b="1" dirty="0">
                <a:solidFill>
                  <a:srgbClr val="FF0000"/>
                </a:solidFill>
              </a:rPr>
              <a:t>With a gentle pat on Mike’s shoulder, he guided him back to his seat. As Mr. Stone made his way to the platform, the room fell silent. Holding up the crumpled ball of paper, he began to smooth out its wrinkles. “Each fold represented a scar of hurtful words. Even when we try to apologize,” Mr. Stone explained softly, “the wounds remain. Let us always speak with kindness and warmth.” From that day on, Mike learned a valuable lesson: the importance of kindness and empathy.</a:t>
            </a:r>
            <a:endParaRPr lang="zh-CN" altLang="zh-CN" sz="3200" b="1" dirty="0">
              <a:solidFill>
                <a:srgbClr val="FF0000"/>
              </a:solidFill>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pPr marL="0" indent="0">
              <a:buNone/>
            </a:pPr>
            <a:r>
              <a:rPr lang="zh-CN" altLang="en-US" sz="3600" b="1">
                <a:solidFill>
                  <a:srgbClr val="FF0000"/>
                </a:solidFill>
              </a:rPr>
              <a:t>迈</a:t>
            </a:r>
            <a:r>
              <a:rPr lang="zh-CN" altLang="en-US" sz="3600" b="1" dirty="0">
                <a:solidFill>
                  <a:srgbClr val="FF0000"/>
                </a:solidFill>
              </a:rPr>
              <a:t>克不情愿地走近教室。</a:t>
            </a:r>
          </a:p>
          <a:p>
            <a:r>
              <a:rPr lang="zh-CN" altLang="en-US" sz="3600" b="1" dirty="0">
                <a:solidFill>
                  <a:srgbClr val="FF0000"/>
                </a:solidFill>
              </a:rPr>
              <a:t>他感到紧张和尴尬，心里很沉重，担心同学们会取笑他。</a:t>
            </a:r>
          </a:p>
          <a:p>
            <a:r>
              <a:rPr lang="zh-CN" altLang="en-US" sz="3600" b="1" dirty="0">
                <a:solidFill>
                  <a:srgbClr val="FF0000"/>
                </a:solidFill>
              </a:rPr>
              <a:t>当他走进门时，房间里爆发出一阵咯咯的笑声。</a:t>
            </a:r>
          </a:p>
          <a:p>
            <a:r>
              <a:rPr lang="zh-CN" altLang="en-US" sz="3600" b="1" dirty="0">
                <a:solidFill>
                  <a:srgbClr val="FF0000"/>
                </a:solidFill>
              </a:rPr>
              <a:t>麦克又羞又怒，大声喊道：</a:t>
            </a:r>
            <a:r>
              <a:rPr lang="en-US" altLang="zh-CN" sz="3600" b="1" dirty="0">
                <a:solidFill>
                  <a:srgbClr val="FF0000"/>
                </a:solidFill>
              </a:rPr>
              <a:t>“</a:t>
            </a:r>
            <a:r>
              <a:rPr lang="zh-CN" altLang="en-US" sz="3600" b="1" dirty="0">
                <a:solidFill>
                  <a:srgbClr val="FF0000"/>
                </a:solidFill>
              </a:rPr>
              <a:t>你真卑鄙！</a:t>
            </a:r>
            <a:r>
              <a:rPr lang="en-US" altLang="zh-CN" sz="3600" b="1" dirty="0">
                <a:solidFill>
                  <a:srgbClr val="FF0000"/>
                </a:solidFill>
              </a:rPr>
              <a:t>”</a:t>
            </a:r>
            <a:r>
              <a:rPr lang="zh-CN" altLang="en-US" sz="3600" b="1" dirty="0">
                <a:solidFill>
                  <a:srgbClr val="FF0000"/>
                </a:solidFill>
              </a:rPr>
              <a:t>当迈克站起来向门口跑去时，泪水涌上了他的眼睛。</a:t>
            </a:r>
          </a:p>
          <a:p>
            <a:r>
              <a:rPr lang="zh-CN" altLang="en-US" sz="3600" b="1" dirty="0">
                <a:solidFill>
                  <a:srgbClr val="FF0000"/>
                </a:solidFill>
              </a:rPr>
              <a:t>他轻轻地拍了拍迈克的肩膀，引导他回到座位上。当斯通先生走向讲台时，整个房间鸦雀无声。他拿起那团皱巴巴的纸，开始抚平它的皱纹。</a:t>
            </a:r>
            <a:r>
              <a:rPr lang="en-US" altLang="zh-CN" sz="3600" b="1" dirty="0">
                <a:solidFill>
                  <a:srgbClr val="FF0000"/>
                </a:solidFill>
              </a:rPr>
              <a:t>“</a:t>
            </a:r>
            <a:r>
              <a:rPr lang="zh-CN" altLang="en-US" sz="3600" b="1" dirty="0">
                <a:solidFill>
                  <a:srgbClr val="FF0000"/>
                </a:solidFill>
              </a:rPr>
              <a:t>每一个褶皱都代表着一句伤人的话。</a:t>
            </a:r>
            <a:r>
              <a:rPr lang="en-US" altLang="zh-CN" sz="3600" b="1" dirty="0">
                <a:solidFill>
                  <a:srgbClr val="FF0000"/>
                </a:solidFill>
              </a:rPr>
              <a:t>“</a:t>
            </a:r>
            <a:r>
              <a:rPr lang="zh-CN" altLang="en-US" sz="3600" b="1" dirty="0">
                <a:solidFill>
                  <a:srgbClr val="FF0000"/>
                </a:solidFill>
              </a:rPr>
              <a:t>即使我们试图道歉，</a:t>
            </a:r>
            <a:r>
              <a:rPr lang="en-US" altLang="zh-CN" sz="3600" b="1" dirty="0">
                <a:solidFill>
                  <a:srgbClr val="FF0000"/>
                </a:solidFill>
              </a:rPr>
              <a:t>”</a:t>
            </a:r>
            <a:r>
              <a:rPr lang="zh-CN" altLang="en-US" sz="3600" b="1" dirty="0">
                <a:solidFill>
                  <a:srgbClr val="FF0000"/>
                </a:solidFill>
              </a:rPr>
              <a:t>斯通轻声解释道，</a:t>
            </a:r>
            <a:r>
              <a:rPr lang="en-US" altLang="zh-CN" sz="3600" b="1" dirty="0">
                <a:solidFill>
                  <a:srgbClr val="FF0000"/>
                </a:solidFill>
              </a:rPr>
              <a:t>“</a:t>
            </a:r>
            <a:r>
              <a:rPr lang="zh-CN" altLang="en-US" sz="3600" b="1" dirty="0">
                <a:solidFill>
                  <a:srgbClr val="FF0000"/>
                </a:solidFill>
              </a:rPr>
              <a:t>伤口依然存在。让我们说话总是充满善意和温暖。</a:t>
            </a:r>
            <a:r>
              <a:rPr lang="en-US" altLang="zh-CN" sz="3600" b="1" dirty="0">
                <a:solidFill>
                  <a:srgbClr val="FF0000"/>
                </a:solidFill>
              </a:rPr>
              <a:t>”</a:t>
            </a:r>
            <a:r>
              <a:rPr lang="zh-CN" altLang="en-US" sz="3600" b="1" dirty="0">
                <a:solidFill>
                  <a:srgbClr val="FF0000"/>
                </a:solidFill>
              </a:rPr>
              <a:t>从那天起，迈克学到了宝贵的一课：善良和同理心的重要性。</a:t>
            </a:r>
          </a:p>
          <a:p>
            <a:endParaRPr lang="en-US" altLang="zh-CN" sz="3600" b="1" dirty="0">
              <a:solidFill>
                <a:srgbClr val="FF0000"/>
              </a:solidFill>
            </a:endParaRPr>
          </a:p>
          <a:p>
            <a:endParaRPr lang="en-US" altLang="zh-CN" sz="3600" b="1" dirty="0">
              <a:solidFill>
                <a:srgbClr val="FF0000"/>
              </a:solidFill>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lnSpcReduction="10000"/>
          </a:bodyPr>
          <a:lstStyle/>
          <a:p>
            <a:r>
              <a:rPr lang="en-US" altLang="zh-CN" sz="3600" b="1" dirty="0">
                <a:solidFill>
                  <a:srgbClr val="FF0000"/>
                </a:solidFill>
              </a:rPr>
              <a:t>U2</a:t>
            </a:r>
            <a:r>
              <a:rPr lang="zh-CN" altLang="en-US" sz="3600" b="1" dirty="0">
                <a:solidFill>
                  <a:srgbClr val="FF0000"/>
                </a:solidFill>
              </a:rPr>
              <a:t>词组</a:t>
            </a:r>
            <a:r>
              <a:rPr lang="en-US" altLang="zh-CN" sz="3600" b="1" dirty="0">
                <a:solidFill>
                  <a:srgbClr val="FF0000"/>
                </a:solidFill>
              </a:rPr>
              <a:t> </a:t>
            </a:r>
          </a:p>
          <a:p>
            <a:r>
              <a:rPr lang="en-US" altLang="zh-CN" sz="3600" b="1" dirty="0">
                <a:solidFill>
                  <a:srgbClr val="FF0000"/>
                </a:solidFill>
              </a:rPr>
              <a:t>1.</a:t>
            </a:r>
            <a:r>
              <a:rPr lang="zh-CN" altLang="en-US" sz="3600" b="1" dirty="0">
                <a:solidFill>
                  <a:srgbClr val="FF0000"/>
                </a:solidFill>
              </a:rPr>
              <a:t>乐器有各种类型 </a:t>
            </a:r>
            <a:r>
              <a:rPr lang="en-US" altLang="zh-CN" sz="3600" b="1" dirty="0">
                <a:solidFill>
                  <a:srgbClr val="FF0000"/>
                </a:solidFill>
              </a:rPr>
              <a:t>2.</a:t>
            </a:r>
            <a:r>
              <a:rPr lang="zh-CN" altLang="en-US" sz="3600" b="1" dirty="0">
                <a:solidFill>
                  <a:srgbClr val="FF0000"/>
                </a:solidFill>
              </a:rPr>
              <a:t>由</a:t>
            </a:r>
            <a:r>
              <a:rPr lang="en-US" altLang="zh-CN" sz="3600" b="1" dirty="0">
                <a:solidFill>
                  <a:srgbClr val="FF0000"/>
                </a:solidFill>
              </a:rPr>
              <a:t>…</a:t>
            </a:r>
            <a:r>
              <a:rPr lang="zh-CN" altLang="en-US" sz="3600" b="1" dirty="0">
                <a:solidFill>
                  <a:srgbClr val="FF0000"/>
                </a:solidFill>
              </a:rPr>
              <a:t>创作的 </a:t>
            </a:r>
            <a:r>
              <a:rPr lang="en-US" altLang="zh-CN" sz="3600" b="1" dirty="0">
                <a:solidFill>
                  <a:srgbClr val="FF0000"/>
                </a:solidFill>
              </a:rPr>
              <a:t>3.</a:t>
            </a:r>
            <a:r>
              <a:rPr lang="zh-CN" altLang="en-US" sz="3600" b="1" dirty="0">
                <a:solidFill>
                  <a:srgbClr val="FF0000"/>
                </a:solidFill>
              </a:rPr>
              <a:t>带我进入了一个跌宕起伏的经典故事 </a:t>
            </a:r>
            <a:r>
              <a:rPr lang="en-US" altLang="zh-CN" sz="3600" b="1" dirty="0">
                <a:solidFill>
                  <a:srgbClr val="FF0000"/>
                </a:solidFill>
              </a:rPr>
              <a:t>4.</a:t>
            </a:r>
            <a:r>
              <a:rPr lang="zh-CN" altLang="en-US" sz="3600" b="1" dirty="0">
                <a:solidFill>
                  <a:srgbClr val="FF0000"/>
                </a:solidFill>
              </a:rPr>
              <a:t>被</a:t>
            </a:r>
            <a:r>
              <a:rPr lang="en-US" altLang="zh-CN" sz="3600" b="1" dirty="0">
                <a:solidFill>
                  <a:srgbClr val="FF0000"/>
                </a:solidFill>
              </a:rPr>
              <a:t>…</a:t>
            </a:r>
            <a:r>
              <a:rPr lang="zh-CN" altLang="en-US" sz="3600" b="1" dirty="0">
                <a:solidFill>
                  <a:srgbClr val="FF0000"/>
                </a:solidFill>
              </a:rPr>
              <a:t>拆散 </a:t>
            </a:r>
            <a:r>
              <a:rPr lang="en-US" altLang="zh-CN" sz="3600" b="1" dirty="0">
                <a:solidFill>
                  <a:srgbClr val="FF0000"/>
                </a:solidFill>
              </a:rPr>
              <a:t>5.</a:t>
            </a:r>
            <a:r>
              <a:rPr lang="zh-CN" altLang="en-US" sz="3600" b="1" dirty="0">
                <a:solidFill>
                  <a:srgbClr val="FF0000"/>
                </a:solidFill>
              </a:rPr>
              <a:t>像是在和观众低声耳语 </a:t>
            </a:r>
            <a:r>
              <a:rPr lang="en-US" altLang="zh-CN" sz="3600" b="1" dirty="0">
                <a:solidFill>
                  <a:srgbClr val="FF0000"/>
                </a:solidFill>
              </a:rPr>
              <a:t>6.</a:t>
            </a:r>
            <a:r>
              <a:rPr lang="zh-CN" altLang="en-US" sz="3600" b="1" dirty="0">
                <a:solidFill>
                  <a:srgbClr val="FF0000"/>
                </a:solidFill>
              </a:rPr>
              <a:t>曲调突然变得沉重 </a:t>
            </a:r>
            <a:r>
              <a:rPr lang="en-US" altLang="zh-CN" sz="3600" b="1" dirty="0">
                <a:solidFill>
                  <a:srgbClr val="FF0000"/>
                </a:solidFill>
              </a:rPr>
              <a:t>7.</a:t>
            </a:r>
            <a:r>
              <a:rPr lang="zh-CN" altLang="en-US" sz="3600" b="1" dirty="0">
                <a:solidFill>
                  <a:srgbClr val="FF0000"/>
                </a:solidFill>
              </a:rPr>
              <a:t>为失挚爱而痛哭 </a:t>
            </a:r>
            <a:r>
              <a:rPr lang="en-US" altLang="zh-CN" sz="3600" b="1" dirty="0">
                <a:solidFill>
                  <a:srgbClr val="FF0000"/>
                </a:solidFill>
              </a:rPr>
              <a:t>8.</a:t>
            </a:r>
            <a:r>
              <a:rPr lang="zh-CN" altLang="en-US" sz="3600" b="1" dirty="0">
                <a:solidFill>
                  <a:srgbClr val="FF0000"/>
                </a:solidFill>
              </a:rPr>
              <a:t>悲痛欲绝 </a:t>
            </a:r>
            <a:r>
              <a:rPr lang="en-US" altLang="zh-CN" sz="3600" b="1" dirty="0">
                <a:solidFill>
                  <a:srgbClr val="FF0000"/>
                </a:solidFill>
              </a:rPr>
              <a:t>9.</a:t>
            </a:r>
            <a:r>
              <a:rPr lang="zh-CN" altLang="en-US" sz="3600" b="1" dirty="0">
                <a:solidFill>
                  <a:srgbClr val="FF0000"/>
                </a:solidFill>
              </a:rPr>
              <a:t>转变 </a:t>
            </a:r>
            <a:r>
              <a:rPr lang="en-US" altLang="zh-CN" sz="3600" b="1" dirty="0">
                <a:solidFill>
                  <a:srgbClr val="FF0000"/>
                </a:solidFill>
              </a:rPr>
              <a:t>10.</a:t>
            </a:r>
            <a:r>
              <a:rPr lang="zh-CN" altLang="en-US" sz="3600" b="1" dirty="0">
                <a:solidFill>
                  <a:srgbClr val="FF0000"/>
                </a:solidFill>
              </a:rPr>
              <a:t>以凄美的曲调收尾 </a:t>
            </a:r>
            <a:r>
              <a:rPr lang="en-US" altLang="zh-CN" sz="3600" b="1" dirty="0">
                <a:solidFill>
                  <a:srgbClr val="FF0000"/>
                </a:solidFill>
              </a:rPr>
              <a:t>11.</a:t>
            </a:r>
            <a:r>
              <a:rPr lang="zh-CN" altLang="en-US" sz="3600" b="1" dirty="0">
                <a:solidFill>
                  <a:srgbClr val="FF0000"/>
                </a:solidFill>
              </a:rPr>
              <a:t>融合了中西方的音乐元素 </a:t>
            </a:r>
            <a:r>
              <a:rPr lang="en-US" altLang="zh-CN" sz="3600" b="1" dirty="0">
                <a:solidFill>
                  <a:srgbClr val="FF0000"/>
                </a:solidFill>
              </a:rPr>
              <a:t>12.</a:t>
            </a:r>
            <a:r>
              <a:rPr lang="zh-CN" altLang="en-US" sz="3600" b="1" dirty="0">
                <a:solidFill>
                  <a:srgbClr val="FF0000"/>
                </a:solidFill>
              </a:rPr>
              <a:t>更重要的是 </a:t>
            </a:r>
            <a:r>
              <a:rPr lang="en-US" altLang="zh-CN" sz="3600" b="1" dirty="0">
                <a:solidFill>
                  <a:srgbClr val="FF0000"/>
                </a:solidFill>
              </a:rPr>
              <a:t>13.</a:t>
            </a:r>
            <a:r>
              <a:rPr lang="zh-CN" altLang="en-US" sz="3600" b="1" dirty="0">
                <a:solidFill>
                  <a:srgbClr val="FF0000"/>
                </a:solidFill>
              </a:rPr>
              <a:t>源自 </a:t>
            </a:r>
            <a:r>
              <a:rPr lang="en-US" altLang="zh-CN" sz="3600" b="1" dirty="0">
                <a:solidFill>
                  <a:srgbClr val="FF0000"/>
                </a:solidFill>
              </a:rPr>
              <a:t>14.</a:t>
            </a:r>
            <a:r>
              <a:rPr lang="zh-CN" altLang="en-US" sz="3600" b="1" dirty="0">
                <a:solidFill>
                  <a:srgbClr val="FF0000"/>
                </a:solidFill>
              </a:rPr>
              <a:t>音乐的确是一种世界语言 </a:t>
            </a:r>
            <a:r>
              <a:rPr lang="en-US" altLang="zh-CN" sz="3600" b="1" dirty="0">
                <a:solidFill>
                  <a:srgbClr val="FF0000"/>
                </a:solidFill>
              </a:rPr>
              <a:t>15.</a:t>
            </a:r>
            <a:r>
              <a:rPr lang="zh-CN" altLang="en-US" sz="3600" b="1" dirty="0">
                <a:solidFill>
                  <a:srgbClr val="FF0000"/>
                </a:solidFill>
              </a:rPr>
              <a:t>我保证你一定会喜欢它！</a:t>
            </a:r>
            <a:r>
              <a:rPr lang="en-US" altLang="zh-CN" sz="3600" b="1" dirty="0">
                <a:solidFill>
                  <a:srgbClr val="FF0000"/>
                </a:solidFill>
              </a:rPr>
              <a:t>16.</a:t>
            </a:r>
            <a:r>
              <a:rPr lang="zh-CN" altLang="en-US" sz="3600" b="1" dirty="0">
                <a:solidFill>
                  <a:srgbClr val="FF0000"/>
                </a:solidFill>
              </a:rPr>
              <a:t>依赖他们给我介绍歌曲 </a:t>
            </a:r>
            <a:r>
              <a:rPr lang="en-US" altLang="zh-CN" sz="3600" b="1" dirty="0">
                <a:solidFill>
                  <a:srgbClr val="FF0000"/>
                </a:solidFill>
              </a:rPr>
              <a:t>17.</a:t>
            </a:r>
            <a:r>
              <a:rPr lang="zh-CN" altLang="en-US" sz="3600" b="1" dirty="0">
                <a:solidFill>
                  <a:srgbClr val="FF0000"/>
                </a:solidFill>
              </a:rPr>
              <a:t>传遍整个美国 </a:t>
            </a:r>
            <a:r>
              <a:rPr lang="en-US" altLang="zh-CN" sz="3600" b="1" dirty="0">
                <a:solidFill>
                  <a:srgbClr val="FF0000"/>
                </a:solidFill>
              </a:rPr>
              <a:t>18.</a:t>
            </a:r>
            <a:r>
              <a:rPr lang="zh-CN" altLang="en-US" sz="3600" b="1" dirty="0">
                <a:solidFill>
                  <a:srgbClr val="FF0000"/>
                </a:solidFill>
              </a:rPr>
              <a:t>源于 </a:t>
            </a:r>
            <a:r>
              <a:rPr lang="en-US" altLang="zh-CN" sz="3600" b="1" dirty="0">
                <a:solidFill>
                  <a:srgbClr val="FF0000"/>
                </a:solidFill>
              </a:rPr>
              <a:t>19.</a:t>
            </a:r>
            <a:r>
              <a:rPr lang="zh-CN" altLang="en-US" sz="3600" b="1" dirty="0">
                <a:solidFill>
                  <a:srgbClr val="FF0000"/>
                </a:solidFill>
              </a:rPr>
              <a:t>歌词发人深省 </a:t>
            </a:r>
            <a:r>
              <a:rPr lang="en-US" altLang="zh-CN" sz="3600" b="1" dirty="0">
                <a:solidFill>
                  <a:srgbClr val="FF0000"/>
                </a:solidFill>
              </a:rPr>
              <a:t>20.</a:t>
            </a:r>
            <a:r>
              <a:rPr lang="zh-CN" altLang="en-US" sz="3600" b="1" dirty="0">
                <a:solidFill>
                  <a:srgbClr val="FF0000"/>
                </a:solidFill>
              </a:rPr>
              <a:t>附加了很多幽默元素 </a:t>
            </a:r>
            <a:r>
              <a:rPr lang="en-US" altLang="zh-CN" sz="3600" b="1" dirty="0">
                <a:solidFill>
                  <a:srgbClr val="FF0000"/>
                </a:solidFill>
              </a:rPr>
              <a:t>21.</a:t>
            </a:r>
            <a:r>
              <a:rPr lang="zh-CN" altLang="en-US" sz="3600" b="1" dirty="0">
                <a:solidFill>
                  <a:srgbClr val="FF0000"/>
                </a:solidFill>
              </a:rPr>
              <a:t>与音乐家之间的那种情感的联系 </a:t>
            </a:r>
            <a:r>
              <a:rPr lang="en-US" altLang="zh-CN" sz="3600" b="1" dirty="0">
                <a:solidFill>
                  <a:srgbClr val="FF0000"/>
                </a:solidFill>
              </a:rPr>
              <a:t>22.</a:t>
            </a:r>
            <a:r>
              <a:rPr lang="zh-CN" altLang="en-US" sz="3600" b="1" dirty="0">
                <a:solidFill>
                  <a:srgbClr val="FF0000"/>
                </a:solidFill>
              </a:rPr>
              <a:t>乡村静谧的绿野和质朴的生活 </a:t>
            </a:r>
            <a:r>
              <a:rPr lang="en-US" altLang="zh-CN" sz="3600" b="1" dirty="0">
                <a:solidFill>
                  <a:srgbClr val="FF0000"/>
                </a:solidFill>
              </a:rPr>
              <a:t>23.</a:t>
            </a:r>
            <a:r>
              <a:rPr lang="zh-CN" altLang="en-US" sz="3600" b="1" dirty="0">
                <a:solidFill>
                  <a:srgbClr val="FF0000"/>
                </a:solidFill>
              </a:rPr>
              <a:t>究竟是什么样子 </a:t>
            </a:r>
            <a:r>
              <a:rPr lang="en-US" altLang="zh-CN" sz="3600" b="1" dirty="0">
                <a:solidFill>
                  <a:srgbClr val="FF0000"/>
                </a:solidFill>
              </a:rPr>
              <a:t>24.</a:t>
            </a:r>
            <a:r>
              <a:rPr lang="zh-CN" altLang="en-US" sz="3600" b="1" dirty="0">
                <a:solidFill>
                  <a:srgbClr val="FF0000"/>
                </a:solidFill>
              </a:rPr>
              <a:t>身临其境 </a:t>
            </a:r>
            <a:r>
              <a:rPr lang="en-US" altLang="zh-CN" sz="3600" b="1" dirty="0">
                <a:solidFill>
                  <a:srgbClr val="FF0000"/>
                </a:solidFill>
              </a:rPr>
              <a:t>25.</a:t>
            </a:r>
            <a:r>
              <a:rPr lang="zh-CN" altLang="en-US" sz="3600" b="1" dirty="0">
                <a:solidFill>
                  <a:srgbClr val="FF0000"/>
                </a:solidFill>
              </a:rPr>
              <a:t>为什么不试试做某事 </a:t>
            </a:r>
            <a:r>
              <a:rPr lang="en-US" altLang="zh-CN" sz="3600" b="1" dirty="0">
                <a:solidFill>
                  <a:srgbClr val="FF0000"/>
                </a:solidFill>
              </a:rPr>
              <a:t>26</a:t>
            </a:r>
            <a:r>
              <a:rPr lang="zh-CN" altLang="en-US" sz="3600" b="1" dirty="0">
                <a:solidFill>
                  <a:srgbClr val="FF0000"/>
                </a:solidFill>
              </a:rPr>
              <a:t>我保重你会喜欢的 </a:t>
            </a:r>
            <a:r>
              <a:rPr lang="en-US" altLang="zh-CN" sz="3600" b="1" dirty="0">
                <a:solidFill>
                  <a:srgbClr val="FF0000"/>
                </a:solidFill>
              </a:rPr>
              <a:t>27.</a:t>
            </a:r>
            <a:r>
              <a:rPr lang="zh-CN" altLang="en-US" sz="3600" b="1" dirty="0">
                <a:solidFill>
                  <a:srgbClr val="FF0000"/>
                </a:solidFill>
              </a:rPr>
              <a:t>有能力改变生活 </a:t>
            </a:r>
            <a:r>
              <a:rPr lang="en-US" altLang="zh-CN" sz="3600" b="1" dirty="0">
                <a:solidFill>
                  <a:srgbClr val="FF0000"/>
                </a:solidFill>
              </a:rPr>
              <a:t>28.</a:t>
            </a:r>
            <a:r>
              <a:rPr lang="zh-CN" altLang="en-US" sz="3600" b="1" dirty="0">
                <a:solidFill>
                  <a:srgbClr val="FF0000"/>
                </a:solidFill>
              </a:rPr>
              <a:t>让公众更方便接触音乐 </a:t>
            </a:r>
            <a:r>
              <a:rPr lang="en-US" altLang="zh-CN" sz="3600" b="1" dirty="0">
                <a:solidFill>
                  <a:srgbClr val="FF0000"/>
                </a:solidFill>
              </a:rPr>
              <a:t>29.</a:t>
            </a:r>
            <a:r>
              <a:rPr lang="zh-CN" altLang="en-US" sz="3600" b="1" dirty="0">
                <a:solidFill>
                  <a:srgbClr val="FF0000"/>
                </a:solidFill>
              </a:rPr>
              <a:t>举办一系列免费音乐会 </a:t>
            </a:r>
            <a:r>
              <a:rPr lang="en-US" altLang="zh-CN" sz="3600" b="1" dirty="0">
                <a:solidFill>
                  <a:srgbClr val="FF0000"/>
                </a:solidFill>
              </a:rPr>
              <a:t>30.</a:t>
            </a:r>
            <a:r>
              <a:rPr lang="zh-CN" altLang="en-US" sz="3600" b="1" dirty="0">
                <a:solidFill>
                  <a:srgbClr val="FF0000"/>
                </a:solidFill>
              </a:rPr>
              <a:t>古典音乐 </a:t>
            </a:r>
            <a:r>
              <a:rPr lang="en-US" altLang="zh-CN" sz="3600" b="1" dirty="0">
                <a:solidFill>
                  <a:srgbClr val="FF0000"/>
                </a:solidFill>
              </a:rPr>
              <a:t>31.</a:t>
            </a:r>
            <a:r>
              <a:rPr lang="zh-CN" altLang="en-US" sz="3600" b="1" dirty="0">
                <a:solidFill>
                  <a:srgbClr val="FF0000"/>
                </a:solidFill>
              </a:rPr>
              <a:t>对</a:t>
            </a:r>
            <a:r>
              <a:rPr lang="en-US" altLang="zh-CN" sz="3600" b="1" dirty="0">
                <a:solidFill>
                  <a:srgbClr val="FF0000"/>
                </a:solidFill>
              </a:rPr>
              <a:t>…</a:t>
            </a:r>
            <a:r>
              <a:rPr lang="zh-CN" altLang="en-US" sz="3600" b="1" dirty="0">
                <a:solidFill>
                  <a:srgbClr val="FF0000"/>
                </a:solidFill>
              </a:rPr>
              <a:t>的改变 </a:t>
            </a:r>
            <a:r>
              <a:rPr lang="en-US" altLang="zh-CN" sz="3600" b="1" dirty="0">
                <a:solidFill>
                  <a:srgbClr val="FF0000"/>
                </a:solidFill>
              </a:rPr>
              <a:t>32.</a:t>
            </a:r>
            <a:r>
              <a:rPr lang="zh-CN" altLang="en-US" sz="3600" b="1" dirty="0">
                <a:solidFill>
                  <a:srgbClr val="FF0000"/>
                </a:solidFill>
              </a:rPr>
              <a:t>共产党 </a:t>
            </a:r>
            <a:r>
              <a:rPr lang="en-US" altLang="zh-CN" sz="3600" b="1" dirty="0">
                <a:solidFill>
                  <a:srgbClr val="FF0000"/>
                </a:solidFill>
              </a:rPr>
              <a:t>33.</a:t>
            </a:r>
            <a:r>
              <a:rPr lang="zh-CN" altLang="en-US" sz="3600" b="1" dirty="0">
                <a:solidFill>
                  <a:srgbClr val="FF0000"/>
                </a:solidFill>
              </a:rPr>
              <a:t>战胜侵略者 </a:t>
            </a:r>
            <a:r>
              <a:rPr lang="en-US" altLang="zh-CN" sz="3600" b="1" dirty="0">
                <a:solidFill>
                  <a:srgbClr val="FF0000"/>
                </a:solidFill>
              </a:rPr>
              <a:t>34.</a:t>
            </a:r>
            <a:r>
              <a:rPr lang="zh-CN" altLang="en-US" sz="3600" b="1" dirty="0">
                <a:solidFill>
                  <a:srgbClr val="FF0000"/>
                </a:solidFill>
              </a:rPr>
              <a:t>尤其 </a:t>
            </a:r>
            <a:r>
              <a:rPr lang="en-US" altLang="zh-CN" sz="3600" b="1" dirty="0">
                <a:solidFill>
                  <a:srgbClr val="FF0000"/>
                </a:solidFill>
              </a:rPr>
              <a:t>35.</a:t>
            </a:r>
            <a:r>
              <a:rPr lang="zh-CN" altLang="en-US" sz="3600" b="1" dirty="0">
                <a:solidFill>
                  <a:srgbClr val="FF0000"/>
                </a:solidFill>
              </a:rPr>
              <a:t>值得一提 </a:t>
            </a:r>
            <a:r>
              <a:rPr lang="en-US" altLang="zh-CN" sz="3600" b="1" dirty="0">
                <a:solidFill>
                  <a:srgbClr val="FF0000"/>
                </a:solidFill>
              </a:rPr>
              <a:t>36.</a:t>
            </a:r>
            <a:r>
              <a:rPr lang="zh-CN" altLang="en-US" sz="3600" b="1" dirty="0">
                <a:solidFill>
                  <a:srgbClr val="FF0000"/>
                </a:solidFill>
              </a:rPr>
              <a:t>在幕后 </a:t>
            </a:r>
            <a:r>
              <a:rPr lang="en-US" altLang="zh-CN" sz="3600" b="1" dirty="0">
                <a:solidFill>
                  <a:srgbClr val="FF0000"/>
                </a:solidFill>
              </a:rPr>
              <a:t>37.</a:t>
            </a:r>
            <a:r>
              <a:rPr lang="zh-CN" altLang="en-US" sz="3600" b="1" dirty="0">
                <a:solidFill>
                  <a:srgbClr val="FF0000"/>
                </a:solidFill>
              </a:rPr>
              <a:t>更加生动有趣 </a:t>
            </a:r>
            <a:r>
              <a:rPr lang="en-US" altLang="zh-CN" sz="3600" b="1" dirty="0">
                <a:solidFill>
                  <a:srgbClr val="FF0000"/>
                </a:solidFill>
              </a:rPr>
              <a:t>38.</a:t>
            </a:r>
            <a:r>
              <a:rPr lang="zh-CN" altLang="en-US" sz="3600" b="1" dirty="0">
                <a:solidFill>
                  <a:srgbClr val="FF0000"/>
                </a:solidFill>
              </a:rPr>
              <a:t>使读者能够从一个新角度看待事情</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fontScale="90000"/>
          </a:bodyPr>
          <a:lstStyle/>
          <a:p>
            <a:r>
              <a:rPr lang="en-US" altLang="zh-CN" sz="3600" b="1" dirty="0">
                <a:solidFill>
                  <a:srgbClr val="FF0000"/>
                </a:solidFill>
                <a:sym typeface="+mn-ea"/>
              </a:rPr>
              <a:t>16.</a:t>
            </a:r>
            <a:r>
              <a:rPr lang="zh-CN" altLang="en-US" sz="3600" b="1" dirty="0">
                <a:solidFill>
                  <a:srgbClr val="FF0000"/>
                </a:solidFill>
                <a:sym typeface="+mn-ea"/>
              </a:rPr>
              <a:t>依赖他们给我介绍歌曲 </a:t>
            </a:r>
            <a:r>
              <a:rPr lang="en-US" altLang="zh-CN" sz="3600" b="1" dirty="0">
                <a:solidFill>
                  <a:srgbClr val="FF0000"/>
                </a:solidFill>
                <a:sym typeface="+mn-ea"/>
              </a:rPr>
              <a:t>17.</a:t>
            </a:r>
            <a:r>
              <a:rPr lang="zh-CN" altLang="en-US" sz="3600" b="1" dirty="0">
                <a:solidFill>
                  <a:srgbClr val="FF0000"/>
                </a:solidFill>
                <a:sym typeface="+mn-ea"/>
              </a:rPr>
              <a:t>传遍整个美国 </a:t>
            </a:r>
            <a:r>
              <a:rPr lang="en-US" altLang="zh-CN" sz="3600" b="1" dirty="0">
                <a:solidFill>
                  <a:srgbClr val="FF0000"/>
                </a:solidFill>
                <a:sym typeface="+mn-ea"/>
              </a:rPr>
              <a:t>18.</a:t>
            </a:r>
            <a:r>
              <a:rPr lang="zh-CN" altLang="en-US" sz="3600" b="1" dirty="0">
                <a:solidFill>
                  <a:srgbClr val="FF0000"/>
                </a:solidFill>
                <a:sym typeface="+mn-ea"/>
              </a:rPr>
              <a:t>源于 </a:t>
            </a:r>
            <a:r>
              <a:rPr lang="en-US" altLang="zh-CN" sz="3600" b="1" dirty="0">
                <a:solidFill>
                  <a:srgbClr val="FF0000"/>
                </a:solidFill>
                <a:sym typeface="+mn-ea"/>
              </a:rPr>
              <a:t>19.</a:t>
            </a:r>
            <a:r>
              <a:rPr lang="zh-CN" altLang="en-US" sz="3600" b="1" dirty="0">
                <a:solidFill>
                  <a:srgbClr val="FF0000"/>
                </a:solidFill>
                <a:sym typeface="+mn-ea"/>
              </a:rPr>
              <a:t>歌词发人深省 </a:t>
            </a:r>
            <a:r>
              <a:rPr lang="en-US" altLang="zh-CN" sz="3600" b="1" dirty="0">
                <a:solidFill>
                  <a:srgbClr val="FF0000"/>
                </a:solidFill>
                <a:sym typeface="+mn-ea"/>
              </a:rPr>
              <a:t>20.</a:t>
            </a:r>
            <a:r>
              <a:rPr lang="zh-CN" altLang="en-US" sz="3600" b="1" dirty="0">
                <a:solidFill>
                  <a:srgbClr val="FF0000"/>
                </a:solidFill>
                <a:sym typeface="+mn-ea"/>
              </a:rPr>
              <a:t>附加了很多幽默元素 </a:t>
            </a:r>
            <a:r>
              <a:rPr lang="en-US" altLang="zh-CN" sz="3600" b="1" dirty="0">
                <a:solidFill>
                  <a:srgbClr val="FF0000"/>
                </a:solidFill>
                <a:sym typeface="+mn-ea"/>
              </a:rPr>
              <a:t>21.</a:t>
            </a:r>
            <a:r>
              <a:rPr lang="zh-CN" altLang="en-US" sz="3600" b="1" dirty="0">
                <a:solidFill>
                  <a:srgbClr val="FF0000"/>
                </a:solidFill>
                <a:sym typeface="+mn-ea"/>
              </a:rPr>
              <a:t>与音乐家之间的那种情感的联系 </a:t>
            </a:r>
            <a:r>
              <a:rPr lang="en-US" altLang="zh-CN" sz="3600" b="1" dirty="0">
                <a:solidFill>
                  <a:srgbClr val="FF0000"/>
                </a:solidFill>
                <a:sym typeface="+mn-ea"/>
              </a:rPr>
              <a:t>22.</a:t>
            </a:r>
            <a:r>
              <a:rPr lang="zh-CN" altLang="en-US" sz="3600" b="1" dirty="0">
                <a:solidFill>
                  <a:srgbClr val="FF0000"/>
                </a:solidFill>
                <a:sym typeface="+mn-ea"/>
              </a:rPr>
              <a:t>乡村静谧的绿野和质朴的生活 </a:t>
            </a:r>
            <a:r>
              <a:rPr lang="en-US" altLang="zh-CN" sz="3600" b="1" dirty="0">
                <a:solidFill>
                  <a:srgbClr val="FF0000"/>
                </a:solidFill>
                <a:sym typeface="+mn-ea"/>
              </a:rPr>
              <a:t>23.</a:t>
            </a:r>
            <a:r>
              <a:rPr lang="zh-CN" altLang="en-US" sz="3600" b="1" dirty="0">
                <a:solidFill>
                  <a:srgbClr val="FF0000"/>
                </a:solidFill>
                <a:sym typeface="+mn-ea"/>
              </a:rPr>
              <a:t>究竟是什么样子 </a:t>
            </a:r>
            <a:r>
              <a:rPr lang="en-US" altLang="zh-CN" sz="3600" b="1" dirty="0">
                <a:solidFill>
                  <a:srgbClr val="FF0000"/>
                </a:solidFill>
                <a:sym typeface="+mn-ea"/>
              </a:rPr>
              <a:t>24.</a:t>
            </a:r>
            <a:r>
              <a:rPr lang="zh-CN" altLang="en-US" sz="3600" b="1" dirty="0">
                <a:solidFill>
                  <a:srgbClr val="FF0000"/>
                </a:solidFill>
                <a:sym typeface="+mn-ea"/>
              </a:rPr>
              <a:t>身临其境 </a:t>
            </a:r>
            <a:r>
              <a:rPr lang="en-US" altLang="zh-CN" sz="3600" b="1" dirty="0">
                <a:solidFill>
                  <a:srgbClr val="FF0000"/>
                </a:solidFill>
                <a:sym typeface="+mn-ea"/>
              </a:rPr>
              <a:t>25.</a:t>
            </a:r>
            <a:r>
              <a:rPr lang="zh-CN" altLang="en-US" sz="3600" b="1" dirty="0">
                <a:solidFill>
                  <a:srgbClr val="FF0000"/>
                </a:solidFill>
                <a:sym typeface="+mn-ea"/>
              </a:rPr>
              <a:t>为什么不试试做某事 </a:t>
            </a:r>
            <a:r>
              <a:rPr lang="en-US" altLang="zh-CN" sz="3600" b="1" dirty="0">
                <a:solidFill>
                  <a:srgbClr val="FF0000"/>
                </a:solidFill>
                <a:sym typeface="+mn-ea"/>
              </a:rPr>
              <a:t>26</a:t>
            </a:r>
            <a:r>
              <a:rPr lang="zh-CN" altLang="en-US" sz="3600" b="1" dirty="0">
                <a:solidFill>
                  <a:srgbClr val="FF0000"/>
                </a:solidFill>
                <a:sym typeface="+mn-ea"/>
              </a:rPr>
              <a:t>我保重你会喜欢的 </a:t>
            </a:r>
            <a:r>
              <a:rPr lang="en-US" altLang="zh-CN" sz="3600" b="1" dirty="0">
                <a:solidFill>
                  <a:srgbClr val="FF0000"/>
                </a:solidFill>
                <a:sym typeface="+mn-ea"/>
              </a:rPr>
              <a:t>27.</a:t>
            </a:r>
            <a:r>
              <a:rPr lang="zh-CN" altLang="en-US" sz="3600" b="1" dirty="0">
                <a:solidFill>
                  <a:srgbClr val="FF0000"/>
                </a:solidFill>
                <a:sym typeface="+mn-ea"/>
              </a:rPr>
              <a:t>有能力改变生活 </a:t>
            </a:r>
            <a:r>
              <a:rPr lang="en-US" altLang="zh-CN" sz="3600" b="1" dirty="0">
                <a:solidFill>
                  <a:srgbClr val="FF0000"/>
                </a:solidFill>
                <a:sym typeface="+mn-ea"/>
              </a:rPr>
              <a:t>28.</a:t>
            </a:r>
            <a:r>
              <a:rPr lang="zh-CN" altLang="en-US" sz="3600" b="1" dirty="0">
                <a:solidFill>
                  <a:srgbClr val="FF0000"/>
                </a:solidFill>
                <a:sym typeface="+mn-ea"/>
              </a:rPr>
              <a:t>让公众更方便接触音乐 </a:t>
            </a:r>
            <a:r>
              <a:rPr lang="en-US" altLang="zh-CN" sz="3600" b="1" dirty="0">
                <a:solidFill>
                  <a:srgbClr val="FF0000"/>
                </a:solidFill>
                <a:sym typeface="+mn-ea"/>
              </a:rPr>
              <a:t>29.</a:t>
            </a:r>
            <a:r>
              <a:rPr lang="zh-CN" altLang="en-US" sz="3600" b="1" dirty="0">
                <a:solidFill>
                  <a:srgbClr val="FF0000"/>
                </a:solidFill>
                <a:sym typeface="+mn-ea"/>
              </a:rPr>
              <a:t>举办一系列免费音乐会 </a:t>
            </a:r>
            <a:r>
              <a:rPr lang="en-US" altLang="zh-CN" sz="3600" b="1" dirty="0">
                <a:solidFill>
                  <a:srgbClr val="FF0000"/>
                </a:solidFill>
                <a:sym typeface="+mn-ea"/>
              </a:rPr>
              <a:t>30.</a:t>
            </a:r>
            <a:r>
              <a:rPr lang="zh-CN" altLang="en-US" sz="3600" b="1" dirty="0">
                <a:solidFill>
                  <a:srgbClr val="FF0000"/>
                </a:solidFill>
                <a:sym typeface="+mn-ea"/>
              </a:rPr>
              <a:t>古典音乐 </a:t>
            </a:r>
            <a:r>
              <a:rPr lang="en-US" altLang="zh-CN" sz="3600" b="1" dirty="0">
                <a:solidFill>
                  <a:srgbClr val="FF0000"/>
                </a:solidFill>
                <a:sym typeface="+mn-ea"/>
              </a:rPr>
              <a:t>31.</a:t>
            </a:r>
            <a:r>
              <a:rPr lang="zh-CN" altLang="en-US" sz="3600" b="1" dirty="0">
                <a:solidFill>
                  <a:srgbClr val="FF0000"/>
                </a:solidFill>
                <a:sym typeface="+mn-ea"/>
              </a:rPr>
              <a:t>对</a:t>
            </a:r>
            <a:r>
              <a:rPr lang="en-US" altLang="zh-CN" sz="3600" b="1" dirty="0">
                <a:solidFill>
                  <a:srgbClr val="FF0000"/>
                </a:solidFill>
                <a:sym typeface="+mn-ea"/>
              </a:rPr>
              <a:t>…</a:t>
            </a:r>
            <a:r>
              <a:rPr lang="zh-CN" altLang="en-US" sz="3600" b="1" dirty="0">
                <a:solidFill>
                  <a:srgbClr val="FF0000"/>
                </a:solidFill>
                <a:sym typeface="+mn-ea"/>
              </a:rPr>
              <a:t>的改变 </a:t>
            </a:r>
            <a:r>
              <a:rPr lang="en-US" altLang="zh-CN" sz="3600" b="1" dirty="0">
                <a:solidFill>
                  <a:srgbClr val="FF0000"/>
                </a:solidFill>
                <a:sym typeface="+mn-ea"/>
              </a:rPr>
              <a:t>32.</a:t>
            </a:r>
            <a:r>
              <a:rPr lang="zh-CN" altLang="en-US" sz="3600" b="1" dirty="0">
                <a:solidFill>
                  <a:srgbClr val="FF0000"/>
                </a:solidFill>
                <a:sym typeface="+mn-ea"/>
              </a:rPr>
              <a:t>共产党 </a:t>
            </a:r>
            <a:r>
              <a:rPr lang="en-US" altLang="zh-CN" sz="3600" b="1" dirty="0">
                <a:solidFill>
                  <a:srgbClr val="FF0000"/>
                </a:solidFill>
                <a:sym typeface="+mn-ea"/>
              </a:rPr>
              <a:t>33.</a:t>
            </a:r>
            <a:r>
              <a:rPr lang="zh-CN" altLang="en-US" sz="3600" b="1" dirty="0">
                <a:solidFill>
                  <a:srgbClr val="FF0000"/>
                </a:solidFill>
                <a:sym typeface="+mn-ea"/>
              </a:rPr>
              <a:t>战胜侵略者 </a:t>
            </a:r>
            <a:r>
              <a:rPr lang="en-US" altLang="zh-CN" sz="3600" b="1" dirty="0">
                <a:solidFill>
                  <a:srgbClr val="FF0000"/>
                </a:solidFill>
                <a:sym typeface="+mn-ea"/>
              </a:rPr>
              <a:t>34.</a:t>
            </a:r>
            <a:r>
              <a:rPr lang="zh-CN" altLang="en-US" sz="3600" b="1" dirty="0">
                <a:solidFill>
                  <a:srgbClr val="FF0000"/>
                </a:solidFill>
                <a:sym typeface="+mn-ea"/>
              </a:rPr>
              <a:t>尤其 </a:t>
            </a:r>
            <a:r>
              <a:rPr lang="en-US" altLang="zh-CN" sz="3600" b="1" dirty="0">
                <a:solidFill>
                  <a:srgbClr val="FF0000"/>
                </a:solidFill>
                <a:sym typeface="+mn-ea"/>
              </a:rPr>
              <a:t>35.</a:t>
            </a:r>
            <a:r>
              <a:rPr lang="zh-CN" altLang="en-US" sz="3600" b="1" dirty="0">
                <a:solidFill>
                  <a:srgbClr val="FF0000"/>
                </a:solidFill>
                <a:sym typeface="+mn-ea"/>
              </a:rPr>
              <a:t>值得一提 </a:t>
            </a:r>
            <a:r>
              <a:rPr lang="en-US" altLang="zh-CN" sz="3600" b="1" dirty="0">
                <a:solidFill>
                  <a:srgbClr val="FF0000"/>
                </a:solidFill>
                <a:sym typeface="+mn-ea"/>
              </a:rPr>
              <a:t>36.</a:t>
            </a:r>
            <a:r>
              <a:rPr lang="zh-CN" altLang="en-US" sz="3600" b="1" dirty="0">
                <a:solidFill>
                  <a:srgbClr val="FF0000"/>
                </a:solidFill>
                <a:sym typeface="+mn-ea"/>
              </a:rPr>
              <a:t>在幕后 </a:t>
            </a:r>
            <a:r>
              <a:rPr lang="en-US" altLang="zh-CN" sz="3600" b="1" dirty="0">
                <a:solidFill>
                  <a:srgbClr val="FF0000"/>
                </a:solidFill>
                <a:sym typeface="+mn-ea"/>
              </a:rPr>
              <a:t>37.</a:t>
            </a:r>
            <a:r>
              <a:rPr lang="zh-CN" altLang="en-US" sz="3600" b="1" dirty="0">
                <a:solidFill>
                  <a:srgbClr val="FF0000"/>
                </a:solidFill>
                <a:sym typeface="+mn-ea"/>
              </a:rPr>
              <a:t>更加生动有趣 </a:t>
            </a:r>
            <a:r>
              <a:rPr lang="en-US" altLang="zh-CN" sz="3600" b="1" dirty="0">
                <a:solidFill>
                  <a:srgbClr val="FF0000"/>
                </a:solidFill>
                <a:sym typeface="+mn-ea"/>
              </a:rPr>
              <a:t>38.</a:t>
            </a:r>
            <a:r>
              <a:rPr lang="zh-CN" altLang="en-US" sz="3600" b="1" dirty="0">
                <a:solidFill>
                  <a:srgbClr val="FF0000"/>
                </a:solidFill>
                <a:sym typeface="+mn-ea"/>
              </a:rPr>
              <a:t>使读者能够从一个新角度看待事情</a:t>
            </a:r>
            <a:endParaRPr lang="zh-CN" altLang="en-US" sz="3600" b="1" dirty="0">
              <a:solidFill>
                <a:srgbClr val="FF0000"/>
              </a:solidFill>
            </a:endParaRPr>
          </a:p>
          <a:p>
            <a:r>
              <a:rPr lang="en-US" altLang="zh-CN" sz="4000" b="1" dirty="0">
                <a:solidFill>
                  <a:srgbClr val="7030A0"/>
                </a:solidFill>
              </a:rPr>
              <a:t>P20-23 1.</a:t>
            </a:r>
            <a:r>
              <a:rPr lang="zh-CN" altLang="en-US" sz="4000" b="1" dirty="0">
                <a:solidFill>
                  <a:srgbClr val="7030A0"/>
                </a:solidFill>
              </a:rPr>
              <a:t>高度评价</a:t>
            </a:r>
            <a:r>
              <a:rPr lang="en-US" altLang="zh-CN" sz="4000" b="1" dirty="0">
                <a:solidFill>
                  <a:srgbClr val="7030A0"/>
                </a:solidFill>
              </a:rPr>
              <a:t> 2.</a:t>
            </a:r>
            <a:r>
              <a:rPr lang="zh-CN" altLang="en-US" sz="4000" b="1" dirty="0">
                <a:solidFill>
                  <a:srgbClr val="7030A0"/>
                </a:solidFill>
              </a:rPr>
              <a:t>山脉</a:t>
            </a:r>
            <a:r>
              <a:rPr lang="en-US" altLang="zh-CN" sz="4000" b="1" dirty="0">
                <a:solidFill>
                  <a:srgbClr val="7030A0"/>
                </a:solidFill>
              </a:rPr>
              <a:t> 3.</a:t>
            </a:r>
            <a:r>
              <a:rPr lang="zh-CN" altLang="en-US" sz="4000" b="1" dirty="0">
                <a:solidFill>
                  <a:srgbClr val="7030A0"/>
                </a:solidFill>
              </a:rPr>
              <a:t>未能出现</a:t>
            </a:r>
            <a:r>
              <a:rPr lang="en-US" altLang="zh-CN" sz="4000" b="1" dirty="0">
                <a:solidFill>
                  <a:srgbClr val="7030A0"/>
                </a:solidFill>
              </a:rPr>
              <a:t> 4.</a:t>
            </a:r>
            <a:r>
              <a:rPr lang="zh-CN" altLang="en-US" sz="4000" b="1" dirty="0">
                <a:solidFill>
                  <a:srgbClr val="7030A0"/>
                </a:solidFill>
              </a:rPr>
              <a:t>被悲伤笼罩</a:t>
            </a:r>
            <a:r>
              <a:rPr lang="en-US" altLang="zh-CN" sz="4000" b="1" dirty="0">
                <a:solidFill>
                  <a:srgbClr val="7030A0"/>
                </a:solidFill>
              </a:rPr>
              <a:t> 5.</a:t>
            </a:r>
            <a:r>
              <a:rPr lang="zh-CN" altLang="en-US" sz="4000" b="1" dirty="0">
                <a:solidFill>
                  <a:srgbClr val="7030A0"/>
                </a:solidFill>
              </a:rPr>
              <a:t>做某事没有意义</a:t>
            </a:r>
            <a:r>
              <a:rPr lang="en-US" altLang="zh-CN" sz="4000" b="1" dirty="0">
                <a:solidFill>
                  <a:srgbClr val="7030A0"/>
                </a:solidFill>
              </a:rPr>
              <a:t>6.</a:t>
            </a:r>
            <a:r>
              <a:rPr lang="zh-CN" altLang="en-US" sz="4000" b="1" dirty="0">
                <a:solidFill>
                  <a:srgbClr val="7030A0"/>
                </a:solidFill>
              </a:rPr>
              <a:t>有能力做某事</a:t>
            </a:r>
            <a:r>
              <a:rPr lang="en-US" altLang="zh-CN" sz="4000" b="1" dirty="0">
                <a:solidFill>
                  <a:srgbClr val="7030A0"/>
                </a:solidFill>
              </a:rPr>
              <a:t> 7.</a:t>
            </a:r>
            <a:r>
              <a:rPr lang="zh-CN" altLang="en-US" sz="4000" b="1" dirty="0">
                <a:solidFill>
                  <a:srgbClr val="7030A0"/>
                </a:solidFill>
              </a:rPr>
              <a:t>太阳系</a:t>
            </a:r>
            <a:r>
              <a:rPr lang="en-US" altLang="zh-CN" sz="4000" b="1" dirty="0">
                <a:solidFill>
                  <a:srgbClr val="7030A0"/>
                </a:solidFill>
              </a:rPr>
              <a:t> 8.</a:t>
            </a:r>
            <a:r>
              <a:rPr lang="zh-CN" altLang="en-US" sz="4000" b="1" dirty="0">
                <a:solidFill>
                  <a:srgbClr val="7030A0"/>
                </a:solidFill>
              </a:rPr>
              <a:t>开始着手做某事</a:t>
            </a:r>
            <a:r>
              <a:rPr lang="en-US" altLang="zh-CN" sz="4000" b="1" dirty="0">
                <a:solidFill>
                  <a:srgbClr val="7030A0"/>
                </a:solidFill>
              </a:rPr>
              <a:t> 9.</a:t>
            </a:r>
            <a:r>
              <a:rPr lang="zh-CN" altLang="en-US" sz="4000" b="1" dirty="0">
                <a:solidFill>
                  <a:srgbClr val="7030A0"/>
                </a:solidFill>
              </a:rPr>
              <a:t>做某事有困难</a:t>
            </a:r>
            <a:r>
              <a:rPr lang="en-US" altLang="zh-CN" sz="4000" b="1" dirty="0">
                <a:solidFill>
                  <a:srgbClr val="7030A0"/>
                </a:solidFill>
              </a:rPr>
              <a:t> 10.</a:t>
            </a:r>
            <a:r>
              <a:rPr lang="zh-CN" altLang="en-US" sz="4000" b="1" dirty="0">
                <a:solidFill>
                  <a:srgbClr val="7030A0"/>
                </a:solidFill>
              </a:rPr>
              <a:t>最终</a:t>
            </a:r>
            <a:r>
              <a:rPr lang="en-US" altLang="zh-CN" sz="4000" b="1" dirty="0">
                <a:solidFill>
                  <a:srgbClr val="7030A0"/>
                </a:solidFill>
              </a:rPr>
              <a:t> 11.</a:t>
            </a:r>
            <a:r>
              <a:rPr lang="zh-CN" altLang="en-US" sz="4000" b="1" dirty="0">
                <a:solidFill>
                  <a:srgbClr val="7030A0"/>
                </a:solidFill>
              </a:rPr>
              <a:t>在遥远的星球上</a:t>
            </a:r>
            <a:r>
              <a:rPr lang="en-US" altLang="zh-CN" sz="4000" b="1" dirty="0">
                <a:solidFill>
                  <a:srgbClr val="7030A0"/>
                </a:solidFill>
              </a:rPr>
              <a:t> 12.</a:t>
            </a:r>
            <a:r>
              <a:rPr lang="zh-CN" altLang="en-US" sz="4000" b="1" dirty="0">
                <a:solidFill>
                  <a:srgbClr val="7030A0"/>
                </a:solidFill>
              </a:rPr>
              <a:t>调高音量</a:t>
            </a:r>
            <a:r>
              <a:rPr lang="en-US" altLang="zh-CN" sz="4000" b="1" dirty="0">
                <a:solidFill>
                  <a:srgbClr val="7030A0"/>
                </a:solidFill>
              </a:rPr>
              <a:t> 13.</a:t>
            </a:r>
            <a:r>
              <a:rPr lang="zh-CN" altLang="en-US" sz="4000" b="1" dirty="0">
                <a:solidFill>
                  <a:srgbClr val="7030A0"/>
                </a:solidFill>
              </a:rPr>
              <a:t>凝视</a:t>
            </a:r>
            <a:r>
              <a:rPr lang="en-US" altLang="zh-CN" sz="4000" b="1" dirty="0">
                <a:solidFill>
                  <a:srgbClr val="7030A0"/>
                </a:solidFill>
              </a:rPr>
              <a:t> 14.</a:t>
            </a:r>
            <a:r>
              <a:rPr lang="zh-CN" altLang="en-US" sz="4000" b="1" dirty="0">
                <a:solidFill>
                  <a:srgbClr val="7030A0"/>
                </a:solidFill>
              </a:rPr>
              <a:t>屏住呼吸</a:t>
            </a:r>
            <a:r>
              <a:rPr lang="en-US" altLang="zh-CN" sz="4000" b="1" dirty="0">
                <a:solidFill>
                  <a:srgbClr val="7030A0"/>
                </a:solidFill>
              </a:rPr>
              <a:t> 15.</a:t>
            </a:r>
            <a:r>
              <a:rPr lang="zh-CN" altLang="en-US" sz="4000" b="1" dirty="0">
                <a:solidFill>
                  <a:srgbClr val="7030A0"/>
                </a:solidFill>
              </a:rPr>
              <a:t>并不罕见</a:t>
            </a:r>
            <a:r>
              <a:rPr lang="en-US" altLang="zh-CN" sz="4000" b="1" dirty="0">
                <a:solidFill>
                  <a:srgbClr val="7030A0"/>
                </a:solidFill>
              </a:rPr>
              <a:t> 16.</a:t>
            </a:r>
            <a:r>
              <a:rPr lang="zh-CN" altLang="en-US" sz="4000" b="1" dirty="0">
                <a:solidFill>
                  <a:srgbClr val="7030A0"/>
                </a:solidFill>
              </a:rPr>
              <a:t>花时间揭示</a:t>
            </a:r>
            <a:r>
              <a:rPr lang="en-US" altLang="zh-CN" sz="4000" b="1" dirty="0">
                <a:solidFill>
                  <a:srgbClr val="7030A0"/>
                </a:solidFill>
              </a:rPr>
              <a:t>…</a:t>
            </a:r>
            <a:r>
              <a:rPr lang="zh-CN" altLang="en-US" sz="4000" b="1" dirty="0">
                <a:solidFill>
                  <a:srgbClr val="7030A0"/>
                </a:solidFill>
              </a:rPr>
              <a:t>的美</a:t>
            </a:r>
            <a:r>
              <a:rPr lang="en-US" altLang="zh-CN" sz="4000" b="1" dirty="0">
                <a:solidFill>
                  <a:srgbClr val="7030A0"/>
                </a:solidFill>
              </a:rPr>
              <a:t> 17.</a:t>
            </a:r>
            <a:r>
              <a:rPr lang="zh-CN" altLang="en-US" sz="4000" b="1" dirty="0">
                <a:solidFill>
                  <a:srgbClr val="7030A0"/>
                </a:solidFill>
              </a:rPr>
              <a:t>迫不及待做某事</a:t>
            </a:r>
            <a:r>
              <a:rPr lang="en-US" altLang="zh-CN" sz="4000" b="1" dirty="0">
                <a:solidFill>
                  <a:srgbClr val="7030A0"/>
                </a:solidFill>
              </a:rPr>
              <a:t> 18.</a:t>
            </a:r>
            <a:r>
              <a:rPr lang="zh-CN" altLang="en-US" sz="4000" b="1" dirty="0">
                <a:solidFill>
                  <a:srgbClr val="7030A0"/>
                </a:solidFill>
              </a:rPr>
              <a:t>抓住注意力</a:t>
            </a:r>
            <a:r>
              <a:rPr lang="en-US" altLang="zh-CN" sz="4000" b="1" dirty="0">
                <a:solidFill>
                  <a:srgbClr val="7030A0"/>
                </a:solidFill>
              </a:rPr>
              <a:t> 19.</a:t>
            </a:r>
            <a:r>
              <a:rPr lang="zh-CN" altLang="en-US" sz="4000" b="1" dirty="0">
                <a:solidFill>
                  <a:srgbClr val="7030A0"/>
                </a:solidFill>
              </a:rPr>
              <a:t>席卷</a:t>
            </a:r>
            <a:r>
              <a:rPr lang="en-US" altLang="zh-CN" sz="4000" b="1" dirty="0">
                <a:solidFill>
                  <a:srgbClr val="7030A0"/>
                </a:solidFill>
              </a:rPr>
              <a:t>,</a:t>
            </a:r>
            <a:r>
              <a:rPr lang="zh-CN" altLang="en-US" sz="4000" b="1" dirty="0">
                <a:solidFill>
                  <a:srgbClr val="7030A0"/>
                </a:solidFill>
              </a:rPr>
              <a:t>醉心于</a:t>
            </a:r>
            <a:r>
              <a:rPr lang="en-US" altLang="zh-CN" sz="4000" b="1" dirty="0">
                <a:solidFill>
                  <a:srgbClr val="7030A0"/>
                </a:solidFill>
              </a:rPr>
              <a:t> 20.</a:t>
            </a:r>
            <a:r>
              <a:rPr lang="zh-CN" altLang="en-US" sz="4000" b="1" dirty="0">
                <a:solidFill>
                  <a:srgbClr val="7030A0"/>
                </a:solidFill>
              </a:rPr>
              <a:t>更加复杂和新潮的</a:t>
            </a:r>
            <a:r>
              <a:rPr lang="en-US" altLang="zh-CN" sz="4000" b="1" dirty="0">
                <a:solidFill>
                  <a:srgbClr val="7030A0"/>
                </a:solidFill>
              </a:rPr>
              <a:t> 16.</a:t>
            </a:r>
            <a:r>
              <a:rPr lang="zh-CN" altLang="en-US" sz="4000" b="1" dirty="0">
                <a:solidFill>
                  <a:srgbClr val="7030A0"/>
                </a:solidFill>
              </a:rPr>
              <a:t>被带回</a:t>
            </a:r>
            <a:r>
              <a:rPr lang="en-US" altLang="zh-CN" sz="4000" b="1" dirty="0">
                <a:solidFill>
                  <a:srgbClr val="7030A0"/>
                </a:solidFill>
              </a:rPr>
              <a:t> 21.</a:t>
            </a:r>
            <a:r>
              <a:rPr lang="zh-CN" altLang="en-US" sz="4000" b="1" dirty="0">
                <a:solidFill>
                  <a:srgbClr val="7030A0"/>
                </a:solidFill>
              </a:rPr>
              <a:t>被装饰的</a:t>
            </a:r>
            <a:r>
              <a:rPr lang="en-US" altLang="zh-CN" sz="4000" b="1" dirty="0">
                <a:solidFill>
                  <a:srgbClr val="7030A0"/>
                </a:solidFill>
              </a:rPr>
              <a:t> 22.</a:t>
            </a:r>
            <a:r>
              <a:rPr lang="zh-CN" altLang="en-US" sz="4000" b="1" dirty="0">
                <a:solidFill>
                  <a:srgbClr val="7030A0"/>
                </a:solidFill>
              </a:rPr>
              <a:t>最高音量</a:t>
            </a:r>
            <a:r>
              <a:rPr lang="en-US" altLang="zh-CN" sz="4000" b="1" dirty="0">
                <a:solidFill>
                  <a:srgbClr val="7030A0"/>
                </a:solidFill>
              </a:rPr>
              <a:t> 23.</a:t>
            </a:r>
            <a:r>
              <a:rPr lang="zh-CN" altLang="en-US" sz="4000" b="1" dirty="0">
                <a:solidFill>
                  <a:srgbClr val="7030A0"/>
                </a:solidFill>
              </a:rPr>
              <a:t>陪伴某人一生</a:t>
            </a:r>
            <a:r>
              <a:rPr lang="en-US" altLang="zh-CN" sz="4000" b="1" dirty="0">
                <a:solidFill>
                  <a:srgbClr val="7030A0"/>
                </a:solidFill>
              </a:rPr>
              <a:t> 24.</a:t>
            </a:r>
            <a:r>
              <a:rPr lang="zh-CN" altLang="en-US" sz="4000" b="1" dirty="0">
                <a:solidFill>
                  <a:srgbClr val="7030A0"/>
                </a:solidFill>
              </a:rPr>
              <a:t>憧憬未来</a:t>
            </a:r>
            <a:r>
              <a:rPr lang="en-US" altLang="zh-CN" sz="4000" b="1" dirty="0">
                <a:solidFill>
                  <a:srgbClr val="7030A0"/>
                </a:solidFill>
              </a:rPr>
              <a:t> 25.</a:t>
            </a:r>
            <a:r>
              <a:rPr lang="zh-CN" altLang="en-US" sz="4000" b="1" dirty="0">
                <a:solidFill>
                  <a:srgbClr val="7030A0"/>
                </a:solidFill>
              </a:rPr>
              <a:t>满足地反思</a:t>
            </a:r>
            <a:r>
              <a:rPr lang="en-US" altLang="zh-CN" sz="4000" b="1" dirty="0">
                <a:solidFill>
                  <a:srgbClr val="7030A0"/>
                </a:solidFill>
              </a:rPr>
              <a:t> </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fontScale="92500" lnSpcReduction="10000"/>
          </a:bodyPr>
          <a:lstStyle/>
          <a:p>
            <a:pPr marL="0" indent="0" algn="just">
              <a:lnSpc>
                <a:spcPct val="100000"/>
              </a:lnSpc>
              <a:spcBef>
                <a:spcPct val="0"/>
              </a:spcBef>
              <a:buNone/>
            </a:pPr>
            <a:r>
              <a:rPr lang="en-US" altLang="zh-CN" sz="3600" b="1" kern="100" dirty="0">
                <a:solidFill>
                  <a:srgbClr val="FF0000"/>
                </a:solidFill>
                <a:latin typeface="Times New Roman" panose="02020603050405020304" pitchFamily="18" charset="0"/>
                <a:cs typeface="Times New Roman" panose="02020603050405020304" pitchFamily="18" charset="0"/>
              </a:rPr>
              <a:t>U2</a:t>
            </a:r>
            <a:r>
              <a:rPr lang="zh-CN" altLang="en-US" sz="3600" b="1" kern="100" dirty="0">
                <a:solidFill>
                  <a:srgbClr val="FF0000"/>
                </a:solidFill>
                <a:latin typeface="Times New Roman" panose="02020603050405020304" pitchFamily="18" charset="0"/>
                <a:cs typeface="Times New Roman" panose="02020603050405020304" pitchFamily="18" charset="0"/>
              </a:rPr>
              <a:t>词汇</a:t>
            </a:r>
            <a:r>
              <a:rPr lang="en-US" altLang="zh-CN" sz="3600" b="1" kern="100" dirty="0">
                <a:solidFill>
                  <a:srgbClr val="FF0000"/>
                </a:solidFill>
                <a:latin typeface="Times New Roman" panose="02020603050405020304" pitchFamily="18" charset="0"/>
                <a:cs typeface="Times New Roman" panose="02020603050405020304" pitchFamily="18" charset="0"/>
              </a:rPr>
              <a:t>1.</a:t>
            </a:r>
            <a:r>
              <a:rPr lang="zh-CN" altLang="zh-CN" sz="3600" b="1" kern="100" dirty="0">
                <a:solidFill>
                  <a:srgbClr val="FF0000"/>
                </a:solidFill>
                <a:latin typeface="Times New Roman" panose="02020603050405020304" pitchFamily="18" charset="0"/>
                <a:cs typeface="Times New Roman" panose="02020603050405020304" pitchFamily="18" charset="0"/>
              </a:rPr>
              <a:t>由</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zh-CN" sz="3600" b="1" kern="100" dirty="0">
                <a:solidFill>
                  <a:srgbClr val="FF0000"/>
                </a:solidFill>
                <a:latin typeface="Times New Roman" panose="02020603050405020304" pitchFamily="18" charset="0"/>
                <a:cs typeface="Times New Roman" panose="02020603050405020304" pitchFamily="18" charset="0"/>
              </a:rPr>
              <a:t>组成</a:t>
            </a:r>
            <a:r>
              <a:rPr lang="en-US" altLang="zh-CN" sz="3600" b="1" kern="100" dirty="0">
                <a:solidFill>
                  <a:srgbClr val="FF0000"/>
                </a:solidFill>
                <a:latin typeface="Times New Roman" panose="02020603050405020304" pitchFamily="18" charset="0"/>
                <a:cs typeface="Times New Roman" panose="02020603050405020304" pitchFamily="18" charset="0"/>
              </a:rPr>
              <a:t>(3</a:t>
            </a:r>
            <a:r>
              <a:rPr lang="zh-CN" altLang="en-US" sz="3600" b="1" kern="100" dirty="0">
                <a:solidFill>
                  <a:srgbClr val="FF0000"/>
                </a:solidFill>
                <a:latin typeface="Times New Roman" panose="02020603050405020304" pitchFamily="18" charset="0"/>
                <a:cs typeface="Times New Roman" panose="02020603050405020304" pitchFamily="18" charset="0"/>
              </a:rPr>
              <a:t>个</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zh-CN" sz="3600" b="1" kern="100" dirty="0">
                <a:solidFill>
                  <a:srgbClr val="FF0000"/>
                </a:solidFill>
                <a:latin typeface="Times New Roman" panose="02020603050405020304" pitchFamily="18" charset="0"/>
                <a:cs typeface="Times New Roman" panose="02020603050405020304" pitchFamily="18" charset="0"/>
              </a:rPr>
              <a:t>使自己镇定下来</a:t>
            </a:r>
            <a:r>
              <a:rPr lang="en-US" altLang="zh-CN" sz="3600" b="1" kern="100" dirty="0">
                <a:solidFill>
                  <a:srgbClr val="FF0000"/>
                </a:solidFill>
                <a:latin typeface="Times New Roman" panose="02020603050405020304" pitchFamily="18" charset="0"/>
                <a:cs typeface="Times New Roman" panose="02020603050405020304" pitchFamily="18" charset="0"/>
              </a:rPr>
              <a:t>;__n.</a:t>
            </a:r>
            <a:r>
              <a:rPr lang="zh-CN" altLang="zh-CN" sz="3600" b="1" dirty="0">
                <a:solidFill>
                  <a:srgbClr val="FF0000"/>
                </a:solidFill>
                <a:latin typeface="+mn-ea"/>
                <a:cs typeface="Times New Roman" panose="02020603050405020304" pitchFamily="18" charset="0"/>
              </a:rPr>
              <a:t>组成构成创作</a:t>
            </a:r>
            <a:r>
              <a:rPr lang="en-US" altLang="zh-CN" sz="3600" b="1" dirty="0">
                <a:solidFill>
                  <a:srgbClr val="FF0000"/>
                </a:solidFill>
                <a:latin typeface="+mn-ea"/>
                <a:cs typeface="Times New Roman" panose="02020603050405020304" pitchFamily="18" charset="0"/>
              </a:rPr>
              <a:t>;</a:t>
            </a:r>
            <a:r>
              <a:rPr lang="zh-CN" altLang="zh-CN" sz="3600" b="1" dirty="0">
                <a:solidFill>
                  <a:srgbClr val="FF0000"/>
                </a:solidFill>
                <a:latin typeface="+mn-ea"/>
                <a:cs typeface="Times New Roman" panose="02020603050405020304" pitchFamily="18" charset="0"/>
              </a:rPr>
              <a:t>作品</a:t>
            </a:r>
            <a:r>
              <a:rPr lang="en-US" altLang="zh-CN" sz="3600" b="1" dirty="0">
                <a:solidFill>
                  <a:srgbClr val="FF0000"/>
                </a:solidFill>
                <a:latin typeface="+mn-ea"/>
                <a:cs typeface="Times New Roman" panose="02020603050405020304" pitchFamily="18" charset="0"/>
              </a:rPr>
              <a:t> 2.</a:t>
            </a:r>
            <a:r>
              <a:rPr lang="zh-CN" altLang="en-US" sz="3600" b="1" kern="100" dirty="0">
                <a:solidFill>
                  <a:srgbClr val="FF0000"/>
                </a:solidFill>
                <a:latin typeface="Times New Roman" panose="02020603050405020304" pitchFamily="18" charset="0"/>
                <a:cs typeface="Times New Roman" panose="02020603050405020304" pitchFamily="18" charset="0"/>
              </a:rPr>
              <a:t>值得被做</a:t>
            </a:r>
            <a:r>
              <a:rPr lang="en-US" altLang="zh-CN" sz="3600" b="1" kern="100" dirty="0">
                <a:solidFill>
                  <a:srgbClr val="FF0000"/>
                </a:solidFill>
                <a:latin typeface="Times New Roman" panose="02020603050405020304" pitchFamily="18" charset="0"/>
                <a:cs typeface="Times New Roman" panose="02020603050405020304" pitchFamily="18" charset="0"/>
              </a:rPr>
              <a:t>(2</a:t>
            </a:r>
            <a:r>
              <a:rPr lang="zh-CN" altLang="en-US" sz="3600" b="1" kern="100" dirty="0">
                <a:solidFill>
                  <a:srgbClr val="FF0000"/>
                </a:solidFill>
                <a:latin typeface="Times New Roman" panose="02020603050405020304" pitchFamily="18" charset="0"/>
                <a:cs typeface="Times New Roman" panose="02020603050405020304" pitchFamily="18" charset="0"/>
              </a:rPr>
              <a:t>个</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应该做</a:t>
            </a:r>
            <a:r>
              <a:rPr lang="en-US" altLang="zh-CN" sz="3600" b="1" kern="100" dirty="0">
                <a:solidFill>
                  <a:srgbClr val="FF0000"/>
                </a:solidFill>
                <a:latin typeface="Times New Roman" panose="02020603050405020304" pitchFamily="18" charset="0"/>
                <a:cs typeface="Times New Roman" panose="02020603050405020304" pitchFamily="18" charset="0"/>
              </a:rPr>
              <a:t>;__a.</a:t>
            </a:r>
            <a:r>
              <a:rPr lang="zh-CN" altLang="en-US" sz="3600" b="1" kern="100" dirty="0">
                <a:solidFill>
                  <a:srgbClr val="FF0000"/>
                </a:solidFill>
                <a:latin typeface="Times New Roman" panose="02020603050405020304" pitchFamily="18" charset="0"/>
                <a:cs typeface="Times New Roman" panose="02020603050405020304" pitchFamily="18" charset="0"/>
              </a:rPr>
              <a:t>应得的 </a:t>
            </a:r>
            <a:r>
              <a:rPr lang="en-US" altLang="zh-CN" sz="3600" b="1" kern="100" dirty="0">
                <a:solidFill>
                  <a:srgbClr val="FF0000"/>
                </a:solidFill>
                <a:latin typeface="Times New Roman" panose="02020603050405020304" pitchFamily="18" charset="0"/>
                <a:cs typeface="Times New Roman" panose="02020603050405020304" pitchFamily="18" charset="0"/>
              </a:rPr>
              <a:t>3.</a:t>
            </a:r>
            <a:r>
              <a:rPr lang="zh-CN" altLang="en-US" sz="3600" b="1" kern="100" dirty="0">
                <a:solidFill>
                  <a:srgbClr val="FF0000"/>
                </a:solidFill>
                <a:latin typeface="Times New Roman" panose="02020603050405020304" pitchFamily="18" charset="0"/>
                <a:cs typeface="Times New Roman" panose="02020603050405020304" pitchFamily="18" charset="0"/>
              </a:rPr>
              <a:t>使分离</a:t>
            </a:r>
            <a:r>
              <a:rPr lang="en-US" altLang="zh-CN" sz="3600" b="1" kern="100" dirty="0">
                <a:solidFill>
                  <a:srgbClr val="FF0000"/>
                </a:solidFill>
                <a:latin typeface="Times New Roman" panose="02020603050405020304" pitchFamily="18" charset="0"/>
                <a:cs typeface="Times New Roman" panose="02020603050405020304" pitchFamily="18" charset="0"/>
              </a:rPr>
              <a:t>tear(__,__);</a:t>
            </a:r>
            <a:r>
              <a:rPr lang="zh-CN" altLang="en-US" sz="3600" b="1" kern="100" dirty="0">
                <a:solidFill>
                  <a:srgbClr val="FF0000"/>
                </a:solidFill>
                <a:latin typeface="Times New Roman" panose="02020603050405020304" pitchFamily="18" charset="0"/>
                <a:cs typeface="Times New Roman" panose="02020603050405020304" pitchFamily="18" charset="0"/>
              </a:rPr>
              <a:t>依依不舍地离开</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突然大哭</a:t>
            </a:r>
            <a:r>
              <a:rPr lang="en-US" altLang="zh-CN" sz="3600" b="1" kern="100" dirty="0">
                <a:solidFill>
                  <a:srgbClr val="FF0000"/>
                </a:solidFill>
                <a:latin typeface="Times New Roman" panose="02020603050405020304" pitchFamily="18" charset="0"/>
                <a:cs typeface="Times New Roman" panose="02020603050405020304" pitchFamily="18" charset="0"/>
              </a:rPr>
              <a:t>;fall apart</a:t>
            </a:r>
            <a:r>
              <a:rPr lang="zh-CN" altLang="en-US" sz="3600" b="1" kern="100" dirty="0">
                <a:solidFill>
                  <a:srgbClr val="FF0000"/>
                </a:solidFill>
                <a:latin typeface="Times New Roman" panose="02020603050405020304" pitchFamily="18" charset="0"/>
                <a:cs typeface="Times New Roman" panose="02020603050405020304" pitchFamily="18" charset="0"/>
              </a:rPr>
              <a:t>翻译</a:t>
            </a:r>
            <a:r>
              <a:rPr lang="en-US" altLang="zh-CN" sz="3600" b="1" kern="100" dirty="0">
                <a:solidFill>
                  <a:srgbClr val="FF0000"/>
                </a:solidFill>
                <a:latin typeface="Times New Roman" panose="02020603050405020304" pitchFamily="18" charset="0"/>
                <a:cs typeface="Times New Roman" panose="02020603050405020304" pitchFamily="18" charset="0"/>
              </a:rPr>
              <a:t>; tell apart</a:t>
            </a:r>
            <a:r>
              <a:rPr lang="zh-CN" altLang="en-US" sz="3600" b="1" kern="100" dirty="0">
                <a:solidFill>
                  <a:srgbClr val="FF0000"/>
                </a:solidFill>
                <a:latin typeface="Times New Roman" panose="02020603050405020304" pitchFamily="18" charset="0"/>
                <a:cs typeface="Times New Roman" panose="02020603050405020304" pitchFamily="18" charset="0"/>
              </a:rPr>
              <a:t>翻译 </a:t>
            </a:r>
            <a:r>
              <a:rPr lang="en-US" altLang="zh-CN" sz="3600" b="1" kern="100" dirty="0">
                <a:solidFill>
                  <a:srgbClr val="FF0000"/>
                </a:solidFill>
                <a:latin typeface="Times New Roman" panose="02020603050405020304" pitchFamily="18" charset="0"/>
                <a:cs typeface="Times New Roman" panose="02020603050405020304" pitchFamily="18" charset="0"/>
              </a:rPr>
              <a:t>4.</a:t>
            </a:r>
            <a:r>
              <a:rPr lang="zh-CN" altLang="en-US" sz="3600" b="1" kern="100" dirty="0">
                <a:solidFill>
                  <a:srgbClr val="FF0000"/>
                </a:solidFill>
                <a:latin typeface="Times New Roman" panose="02020603050405020304" pitchFamily="18" charset="0"/>
                <a:cs typeface="Times New Roman" panose="02020603050405020304" pitchFamily="18" charset="0"/>
              </a:rPr>
              <a:t>向某人低声说某事</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低声地 </a:t>
            </a:r>
            <a:r>
              <a:rPr lang="en-US" altLang="zh-CN" sz="3600" b="1" kern="100" dirty="0">
                <a:solidFill>
                  <a:srgbClr val="FF0000"/>
                </a:solidFill>
                <a:latin typeface="Times New Roman" panose="02020603050405020304" pitchFamily="18" charset="0"/>
                <a:cs typeface="Times New Roman" panose="02020603050405020304" pitchFamily="18" charset="0"/>
              </a:rPr>
              <a:t>5.</a:t>
            </a:r>
            <a:r>
              <a:rPr lang="zh-CN" altLang="en-US" sz="3600" b="1" kern="100" dirty="0">
                <a:solidFill>
                  <a:srgbClr val="FF0000"/>
                </a:solidFill>
                <a:latin typeface="Times New Roman" panose="02020603050405020304" pitchFamily="18" charset="0"/>
                <a:cs typeface="Times New Roman" panose="02020603050405020304" pitchFamily="18" charset="0"/>
              </a:rPr>
              <a:t>对</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哭泣</a:t>
            </a:r>
            <a:r>
              <a:rPr lang="en-US" altLang="zh-CN" sz="3600" b="1" kern="100" dirty="0">
                <a:solidFill>
                  <a:srgbClr val="FF0000"/>
                </a:solidFill>
                <a:latin typeface="Times New Roman" panose="02020603050405020304" pitchFamily="18" charset="0"/>
                <a:cs typeface="Times New Roman" panose="02020603050405020304" pitchFamily="18" charset="0"/>
              </a:rPr>
              <a:t>;weep(__,__) 6.</a:t>
            </a:r>
            <a:r>
              <a:rPr lang="zh-CN" altLang="en-US" sz="3600" b="1" kern="100" dirty="0">
                <a:solidFill>
                  <a:srgbClr val="FF0000"/>
                </a:solidFill>
                <a:latin typeface="Times New Roman" panose="02020603050405020304" pitchFamily="18" charset="0"/>
                <a:cs typeface="Times New Roman" panose="02020603050405020304" pitchFamily="18" charset="0"/>
              </a:rPr>
              <a:t>受</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极大影响被制服</a:t>
            </a:r>
            <a:r>
              <a:rPr lang="en-US" altLang="zh-CN" sz="3600" b="1" kern="100" dirty="0">
                <a:solidFill>
                  <a:srgbClr val="FF0000"/>
                </a:solidFill>
                <a:latin typeface="Times New Roman" panose="02020603050405020304" pitchFamily="18" charset="0"/>
                <a:cs typeface="Times New Roman" panose="02020603050405020304" pitchFamily="18" charset="0"/>
              </a:rPr>
              <a:t>overcome(__,__);</a:t>
            </a:r>
            <a:r>
              <a:rPr lang="zh-CN" altLang="en-US" sz="3600" b="1" kern="100" dirty="0">
                <a:solidFill>
                  <a:srgbClr val="FF0000"/>
                </a:solidFill>
                <a:latin typeface="Times New Roman" panose="02020603050405020304" pitchFamily="18" charset="0"/>
                <a:cs typeface="Times New Roman" panose="02020603050405020304" pitchFamily="18" charset="0"/>
              </a:rPr>
              <a:t>克服困难</a:t>
            </a:r>
            <a:r>
              <a:rPr lang="en-US" altLang="zh-CN" sz="3600" b="1" kern="100" dirty="0">
                <a:solidFill>
                  <a:srgbClr val="FF0000"/>
                </a:solidFill>
                <a:latin typeface="Times New Roman" panose="02020603050405020304" pitchFamily="18" charset="0"/>
                <a:cs typeface="Times New Roman" panose="02020603050405020304" pitchFamily="18" charset="0"/>
              </a:rPr>
              <a:t>7.</a:t>
            </a:r>
            <a:r>
              <a:rPr lang="zh-CN" altLang="en-US" sz="3600" b="1" kern="100" dirty="0">
                <a:solidFill>
                  <a:srgbClr val="FF0000"/>
                </a:solidFill>
                <a:latin typeface="Times New Roman" panose="02020603050405020304" pitchFamily="18" charset="0"/>
                <a:cs typeface="Times New Roman" panose="02020603050405020304" pitchFamily="18" charset="0"/>
              </a:rPr>
              <a:t>在极大的悲伤中</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同甘共苦</a:t>
            </a:r>
            <a:r>
              <a:rPr lang="en-US" altLang="zh-CN" sz="3600" b="1" kern="100" dirty="0">
                <a:solidFill>
                  <a:srgbClr val="FF0000"/>
                </a:solidFill>
                <a:latin typeface="Times New Roman" panose="02020603050405020304" pitchFamily="18" charset="0"/>
                <a:cs typeface="Times New Roman" panose="02020603050405020304" pitchFamily="18" charset="0"/>
              </a:rPr>
              <a:t>;__a.</a:t>
            </a:r>
            <a:r>
              <a:rPr lang="zh-CN" altLang="en-US" sz="3600" b="1" kern="100" dirty="0">
                <a:solidFill>
                  <a:srgbClr val="FF0000"/>
                </a:solidFill>
                <a:latin typeface="Times New Roman" panose="02020603050405020304" pitchFamily="18" charset="0"/>
                <a:cs typeface="Times New Roman" panose="02020603050405020304" pitchFamily="18" charset="0"/>
              </a:rPr>
              <a:t>悲伤的 </a:t>
            </a:r>
            <a:r>
              <a:rPr lang="en-US" altLang="zh-CN" sz="3600" b="1" kern="100" dirty="0">
                <a:solidFill>
                  <a:srgbClr val="FF0000"/>
                </a:solidFill>
                <a:latin typeface="Times New Roman" panose="02020603050405020304" pitchFamily="18" charset="0"/>
                <a:cs typeface="Times New Roman" panose="02020603050405020304" pitchFamily="18" charset="0"/>
              </a:rPr>
              <a:t>8.</a:t>
            </a:r>
            <a:r>
              <a:rPr lang="zh-CN" altLang="en-US" sz="3600" b="1" kern="100" dirty="0">
                <a:solidFill>
                  <a:srgbClr val="FF0000"/>
                </a:solidFill>
                <a:latin typeface="Times New Roman" panose="02020603050405020304" pitchFamily="18" charset="0"/>
                <a:cs typeface="Times New Roman" panose="02020603050405020304" pitchFamily="18" charset="0"/>
              </a:rPr>
              <a:t>从生到死</a:t>
            </a:r>
            <a:r>
              <a:rPr lang="en-US" altLang="zh-CN" sz="3600" b="1" kern="100" dirty="0">
                <a:solidFill>
                  <a:srgbClr val="FF0000"/>
                </a:solidFill>
                <a:latin typeface="Times New Roman" panose="02020603050405020304" pitchFamily="18" charset="0"/>
                <a:cs typeface="Times New Roman" panose="02020603050405020304" pitchFamily="18" charset="0"/>
              </a:rPr>
              <a:t>;__ad.</a:t>
            </a:r>
            <a:r>
              <a:rPr lang="zh-CN" altLang="en-US" sz="3600" b="1" kern="100" dirty="0">
                <a:solidFill>
                  <a:srgbClr val="FF0000"/>
                </a:solidFill>
                <a:latin typeface="Times New Roman" panose="02020603050405020304" pitchFamily="18" charset="0"/>
                <a:cs typeface="Times New Roman" panose="02020603050405020304" pitchFamily="18" charset="0"/>
              </a:rPr>
              <a:t>严重的 </a:t>
            </a:r>
            <a:r>
              <a:rPr lang="en-US" altLang="zh-CN" sz="3600" b="1" kern="100" dirty="0">
                <a:solidFill>
                  <a:srgbClr val="FF0000"/>
                </a:solidFill>
                <a:latin typeface="Times New Roman" panose="02020603050405020304" pitchFamily="18" charset="0"/>
                <a:cs typeface="Times New Roman" panose="02020603050405020304" pitchFamily="18" charset="0"/>
              </a:rPr>
              <a:t>9.</a:t>
            </a:r>
            <a:r>
              <a:rPr lang="zh-CN" altLang="en-US" sz="3600" b="1" kern="100" dirty="0">
                <a:solidFill>
                  <a:srgbClr val="FF0000"/>
                </a:solidFill>
                <a:latin typeface="Times New Roman" panose="02020603050405020304" pitchFamily="18" charset="0"/>
                <a:cs typeface="Times New Roman" panose="02020603050405020304" pitchFamily="18" charset="0"/>
              </a:rPr>
              <a:t>从</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中转变成</a:t>
            </a:r>
            <a:r>
              <a:rPr lang="en-US" altLang="zh-CN" sz="3600" b="1" kern="100" dirty="0">
                <a:solidFill>
                  <a:srgbClr val="FF0000"/>
                </a:solidFill>
                <a:latin typeface="Times New Roman" panose="02020603050405020304" pitchFamily="18" charset="0"/>
                <a:cs typeface="Times New Roman" panose="02020603050405020304" pitchFamily="18" charset="0"/>
              </a:rPr>
              <a:t>…; __n.</a:t>
            </a:r>
            <a:r>
              <a:rPr lang="zh-CN" altLang="en-US" sz="3600" b="1" kern="100" dirty="0">
                <a:solidFill>
                  <a:srgbClr val="FF0000"/>
                </a:solidFill>
                <a:latin typeface="Times New Roman" panose="02020603050405020304" pitchFamily="18" charset="0"/>
                <a:cs typeface="Times New Roman" panose="02020603050405020304" pitchFamily="18" charset="0"/>
              </a:rPr>
              <a:t>转化 </a:t>
            </a:r>
            <a:r>
              <a:rPr lang="en-US" altLang="zh-CN" sz="3600" b="1" kern="100" dirty="0">
                <a:solidFill>
                  <a:srgbClr val="FF0000"/>
                </a:solidFill>
                <a:latin typeface="Times New Roman" panose="02020603050405020304" pitchFamily="18" charset="0"/>
                <a:cs typeface="Times New Roman" panose="02020603050405020304" pitchFamily="18" charset="0"/>
              </a:rPr>
              <a:t>10.</a:t>
            </a:r>
            <a:r>
              <a:rPr lang="zh-CN" altLang="en-US" sz="3600" b="1" kern="100" dirty="0">
                <a:solidFill>
                  <a:srgbClr val="FF0000"/>
                </a:solidFill>
                <a:latin typeface="Times New Roman" panose="02020603050405020304" pitchFamily="18" charset="0"/>
                <a:cs typeface="Times New Roman" panose="02020603050405020304" pitchFamily="18" charset="0"/>
              </a:rPr>
              <a:t>把</a:t>
            </a:r>
            <a:r>
              <a:rPr lang="en-US" altLang="zh-CN" sz="3600" b="1" kern="100" dirty="0">
                <a:solidFill>
                  <a:srgbClr val="FF0000"/>
                </a:solidFill>
                <a:latin typeface="Times New Roman" panose="02020603050405020304" pitchFamily="18" charset="0"/>
                <a:cs typeface="Times New Roman" panose="02020603050405020304" pitchFamily="18" charset="0"/>
              </a:rPr>
              <a:t>A</a:t>
            </a:r>
            <a:r>
              <a:rPr lang="zh-CN" altLang="en-US" sz="3600" b="1" kern="100" dirty="0">
                <a:solidFill>
                  <a:srgbClr val="FF0000"/>
                </a:solidFill>
                <a:latin typeface="Times New Roman" panose="02020603050405020304" pitchFamily="18" charset="0"/>
                <a:cs typeface="Times New Roman" panose="02020603050405020304" pitchFamily="18" charset="0"/>
              </a:rPr>
              <a:t>与</a:t>
            </a:r>
            <a:r>
              <a:rPr lang="en-US" altLang="zh-CN" sz="3600" b="1" kern="100" dirty="0">
                <a:solidFill>
                  <a:srgbClr val="FF0000"/>
                </a:solidFill>
                <a:latin typeface="Times New Roman" panose="02020603050405020304" pitchFamily="18" charset="0"/>
                <a:cs typeface="Times New Roman" panose="02020603050405020304" pitchFamily="18" charset="0"/>
              </a:rPr>
              <a:t>B</a:t>
            </a:r>
            <a:r>
              <a:rPr lang="zh-CN" altLang="en-US" sz="3600" b="1" kern="100" dirty="0">
                <a:solidFill>
                  <a:srgbClr val="FF0000"/>
                </a:solidFill>
                <a:latin typeface="Times New Roman" panose="02020603050405020304" pitchFamily="18" charset="0"/>
                <a:cs typeface="Times New Roman" panose="02020603050405020304" pitchFamily="18" charset="0"/>
              </a:rPr>
              <a:t>结合</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与</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联合 </a:t>
            </a:r>
            <a:r>
              <a:rPr lang="en-US" altLang="zh-CN" sz="3600" b="1" kern="100" dirty="0">
                <a:solidFill>
                  <a:srgbClr val="FF0000"/>
                </a:solidFill>
                <a:latin typeface="Times New Roman" panose="02020603050405020304" pitchFamily="18" charset="0"/>
                <a:cs typeface="Times New Roman" panose="02020603050405020304" pitchFamily="18" charset="0"/>
              </a:rPr>
              <a:t>11.</a:t>
            </a:r>
            <a:r>
              <a:rPr lang="zh-CN" altLang="en-US" sz="3600" b="1" kern="100" dirty="0">
                <a:solidFill>
                  <a:srgbClr val="FF0000"/>
                </a:solidFill>
                <a:latin typeface="Times New Roman" panose="02020603050405020304" pitchFamily="18" charset="0"/>
                <a:cs typeface="Times New Roman" panose="02020603050405020304" pitchFamily="18" charset="0"/>
              </a:rPr>
              <a:t>依靠</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做某事</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相信指望</a:t>
            </a:r>
            <a:r>
              <a:rPr lang="en-US" altLang="zh-CN" sz="3600" b="1" kern="100" dirty="0">
                <a:solidFill>
                  <a:srgbClr val="FF0000"/>
                </a:solidFill>
                <a:latin typeface="Times New Roman" panose="02020603050405020304" pitchFamily="18" charset="0"/>
                <a:cs typeface="Times New Roman" panose="02020603050405020304" pitchFamily="18" charset="0"/>
              </a:rPr>
              <a:t>; __a.</a:t>
            </a:r>
            <a:r>
              <a:rPr lang="zh-CN" altLang="en-US" sz="3600" b="1" kern="100" dirty="0">
                <a:solidFill>
                  <a:srgbClr val="FF0000"/>
                </a:solidFill>
                <a:latin typeface="Times New Roman" panose="02020603050405020304" pitchFamily="18" charset="0"/>
                <a:cs typeface="Times New Roman" panose="02020603050405020304" pitchFamily="18" charset="0"/>
              </a:rPr>
              <a:t>可信赖的</a:t>
            </a:r>
            <a:r>
              <a:rPr lang="en-US" altLang="zh-CN" sz="3600" b="1" kern="100" dirty="0">
                <a:solidFill>
                  <a:srgbClr val="FF0000"/>
                </a:solidFill>
                <a:latin typeface="Times New Roman" panose="02020603050405020304" pitchFamily="18" charset="0"/>
                <a:cs typeface="Times New Roman" panose="02020603050405020304" pitchFamily="18" charset="0"/>
              </a:rPr>
              <a:t>; __a.</a:t>
            </a:r>
            <a:r>
              <a:rPr lang="zh-CN" altLang="en-US" sz="3600" b="1" kern="100" dirty="0">
                <a:solidFill>
                  <a:srgbClr val="FF0000"/>
                </a:solidFill>
                <a:latin typeface="Times New Roman" panose="02020603050405020304" pitchFamily="18" charset="0"/>
                <a:cs typeface="Times New Roman" panose="02020603050405020304" pitchFamily="18" charset="0"/>
              </a:rPr>
              <a:t>不可靠的 </a:t>
            </a:r>
            <a:r>
              <a:rPr lang="en-US" altLang="zh-CN" sz="3600" b="1" kern="100" dirty="0">
                <a:solidFill>
                  <a:srgbClr val="FF0000"/>
                </a:solidFill>
                <a:latin typeface="Times New Roman" panose="02020603050405020304" pitchFamily="18" charset="0"/>
                <a:cs typeface="Times New Roman" panose="02020603050405020304" pitchFamily="18" charset="0"/>
              </a:rPr>
              <a:t>12.</a:t>
            </a:r>
            <a:r>
              <a:rPr lang="zh-CN" altLang="en-US" sz="3600" b="1" kern="100" dirty="0">
                <a:solidFill>
                  <a:srgbClr val="FF0000"/>
                </a:solidFill>
                <a:latin typeface="Times New Roman" panose="02020603050405020304" pitchFamily="18" charset="0"/>
                <a:cs typeface="Times New Roman" panose="02020603050405020304" pitchFamily="18" charset="0"/>
              </a:rPr>
              <a:t>被包围</a:t>
            </a:r>
            <a:r>
              <a:rPr lang="en-US" altLang="zh-CN" sz="3600" b="1" kern="100" dirty="0">
                <a:solidFill>
                  <a:srgbClr val="FF0000"/>
                </a:solidFill>
                <a:latin typeface="Times New Roman" panose="02020603050405020304" pitchFamily="18" charset="0"/>
                <a:cs typeface="Times New Roman" panose="02020603050405020304" pitchFamily="18" charset="0"/>
              </a:rPr>
              <a:t>; __n.</a:t>
            </a:r>
            <a:r>
              <a:rPr lang="zh-CN" altLang="en-US" sz="3600" b="1" kern="100" dirty="0">
                <a:solidFill>
                  <a:srgbClr val="FF0000"/>
                </a:solidFill>
                <a:latin typeface="Times New Roman" panose="02020603050405020304" pitchFamily="18" charset="0"/>
                <a:cs typeface="Times New Roman" panose="02020603050405020304" pitchFamily="18" charset="0"/>
              </a:rPr>
              <a:t>周围环境</a:t>
            </a:r>
            <a:r>
              <a:rPr lang="en-US" altLang="zh-CN" sz="3600" b="1" kern="100" dirty="0">
                <a:solidFill>
                  <a:srgbClr val="FF0000"/>
                </a:solidFill>
                <a:latin typeface="Times New Roman" panose="02020603050405020304" pitchFamily="18" charset="0"/>
                <a:cs typeface="Times New Roman" panose="02020603050405020304" pitchFamily="18" charset="0"/>
              </a:rPr>
              <a:t>; __a.</a:t>
            </a:r>
            <a:r>
              <a:rPr lang="zh-CN" altLang="en-US" sz="3600" b="1" kern="100" dirty="0">
                <a:solidFill>
                  <a:srgbClr val="FF0000"/>
                </a:solidFill>
                <a:latin typeface="Times New Roman" panose="02020603050405020304" pitchFamily="18" charset="0"/>
                <a:cs typeface="Times New Roman" panose="02020603050405020304" pitchFamily="18" charset="0"/>
              </a:rPr>
              <a:t>周围的 </a:t>
            </a:r>
            <a:r>
              <a:rPr lang="en-US" altLang="zh-CN" sz="3600" b="1" kern="100" dirty="0">
                <a:solidFill>
                  <a:srgbClr val="FF0000"/>
                </a:solidFill>
                <a:latin typeface="Times New Roman" panose="02020603050405020304" pitchFamily="18" charset="0"/>
                <a:cs typeface="Times New Roman" panose="02020603050405020304" pitchFamily="18" charset="0"/>
              </a:rPr>
              <a:t>13.</a:t>
            </a:r>
            <a:r>
              <a:rPr lang="zh-CN" altLang="en-US" sz="3600" b="1" kern="100" dirty="0">
                <a:solidFill>
                  <a:srgbClr val="FF0000"/>
                </a:solidFill>
                <a:latin typeface="Times New Roman" panose="02020603050405020304" pitchFamily="18" charset="0"/>
                <a:cs typeface="Times New Roman" panose="02020603050405020304" pitchFamily="18" charset="0"/>
              </a:rPr>
              <a:t>与</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一致</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不一致 </a:t>
            </a:r>
            <a:r>
              <a:rPr lang="en-US" altLang="zh-CN" sz="3600" b="1" kern="100" dirty="0">
                <a:solidFill>
                  <a:srgbClr val="FF0000"/>
                </a:solidFill>
                <a:latin typeface="Times New Roman" panose="02020603050405020304" pitchFamily="18" charset="0"/>
                <a:cs typeface="Times New Roman" panose="02020603050405020304" pitchFamily="18" charset="0"/>
              </a:rPr>
              <a:t>14.</a:t>
            </a:r>
            <a:r>
              <a:rPr lang="zh-CN" altLang="en-US" sz="3600" b="1" kern="100" dirty="0">
                <a:solidFill>
                  <a:srgbClr val="FF0000"/>
                </a:solidFill>
                <a:latin typeface="Times New Roman" panose="02020603050405020304" pitchFamily="18" charset="0"/>
                <a:cs typeface="Times New Roman" panose="02020603050405020304" pitchFamily="18" charset="0"/>
              </a:rPr>
              <a:t>额外添加的</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认输</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采取措施做某事</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量身定制</a:t>
            </a:r>
            <a:r>
              <a:rPr lang="en-US" altLang="zh-CN" sz="3600" b="1" kern="100" dirty="0">
                <a:solidFill>
                  <a:srgbClr val="FF0000"/>
                </a:solidFill>
                <a:latin typeface="Times New Roman" panose="02020603050405020304" pitchFamily="18" charset="0"/>
                <a:cs typeface="Times New Roman" panose="02020603050405020304" pitchFamily="18" charset="0"/>
              </a:rPr>
              <a:t>; throw(__,__)</a:t>
            </a:r>
            <a:r>
              <a:rPr lang="zh-CN" altLang="en-US" sz="3600" b="1" kern="100" dirty="0">
                <a:solidFill>
                  <a:srgbClr val="FF0000"/>
                </a:solidFill>
                <a:latin typeface="Times New Roman" panose="02020603050405020304" pitchFamily="18" charset="0"/>
                <a:cs typeface="Times New Roman" panose="02020603050405020304" pitchFamily="18" charset="0"/>
              </a:rPr>
              <a:t> </a:t>
            </a:r>
            <a:r>
              <a:rPr lang="en-US" altLang="zh-CN" sz="3600" b="1" kern="100" dirty="0">
                <a:solidFill>
                  <a:srgbClr val="FF0000"/>
                </a:solidFill>
                <a:latin typeface="Times New Roman" panose="02020603050405020304" pitchFamily="18" charset="0"/>
                <a:cs typeface="Times New Roman" panose="02020603050405020304" pitchFamily="18" charset="0"/>
              </a:rPr>
              <a:t>15.</a:t>
            </a:r>
            <a:r>
              <a:rPr lang="zh-CN" altLang="en-US" sz="3600" b="1" kern="100" dirty="0">
                <a:solidFill>
                  <a:srgbClr val="FF0000"/>
                </a:solidFill>
                <a:latin typeface="Times New Roman" panose="02020603050405020304" pitchFamily="18" charset="0"/>
                <a:cs typeface="Times New Roman" panose="02020603050405020304" pitchFamily="18" charset="0"/>
              </a:rPr>
              <a:t>向某人担保某事</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确保做某事</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在保质期内 </a:t>
            </a:r>
            <a:r>
              <a:rPr lang="en-US" altLang="zh-CN" sz="3600" b="1" kern="100" dirty="0">
                <a:solidFill>
                  <a:srgbClr val="FF0000"/>
                </a:solidFill>
                <a:latin typeface="Times New Roman" panose="02020603050405020304" pitchFamily="18" charset="0"/>
                <a:cs typeface="Times New Roman" panose="02020603050405020304" pitchFamily="18" charset="0"/>
              </a:rPr>
              <a:t>16.</a:t>
            </a:r>
            <a:r>
              <a:rPr lang="zh-CN" altLang="en-US" sz="3600" b="1" kern="100" dirty="0">
                <a:solidFill>
                  <a:srgbClr val="FF0000"/>
                </a:solidFill>
                <a:latin typeface="Times New Roman" panose="02020603050405020304" pitchFamily="18" charset="0"/>
                <a:cs typeface="Times New Roman" panose="02020603050405020304" pitchFamily="18" charset="0"/>
              </a:rPr>
              <a:t>适应</a:t>
            </a:r>
            <a:r>
              <a:rPr lang="en-US" altLang="zh-CN" sz="3600" b="1" kern="100" dirty="0">
                <a:solidFill>
                  <a:srgbClr val="FF0000"/>
                </a:solidFill>
                <a:latin typeface="Times New Roman" panose="02020603050405020304" pitchFamily="18" charset="0"/>
                <a:cs typeface="Times New Roman" panose="02020603050405020304" pitchFamily="18" charset="0"/>
              </a:rPr>
              <a:t>(3</a:t>
            </a:r>
            <a:r>
              <a:rPr lang="zh-CN" altLang="en-US" sz="3600" b="1" kern="100" dirty="0">
                <a:solidFill>
                  <a:srgbClr val="FF0000"/>
                </a:solidFill>
                <a:latin typeface="Times New Roman" panose="02020603050405020304" pitchFamily="18" charset="0"/>
                <a:cs typeface="Times New Roman" panose="02020603050405020304" pitchFamily="18" charset="0"/>
              </a:rPr>
              <a:t>种</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根据</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改编成</a:t>
            </a:r>
            <a:r>
              <a:rPr lang="en-US" altLang="zh-CN" sz="3600" b="1" kern="100" dirty="0">
                <a:solidFill>
                  <a:srgbClr val="FF0000"/>
                </a:solidFill>
                <a:latin typeface="Times New Roman" panose="02020603050405020304" pitchFamily="18" charset="0"/>
                <a:cs typeface="Times New Roman" panose="02020603050405020304" pitchFamily="18" charset="0"/>
              </a:rPr>
              <a:t>…;__a.</a:t>
            </a:r>
            <a:r>
              <a:rPr lang="zh-CN" altLang="en-US" sz="3600" b="1" kern="100" dirty="0">
                <a:solidFill>
                  <a:srgbClr val="FF0000"/>
                </a:solidFill>
                <a:latin typeface="Times New Roman" panose="02020603050405020304" pitchFamily="18" charset="0"/>
                <a:cs typeface="Times New Roman" panose="02020603050405020304" pitchFamily="18" charset="0"/>
              </a:rPr>
              <a:t>适应的</a:t>
            </a:r>
            <a:r>
              <a:rPr lang="en-US" altLang="zh-CN" sz="3600" b="1" kern="100" dirty="0">
                <a:solidFill>
                  <a:srgbClr val="FF0000"/>
                </a:solidFill>
                <a:latin typeface="Times New Roman" panose="02020603050405020304" pitchFamily="18" charset="0"/>
                <a:cs typeface="Times New Roman" panose="02020603050405020304" pitchFamily="18" charset="0"/>
              </a:rPr>
              <a:t>; adapt--__n.; adopt--__n.; adjust--__n.; </a:t>
            </a:r>
            <a:r>
              <a:rPr lang="zh-CN" altLang="en-US" sz="3600" b="1" kern="100" dirty="0">
                <a:solidFill>
                  <a:srgbClr val="FF0000"/>
                </a:solidFill>
                <a:latin typeface="Times New Roman" panose="02020603050405020304" pitchFamily="18" charset="0"/>
                <a:cs typeface="Times New Roman" panose="02020603050405020304" pitchFamily="18" charset="0"/>
              </a:rPr>
              <a:t>采取一种方法</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养子</a:t>
            </a:r>
            <a:r>
              <a:rPr lang="en-US" altLang="zh-CN" sz="3600" b="1" kern="100" dirty="0">
                <a:solidFill>
                  <a:srgbClr val="FF0000"/>
                </a:solidFill>
                <a:latin typeface="Times New Roman" panose="02020603050405020304" pitchFamily="18" charset="0"/>
                <a:cs typeface="Times New Roman" panose="02020603050405020304" pitchFamily="18" charset="0"/>
              </a:rPr>
              <a:t>17.__ad.</a:t>
            </a:r>
            <a:r>
              <a:rPr lang="zh-CN" altLang="en-US" sz="3600" b="1" kern="100" dirty="0">
                <a:solidFill>
                  <a:srgbClr val="FF0000"/>
                </a:solidFill>
                <a:latin typeface="Times New Roman" panose="02020603050405020304" pitchFamily="18" charset="0"/>
                <a:cs typeface="Times New Roman" panose="02020603050405020304" pitchFamily="18" charset="0"/>
              </a:rPr>
              <a:t>愉快地</a:t>
            </a:r>
            <a:r>
              <a:rPr lang="en-US" altLang="zh-CN" sz="3600" b="1" kern="100" dirty="0">
                <a:solidFill>
                  <a:srgbClr val="FF0000"/>
                </a:solidFill>
                <a:latin typeface="Times New Roman" panose="02020603050405020304" pitchFamily="18" charset="0"/>
                <a:cs typeface="Times New Roman" panose="02020603050405020304" pitchFamily="18" charset="0"/>
              </a:rPr>
              <a:t>; __a.</a:t>
            </a:r>
            <a:r>
              <a:rPr lang="zh-CN" altLang="en-US" sz="3600" b="1" kern="100" dirty="0">
                <a:solidFill>
                  <a:srgbClr val="FF0000"/>
                </a:solidFill>
                <a:latin typeface="Times New Roman" panose="02020603050405020304" pitchFamily="18" charset="0"/>
                <a:cs typeface="Times New Roman" panose="02020603050405020304" pitchFamily="18" charset="0"/>
              </a:rPr>
              <a:t>令人不快的</a:t>
            </a:r>
            <a:r>
              <a:rPr lang="en-US" altLang="zh-CN" sz="3600" b="1" kern="100" dirty="0">
                <a:solidFill>
                  <a:srgbClr val="FF0000"/>
                </a:solidFill>
                <a:latin typeface="Times New Roman" panose="02020603050405020304" pitchFamily="18" charset="0"/>
                <a:cs typeface="Times New Roman" panose="02020603050405020304" pitchFamily="18" charset="0"/>
              </a:rPr>
              <a:t>18.__a.</a:t>
            </a:r>
            <a:r>
              <a:rPr lang="zh-CN" altLang="en-US" sz="3600" b="1" kern="100" dirty="0">
                <a:solidFill>
                  <a:srgbClr val="FF0000"/>
                </a:solidFill>
                <a:latin typeface="Times New Roman" panose="02020603050405020304" pitchFamily="18" charset="0"/>
                <a:cs typeface="Times New Roman" panose="02020603050405020304" pitchFamily="18" charset="0"/>
              </a:rPr>
              <a:t>激动人心的突然的</a:t>
            </a:r>
            <a:r>
              <a:rPr lang="en-US" altLang="zh-CN" sz="3600" b="1" kern="100" dirty="0">
                <a:solidFill>
                  <a:srgbClr val="FF0000"/>
                </a:solidFill>
                <a:latin typeface="Times New Roman" panose="02020603050405020304" pitchFamily="18" charset="0"/>
                <a:cs typeface="Times New Roman" panose="02020603050405020304" pitchFamily="18" charset="0"/>
              </a:rPr>
              <a:t>;__ad.</a:t>
            </a:r>
            <a:r>
              <a:rPr lang="zh-CN" altLang="en-US" sz="3600" b="1" kern="100" dirty="0">
                <a:solidFill>
                  <a:srgbClr val="FF0000"/>
                </a:solidFill>
                <a:latin typeface="Times New Roman" panose="02020603050405020304" pitchFamily="18" charset="0"/>
                <a:cs typeface="Times New Roman" panose="02020603050405020304" pitchFamily="18" charset="0"/>
              </a:rPr>
              <a:t>突然戏剧地</a:t>
            </a:r>
            <a:r>
              <a:rPr lang="en-US" altLang="zh-CN" sz="3600" b="1" kern="100" dirty="0">
                <a:solidFill>
                  <a:srgbClr val="FF0000"/>
                </a:solidFill>
                <a:latin typeface="Times New Roman" panose="02020603050405020304" pitchFamily="18" charset="0"/>
                <a:cs typeface="Times New Roman" panose="02020603050405020304" pitchFamily="18" charset="0"/>
              </a:rPr>
              <a:t>19.__n.</a:t>
            </a:r>
            <a:r>
              <a:rPr lang="zh-CN" altLang="en-US" sz="3600" b="1" kern="100" dirty="0">
                <a:solidFill>
                  <a:srgbClr val="FF0000"/>
                </a:solidFill>
                <a:latin typeface="Times New Roman" panose="02020603050405020304" pitchFamily="18" charset="0"/>
                <a:cs typeface="Times New Roman" panose="02020603050405020304" pitchFamily="18" charset="0"/>
              </a:rPr>
              <a:t>侵略者</a:t>
            </a:r>
            <a:r>
              <a:rPr lang="en-US" altLang="zh-CN" sz="3600" b="1" kern="100" dirty="0">
                <a:solidFill>
                  <a:srgbClr val="FF0000"/>
                </a:solidFill>
                <a:latin typeface="Times New Roman" panose="02020603050405020304" pitchFamily="18" charset="0"/>
                <a:cs typeface="Times New Roman" panose="02020603050405020304" pitchFamily="18" charset="0"/>
              </a:rPr>
              <a:t>; __n.</a:t>
            </a:r>
            <a:r>
              <a:rPr lang="zh-CN" altLang="en-US" sz="3600" b="1" kern="100" dirty="0">
                <a:solidFill>
                  <a:srgbClr val="FF0000"/>
                </a:solidFill>
                <a:latin typeface="Times New Roman" panose="02020603050405020304" pitchFamily="18" charset="0"/>
                <a:cs typeface="Times New Roman" panose="02020603050405020304" pitchFamily="18" charset="0"/>
              </a:rPr>
              <a:t>侵略</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侵犯某人的隐私</a:t>
            </a:r>
            <a:r>
              <a:rPr lang="en-US" altLang="zh-CN" sz="3600" b="1" kern="100" dirty="0">
                <a:solidFill>
                  <a:srgbClr val="FF0000"/>
                </a:solidFill>
                <a:latin typeface="Times New Roman" panose="02020603050405020304" pitchFamily="18" charset="0"/>
                <a:cs typeface="Times New Roman" panose="02020603050405020304" pitchFamily="18" charset="0"/>
              </a:rPr>
              <a:t>20.</a:t>
            </a:r>
            <a:r>
              <a:rPr lang="zh-CN" altLang="en-US" sz="3600" b="1" kern="100" dirty="0">
                <a:solidFill>
                  <a:srgbClr val="FF0000"/>
                </a:solidFill>
                <a:latin typeface="Times New Roman" panose="02020603050405020304" pitchFamily="18" charset="0"/>
                <a:cs typeface="Times New Roman" panose="02020603050405020304" pitchFamily="18" charset="0"/>
              </a:rPr>
              <a:t>在于</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与</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一直并存</a:t>
            </a:r>
            <a:endParaRPr lang="zh-CN" altLang="en-US" sz="3600" b="1" dirty="0">
              <a:solidFill>
                <a:srgbClr val="FF0000"/>
              </a:solidFill>
              <a:latin typeface="+mn-ea"/>
              <a:cs typeface="Times New Roman" panose="02020603050405020304" pitchFamily="18" charset="0"/>
            </a:endParaRPr>
          </a:p>
          <a:p>
            <a:pPr algn="just"/>
            <a:endParaRPr lang="zh-CN" altLang="zh-CN" sz="3600" b="1" kern="100" dirty="0">
              <a:solidFill>
                <a:srgbClr val="FF0000"/>
              </a:solidFill>
              <a:latin typeface="Times New Roman" panose="02020603050405020304" pitchFamily="18" charset="0"/>
              <a:cs typeface="Times New Roman" panose="02020603050405020304" pitchFamily="18" charset="0"/>
            </a:endParaRPr>
          </a:p>
          <a:p>
            <a:endParaRPr lang="zh-CN" altLang="en-US" sz="3600" b="1" dirty="0">
              <a:solidFill>
                <a:srgbClr val="FF0000"/>
              </a:solidFill>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sz="3600" b="1" dirty="0">
                <a:solidFill>
                  <a:srgbClr val="FF0000"/>
                </a:solidFill>
              </a:rPr>
              <a:t>21.</a:t>
            </a:r>
            <a:r>
              <a:rPr lang="zh-CN" altLang="en-US" sz="3600" b="1" dirty="0">
                <a:solidFill>
                  <a:srgbClr val="FF0000"/>
                </a:solidFill>
              </a:rPr>
              <a:t>保卫</a:t>
            </a:r>
            <a:r>
              <a:rPr lang="en-US" altLang="zh-CN" sz="3600" b="1" dirty="0">
                <a:solidFill>
                  <a:srgbClr val="FF0000"/>
                </a:solidFill>
              </a:rPr>
              <a:t>…</a:t>
            </a:r>
            <a:r>
              <a:rPr lang="zh-CN" altLang="en-US" sz="3600" b="1" dirty="0">
                <a:solidFill>
                  <a:srgbClr val="FF0000"/>
                </a:solidFill>
              </a:rPr>
              <a:t>免受</a:t>
            </a:r>
            <a:r>
              <a:rPr lang="en-US" altLang="zh-CN" sz="3600" b="1" dirty="0">
                <a:solidFill>
                  <a:srgbClr val="FF0000"/>
                </a:solidFill>
              </a:rPr>
              <a:t>;</a:t>
            </a:r>
            <a:r>
              <a:rPr lang="zh-CN" altLang="en-US" sz="3600" b="1" dirty="0">
                <a:solidFill>
                  <a:srgbClr val="FF0000"/>
                </a:solidFill>
              </a:rPr>
              <a:t>为</a:t>
            </a:r>
            <a:r>
              <a:rPr lang="en-US" altLang="zh-CN" sz="3600" b="1" dirty="0">
                <a:solidFill>
                  <a:srgbClr val="FF0000"/>
                </a:solidFill>
              </a:rPr>
              <a:t>…</a:t>
            </a:r>
            <a:r>
              <a:rPr lang="zh-CN" altLang="en-US" sz="3600" b="1" dirty="0">
                <a:solidFill>
                  <a:srgbClr val="FF0000"/>
                </a:solidFill>
              </a:rPr>
              <a:t>辩解保护</a:t>
            </a:r>
            <a:r>
              <a:rPr lang="en-US" altLang="zh-CN" sz="3600" b="1" dirty="0">
                <a:solidFill>
                  <a:srgbClr val="FF0000"/>
                </a:solidFill>
              </a:rPr>
              <a:t>;__a.</a:t>
            </a:r>
            <a:r>
              <a:rPr lang="zh-CN" altLang="en-US" sz="3600" b="1" dirty="0">
                <a:solidFill>
                  <a:srgbClr val="FF0000"/>
                </a:solidFill>
              </a:rPr>
              <a:t>防御的</a:t>
            </a:r>
            <a:r>
              <a:rPr lang="en-US" altLang="zh-CN" sz="3600" b="1" dirty="0">
                <a:solidFill>
                  <a:srgbClr val="FF0000"/>
                </a:solidFill>
              </a:rPr>
              <a:t>;__n.</a:t>
            </a:r>
            <a:r>
              <a:rPr lang="zh-CN" altLang="en-US" sz="3600" b="1" dirty="0">
                <a:solidFill>
                  <a:srgbClr val="FF0000"/>
                </a:solidFill>
              </a:rPr>
              <a:t>保卫辩护者 </a:t>
            </a:r>
            <a:endParaRPr lang="en-US" altLang="zh-CN" sz="3600" b="1" dirty="0">
              <a:solidFill>
                <a:srgbClr val="FF0000"/>
              </a:solidFill>
            </a:endParaRPr>
          </a:p>
          <a:p>
            <a:r>
              <a:rPr lang="en-US" altLang="zh-CN" sz="3600" b="1" dirty="0">
                <a:solidFill>
                  <a:srgbClr val="FF0000"/>
                </a:solidFill>
              </a:rPr>
              <a:t>22.flow(__,__) 23.</a:t>
            </a:r>
            <a:r>
              <a:rPr lang="zh-CN" altLang="en-US" sz="3600" b="1" dirty="0">
                <a:solidFill>
                  <a:srgbClr val="FF0000"/>
                </a:solidFill>
              </a:rPr>
              <a:t>太阳能</a:t>
            </a:r>
            <a:r>
              <a:rPr lang="en-US" altLang="zh-CN" sz="3600" b="1" dirty="0">
                <a:solidFill>
                  <a:srgbClr val="FF0000"/>
                </a:solidFill>
              </a:rPr>
              <a:t>/</a:t>
            </a:r>
            <a:r>
              <a:rPr lang="zh-CN" altLang="en-US" sz="3600" b="1" dirty="0">
                <a:solidFill>
                  <a:srgbClr val="FF0000"/>
                </a:solidFill>
              </a:rPr>
              <a:t>系 </a:t>
            </a:r>
            <a:r>
              <a:rPr lang="en-US" altLang="zh-CN" sz="3600" b="1" dirty="0">
                <a:solidFill>
                  <a:srgbClr val="FF0000"/>
                </a:solidFill>
              </a:rPr>
              <a:t>24.</a:t>
            </a:r>
            <a:r>
              <a:rPr lang="zh-CN" altLang="en-US" sz="3600" b="1" dirty="0">
                <a:solidFill>
                  <a:srgbClr val="FF0000"/>
                </a:solidFill>
              </a:rPr>
              <a:t>用</a:t>
            </a:r>
            <a:r>
              <a:rPr lang="en-US" altLang="zh-CN" sz="3600" b="1" dirty="0">
                <a:solidFill>
                  <a:srgbClr val="FF0000"/>
                </a:solidFill>
              </a:rPr>
              <a:t>…</a:t>
            </a:r>
            <a:r>
              <a:rPr lang="zh-CN" altLang="en-US" sz="3600" b="1" dirty="0">
                <a:solidFill>
                  <a:srgbClr val="FF0000"/>
                </a:solidFill>
              </a:rPr>
              <a:t>和某人打招呼</a:t>
            </a:r>
            <a:r>
              <a:rPr lang="en-US" altLang="zh-CN" sz="3600" b="1" dirty="0">
                <a:solidFill>
                  <a:srgbClr val="FF0000"/>
                </a:solidFill>
              </a:rPr>
              <a:t>;</a:t>
            </a:r>
            <a:r>
              <a:rPr lang="zh-CN" altLang="en-US" sz="3600" b="1" dirty="0">
                <a:solidFill>
                  <a:srgbClr val="FF0000"/>
                </a:solidFill>
              </a:rPr>
              <a:t>代某人向某人问候 </a:t>
            </a:r>
            <a:r>
              <a:rPr lang="en-US" altLang="zh-CN" sz="3600" b="1" dirty="0">
                <a:solidFill>
                  <a:srgbClr val="FF0000"/>
                </a:solidFill>
              </a:rPr>
              <a:t>25.</a:t>
            </a:r>
            <a:r>
              <a:rPr lang="zh-CN" altLang="en-US" sz="3600" b="1" dirty="0">
                <a:solidFill>
                  <a:srgbClr val="FF0000"/>
                </a:solidFill>
              </a:rPr>
              <a:t>适合做</a:t>
            </a:r>
            <a:r>
              <a:rPr lang="en-US" altLang="zh-CN" sz="3600" b="1" dirty="0">
                <a:solidFill>
                  <a:srgbClr val="FF0000"/>
                </a:solidFill>
              </a:rPr>
              <a:t>;__</a:t>
            </a:r>
            <a:r>
              <a:rPr lang="zh-CN" altLang="en-US" sz="3600" b="1" dirty="0">
                <a:solidFill>
                  <a:srgbClr val="FF0000"/>
                </a:solidFill>
              </a:rPr>
              <a:t>不合适的 </a:t>
            </a:r>
            <a:r>
              <a:rPr lang="en-US" altLang="zh-CN" sz="3600" b="1" dirty="0">
                <a:solidFill>
                  <a:srgbClr val="FF0000"/>
                </a:solidFill>
              </a:rPr>
              <a:t>26.</a:t>
            </a:r>
            <a:r>
              <a:rPr lang="zh-CN" altLang="en-US" sz="3600" b="1" dirty="0">
                <a:solidFill>
                  <a:srgbClr val="FF0000"/>
                </a:solidFill>
              </a:rPr>
              <a:t>记下</a:t>
            </a:r>
            <a:r>
              <a:rPr lang="en-US" altLang="zh-CN" sz="3600" b="1" dirty="0">
                <a:solidFill>
                  <a:srgbClr val="FF0000"/>
                </a:solidFill>
              </a:rPr>
              <a:t>;</a:t>
            </a:r>
            <a:r>
              <a:rPr lang="zh-CN" altLang="en-US" sz="3600" b="1" dirty="0">
                <a:solidFill>
                  <a:srgbClr val="FF0000"/>
                </a:solidFill>
              </a:rPr>
              <a:t>放唱片</a:t>
            </a:r>
            <a:r>
              <a:rPr lang="en-US" altLang="zh-CN" sz="3600" b="1" dirty="0">
                <a:solidFill>
                  <a:srgbClr val="FF0000"/>
                </a:solidFill>
              </a:rPr>
              <a:t>;</a:t>
            </a:r>
            <a:r>
              <a:rPr lang="zh-CN" altLang="en-US" sz="3600" b="1" dirty="0">
                <a:solidFill>
                  <a:srgbClr val="FF0000"/>
                </a:solidFill>
              </a:rPr>
              <a:t>破纪录 </a:t>
            </a:r>
            <a:endParaRPr lang="en-US" altLang="zh-CN" sz="3600" b="1" dirty="0">
              <a:solidFill>
                <a:srgbClr val="FF0000"/>
              </a:solidFill>
            </a:endParaRPr>
          </a:p>
          <a:p>
            <a:r>
              <a:rPr lang="en-US" altLang="zh-CN" sz="3600" b="1" dirty="0">
                <a:solidFill>
                  <a:srgbClr val="FF0000"/>
                </a:solidFill>
              </a:rPr>
              <a:t>27.</a:t>
            </a:r>
            <a:r>
              <a:rPr lang="zh-CN" altLang="en-US" sz="3600" b="1" dirty="0">
                <a:solidFill>
                  <a:srgbClr val="FF0000"/>
                </a:solidFill>
              </a:rPr>
              <a:t>远亲</a:t>
            </a:r>
            <a:r>
              <a:rPr lang="en-US" altLang="zh-CN" sz="3600" b="1" dirty="0">
                <a:solidFill>
                  <a:srgbClr val="FF0000"/>
                </a:solidFill>
              </a:rPr>
              <a:t>;</a:t>
            </a:r>
            <a:r>
              <a:rPr lang="zh-CN" altLang="en-US" sz="3600" b="1" dirty="0">
                <a:solidFill>
                  <a:srgbClr val="FF0000"/>
                </a:solidFill>
              </a:rPr>
              <a:t>在远处</a:t>
            </a:r>
            <a:r>
              <a:rPr lang="en-US" altLang="zh-CN" sz="3600" b="1" dirty="0">
                <a:solidFill>
                  <a:srgbClr val="FF0000"/>
                </a:solidFill>
              </a:rPr>
              <a:t>;</a:t>
            </a:r>
            <a:r>
              <a:rPr lang="zh-CN" altLang="en-US" sz="3600" b="1" dirty="0">
                <a:solidFill>
                  <a:srgbClr val="FF0000"/>
                </a:solidFill>
              </a:rPr>
              <a:t>隔开</a:t>
            </a:r>
            <a:r>
              <a:rPr lang="en-US" altLang="zh-CN" sz="3600" b="1" dirty="0">
                <a:solidFill>
                  <a:srgbClr val="FF0000"/>
                </a:solidFill>
              </a:rPr>
              <a:t>10</a:t>
            </a:r>
            <a:r>
              <a:rPr lang="zh-CN" altLang="en-US" sz="3600" b="1" dirty="0">
                <a:solidFill>
                  <a:srgbClr val="FF0000"/>
                </a:solidFill>
              </a:rPr>
              <a:t>米距离</a:t>
            </a:r>
            <a:r>
              <a:rPr lang="en-US" altLang="zh-CN" sz="3600" b="1" dirty="0">
                <a:solidFill>
                  <a:srgbClr val="FF0000"/>
                </a:solidFill>
              </a:rPr>
              <a:t>;</a:t>
            </a:r>
            <a:r>
              <a:rPr lang="zh-CN" altLang="en-US" sz="3600" b="1" dirty="0">
                <a:solidFill>
                  <a:srgbClr val="FF0000"/>
                </a:solidFill>
              </a:rPr>
              <a:t>疏远某人 </a:t>
            </a:r>
            <a:endParaRPr lang="en-US" altLang="zh-CN" sz="3600" b="1" dirty="0">
              <a:solidFill>
                <a:srgbClr val="FF0000"/>
              </a:solidFill>
            </a:endParaRPr>
          </a:p>
          <a:p>
            <a:r>
              <a:rPr lang="en-US" altLang="zh-CN" sz="3600" b="1" dirty="0">
                <a:solidFill>
                  <a:srgbClr val="FF0000"/>
                </a:solidFill>
              </a:rPr>
              <a:t>28.</a:t>
            </a:r>
            <a:r>
              <a:rPr lang="zh-CN" altLang="zh-CN" sz="3600" b="1" dirty="0">
                <a:solidFill>
                  <a:srgbClr val="FF0000"/>
                </a:solidFill>
              </a:rPr>
              <a:t>着手处理</a:t>
            </a:r>
            <a:r>
              <a:rPr lang="zh-CN" altLang="en-US" sz="3600" b="1" dirty="0">
                <a:solidFill>
                  <a:srgbClr val="FF0000"/>
                </a:solidFill>
              </a:rPr>
              <a:t>某事</a:t>
            </a:r>
            <a:r>
              <a:rPr lang="en-US" altLang="zh-CN" sz="3600" b="1" dirty="0">
                <a:solidFill>
                  <a:srgbClr val="FF0000"/>
                </a:solidFill>
              </a:rPr>
              <a:t>;</a:t>
            </a:r>
            <a:r>
              <a:rPr lang="zh-CN" altLang="en-US" sz="3600" b="1" dirty="0">
                <a:solidFill>
                  <a:srgbClr val="FF0000"/>
                </a:solidFill>
              </a:rPr>
              <a:t>习惯于做某事</a:t>
            </a:r>
            <a:r>
              <a:rPr lang="en-US" altLang="zh-CN" sz="3600" b="1" dirty="0">
                <a:solidFill>
                  <a:srgbClr val="FF0000"/>
                </a:solidFill>
              </a:rPr>
              <a:t>;</a:t>
            </a:r>
          </a:p>
          <a:p>
            <a:r>
              <a:rPr lang="en-US" altLang="zh-CN" sz="3600" b="1" dirty="0">
                <a:solidFill>
                  <a:srgbClr val="FF0000"/>
                </a:solidFill>
              </a:rPr>
              <a:t>get away with</a:t>
            </a:r>
            <a:r>
              <a:rPr lang="zh-CN" altLang="en-US" sz="3600" b="1" dirty="0">
                <a:solidFill>
                  <a:srgbClr val="FF0000"/>
                </a:solidFill>
              </a:rPr>
              <a:t>翻译</a:t>
            </a:r>
            <a:endParaRPr lang="en-US" altLang="zh-CN" sz="3600" b="1" dirty="0">
              <a:solidFill>
                <a:srgbClr val="FF0000"/>
              </a:solidFill>
            </a:endParaRPr>
          </a:p>
          <a:p>
            <a:r>
              <a:rPr lang="en-US" altLang="zh-CN" sz="3600" b="1" dirty="0">
                <a:solidFill>
                  <a:srgbClr val="FF0000"/>
                </a:solidFill>
              </a:rPr>
              <a:t>get about</a:t>
            </a:r>
            <a:r>
              <a:rPr lang="zh-CN" altLang="en-US" sz="3600" b="1" dirty="0">
                <a:solidFill>
                  <a:srgbClr val="FF0000"/>
                </a:solidFill>
              </a:rPr>
              <a:t>翻译</a:t>
            </a:r>
            <a:endParaRPr lang="zh-CN" altLang="zh-CN" sz="3600" b="1" dirty="0">
              <a:solidFill>
                <a:srgbClr val="FF0000"/>
              </a:solidFill>
            </a:endParaRPr>
          </a:p>
          <a:p>
            <a:r>
              <a:rPr lang="en-US" altLang="zh-CN" sz="3600" b="1" dirty="0">
                <a:solidFill>
                  <a:srgbClr val="FF0000"/>
                </a:solidFill>
              </a:rPr>
              <a:t>get across (to sb.)</a:t>
            </a:r>
            <a:r>
              <a:rPr lang="zh-CN" altLang="en-US" sz="3600" b="1" dirty="0">
                <a:solidFill>
                  <a:srgbClr val="FF0000"/>
                </a:solidFill>
              </a:rPr>
              <a:t>翻译</a:t>
            </a:r>
            <a:endParaRPr lang="zh-CN" altLang="zh-CN" sz="3600" b="1" dirty="0">
              <a:solidFill>
                <a:srgbClr val="FF0000"/>
              </a:solidFill>
            </a:endParaRPr>
          </a:p>
          <a:p>
            <a:r>
              <a:rPr lang="en-US" altLang="zh-CN" sz="3600" b="1" dirty="0">
                <a:solidFill>
                  <a:srgbClr val="FF0000"/>
                </a:solidFill>
              </a:rPr>
              <a:t>get along (with)</a:t>
            </a:r>
            <a:r>
              <a:rPr lang="zh-CN" altLang="en-US" sz="3600" b="1" dirty="0">
                <a:solidFill>
                  <a:srgbClr val="FF0000"/>
                </a:solidFill>
              </a:rPr>
              <a:t>翻译</a:t>
            </a:r>
            <a:endParaRPr lang="zh-CN" altLang="zh-CN" sz="3600" b="1" dirty="0">
              <a:solidFill>
                <a:srgbClr val="FF0000"/>
              </a:solidFill>
            </a:endParaRPr>
          </a:p>
          <a:p>
            <a:r>
              <a:rPr lang="en-US" altLang="zh-CN" sz="3600" b="1" dirty="0">
                <a:solidFill>
                  <a:srgbClr val="FF0000"/>
                </a:solidFill>
              </a:rPr>
              <a:t>get through</a:t>
            </a:r>
            <a:r>
              <a:rPr lang="zh-CN" altLang="en-US" sz="3600" b="1" dirty="0">
                <a:solidFill>
                  <a:srgbClr val="FF0000"/>
                </a:solidFill>
              </a:rPr>
              <a:t>翻译</a:t>
            </a:r>
            <a:endParaRPr lang="en-US" altLang="zh-CN" sz="3600" b="1" dirty="0">
              <a:solidFill>
                <a:srgbClr val="FF0000"/>
              </a:solidFill>
            </a:endParaRPr>
          </a:p>
          <a:p>
            <a:r>
              <a:rPr lang="en-US" altLang="zh-CN" sz="3600" b="1" dirty="0">
                <a:solidFill>
                  <a:srgbClr val="FF0000"/>
                </a:solidFill>
              </a:rPr>
              <a:t>get together</a:t>
            </a:r>
            <a:r>
              <a:rPr lang="zh-CN" altLang="en-US" sz="3600" b="1" dirty="0">
                <a:solidFill>
                  <a:srgbClr val="FF0000"/>
                </a:solidFill>
              </a:rPr>
              <a:t>翻译</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sz="3600" b="1" dirty="0">
                <a:solidFill>
                  <a:srgbClr val="FF0000"/>
                </a:solidFill>
              </a:rPr>
              <a:t>U2</a:t>
            </a:r>
            <a:r>
              <a:rPr lang="zh-CN" altLang="en-US" sz="3600" b="1" dirty="0">
                <a:solidFill>
                  <a:srgbClr val="FF0000"/>
                </a:solidFill>
              </a:rPr>
              <a:t>单词笔记二</a:t>
            </a:r>
            <a:endParaRPr lang="en-US" altLang="zh-CN" sz="3600" b="1" dirty="0">
              <a:solidFill>
                <a:srgbClr val="FF0000"/>
              </a:solidFill>
            </a:endParaRPr>
          </a:p>
          <a:p>
            <a:r>
              <a:rPr lang="en-US" altLang="zh-CN" sz="3600" b="1" dirty="0">
                <a:solidFill>
                  <a:srgbClr val="FF0000"/>
                </a:solidFill>
              </a:rPr>
              <a:t>1.</a:t>
            </a:r>
            <a:r>
              <a:rPr lang="zh-CN" altLang="en-US" sz="3600" b="1" dirty="0">
                <a:solidFill>
                  <a:srgbClr val="FF0000"/>
                </a:solidFill>
              </a:rPr>
              <a:t>凝视</a:t>
            </a:r>
            <a:r>
              <a:rPr lang="en-US" altLang="zh-CN" sz="3600" b="1" dirty="0">
                <a:solidFill>
                  <a:srgbClr val="FF0000"/>
                </a:solidFill>
              </a:rPr>
              <a:t>;</a:t>
            </a:r>
            <a:r>
              <a:rPr lang="zh-CN" altLang="en-US" sz="3600" b="1" dirty="0">
                <a:solidFill>
                  <a:srgbClr val="FF0000"/>
                </a:solidFill>
              </a:rPr>
              <a:t>怒视</a:t>
            </a:r>
            <a:r>
              <a:rPr lang="en-US" altLang="zh-CN" sz="3600" b="1" dirty="0">
                <a:solidFill>
                  <a:srgbClr val="FF0000"/>
                </a:solidFill>
              </a:rPr>
              <a:t>;</a:t>
            </a:r>
            <a:r>
              <a:rPr lang="zh-CN" altLang="en-US" sz="3600" b="1" dirty="0">
                <a:solidFill>
                  <a:srgbClr val="FF0000"/>
                </a:solidFill>
              </a:rPr>
              <a:t>瞥 </a:t>
            </a:r>
            <a:r>
              <a:rPr lang="en-US" altLang="zh-CN" sz="3600" b="1" dirty="0">
                <a:solidFill>
                  <a:srgbClr val="FF0000"/>
                </a:solidFill>
              </a:rPr>
              <a:t>2.</a:t>
            </a:r>
            <a:r>
              <a:rPr lang="zh-CN" altLang="en-US" sz="3600" b="1" dirty="0">
                <a:solidFill>
                  <a:srgbClr val="FF0000"/>
                </a:solidFill>
              </a:rPr>
              <a:t>深呼吸</a:t>
            </a:r>
            <a:r>
              <a:rPr lang="en-US" altLang="zh-CN" sz="3600" b="1" dirty="0">
                <a:solidFill>
                  <a:srgbClr val="FF0000"/>
                </a:solidFill>
              </a:rPr>
              <a:t>;</a:t>
            </a:r>
            <a:r>
              <a:rPr lang="zh-CN" altLang="en-US" sz="3600" b="1" dirty="0">
                <a:solidFill>
                  <a:srgbClr val="FF0000"/>
                </a:solidFill>
              </a:rPr>
              <a:t>屏息</a:t>
            </a:r>
            <a:r>
              <a:rPr lang="en-US" altLang="zh-CN" sz="3600" b="1" dirty="0">
                <a:solidFill>
                  <a:srgbClr val="FF0000"/>
                </a:solidFill>
              </a:rPr>
              <a:t>;</a:t>
            </a:r>
            <a:r>
              <a:rPr lang="zh-CN" altLang="en-US" sz="3600" b="1" dirty="0">
                <a:solidFill>
                  <a:srgbClr val="FF0000"/>
                </a:solidFill>
              </a:rPr>
              <a:t>吸气</a:t>
            </a:r>
            <a:r>
              <a:rPr lang="en-US" altLang="zh-CN" sz="3600" b="1" dirty="0">
                <a:solidFill>
                  <a:srgbClr val="FF0000"/>
                </a:solidFill>
              </a:rPr>
              <a:t>;</a:t>
            </a:r>
            <a:r>
              <a:rPr lang="zh-CN" altLang="en-US" sz="3600" b="1" dirty="0">
                <a:solidFill>
                  <a:srgbClr val="FF0000"/>
                </a:solidFill>
              </a:rPr>
              <a:t>呼气</a:t>
            </a:r>
            <a:r>
              <a:rPr lang="en-US" altLang="zh-CN" sz="3600" b="1" dirty="0">
                <a:solidFill>
                  <a:srgbClr val="FF0000"/>
                </a:solidFill>
              </a:rPr>
              <a:t>;a.</a:t>
            </a:r>
            <a:r>
              <a:rPr lang="zh-CN" altLang="en-US" sz="3600" b="1" dirty="0">
                <a:solidFill>
                  <a:srgbClr val="FF0000"/>
                </a:solidFill>
              </a:rPr>
              <a:t>气喘吁吁的 </a:t>
            </a:r>
            <a:r>
              <a:rPr lang="en-US" altLang="zh-CN" sz="3600" b="1" dirty="0">
                <a:solidFill>
                  <a:srgbClr val="FF0000"/>
                </a:solidFill>
              </a:rPr>
              <a:t>3.</a:t>
            </a:r>
            <a:r>
              <a:rPr lang="zh-CN" altLang="en-US" sz="3600" b="1" dirty="0">
                <a:solidFill>
                  <a:srgbClr val="FF0000"/>
                </a:solidFill>
              </a:rPr>
              <a:t>吸引某人的注意力</a:t>
            </a:r>
            <a:r>
              <a:rPr lang="en-US" altLang="zh-CN" sz="3600" b="1" dirty="0">
                <a:solidFill>
                  <a:srgbClr val="FF0000"/>
                </a:solidFill>
              </a:rPr>
              <a:t>;</a:t>
            </a:r>
            <a:r>
              <a:rPr lang="zh-CN" altLang="en-US" sz="3600" b="1" dirty="0">
                <a:solidFill>
                  <a:srgbClr val="FF0000"/>
                </a:solidFill>
              </a:rPr>
              <a:t>吃点东西</a:t>
            </a:r>
            <a:r>
              <a:rPr lang="en-US" altLang="zh-CN" sz="3600" b="1" dirty="0">
                <a:solidFill>
                  <a:srgbClr val="FF0000"/>
                </a:solidFill>
              </a:rPr>
              <a:t>;</a:t>
            </a:r>
            <a:r>
              <a:rPr lang="zh-CN" altLang="en-US" sz="3600" b="1" dirty="0">
                <a:solidFill>
                  <a:srgbClr val="FF0000"/>
                </a:solidFill>
              </a:rPr>
              <a:t>抓住机会</a:t>
            </a:r>
            <a:r>
              <a:rPr lang="en-US" altLang="zh-CN" sz="3600" b="1" dirty="0">
                <a:solidFill>
                  <a:srgbClr val="FF0000"/>
                </a:solidFill>
              </a:rPr>
              <a:t>;</a:t>
            </a:r>
            <a:r>
              <a:rPr lang="zh-CN" altLang="en-US" sz="3600" b="1" dirty="0">
                <a:solidFill>
                  <a:srgbClr val="FF0000"/>
                </a:solidFill>
              </a:rPr>
              <a:t> </a:t>
            </a:r>
            <a:r>
              <a:rPr lang="en-US" altLang="zh-CN" sz="3600" b="1" dirty="0">
                <a:solidFill>
                  <a:srgbClr val="FF0000"/>
                </a:solidFill>
              </a:rPr>
              <a:t>4.</a:t>
            </a:r>
            <a:r>
              <a:rPr lang="zh-CN" altLang="en-US" sz="3600" b="1" dirty="0">
                <a:solidFill>
                  <a:srgbClr val="FF0000"/>
                </a:solidFill>
              </a:rPr>
              <a:t>打扫</a:t>
            </a:r>
            <a:r>
              <a:rPr lang="en-US" altLang="zh-CN" sz="3600" b="1" dirty="0">
                <a:solidFill>
                  <a:srgbClr val="FF0000"/>
                </a:solidFill>
              </a:rPr>
              <a:t>;</a:t>
            </a:r>
            <a:r>
              <a:rPr lang="zh-CN" altLang="en-US" sz="3600" b="1" kern="100" dirty="0">
                <a:solidFill>
                  <a:srgbClr val="FF0000"/>
                </a:solidFill>
                <a:latin typeface="Times New Roman" panose="02020603050405020304" pitchFamily="18" charset="0"/>
                <a:cs typeface="Times New Roman" panose="02020603050405020304" pitchFamily="18" charset="0"/>
              </a:rPr>
              <a:t>使</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深受影响醉心于 </a:t>
            </a:r>
            <a:r>
              <a:rPr lang="en-US" altLang="zh-CN" sz="3600" b="1" kern="100" dirty="0">
                <a:solidFill>
                  <a:srgbClr val="FF0000"/>
                </a:solidFill>
                <a:latin typeface="Times New Roman" panose="02020603050405020304" pitchFamily="18" charset="0"/>
                <a:cs typeface="Times New Roman" panose="02020603050405020304" pitchFamily="18" charset="0"/>
              </a:rPr>
              <a:t>5.</a:t>
            </a:r>
            <a:r>
              <a:rPr lang="zh-CN" altLang="en-US" sz="3600" b="1" kern="100" dirty="0">
                <a:solidFill>
                  <a:srgbClr val="FF0000"/>
                </a:solidFill>
                <a:latin typeface="Times New Roman" panose="02020603050405020304" pitchFamily="18" charset="0"/>
                <a:cs typeface="Times New Roman" panose="02020603050405020304" pitchFamily="18" charset="0"/>
              </a:rPr>
              <a:t>陪伴某人去某处</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陪伴某人</a:t>
            </a:r>
            <a:r>
              <a:rPr lang="en-US" altLang="zh-CN" sz="3600" b="1" kern="100" dirty="0">
                <a:solidFill>
                  <a:srgbClr val="FF0000"/>
                </a:solidFill>
                <a:latin typeface="Times New Roman" panose="02020603050405020304" pitchFamily="18" charset="0"/>
                <a:cs typeface="Times New Roman" panose="02020603050405020304" pitchFamily="18" charset="0"/>
              </a:rPr>
              <a:t>(2</a:t>
            </a:r>
            <a:r>
              <a:rPr lang="zh-CN" altLang="en-US" sz="3600" b="1" kern="100" dirty="0">
                <a:solidFill>
                  <a:srgbClr val="FF0000"/>
                </a:solidFill>
                <a:latin typeface="Times New Roman" panose="02020603050405020304" pitchFamily="18" charset="0"/>
                <a:cs typeface="Times New Roman" panose="02020603050405020304" pitchFamily="18" charset="0"/>
              </a:rPr>
              <a:t>个</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为</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伴奏</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与某人在一起 </a:t>
            </a:r>
            <a:r>
              <a:rPr lang="en-US" altLang="zh-CN" sz="3600" b="1" kern="100" dirty="0">
                <a:solidFill>
                  <a:srgbClr val="FF0000"/>
                </a:solidFill>
                <a:latin typeface="Times New Roman" panose="02020603050405020304" pitchFamily="18" charset="0"/>
                <a:cs typeface="Times New Roman" panose="02020603050405020304" pitchFamily="18" charset="0"/>
              </a:rPr>
              <a:t>6.</a:t>
            </a:r>
            <a:r>
              <a:rPr lang="zh-CN" altLang="en-US" sz="3600" b="1" kern="100" dirty="0">
                <a:solidFill>
                  <a:srgbClr val="FF0000"/>
                </a:solidFill>
                <a:latin typeface="Times New Roman" panose="02020603050405020304" pitchFamily="18" charset="0"/>
                <a:cs typeface="Times New Roman" panose="02020603050405020304" pitchFamily="18" charset="0"/>
              </a:rPr>
              <a:t>不辜负某人的期望</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指望</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超出某人的预期</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期待某人做某事 </a:t>
            </a:r>
            <a:r>
              <a:rPr lang="en-US" altLang="zh-CN" sz="3600" b="1" kern="100" dirty="0">
                <a:solidFill>
                  <a:srgbClr val="FF0000"/>
                </a:solidFill>
                <a:latin typeface="Times New Roman" panose="02020603050405020304" pitchFamily="18" charset="0"/>
                <a:cs typeface="Times New Roman" panose="02020603050405020304" pitchFamily="18" charset="0"/>
              </a:rPr>
              <a:t>7.</a:t>
            </a:r>
            <a:r>
              <a:rPr lang="zh-CN" altLang="en-US" sz="3600" b="1" kern="100" dirty="0">
                <a:solidFill>
                  <a:srgbClr val="FF0000"/>
                </a:solidFill>
                <a:latin typeface="Times New Roman" panose="02020603050405020304" pitchFamily="18" charset="0"/>
                <a:cs typeface="Times New Roman" panose="02020603050405020304" pitchFamily="18" charset="0"/>
              </a:rPr>
              <a:t>以</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en-US" sz="3600" b="1" kern="100" dirty="0">
                <a:solidFill>
                  <a:srgbClr val="FF0000"/>
                </a:solidFill>
                <a:latin typeface="Times New Roman" panose="02020603050405020304" pitchFamily="18" charset="0"/>
                <a:cs typeface="Times New Roman" panose="02020603050405020304" pitchFamily="18" charset="0"/>
              </a:rPr>
              <a:t>著称</a:t>
            </a:r>
            <a:r>
              <a:rPr lang="en-US" altLang="zh-CN" sz="3600" b="1" kern="100" dirty="0">
                <a:solidFill>
                  <a:srgbClr val="FF0000"/>
                </a:solidFill>
                <a:latin typeface="Times New Roman" panose="02020603050405020304" pitchFamily="18" charset="0"/>
                <a:cs typeface="Times New Roman" panose="02020603050405020304" pitchFamily="18" charset="0"/>
              </a:rPr>
              <a:t>; adv.</a:t>
            </a:r>
            <a:r>
              <a:rPr lang="zh-CN" altLang="en-US" sz="3600" b="1" kern="100" dirty="0">
                <a:solidFill>
                  <a:srgbClr val="FF0000"/>
                </a:solidFill>
                <a:latin typeface="Times New Roman" panose="02020603050405020304" pitchFamily="18" charset="0"/>
                <a:cs typeface="Times New Roman" panose="02020603050405020304" pitchFamily="18" charset="0"/>
              </a:rPr>
              <a:t>不同寻常地 </a:t>
            </a:r>
            <a:r>
              <a:rPr lang="en-US" altLang="zh-CN" sz="3600" b="1" kern="100" dirty="0">
                <a:solidFill>
                  <a:srgbClr val="FF0000"/>
                </a:solidFill>
                <a:latin typeface="Times New Roman" panose="02020603050405020304" pitchFamily="18" charset="0"/>
                <a:cs typeface="Times New Roman" panose="02020603050405020304" pitchFamily="18" charset="0"/>
              </a:rPr>
              <a:t>8.</a:t>
            </a:r>
            <a:r>
              <a:rPr lang="zh-CN" altLang="zh-CN" sz="3600" b="1" kern="100" dirty="0">
                <a:solidFill>
                  <a:srgbClr val="FF0000"/>
                </a:solidFill>
                <a:latin typeface="Times New Roman" panose="02020603050405020304" pitchFamily="18" charset="0"/>
                <a:cs typeface="Times New Roman" panose="02020603050405020304" pitchFamily="18" charset="0"/>
              </a:rPr>
              <a:t>络绎不绝的游客</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zh-CN" sz="3600" b="1" kern="100" dirty="0">
                <a:solidFill>
                  <a:srgbClr val="FF0000"/>
                </a:solidFill>
                <a:latin typeface="Times New Roman" panose="02020603050405020304" pitchFamily="18" charset="0"/>
                <a:cs typeface="Times New Roman" panose="02020603050405020304" pitchFamily="18" charset="0"/>
              </a:rPr>
              <a:t>泪水顺着她的脸频流了下来</a:t>
            </a:r>
            <a:r>
              <a:rPr lang="en-US" altLang="zh-CN" sz="3600" b="1" kern="100" dirty="0">
                <a:solidFill>
                  <a:srgbClr val="FF0000"/>
                </a:solidFill>
                <a:latin typeface="Times New Roman" panose="02020603050405020304" pitchFamily="18" charset="0"/>
                <a:cs typeface="Times New Roman" panose="02020603050405020304" pitchFamily="18" charset="0"/>
              </a:rPr>
              <a:t> 9.</a:t>
            </a:r>
            <a:r>
              <a:rPr lang="zh-CN" altLang="zh-CN" sz="3600" b="1" kern="100" dirty="0">
                <a:solidFill>
                  <a:srgbClr val="FF0000"/>
                </a:solidFill>
                <a:latin typeface="Times New Roman" panose="02020603050405020304" pitchFamily="18" charset="0"/>
                <a:cs typeface="Times New Roman" panose="02020603050405020304" pitchFamily="18" charset="0"/>
              </a:rPr>
              <a:t>对…热情</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zh-CN" sz="3600" b="1" kern="100" dirty="0">
                <a:solidFill>
                  <a:srgbClr val="FF0000"/>
                </a:solidFill>
                <a:latin typeface="Times New Roman" panose="02020603050405020304" pitchFamily="18" charset="0"/>
                <a:cs typeface="Times New Roman" panose="02020603050405020304" pitchFamily="18" charset="0"/>
              </a:rPr>
              <a:t>缺乏</a:t>
            </a:r>
            <a:r>
              <a:rPr lang="en-US" altLang="zh-CN" sz="3600" b="1" kern="100" dirty="0">
                <a:solidFill>
                  <a:srgbClr val="FF0000"/>
                </a:solidFill>
                <a:latin typeface="Times New Roman" panose="02020603050405020304" pitchFamily="18" charset="0"/>
                <a:cs typeface="Times New Roman" panose="02020603050405020304" pitchFamily="18" charset="0"/>
              </a:rPr>
              <a:t>/</a:t>
            </a:r>
            <a:r>
              <a:rPr lang="zh-CN" altLang="zh-CN" sz="3600" b="1" kern="100" dirty="0">
                <a:solidFill>
                  <a:srgbClr val="FF0000"/>
                </a:solidFill>
                <a:latin typeface="Times New Roman" panose="02020603050405020304" pitchFamily="18" charset="0"/>
                <a:cs typeface="Times New Roman" panose="02020603050405020304" pitchFamily="18" charset="0"/>
              </a:rPr>
              <a:t>充满热情</a:t>
            </a:r>
            <a:r>
              <a:rPr lang="en-US" altLang="zh-CN" sz="3600" b="1" kern="100" dirty="0">
                <a:solidFill>
                  <a:srgbClr val="FF0000"/>
                </a:solidFill>
                <a:latin typeface="Times New Roman" panose="02020603050405020304" pitchFamily="18" charset="0"/>
                <a:cs typeface="Times New Roman" panose="02020603050405020304" pitchFamily="18" charset="0"/>
              </a:rPr>
              <a:t>;__n.</a:t>
            </a:r>
            <a:r>
              <a:rPr lang="zh-CN" altLang="en-US" sz="3600" b="1" kern="100" dirty="0">
                <a:solidFill>
                  <a:srgbClr val="FF0000"/>
                </a:solidFill>
                <a:latin typeface="Times New Roman" panose="02020603050405020304" pitchFamily="18" charset="0"/>
                <a:cs typeface="Times New Roman" panose="02020603050405020304" pitchFamily="18" charset="0"/>
              </a:rPr>
              <a:t>者</a:t>
            </a:r>
            <a:r>
              <a:rPr lang="en-US" altLang="zh-CN" sz="3600" b="1" kern="100" dirty="0">
                <a:solidFill>
                  <a:srgbClr val="FF0000"/>
                </a:solidFill>
                <a:latin typeface="Times New Roman" panose="02020603050405020304" pitchFamily="18" charset="0"/>
                <a:cs typeface="Times New Roman" panose="02020603050405020304" pitchFamily="18" charset="0"/>
              </a:rPr>
              <a:t>;adv.</a:t>
            </a:r>
            <a:r>
              <a:rPr lang="zh-CN" altLang="en-US" sz="3600" b="1" kern="100" dirty="0">
                <a:solidFill>
                  <a:srgbClr val="FF0000"/>
                </a:solidFill>
                <a:latin typeface="Times New Roman" panose="02020603050405020304" pitchFamily="18" charset="0"/>
                <a:cs typeface="Times New Roman" panose="02020603050405020304" pitchFamily="18" charset="0"/>
              </a:rPr>
              <a:t>热情地 </a:t>
            </a:r>
            <a:r>
              <a:rPr lang="en-US" altLang="zh-CN" sz="3600" b="1" kern="100" dirty="0">
                <a:solidFill>
                  <a:srgbClr val="FF0000"/>
                </a:solidFill>
                <a:latin typeface="Times New Roman" panose="02020603050405020304" pitchFamily="18" charset="0"/>
                <a:cs typeface="Times New Roman" panose="02020603050405020304" pitchFamily="18" charset="0"/>
              </a:rPr>
              <a:t>10.</a:t>
            </a:r>
            <a:r>
              <a:rPr lang="zh-CN" altLang="zh-CN" sz="3600" b="1" dirty="0">
                <a:solidFill>
                  <a:srgbClr val="FF0000"/>
                </a:solidFill>
                <a:latin typeface="Times New Roman" panose="02020603050405020304" pitchFamily="18" charset="0"/>
                <a:cs typeface="Times New Roman" panose="02020603050405020304" pitchFamily="18" charset="0"/>
              </a:rPr>
              <a:t>绝大部分的</a:t>
            </a:r>
            <a:r>
              <a:rPr lang="en-US" altLang="zh-CN" sz="3600" b="1" dirty="0">
                <a:solidFill>
                  <a:srgbClr val="FF0000"/>
                </a:solidFill>
                <a:latin typeface="Times New Roman" panose="02020603050405020304" pitchFamily="18" charset="0"/>
                <a:cs typeface="Times New Roman" panose="02020603050405020304" pitchFamily="18" charset="0"/>
              </a:rPr>
              <a:t> </a:t>
            </a:r>
            <a:endParaRPr lang="en-US" altLang="zh-CN" sz="3600" b="1" kern="100" dirty="0">
              <a:solidFill>
                <a:srgbClr val="FF0000"/>
              </a:solidFill>
              <a:latin typeface="Times New Roman" panose="02020603050405020304" pitchFamily="18" charset="0"/>
              <a:cs typeface="Times New Roman" panose="02020603050405020304" pitchFamily="18" charset="0"/>
            </a:endParaRPr>
          </a:p>
          <a:p>
            <a:endParaRPr lang="zh-CN" altLang="en-US" sz="3600" b="1" dirty="0">
              <a:solidFill>
                <a:srgbClr val="FF0000"/>
              </a:solidFill>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r>
              <a:rPr lang="en-US" altLang="zh-CN" sz="3500" b="1" dirty="0">
                <a:solidFill>
                  <a:srgbClr val="FF0000"/>
                </a:solidFill>
                <a:latin typeface="Times New Roman" panose="02020603050405020304" pitchFamily="18" charset="0"/>
                <a:cs typeface="Times New Roman" panose="02020603050405020304" pitchFamily="18" charset="0"/>
                <a:sym typeface="+mn-ea"/>
              </a:rPr>
              <a:t>11.</a:t>
            </a:r>
            <a:r>
              <a:rPr lang="zh-CN" altLang="zh-CN" sz="3500" b="1" kern="100" dirty="0">
                <a:solidFill>
                  <a:srgbClr val="FF0000"/>
                </a:solidFill>
                <a:latin typeface="Times New Roman" panose="02020603050405020304" pitchFamily="18" charset="0"/>
                <a:cs typeface="Times New Roman" panose="02020603050405020304" pitchFamily="18" charset="0"/>
                <a:sym typeface="+mn-ea"/>
              </a:rPr>
              <a:t>在</a:t>
            </a:r>
            <a:r>
              <a:rPr lang="en-US" altLang="zh-CN" sz="3500" b="1" kern="100" dirty="0">
                <a:solidFill>
                  <a:srgbClr val="FF0000"/>
                </a:solidFill>
                <a:latin typeface="Times New Roman" panose="02020603050405020304" pitchFamily="18" charset="0"/>
                <a:cs typeface="Times New Roman" panose="02020603050405020304" pitchFamily="18" charset="0"/>
                <a:sym typeface="+mn-ea"/>
              </a:rPr>
              <a:t>…</a:t>
            </a:r>
            <a:r>
              <a:rPr lang="zh-CN" altLang="zh-CN" sz="3500" b="1" kern="100" dirty="0">
                <a:solidFill>
                  <a:srgbClr val="FF0000"/>
                </a:solidFill>
                <a:latin typeface="Times New Roman" panose="02020603050405020304" pitchFamily="18" charset="0"/>
                <a:cs typeface="Times New Roman" panose="02020603050405020304" pitchFamily="18" charset="0"/>
                <a:sym typeface="+mn-ea"/>
              </a:rPr>
              <a:t>方面有天赋</a:t>
            </a:r>
            <a:r>
              <a:rPr lang="en-US" altLang="zh-CN" sz="3500" b="1" kern="100" dirty="0">
                <a:solidFill>
                  <a:srgbClr val="FF0000"/>
                </a:solidFill>
                <a:latin typeface="Times New Roman" panose="02020603050405020304" pitchFamily="18" charset="0"/>
                <a:cs typeface="Times New Roman" panose="02020603050405020304" pitchFamily="18" charset="0"/>
                <a:sym typeface="+mn-ea"/>
              </a:rPr>
              <a:t>(2</a:t>
            </a:r>
            <a:r>
              <a:rPr lang="zh-CN" altLang="en-US" sz="3500" b="1" kern="100" dirty="0">
                <a:solidFill>
                  <a:srgbClr val="FF0000"/>
                </a:solidFill>
                <a:latin typeface="Times New Roman" panose="02020603050405020304" pitchFamily="18" charset="0"/>
                <a:cs typeface="Times New Roman" panose="02020603050405020304" pitchFamily="18" charset="0"/>
                <a:sym typeface="+mn-ea"/>
              </a:rPr>
              <a:t>个</a:t>
            </a:r>
            <a:r>
              <a:rPr lang="en-US" altLang="zh-CN" sz="3500" b="1" kern="100" dirty="0">
                <a:solidFill>
                  <a:srgbClr val="FF0000"/>
                </a:solidFill>
                <a:latin typeface="Times New Roman" panose="02020603050405020304" pitchFamily="18" charset="0"/>
                <a:cs typeface="Times New Roman" panose="02020603050405020304" pitchFamily="18" charset="0"/>
                <a:sym typeface="+mn-ea"/>
              </a:rPr>
              <a:t>) 12.</a:t>
            </a:r>
            <a:r>
              <a:rPr lang="zh-CN" altLang="zh-CN" sz="3500" b="1" kern="100" dirty="0">
                <a:solidFill>
                  <a:srgbClr val="FF0000"/>
                </a:solidFill>
                <a:latin typeface="Times New Roman" panose="02020603050405020304" pitchFamily="18" charset="0"/>
                <a:cs typeface="Times New Roman" panose="02020603050405020304" pitchFamily="18" charset="0"/>
                <a:sym typeface="+mn-ea"/>
              </a:rPr>
              <a:t>获得作为</a:t>
            </a:r>
            <a:r>
              <a:rPr lang="en-US" altLang="zh-CN" sz="3500" b="1" kern="100" dirty="0">
                <a:solidFill>
                  <a:srgbClr val="FF0000"/>
                </a:solidFill>
                <a:latin typeface="Times New Roman" panose="02020603050405020304" pitchFamily="18" charset="0"/>
                <a:cs typeface="Times New Roman" panose="02020603050405020304" pitchFamily="18" charset="0"/>
                <a:sym typeface="+mn-ea"/>
              </a:rPr>
              <a:t>…</a:t>
            </a:r>
            <a:r>
              <a:rPr lang="zh-CN" altLang="zh-CN" sz="3500" b="1" kern="100" dirty="0">
                <a:solidFill>
                  <a:srgbClr val="FF0000"/>
                </a:solidFill>
                <a:latin typeface="Times New Roman" panose="02020603050405020304" pitchFamily="18" charset="0"/>
                <a:cs typeface="Times New Roman" panose="02020603050405020304" pitchFamily="18" charset="0"/>
                <a:sym typeface="+mn-ea"/>
              </a:rPr>
              <a:t>的好名声</a:t>
            </a:r>
            <a:r>
              <a:rPr lang="en-US" altLang="zh-CN" sz="3500" b="1" kern="100" dirty="0">
                <a:solidFill>
                  <a:srgbClr val="FF0000"/>
                </a:solidFill>
                <a:latin typeface="Times New Roman" panose="02020603050405020304" pitchFamily="18" charset="0"/>
                <a:cs typeface="Times New Roman" panose="02020603050405020304" pitchFamily="18" charset="0"/>
                <a:sym typeface="+mn-ea"/>
              </a:rPr>
              <a:t>;</a:t>
            </a:r>
            <a:r>
              <a:rPr lang="zh-CN" altLang="en-US" sz="3500" b="1" kern="100" dirty="0">
                <a:solidFill>
                  <a:srgbClr val="FF0000"/>
                </a:solidFill>
                <a:latin typeface="Times New Roman" panose="02020603050405020304" pitchFamily="18" charset="0"/>
                <a:cs typeface="Times New Roman" panose="02020603050405020304" pitchFamily="18" charset="0"/>
                <a:sym typeface="+mn-ea"/>
              </a:rPr>
              <a:t>因</a:t>
            </a:r>
            <a:r>
              <a:rPr lang="en-US" altLang="zh-CN" sz="3500" b="1" kern="100" dirty="0">
                <a:solidFill>
                  <a:srgbClr val="FF0000"/>
                </a:solidFill>
                <a:latin typeface="Times New Roman" panose="02020603050405020304" pitchFamily="18" charset="0"/>
                <a:cs typeface="Times New Roman" panose="02020603050405020304" pitchFamily="18" charset="0"/>
                <a:sym typeface="+mn-ea"/>
              </a:rPr>
              <a:t>…</a:t>
            </a:r>
            <a:r>
              <a:rPr lang="zh-CN" altLang="en-US" sz="3500" b="1" kern="100" dirty="0">
                <a:solidFill>
                  <a:srgbClr val="FF0000"/>
                </a:solidFill>
                <a:latin typeface="Times New Roman" panose="02020603050405020304" pitchFamily="18" charset="0"/>
                <a:cs typeface="Times New Roman" panose="02020603050405020304" pitchFamily="18" charset="0"/>
                <a:sym typeface="+mn-ea"/>
              </a:rPr>
              <a:t>闻名 </a:t>
            </a:r>
            <a:r>
              <a:rPr lang="en-US" altLang="zh-CN" sz="3500" b="1" kern="100" dirty="0">
                <a:solidFill>
                  <a:srgbClr val="FF0000"/>
                </a:solidFill>
                <a:latin typeface="Times New Roman" panose="02020603050405020304" pitchFamily="18" charset="0"/>
                <a:cs typeface="Times New Roman" panose="02020603050405020304" pitchFamily="18" charset="0"/>
                <a:sym typeface="+mn-ea"/>
              </a:rPr>
              <a:t>13.</a:t>
            </a:r>
            <a:r>
              <a:rPr lang="zh-CN" altLang="en-US" sz="3500" b="1" kern="100" dirty="0">
                <a:solidFill>
                  <a:srgbClr val="FF0000"/>
                </a:solidFill>
                <a:latin typeface="Times New Roman" panose="02020603050405020304" pitchFamily="18" charset="0"/>
                <a:cs typeface="Times New Roman" panose="02020603050405020304" pitchFamily="18" charset="0"/>
                <a:sym typeface="+mn-ea"/>
              </a:rPr>
              <a:t>绝妙的设计</a:t>
            </a:r>
            <a:r>
              <a:rPr lang="en-US" altLang="zh-CN" sz="3500" b="1" kern="100" dirty="0">
                <a:solidFill>
                  <a:srgbClr val="FF0000"/>
                </a:solidFill>
                <a:latin typeface="Times New Roman" panose="02020603050405020304" pitchFamily="18" charset="0"/>
                <a:cs typeface="Times New Roman" panose="02020603050405020304" pitchFamily="18" charset="0"/>
                <a:sym typeface="+mn-ea"/>
              </a:rPr>
              <a:t>;__adv.</a:t>
            </a:r>
            <a:r>
              <a:rPr lang="zh-CN" altLang="en-US" sz="3500" b="1" kern="100" dirty="0">
                <a:solidFill>
                  <a:srgbClr val="FF0000"/>
                </a:solidFill>
                <a:latin typeface="Times New Roman" panose="02020603050405020304" pitchFamily="18" charset="0"/>
                <a:cs typeface="Times New Roman" panose="02020603050405020304" pitchFamily="18" charset="0"/>
                <a:sym typeface="+mn-ea"/>
              </a:rPr>
              <a:t>卓越地 </a:t>
            </a:r>
            <a:r>
              <a:rPr lang="en-US" altLang="zh-CN" sz="3500" b="1" kern="100" dirty="0">
                <a:solidFill>
                  <a:srgbClr val="FF0000"/>
                </a:solidFill>
                <a:latin typeface="Times New Roman" panose="02020603050405020304" pitchFamily="18" charset="0"/>
                <a:cs typeface="Times New Roman" panose="02020603050405020304" pitchFamily="18" charset="0"/>
                <a:sym typeface="+mn-ea"/>
              </a:rPr>
              <a:t>14.</a:t>
            </a:r>
            <a:r>
              <a:rPr lang="zh-CN" altLang="zh-CN" sz="3500" b="1" kern="100" dirty="0">
                <a:solidFill>
                  <a:srgbClr val="FF0000"/>
                </a:solidFill>
                <a:latin typeface="Times New Roman" panose="02020603050405020304" pitchFamily="18" charset="0"/>
                <a:cs typeface="Times New Roman" panose="02020603050405020304" pitchFamily="18" charset="0"/>
                <a:sym typeface="+mn-ea"/>
              </a:rPr>
              <a:t>预测某事</a:t>
            </a:r>
            <a:r>
              <a:rPr lang="en-US" altLang="zh-CN" sz="3500" b="1" kern="100" dirty="0">
                <a:solidFill>
                  <a:srgbClr val="FF0000"/>
                </a:solidFill>
                <a:latin typeface="Times New Roman" panose="02020603050405020304" pitchFamily="18" charset="0"/>
                <a:cs typeface="Times New Roman" panose="02020603050405020304" pitchFamily="18" charset="0"/>
                <a:sym typeface="+mn-ea"/>
              </a:rPr>
              <a:t>;</a:t>
            </a:r>
            <a:r>
              <a:rPr lang="zh-CN" altLang="zh-CN" sz="3500" b="1" kern="100" dirty="0">
                <a:solidFill>
                  <a:srgbClr val="FF0000"/>
                </a:solidFill>
                <a:latin typeface="Times New Roman" panose="02020603050405020304" pitchFamily="18" charset="0"/>
                <a:cs typeface="Times New Roman" panose="02020603050405020304" pitchFamily="18" charset="0"/>
                <a:sym typeface="+mn-ea"/>
              </a:rPr>
              <a:t>预言</a:t>
            </a:r>
            <a:r>
              <a:rPr lang="en-US" altLang="zh-CN" sz="3500" b="1" kern="100" dirty="0">
                <a:solidFill>
                  <a:srgbClr val="FF0000"/>
                </a:solidFill>
                <a:latin typeface="Times New Roman" panose="02020603050405020304" pitchFamily="18" charset="0"/>
                <a:cs typeface="Times New Roman" panose="02020603050405020304" pitchFamily="18" charset="0"/>
                <a:sym typeface="+mn-ea"/>
              </a:rPr>
              <a:t>…</a:t>
            </a:r>
            <a:r>
              <a:rPr lang="zh-CN" altLang="zh-CN" sz="3500" b="1" kern="100" dirty="0">
                <a:solidFill>
                  <a:srgbClr val="FF0000"/>
                </a:solidFill>
                <a:latin typeface="Times New Roman" panose="02020603050405020304" pitchFamily="18" charset="0"/>
                <a:cs typeface="Times New Roman" panose="02020603050405020304" pitchFamily="18" charset="0"/>
                <a:sym typeface="+mn-ea"/>
              </a:rPr>
              <a:t>会做某事</a:t>
            </a:r>
            <a:r>
              <a:rPr lang="en-US" altLang="zh-CN" sz="3500" b="1" kern="100" dirty="0">
                <a:solidFill>
                  <a:srgbClr val="FF0000"/>
                </a:solidFill>
                <a:latin typeface="Times New Roman" panose="02020603050405020304" pitchFamily="18" charset="0"/>
                <a:cs typeface="Times New Roman" panose="02020603050405020304" pitchFamily="18" charset="0"/>
                <a:sym typeface="+mn-ea"/>
              </a:rPr>
              <a:t>;__n.</a:t>
            </a:r>
            <a:r>
              <a:rPr lang="zh-CN" altLang="en-US" sz="3500" b="1" kern="100" dirty="0">
                <a:solidFill>
                  <a:srgbClr val="FF0000"/>
                </a:solidFill>
                <a:latin typeface="Times New Roman" panose="02020603050405020304" pitchFamily="18" charset="0"/>
                <a:cs typeface="Times New Roman" panose="02020603050405020304" pitchFamily="18" charset="0"/>
                <a:sym typeface="+mn-ea"/>
              </a:rPr>
              <a:t>者</a:t>
            </a:r>
            <a:r>
              <a:rPr lang="en-US" altLang="zh-CN" sz="3500" b="1" kern="100" dirty="0">
                <a:solidFill>
                  <a:srgbClr val="FF0000"/>
                </a:solidFill>
                <a:latin typeface="Times New Roman" panose="02020603050405020304" pitchFamily="18" charset="0"/>
                <a:cs typeface="Times New Roman" panose="02020603050405020304" pitchFamily="18" charset="0"/>
                <a:sym typeface="+mn-ea"/>
              </a:rPr>
              <a:t>;__adv.</a:t>
            </a:r>
            <a:r>
              <a:rPr lang="zh-CN" altLang="en-US" sz="3500" b="1" kern="100" dirty="0">
                <a:solidFill>
                  <a:srgbClr val="FF0000"/>
                </a:solidFill>
                <a:latin typeface="Times New Roman" panose="02020603050405020304" pitchFamily="18" charset="0"/>
                <a:cs typeface="Times New Roman" panose="02020603050405020304" pitchFamily="18" charset="0"/>
                <a:sym typeface="+mn-ea"/>
              </a:rPr>
              <a:t>不可预见地 </a:t>
            </a:r>
            <a:r>
              <a:rPr lang="en-US" altLang="zh-CN" sz="3500" b="1" kern="100" dirty="0">
                <a:solidFill>
                  <a:srgbClr val="FF0000"/>
                </a:solidFill>
                <a:latin typeface="Times New Roman" panose="02020603050405020304" pitchFamily="18" charset="0"/>
                <a:cs typeface="Times New Roman" panose="02020603050405020304" pitchFamily="18" charset="0"/>
                <a:sym typeface="+mn-ea"/>
              </a:rPr>
              <a:t>15.</a:t>
            </a:r>
            <a:r>
              <a:rPr lang="zh-CN" altLang="en-US" sz="3500" b="1" kern="100" dirty="0">
                <a:solidFill>
                  <a:srgbClr val="FF0000"/>
                </a:solidFill>
                <a:latin typeface="Times New Roman" panose="02020603050405020304" pitchFamily="18" charset="0"/>
                <a:cs typeface="Times New Roman" panose="02020603050405020304" pitchFamily="18" charset="0"/>
                <a:sym typeface="+mn-ea"/>
              </a:rPr>
              <a:t>令人惊奇的是</a:t>
            </a:r>
            <a:r>
              <a:rPr lang="en-US" altLang="zh-CN" sz="3500" b="1" kern="100" dirty="0">
                <a:solidFill>
                  <a:srgbClr val="FF0000"/>
                </a:solidFill>
                <a:latin typeface="Times New Roman" panose="02020603050405020304" pitchFamily="18" charset="0"/>
                <a:cs typeface="Times New Roman" panose="02020603050405020304" pitchFamily="18" charset="0"/>
                <a:sym typeface="+mn-ea"/>
              </a:rPr>
              <a:t>;</a:t>
            </a:r>
            <a:r>
              <a:rPr lang="zh-CN" altLang="en-US" sz="3500" b="1" kern="100" dirty="0">
                <a:solidFill>
                  <a:srgbClr val="FF0000"/>
                </a:solidFill>
                <a:latin typeface="Times New Roman" panose="02020603050405020304" pitchFamily="18" charset="0"/>
                <a:cs typeface="Times New Roman" panose="02020603050405020304" pitchFamily="18" charset="0"/>
                <a:sym typeface="+mn-ea"/>
              </a:rPr>
              <a:t>常识</a:t>
            </a:r>
            <a:r>
              <a:rPr lang="en-US" altLang="zh-CN" sz="3500" b="1" kern="100" dirty="0">
                <a:solidFill>
                  <a:srgbClr val="FF0000"/>
                </a:solidFill>
                <a:latin typeface="Times New Roman" panose="02020603050405020304" pitchFamily="18" charset="0"/>
                <a:cs typeface="Times New Roman" panose="02020603050405020304" pitchFamily="18" charset="0"/>
                <a:sym typeface="+mn-ea"/>
              </a:rPr>
              <a:t>/</a:t>
            </a:r>
            <a:r>
              <a:rPr lang="zh-CN" altLang="en-US" sz="3500" b="1" kern="100" dirty="0">
                <a:solidFill>
                  <a:srgbClr val="FF0000"/>
                </a:solidFill>
                <a:latin typeface="Times New Roman" panose="02020603050405020304" pitchFamily="18" charset="0"/>
                <a:cs typeface="Times New Roman" panose="02020603050405020304" pitchFamily="18" charset="0"/>
                <a:sym typeface="+mn-ea"/>
              </a:rPr>
              <a:t>常规做法</a:t>
            </a:r>
            <a:r>
              <a:rPr lang="en-US" altLang="zh-CN" sz="3500" b="1" kern="100" dirty="0">
                <a:solidFill>
                  <a:srgbClr val="FF0000"/>
                </a:solidFill>
                <a:latin typeface="Times New Roman" panose="02020603050405020304" pitchFamily="18" charset="0"/>
                <a:cs typeface="Times New Roman" panose="02020603050405020304" pitchFamily="18" charset="0"/>
                <a:sym typeface="+mn-ea"/>
              </a:rPr>
              <a:t>;</a:t>
            </a:r>
            <a:r>
              <a:rPr lang="zh-CN" altLang="en-US" sz="3500" b="1" kern="100" dirty="0">
                <a:solidFill>
                  <a:srgbClr val="FF0000"/>
                </a:solidFill>
                <a:latin typeface="Times New Roman" panose="02020603050405020304" pitchFamily="18" charset="0"/>
                <a:cs typeface="Times New Roman" panose="02020603050405020304" pitchFamily="18" charset="0"/>
                <a:sym typeface="+mn-ea"/>
              </a:rPr>
              <a:t>有共同之处</a:t>
            </a:r>
            <a:r>
              <a:rPr lang="en-US" altLang="zh-CN" sz="3500" b="1" kern="100" dirty="0">
                <a:solidFill>
                  <a:srgbClr val="FF0000"/>
                </a:solidFill>
                <a:latin typeface="Times New Roman" panose="02020603050405020304" pitchFamily="18" charset="0"/>
                <a:cs typeface="Times New Roman" panose="02020603050405020304" pitchFamily="18" charset="0"/>
                <a:sym typeface="+mn-ea"/>
              </a:rPr>
              <a:t>;</a:t>
            </a:r>
            <a:r>
              <a:rPr lang="zh-CN" altLang="en-US" sz="3500" b="1" kern="100" dirty="0">
                <a:solidFill>
                  <a:srgbClr val="FF0000"/>
                </a:solidFill>
                <a:latin typeface="Times New Roman" panose="02020603050405020304" pitchFamily="18" charset="0"/>
                <a:cs typeface="Times New Roman" panose="02020603050405020304" pitchFamily="18" charset="0"/>
                <a:sym typeface="+mn-ea"/>
              </a:rPr>
              <a:t>像往常一样 </a:t>
            </a:r>
            <a:r>
              <a:rPr lang="en-US" altLang="zh-CN" sz="3500" b="1" kern="100" dirty="0">
                <a:solidFill>
                  <a:srgbClr val="FF0000"/>
                </a:solidFill>
                <a:latin typeface="Times New Roman" panose="02020603050405020304" pitchFamily="18" charset="0"/>
                <a:cs typeface="Times New Roman" panose="02020603050405020304" pitchFamily="18" charset="0"/>
                <a:sym typeface="+mn-ea"/>
              </a:rPr>
              <a:t>16.</a:t>
            </a:r>
            <a:r>
              <a:rPr lang="zh-CN" altLang="en-US" sz="3500" b="1" kern="100" dirty="0">
                <a:solidFill>
                  <a:srgbClr val="FF0000"/>
                </a:solidFill>
                <a:latin typeface="Times New Roman" panose="02020603050405020304" pitchFamily="18" charset="0"/>
                <a:cs typeface="Times New Roman" panose="02020603050405020304" pitchFamily="18" charset="0"/>
                <a:sym typeface="+mn-ea"/>
              </a:rPr>
              <a:t>对</a:t>
            </a:r>
            <a:r>
              <a:rPr lang="en-US" altLang="zh-CN" sz="3500" b="1" kern="100" dirty="0">
                <a:solidFill>
                  <a:srgbClr val="FF0000"/>
                </a:solidFill>
                <a:latin typeface="Times New Roman" panose="02020603050405020304" pitchFamily="18" charset="0"/>
                <a:cs typeface="Times New Roman" panose="02020603050405020304" pitchFamily="18" charset="0"/>
                <a:sym typeface="+mn-ea"/>
              </a:rPr>
              <a:t>…</a:t>
            </a:r>
            <a:r>
              <a:rPr lang="zh-CN" altLang="en-US" sz="3500" b="1" kern="100" dirty="0">
                <a:solidFill>
                  <a:srgbClr val="FF0000"/>
                </a:solidFill>
                <a:latin typeface="Times New Roman" panose="02020603050405020304" pitchFamily="18" charset="0"/>
                <a:cs typeface="Times New Roman" panose="02020603050405020304" pitchFamily="18" charset="0"/>
                <a:sym typeface="+mn-ea"/>
              </a:rPr>
              <a:t>感到</a:t>
            </a:r>
            <a:r>
              <a:rPr lang="zh-CN" altLang="zh-CN" sz="3500" b="1" kern="100" dirty="0">
                <a:solidFill>
                  <a:srgbClr val="FF0000"/>
                </a:solidFill>
                <a:latin typeface="Times New Roman" panose="02020603050405020304" pitchFamily="18" charset="0"/>
                <a:cs typeface="Times New Roman" panose="02020603050405020304" pitchFamily="18" charset="0"/>
                <a:sym typeface="+mn-ea"/>
              </a:rPr>
              <a:t>沮丧</a:t>
            </a:r>
            <a:r>
              <a:rPr lang="en-US" altLang="zh-CN" sz="3500" b="1" kern="100" dirty="0">
                <a:solidFill>
                  <a:srgbClr val="FF0000"/>
                </a:solidFill>
                <a:latin typeface="Times New Roman" panose="02020603050405020304" pitchFamily="18" charset="0"/>
                <a:cs typeface="Times New Roman" panose="02020603050405020304" pitchFamily="18" charset="0"/>
                <a:sym typeface="+mn-ea"/>
              </a:rPr>
              <a:t>;</a:t>
            </a:r>
            <a:r>
              <a:rPr lang="zh-CN" altLang="en-US" sz="3500" b="1" kern="100" dirty="0">
                <a:solidFill>
                  <a:srgbClr val="FF0000"/>
                </a:solidFill>
                <a:latin typeface="Times New Roman" panose="02020603050405020304" pitchFamily="18" charset="0"/>
                <a:cs typeface="Times New Roman" panose="02020603050405020304" pitchFamily="18" charset="0"/>
                <a:sym typeface="+mn-ea"/>
              </a:rPr>
              <a:t>经济萧条</a:t>
            </a:r>
            <a:r>
              <a:rPr lang="en-US" altLang="zh-CN" sz="3500" b="1" kern="100" dirty="0">
                <a:solidFill>
                  <a:srgbClr val="FF0000"/>
                </a:solidFill>
                <a:latin typeface="Times New Roman" panose="02020603050405020304" pitchFamily="18" charset="0"/>
                <a:cs typeface="Times New Roman" panose="02020603050405020304" pitchFamily="18" charset="0"/>
                <a:sym typeface="+mn-ea"/>
              </a:rPr>
              <a:t>;__a.</a:t>
            </a:r>
            <a:r>
              <a:rPr lang="zh-CN" altLang="en-US" sz="3500" b="1" kern="100" dirty="0">
                <a:solidFill>
                  <a:srgbClr val="FF0000"/>
                </a:solidFill>
                <a:latin typeface="Times New Roman" panose="02020603050405020304" pitchFamily="18" charset="0"/>
                <a:cs typeface="Times New Roman" panose="02020603050405020304" pitchFamily="18" charset="0"/>
                <a:sym typeface="+mn-ea"/>
              </a:rPr>
              <a:t>令人沮丧的</a:t>
            </a:r>
            <a:r>
              <a:rPr lang="en-US" altLang="zh-CN" sz="3500" b="1" kern="100" dirty="0">
                <a:solidFill>
                  <a:srgbClr val="FF0000"/>
                </a:solidFill>
                <a:latin typeface="Times New Roman" panose="02020603050405020304" pitchFamily="18" charset="0"/>
                <a:cs typeface="Times New Roman" panose="02020603050405020304" pitchFamily="18" charset="0"/>
                <a:sym typeface="+mn-ea"/>
              </a:rPr>
              <a:t>;__a.</a:t>
            </a:r>
            <a:r>
              <a:rPr lang="zh-CN" altLang="en-US" sz="3500" b="1" kern="100" dirty="0">
                <a:solidFill>
                  <a:srgbClr val="FF0000"/>
                </a:solidFill>
                <a:latin typeface="Times New Roman" panose="02020603050405020304" pitchFamily="18" charset="0"/>
                <a:cs typeface="Times New Roman" panose="02020603050405020304" pitchFamily="18" charset="0"/>
                <a:sym typeface="+mn-ea"/>
              </a:rPr>
              <a:t>感到沮丧的</a:t>
            </a:r>
            <a:r>
              <a:rPr lang="en-US" altLang="zh-CN" sz="3500" b="1" kern="100" dirty="0">
                <a:solidFill>
                  <a:srgbClr val="FF0000"/>
                </a:solidFill>
                <a:latin typeface="Times New Roman" panose="02020603050405020304" pitchFamily="18" charset="0"/>
                <a:cs typeface="Times New Roman" panose="02020603050405020304" pitchFamily="18" charset="0"/>
                <a:sym typeface="+mn-ea"/>
              </a:rPr>
              <a:t>;__n.</a:t>
            </a:r>
            <a:r>
              <a:rPr lang="zh-CN" altLang="en-US" sz="3500" b="1" kern="100" dirty="0">
                <a:solidFill>
                  <a:srgbClr val="FF0000"/>
                </a:solidFill>
                <a:latin typeface="Times New Roman" panose="02020603050405020304" pitchFamily="18" charset="0"/>
                <a:cs typeface="Times New Roman" panose="02020603050405020304" pitchFamily="18" charset="0"/>
                <a:sym typeface="+mn-ea"/>
              </a:rPr>
              <a:t>沮丧 </a:t>
            </a:r>
            <a:r>
              <a:rPr lang="en-US" altLang="zh-CN" sz="3500" b="1" kern="100" dirty="0">
                <a:solidFill>
                  <a:srgbClr val="FF0000"/>
                </a:solidFill>
                <a:latin typeface="Times New Roman" panose="02020603050405020304" pitchFamily="18" charset="0"/>
                <a:cs typeface="Times New Roman" panose="02020603050405020304" pitchFamily="18" charset="0"/>
                <a:sym typeface="+mn-ea"/>
              </a:rPr>
              <a:t>17.</a:t>
            </a:r>
            <a:r>
              <a:rPr lang="zh-CN" altLang="en-US" sz="3500" b="1" kern="100" dirty="0">
                <a:solidFill>
                  <a:srgbClr val="FF0000"/>
                </a:solidFill>
                <a:latin typeface="Times New Roman" panose="02020603050405020304" pitchFamily="18" charset="0"/>
                <a:cs typeface="Times New Roman" panose="02020603050405020304" pitchFamily="18" charset="0"/>
                <a:sym typeface="+mn-ea"/>
              </a:rPr>
              <a:t>复杂的 </a:t>
            </a:r>
            <a:r>
              <a:rPr lang="en-US" altLang="zh-CN" sz="3500" b="1" kern="100" dirty="0">
                <a:solidFill>
                  <a:srgbClr val="FF0000"/>
                </a:solidFill>
                <a:latin typeface="Times New Roman" panose="02020603050405020304" pitchFamily="18" charset="0"/>
                <a:cs typeface="Times New Roman" panose="02020603050405020304" pitchFamily="18" charset="0"/>
                <a:sym typeface="+mn-ea"/>
              </a:rPr>
              <a:t>18.</a:t>
            </a:r>
            <a:r>
              <a:rPr lang="zh-CN" altLang="zh-CN" sz="3500" b="1" kern="100" dirty="0">
                <a:solidFill>
                  <a:srgbClr val="FF0000"/>
                </a:solidFill>
                <a:latin typeface="Times New Roman" panose="02020603050405020304" pitchFamily="18" charset="0"/>
                <a:cs typeface="Times New Roman" panose="02020603050405020304" pitchFamily="18" charset="0"/>
                <a:sym typeface="+mn-ea"/>
              </a:rPr>
              <a:t>让某人心烦的是</a:t>
            </a:r>
            <a:r>
              <a:rPr lang="en-US" altLang="zh-CN" sz="3500" b="1" kern="100" dirty="0">
                <a:solidFill>
                  <a:srgbClr val="FF0000"/>
                </a:solidFill>
                <a:latin typeface="Times New Roman" panose="02020603050405020304" pitchFamily="18" charset="0"/>
                <a:cs typeface="Times New Roman" panose="02020603050405020304" pitchFamily="18" charset="0"/>
                <a:sym typeface="+mn-ea"/>
              </a:rPr>
              <a:t>;</a:t>
            </a:r>
            <a:r>
              <a:rPr lang="zh-CN" altLang="zh-CN" sz="3500" b="1" kern="100" dirty="0">
                <a:solidFill>
                  <a:srgbClr val="FF0000"/>
                </a:solidFill>
                <a:latin typeface="Times New Roman" panose="02020603050405020304" pitchFamily="18" charset="0"/>
                <a:cs typeface="Times New Roman" panose="02020603050405020304" pitchFamily="18" charset="0"/>
                <a:sym typeface="+mn-ea"/>
              </a:rPr>
              <a:t>为某事心烦</a:t>
            </a:r>
            <a:r>
              <a:rPr lang="en-US" altLang="zh-CN" sz="3500" b="1" kern="100" dirty="0">
                <a:solidFill>
                  <a:srgbClr val="FF0000"/>
                </a:solidFill>
                <a:latin typeface="Times New Roman" panose="02020603050405020304" pitchFamily="18" charset="0"/>
                <a:cs typeface="Times New Roman" panose="02020603050405020304" pitchFamily="18" charset="0"/>
                <a:sym typeface="+mn-ea"/>
              </a:rPr>
              <a:t>;</a:t>
            </a:r>
            <a:r>
              <a:rPr lang="zh-CN" altLang="zh-CN" sz="3500" b="1" kern="100" dirty="0">
                <a:solidFill>
                  <a:srgbClr val="FF0000"/>
                </a:solidFill>
                <a:latin typeface="Times New Roman" panose="02020603050405020304" pitchFamily="18" charset="0"/>
                <a:cs typeface="Times New Roman" panose="02020603050405020304" pitchFamily="18" charset="0"/>
                <a:sym typeface="+mn-ea"/>
              </a:rPr>
              <a:t>生某人气</a:t>
            </a:r>
            <a:r>
              <a:rPr lang="en-US" altLang="zh-CN" sz="3500" b="1" kern="100">
                <a:solidFill>
                  <a:srgbClr val="FF0000"/>
                </a:solidFill>
                <a:latin typeface="Times New Roman" panose="02020603050405020304" pitchFamily="18" charset="0"/>
                <a:cs typeface="Times New Roman" panose="02020603050405020304" pitchFamily="18" charset="0"/>
                <a:sym typeface="+mn-ea"/>
              </a:rPr>
              <a:t>;upset(__,__);__</a:t>
            </a:r>
            <a:r>
              <a:rPr lang="en-US" altLang="zh-CN" sz="3500" b="1" kern="100" dirty="0">
                <a:solidFill>
                  <a:srgbClr val="FF0000"/>
                </a:solidFill>
                <a:latin typeface="Times New Roman" panose="02020603050405020304" pitchFamily="18" charset="0"/>
                <a:cs typeface="Times New Roman" panose="02020603050405020304" pitchFamily="18" charset="0"/>
                <a:sym typeface="+mn-ea"/>
              </a:rPr>
              <a:t>adj.</a:t>
            </a:r>
            <a:r>
              <a:rPr lang="zh-CN" altLang="en-US" sz="3500" b="1" kern="100" dirty="0">
                <a:solidFill>
                  <a:srgbClr val="FF0000"/>
                </a:solidFill>
                <a:latin typeface="Times New Roman" panose="02020603050405020304" pitchFamily="18" charset="0"/>
                <a:cs typeface="Times New Roman" panose="02020603050405020304" pitchFamily="18" charset="0"/>
                <a:sym typeface="+mn-ea"/>
              </a:rPr>
              <a:t>令人心烦意乱的</a:t>
            </a:r>
            <a:r>
              <a:rPr lang="en-US" altLang="zh-CN" sz="3500" b="1" kern="100" dirty="0">
                <a:solidFill>
                  <a:srgbClr val="FF0000"/>
                </a:solidFill>
                <a:latin typeface="Times New Roman" panose="02020603050405020304" pitchFamily="18" charset="0"/>
                <a:cs typeface="Times New Roman" panose="02020603050405020304" pitchFamily="18" charset="0"/>
                <a:sym typeface="+mn-ea"/>
              </a:rPr>
              <a:t> 19.</a:t>
            </a:r>
            <a:r>
              <a:rPr lang="en-US" altLang="zh-CN" sz="3500" b="1" dirty="0">
                <a:solidFill>
                  <a:srgbClr val="FF0000"/>
                </a:solidFill>
                <a:sym typeface="+mn-ea"/>
              </a:rPr>
              <a:t>grab(__,__); sweep(__,__); accompany(__,__)</a:t>
            </a:r>
          </a:p>
          <a:p>
            <a:pPr algn="just"/>
            <a:r>
              <a:rPr lang="en-US" altLang="zh-CN" sz="3500" b="1" dirty="0">
                <a:solidFill>
                  <a:srgbClr val="7030A0"/>
                </a:solidFill>
              </a:rPr>
              <a:t>20.</a:t>
            </a:r>
            <a:r>
              <a:rPr lang="zh-CN" altLang="zh-CN" sz="3500" b="1" kern="100" dirty="0">
                <a:solidFill>
                  <a:srgbClr val="7030A0"/>
                </a:solidFill>
                <a:effectLst/>
                <a:latin typeface="Times New Roman" panose="02020603050405020304" pitchFamily="18" charset="0"/>
                <a:cs typeface="Times New Roman" panose="02020603050405020304" pitchFamily="18" charset="0"/>
                <a:sym typeface="+mn-ea"/>
              </a:rPr>
              <a:t>具有</a:t>
            </a:r>
            <a:r>
              <a:rPr lang="en-US" sz="3500" b="1" kern="100" dirty="0">
                <a:solidFill>
                  <a:srgbClr val="7030A0"/>
                </a:solidFill>
                <a:effectLst/>
                <a:latin typeface="Times New Roman" panose="02020603050405020304" pitchFamily="18" charset="0"/>
                <a:cs typeface="Times New Roman" panose="02020603050405020304" pitchFamily="18" charset="0"/>
                <a:sym typeface="+mn-ea"/>
              </a:rPr>
              <a:t>;</a:t>
            </a:r>
            <a:r>
              <a:rPr lang="zh-CN" altLang="zh-CN" sz="3500" b="1" kern="100" dirty="0">
                <a:solidFill>
                  <a:srgbClr val="7030A0"/>
                </a:solidFill>
                <a:effectLst/>
                <a:latin typeface="Times New Roman" panose="02020603050405020304" pitchFamily="18" charset="0"/>
                <a:cs typeface="Times New Roman" panose="02020603050405020304" pitchFamily="18" charset="0"/>
                <a:sym typeface="+mn-ea"/>
              </a:rPr>
              <a:t>拥有</a:t>
            </a:r>
            <a:r>
              <a:rPr lang="en-US" sz="3500" b="1" kern="100" dirty="0">
                <a:solidFill>
                  <a:srgbClr val="7030A0"/>
                </a:solidFill>
                <a:effectLst/>
                <a:latin typeface="Times New Roman" panose="02020603050405020304" pitchFamily="18" charset="0"/>
                <a:cs typeface="Times New Roman" panose="02020603050405020304" pitchFamily="18" charset="0"/>
                <a:sym typeface="+mn-ea"/>
              </a:rPr>
              <a:t>;</a:t>
            </a:r>
            <a:r>
              <a:rPr lang="zh-CN" altLang="zh-CN" sz="3500" b="1" kern="100" dirty="0">
                <a:solidFill>
                  <a:srgbClr val="7030A0"/>
                </a:solidFill>
                <a:effectLst/>
                <a:latin typeface="Times New Roman" panose="02020603050405020304" pitchFamily="18" charset="0"/>
                <a:cs typeface="Times New Roman" panose="02020603050405020304" pitchFamily="18" charset="0"/>
                <a:sym typeface="+mn-ea"/>
              </a:rPr>
              <a:t>为某人所有</a:t>
            </a:r>
            <a:r>
              <a:rPr lang="en-US" altLang="zh-CN" sz="3500" b="1" kern="100" dirty="0">
                <a:solidFill>
                  <a:srgbClr val="7030A0"/>
                </a:solidFill>
                <a:effectLst/>
                <a:latin typeface="Times New Roman" panose="02020603050405020304" pitchFamily="18" charset="0"/>
                <a:cs typeface="Times New Roman" panose="02020603050405020304" pitchFamily="18" charset="0"/>
                <a:sym typeface="+mn-ea"/>
              </a:rPr>
              <a:t>;__n.</a:t>
            </a:r>
            <a:r>
              <a:rPr lang="zh-CN" altLang="en-US" sz="3500" b="1" kern="100" dirty="0">
                <a:solidFill>
                  <a:srgbClr val="7030A0"/>
                </a:solidFill>
                <a:effectLst/>
                <a:latin typeface="Times New Roman" panose="02020603050405020304" pitchFamily="18" charset="0"/>
                <a:cs typeface="Times New Roman" panose="02020603050405020304" pitchFamily="18" charset="0"/>
                <a:sym typeface="+mn-ea"/>
              </a:rPr>
              <a:t>财产</a:t>
            </a:r>
            <a:r>
              <a:rPr lang="en-US" altLang="zh-CN" sz="3500" b="1" kern="100" dirty="0">
                <a:solidFill>
                  <a:srgbClr val="7030A0"/>
                </a:solidFill>
                <a:effectLst/>
                <a:latin typeface="Times New Roman" panose="02020603050405020304" pitchFamily="18" charset="0"/>
                <a:cs typeface="Times New Roman" panose="02020603050405020304" pitchFamily="18" charset="0"/>
                <a:sym typeface="+mn-ea"/>
              </a:rPr>
              <a:t> 21.</a:t>
            </a:r>
            <a:r>
              <a:rPr lang="zh-CN" altLang="zh-CN" sz="3500" b="1" kern="100" dirty="0">
                <a:solidFill>
                  <a:srgbClr val="7030A0"/>
                </a:solidFill>
                <a:effectLst/>
                <a:latin typeface="Times New Roman" panose="02020603050405020304" pitchFamily="18" charset="0"/>
                <a:cs typeface="Times New Roman" panose="02020603050405020304" pitchFamily="18" charset="0"/>
                <a:sym typeface="+mn-ea"/>
              </a:rPr>
              <a:t>放弃做某事</a:t>
            </a:r>
            <a:r>
              <a:rPr lang="en-US" altLang="zh-CN" sz="3500" b="1" kern="100" dirty="0">
                <a:solidFill>
                  <a:srgbClr val="7030A0"/>
                </a:solidFill>
                <a:effectLst/>
                <a:latin typeface="Times New Roman" panose="02020603050405020304" pitchFamily="18" charset="0"/>
                <a:cs typeface="Times New Roman" panose="02020603050405020304" pitchFamily="18" charset="0"/>
                <a:sym typeface="+mn-ea"/>
              </a:rPr>
              <a:t>;</a:t>
            </a:r>
            <a:r>
              <a:rPr lang="zh-CN" altLang="zh-CN" sz="3500" b="1" kern="100" dirty="0">
                <a:solidFill>
                  <a:srgbClr val="7030A0"/>
                </a:solidFill>
                <a:effectLst/>
                <a:latin typeface="Times New Roman" panose="02020603050405020304" pitchFamily="18" charset="0"/>
                <a:cs typeface="Times New Roman" panose="02020603050405020304" pitchFamily="18" charset="0"/>
                <a:sym typeface="+mn-ea"/>
              </a:rPr>
              <a:t>沉湎于</a:t>
            </a:r>
            <a:r>
              <a:rPr lang="en-US" altLang="zh-CN" sz="3500" b="1" kern="100" dirty="0">
                <a:solidFill>
                  <a:srgbClr val="7030A0"/>
                </a:solidFill>
                <a:effectLst/>
                <a:latin typeface="Times New Roman" panose="02020603050405020304" pitchFamily="18" charset="0"/>
                <a:cs typeface="Times New Roman" panose="02020603050405020304" pitchFamily="18" charset="0"/>
                <a:sym typeface="+mn-ea"/>
              </a:rPr>
              <a:t>;__n.;__adj. 22.</a:t>
            </a:r>
            <a:r>
              <a:rPr lang="zh-CN" altLang="en-US" sz="3500" b="1" kern="100" dirty="0">
                <a:solidFill>
                  <a:srgbClr val="7030A0"/>
                </a:solidFill>
                <a:effectLst/>
                <a:latin typeface="Times New Roman" panose="02020603050405020304" pitchFamily="18" charset="0"/>
                <a:cs typeface="Times New Roman" panose="02020603050405020304" pitchFamily="18" charset="0"/>
                <a:sym typeface="+mn-ea"/>
              </a:rPr>
              <a:t>突然</a:t>
            </a:r>
            <a:r>
              <a:rPr lang="en-US" altLang="zh-CN" sz="3500" b="1" kern="100" dirty="0">
                <a:solidFill>
                  <a:srgbClr val="7030A0"/>
                </a:solidFill>
                <a:effectLst/>
                <a:latin typeface="Times New Roman" panose="02020603050405020304" pitchFamily="18" charset="0"/>
                <a:cs typeface="Times New Roman" panose="02020603050405020304" pitchFamily="18" charset="0"/>
                <a:sym typeface="+mn-ea"/>
              </a:rPr>
              <a:t> 23.</a:t>
            </a:r>
            <a:r>
              <a:rPr lang="zh-CN" altLang="zh-CN" sz="3500" b="1" kern="100" dirty="0">
                <a:solidFill>
                  <a:srgbClr val="7030A0"/>
                </a:solidFill>
                <a:effectLst/>
                <a:latin typeface="Times New Roman" panose="02020603050405020304" pitchFamily="18" charset="0"/>
                <a:cs typeface="Times New Roman" panose="02020603050405020304" pitchFamily="18" charset="0"/>
                <a:sym typeface="+mn-ea"/>
              </a:rPr>
              <a:t>渴望某物</a:t>
            </a:r>
            <a:r>
              <a:rPr lang="en-US" altLang="zh-CN" sz="3500" b="1" kern="100" dirty="0">
                <a:solidFill>
                  <a:srgbClr val="7030A0"/>
                </a:solidFill>
                <a:effectLst/>
                <a:latin typeface="Times New Roman" panose="02020603050405020304" pitchFamily="18" charset="0"/>
                <a:cs typeface="Times New Roman" panose="02020603050405020304" pitchFamily="18" charset="0"/>
                <a:sym typeface="+mn-ea"/>
              </a:rPr>
              <a:t>;</a:t>
            </a:r>
            <a:r>
              <a:rPr lang="zh-CN" altLang="zh-CN" sz="3500" b="1" kern="100" dirty="0">
                <a:solidFill>
                  <a:srgbClr val="7030A0"/>
                </a:solidFill>
                <a:effectLst/>
                <a:latin typeface="Times New Roman" panose="02020603050405020304" pitchFamily="18" charset="0"/>
                <a:cs typeface="Times New Roman" panose="02020603050405020304" pitchFamily="18" charset="0"/>
                <a:sym typeface="+mn-ea"/>
              </a:rPr>
              <a:t>渴望做某事</a:t>
            </a:r>
            <a:r>
              <a:rPr lang="en-US" altLang="zh-CN" sz="3500" b="1" kern="100" dirty="0">
                <a:solidFill>
                  <a:srgbClr val="7030A0"/>
                </a:solidFill>
                <a:effectLst/>
                <a:latin typeface="Times New Roman" panose="02020603050405020304" pitchFamily="18" charset="0"/>
                <a:cs typeface="Times New Roman" panose="02020603050405020304" pitchFamily="18" charset="0"/>
                <a:sym typeface="+mn-ea"/>
              </a:rPr>
              <a:t>;</a:t>
            </a:r>
            <a:r>
              <a:rPr lang="zh-CN" altLang="zh-CN" sz="3500" b="1" kern="100" dirty="0">
                <a:solidFill>
                  <a:srgbClr val="7030A0"/>
                </a:solidFill>
                <a:effectLst/>
                <a:latin typeface="Times New Roman" panose="02020603050405020304" pitchFamily="18" charset="0"/>
                <a:cs typeface="Times New Roman" panose="02020603050405020304" pitchFamily="18" charset="0"/>
                <a:sym typeface="+mn-ea"/>
              </a:rPr>
              <a:t>非常需要</a:t>
            </a:r>
            <a:r>
              <a:rPr lang="en-US" altLang="zh-CN" sz="3500" b="1" kern="100" dirty="0">
                <a:solidFill>
                  <a:srgbClr val="7030A0"/>
                </a:solidFill>
                <a:effectLst/>
                <a:latin typeface="Times New Roman" panose="02020603050405020304" pitchFamily="18" charset="0"/>
                <a:cs typeface="Times New Roman" panose="02020603050405020304" pitchFamily="18" charset="0"/>
                <a:sym typeface="+mn-ea"/>
              </a:rPr>
              <a:t>;__n.</a:t>
            </a:r>
            <a:r>
              <a:rPr lang="zh-CN" altLang="en-US" sz="3500" b="1" kern="100" dirty="0">
                <a:solidFill>
                  <a:srgbClr val="7030A0"/>
                </a:solidFill>
                <a:effectLst/>
                <a:latin typeface="Times New Roman" panose="02020603050405020304" pitchFamily="18" charset="0"/>
                <a:cs typeface="Times New Roman" panose="02020603050405020304" pitchFamily="18" charset="0"/>
                <a:sym typeface="+mn-ea"/>
              </a:rPr>
              <a:t>绝望</a:t>
            </a:r>
            <a:r>
              <a:rPr lang="en-US" altLang="zh-CN" sz="3500" b="1" kern="100" dirty="0">
                <a:solidFill>
                  <a:srgbClr val="7030A0"/>
                </a:solidFill>
                <a:effectLst/>
                <a:latin typeface="Times New Roman" panose="02020603050405020304" pitchFamily="18" charset="0"/>
                <a:cs typeface="Times New Roman" panose="02020603050405020304" pitchFamily="18" charset="0"/>
                <a:sym typeface="+mn-ea"/>
              </a:rPr>
              <a:t>;__adv.</a:t>
            </a:r>
            <a:r>
              <a:rPr lang="zh-CN" altLang="en-US" sz="3500" b="1" kern="100" dirty="0">
                <a:solidFill>
                  <a:srgbClr val="7030A0"/>
                </a:solidFill>
                <a:effectLst/>
                <a:latin typeface="Times New Roman" panose="02020603050405020304" pitchFamily="18" charset="0"/>
                <a:cs typeface="Times New Roman" panose="02020603050405020304" pitchFamily="18" charset="0"/>
                <a:sym typeface="+mn-ea"/>
              </a:rPr>
              <a:t>极其非常</a:t>
            </a:r>
            <a:r>
              <a:rPr lang="en-US" altLang="zh-CN" sz="3500" b="1" kern="100" dirty="0">
                <a:solidFill>
                  <a:srgbClr val="7030A0"/>
                </a:solidFill>
                <a:effectLst/>
                <a:latin typeface="Times New Roman" panose="02020603050405020304" pitchFamily="18" charset="0"/>
                <a:cs typeface="Times New Roman" panose="02020603050405020304" pitchFamily="18" charset="0"/>
                <a:sym typeface="+mn-ea"/>
              </a:rPr>
              <a:t> 24.</a:t>
            </a:r>
            <a:r>
              <a:rPr lang="zh-CN" altLang="en-US" sz="3500" b="1" kern="100" dirty="0">
                <a:solidFill>
                  <a:srgbClr val="7030A0"/>
                </a:solidFill>
                <a:effectLst/>
                <a:latin typeface="Times New Roman" panose="02020603050405020304" pitchFamily="18" charset="0"/>
                <a:cs typeface="Times New Roman" panose="02020603050405020304" pitchFamily="18" charset="0"/>
                <a:sym typeface="+mn-ea"/>
              </a:rPr>
              <a:t>鼓舞人心的经历</a:t>
            </a:r>
            <a:r>
              <a:rPr lang="en-US" altLang="zh-CN" sz="3500" b="1" kern="100" dirty="0">
                <a:solidFill>
                  <a:srgbClr val="7030A0"/>
                </a:solidFill>
                <a:effectLst/>
                <a:latin typeface="Times New Roman" panose="02020603050405020304" pitchFamily="18" charset="0"/>
                <a:cs typeface="Times New Roman" panose="02020603050405020304" pitchFamily="18" charset="0"/>
                <a:sym typeface="+mn-ea"/>
              </a:rPr>
              <a:t> 25.</a:t>
            </a:r>
            <a:r>
              <a:rPr lang="zh-CN" altLang="zh-CN" sz="3500" b="1" kern="100" dirty="0">
                <a:solidFill>
                  <a:srgbClr val="7030A0"/>
                </a:solidFill>
                <a:effectLst/>
                <a:latin typeface="Times New Roman" panose="02020603050405020304" pitchFamily="18" charset="0"/>
                <a:cs typeface="Times New Roman" panose="02020603050405020304" pitchFamily="18" charset="0"/>
                <a:sym typeface="+mn-ea"/>
              </a:rPr>
              <a:t>轻松</a:t>
            </a:r>
            <a:r>
              <a:rPr lang="en-US" altLang="zh-CN" sz="3500" b="1" kern="100" dirty="0">
                <a:solidFill>
                  <a:srgbClr val="7030A0"/>
                </a:solidFill>
                <a:effectLst/>
                <a:latin typeface="Times New Roman" panose="02020603050405020304" pitchFamily="18" charset="0"/>
                <a:cs typeface="Times New Roman" panose="02020603050405020304" pitchFamily="18" charset="0"/>
                <a:sym typeface="+mn-ea"/>
              </a:rPr>
              <a:t>;</a:t>
            </a:r>
            <a:r>
              <a:rPr lang="zh-CN" altLang="zh-CN" sz="3500" b="1" kern="100" dirty="0">
                <a:solidFill>
                  <a:srgbClr val="7030A0"/>
                </a:solidFill>
                <a:effectLst/>
                <a:latin typeface="Times New Roman" panose="02020603050405020304" pitchFamily="18" charset="0"/>
                <a:cs typeface="Times New Roman" panose="02020603050405020304" pitchFamily="18" charset="0"/>
                <a:sym typeface="+mn-ea"/>
              </a:rPr>
              <a:t>使某人放松</a:t>
            </a:r>
            <a:r>
              <a:rPr lang="en-US" altLang="zh-CN" sz="3500" b="1" kern="100" dirty="0">
                <a:solidFill>
                  <a:srgbClr val="7030A0"/>
                </a:solidFill>
                <a:effectLst/>
                <a:latin typeface="Times New Roman" panose="02020603050405020304" pitchFamily="18" charset="0"/>
                <a:cs typeface="Times New Roman" panose="02020603050405020304" pitchFamily="18" charset="0"/>
                <a:sym typeface="+mn-ea"/>
              </a:rPr>
              <a:t>;</a:t>
            </a:r>
            <a:r>
              <a:rPr lang="zh-CN" altLang="zh-CN" sz="3500" b="1" kern="100" dirty="0">
                <a:solidFill>
                  <a:srgbClr val="7030A0"/>
                </a:solidFill>
                <a:effectLst/>
                <a:latin typeface="Times New Roman" panose="02020603050405020304" pitchFamily="18" charset="0"/>
                <a:cs typeface="Times New Roman" panose="02020603050405020304" pitchFamily="18" charset="0"/>
                <a:sym typeface="+mn-ea"/>
              </a:rPr>
              <a:t>减轻负担</a:t>
            </a:r>
            <a:r>
              <a:rPr lang="en-US" altLang="zh-CN" sz="3500" b="1" kern="100" dirty="0">
                <a:solidFill>
                  <a:srgbClr val="7030A0"/>
                </a:solidFill>
                <a:effectLst/>
                <a:latin typeface="Times New Roman" panose="02020603050405020304" pitchFamily="18" charset="0"/>
                <a:cs typeface="Times New Roman" panose="02020603050405020304" pitchFamily="18" charset="0"/>
                <a:sym typeface="+mn-ea"/>
              </a:rPr>
              <a:t>;__</a:t>
            </a:r>
            <a:r>
              <a:rPr lang="en-US" altLang="zh-CN" sz="3500" b="1" i="1" dirty="0">
                <a:solidFill>
                  <a:srgbClr val="7030A0"/>
                </a:solidFill>
                <a:effectLst/>
                <a:latin typeface="Times New Roman" panose="02020603050405020304" pitchFamily="18" charset="0"/>
                <a:cs typeface="Times New Roman" panose="02020603050405020304" pitchFamily="18" charset="0"/>
                <a:sym typeface="+mn-ea"/>
              </a:rPr>
              <a:t>a.</a:t>
            </a:r>
            <a:r>
              <a:rPr lang="en-US" altLang="zh-CN" sz="3500" b="1" dirty="0">
                <a:solidFill>
                  <a:srgbClr val="7030A0"/>
                </a:solidFill>
                <a:effectLst/>
                <a:latin typeface="Times New Roman" panose="02020603050405020304" pitchFamily="18" charset="0"/>
                <a:cs typeface="Times New Roman" panose="02020603050405020304" pitchFamily="18" charset="0"/>
                <a:sym typeface="+mn-ea"/>
              </a:rPr>
              <a:t> </a:t>
            </a:r>
            <a:r>
              <a:rPr lang="zh-CN" altLang="zh-CN" sz="3500" b="1" dirty="0">
                <a:solidFill>
                  <a:srgbClr val="7030A0"/>
                </a:solidFill>
                <a:effectLst/>
                <a:latin typeface="Times New Roman" panose="02020603050405020304" pitchFamily="18" charset="0"/>
                <a:cs typeface="Times New Roman" panose="02020603050405020304" pitchFamily="18" charset="0"/>
                <a:sym typeface="+mn-ea"/>
              </a:rPr>
              <a:t>心神不安的</a:t>
            </a:r>
            <a:r>
              <a:rPr lang="en-US" altLang="zh-CN" sz="3500" b="1" dirty="0">
                <a:solidFill>
                  <a:srgbClr val="7030A0"/>
                </a:solidFill>
                <a:effectLst/>
                <a:latin typeface="Times New Roman" panose="02020603050405020304" pitchFamily="18" charset="0"/>
                <a:cs typeface="Times New Roman" panose="02020603050405020304" pitchFamily="18" charset="0"/>
                <a:sym typeface="+mn-ea"/>
              </a:rPr>
              <a:t> 26.</a:t>
            </a:r>
            <a:r>
              <a:rPr lang="zh-CN" altLang="en-US" sz="3500" b="1" kern="100" dirty="0">
                <a:solidFill>
                  <a:srgbClr val="7030A0"/>
                </a:solidFill>
                <a:latin typeface="Times New Roman" panose="02020603050405020304" pitchFamily="18" charset="0"/>
                <a:ea typeface="等线" panose="02010600030101010101" charset="-122"/>
                <a:cs typeface="Times New Roman" panose="02020603050405020304" pitchFamily="18" charset="0"/>
                <a:sym typeface="+mn-ea"/>
              </a:rPr>
              <a:t>有</a:t>
            </a:r>
            <a:r>
              <a:rPr lang="en-US" altLang="zh-CN" sz="3500" b="1" kern="100" dirty="0">
                <a:solidFill>
                  <a:srgbClr val="7030A0"/>
                </a:solidFill>
                <a:latin typeface="Times New Roman" panose="02020603050405020304" pitchFamily="18" charset="0"/>
                <a:ea typeface="等线" panose="02010600030101010101" charset="-122"/>
                <a:cs typeface="Times New Roman" panose="02020603050405020304" pitchFamily="18" charset="0"/>
                <a:sym typeface="+mn-ea"/>
              </a:rPr>
              <a:t>(</a:t>
            </a:r>
            <a:r>
              <a:rPr lang="zh-CN" altLang="en-US" sz="3500" b="1" kern="100" dirty="0">
                <a:solidFill>
                  <a:srgbClr val="7030A0"/>
                </a:solidFill>
                <a:latin typeface="Times New Roman" panose="02020603050405020304" pitchFamily="18" charset="0"/>
                <a:ea typeface="等线" panose="02010600030101010101" charset="-122"/>
                <a:cs typeface="Times New Roman" panose="02020603050405020304" pitchFamily="18" charset="0"/>
                <a:sym typeface="+mn-ea"/>
              </a:rPr>
              <a:t>做</a:t>
            </a:r>
            <a:r>
              <a:rPr lang="en-US" altLang="zh-CN" sz="3500" b="1" kern="100" dirty="0">
                <a:solidFill>
                  <a:srgbClr val="7030A0"/>
                </a:solidFill>
                <a:latin typeface="Times New Roman" panose="02020603050405020304" pitchFamily="18" charset="0"/>
                <a:ea typeface="等线" panose="02010600030101010101" charset="-122"/>
                <a:cs typeface="Times New Roman" panose="02020603050405020304" pitchFamily="18" charset="0"/>
                <a:sym typeface="+mn-ea"/>
              </a:rPr>
              <a:t>)</a:t>
            </a:r>
            <a:r>
              <a:rPr lang="zh-CN" altLang="en-US" sz="3500" b="1" kern="100" dirty="0">
                <a:solidFill>
                  <a:srgbClr val="7030A0"/>
                </a:solidFill>
                <a:latin typeface="Times New Roman" panose="02020603050405020304" pitchFamily="18" charset="0"/>
                <a:ea typeface="等线" panose="02010600030101010101" charset="-122"/>
                <a:cs typeface="Times New Roman" panose="02020603050405020304" pitchFamily="18" charset="0"/>
                <a:sym typeface="+mn-ea"/>
              </a:rPr>
              <a:t>某事的本领</a:t>
            </a:r>
            <a:r>
              <a:rPr lang="en-US" altLang="zh-CN" sz="3500" b="1" kern="100" dirty="0">
                <a:solidFill>
                  <a:srgbClr val="7030A0"/>
                </a:solidFill>
                <a:latin typeface="Times New Roman" panose="02020603050405020304" pitchFamily="18" charset="0"/>
                <a:ea typeface="等线" panose="02010600030101010101" charset="-122"/>
                <a:cs typeface="Times New Roman" panose="02020603050405020304" pitchFamily="18" charset="0"/>
                <a:sym typeface="+mn-ea"/>
              </a:rPr>
              <a:t>27.__n.</a:t>
            </a:r>
            <a:r>
              <a:rPr lang="zh-CN" altLang="en-US" sz="3500" b="1" kern="100" dirty="0">
                <a:solidFill>
                  <a:srgbClr val="7030A0"/>
                </a:solidFill>
                <a:latin typeface="Times New Roman" panose="02020603050405020304" pitchFamily="18" charset="0"/>
                <a:ea typeface="等线" panose="02010600030101010101" charset="-122"/>
                <a:cs typeface="Times New Roman" panose="02020603050405020304" pitchFamily="18" charset="0"/>
                <a:sym typeface="+mn-ea"/>
              </a:rPr>
              <a:t>变化差异</a:t>
            </a:r>
            <a:r>
              <a:rPr lang="en-US" altLang="zh-CN" sz="3500" b="1" kern="100" dirty="0">
                <a:solidFill>
                  <a:srgbClr val="7030A0"/>
                </a:solidFill>
                <a:effectLst/>
                <a:latin typeface="Times New Roman" panose="02020603050405020304" pitchFamily="18" charset="0"/>
                <a:ea typeface="等线" panose="02010600030101010101" charset="-122"/>
                <a:cs typeface="Times New Roman" panose="02020603050405020304" pitchFamily="18" charset="0"/>
                <a:sym typeface="+mn-ea"/>
              </a:rPr>
              <a:t>;</a:t>
            </a:r>
            <a:r>
              <a:rPr lang="zh-CN" altLang="en-US" sz="3500" b="1" kern="100" dirty="0">
                <a:solidFill>
                  <a:srgbClr val="7030A0"/>
                </a:solidFill>
                <a:effectLst/>
                <a:latin typeface="Times New Roman" panose="02020603050405020304" pitchFamily="18" charset="0"/>
                <a:ea typeface="等线" panose="02010600030101010101" charset="-122"/>
                <a:cs typeface="Times New Roman" panose="02020603050405020304" pitchFamily="18" charset="0"/>
                <a:sym typeface="+mn-ea"/>
              </a:rPr>
              <a:t>与</a:t>
            </a:r>
            <a:r>
              <a:rPr lang="en-US" altLang="zh-CN" sz="3500" b="1" kern="100" dirty="0">
                <a:solidFill>
                  <a:srgbClr val="7030A0"/>
                </a:solidFill>
                <a:effectLst/>
                <a:latin typeface="Times New Roman" panose="02020603050405020304" pitchFamily="18" charset="0"/>
                <a:ea typeface="等线" panose="02010600030101010101" charset="-122"/>
                <a:cs typeface="Times New Roman" panose="02020603050405020304" pitchFamily="18" charset="0"/>
                <a:sym typeface="+mn-ea"/>
              </a:rPr>
              <a:t>…</a:t>
            </a:r>
            <a:r>
              <a:rPr lang="zh-CN" altLang="en-US" sz="3500" b="1" kern="100" dirty="0">
                <a:solidFill>
                  <a:srgbClr val="7030A0"/>
                </a:solidFill>
                <a:effectLst/>
                <a:latin typeface="Times New Roman" panose="02020603050405020304" pitchFamily="18" charset="0"/>
                <a:ea typeface="等线" panose="02010600030101010101" charset="-122"/>
                <a:cs typeface="Times New Roman" panose="02020603050405020304" pitchFamily="18" charset="0"/>
                <a:sym typeface="+mn-ea"/>
              </a:rPr>
              <a:t>不同</a:t>
            </a:r>
            <a:r>
              <a:rPr lang="en-US" altLang="zh-CN" sz="3500" b="1" kern="100" dirty="0">
                <a:solidFill>
                  <a:srgbClr val="7030A0"/>
                </a:solidFill>
                <a:effectLst/>
                <a:latin typeface="Times New Roman" panose="02020603050405020304" pitchFamily="18" charset="0"/>
                <a:ea typeface="等线" panose="02010600030101010101" charset="-122"/>
                <a:cs typeface="Times New Roman" panose="02020603050405020304" pitchFamily="18" charset="0"/>
                <a:sym typeface="+mn-ea"/>
              </a:rPr>
              <a:t>;</a:t>
            </a:r>
            <a:r>
              <a:rPr lang="zh-CN" altLang="en-US" sz="3500" b="1" kern="100" dirty="0">
                <a:solidFill>
                  <a:srgbClr val="7030A0"/>
                </a:solidFill>
                <a:latin typeface="Times New Roman" panose="02020603050405020304" pitchFamily="18" charset="0"/>
                <a:ea typeface="等线" panose="02010600030101010101" charset="-122"/>
                <a:cs typeface="Times New Roman" panose="02020603050405020304" pitchFamily="18" charset="0"/>
                <a:sym typeface="+mn-ea"/>
              </a:rPr>
              <a:t>大小各异</a:t>
            </a:r>
            <a:r>
              <a:rPr lang="en-US" altLang="zh-CN" sz="3500" b="1" kern="100" dirty="0">
                <a:solidFill>
                  <a:srgbClr val="7030A0"/>
                </a:solidFill>
                <a:latin typeface="Times New Roman" panose="02020603050405020304" pitchFamily="18" charset="0"/>
                <a:ea typeface="等线" panose="02010600030101010101" charset="-122"/>
                <a:cs typeface="Times New Roman" panose="02020603050405020304" pitchFamily="18" charset="0"/>
                <a:sym typeface="+mn-ea"/>
              </a:rPr>
              <a:t>;</a:t>
            </a:r>
            <a:r>
              <a:rPr lang="zh-CN" altLang="en-US" sz="3500" b="1" kern="100" dirty="0">
                <a:solidFill>
                  <a:srgbClr val="7030A0"/>
                </a:solidFill>
                <a:latin typeface="Times New Roman" panose="02020603050405020304" pitchFamily="18" charset="0"/>
                <a:ea typeface="等线" panose="02010600030101010101" charset="-122"/>
                <a:cs typeface="Times New Roman" panose="02020603050405020304" pitchFamily="18" charset="0"/>
                <a:sym typeface="+mn-ea"/>
              </a:rPr>
              <a:t>从</a:t>
            </a:r>
            <a:r>
              <a:rPr lang="en-US" altLang="zh-CN" sz="3500" b="1" kern="100" dirty="0">
                <a:solidFill>
                  <a:srgbClr val="7030A0"/>
                </a:solidFill>
                <a:latin typeface="Times New Roman" panose="02020603050405020304" pitchFamily="18" charset="0"/>
                <a:ea typeface="等线" panose="02010600030101010101" charset="-122"/>
                <a:cs typeface="Times New Roman" panose="02020603050405020304" pitchFamily="18" charset="0"/>
                <a:sym typeface="+mn-ea"/>
              </a:rPr>
              <a:t>A</a:t>
            </a:r>
            <a:r>
              <a:rPr lang="zh-CN" altLang="en-US" sz="3500" b="1" kern="100" dirty="0">
                <a:solidFill>
                  <a:srgbClr val="7030A0"/>
                </a:solidFill>
                <a:latin typeface="Times New Roman" panose="02020603050405020304" pitchFamily="18" charset="0"/>
                <a:ea typeface="等线" panose="02010600030101010101" charset="-122"/>
                <a:cs typeface="Times New Roman" panose="02020603050405020304" pitchFamily="18" charset="0"/>
                <a:sym typeface="+mn-ea"/>
              </a:rPr>
              <a:t>到</a:t>
            </a:r>
            <a:r>
              <a:rPr lang="en-US" altLang="zh-CN" sz="3500" b="1" kern="100" dirty="0">
                <a:solidFill>
                  <a:srgbClr val="7030A0"/>
                </a:solidFill>
                <a:latin typeface="Times New Roman" panose="02020603050405020304" pitchFamily="18" charset="0"/>
                <a:ea typeface="等线" panose="02010600030101010101" charset="-122"/>
                <a:cs typeface="Times New Roman" panose="02020603050405020304" pitchFamily="18" charset="0"/>
                <a:sym typeface="+mn-ea"/>
              </a:rPr>
              <a:t>B</a:t>
            </a:r>
            <a:r>
              <a:rPr lang="zh-CN" altLang="en-US" sz="3500" b="1" kern="100" dirty="0">
                <a:solidFill>
                  <a:srgbClr val="7030A0"/>
                </a:solidFill>
                <a:latin typeface="Times New Roman" panose="02020603050405020304" pitchFamily="18" charset="0"/>
                <a:ea typeface="等线" panose="02010600030101010101" charset="-122"/>
                <a:cs typeface="Times New Roman" panose="02020603050405020304" pitchFamily="18" charset="0"/>
                <a:sym typeface="+mn-ea"/>
              </a:rPr>
              <a:t>不等</a:t>
            </a:r>
            <a:r>
              <a:rPr lang="en-US" altLang="zh-CN" sz="3500" b="1" kern="100" dirty="0">
                <a:solidFill>
                  <a:srgbClr val="7030A0"/>
                </a:solidFill>
                <a:latin typeface="Times New Roman" panose="02020603050405020304" pitchFamily="18" charset="0"/>
                <a:ea typeface="等线" panose="02010600030101010101" charset="-122"/>
                <a:cs typeface="Times New Roman" panose="02020603050405020304" pitchFamily="18" charset="0"/>
                <a:sym typeface="+mn-ea"/>
              </a:rPr>
              <a:t>;</a:t>
            </a:r>
            <a:r>
              <a:rPr lang="zh-CN" altLang="en-US" sz="3500" b="1" kern="100" dirty="0">
                <a:solidFill>
                  <a:srgbClr val="7030A0"/>
                </a:solidFill>
                <a:latin typeface="Times New Roman" panose="02020603050405020304" pitchFamily="18" charset="0"/>
                <a:ea typeface="等线" panose="02010600030101010101" charset="-122"/>
                <a:cs typeface="Times New Roman" panose="02020603050405020304" pitchFamily="18" charset="0"/>
                <a:sym typeface="+mn-ea"/>
              </a:rPr>
              <a:t>随着</a:t>
            </a:r>
            <a:r>
              <a:rPr lang="zh-CN" altLang="zh-CN" sz="3500" b="1" kern="100" dirty="0">
                <a:solidFill>
                  <a:srgbClr val="7030A0"/>
                </a:solidFill>
                <a:latin typeface="Times New Roman" panose="02020603050405020304" pitchFamily="18" charset="0"/>
                <a:ea typeface="等线" panose="02010600030101010101" charset="-122"/>
                <a:cs typeface="Times New Roman" panose="02020603050405020304" pitchFamily="18" charset="0"/>
                <a:sym typeface="+mn-ea"/>
              </a:rPr>
              <a:t>…</a:t>
            </a:r>
            <a:r>
              <a:rPr lang="zh-CN" altLang="en-US" sz="3500" b="1" kern="100" dirty="0">
                <a:solidFill>
                  <a:srgbClr val="7030A0"/>
                </a:solidFill>
                <a:latin typeface="Times New Roman" panose="02020603050405020304" pitchFamily="18" charset="0"/>
                <a:ea typeface="等线" panose="02010600030101010101" charset="-122"/>
                <a:cs typeface="Times New Roman" panose="02020603050405020304" pitchFamily="18" charset="0"/>
                <a:sym typeface="+mn-ea"/>
              </a:rPr>
              <a:t>变化</a:t>
            </a:r>
            <a:r>
              <a:rPr lang="en-US" altLang="zh-CN" sz="3500" b="1" kern="100" dirty="0">
                <a:solidFill>
                  <a:srgbClr val="7030A0"/>
                </a:solidFill>
                <a:latin typeface="Times New Roman" panose="02020603050405020304" pitchFamily="18" charset="0"/>
                <a:ea typeface="等线" panose="02010600030101010101" charset="-122"/>
                <a:cs typeface="Times New Roman" panose="02020603050405020304" pitchFamily="18" charset="0"/>
                <a:sym typeface="+mn-ea"/>
              </a:rPr>
              <a:t>;</a:t>
            </a:r>
            <a:r>
              <a:rPr lang="zh-CN" altLang="en-US" sz="3500" b="1" kern="100" dirty="0">
                <a:solidFill>
                  <a:srgbClr val="7030A0"/>
                </a:solidFill>
                <a:latin typeface="Times New Roman" panose="02020603050405020304" pitchFamily="18" charset="0"/>
                <a:ea typeface="等线" panose="02010600030101010101" charset="-122"/>
                <a:cs typeface="Times New Roman" panose="02020603050405020304" pitchFamily="18" charset="0"/>
                <a:sym typeface="+mn-ea"/>
              </a:rPr>
              <a:t>各种各样的</a:t>
            </a:r>
            <a:r>
              <a:rPr lang="en-US" altLang="zh-CN" sz="3500" b="1" kern="100" dirty="0">
                <a:solidFill>
                  <a:srgbClr val="7030A0"/>
                </a:solidFill>
                <a:latin typeface="Times New Roman" panose="02020603050405020304" pitchFamily="18" charset="0"/>
                <a:ea typeface="等线" panose="02010600030101010101" charset="-122"/>
                <a:cs typeface="Times New Roman" panose="02020603050405020304" pitchFamily="18" charset="0"/>
                <a:sym typeface="+mn-ea"/>
              </a:rPr>
              <a:t>(3</a:t>
            </a:r>
            <a:r>
              <a:rPr lang="zh-CN" altLang="en-US" sz="3500" b="1" kern="100" dirty="0">
                <a:solidFill>
                  <a:srgbClr val="7030A0"/>
                </a:solidFill>
                <a:latin typeface="Times New Roman" panose="02020603050405020304" pitchFamily="18" charset="0"/>
                <a:ea typeface="等线" panose="02010600030101010101" charset="-122"/>
                <a:cs typeface="Times New Roman" panose="02020603050405020304" pitchFamily="18" charset="0"/>
                <a:sym typeface="+mn-ea"/>
              </a:rPr>
              <a:t>种</a:t>
            </a:r>
            <a:r>
              <a:rPr lang="en-US" altLang="zh-CN" sz="3500" b="1" kern="100" dirty="0">
                <a:solidFill>
                  <a:srgbClr val="7030A0"/>
                </a:solidFill>
                <a:latin typeface="Times New Roman" panose="02020603050405020304" pitchFamily="18" charset="0"/>
                <a:ea typeface="等线" panose="02010600030101010101" charset="-122"/>
                <a:cs typeface="Times New Roman" panose="02020603050405020304" pitchFamily="18" charset="0"/>
                <a:sym typeface="+mn-ea"/>
              </a:rPr>
              <a:t>) 28.</a:t>
            </a:r>
            <a:r>
              <a:rPr lang="zh-CN" altLang="zh-CN" sz="3500" b="1" kern="100" dirty="0">
                <a:solidFill>
                  <a:srgbClr val="7030A0"/>
                </a:solidFill>
                <a:effectLst/>
                <a:latin typeface="Times New Roman" panose="02020603050405020304" pitchFamily="18" charset="0"/>
                <a:cs typeface="Times New Roman" panose="02020603050405020304" pitchFamily="18" charset="0"/>
                <a:sym typeface="+mn-ea"/>
              </a:rPr>
              <a:t>一齐一致</a:t>
            </a:r>
            <a:r>
              <a:rPr lang="en-US" altLang="zh-CN" sz="3500" b="1" kern="100" dirty="0">
                <a:solidFill>
                  <a:srgbClr val="7030A0"/>
                </a:solidFill>
                <a:effectLst/>
                <a:latin typeface="Times New Roman" panose="02020603050405020304" pitchFamily="18" charset="0"/>
                <a:cs typeface="Times New Roman" panose="02020603050405020304" pitchFamily="18" charset="0"/>
                <a:sym typeface="+mn-ea"/>
              </a:rPr>
              <a:t> 29.</a:t>
            </a:r>
            <a:r>
              <a:rPr lang="zh-CN" altLang="en-US" sz="3500" b="1" kern="100" dirty="0">
                <a:solidFill>
                  <a:srgbClr val="7030A0"/>
                </a:solidFill>
                <a:effectLst/>
                <a:latin typeface="Times New Roman" panose="02020603050405020304" pitchFamily="18" charset="0"/>
                <a:ea typeface="等线" panose="02010600030101010101" charset="-122"/>
                <a:cs typeface="Times New Roman" panose="02020603050405020304" pitchFamily="18" charset="0"/>
                <a:sym typeface="+mn-ea"/>
              </a:rPr>
              <a:t>大规模地</a:t>
            </a:r>
            <a:r>
              <a:rPr lang="en-US" altLang="zh-CN" sz="3500" b="1" kern="100" dirty="0">
                <a:solidFill>
                  <a:srgbClr val="7030A0"/>
                </a:solidFill>
                <a:effectLst/>
                <a:latin typeface="Times New Roman" panose="02020603050405020304" pitchFamily="18" charset="0"/>
                <a:ea typeface="等线" panose="02010600030101010101" charset="-122"/>
                <a:cs typeface="Times New Roman" panose="02020603050405020304" pitchFamily="18" charset="0"/>
                <a:sym typeface="+mn-ea"/>
              </a:rPr>
              <a:t>;</a:t>
            </a:r>
            <a:r>
              <a:rPr lang="zh-CN" altLang="en-US" sz="3500" b="1" kern="100" dirty="0">
                <a:solidFill>
                  <a:srgbClr val="7030A0"/>
                </a:solidFill>
                <a:effectLst/>
                <a:latin typeface="Times New Roman" panose="02020603050405020304" pitchFamily="18" charset="0"/>
                <a:cs typeface="Times New Roman" panose="02020603050405020304" pitchFamily="18" charset="0"/>
                <a:sym typeface="+mn-ea"/>
              </a:rPr>
              <a:t>摆出一副</a:t>
            </a:r>
            <a:r>
              <a:rPr lang="zh-CN" altLang="en-US" sz="3500" b="1" kern="100" dirty="0">
                <a:solidFill>
                  <a:srgbClr val="7030A0"/>
                </a:solidFill>
                <a:latin typeface="Times New Roman" panose="02020603050405020304" pitchFamily="18" charset="0"/>
                <a:cs typeface="Times New Roman" panose="02020603050405020304" pitchFamily="18" charset="0"/>
                <a:sym typeface="+mn-ea"/>
              </a:rPr>
              <a:t>了不起的样子</a:t>
            </a:r>
            <a:r>
              <a:rPr lang="en-US" sz="3500" b="1" kern="100" dirty="0">
                <a:solidFill>
                  <a:srgbClr val="7030A0"/>
                </a:solidFill>
                <a:latin typeface="Times New Roman" panose="02020603050405020304" pitchFamily="18" charset="0"/>
                <a:cs typeface="Times New Roman" panose="02020603050405020304" pitchFamily="18" charset="0"/>
                <a:sym typeface="+mn-ea"/>
              </a:rPr>
              <a:t>30.</a:t>
            </a:r>
            <a:r>
              <a:rPr lang="zh-CN" altLang="en-US" sz="3500" b="1" kern="100" dirty="0">
                <a:solidFill>
                  <a:srgbClr val="7030A0"/>
                </a:solidFill>
                <a:latin typeface="Times New Roman" panose="02020603050405020304" pitchFamily="18" charset="0"/>
                <a:cs typeface="Times New Roman" panose="02020603050405020304" pitchFamily="18" charset="0"/>
                <a:sym typeface="+mn-ea"/>
              </a:rPr>
              <a:t>节奏感</a:t>
            </a:r>
            <a:endParaRPr lang="zh-CN" altLang="en-US" sz="3500" b="1" kern="100" dirty="0">
              <a:solidFill>
                <a:srgbClr val="7030A0"/>
              </a:solidFill>
              <a:effectLst/>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7150" y="0"/>
            <a:ext cx="12134850" cy="6858000"/>
          </a:xfrm>
        </p:spPr>
        <p:txBody>
          <a:bodyPr>
            <a:normAutofit fontScale="85000" lnSpcReduction="20000"/>
          </a:bodyPr>
          <a:lstStyle/>
          <a:p>
            <a:pPr eaLnBrk="0"/>
            <a:r>
              <a:rPr lang="en-US" altLang="zh-CN" sz="3600" b="1" dirty="0">
                <a:solidFill>
                  <a:srgbClr val="FF0000"/>
                </a:solidFill>
              </a:rPr>
              <a:t>1.require/deserve/ need/want doing＝…to be done</a:t>
            </a:r>
            <a:endParaRPr lang="zh-CN" altLang="zh-CN" sz="3600" b="1" dirty="0">
              <a:solidFill>
                <a:srgbClr val="FF0000"/>
              </a:solidFill>
            </a:endParaRPr>
          </a:p>
          <a:p>
            <a:r>
              <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2.be worth doing=It is worthwhile doing=It is worthwhile to do=be worthy of being done=be worthy to be done</a:t>
            </a:r>
          </a:p>
          <a:p>
            <a:r>
              <a:rPr lang="en-US" altLang="zh-CN" sz="3600" b="1" dirty="0">
                <a:solidFill>
                  <a:srgbClr val="E40000"/>
                </a:solidFill>
                <a:ea typeface="宋体" panose="02010600030101010101" pitchFamily="2" charset="-122"/>
              </a:rPr>
              <a:t>3.allow/ advise/ forbid/ permit</a:t>
            </a:r>
            <a:r>
              <a:rPr lang="en-US" altLang="zh-CN" sz="3600" b="1" dirty="0">
                <a:ea typeface="宋体" panose="02010600030101010101" pitchFamily="2" charset="-122"/>
              </a:rPr>
              <a:t> </a:t>
            </a:r>
            <a:r>
              <a:rPr lang="en-US" altLang="zh-CN" sz="3600" b="1" u="sng" dirty="0">
                <a:solidFill>
                  <a:srgbClr val="FF0000"/>
                </a:solidFill>
                <a:ea typeface="宋体" panose="02010600030101010101" pitchFamily="2" charset="-122"/>
              </a:rPr>
              <a:t>doing </a:t>
            </a:r>
            <a:r>
              <a:rPr lang="en-US" altLang="zh-CN" sz="3600" b="1" u="sng" dirty="0" err="1">
                <a:solidFill>
                  <a:srgbClr val="FF0000"/>
                </a:solidFill>
                <a:ea typeface="宋体" panose="02010600030101010101" pitchFamily="2" charset="-122"/>
              </a:rPr>
              <a:t>sth</a:t>
            </a:r>
            <a:r>
              <a:rPr lang="en-US" altLang="zh-CN" sz="3600" b="1" u="sng" dirty="0">
                <a:solidFill>
                  <a:srgbClr val="FF0000"/>
                </a:solidFill>
                <a:ea typeface="宋体" panose="02010600030101010101" pitchFamily="2" charset="-122"/>
              </a:rPr>
              <a:t>.</a:t>
            </a:r>
          </a:p>
          <a:p>
            <a:r>
              <a:rPr lang="en-US" altLang="zh-CN" sz="3600" b="1" dirty="0">
                <a:solidFill>
                  <a:srgbClr val="FF0000"/>
                </a:solidFill>
                <a:ea typeface="宋体" panose="02010600030101010101" pitchFamily="2" charset="-122"/>
              </a:rPr>
              <a:t>=</a:t>
            </a:r>
            <a:r>
              <a:rPr lang="en-US" altLang="zh-CN" sz="3600" b="1" dirty="0">
                <a:solidFill>
                  <a:srgbClr val="E40000"/>
                </a:solidFill>
                <a:ea typeface="宋体" panose="02010600030101010101" pitchFamily="2" charset="-122"/>
              </a:rPr>
              <a:t>allow/ advise/ forbid/ permit</a:t>
            </a:r>
            <a:r>
              <a:rPr lang="en-US" altLang="zh-CN" sz="3600" b="1" dirty="0">
                <a:ea typeface="宋体" panose="02010600030101010101" pitchFamily="2" charset="-122"/>
              </a:rPr>
              <a:t> </a:t>
            </a:r>
            <a:r>
              <a:rPr lang="en-US" altLang="zh-CN" sz="3600" b="1" u="sng" dirty="0">
                <a:solidFill>
                  <a:srgbClr val="FF0000"/>
                </a:solidFill>
                <a:ea typeface="宋体" panose="02010600030101010101" pitchFamily="2" charset="-122"/>
              </a:rPr>
              <a:t>sb. to do </a:t>
            </a:r>
            <a:r>
              <a:rPr lang="en-US" altLang="zh-CN" sz="3600" b="1" u="sng" dirty="0" err="1">
                <a:solidFill>
                  <a:srgbClr val="FF0000"/>
                </a:solidFill>
                <a:ea typeface="宋体" panose="02010600030101010101" pitchFamily="2" charset="-122"/>
              </a:rPr>
              <a:t>sth</a:t>
            </a:r>
            <a:r>
              <a:rPr lang="en-US" altLang="zh-CN" sz="3600" b="1" u="sng" dirty="0">
                <a:solidFill>
                  <a:srgbClr val="FF0000"/>
                </a:solidFill>
                <a:ea typeface="宋体" panose="02010600030101010101" pitchFamily="2" charset="-122"/>
              </a:rPr>
              <a:t>.</a:t>
            </a:r>
          </a:p>
          <a:p>
            <a:pPr>
              <a:buFont typeface="Wingdings" panose="05000000000000000000" pitchFamily="2" charset="2"/>
              <a:buChar char="▪"/>
              <a:defRPr/>
            </a:pPr>
            <a:r>
              <a:rPr lang="en-US" altLang="zh-CN" sz="3600" b="1" u="sng"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4.It is/was no use/good/need/pleasure doing </a:t>
            </a:r>
            <a:r>
              <a:rPr lang="en-US" altLang="zh-CN" sz="3600" b="1" u="sng" dirty="0" err="1">
                <a:solidFill>
                  <a:srgbClr val="E40000"/>
                </a:solidFill>
                <a:latin typeface="Times New Roman" panose="02020603050405020304" pitchFamily="18" charset="0"/>
                <a:ea typeface="宋体" panose="02010600030101010101" pitchFamily="2" charset="-122"/>
                <a:cs typeface="Times New Roman" panose="02020603050405020304" pitchFamily="18" charset="0"/>
              </a:rPr>
              <a:t>sth</a:t>
            </a:r>
            <a:r>
              <a:rPr lang="en-US" altLang="zh-CN" sz="3600" b="1" u="sng"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.;It is useless doing </a:t>
            </a:r>
            <a:r>
              <a:rPr lang="en-US" altLang="zh-CN" sz="3600" b="1" u="sng" dirty="0" err="1">
                <a:solidFill>
                  <a:srgbClr val="E40000"/>
                </a:solidFill>
                <a:latin typeface="Times New Roman" panose="02020603050405020304" pitchFamily="18" charset="0"/>
                <a:ea typeface="宋体" panose="02010600030101010101" pitchFamily="2" charset="-122"/>
                <a:cs typeface="Times New Roman" panose="02020603050405020304" pitchFamily="18" charset="0"/>
              </a:rPr>
              <a:t>sth</a:t>
            </a:r>
            <a:r>
              <a:rPr lang="en-US" altLang="zh-CN" sz="3600" b="1" u="sng"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.;It is a waste of time doing </a:t>
            </a:r>
            <a:r>
              <a:rPr lang="en-US" altLang="zh-CN" sz="3600" b="1" u="sng" dirty="0" err="1">
                <a:solidFill>
                  <a:srgbClr val="E40000"/>
                </a:solidFill>
                <a:latin typeface="Times New Roman" panose="02020603050405020304" pitchFamily="18" charset="0"/>
                <a:ea typeface="宋体" panose="02010600030101010101" pitchFamily="2" charset="-122"/>
                <a:cs typeface="Times New Roman" panose="02020603050405020304" pitchFamily="18" charset="0"/>
              </a:rPr>
              <a:t>sth</a:t>
            </a:r>
            <a:r>
              <a:rPr lang="en-US" altLang="zh-CN" sz="3600" b="1" u="sng"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a:t>
            </a:r>
          </a:p>
          <a:p>
            <a:pPr>
              <a:buFont typeface="Wingdings" panose="05000000000000000000" pitchFamily="2" charset="2"/>
              <a:buChar char="▪"/>
              <a:defRPr/>
            </a:pPr>
            <a:r>
              <a:rPr lang="en-US" altLang="zh-CN" sz="3600" b="1" u="sng"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5.It is adj.+ (for/of sb.) + to do </a:t>
            </a:r>
            <a:r>
              <a:rPr lang="en-US" altLang="zh-CN" sz="3600" b="1" u="sng" dirty="0" err="1">
                <a:solidFill>
                  <a:srgbClr val="E40000"/>
                </a:solidFill>
                <a:latin typeface="Times New Roman" panose="02020603050405020304" pitchFamily="18" charset="0"/>
                <a:ea typeface="宋体" panose="02010600030101010101" pitchFamily="2" charset="-122"/>
                <a:cs typeface="Times New Roman" panose="02020603050405020304" pitchFamily="18" charset="0"/>
              </a:rPr>
              <a:t>sth</a:t>
            </a:r>
            <a:r>
              <a:rPr lang="en-US" altLang="zh-CN" sz="3600" b="1" u="sng"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a:t>
            </a:r>
          </a:p>
          <a:p>
            <a:pPr marL="0" indent="0">
              <a:buNone/>
              <a:defRPr/>
            </a:pPr>
            <a:r>
              <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6.rely on sb</a:t>
            </a:r>
            <a:r>
              <a:rPr lang="en-US" altLang="zh-CN" sz="3600" b="1" u="sng"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 to do </a:t>
            </a:r>
            <a:r>
              <a:rPr lang="en-US" altLang="zh-CN" sz="3600" b="1" u="sng" dirty="0" err="1">
                <a:solidFill>
                  <a:srgbClr val="E40000"/>
                </a:solidFill>
                <a:latin typeface="Times New Roman" panose="02020603050405020304" pitchFamily="18" charset="0"/>
                <a:ea typeface="宋体" panose="02010600030101010101" pitchFamily="2" charset="-122"/>
                <a:cs typeface="Times New Roman" panose="02020603050405020304" pitchFamily="18" charset="0"/>
              </a:rPr>
              <a:t>sth</a:t>
            </a:r>
            <a:r>
              <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依赖</a:t>
            </a:r>
            <a:r>
              <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3600" b="1" u="sng"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fancy</a:t>
            </a:r>
            <a:r>
              <a:rPr lang="zh-CN" altLang="en-US" sz="3600" b="1" u="sng"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想要</a:t>
            </a:r>
            <a:r>
              <a:rPr lang="en-US" altLang="zh-CN" sz="3600" b="1" u="sng"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/mind/enjoy doing</a:t>
            </a:r>
            <a:r>
              <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a:t>
            </a:r>
          </a:p>
          <a:p>
            <a:pPr marL="0" indent="0">
              <a:buNone/>
              <a:defRPr/>
            </a:pPr>
            <a:r>
              <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would like to do=feel like doing;  set </a:t>
            </a:r>
            <a:r>
              <a:rPr lang="en-US" altLang="zh-CN" sz="3600" b="1" u="sng"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about doing</a:t>
            </a:r>
            <a:r>
              <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=set </a:t>
            </a:r>
            <a:r>
              <a:rPr lang="en-US" altLang="zh-CN" sz="3600" b="1" u="sng"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out to do</a:t>
            </a:r>
          </a:p>
          <a:p>
            <a:pPr marL="0" indent="0">
              <a:buNone/>
              <a:defRPr/>
            </a:pPr>
            <a:r>
              <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When it comes to doing </a:t>
            </a:r>
            <a:r>
              <a:rPr lang="en-US" altLang="zh-CN" sz="3600" b="1" dirty="0" err="1">
                <a:solidFill>
                  <a:srgbClr val="E40000"/>
                </a:solidFill>
                <a:latin typeface="Times New Roman" panose="02020603050405020304" pitchFamily="18" charset="0"/>
                <a:ea typeface="宋体" panose="02010600030101010101" pitchFamily="2" charset="-122"/>
                <a:cs typeface="Times New Roman" panose="02020603050405020304" pitchFamily="18" charset="0"/>
              </a:rPr>
              <a:t>sth</a:t>
            </a:r>
            <a:r>
              <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当谈及做某事</a:t>
            </a:r>
            <a:endPar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endParaRPr>
          </a:p>
          <a:p>
            <a:pPr marL="0" indent="0">
              <a:buNone/>
              <a:defRPr/>
            </a:pPr>
            <a:r>
              <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7.can’t help doing</a:t>
            </a:r>
            <a:r>
              <a:rPr lang="zh-CN" altLang="en-US"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情不自禁</a:t>
            </a:r>
            <a:r>
              <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 can’t help to do</a:t>
            </a:r>
            <a:r>
              <a:rPr lang="zh-CN" altLang="en-US"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不能帮忙做</a:t>
            </a:r>
            <a:endPar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endParaRPr>
          </a:p>
          <a:p>
            <a:pPr marL="0" indent="0">
              <a:buNone/>
              <a:defRPr/>
            </a:pPr>
            <a:r>
              <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 stop doing</a:t>
            </a:r>
            <a:r>
              <a:rPr lang="zh-CN" altLang="en-US"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停止做</a:t>
            </a:r>
            <a:r>
              <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 stop to do</a:t>
            </a:r>
            <a:r>
              <a:rPr lang="zh-CN" altLang="en-US"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停下来去做另一件事</a:t>
            </a:r>
            <a:endPar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endParaRPr>
          </a:p>
          <a:p>
            <a:pPr marL="0" indent="0">
              <a:buNone/>
              <a:defRPr/>
            </a:pPr>
            <a:r>
              <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8.used to do</a:t>
            </a:r>
            <a:r>
              <a:rPr lang="zh-CN" altLang="en-US"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过去常常做现在不了</a:t>
            </a:r>
            <a:r>
              <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;be</a:t>
            </a:r>
            <a:r>
              <a:rPr lang="zh-CN" altLang="en-US"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used</a:t>
            </a:r>
            <a:r>
              <a:rPr lang="zh-CN" altLang="en-US"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to do</a:t>
            </a:r>
            <a:r>
              <a:rPr lang="zh-CN" altLang="en-US"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被用来做</a:t>
            </a:r>
            <a:r>
              <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 </a:t>
            </a:r>
          </a:p>
          <a:p>
            <a:pPr marL="0" indent="0">
              <a:buNone/>
              <a:defRPr/>
            </a:pPr>
            <a:r>
              <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be used to doing</a:t>
            </a:r>
            <a:r>
              <a:rPr lang="zh-CN" altLang="en-US"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习惯做</a:t>
            </a:r>
            <a:endPar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endParaRPr>
          </a:p>
          <a:p>
            <a:endParaRPr lang="en-US" altLang="zh-CN" sz="3600" b="1" u="sng" dirty="0">
              <a:solidFill>
                <a:srgbClr val="FF0000"/>
              </a:solidFill>
              <a:ea typeface="宋体" panose="02010600030101010101" pitchFamily="2" charset="-122"/>
            </a:endParaRPr>
          </a:p>
          <a:p>
            <a:endParaRPr lang="zh-CN" altLang="en-US" sz="3600" b="1"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7150" y="0"/>
            <a:ext cx="12134850" cy="6858000"/>
          </a:xfrm>
        </p:spPr>
        <p:txBody>
          <a:bodyPr>
            <a:normAutofit fontScale="92500" lnSpcReduction="10000"/>
          </a:bodyPr>
          <a:lstStyle/>
          <a:p>
            <a:pPr eaLnBrk="0"/>
            <a:r>
              <a:rPr lang="en-US" altLang="zh-CN" sz="3600" b="1" dirty="0">
                <a:solidFill>
                  <a:srgbClr val="FF0000"/>
                </a:solidFill>
              </a:rPr>
              <a:t>1.require/__/__/__+__=__</a:t>
            </a:r>
            <a:r>
              <a:rPr lang="zh-CN" altLang="en-US" sz="3600" b="1" dirty="0">
                <a:solidFill>
                  <a:srgbClr val="FF0000"/>
                </a:solidFill>
              </a:rPr>
              <a:t>写全</a:t>
            </a:r>
            <a:endParaRPr lang="zh-CN" altLang="zh-CN" sz="3600" b="1" dirty="0">
              <a:solidFill>
                <a:srgbClr val="FF0000"/>
              </a:solidFill>
            </a:endParaRPr>
          </a:p>
          <a:p>
            <a:r>
              <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2.worth</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写全</a:t>
            </a:r>
            <a:r>
              <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worthwhile</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写全</a:t>
            </a:r>
            <a:r>
              <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worthy</a:t>
            </a:r>
            <a:r>
              <a:rPr lang="zh-CN" altLang="en-US"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写全</a:t>
            </a:r>
            <a:endParaRPr lang="en-US" altLang="zh-CN" sz="3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600" b="1" dirty="0">
                <a:solidFill>
                  <a:srgbClr val="E40000"/>
                </a:solidFill>
                <a:ea typeface="宋体" panose="02010600030101010101" pitchFamily="2" charset="-122"/>
              </a:rPr>
              <a:t>3.allow/__/__/__+__=__</a:t>
            </a:r>
            <a:r>
              <a:rPr lang="zh-CN" altLang="en-US" sz="3600" b="1" dirty="0">
                <a:solidFill>
                  <a:srgbClr val="E40000"/>
                </a:solidFill>
                <a:ea typeface="宋体" panose="02010600030101010101" pitchFamily="2" charset="-122"/>
              </a:rPr>
              <a:t>写全</a:t>
            </a:r>
            <a:endParaRPr lang="en-US" altLang="zh-CN" sz="3600" b="1" dirty="0">
              <a:solidFill>
                <a:srgbClr val="E40000"/>
              </a:solidFill>
              <a:ea typeface="宋体" panose="02010600030101010101" pitchFamily="2" charset="-122"/>
            </a:endParaRPr>
          </a:p>
          <a:p>
            <a:r>
              <a:rPr lang="en-US" altLang="zh-CN" sz="3600" b="1" u="sng"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4.It is…doing </a:t>
            </a:r>
            <a:r>
              <a:rPr lang="en-US" altLang="zh-CN" sz="3600" b="1" u="sng" dirty="0" err="1">
                <a:solidFill>
                  <a:srgbClr val="E40000"/>
                </a:solidFill>
                <a:latin typeface="Times New Roman" panose="02020603050405020304" pitchFamily="18" charset="0"/>
                <a:ea typeface="宋体" panose="02010600030101010101" pitchFamily="2" charset="-122"/>
                <a:cs typeface="Times New Roman" panose="02020603050405020304" pitchFamily="18" charset="0"/>
              </a:rPr>
              <a:t>sth</a:t>
            </a:r>
            <a:r>
              <a:rPr lang="zh-CN" altLang="en-US" sz="3600" b="1" u="sng"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写全</a:t>
            </a:r>
            <a:endParaRPr lang="en-US" altLang="zh-CN" sz="3600" b="1" u="sng" dirty="0">
              <a:solidFill>
                <a:srgbClr val="E40000"/>
              </a:solidFill>
              <a:latin typeface="Times New Roman" panose="02020603050405020304" pitchFamily="18" charset="0"/>
              <a:ea typeface="宋体" panose="02010600030101010101" pitchFamily="2" charset="-122"/>
              <a:cs typeface="Times New Roman" panose="02020603050405020304" pitchFamily="18" charset="0"/>
            </a:endParaRPr>
          </a:p>
          <a:p>
            <a:pPr>
              <a:buFont typeface="Wingdings" panose="05000000000000000000" pitchFamily="2" charset="2"/>
              <a:buChar char="▪"/>
              <a:defRPr/>
            </a:pPr>
            <a:r>
              <a:rPr lang="en-US" altLang="zh-CN" sz="3600" b="1" u="sng"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5.It is adj.+ (for/of sb.) + </a:t>
            </a:r>
            <a:r>
              <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____</a:t>
            </a:r>
            <a:endParaRPr lang="en-US" altLang="zh-CN" sz="3600" b="1" u="sng" dirty="0">
              <a:solidFill>
                <a:srgbClr val="E40000"/>
              </a:solidFill>
              <a:latin typeface="Times New Roman" panose="02020603050405020304" pitchFamily="18" charset="0"/>
              <a:ea typeface="宋体" panose="02010600030101010101" pitchFamily="2" charset="-122"/>
              <a:cs typeface="Times New Roman" panose="02020603050405020304" pitchFamily="18" charset="0"/>
            </a:endParaRPr>
          </a:p>
          <a:p>
            <a:pPr marL="0" indent="0">
              <a:buNone/>
              <a:defRPr/>
            </a:pPr>
            <a:r>
              <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6.rely on sb____; fancy____</a:t>
            </a:r>
          </a:p>
          <a:p>
            <a:pPr marL="0" indent="0">
              <a:buNone/>
              <a:defRPr/>
            </a:pPr>
            <a:r>
              <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would like ____=feel like ____; </a:t>
            </a:r>
          </a:p>
          <a:p>
            <a:pPr marL="0" indent="0">
              <a:buNone/>
              <a:defRPr/>
            </a:pPr>
            <a:r>
              <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set about ____=set out____</a:t>
            </a:r>
          </a:p>
          <a:p>
            <a:pPr marL="0" indent="0">
              <a:buNone/>
              <a:defRPr/>
            </a:pPr>
            <a:r>
              <a:rPr lang="zh-CN" altLang="en-US"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当谈及做某事</a:t>
            </a:r>
            <a:endPar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endParaRPr>
          </a:p>
          <a:p>
            <a:pPr marL="0" indent="0">
              <a:buNone/>
              <a:defRPr/>
            </a:pPr>
            <a:r>
              <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7.___</a:t>
            </a:r>
            <a:r>
              <a:rPr lang="zh-CN" altLang="en-US"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情不自禁</a:t>
            </a:r>
            <a:r>
              <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 ____</a:t>
            </a:r>
            <a:r>
              <a:rPr lang="zh-CN" altLang="en-US"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不能帮忙做</a:t>
            </a:r>
            <a:endPar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endParaRPr>
          </a:p>
          <a:p>
            <a:pPr marL="0" indent="0">
              <a:buNone/>
              <a:defRPr/>
            </a:pPr>
            <a:r>
              <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 ____</a:t>
            </a:r>
            <a:r>
              <a:rPr lang="zh-CN" altLang="en-US"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停止做</a:t>
            </a:r>
            <a:r>
              <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 ____</a:t>
            </a:r>
            <a:r>
              <a:rPr lang="zh-CN" altLang="en-US"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停下来去做另一件事</a:t>
            </a:r>
            <a:endPar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endParaRPr>
          </a:p>
          <a:p>
            <a:pPr marL="0" indent="0">
              <a:buNone/>
              <a:defRPr/>
            </a:pPr>
            <a:r>
              <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8.____</a:t>
            </a:r>
            <a:r>
              <a:rPr lang="zh-CN" altLang="en-US"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过去常常做现在不了</a:t>
            </a:r>
            <a:r>
              <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;____</a:t>
            </a:r>
            <a:r>
              <a:rPr lang="zh-CN" altLang="en-US"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被用来做</a:t>
            </a:r>
            <a:r>
              <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 </a:t>
            </a:r>
          </a:p>
          <a:p>
            <a:pPr marL="0" indent="0">
              <a:buNone/>
              <a:defRPr/>
            </a:pPr>
            <a:r>
              <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____</a:t>
            </a:r>
            <a:r>
              <a:rPr lang="zh-CN" altLang="en-US"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rPr>
              <a:t>习惯做</a:t>
            </a:r>
            <a:endParaRPr lang="en-US" altLang="zh-CN" sz="3600" b="1" dirty="0">
              <a:solidFill>
                <a:srgbClr val="E40000"/>
              </a:solidFill>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endParaRPr lang="en-US" altLang="zh-CN" sz="3600" b="1" dirty="0"/>
          </a:p>
          <a:p>
            <a:r>
              <a:rPr lang="en-US" altLang="zh-CN" sz="3600" b="1" dirty="0" err="1"/>
              <a:t>III.meeting</a:t>
            </a:r>
            <a:r>
              <a:rPr lang="en-US" altLang="zh-CN" sz="3600" b="1" dirty="0"/>
              <a:t>,  </a:t>
            </a:r>
            <a:r>
              <a:rPr lang="en-US" altLang="zh-CN" sz="3600" b="1" dirty="0">
                <a:solidFill>
                  <a:srgbClr val="FF0000"/>
                </a:solidFill>
              </a:rPr>
              <a:t>running,  pretending,  </a:t>
            </a:r>
            <a:r>
              <a:rPr lang="en-US" altLang="zh-CN" sz="3600" b="1" dirty="0"/>
              <a:t>meeting,  coming,  </a:t>
            </a:r>
          </a:p>
          <a:p>
            <a:r>
              <a:rPr lang="en-US" altLang="zh-CN" sz="3600" b="1" dirty="0"/>
              <a:t>preventing,  following,  </a:t>
            </a:r>
            <a:r>
              <a:rPr lang="en-US" altLang="zh-CN" sz="3600" b="1" dirty="0">
                <a:solidFill>
                  <a:srgbClr val="FF0000"/>
                </a:solidFill>
              </a:rPr>
              <a:t>meeting</a:t>
            </a:r>
            <a:r>
              <a:rPr lang="en-US" altLang="zh-CN" sz="3600" b="1" dirty="0"/>
              <a:t>,  doing,  coming,  </a:t>
            </a:r>
          </a:p>
          <a:p>
            <a:r>
              <a:rPr lang="en-US" altLang="zh-CN" sz="3600" b="1" dirty="0"/>
              <a:t>speaking,  waiting</a:t>
            </a:r>
          </a:p>
          <a:p>
            <a:endParaRPr lang="en-US" altLang="zh-CN" sz="3600" b="1" dirty="0"/>
          </a:p>
          <a:p>
            <a:r>
              <a:rPr lang="en-US" altLang="zh-CN" sz="3600" b="1" u="sng" dirty="0"/>
              <a:t>He</a:t>
            </a:r>
            <a:r>
              <a:rPr lang="en-US" altLang="zh-CN" sz="3600" b="1" dirty="0"/>
              <a:t> saw me and </a:t>
            </a:r>
            <a:r>
              <a:rPr lang="en-US" altLang="zh-CN" sz="3600" b="1" u="sng" dirty="0"/>
              <a:t>came </a:t>
            </a:r>
            <a:r>
              <a:rPr lang="en-US" altLang="zh-CN" sz="3600" b="1" dirty="0"/>
              <a:t>______ towards me. </a:t>
            </a:r>
            <a:r>
              <a:rPr lang="zh-CN" altLang="en-US" sz="3600" b="1" dirty="0"/>
              <a:t>伴随“跑过来”</a:t>
            </a:r>
            <a:endParaRPr lang="en-US" altLang="zh-CN" sz="3600" b="1" dirty="0"/>
          </a:p>
          <a:p>
            <a:r>
              <a:rPr lang="en-US" altLang="zh-CN" sz="3600" b="1" dirty="0">
                <a:solidFill>
                  <a:srgbClr val="FF0000"/>
                </a:solidFill>
              </a:rPr>
              <a:t>It was no use/good/need/pleasure doing </a:t>
            </a:r>
            <a:r>
              <a:rPr lang="en-US" altLang="zh-CN" sz="3600" b="1" dirty="0" err="1">
                <a:solidFill>
                  <a:srgbClr val="FF0000"/>
                </a:solidFill>
              </a:rPr>
              <a:t>sth</a:t>
            </a:r>
            <a:r>
              <a:rPr lang="en-US" altLang="zh-CN" sz="3600" b="1" dirty="0"/>
              <a:t>.</a:t>
            </a:r>
            <a:r>
              <a:rPr lang="zh-CN" altLang="en-US" sz="3600" b="1" dirty="0"/>
              <a:t>做某事木有用</a:t>
            </a:r>
            <a:endParaRPr lang="en-US" altLang="zh-CN" sz="3600" b="1" dirty="0"/>
          </a:p>
          <a:p>
            <a:r>
              <a:rPr lang="en-US" altLang="zh-CN" sz="3600" b="1" dirty="0">
                <a:solidFill>
                  <a:srgbClr val="FF0000"/>
                </a:solidFill>
              </a:rPr>
              <a:t>fancy doing </a:t>
            </a:r>
            <a:r>
              <a:rPr lang="en-US" altLang="zh-CN" sz="3600" b="1" dirty="0" err="1">
                <a:solidFill>
                  <a:srgbClr val="FF0000"/>
                </a:solidFill>
              </a:rPr>
              <a:t>sth</a:t>
            </a:r>
            <a:r>
              <a:rPr lang="en-US" altLang="zh-CN" sz="3600" b="1" dirty="0">
                <a:solidFill>
                  <a:srgbClr val="FF0000"/>
                </a:solidFill>
              </a:rPr>
              <a:t>.</a:t>
            </a:r>
            <a:r>
              <a:rPr lang="zh-CN" altLang="en-US" sz="3600" b="1" dirty="0">
                <a:solidFill>
                  <a:srgbClr val="FF0000"/>
                </a:solidFill>
              </a:rPr>
              <a:t>想做某事</a:t>
            </a:r>
            <a:endParaRPr lang="zh-CN" altLang="zh-CN" sz="3600" b="1" dirty="0">
              <a:solidFill>
                <a:srgbClr val="FF0000"/>
              </a:solidFill>
            </a:endParaRPr>
          </a:p>
          <a:p>
            <a:endParaRPr lang="zh-CN" altLang="en-US" sz="3600" b="1"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7150" y="0"/>
            <a:ext cx="12134850" cy="6858000"/>
          </a:xfrm>
        </p:spPr>
        <p:txBody>
          <a:bodyPr>
            <a:normAutofit/>
          </a:bodyPr>
          <a:lstStyle/>
          <a:p>
            <a:r>
              <a:rPr lang="en-US" altLang="zh-CN" sz="3600" b="1" dirty="0"/>
              <a:t>P100</a:t>
            </a:r>
            <a:r>
              <a:rPr lang="zh-CN" altLang="en-US" sz="3600" b="1" dirty="0"/>
              <a:t>单词 </a:t>
            </a:r>
            <a:r>
              <a:rPr lang="en-US" altLang="zh-CN" sz="3600" b="1" dirty="0">
                <a:solidFill>
                  <a:srgbClr val="FF0000"/>
                </a:solidFill>
              </a:rPr>
              <a:t>1.</a:t>
            </a:r>
            <a:r>
              <a:rPr lang="zh-CN" altLang="en-US" sz="3600" b="1" dirty="0">
                <a:solidFill>
                  <a:srgbClr val="FF0000"/>
                </a:solidFill>
              </a:rPr>
              <a:t>使分离 </a:t>
            </a:r>
            <a:r>
              <a:rPr lang="en-US" altLang="zh-CN" sz="3600" b="1" dirty="0">
                <a:solidFill>
                  <a:srgbClr val="FF0000"/>
                </a:solidFill>
              </a:rPr>
              <a:t>2.</a:t>
            </a:r>
            <a:r>
              <a:rPr lang="zh-CN" altLang="en-US" sz="3600" b="1" dirty="0">
                <a:solidFill>
                  <a:srgbClr val="FF0000"/>
                </a:solidFill>
              </a:rPr>
              <a:t>依靠 </a:t>
            </a:r>
            <a:r>
              <a:rPr lang="en-US" altLang="zh-CN" sz="3600" b="1" dirty="0">
                <a:solidFill>
                  <a:srgbClr val="FF0000"/>
                </a:solidFill>
              </a:rPr>
              <a:t>3.</a:t>
            </a:r>
            <a:r>
              <a:rPr lang="zh-CN" altLang="en-US" sz="3600" b="1" dirty="0">
                <a:solidFill>
                  <a:srgbClr val="FF0000"/>
                </a:solidFill>
              </a:rPr>
              <a:t>额外赠送 </a:t>
            </a:r>
            <a:r>
              <a:rPr lang="en-US" altLang="zh-CN" sz="3600" b="1" dirty="0">
                <a:solidFill>
                  <a:srgbClr val="FF0000"/>
                </a:solidFill>
              </a:rPr>
              <a:t>4.</a:t>
            </a:r>
            <a:r>
              <a:rPr lang="zh-CN" altLang="en-US" sz="3600" b="1" dirty="0">
                <a:solidFill>
                  <a:srgbClr val="FF0000"/>
                </a:solidFill>
              </a:rPr>
              <a:t>作为额外增添 </a:t>
            </a:r>
            <a:endParaRPr lang="en-US" altLang="zh-CN" sz="3600" b="1" dirty="0">
              <a:solidFill>
                <a:srgbClr val="FF0000"/>
              </a:solidFill>
            </a:endParaRPr>
          </a:p>
          <a:p>
            <a:r>
              <a:rPr lang="en-US" altLang="zh-CN" sz="3600" b="1" dirty="0">
                <a:solidFill>
                  <a:srgbClr val="FF0000"/>
                </a:solidFill>
              </a:rPr>
              <a:t>5.</a:t>
            </a:r>
            <a:r>
              <a:rPr lang="zh-CN" altLang="en-US" sz="3600" b="1" dirty="0">
                <a:solidFill>
                  <a:srgbClr val="FF0000"/>
                </a:solidFill>
              </a:rPr>
              <a:t>由</a:t>
            </a:r>
            <a:r>
              <a:rPr lang="en-US" altLang="zh-CN" sz="3600" b="1" dirty="0">
                <a:solidFill>
                  <a:srgbClr val="FF0000"/>
                </a:solidFill>
              </a:rPr>
              <a:t>…</a:t>
            </a:r>
            <a:r>
              <a:rPr lang="zh-CN" altLang="en-US" sz="3600" b="1" dirty="0">
                <a:solidFill>
                  <a:srgbClr val="FF0000"/>
                </a:solidFill>
              </a:rPr>
              <a:t>组成 </a:t>
            </a:r>
            <a:r>
              <a:rPr lang="en-US" altLang="zh-CN" sz="3600" b="1" dirty="0">
                <a:solidFill>
                  <a:srgbClr val="FF0000"/>
                </a:solidFill>
              </a:rPr>
              <a:t>6.</a:t>
            </a:r>
            <a:r>
              <a:rPr lang="zh-CN" altLang="en-US" sz="3600" b="1" dirty="0">
                <a:solidFill>
                  <a:srgbClr val="FF0000"/>
                </a:solidFill>
              </a:rPr>
              <a:t>开始认真做某事 </a:t>
            </a:r>
            <a:r>
              <a:rPr lang="en-US" altLang="zh-CN" sz="3600" b="1" dirty="0">
                <a:solidFill>
                  <a:srgbClr val="FF0000"/>
                </a:solidFill>
              </a:rPr>
              <a:t>7.__n.</a:t>
            </a:r>
            <a:r>
              <a:rPr lang="zh-CN" altLang="en-US" sz="3600" b="1" dirty="0">
                <a:solidFill>
                  <a:srgbClr val="FF0000"/>
                </a:solidFill>
              </a:rPr>
              <a:t>作曲家</a:t>
            </a:r>
            <a:r>
              <a:rPr lang="en-US" altLang="zh-CN" sz="3600" b="1" dirty="0">
                <a:solidFill>
                  <a:srgbClr val="FF0000"/>
                </a:solidFill>
              </a:rPr>
              <a:t>; __v.</a:t>
            </a:r>
            <a:r>
              <a:rPr lang="zh-CN" altLang="en-US" sz="3600" b="1" dirty="0">
                <a:solidFill>
                  <a:srgbClr val="FF0000"/>
                </a:solidFill>
              </a:rPr>
              <a:t>作曲</a:t>
            </a:r>
            <a:r>
              <a:rPr lang="en-US" altLang="zh-CN" sz="3600" b="1" dirty="0">
                <a:solidFill>
                  <a:srgbClr val="FF0000"/>
                </a:solidFill>
              </a:rPr>
              <a:t>;</a:t>
            </a:r>
            <a:r>
              <a:rPr lang="zh-CN" altLang="en-US" sz="3600" b="1" dirty="0">
                <a:solidFill>
                  <a:srgbClr val="FF0000"/>
                </a:solidFill>
              </a:rPr>
              <a:t>组成</a:t>
            </a:r>
            <a:r>
              <a:rPr lang="en-US" altLang="zh-CN" sz="3600" b="1" dirty="0">
                <a:solidFill>
                  <a:srgbClr val="FF0000"/>
                </a:solidFill>
              </a:rPr>
              <a:t>;</a:t>
            </a:r>
            <a:r>
              <a:rPr lang="zh-CN" altLang="en-US" sz="3600" b="1" dirty="0">
                <a:solidFill>
                  <a:srgbClr val="FF0000"/>
                </a:solidFill>
              </a:rPr>
              <a:t>撰写</a:t>
            </a:r>
            <a:r>
              <a:rPr lang="en-US" altLang="zh-CN" sz="3600" b="1" dirty="0">
                <a:solidFill>
                  <a:srgbClr val="FF0000"/>
                </a:solidFill>
              </a:rPr>
              <a:t>;</a:t>
            </a:r>
            <a:r>
              <a:rPr lang="zh-CN" altLang="en-US" sz="3600" b="1" dirty="0">
                <a:solidFill>
                  <a:srgbClr val="FF0000"/>
                </a:solidFill>
              </a:rPr>
              <a:t>使镇静 </a:t>
            </a:r>
            <a:r>
              <a:rPr lang="en-US" altLang="zh-CN" sz="3600" b="1" dirty="0">
                <a:solidFill>
                  <a:srgbClr val="FF0000"/>
                </a:solidFill>
              </a:rPr>
              <a:t>8.n.v.</a:t>
            </a:r>
            <a:r>
              <a:rPr lang="zh-CN" altLang="en-US" sz="3600" b="1" dirty="0">
                <a:solidFill>
                  <a:srgbClr val="FF0000"/>
                </a:solidFill>
              </a:rPr>
              <a:t>低语 </a:t>
            </a:r>
            <a:r>
              <a:rPr lang="en-US" altLang="zh-CN" sz="3600" b="1" dirty="0">
                <a:solidFill>
                  <a:srgbClr val="FF0000"/>
                </a:solidFill>
              </a:rPr>
              <a:t>9.v.</a:t>
            </a:r>
            <a:r>
              <a:rPr lang="zh-CN" altLang="en-US" sz="3600" b="1" dirty="0">
                <a:solidFill>
                  <a:srgbClr val="FF0000"/>
                </a:solidFill>
              </a:rPr>
              <a:t>哭泣</a:t>
            </a:r>
            <a:r>
              <a:rPr lang="en-US" altLang="zh-CN" sz="3600" b="1" dirty="0">
                <a:solidFill>
                  <a:srgbClr val="FF0000"/>
                </a:solidFill>
              </a:rPr>
              <a:t>(__,__) 10.vt.</a:t>
            </a:r>
            <a:r>
              <a:rPr lang="zh-CN" altLang="en-US" sz="3600" b="1" dirty="0">
                <a:solidFill>
                  <a:srgbClr val="FF0000"/>
                </a:solidFill>
              </a:rPr>
              <a:t>受到</a:t>
            </a:r>
            <a:r>
              <a:rPr lang="en-US" altLang="zh-CN" sz="3600" b="1" dirty="0">
                <a:solidFill>
                  <a:srgbClr val="FF0000"/>
                </a:solidFill>
              </a:rPr>
              <a:t>…</a:t>
            </a:r>
            <a:r>
              <a:rPr lang="zh-CN" altLang="en-US" sz="3600" b="1" dirty="0">
                <a:solidFill>
                  <a:srgbClr val="FF0000"/>
                </a:solidFill>
              </a:rPr>
              <a:t>的极大影响</a:t>
            </a:r>
            <a:r>
              <a:rPr lang="en-US" altLang="zh-CN" sz="3600" b="1" dirty="0">
                <a:solidFill>
                  <a:srgbClr val="FF0000"/>
                </a:solidFill>
              </a:rPr>
              <a:t>(__,__) 11.n.</a:t>
            </a:r>
            <a:r>
              <a:rPr lang="zh-CN" altLang="en-US" sz="3600" b="1" dirty="0">
                <a:solidFill>
                  <a:srgbClr val="FF0000"/>
                </a:solidFill>
              </a:rPr>
              <a:t>坟墓</a:t>
            </a:r>
            <a:r>
              <a:rPr lang="en-US" altLang="zh-CN" sz="3600" b="1" dirty="0">
                <a:solidFill>
                  <a:srgbClr val="FF0000"/>
                </a:solidFill>
              </a:rPr>
              <a:t>;adj.</a:t>
            </a:r>
            <a:r>
              <a:rPr lang="zh-CN" altLang="en-US" sz="3600" b="1" dirty="0">
                <a:solidFill>
                  <a:srgbClr val="FF0000"/>
                </a:solidFill>
              </a:rPr>
              <a:t>严重的 </a:t>
            </a:r>
            <a:r>
              <a:rPr lang="en-US" altLang="zh-CN" sz="3600" b="1" dirty="0">
                <a:solidFill>
                  <a:srgbClr val="FF0000"/>
                </a:solidFill>
              </a:rPr>
              <a:t>12.vt.n.</a:t>
            </a:r>
            <a:r>
              <a:rPr lang="zh-CN" altLang="en-US" sz="3600" b="1" dirty="0">
                <a:solidFill>
                  <a:srgbClr val="FF0000"/>
                </a:solidFill>
              </a:rPr>
              <a:t>保证</a:t>
            </a:r>
            <a:r>
              <a:rPr lang="en-US" altLang="zh-CN" sz="3600" b="1" dirty="0">
                <a:solidFill>
                  <a:srgbClr val="FF0000"/>
                </a:solidFill>
              </a:rPr>
              <a:t>;</a:t>
            </a:r>
            <a:r>
              <a:rPr lang="zh-CN" altLang="en-US" sz="3600" b="1" dirty="0">
                <a:solidFill>
                  <a:srgbClr val="FF0000"/>
                </a:solidFill>
              </a:rPr>
              <a:t>保修单</a:t>
            </a:r>
            <a:r>
              <a:rPr lang="en-US" altLang="zh-CN" sz="3600" b="1" dirty="0">
                <a:solidFill>
                  <a:srgbClr val="FF0000"/>
                </a:solidFill>
              </a:rPr>
              <a:t> </a:t>
            </a:r>
          </a:p>
          <a:p>
            <a:r>
              <a:rPr lang="en-US" altLang="zh-CN" sz="3600" b="1" dirty="0">
                <a:solidFill>
                  <a:srgbClr val="FF0000"/>
                </a:solidFill>
              </a:rPr>
              <a:t>13.a.</a:t>
            </a:r>
            <a:r>
              <a:rPr lang="zh-CN" altLang="en-US" sz="3600" b="1" dirty="0">
                <a:solidFill>
                  <a:srgbClr val="FF0000"/>
                </a:solidFill>
              </a:rPr>
              <a:t>共产主义的</a:t>
            </a:r>
            <a:r>
              <a:rPr lang="en-US" altLang="zh-CN" sz="3600" b="1" dirty="0">
                <a:solidFill>
                  <a:srgbClr val="FF0000"/>
                </a:solidFill>
              </a:rPr>
              <a:t>n.</a:t>
            </a:r>
            <a:r>
              <a:rPr lang="zh-CN" altLang="en-US" sz="3600" b="1" dirty="0">
                <a:solidFill>
                  <a:srgbClr val="FF0000"/>
                </a:solidFill>
              </a:rPr>
              <a:t>共产主义者 </a:t>
            </a:r>
            <a:r>
              <a:rPr lang="en-US" altLang="zh-CN" sz="3600" b="1" dirty="0">
                <a:solidFill>
                  <a:srgbClr val="FF0000"/>
                </a:solidFill>
              </a:rPr>
              <a:t>14.vi.n.</a:t>
            </a:r>
            <a:r>
              <a:rPr lang="zh-CN" altLang="en-US" sz="3600" b="1" dirty="0">
                <a:solidFill>
                  <a:srgbClr val="FF0000"/>
                </a:solidFill>
              </a:rPr>
              <a:t>流动</a:t>
            </a:r>
            <a:r>
              <a:rPr lang="en-US" altLang="zh-CN" sz="3600" b="1" dirty="0">
                <a:solidFill>
                  <a:srgbClr val="FF0000"/>
                </a:solidFill>
              </a:rPr>
              <a:t>;</a:t>
            </a:r>
            <a:r>
              <a:rPr lang="zh-CN" altLang="en-US" sz="3600" b="1" dirty="0">
                <a:solidFill>
                  <a:srgbClr val="FF0000"/>
                </a:solidFill>
              </a:rPr>
              <a:t>充满 </a:t>
            </a:r>
            <a:r>
              <a:rPr lang="en-US" altLang="zh-CN" sz="3600" b="1" dirty="0">
                <a:solidFill>
                  <a:srgbClr val="FF0000"/>
                </a:solidFill>
              </a:rPr>
              <a:t>15.v.</a:t>
            </a:r>
            <a:r>
              <a:rPr lang="zh-CN" altLang="en-US" sz="3600" b="1" dirty="0">
                <a:solidFill>
                  <a:srgbClr val="FF0000"/>
                </a:solidFill>
              </a:rPr>
              <a:t>变形改观 </a:t>
            </a:r>
            <a:r>
              <a:rPr lang="en-US" altLang="zh-CN" sz="3600" b="1" dirty="0">
                <a:solidFill>
                  <a:srgbClr val="FF0000"/>
                </a:solidFill>
              </a:rPr>
              <a:t>16.n.</a:t>
            </a:r>
            <a:r>
              <a:rPr lang="zh-CN" altLang="en-US" sz="3600" b="1" dirty="0">
                <a:solidFill>
                  <a:srgbClr val="FF0000"/>
                </a:solidFill>
              </a:rPr>
              <a:t>悲伤  </a:t>
            </a:r>
            <a:r>
              <a:rPr lang="en-US" altLang="zh-CN" sz="3600" b="1" dirty="0">
                <a:solidFill>
                  <a:srgbClr val="FF0000"/>
                </a:solidFill>
              </a:rPr>
              <a:t>17.n.</a:t>
            </a:r>
            <a:r>
              <a:rPr lang="zh-CN" altLang="en-US" sz="3600" b="1" dirty="0">
                <a:solidFill>
                  <a:srgbClr val="FF0000"/>
                </a:solidFill>
              </a:rPr>
              <a:t>周围环境 </a:t>
            </a:r>
            <a:r>
              <a:rPr lang="en-US" altLang="zh-CN" sz="3600" b="1" dirty="0">
                <a:solidFill>
                  <a:srgbClr val="FF0000"/>
                </a:solidFill>
              </a:rPr>
              <a:t>18.n.</a:t>
            </a:r>
            <a:r>
              <a:rPr lang="zh-CN" altLang="en-US" sz="3600" b="1" dirty="0">
                <a:solidFill>
                  <a:srgbClr val="FF0000"/>
                </a:solidFill>
              </a:rPr>
              <a:t>微风 </a:t>
            </a:r>
            <a:r>
              <a:rPr lang="en-US" altLang="zh-CN" sz="3600" b="1" dirty="0">
                <a:solidFill>
                  <a:srgbClr val="FF0000"/>
                </a:solidFill>
              </a:rPr>
              <a:t>19.n.</a:t>
            </a:r>
            <a:r>
              <a:rPr lang="zh-CN" altLang="en-US" sz="3600" b="1" dirty="0">
                <a:solidFill>
                  <a:srgbClr val="FF0000"/>
                </a:solidFill>
              </a:rPr>
              <a:t>拱门 </a:t>
            </a:r>
            <a:endParaRPr lang="en-US" altLang="zh-CN" sz="3600" b="1" dirty="0">
              <a:solidFill>
                <a:srgbClr val="FF0000"/>
              </a:solidFill>
            </a:endParaRPr>
          </a:p>
          <a:p>
            <a:r>
              <a:rPr lang="en-US" altLang="zh-CN" sz="3600" b="1" dirty="0">
                <a:solidFill>
                  <a:srgbClr val="FF0000"/>
                </a:solidFill>
              </a:rPr>
              <a:t>20.n.</a:t>
            </a:r>
            <a:r>
              <a:rPr lang="zh-CN" altLang="en-US" sz="3600" b="1" dirty="0">
                <a:solidFill>
                  <a:srgbClr val="FF0000"/>
                </a:solidFill>
              </a:rPr>
              <a:t>改编本</a:t>
            </a:r>
            <a:r>
              <a:rPr lang="en-US" altLang="zh-CN" sz="3600" b="1" dirty="0">
                <a:solidFill>
                  <a:srgbClr val="FF0000"/>
                </a:solidFill>
              </a:rPr>
              <a:t>;</a:t>
            </a:r>
            <a:r>
              <a:rPr lang="zh-CN" altLang="en-US" sz="3600" b="1" dirty="0">
                <a:solidFill>
                  <a:srgbClr val="FF0000"/>
                </a:solidFill>
              </a:rPr>
              <a:t>适应  </a:t>
            </a:r>
            <a:r>
              <a:rPr lang="en-US" altLang="zh-CN" sz="3600" b="1" dirty="0">
                <a:solidFill>
                  <a:srgbClr val="FF0000"/>
                </a:solidFill>
              </a:rPr>
              <a:t>21.n.</a:t>
            </a:r>
            <a:r>
              <a:rPr lang="zh-CN" altLang="en-US" sz="3600" b="1" dirty="0">
                <a:solidFill>
                  <a:srgbClr val="FF0000"/>
                </a:solidFill>
              </a:rPr>
              <a:t>侵略者 </a:t>
            </a:r>
            <a:r>
              <a:rPr lang="en-US" altLang="zh-CN" sz="3600" b="1" dirty="0">
                <a:solidFill>
                  <a:srgbClr val="FF0000"/>
                </a:solidFill>
              </a:rPr>
              <a:t>22.n.</a:t>
            </a:r>
            <a:r>
              <a:rPr lang="zh-CN" altLang="en-US" sz="3600" b="1" dirty="0">
                <a:solidFill>
                  <a:srgbClr val="FF0000"/>
                </a:solidFill>
              </a:rPr>
              <a:t>录音 </a:t>
            </a:r>
            <a:r>
              <a:rPr lang="en-US" altLang="zh-CN" sz="3600" b="1" dirty="0">
                <a:solidFill>
                  <a:srgbClr val="FF0000"/>
                </a:solidFill>
              </a:rPr>
              <a:t>23.n.</a:t>
            </a:r>
            <a:r>
              <a:rPr lang="zh-CN" altLang="en-US" sz="3600" b="1" dirty="0">
                <a:solidFill>
                  <a:srgbClr val="FF0000"/>
                </a:solidFill>
              </a:rPr>
              <a:t>交响乐 </a:t>
            </a:r>
            <a:endParaRPr lang="en-US" altLang="zh-CN" sz="3600" b="1" dirty="0">
              <a:solidFill>
                <a:srgbClr val="FF0000"/>
              </a:solidFill>
            </a:endParaRPr>
          </a:p>
          <a:p>
            <a:r>
              <a:rPr lang="en-US" altLang="zh-CN" sz="3600" b="1" dirty="0">
                <a:solidFill>
                  <a:srgbClr val="FF0000"/>
                </a:solidFill>
              </a:rPr>
              <a:t>24.n.</a:t>
            </a:r>
            <a:r>
              <a:rPr lang="zh-CN" altLang="en-US" sz="3600" b="1" dirty="0">
                <a:solidFill>
                  <a:srgbClr val="FF0000"/>
                </a:solidFill>
              </a:rPr>
              <a:t>曲调 </a:t>
            </a:r>
            <a:r>
              <a:rPr lang="en-US" altLang="zh-CN" sz="3600" b="1" dirty="0" err="1">
                <a:solidFill>
                  <a:srgbClr val="FF0000"/>
                </a:solidFill>
              </a:rPr>
              <a:t>vt.</a:t>
            </a:r>
            <a:r>
              <a:rPr lang="zh-CN" altLang="en-US" sz="3600" b="1" dirty="0">
                <a:solidFill>
                  <a:srgbClr val="FF0000"/>
                </a:solidFill>
              </a:rPr>
              <a:t>调音 </a:t>
            </a:r>
            <a:r>
              <a:rPr lang="en-US" altLang="zh-CN" sz="3600" b="1" dirty="0">
                <a:solidFill>
                  <a:srgbClr val="FF0000"/>
                </a:solidFill>
              </a:rPr>
              <a:t>25.n.</a:t>
            </a:r>
            <a:r>
              <a:rPr lang="zh-CN" altLang="en-US" sz="3600" b="1" dirty="0">
                <a:solidFill>
                  <a:srgbClr val="FF0000"/>
                </a:solidFill>
              </a:rPr>
              <a:t>歌词抒情诗</a:t>
            </a:r>
            <a:r>
              <a:rPr lang="en-US" altLang="zh-CN" sz="3600" b="1" dirty="0">
                <a:solidFill>
                  <a:srgbClr val="FF0000"/>
                </a:solidFill>
              </a:rPr>
              <a:t>a.</a:t>
            </a:r>
            <a:r>
              <a:rPr lang="zh-CN" altLang="en-US" sz="3600" b="1" dirty="0">
                <a:solidFill>
                  <a:srgbClr val="FF0000"/>
                </a:solidFill>
              </a:rPr>
              <a:t>抒情的</a:t>
            </a:r>
            <a:r>
              <a:rPr lang="en-US" altLang="zh-CN" sz="3600" b="1" dirty="0">
                <a:solidFill>
                  <a:srgbClr val="FF0000"/>
                </a:solidFill>
              </a:rPr>
              <a:t> 26.</a:t>
            </a:r>
            <a:r>
              <a:rPr lang="zh-CN" altLang="en-US" sz="3600" b="1" dirty="0">
                <a:solidFill>
                  <a:srgbClr val="FF0000"/>
                </a:solidFill>
              </a:rPr>
              <a:t>激动人心的戏剧性的</a:t>
            </a:r>
            <a:r>
              <a:rPr lang="en-US" altLang="zh-CN" sz="3600" b="1" dirty="0">
                <a:solidFill>
                  <a:srgbClr val="FF0000"/>
                </a:solidFill>
              </a:rPr>
              <a:t>27.</a:t>
            </a:r>
            <a:r>
              <a:rPr lang="zh-CN" altLang="en-US" sz="3600" b="1" dirty="0">
                <a:solidFill>
                  <a:srgbClr val="FF0000"/>
                </a:solidFill>
              </a:rPr>
              <a:t>令人愉快的</a:t>
            </a:r>
            <a:r>
              <a:rPr lang="en-US" altLang="zh-CN" sz="3600" b="1" dirty="0">
                <a:solidFill>
                  <a:srgbClr val="FF0000"/>
                </a:solidFill>
              </a:rPr>
              <a:t>28.</a:t>
            </a:r>
            <a:r>
              <a:rPr lang="zh-CN" altLang="en-US" sz="3600" b="1" dirty="0">
                <a:solidFill>
                  <a:srgbClr val="FF0000"/>
                </a:solidFill>
              </a:rPr>
              <a:t>民间民俗的</a:t>
            </a:r>
            <a:r>
              <a:rPr lang="en-US" altLang="zh-CN" sz="3600" b="1" dirty="0">
                <a:solidFill>
                  <a:srgbClr val="FF0000"/>
                </a:solidFill>
              </a:rPr>
              <a:t>29.</a:t>
            </a:r>
            <a:r>
              <a:rPr lang="zh-CN" altLang="en-US" sz="3600" b="1" dirty="0">
                <a:solidFill>
                  <a:srgbClr val="FF0000"/>
                </a:solidFill>
              </a:rPr>
              <a:t>乡村的</a:t>
            </a:r>
            <a:r>
              <a:rPr lang="en-US" altLang="zh-CN" sz="3600" b="1" dirty="0">
                <a:solidFill>
                  <a:srgbClr val="FF0000"/>
                </a:solidFill>
              </a:rPr>
              <a:t>30.</a:t>
            </a:r>
            <a:r>
              <a:rPr lang="zh-CN" altLang="en-US" sz="3600" b="1" dirty="0">
                <a:solidFill>
                  <a:srgbClr val="FF0000"/>
                </a:solidFill>
              </a:rPr>
              <a:t>合适的</a:t>
            </a:r>
            <a:endParaRPr lang="en-US" altLang="zh-CN" sz="3600" b="1" dirty="0">
              <a:solidFill>
                <a:srgbClr val="FF0000"/>
              </a:solidFill>
            </a:endParaRPr>
          </a:p>
          <a:p>
            <a:r>
              <a:rPr lang="en-US" altLang="zh-CN" sz="3600" b="1" dirty="0"/>
              <a:t> V-</a:t>
            </a:r>
            <a:r>
              <a:rPr lang="en-US" altLang="zh-CN" sz="3600" b="1" dirty="0" err="1"/>
              <a:t>ing</a:t>
            </a:r>
            <a:r>
              <a:rPr lang="zh-CN" altLang="en-US" sz="3600" b="1" dirty="0"/>
              <a:t>作主语的</a:t>
            </a:r>
            <a:r>
              <a:rPr lang="zh-CN" altLang="en-US" sz="3600" b="1" u="sng" dirty="0">
                <a:solidFill>
                  <a:srgbClr val="FF0000"/>
                </a:solidFill>
              </a:rPr>
              <a:t>句型</a:t>
            </a:r>
            <a:r>
              <a:rPr lang="zh-CN" altLang="en-US" sz="3600" b="1" dirty="0"/>
              <a:t>：</a:t>
            </a:r>
            <a:endParaRPr lang="en-US" altLang="zh-CN" sz="3600" b="1" dirty="0"/>
          </a:p>
          <a:p>
            <a:r>
              <a:rPr lang="en-US" altLang="zh-CN" sz="3600" b="1" dirty="0"/>
              <a:t> V-</a:t>
            </a:r>
            <a:r>
              <a:rPr lang="en-US" altLang="zh-CN" sz="3600" b="1" dirty="0" err="1"/>
              <a:t>ing</a:t>
            </a:r>
            <a:r>
              <a:rPr lang="zh-CN" altLang="en-US" sz="3600" b="1" dirty="0"/>
              <a:t>作宾语常用在哪些</a:t>
            </a:r>
            <a:r>
              <a:rPr lang="zh-CN" altLang="en-US" sz="3600" b="1" u="sng" dirty="0">
                <a:solidFill>
                  <a:srgbClr val="FF0000"/>
                </a:solidFill>
              </a:rPr>
              <a:t>动词和词组</a:t>
            </a:r>
            <a:r>
              <a:rPr lang="zh-CN" altLang="en-US" sz="3600" b="1" dirty="0"/>
              <a:t>后面？</a:t>
            </a: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12797</Words>
  <Application>Microsoft Office PowerPoint</Application>
  <PresentationFormat>宽屏</PresentationFormat>
  <Paragraphs>403</Paragraphs>
  <Slides>73</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73</vt:i4>
      </vt:variant>
    </vt:vector>
  </HeadingPairs>
  <TitlesOfParts>
    <vt:vector size="81" baseType="lpstr">
      <vt:lpstr>等线</vt:lpstr>
      <vt:lpstr>等线 Light</vt:lpstr>
      <vt:lpstr>宋体</vt:lpstr>
      <vt:lpstr>Arial</vt:lpstr>
      <vt:lpstr>Calibri</vt:lpstr>
      <vt:lpstr>Times New Roman</vt:lpstr>
      <vt:lpstr>Wingdings</vt:lpstr>
      <vt:lpstr>Office 主题​​</vt:lpstr>
      <vt:lpstr>Dictation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静 刘</dc:creator>
  <cp:lastModifiedBy>静 刘</cp:lastModifiedBy>
  <cp:revision>116</cp:revision>
  <dcterms:created xsi:type="dcterms:W3CDTF">2025-09-01T12:34:00Z</dcterms:created>
  <dcterms:modified xsi:type="dcterms:W3CDTF">2025-11-28T01:51:27Z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D652BBC5ABF74C738D35321A50F118BE_12</vt:lpwstr>
  </property>
  <property fmtid="{D5CDD505-2E9C-101B-9397-08002B2CF9AE}" pid="3" name="KSOProductBuildVer">
    <vt:lpwstr>2052-12.1.0.23542</vt:lpwstr>
  </property>
</Properties>
</file>