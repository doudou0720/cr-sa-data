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780" r:id="rId3"/>
    <p:sldId id="779" r:id="rId4"/>
    <p:sldId id="781" r:id="rId5"/>
    <p:sldId id="782" r:id="rId6"/>
    <p:sldId id="778" r:id="rId7"/>
    <p:sldId id="771" r:id="rId8"/>
    <p:sldId id="382" r:id="rId9"/>
    <p:sldId id="384" r:id="rId10"/>
    <p:sldId id="777" r:id="rId11"/>
    <p:sldId id="770" r:id="rId12"/>
    <p:sldId id="783" r:id="rId13"/>
    <p:sldId id="784" r:id="rId14"/>
    <p:sldId id="785" r:id="rId15"/>
    <p:sldId id="383" r:id="rId16"/>
    <p:sldId id="769" r:id="rId17"/>
    <p:sldId id="381" r:id="rId18"/>
    <p:sldId id="380" r:id="rId19"/>
    <p:sldId id="379" r:id="rId20"/>
    <p:sldId id="764" r:id="rId21"/>
    <p:sldId id="765" r:id="rId22"/>
    <p:sldId id="766" r:id="rId23"/>
    <p:sldId id="767" r:id="rId24"/>
    <p:sldId id="768" r:id="rId25"/>
    <p:sldId id="370" r:id="rId26"/>
    <p:sldId id="371" r:id="rId27"/>
    <p:sldId id="372" r:id="rId28"/>
    <p:sldId id="347" r:id="rId29"/>
    <p:sldId id="374" r:id="rId30"/>
    <p:sldId id="375" r:id="rId31"/>
    <p:sldId id="346" r:id="rId32"/>
    <p:sldId id="345" r:id="rId33"/>
    <p:sldId id="344" r:id="rId34"/>
    <p:sldId id="350" r:id="rId35"/>
    <p:sldId id="295" r:id="rId36"/>
    <p:sldId id="296" r:id="rId37"/>
    <p:sldId id="294" r:id="rId38"/>
    <p:sldId id="293" r:id="rId39"/>
    <p:sldId id="316" r:id="rId40"/>
    <p:sldId id="343" r:id="rId41"/>
    <p:sldId id="321" r:id="rId42"/>
    <p:sldId id="292" r:id="rId43"/>
    <p:sldId id="315" r:id="rId44"/>
    <p:sldId id="291" r:id="rId45"/>
    <p:sldId id="282" r:id="rId46"/>
    <p:sldId id="283" r:id="rId47"/>
    <p:sldId id="272" r:id="rId48"/>
    <p:sldId id="284" r:id="rId49"/>
    <p:sldId id="285" r:id="rId50"/>
    <p:sldId id="271" r:id="rId51"/>
    <p:sldId id="280" r:id="rId52"/>
    <p:sldId id="277" r:id="rId53"/>
    <p:sldId id="268" r:id="rId54"/>
    <p:sldId id="270" r:id="rId55"/>
    <p:sldId id="265" r:id="rId56"/>
    <p:sldId id="267" r:id="rId57"/>
    <p:sldId id="264" r:id="rId58"/>
    <p:sldId id="266" r:id="rId59"/>
    <p:sldId id="278" r:id="rId60"/>
    <p:sldId id="279" r:id="rId61"/>
    <p:sldId id="257" r:id="rId62"/>
    <p:sldId id="262" r:id="rId63"/>
    <p:sldId id="260" r:id="rId64"/>
    <p:sldId id="261" r:id="rId6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静 刘" initials="静刘"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6" autoAdjust="0"/>
    <p:restoredTop sz="94660"/>
  </p:normalViewPr>
  <p:slideViewPr>
    <p:cSldViewPr snapToGrid="0">
      <p:cViewPr varScale="1">
        <p:scale>
          <a:sx n="75" d="100"/>
          <a:sy n="75" d="100"/>
        </p:scale>
        <p:origin x="516"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5A8FD32-74DC-42C2-89CC-05E54E8B6768}" type="datetimeFigureOut">
              <a:rPr lang="zh-CN" altLang="en-US" smtClean="0"/>
              <a:t>2025/11/21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5A8FD32-74DC-42C2-89CC-05E54E8B6768}" type="datetimeFigureOut">
              <a:rPr lang="zh-CN" altLang="en-US" smtClean="0"/>
              <a:t>2025/11/21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5A8FD32-74DC-42C2-89CC-05E54E8B6768}" type="datetimeFigureOut">
              <a:rPr lang="zh-CN" altLang="en-US" smtClean="0"/>
              <a:t>2025/11/21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65A8FD32-74DC-42C2-89CC-05E54E8B6768}" type="datetimeFigureOut">
              <a:rPr lang="zh-CN" altLang="en-US" smtClean="0"/>
              <a:t>2025/11/21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65A8FD32-74DC-42C2-89CC-05E54E8B6768}" type="datetimeFigureOut">
              <a:rPr lang="zh-CN" altLang="en-US" smtClean="0"/>
              <a:t>2025/11/21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5A8FD32-74DC-42C2-89CC-05E54E8B6768}" type="datetimeFigureOut">
              <a:rPr lang="zh-CN" altLang="en-US" smtClean="0"/>
              <a:t>2025/11/21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A8FD32-74DC-42C2-89CC-05E54E8B6768}" type="datetimeFigureOut">
              <a:rPr lang="zh-CN" altLang="en-US" smtClean="0"/>
              <a:t>2025/11/21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5A8FD32-74DC-42C2-89CC-05E54E8B6768}" type="datetimeFigureOut">
              <a:rPr lang="zh-CN" altLang="en-US" smtClean="0"/>
              <a:t>2025/11/21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5A8FD32-74DC-42C2-89CC-05E54E8B6768}" type="datetimeFigureOut">
              <a:rPr lang="zh-CN" altLang="en-US" smtClean="0"/>
              <a:t>2025/11/21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5A8FD32-74DC-42C2-89CC-05E54E8B6768}" type="datetimeFigureOut">
              <a:rPr lang="zh-CN" altLang="en-US" smtClean="0"/>
              <a:t>2025/11/21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5A8FD32-74DC-42C2-89CC-05E54E8B6768}" type="datetimeFigureOut">
              <a:rPr lang="zh-CN" altLang="en-US" smtClean="0"/>
              <a:t>2025/11/21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A8FD32-74DC-42C2-89CC-05E54E8B6768}" type="datetimeFigureOut">
              <a:rPr lang="zh-CN" altLang="en-US" smtClean="0"/>
              <a:t>2025/11/21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C5FF1D-9BEB-48F2-BA1A-48419C81CB7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Dictation</a:t>
            </a:r>
            <a:endParaRPr lang="zh-CN" altLang="en-US" dirty="0"/>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ym typeface="+mn-ea"/>
              </a:rPr>
              <a:t>P2-7</a:t>
            </a:r>
            <a:r>
              <a:rPr lang="zh-CN" altLang="en-US" sz="3600" b="1" dirty="0">
                <a:sym typeface="+mn-ea"/>
              </a:rPr>
              <a:t>词组 </a:t>
            </a:r>
            <a:r>
              <a:rPr lang="en-US" altLang="zh-CN" sz="3600" b="1" dirty="0">
                <a:solidFill>
                  <a:srgbClr val="FF0000"/>
                </a:solidFill>
                <a:sym typeface="+mn-ea"/>
              </a:rPr>
              <a:t>1.</a:t>
            </a:r>
            <a:r>
              <a:rPr lang="zh-CN" altLang="en-US" sz="3600" b="1" dirty="0">
                <a:solidFill>
                  <a:srgbClr val="FF0000"/>
                </a:solidFill>
                <a:sym typeface="+mn-ea"/>
              </a:rPr>
              <a:t>扑灭</a:t>
            </a:r>
            <a:r>
              <a:rPr lang="en-US" altLang="zh-CN" sz="3600" b="1" dirty="0">
                <a:solidFill>
                  <a:srgbClr val="FF0000"/>
                </a:solidFill>
                <a:sym typeface="+mn-ea"/>
              </a:rPr>
              <a:t>2.</a:t>
            </a:r>
            <a:r>
              <a:rPr lang="zh-CN" altLang="en-US" sz="3600" b="1" dirty="0">
                <a:solidFill>
                  <a:srgbClr val="FF0000"/>
                </a:solidFill>
                <a:sym typeface="+mn-ea"/>
              </a:rPr>
              <a:t>被认为起于 </a:t>
            </a:r>
            <a:r>
              <a:rPr lang="en-US" altLang="zh-CN" sz="3600" b="1" dirty="0">
                <a:solidFill>
                  <a:srgbClr val="FF0000"/>
                </a:solidFill>
                <a:sym typeface="+mn-ea"/>
              </a:rPr>
              <a:t>3.</a:t>
            </a:r>
            <a:r>
              <a:rPr lang="zh-CN" altLang="en-US" sz="3600" b="1" dirty="0">
                <a:solidFill>
                  <a:srgbClr val="FF0000"/>
                </a:solidFill>
                <a:sym typeface="+mn-ea"/>
              </a:rPr>
              <a:t>导致人们被困 </a:t>
            </a:r>
            <a:r>
              <a:rPr lang="en-US" altLang="zh-CN" sz="3600" b="1" dirty="0">
                <a:solidFill>
                  <a:srgbClr val="FF0000"/>
                </a:solidFill>
                <a:sym typeface="+mn-ea"/>
              </a:rPr>
              <a:t>4.</a:t>
            </a:r>
            <a:r>
              <a:rPr lang="zh-CN" altLang="en-US" sz="3600" b="1" dirty="0">
                <a:solidFill>
                  <a:srgbClr val="FF0000"/>
                </a:solidFill>
                <a:sym typeface="+mn-ea"/>
              </a:rPr>
              <a:t>死亡人数 </a:t>
            </a:r>
            <a:r>
              <a:rPr lang="en-US" altLang="zh-CN" sz="3600" b="1" dirty="0">
                <a:solidFill>
                  <a:srgbClr val="FF0000"/>
                </a:solidFill>
                <a:sym typeface="+mn-ea"/>
              </a:rPr>
              <a:t>5.</a:t>
            </a:r>
            <a:r>
              <a:rPr lang="zh-CN" altLang="en-US" sz="3600" b="1" dirty="0">
                <a:solidFill>
                  <a:srgbClr val="FF0000"/>
                </a:solidFill>
                <a:sym typeface="+mn-ea"/>
              </a:rPr>
              <a:t>根据</a:t>
            </a:r>
            <a:r>
              <a:rPr lang="en-US" altLang="zh-CN" sz="3600" b="1" dirty="0">
                <a:solidFill>
                  <a:srgbClr val="FF0000"/>
                </a:solidFill>
                <a:sym typeface="+mn-ea"/>
              </a:rPr>
              <a:t>…</a:t>
            </a:r>
            <a:r>
              <a:rPr lang="zh-CN" altLang="en-US" sz="3600" b="1" dirty="0">
                <a:solidFill>
                  <a:srgbClr val="FF0000"/>
                </a:solidFill>
                <a:sym typeface="+mn-ea"/>
              </a:rPr>
              <a:t>公布的数据 </a:t>
            </a:r>
            <a:r>
              <a:rPr lang="en-US" altLang="zh-CN" sz="3600" b="1" dirty="0">
                <a:solidFill>
                  <a:srgbClr val="FF0000"/>
                </a:solidFill>
                <a:sym typeface="+mn-ea"/>
              </a:rPr>
              <a:t>6.</a:t>
            </a:r>
            <a:r>
              <a:rPr lang="zh-CN" altLang="en-US" sz="3600" b="1" dirty="0">
                <a:solidFill>
                  <a:srgbClr val="FF0000"/>
                </a:solidFill>
                <a:sym typeface="+mn-ea"/>
              </a:rPr>
              <a:t>蔓延至 </a:t>
            </a:r>
            <a:r>
              <a:rPr lang="en-US" altLang="zh-CN" sz="3600" b="1" dirty="0">
                <a:solidFill>
                  <a:srgbClr val="FF0000"/>
                </a:solidFill>
                <a:sym typeface="+mn-ea"/>
              </a:rPr>
              <a:t>7.</a:t>
            </a:r>
            <a:r>
              <a:rPr lang="zh-CN" altLang="en-US" sz="3600" b="1" dirty="0">
                <a:solidFill>
                  <a:srgbClr val="FF0000"/>
                </a:solidFill>
                <a:sym typeface="+mn-ea"/>
              </a:rPr>
              <a:t>控制住了火势 </a:t>
            </a:r>
            <a:r>
              <a:rPr lang="en-US" altLang="zh-CN" sz="3600" b="1" dirty="0">
                <a:solidFill>
                  <a:srgbClr val="FF0000"/>
                </a:solidFill>
                <a:sym typeface="+mn-ea"/>
              </a:rPr>
              <a:t>8.</a:t>
            </a:r>
            <a:r>
              <a:rPr lang="zh-CN" altLang="en-US" sz="3600" b="1" dirty="0">
                <a:solidFill>
                  <a:srgbClr val="FF0000"/>
                </a:solidFill>
                <a:sym typeface="+mn-ea"/>
              </a:rPr>
              <a:t>遵守消防安全规范 </a:t>
            </a:r>
            <a:endParaRPr lang="en-US" altLang="zh-CN" sz="3600" b="1" dirty="0">
              <a:solidFill>
                <a:srgbClr val="FF0000"/>
              </a:solidFill>
            </a:endParaRPr>
          </a:p>
          <a:p>
            <a:r>
              <a:rPr lang="en-US" altLang="zh-CN" sz="3600" b="1" dirty="0">
                <a:solidFill>
                  <a:srgbClr val="FF0000"/>
                </a:solidFill>
                <a:sym typeface="+mn-ea"/>
              </a:rPr>
              <a:t>9.</a:t>
            </a:r>
            <a:r>
              <a:rPr lang="zh-CN" altLang="en-US" sz="3600" b="1" dirty="0">
                <a:solidFill>
                  <a:srgbClr val="FF0000"/>
                </a:solidFill>
                <a:sym typeface="+mn-ea"/>
              </a:rPr>
              <a:t>对</a:t>
            </a:r>
            <a:r>
              <a:rPr lang="en-US" altLang="zh-CN" sz="3600" b="1" dirty="0">
                <a:solidFill>
                  <a:srgbClr val="FF0000"/>
                </a:solidFill>
                <a:sym typeface="+mn-ea"/>
              </a:rPr>
              <a:t>…</a:t>
            </a:r>
            <a:r>
              <a:rPr lang="zh-CN" altLang="en-US" sz="3600" b="1" dirty="0">
                <a:solidFill>
                  <a:srgbClr val="FF0000"/>
                </a:solidFill>
                <a:sym typeface="+mn-ea"/>
              </a:rPr>
              <a:t>造成严重损失</a:t>
            </a:r>
            <a:r>
              <a:rPr lang="en-US" altLang="zh-CN" sz="3600" b="1" dirty="0">
                <a:solidFill>
                  <a:srgbClr val="FF0000"/>
                </a:solidFill>
                <a:sym typeface="+mn-ea"/>
              </a:rPr>
              <a:t>10.</a:t>
            </a:r>
            <a:r>
              <a:rPr lang="zh-CN" altLang="en-US" sz="3600" b="1" dirty="0">
                <a:solidFill>
                  <a:srgbClr val="FF0000"/>
                </a:solidFill>
                <a:sym typeface="+mn-ea"/>
              </a:rPr>
              <a:t>伤势严峻 </a:t>
            </a:r>
            <a:r>
              <a:rPr lang="en-US" altLang="zh-CN" sz="3600" b="1" dirty="0">
                <a:solidFill>
                  <a:srgbClr val="FF0000"/>
                </a:solidFill>
                <a:sym typeface="+mn-ea"/>
              </a:rPr>
              <a:t>11.</a:t>
            </a:r>
            <a:r>
              <a:rPr lang="zh-CN" altLang="en-US" sz="3600" b="1" dirty="0">
                <a:solidFill>
                  <a:srgbClr val="FF0000"/>
                </a:solidFill>
                <a:sym typeface="+mn-ea"/>
              </a:rPr>
              <a:t>受了轻伤 </a:t>
            </a:r>
            <a:r>
              <a:rPr lang="en-US" altLang="zh-CN" sz="3600" b="1" dirty="0">
                <a:solidFill>
                  <a:srgbClr val="FF0000"/>
                </a:solidFill>
                <a:sym typeface="+mn-ea"/>
              </a:rPr>
              <a:t>12.</a:t>
            </a:r>
            <a:r>
              <a:rPr lang="zh-CN" altLang="en-US" sz="3600" b="1" dirty="0">
                <a:solidFill>
                  <a:srgbClr val="FF0000"/>
                </a:solidFill>
                <a:sym typeface="+mn-ea"/>
              </a:rPr>
              <a:t>正要洗澡就听到有人尖叫 </a:t>
            </a:r>
            <a:r>
              <a:rPr lang="en-US" altLang="zh-CN" sz="3600" b="1" dirty="0">
                <a:solidFill>
                  <a:srgbClr val="FF0000"/>
                </a:solidFill>
                <a:sym typeface="+mn-ea"/>
              </a:rPr>
              <a:t>13.</a:t>
            </a:r>
            <a:r>
              <a:rPr lang="zh-CN" altLang="en-US" sz="3600" b="1" dirty="0">
                <a:solidFill>
                  <a:srgbClr val="FF0000"/>
                </a:solidFill>
                <a:sym typeface="+mn-ea"/>
              </a:rPr>
              <a:t>自动火警报警器没有报警 </a:t>
            </a:r>
            <a:r>
              <a:rPr lang="en-US" altLang="zh-CN" sz="3600" b="1" dirty="0">
                <a:solidFill>
                  <a:srgbClr val="FF0000"/>
                </a:solidFill>
                <a:sym typeface="+mn-ea"/>
              </a:rPr>
              <a:t>14.</a:t>
            </a:r>
            <a:r>
              <a:rPr lang="zh-CN" altLang="en-US" sz="3600" b="1" dirty="0">
                <a:solidFill>
                  <a:srgbClr val="FF0000"/>
                </a:solidFill>
                <a:sym typeface="+mn-ea"/>
              </a:rPr>
              <a:t>依赖某人做某事 </a:t>
            </a:r>
            <a:endParaRPr lang="en-US" altLang="zh-CN" sz="3600" b="1" dirty="0">
              <a:solidFill>
                <a:srgbClr val="FF0000"/>
              </a:solidFill>
            </a:endParaRPr>
          </a:p>
          <a:p>
            <a:r>
              <a:rPr lang="en-US" altLang="zh-CN" sz="3600" b="1" dirty="0">
                <a:solidFill>
                  <a:srgbClr val="FF0000"/>
                </a:solidFill>
                <a:sym typeface="+mn-ea"/>
              </a:rPr>
              <a:t>15.</a:t>
            </a:r>
            <a:r>
              <a:rPr lang="zh-CN" altLang="en-US" sz="3600" b="1" dirty="0">
                <a:solidFill>
                  <a:srgbClr val="FF0000"/>
                </a:solidFill>
                <a:sym typeface="+mn-ea"/>
              </a:rPr>
              <a:t>互相矛盾的信息 </a:t>
            </a:r>
            <a:endParaRPr lang="zh-CN" altLang="en-US" sz="3600" b="1"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16.</a:t>
            </a:r>
            <a:r>
              <a:rPr lang="zh-CN" altLang="en-US" sz="3600" b="1" dirty="0">
                <a:solidFill>
                  <a:srgbClr val="FF0000"/>
                </a:solidFill>
              </a:rPr>
              <a:t>产生 </a:t>
            </a:r>
            <a:r>
              <a:rPr lang="en-US" altLang="zh-CN" sz="3600" b="1" dirty="0">
                <a:solidFill>
                  <a:srgbClr val="FF0000"/>
                </a:solidFill>
              </a:rPr>
              <a:t>17.</a:t>
            </a:r>
            <a:r>
              <a:rPr lang="zh-CN" altLang="en-US" sz="3600" b="1" dirty="0">
                <a:solidFill>
                  <a:srgbClr val="FF0000"/>
                </a:solidFill>
              </a:rPr>
              <a:t>明智的做法是 </a:t>
            </a:r>
            <a:r>
              <a:rPr lang="en-US" altLang="zh-CN" sz="3600" b="1" dirty="0">
                <a:solidFill>
                  <a:srgbClr val="FF0000"/>
                </a:solidFill>
              </a:rPr>
              <a:t>18.</a:t>
            </a:r>
            <a:r>
              <a:rPr lang="zh-CN" altLang="en-US" sz="3600" b="1" dirty="0">
                <a:solidFill>
                  <a:srgbClr val="FF0000"/>
                </a:solidFill>
              </a:rPr>
              <a:t>以</a:t>
            </a:r>
            <a:r>
              <a:rPr lang="en-US" altLang="zh-CN" sz="3600" b="1" dirty="0">
                <a:solidFill>
                  <a:srgbClr val="FF0000"/>
                </a:solidFill>
              </a:rPr>
              <a:t>…</a:t>
            </a:r>
            <a:r>
              <a:rPr lang="zh-CN" altLang="en-US" sz="3600" b="1" dirty="0">
                <a:solidFill>
                  <a:srgbClr val="FF0000"/>
                </a:solidFill>
              </a:rPr>
              <a:t>为例</a:t>
            </a:r>
            <a:r>
              <a:rPr lang="en-US" altLang="zh-CN" sz="3600" b="1" dirty="0">
                <a:solidFill>
                  <a:srgbClr val="FF0000"/>
                </a:solidFill>
              </a:rPr>
              <a:t>19.</a:t>
            </a:r>
            <a:r>
              <a:rPr lang="zh-CN" altLang="en-US" sz="3600" b="1" dirty="0">
                <a:solidFill>
                  <a:srgbClr val="FF0000"/>
                </a:solidFill>
              </a:rPr>
              <a:t>更全面地了解 </a:t>
            </a:r>
            <a:r>
              <a:rPr lang="en-US" altLang="zh-CN" sz="3600" b="1" dirty="0">
                <a:solidFill>
                  <a:srgbClr val="FF0000"/>
                </a:solidFill>
              </a:rPr>
              <a:t>20.</a:t>
            </a:r>
            <a:r>
              <a:rPr lang="zh-CN" altLang="en-US" sz="3600" b="1" dirty="0">
                <a:solidFill>
                  <a:srgbClr val="FF0000"/>
                </a:solidFill>
              </a:rPr>
              <a:t>例如 </a:t>
            </a:r>
            <a:r>
              <a:rPr lang="en-US" altLang="zh-CN" sz="3600" b="1" dirty="0">
                <a:solidFill>
                  <a:srgbClr val="FF0000"/>
                </a:solidFill>
              </a:rPr>
              <a:t>21.</a:t>
            </a:r>
            <a:r>
              <a:rPr lang="zh-CN" altLang="en-US" sz="3600" b="1" dirty="0">
                <a:solidFill>
                  <a:srgbClr val="FF0000"/>
                </a:solidFill>
              </a:rPr>
              <a:t>急于下结论 </a:t>
            </a:r>
            <a:r>
              <a:rPr lang="en-US" altLang="zh-CN" sz="3600" b="1" dirty="0">
                <a:solidFill>
                  <a:srgbClr val="FF0000"/>
                </a:solidFill>
              </a:rPr>
              <a:t>22.</a:t>
            </a:r>
            <a:r>
              <a:rPr lang="zh-CN" altLang="en-US" sz="3600" b="1" dirty="0">
                <a:solidFill>
                  <a:srgbClr val="FF0000"/>
                </a:solidFill>
              </a:rPr>
              <a:t>被披露 </a:t>
            </a:r>
            <a:r>
              <a:rPr lang="en-US" altLang="zh-CN" sz="3600" b="1" dirty="0">
                <a:solidFill>
                  <a:srgbClr val="FF0000"/>
                </a:solidFill>
              </a:rPr>
              <a:t>23.</a:t>
            </a:r>
            <a:r>
              <a:rPr lang="zh-CN" altLang="en-US" sz="3600" b="1" dirty="0">
                <a:solidFill>
                  <a:srgbClr val="FF0000"/>
                </a:solidFill>
              </a:rPr>
              <a:t>另一个值得一提的方面是 </a:t>
            </a:r>
            <a:r>
              <a:rPr lang="en-US" altLang="zh-CN" sz="3600" b="1" dirty="0">
                <a:solidFill>
                  <a:srgbClr val="FF0000"/>
                </a:solidFill>
              </a:rPr>
              <a:t>24.</a:t>
            </a:r>
            <a:r>
              <a:rPr lang="zh-CN" altLang="en-US" sz="3600" b="1" dirty="0">
                <a:solidFill>
                  <a:srgbClr val="FF0000"/>
                </a:solidFill>
              </a:rPr>
              <a:t>在</a:t>
            </a:r>
            <a:r>
              <a:rPr lang="en-US" altLang="zh-CN" sz="3600" b="1" dirty="0">
                <a:solidFill>
                  <a:srgbClr val="FF0000"/>
                </a:solidFill>
              </a:rPr>
              <a:t>…</a:t>
            </a:r>
            <a:r>
              <a:rPr lang="zh-CN" altLang="en-US" sz="3600" b="1" dirty="0">
                <a:solidFill>
                  <a:srgbClr val="FF0000"/>
                </a:solidFill>
              </a:rPr>
              <a:t>到</a:t>
            </a:r>
            <a:r>
              <a:rPr lang="en-US" altLang="zh-CN" sz="3600" b="1" dirty="0">
                <a:solidFill>
                  <a:srgbClr val="FF0000"/>
                </a:solidFill>
              </a:rPr>
              <a:t>…</a:t>
            </a:r>
            <a:r>
              <a:rPr lang="zh-CN" altLang="en-US" sz="3600" b="1" dirty="0">
                <a:solidFill>
                  <a:srgbClr val="FF0000"/>
                </a:solidFill>
              </a:rPr>
              <a:t>之间不等 </a:t>
            </a:r>
            <a:r>
              <a:rPr lang="en-US" altLang="zh-CN" sz="3600" b="1" dirty="0">
                <a:solidFill>
                  <a:srgbClr val="FF0000"/>
                </a:solidFill>
              </a:rPr>
              <a:t>25.</a:t>
            </a:r>
            <a:r>
              <a:rPr lang="zh-CN" altLang="en-US" sz="3600" b="1" dirty="0">
                <a:solidFill>
                  <a:srgbClr val="FF0000"/>
                </a:solidFill>
              </a:rPr>
              <a:t>最小值</a:t>
            </a:r>
            <a:r>
              <a:rPr lang="en-US" altLang="zh-CN" sz="3600" b="1" dirty="0">
                <a:solidFill>
                  <a:srgbClr val="FF0000"/>
                </a:solidFill>
              </a:rPr>
              <a:t>,</a:t>
            </a:r>
            <a:r>
              <a:rPr lang="zh-CN" altLang="en-US" sz="3600" b="1">
                <a:solidFill>
                  <a:srgbClr val="FF0000"/>
                </a:solidFill>
              </a:rPr>
              <a:t>最大</a:t>
            </a:r>
            <a:r>
              <a:rPr lang="zh-CN" altLang="en-US" sz="3600" b="1" dirty="0">
                <a:solidFill>
                  <a:srgbClr val="FF0000"/>
                </a:solidFill>
              </a:rPr>
              <a:t>值或中间的某个数值 </a:t>
            </a:r>
            <a:r>
              <a:rPr lang="en-US" altLang="zh-CN" sz="3600" b="1" dirty="0">
                <a:solidFill>
                  <a:srgbClr val="FF0000"/>
                </a:solidFill>
              </a:rPr>
              <a:t>26.</a:t>
            </a:r>
            <a:r>
              <a:rPr lang="zh-CN" altLang="en-US" sz="3600" b="1" dirty="0">
                <a:solidFill>
                  <a:srgbClr val="FF0000"/>
                </a:solidFill>
              </a:rPr>
              <a:t>能够让我们得出更有根据的结论 </a:t>
            </a:r>
            <a:r>
              <a:rPr lang="en-US" altLang="zh-CN" sz="3600" b="1" dirty="0">
                <a:solidFill>
                  <a:srgbClr val="FF0000"/>
                </a:solidFill>
              </a:rPr>
              <a:t>27.</a:t>
            </a:r>
            <a:r>
              <a:rPr lang="zh-CN" altLang="en-US" sz="3600" b="1" dirty="0">
                <a:solidFill>
                  <a:srgbClr val="FF0000"/>
                </a:solidFill>
              </a:rPr>
              <a:t>总之 </a:t>
            </a:r>
            <a:r>
              <a:rPr lang="en-US" altLang="zh-CN" sz="3600" b="1" dirty="0">
                <a:solidFill>
                  <a:srgbClr val="FF0000"/>
                </a:solidFill>
              </a:rPr>
              <a:t>28.</a:t>
            </a:r>
            <a:r>
              <a:rPr lang="zh-CN" altLang="en-US" sz="3600" b="1" dirty="0">
                <a:solidFill>
                  <a:srgbClr val="FF0000"/>
                </a:solidFill>
              </a:rPr>
              <a:t>从不同角度在不同阶段 </a:t>
            </a:r>
            <a:r>
              <a:rPr lang="en-US" altLang="zh-CN" sz="3600" b="1" dirty="0">
                <a:solidFill>
                  <a:srgbClr val="FF0000"/>
                </a:solidFill>
              </a:rPr>
              <a:t>29.</a:t>
            </a:r>
            <a:r>
              <a:rPr lang="zh-CN" altLang="en-US" sz="3600" b="1" dirty="0">
                <a:solidFill>
                  <a:srgbClr val="FF0000"/>
                </a:solidFill>
              </a:rPr>
              <a:t>让我们更准确地了解情况 </a:t>
            </a:r>
            <a:r>
              <a:rPr lang="en-US" altLang="zh-CN" sz="3600" b="1" dirty="0">
                <a:solidFill>
                  <a:srgbClr val="FF0000"/>
                </a:solidFill>
              </a:rPr>
              <a:t>30.</a:t>
            </a:r>
            <a:r>
              <a:rPr lang="zh-CN" altLang="en-US" sz="3600" b="1" dirty="0">
                <a:solidFill>
                  <a:srgbClr val="FF0000"/>
                </a:solidFill>
              </a:rPr>
              <a:t>批判性地看待 </a:t>
            </a:r>
            <a:r>
              <a:rPr lang="en-US" altLang="zh-CN" sz="3600" b="1" dirty="0">
                <a:solidFill>
                  <a:srgbClr val="FF0000"/>
                </a:solidFill>
              </a:rPr>
              <a:t>31.</a:t>
            </a:r>
            <a:r>
              <a:rPr lang="zh-CN" altLang="en-US" sz="3600" b="1" dirty="0">
                <a:solidFill>
                  <a:srgbClr val="FF0000"/>
                </a:solidFill>
              </a:rPr>
              <a:t>记者致力于呈现真相 </a:t>
            </a:r>
            <a:r>
              <a:rPr lang="en-US" altLang="zh-CN" sz="3600" b="1" dirty="0">
                <a:solidFill>
                  <a:srgbClr val="FF0000"/>
                </a:solidFill>
              </a:rPr>
              <a:t>32.</a:t>
            </a:r>
            <a:r>
              <a:rPr lang="zh-CN" altLang="en-US" sz="3600" b="1" dirty="0">
                <a:solidFill>
                  <a:srgbClr val="FF0000"/>
                </a:solidFill>
              </a:rPr>
              <a:t>运用自己的判断力 </a:t>
            </a:r>
            <a:r>
              <a:rPr lang="en-US" altLang="zh-CN" sz="3600" b="1" dirty="0">
                <a:solidFill>
                  <a:srgbClr val="FF0000"/>
                </a:solidFill>
              </a:rPr>
              <a:t>33.</a:t>
            </a:r>
            <a:r>
              <a:rPr lang="zh-CN" altLang="en-US" sz="3600" b="1" dirty="0">
                <a:solidFill>
                  <a:srgbClr val="FF0000"/>
                </a:solidFill>
              </a:rPr>
              <a:t>有了明辨是非的能力 </a:t>
            </a:r>
            <a:r>
              <a:rPr lang="en-US" altLang="zh-CN" sz="3600" b="1" dirty="0">
                <a:solidFill>
                  <a:srgbClr val="FF0000"/>
                </a:solidFill>
              </a:rPr>
              <a:t>34.</a:t>
            </a:r>
            <a:r>
              <a:rPr lang="zh-CN" altLang="en-US" sz="3600" b="1" dirty="0">
                <a:solidFill>
                  <a:srgbClr val="FF0000"/>
                </a:solidFill>
              </a:rPr>
              <a:t>有潜力成为</a:t>
            </a:r>
            <a:r>
              <a:rPr lang="en-US" altLang="zh-CN" sz="3600" b="1" dirty="0">
                <a:solidFill>
                  <a:srgbClr val="FF0000"/>
                </a:solidFill>
              </a:rPr>
              <a:t>… </a:t>
            </a:r>
            <a:r>
              <a:rPr lang="en-US" altLang="zh-CN" sz="3600" b="1" dirty="0">
                <a:solidFill>
                  <a:srgbClr val="7030A0"/>
                </a:solidFill>
              </a:rPr>
              <a:t>1.</a:t>
            </a:r>
            <a:r>
              <a:rPr lang="zh-CN" altLang="en-US" sz="3600" b="1" dirty="0">
                <a:solidFill>
                  <a:srgbClr val="7030A0"/>
                </a:solidFill>
              </a:rPr>
              <a:t>列入优先事项清单 </a:t>
            </a:r>
            <a:r>
              <a:rPr lang="en-US" altLang="zh-CN" sz="3600" b="1" dirty="0">
                <a:solidFill>
                  <a:srgbClr val="7030A0"/>
                </a:solidFill>
              </a:rPr>
              <a:t>2.</a:t>
            </a:r>
            <a:r>
              <a:rPr lang="zh-CN" altLang="en-US" sz="3600" b="1" dirty="0">
                <a:solidFill>
                  <a:srgbClr val="7030A0"/>
                </a:solidFill>
              </a:rPr>
              <a:t>准确描述 </a:t>
            </a:r>
            <a:r>
              <a:rPr lang="en-US" altLang="zh-CN" sz="3600" b="1" dirty="0">
                <a:solidFill>
                  <a:srgbClr val="7030A0"/>
                </a:solidFill>
              </a:rPr>
              <a:t>3.</a:t>
            </a:r>
            <a:r>
              <a:rPr lang="zh-CN" altLang="en-US" sz="3600" b="1" dirty="0">
                <a:solidFill>
                  <a:srgbClr val="7030A0"/>
                </a:solidFill>
              </a:rPr>
              <a:t>对</a:t>
            </a:r>
            <a:r>
              <a:rPr lang="en-US" altLang="zh-CN" sz="3600" b="1" dirty="0">
                <a:solidFill>
                  <a:srgbClr val="7030A0"/>
                </a:solidFill>
              </a:rPr>
              <a:t>…</a:t>
            </a:r>
            <a:r>
              <a:rPr lang="zh-CN" altLang="en-US" sz="3600" b="1" dirty="0">
                <a:solidFill>
                  <a:srgbClr val="7030A0"/>
                </a:solidFill>
              </a:rPr>
              <a:t>天然的好奇心 </a:t>
            </a:r>
            <a:r>
              <a:rPr lang="en-US" altLang="zh-CN" sz="3600" b="1" dirty="0">
                <a:solidFill>
                  <a:srgbClr val="7030A0"/>
                </a:solidFill>
              </a:rPr>
              <a:t>4.</a:t>
            </a:r>
            <a:r>
              <a:rPr lang="zh-CN" altLang="en-US" sz="3600" b="1" dirty="0">
                <a:solidFill>
                  <a:srgbClr val="7030A0"/>
                </a:solidFill>
              </a:rPr>
              <a:t>对</a:t>
            </a:r>
            <a:r>
              <a:rPr lang="en-US" altLang="zh-CN" sz="3600" b="1" dirty="0">
                <a:solidFill>
                  <a:srgbClr val="7030A0"/>
                </a:solidFill>
              </a:rPr>
              <a:t>…</a:t>
            </a:r>
            <a:r>
              <a:rPr lang="zh-CN" altLang="en-US" sz="3600" b="1" dirty="0">
                <a:solidFill>
                  <a:srgbClr val="7030A0"/>
                </a:solidFill>
              </a:rPr>
              <a:t>敏感 </a:t>
            </a:r>
            <a:r>
              <a:rPr lang="en-US" altLang="zh-CN" sz="3600" b="1" dirty="0">
                <a:solidFill>
                  <a:srgbClr val="7030A0"/>
                </a:solidFill>
              </a:rPr>
              <a:t>5.</a:t>
            </a:r>
            <a:r>
              <a:rPr lang="zh-CN" altLang="en-US" sz="3600" b="1" dirty="0">
                <a:solidFill>
                  <a:srgbClr val="7030A0"/>
                </a:solidFill>
              </a:rPr>
              <a:t>吸引公众注意力 </a:t>
            </a:r>
            <a:r>
              <a:rPr lang="en-US" altLang="zh-CN" sz="3600" b="1" dirty="0">
                <a:solidFill>
                  <a:srgbClr val="7030A0"/>
                </a:solidFill>
              </a:rPr>
              <a:t>6.</a:t>
            </a:r>
            <a:r>
              <a:rPr lang="zh-CN" altLang="en-US" sz="3600" b="1" dirty="0">
                <a:solidFill>
                  <a:srgbClr val="7030A0"/>
                </a:solidFill>
              </a:rPr>
              <a:t>返回</a:t>
            </a:r>
            <a:r>
              <a:rPr lang="en-US" altLang="zh-CN" sz="3600" b="1" dirty="0">
                <a:solidFill>
                  <a:srgbClr val="7030A0"/>
                </a:solidFill>
              </a:rPr>
              <a:t>,</a:t>
            </a:r>
            <a:r>
              <a:rPr lang="zh-CN" altLang="en-US" sz="3600" b="1" dirty="0">
                <a:solidFill>
                  <a:srgbClr val="7030A0"/>
                </a:solidFill>
              </a:rPr>
              <a:t>追溯 </a:t>
            </a:r>
            <a:r>
              <a:rPr lang="en-US" altLang="zh-CN" sz="3600" b="1" dirty="0">
                <a:solidFill>
                  <a:srgbClr val="7030A0"/>
                </a:solidFill>
              </a:rPr>
              <a:t>7.</a:t>
            </a:r>
            <a:r>
              <a:rPr lang="zh-CN" altLang="en-US" sz="3600" b="1" dirty="0">
                <a:solidFill>
                  <a:srgbClr val="7030A0"/>
                </a:solidFill>
              </a:rPr>
              <a:t>社会议题 </a:t>
            </a:r>
            <a:r>
              <a:rPr lang="en-US" altLang="zh-CN" sz="3600" b="1" dirty="0">
                <a:solidFill>
                  <a:srgbClr val="7030A0"/>
                </a:solidFill>
              </a:rPr>
              <a:t>8.</a:t>
            </a:r>
            <a:r>
              <a:rPr lang="zh-CN" altLang="en-US" sz="3600" b="1" dirty="0">
                <a:solidFill>
                  <a:srgbClr val="7030A0"/>
                </a:solidFill>
              </a:rPr>
              <a:t>指控官员不诚实 </a:t>
            </a:r>
            <a:r>
              <a:rPr lang="en-US" altLang="zh-CN" sz="3600" b="1" dirty="0">
                <a:solidFill>
                  <a:srgbClr val="7030A0"/>
                </a:solidFill>
              </a:rPr>
              <a:t>9.</a:t>
            </a:r>
            <a:r>
              <a:rPr lang="zh-CN" altLang="en-US" sz="3600" b="1" dirty="0">
                <a:solidFill>
                  <a:srgbClr val="7030A0"/>
                </a:solidFill>
              </a:rPr>
              <a:t>猛增</a:t>
            </a:r>
            <a:r>
              <a:rPr lang="en-US" altLang="zh-CN" sz="3600" b="1" dirty="0">
                <a:solidFill>
                  <a:srgbClr val="7030A0"/>
                </a:solidFill>
              </a:rPr>
              <a:t>(2</a:t>
            </a:r>
            <a:r>
              <a:rPr lang="zh-CN" altLang="en-US" sz="3600" b="1" dirty="0">
                <a:solidFill>
                  <a:srgbClr val="7030A0"/>
                </a:solidFill>
              </a:rPr>
              <a:t>个</a:t>
            </a:r>
            <a:r>
              <a:rPr lang="en-US" altLang="zh-CN" sz="3600" b="1" dirty="0">
                <a:solidFill>
                  <a:srgbClr val="7030A0"/>
                </a:solidFill>
              </a:rPr>
              <a:t>) 10.</a:t>
            </a:r>
            <a:r>
              <a:rPr lang="zh-CN" altLang="en-US" sz="3600" b="1" dirty="0">
                <a:solidFill>
                  <a:srgbClr val="7030A0"/>
                </a:solidFill>
              </a:rPr>
              <a:t>运用策略 </a:t>
            </a:r>
            <a:r>
              <a:rPr lang="en-US" altLang="zh-CN" sz="3600" b="1" dirty="0">
                <a:solidFill>
                  <a:srgbClr val="7030A0"/>
                </a:solidFill>
              </a:rPr>
              <a:t>11.</a:t>
            </a:r>
            <a:r>
              <a:rPr lang="zh-CN" altLang="en-US" sz="3600" b="1" dirty="0">
                <a:solidFill>
                  <a:srgbClr val="7030A0"/>
                </a:solidFill>
              </a:rPr>
              <a:t>第一个倡导做某事的人 </a:t>
            </a:r>
            <a:r>
              <a:rPr lang="en-US" altLang="zh-CN" sz="3600" b="1" dirty="0">
                <a:solidFill>
                  <a:srgbClr val="7030A0"/>
                </a:solidFill>
              </a:rPr>
              <a:t>12.</a:t>
            </a:r>
            <a:r>
              <a:rPr lang="zh-CN" altLang="en-US" sz="3600" b="1" dirty="0">
                <a:solidFill>
                  <a:srgbClr val="7030A0"/>
                </a:solidFill>
              </a:rPr>
              <a:t>有史以来第一次句型</a:t>
            </a:r>
            <a:r>
              <a:rPr lang="en-US" altLang="zh-CN" sz="3600" b="1" dirty="0">
                <a:solidFill>
                  <a:srgbClr val="7030A0"/>
                </a:solidFill>
              </a:rPr>
              <a:t>(</a:t>
            </a:r>
            <a:r>
              <a:rPr lang="zh-CN" altLang="en-US" sz="3600" b="1" dirty="0">
                <a:solidFill>
                  <a:srgbClr val="7030A0"/>
                </a:solidFill>
              </a:rPr>
              <a:t>写全</a:t>
            </a:r>
            <a:r>
              <a:rPr lang="en-US" altLang="zh-CN" sz="3600" b="1" dirty="0">
                <a:solidFill>
                  <a:srgbClr val="7030A0"/>
                </a:solidFill>
              </a:rPr>
              <a:t>) 13.expand on</a:t>
            </a:r>
            <a:r>
              <a:rPr lang="zh-CN" altLang="en-US" sz="3600" b="1" dirty="0">
                <a:solidFill>
                  <a:srgbClr val="7030A0"/>
                </a:solidFill>
              </a:rPr>
              <a:t>翻译 </a:t>
            </a:r>
            <a:r>
              <a:rPr lang="en-US" altLang="zh-CN" sz="3600" b="1" dirty="0">
                <a:solidFill>
                  <a:srgbClr val="7030A0"/>
                </a:solidFill>
              </a:rPr>
              <a:t>14.</a:t>
            </a:r>
            <a:r>
              <a:rPr lang="zh-CN" altLang="en-US" sz="3600" b="1" dirty="0">
                <a:solidFill>
                  <a:srgbClr val="7030A0"/>
                </a:solidFill>
              </a:rPr>
              <a:t>过去的几十年见证了</a:t>
            </a:r>
            <a:r>
              <a:rPr lang="en-US" altLang="zh-CN" sz="3600" b="1" dirty="0">
                <a:solidFill>
                  <a:srgbClr val="7030A0"/>
                </a:solidFill>
              </a:rPr>
              <a:t>…</a:t>
            </a:r>
            <a:r>
              <a:rPr lang="zh-CN" altLang="en-US" sz="3600" b="1" dirty="0">
                <a:solidFill>
                  <a:srgbClr val="7030A0"/>
                </a:solidFill>
              </a:rPr>
              <a:t>的飞速发展</a:t>
            </a:r>
            <a:r>
              <a:rPr lang="en-US" altLang="zh-CN" sz="3600" b="1" dirty="0">
                <a:solidFill>
                  <a:srgbClr val="7030A0"/>
                </a:solidFill>
              </a:rPr>
              <a:t> 15.</a:t>
            </a:r>
            <a:r>
              <a:rPr lang="zh-CN" altLang="en-US" sz="3600" b="1" dirty="0">
                <a:solidFill>
                  <a:srgbClr val="7030A0"/>
                </a:solidFill>
              </a:rPr>
              <a:t>涌现</a:t>
            </a:r>
            <a:r>
              <a:rPr lang="en-US" altLang="zh-CN" sz="3600" b="1" dirty="0">
                <a:solidFill>
                  <a:srgbClr val="7030A0"/>
                </a:solidFill>
              </a:rPr>
              <a:t> 16.</a:t>
            </a:r>
            <a:r>
              <a:rPr lang="zh-CN" altLang="en-US" sz="3600" b="1" dirty="0">
                <a:solidFill>
                  <a:srgbClr val="7030A0"/>
                </a:solidFill>
              </a:rPr>
              <a:t>取得成功受欢迎</a:t>
            </a:r>
            <a:r>
              <a:rPr lang="en-US" altLang="zh-CN" sz="3600" b="1" dirty="0">
                <a:solidFill>
                  <a:srgbClr val="7030A0"/>
                </a:solidFill>
              </a:rPr>
              <a:t> 17.</a:t>
            </a:r>
            <a:r>
              <a:rPr lang="zh-CN" altLang="en-US" sz="3600" b="1" dirty="0">
                <a:solidFill>
                  <a:srgbClr val="7030A0"/>
                </a:solidFill>
              </a:rPr>
              <a:t>及时更新</a:t>
            </a:r>
            <a:r>
              <a:rPr lang="en-US" altLang="zh-CN" sz="3600" b="1" dirty="0">
                <a:solidFill>
                  <a:srgbClr val="7030A0"/>
                </a:solidFill>
              </a:rPr>
              <a:t> 18.</a:t>
            </a:r>
            <a:r>
              <a:rPr lang="zh-CN" altLang="en-US" sz="3600" b="1" dirty="0">
                <a:solidFill>
                  <a:srgbClr val="7030A0"/>
                </a:solidFill>
              </a:rPr>
              <a:t>正如图表所显示的</a:t>
            </a:r>
            <a:r>
              <a:rPr lang="en-US" altLang="zh-CN" sz="3600" b="1" dirty="0">
                <a:solidFill>
                  <a:srgbClr val="7030A0"/>
                </a:solidFill>
              </a:rPr>
              <a:t> 19.</a:t>
            </a:r>
            <a:r>
              <a:rPr lang="zh-CN" altLang="en-US" sz="3600" b="1" dirty="0">
                <a:solidFill>
                  <a:srgbClr val="7030A0"/>
                </a:solidFill>
              </a:rPr>
              <a:t>多样性和可及性</a:t>
            </a:r>
            <a:r>
              <a:rPr lang="en-US" altLang="zh-CN" sz="3600" b="1" dirty="0">
                <a:solidFill>
                  <a:srgbClr val="7030A0"/>
                </a:solidFill>
              </a:rPr>
              <a:t> 20.</a:t>
            </a:r>
            <a:r>
              <a:rPr lang="zh-CN" altLang="en-US" sz="3600" b="1" dirty="0">
                <a:solidFill>
                  <a:srgbClr val="7030A0"/>
                </a:solidFill>
              </a:rPr>
              <a:t>使人们很容易与他人互动</a:t>
            </a:r>
            <a:r>
              <a:rPr lang="en-US" altLang="zh-CN" sz="3600" b="1" dirty="0">
                <a:solidFill>
                  <a:srgbClr val="7030A0"/>
                </a:solidFill>
              </a:rPr>
              <a:t> 21.</a:t>
            </a:r>
            <a:r>
              <a:rPr lang="zh-CN" altLang="en-US" sz="3600" b="1" dirty="0">
                <a:solidFill>
                  <a:srgbClr val="7030A0"/>
                </a:solidFill>
              </a:rPr>
              <a:t>优点之一是</a:t>
            </a:r>
            <a:r>
              <a:rPr lang="en-US" altLang="zh-CN" sz="3600" b="1" dirty="0">
                <a:solidFill>
                  <a:srgbClr val="7030A0"/>
                </a:solidFill>
              </a:rPr>
              <a:t> 22.</a:t>
            </a:r>
            <a:r>
              <a:rPr lang="zh-CN" altLang="en-US" sz="3600" b="1" dirty="0">
                <a:solidFill>
                  <a:srgbClr val="7030A0"/>
                </a:solidFill>
              </a:rPr>
              <a:t>一方面另一方面</a:t>
            </a:r>
            <a:r>
              <a:rPr lang="en-US" altLang="zh-CN" sz="3600" b="1" dirty="0">
                <a:solidFill>
                  <a:srgbClr val="7030A0"/>
                </a:solidFill>
              </a:rPr>
              <a:t> 23.</a:t>
            </a:r>
            <a:r>
              <a:rPr lang="zh-CN" altLang="en-US" sz="3600" b="1" dirty="0">
                <a:solidFill>
                  <a:srgbClr val="7030A0"/>
                </a:solidFill>
              </a:rPr>
              <a:t>当谈及</a:t>
            </a:r>
            <a:r>
              <a:rPr lang="en-US" altLang="zh-CN" sz="3600" b="1" dirty="0">
                <a:solidFill>
                  <a:srgbClr val="7030A0"/>
                </a:solidFill>
              </a:rPr>
              <a:t>……</a:t>
            </a:r>
            <a:r>
              <a:rPr lang="zh-CN" altLang="en-US" sz="3600" b="1" dirty="0">
                <a:solidFill>
                  <a:srgbClr val="7030A0"/>
                </a:solidFill>
              </a:rPr>
              <a:t>有点多于缺点</a:t>
            </a:r>
            <a:r>
              <a:rPr lang="en-US" altLang="zh-CN" sz="3600" b="1" dirty="0">
                <a:solidFill>
                  <a:srgbClr val="7030A0"/>
                </a:solidFill>
              </a:rPr>
              <a:t> 24.</a:t>
            </a:r>
            <a:r>
              <a:rPr lang="zh-CN" altLang="en-US" sz="3600" b="1" dirty="0">
                <a:solidFill>
                  <a:srgbClr val="7030A0"/>
                </a:solidFill>
              </a:rPr>
              <a:t>比</a:t>
            </a:r>
            <a:r>
              <a:rPr lang="en-US" altLang="zh-CN" sz="3600" b="1" dirty="0">
                <a:solidFill>
                  <a:srgbClr val="7030A0"/>
                </a:solidFill>
              </a:rPr>
              <a:t>…</a:t>
            </a:r>
            <a:r>
              <a:rPr lang="zh-CN" altLang="en-US" sz="3600" b="1" dirty="0">
                <a:solidFill>
                  <a:srgbClr val="7030A0"/>
                </a:solidFill>
              </a:rPr>
              <a:t>更占优势</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en-US" altLang="zh-CN" sz="1600" b="1" dirty="0"/>
              <a:t>OB2U1 1. critical a. </a:t>
            </a:r>
            <a:r>
              <a:rPr lang="zh-CN" altLang="zh-CN" sz="1600" b="1" dirty="0"/>
              <a:t>批评的关键的</a:t>
            </a:r>
            <a:r>
              <a:rPr lang="en-US" altLang="zh-CN" sz="1600" b="1" dirty="0"/>
              <a:t>a.→ </a:t>
            </a:r>
            <a:r>
              <a:rPr lang="en-US" altLang="zh-CN" sz="1600" b="1" u="sng" dirty="0"/>
              <a:t>criticize</a:t>
            </a:r>
            <a:r>
              <a:rPr lang="en-US" altLang="zh-CN" sz="1600" b="1" dirty="0"/>
              <a:t> v. </a:t>
            </a:r>
            <a:r>
              <a:rPr lang="zh-CN" altLang="zh-CN" sz="1600" b="1" dirty="0"/>
              <a:t>批评</a:t>
            </a:r>
            <a:r>
              <a:rPr lang="en-US" altLang="zh-CN" sz="1600" b="1" dirty="0"/>
              <a:t>→ </a:t>
            </a:r>
            <a:r>
              <a:rPr lang="en-US" altLang="zh-CN" sz="1600" b="1" u="sng" dirty="0"/>
              <a:t>criticism</a:t>
            </a:r>
            <a:r>
              <a:rPr lang="en-US" altLang="zh-CN" sz="1600" b="1" dirty="0"/>
              <a:t> n.</a:t>
            </a:r>
            <a:r>
              <a:rPr lang="zh-CN" altLang="zh-CN" sz="1600" b="1" dirty="0"/>
              <a:t>批评</a:t>
            </a:r>
            <a:r>
              <a:rPr lang="en-US" altLang="zh-CN" sz="1600" b="1" dirty="0"/>
              <a:t>→ </a:t>
            </a:r>
            <a:r>
              <a:rPr lang="en-US" altLang="zh-CN" sz="1600" b="1" u="sng" dirty="0"/>
              <a:t>critic</a:t>
            </a:r>
            <a:r>
              <a:rPr lang="en-US" altLang="zh-CN" sz="1600" b="1" dirty="0"/>
              <a:t> n. </a:t>
            </a:r>
            <a:r>
              <a:rPr lang="zh-CN" altLang="zh-CN" sz="1600" b="1" dirty="0"/>
              <a:t>批评家</a:t>
            </a:r>
          </a:p>
          <a:p>
            <a:r>
              <a:rPr lang="en-US" altLang="zh-CN" sz="1600" b="1" dirty="0"/>
              <a:t>2. extend v. </a:t>
            </a:r>
            <a:r>
              <a:rPr lang="zh-CN" altLang="zh-CN" sz="1600" b="1" dirty="0"/>
              <a:t>延伸延长</a:t>
            </a:r>
            <a:r>
              <a:rPr lang="en-US" altLang="zh-CN" sz="1600" b="1" dirty="0"/>
              <a:t>→ </a:t>
            </a:r>
            <a:r>
              <a:rPr lang="en-US" altLang="zh-CN" sz="1600" b="1" u="sng" dirty="0"/>
              <a:t>extension</a:t>
            </a:r>
            <a:r>
              <a:rPr lang="en-US" altLang="zh-CN" sz="1600" b="1" dirty="0"/>
              <a:t> n. </a:t>
            </a:r>
            <a:r>
              <a:rPr lang="zh-CN" altLang="zh-CN" sz="1600" b="1" dirty="0"/>
              <a:t>扩展延伸</a:t>
            </a:r>
            <a:r>
              <a:rPr lang="en-US" altLang="zh-CN" sz="1600" b="1" dirty="0"/>
              <a:t>→ </a:t>
            </a:r>
            <a:r>
              <a:rPr lang="en-US" altLang="zh-CN" sz="1600" b="1" u="sng" dirty="0"/>
              <a:t>extensive</a:t>
            </a:r>
            <a:r>
              <a:rPr lang="en-US" altLang="zh-CN" sz="1600" b="1" dirty="0"/>
              <a:t> a. </a:t>
            </a:r>
            <a:r>
              <a:rPr lang="zh-CN" altLang="zh-CN" sz="1600" b="1" dirty="0"/>
              <a:t>广泛的</a:t>
            </a:r>
          </a:p>
          <a:p>
            <a:r>
              <a:rPr lang="en-US" altLang="zh-CN" sz="1600" b="1" dirty="0"/>
              <a:t>3. construction n. </a:t>
            </a:r>
            <a:r>
              <a:rPr lang="zh-CN" altLang="zh-CN" sz="1600" b="1" dirty="0"/>
              <a:t>建筑</a:t>
            </a:r>
            <a:r>
              <a:rPr lang="en-US" altLang="zh-CN" sz="1600" b="1" dirty="0"/>
              <a:t>→ </a:t>
            </a:r>
            <a:r>
              <a:rPr lang="en-US" altLang="zh-CN" sz="1600" b="1" u="sng" dirty="0"/>
              <a:t>construct</a:t>
            </a:r>
            <a:r>
              <a:rPr lang="en-US" altLang="zh-CN" sz="1600" b="1" dirty="0"/>
              <a:t> v. </a:t>
            </a:r>
            <a:r>
              <a:rPr lang="zh-CN" altLang="zh-CN" sz="1600" b="1" dirty="0"/>
              <a:t>建造</a:t>
            </a:r>
          </a:p>
          <a:p>
            <a:r>
              <a:rPr lang="en-US" altLang="zh-CN" sz="1600" b="1" dirty="0"/>
              <a:t>4. minor a. </a:t>
            </a:r>
            <a:r>
              <a:rPr lang="zh-CN" altLang="zh-CN" sz="1600" b="1" dirty="0"/>
              <a:t>次要的</a:t>
            </a:r>
            <a:r>
              <a:rPr lang="en-US" altLang="zh-CN" sz="1600" b="1" dirty="0"/>
              <a:t>→ </a:t>
            </a:r>
            <a:r>
              <a:rPr lang="en-US" altLang="zh-CN" sz="1600" b="1" u="sng" dirty="0"/>
              <a:t>minority</a:t>
            </a:r>
            <a:r>
              <a:rPr lang="en-US" altLang="zh-CN" sz="1600" b="1" dirty="0"/>
              <a:t> n. </a:t>
            </a:r>
            <a:r>
              <a:rPr lang="zh-CN" altLang="zh-CN" sz="1600" b="1" dirty="0"/>
              <a:t>少数</a:t>
            </a:r>
            <a:r>
              <a:rPr lang="en-US" altLang="zh-CN" sz="1600" b="1" dirty="0"/>
              <a:t>→ </a:t>
            </a:r>
            <a:r>
              <a:rPr lang="en-US" altLang="zh-CN" sz="1600" b="1" u="sng" dirty="0"/>
              <a:t>major</a:t>
            </a:r>
            <a:r>
              <a:rPr lang="en-US" altLang="zh-CN" sz="1600" b="1" dirty="0"/>
              <a:t> a. </a:t>
            </a:r>
            <a:r>
              <a:rPr lang="zh-CN" altLang="zh-CN" sz="1600" b="1" dirty="0"/>
              <a:t>主要的</a:t>
            </a:r>
            <a:r>
              <a:rPr lang="en-US" altLang="zh-CN" sz="1600" b="1" dirty="0"/>
              <a:t>→ </a:t>
            </a:r>
            <a:r>
              <a:rPr lang="en-US" altLang="zh-CN" sz="1600" b="1" u="sng" dirty="0"/>
              <a:t>majority</a:t>
            </a:r>
            <a:r>
              <a:rPr lang="en-US" altLang="zh-CN" sz="1600" b="1" dirty="0"/>
              <a:t> n. </a:t>
            </a:r>
            <a:r>
              <a:rPr lang="zh-CN" altLang="zh-CN" sz="1600" b="1" dirty="0"/>
              <a:t>大部分</a:t>
            </a:r>
          </a:p>
          <a:p>
            <a:r>
              <a:rPr lang="en-US" altLang="zh-CN" sz="1600" b="1" dirty="0"/>
              <a:t>5. bath n. </a:t>
            </a:r>
            <a:r>
              <a:rPr lang="zh-CN" altLang="zh-CN" sz="1600" b="1" dirty="0"/>
              <a:t>洗澡</a:t>
            </a:r>
            <a:r>
              <a:rPr lang="en-US" altLang="zh-CN" sz="1600" b="1" dirty="0"/>
              <a:t>→ </a:t>
            </a:r>
            <a:r>
              <a:rPr lang="en-US" altLang="zh-CN" sz="1600" b="1" u="sng" dirty="0"/>
              <a:t>bathe</a:t>
            </a:r>
            <a:r>
              <a:rPr lang="en-US" altLang="zh-CN" sz="1600" b="1" dirty="0"/>
              <a:t> v. </a:t>
            </a:r>
            <a:r>
              <a:rPr lang="zh-CN" altLang="zh-CN" sz="1600" b="1" dirty="0"/>
              <a:t>清洗</a:t>
            </a:r>
          </a:p>
          <a:p>
            <a:r>
              <a:rPr lang="en-US" altLang="zh-CN" sz="1600" b="1" dirty="0"/>
              <a:t>6. automatic a. </a:t>
            </a:r>
            <a:r>
              <a:rPr lang="zh-CN" altLang="zh-CN" sz="1600" b="1" dirty="0"/>
              <a:t>自动的不假思索的</a:t>
            </a:r>
            <a:r>
              <a:rPr lang="en-US" altLang="zh-CN" sz="1600" b="1" dirty="0"/>
              <a:t>a. → </a:t>
            </a:r>
            <a:r>
              <a:rPr lang="en-US" altLang="zh-CN" sz="1600" b="1" u="sng" dirty="0"/>
              <a:t>automatically </a:t>
            </a:r>
            <a:r>
              <a:rPr lang="en-US" altLang="zh-CN" sz="1600" b="1" dirty="0"/>
              <a:t>adv. </a:t>
            </a:r>
            <a:r>
              <a:rPr lang="zh-CN" altLang="zh-CN" sz="1600" b="1" dirty="0"/>
              <a:t>无意识地，自动地</a:t>
            </a:r>
          </a:p>
          <a:p>
            <a:r>
              <a:rPr lang="en-US" altLang="zh-CN" sz="1600" b="1" dirty="0"/>
              <a:t>7. investigate v. </a:t>
            </a:r>
            <a:r>
              <a:rPr lang="zh-CN" altLang="zh-CN" sz="1600" b="1" dirty="0"/>
              <a:t>侦查，调查，研究</a:t>
            </a:r>
            <a:r>
              <a:rPr lang="en-US" altLang="zh-CN" sz="1600" b="1" dirty="0"/>
              <a:t>→ </a:t>
            </a:r>
            <a:r>
              <a:rPr lang="en-US" altLang="zh-CN" sz="1600" b="1" u="sng" dirty="0"/>
              <a:t>investigation</a:t>
            </a:r>
            <a:r>
              <a:rPr lang="en-US" altLang="zh-CN" sz="1600" b="1" dirty="0"/>
              <a:t> n. </a:t>
            </a:r>
            <a:r>
              <a:rPr lang="zh-CN" altLang="zh-CN" sz="1600" b="1" dirty="0"/>
              <a:t>调查研究</a:t>
            </a:r>
          </a:p>
          <a:p>
            <a:r>
              <a:rPr lang="en-US" altLang="zh-CN" sz="1600" b="1" dirty="0"/>
              <a:t>8. journalist n. </a:t>
            </a:r>
            <a:r>
              <a:rPr lang="zh-CN" altLang="zh-CN" sz="1600" b="1" dirty="0"/>
              <a:t>新闻记者</a:t>
            </a:r>
            <a:r>
              <a:rPr lang="en-US" altLang="zh-CN" sz="1600" b="1" dirty="0"/>
              <a:t>→ </a:t>
            </a:r>
            <a:r>
              <a:rPr lang="en-US" altLang="zh-CN" sz="1600" b="1" u="sng" dirty="0"/>
              <a:t>journalism</a:t>
            </a:r>
            <a:r>
              <a:rPr lang="en-US" altLang="zh-CN" sz="1600" b="1" dirty="0"/>
              <a:t> n. </a:t>
            </a:r>
            <a:r>
              <a:rPr lang="zh-CN" altLang="zh-CN" sz="1600" b="1" dirty="0"/>
              <a:t>新闻业</a:t>
            </a:r>
          </a:p>
          <a:p>
            <a:r>
              <a:rPr lang="en-US" altLang="zh-CN" sz="1600" b="1" dirty="0"/>
              <a:t>9. priority n. </a:t>
            </a:r>
            <a:r>
              <a:rPr lang="zh-CN" altLang="zh-CN" sz="1600" b="1" dirty="0"/>
              <a:t>优先事项</a:t>
            </a:r>
            <a:r>
              <a:rPr lang="en-US" altLang="zh-CN" sz="1600" b="1" dirty="0"/>
              <a:t>→ </a:t>
            </a:r>
            <a:r>
              <a:rPr lang="en-US" altLang="zh-CN" sz="1600" b="1" u="sng" dirty="0"/>
              <a:t>prior </a:t>
            </a:r>
            <a:r>
              <a:rPr lang="en-US" altLang="zh-CN" sz="1600" b="1" dirty="0"/>
              <a:t>a. </a:t>
            </a:r>
            <a:r>
              <a:rPr lang="zh-CN" altLang="zh-CN" sz="1600" b="1" dirty="0"/>
              <a:t>较早的，优先的</a:t>
            </a:r>
          </a:p>
          <a:p>
            <a:r>
              <a:rPr lang="en-US" altLang="zh-CN" sz="1600" b="1" dirty="0"/>
              <a:t>10. contradict v. </a:t>
            </a:r>
            <a:r>
              <a:rPr lang="zh-CN" altLang="zh-CN" sz="1600" b="1" dirty="0"/>
              <a:t>相矛盾</a:t>
            </a:r>
            <a:r>
              <a:rPr lang="en-US" altLang="zh-CN" sz="1600" b="1" dirty="0"/>
              <a:t>→ </a:t>
            </a:r>
            <a:r>
              <a:rPr lang="en-US" altLang="zh-CN" sz="1600" b="1" u="sng" dirty="0"/>
              <a:t>contradictory</a:t>
            </a:r>
            <a:r>
              <a:rPr lang="en-US" altLang="zh-CN" sz="1600" b="1" dirty="0"/>
              <a:t> a. </a:t>
            </a:r>
            <a:r>
              <a:rPr lang="zh-CN" altLang="zh-CN" sz="1600" b="1" dirty="0"/>
              <a:t>相互矛盾的</a:t>
            </a:r>
            <a:r>
              <a:rPr lang="en-US" altLang="zh-CN" sz="1600" b="1" dirty="0"/>
              <a:t>→ </a:t>
            </a:r>
            <a:r>
              <a:rPr lang="en-US" altLang="zh-CN" sz="1600" b="1" u="sng" dirty="0"/>
              <a:t>contradiction</a:t>
            </a:r>
            <a:r>
              <a:rPr lang="en-US" altLang="zh-CN" sz="1600" b="1" dirty="0"/>
              <a:t> n. </a:t>
            </a:r>
            <a:r>
              <a:rPr lang="zh-CN" altLang="zh-CN" sz="1600" b="1" dirty="0"/>
              <a:t>矛盾</a:t>
            </a:r>
          </a:p>
          <a:p>
            <a:r>
              <a:rPr lang="en-US" altLang="zh-CN" sz="1600" b="1" dirty="0"/>
              <a:t>11. differ vi. </a:t>
            </a:r>
            <a:r>
              <a:rPr lang="zh-CN" altLang="zh-CN" sz="1600" b="1" dirty="0"/>
              <a:t>相异</a:t>
            </a:r>
            <a:endParaRPr lang="en-US" altLang="zh-CN" sz="1600" b="1" dirty="0"/>
          </a:p>
          <a:p>
            <a:r>
              <a:rPr lang="en-US" altLang="zh-CN" sz="1600" b="1" dirty="0"/>
              <a:t>13. minimum n.</a:t>
            </a:r>
            <a:r>
              <a:rPr lang="zh-CN" altLang="zh-CN" sz="1600" b="1" dirty="0"/>
              <a:t>最小值</a:t>
            </a:r>
            <a:r>
              <a:rPr lang="en-US" altLang="zh-CN" sz="1600" b="1" dirty="0"/>
              <a:t>a.→ </a:t>
            </a:r>
            <a:r>
              <a:rPr lang="en-US" altLang="zh-CN" sz="1600" b="1" u="sng" dirty="0"/>
              <a:t>minimize</a:t>
            </a:r>
            <a:r>
              <a:rPr lang="en-US" altLang="zh-CN" sz="1600" b="1" dirty="0"/>
              <a:t> v. </a:t>
            </a:r>
            <a:r>
              <a:rPr lang="zh-CN" altLang="zh-CN" sz="1600" b="1" dirty="0"/>
              <a:t>最小化</a:t>
            </a:r>
            <a:r>
              <a:rPr lang="en-US" altLang="zh-CN" sz="1600" b="1" dirty="0"/>
              <a:t>→ </a:t>
            </a:r>
            <a:r>
              <a:rPr lang="en-US" altLang="zh-CN" sz="1600" b="1" u="sng" dirty="0"/>
              <a:t>maximum</a:t>
            </a:r>
            <a:r>
              <a:rPr lang="en-US" altLang="zh-CN" sz="1600" b="1" dirty="0"/>
              <a:t> n. </a:t>
            </a:r>
            <a:r>
              <a:rPr lang="zh-CN" altLang="zh-CN" sz="1600" b="1" dirty="0"/>
              <a:t>最大量</a:t>
            </a:r>
            <a:r>
              <a:rPr lang="en-US" altLang="zh-CN" sz="1600" b="1" dirty="0"/>
              <a:t>→ </a:t>
            </a:r>
            <a:r>
              <a:rPr lang="en-US" altLang="zh-CN" sz="1600" b="1" u="sng" dirty="0"/>
              <a:t>maximize</a:t>
            </a:r>
            <a:r>
              <a:rPr lang="en-US" altLang="zh-CN" sz="1600" b="1" dirty="0"/>
              <a:t> v. </a:t>
            </a:r>
            <a:r>
              <a:rPr lang="zh-CN" altLang="zh-CN" sz="1600" b="1" dirty="0"/>
              <a:t>最大化</a:t>
            </a:r>
          </a:p>
          <a:p>
            <a:r>
              <a:rPr lang="en-US" altLang="zh-CN" sz="1600" b="1" dirty="0"/>
              <a:t>14. sum </a:t>
            </a:r>
            <a:r>
              <a:rPr lang="en-US" altLang="zh-CN" sz="1600" b="1" dirty="0" err="1"/>
              <a:t>vt.</a:t>
            </a:r>
            <a:r>
              <a:rPr lang="en-US" altLang="zh-CN" sz="1600" b="1" dirty="0"/>
              <a:t> </a:t>
            </a:r>
            <a:r>
              <a:rPr lang="zh-CN" altLang="zh-CN" sz="1600" b="1" dirty="0"/>
              <a:t>总结</a:t>
            </a:r>
            <a:r>
              <a:rPr lang="en-US" altLang="zh-CN" sz="1600" b="1" dirty="0"/>
              <a:t>n. </a:t>
            </a:r>
            <a:r>
              <a:rPr lang="zh-CN" altLang="zh-CN" sz="1600" b="1" dirty="0"/>
              <a:t>金额</a:t>
            </a:r>
            <a:r>
              <a:rPr lang="en-US" altLang="zh-CN" sz="1600" b="1" dirty="0"/>
              <a:t>, </a:t>
            </a:r>
            <a:r>
              <a:rPr lang="zh-CN" altLang="zh-CN" sz="1600" b="1" dirty="0"/>
              <a:t>款项</a:t>
            </a:r>
            <a:r>
              <a:rPr lang="en-US" altLang="zh-CN" sz="1600" b="1" dirty="0"/>
              <a:t>; </a:t>
            </a:r>
            <a:r>
              <a:rPr lang="zh-CN" altLang="zh-CN" sz="1600" b="1" dirty="0"/>
              <a:t>总和</a:t>
            </a:r>
            <a:r>
              <a:rPr lang="en-US" altLang="zh-CN" sz="1600" b="1" dirty="0"/>
              <a:t>, </a:t>
            </a:r>
            <a:r>
              <a:rPr lang="zh-CN" altLang="zh-CN" sz="1600" b="1" dirty="0"/>
              <a:t>总数</a:t>
            </a:r>
            <a:r>
              <a:rPr lang="en-US" altLang="zh-CN" sz="1600" b="1" dirty="0"/>
              <a:t>; </a:t>
            </a:r>
            <a:r>
              <a:rPr lang="zh-CN" altLang="zh-CN" sz="1600" b="1" dirty="0"/>
              <a:t>全部</a:t>
            </a:r>
            <a:r>
              <a:rPr lang="en-US" altLang="zh-CN" sz="1600" b="1" dirty="0"/>
              <a:t>→</a:t>
            </a:r>
            <a:r>
              <a:rPr lang="en-US" altLang="zh-CN" sz="1600" b="1" u="sng" dirty="0"/>
              <a:t> summary</a:t>
            </a:r>
            <a:r>
              <a:rPr lang="en-US" altLang="zh-CN" sz="1600" b="1" dirty="0"/>
              <a:t> n. </a:t>
            </a:r>
            <a:r>
              <a:rPr lang="zh-CN" altLang="zh-CN" sz="1600" b="1" dirty="0"/>
              <a:t>总结</a:t>
            </a:r>
          </a:p>
          <a:p>
            <a:r>
              <a:rPr lang="en-US" altLang="zh-CN" sz="1600" b="1" dirty="0"/>
              <a:t>15. accurate a. </a:t>
            </a:r>
            <a:r>
              <a:rPr lang="zh-CN" altLang="zh-CN" sz="1600" b="1" dirty="0"/>
              <a:t>正确无误的，精确的</a:t>
            </a:r>
            <a:r>
              <a:rPr lang="en-US" altLang="zh-CN" sz="1600" b="1" dirty="0"/>
              <a:t>→</a:t>
            </a:r>
            <a:r>
              <a:rPr lang="en-US" altLang="zh-CN" sz="1600" b="1" u="sng" dirty="0"/>
              <a:t> accurately </a:t>
            </a:r>
            <a:r>
              <a:rPr lang="en-US" altLang="zh-CN" sz="1600" b="1" dirty="0"/>
              <a:t>adv. </a:t>
            </a:r>
            <a:r>
              <a:rPr lang="zh-CN" altLang="zh-CN" sz="1600" b="1" dirty="0"/>
              <a:t>精确地</a:t>
            </a:r>
            <a:r>
              <a:rPr lang="en-US" altLang="zh-CN" sz="1600" b="1" dirty="0"/>
              <a:t>→</a:t>
            </a:r>
            <a:r>
              <a:rPr lang="en-US" altLang="zh-CN" sz="1600" b="1" u="sng" dirty="0"/>
              <a:t> accuracy</a:t>
            </a:r>
            <a:r>
              <a:rPr lang="en-US" altLang="zh-CN" sz="1600" b="1" dirty="0"/>
              <a:t> n.</a:t>
            </a:r>
            <a:r>
              <a:rPr lang="zh-CN" altLang="zh-CN" sz="1600" b="1" dirty="0"/>
              <a:t>准确性</a:t>
            </a:r>
          </a:p>
          <a:p>
            <a:r>
              <a:rPr lang="en-US" altLang="zh-CN" sz="1600" b="1" dirty="0"/>
              <a:t>16. committed a. </a:t>
            </a:r>
            <a:r>
              <a:rPr lang="zh-CN" altLang="zh-CN" sz="1600" b="1" dirty="0"/>
              <a:t>尽心尽力的</a:t>
            </a:r>
            <a:r>
              <a:rPr lang="en-US" altLang="zh-CN" sz="1600" b="1" dirty="0"/>
              <a:t>→ </a:t>
            </a:r>
            <a:r>
              <a:rPr lang="en-US" altLang="zh-CN" sz="1600" b="1" u="sng" dirty="0"/>
              <a:t>commit</a:t>
            </a:r>
            <a:r>
              <a:rPr lang="en-US" altLang="zh-CN" sz="1600" b="1" dirty="0"/>
              <a:t> v. </a:t>
            </a:r>
            <a:r>
              <a:rPr lang="zh-CN" altLang="zh-CN" sz="1600" b="1" dirty="0"/>
              <a:t>犯</a:t>
            </a:r>
            <a:r>
              <a:rPr lang="en-US" altLang="zh-CN" sz="1600" b="1" dirty="0"/>
              <a:t>(</a:t>
            </a:r>
            <a:r>
              <a:rPr lang="zh-CN" altLang="zh-CN" sz="1600" b="1" dirty="0"/>
              <a:t>罪</a:t>
            </a:r>
            <a:r>
              <a:rPr lang="en-US" altLang="zh-CN" sz="1600" b="1" dirty="0"/>
              <a:t>) → </a:t>
            </a:r>
            <a:r>
              <a:rPr lang="en-US" altLang="zh-CN" sz="1600" b="1" u="sng" dirty="0"/>
              <a:t>commitment </a:t>
            </a:r>
            <a:r>
              <a:rPr lang="en-US" altLang="zh-CN" sz="1600" b="1" dirty="0"/>
              <a:t>n. </a:t>
            </a:r>
            <a:r>
              <a:rPr lang="zh-CN" altLang="zh-CN" sz="1600" b="1" dirty="0"/>
              <a:t>献身承诺花费</a:t>
            </a:r>
          </a:p>
          <a:p>
            <a:r>
              <a:rPr lang="en-US" altLang="zh-CN" sz="1600" b="1" dirty="0"/>
              <a:t>17. discrimination n. </a:t>
            </a:r>
            <a:r>
              <a:rPr lang="zh-CN" altLang="zh-CN" sz="1600" b="1" dirty="0"/>
              <a:t>辨别力；歧视</a:t>
            </a:r>
            <a:r>
              <a:rPr lang="en-US" altLang="zh-CN" sz="1600" b="1" dirty="0"/>
              <a:t>→ </a:t>
            </a:r>
            <a:r>
              <a:rPr lang="en-US" altLang="zh-CN" sz="1600" b="1" u="sng" dirty="0"/>
              <a:t>discriminate</a:t>
            </a:r>
            <a:r>
              <a:rPr lang="en-US" altLang="zh-CN" sz="1600" b="1" dirty="0"/>
              <a:t> v. </a:t>
            </a:r>
            <a:r>
              <a:rPr lang="zh-CN" altLang="zh-CN" sz="1600" b="1" dirty="0"/>
              <a:t>辨别力</a:t>
            </a:r>
            <a:r>
              <a:rPr lang="en-US" altLang="zh-CN" sz="1600" b="1" dirty="0"/>
              <a:t>; </a:t>
            </a:r>
            <a:r>
              <a:rPr lang="zh-CN" altLang="zh-CN" sz="1600" b="1" dirty="0"/>
              <a:t>歧视</a:t>
            </a:r>
            <a:r>
              <a:rPr lang="en-US" altLang="zh-CN" sz="1600" b="1" dirty="0"/>
              <a:t>, </a:t>
            </a:r>
            <a:r>
              <a:rPr lang="zh-CN" altLang="zh-CN" sz="1600" b="1" dirty="0"/>
              <a:t>区别对待</a:t>
            </a:r>
          </a:p>
          <a:p>
            <a:r>
              <a:rPr lang="en-US" altLang="zh-CN" sz="1600" b="1" dirty="0"/>
              <a:t>18. curiosity n. </a:t>
            </a:r>
            <a:r>
              <a:rPr lang="zh-CN" altLang="zh-CN" sz="1600" b="1" dirty="0"/>
              <a:t>好奇心</a:t>
            </a:r>
            <a:r>
              <a:rPr lang="en-US" altLang="zh-CN" sz="1600" b="1" dirty="0"/>
              <a:t>→ </a:t>
            </a:r>
            <a:r>
              <a:rPr lang="en-US" altLang="zh-CN" sz="1600" b="1" u="sng" dirty="0"/>
              <a:t>curiosity </a:t>
            </a:r>
            <a:r>
              <a:rPr lang="en-US" altLang="zh-CN" sz="1600" b="1" dirty="0"/>
              <a:t>a. </a:t>
            </a:r>
            <a:r>
              <a:rPr lang="zh-CN" altLang="zh-CN" sz="1600" b="1" dirty="0"/>
              <a:t>好奇的</a:t>
            </a:r>
          </a:p>
          <a:p>
            <a:r>
              <a:rPr lang="en-US" altLang="zh-CN" sz="1600" b="1" dirty="0"/>
              <a:t>19, found v. </a:t>
            </a:r>
            <a:r>
              <a:rPr lang="zh-CN" altLang="zh-CN" sz="1600" b="1" dirty="0"/>
              <a:t>创建</a:t>
            </a:r>
            <a:r>
              <a:rPr lang="en-US" altLang="zh-CN" sz="1600" b="1" dirty="0"/>
              <a:t>→</a:t>
            </a:r>
            <a:r>
              <a:rPr lang="en-US" altLang="zh-CN" sz="1600" b="1" u="sng" dirty="0"/>
              <a:t>founder</a:t>
            </a:r>
            <a:r>
              <a:rPr lang="en-US" altLang="zh-CN" sz="1600" b="1" dirty="0"/>
              <a:t> n.</a:t>
            </a:r>
            <a:r>
              <a:rPr lang="zh-CN" altLang="zh-CN" sz="1600" b="1" dirty="0"/>
              <a:t>创始人 </a:t>
            </a:r>
            <a:r>
              <a:rPr lang="en-US" altLang="zh-CN" sz="1600" b="1" dirty="0"/>
              <a:t>→</a:t>
            </a:r>
            <a:r>
              <a:rPr lang="en-US" altLang="zh-CN" sz="1600" b="1" u="sng" dirty="0"/>
              <a:t>foundation</a:t>
            </a:r>
            <a:r>
              <a:rPr lang="en-US" altLang="zh-CN" sz="1600" b="1" dirty="0"/>
              <a:t> n. </a:t>
            </a:r>
            <a:r>
              <a:rPr lang="zh-CN" altLang="zh-CN" sz="1600" b="1" dirty="0"/>
              <a:t>地基，基础</a:t>
            </a:r>
          </a:p>
          <a:p>
            <a:r>
              <a:rPr lang="en-US" altLang="zh-CN" sz="1600" b="1" dirty="0"/>
              <a:t>20. politics n. </a:t>
            </a:r>
            <a:r>
              <a:rPr lang="zh-CN" altLang="zh-CN" sz="1600" b="1" dirty="0"/>
              <a:t>政治</a:t>
            </a:r>
            <a:r>
              <a:rPr lang="en-US" altLang="zh-CN" sz="1600" b="1" dirty="0"/>
              <a:t>→</a:t>
            </a:r>
            <a:r>
              <a:rPr lang="en-US" altLang="zh-CN" sz="1600" b="1" u="sng" dirty="0"/>
              <a:t>political</a:t>
            </a:r>
            <a:r>
              <a:rPr lang="en-US" altLang="zh-CN" sz="1600" b="1" dirty="0"/>
              <a:t> a. </a:t>
            </a:r>
            <a:r>
              <a:rPr lang="zh-CN" altLang="zh-CN" sz="1600" b="1" dirty="0"/>
              <a:t>政治的</a:t>
            </a:r>
            <a:r>
              <a:rPr lang="en-US" altLang="zh-CN" sz="1600" b="1" dirty="0"/>
              <a:t>→</a:t>
            </a:r>
            <a:r>
              <a:rPr lang="en-US" altLang="zh-CN" sz="1600" b="1" u="sng" dirty="0"/>
              <a:t>politician</a:t>
            </a:r>
            <a:r>
              <a:rPr lang="en-US" altLang="zh-CN" sz="1600" b="1" dirty="0"/>
              <a:t> n. </a:t>
            </a:r>
            <a:r>
              <a:rPr lang="zh-CN" altLang="zh-CN" sz="1600" b="1" dirty="0"/>
              <a:t>政客</a:t>
            </a:r>
            <a:r>
              <a:rPr lang="en-US" altLang="zh-CN" sz="1600" b="1" dirty="0"/>
              <a:t>,</a:t>
            </a:r>
            <a:endParaRPr lang="zh-CN" altLang="zh-CN" sz="1600" b="1" dirty="0"/>
          </a:p>
          <a:p>
            <a:r>
              <a:rPr lang="en-US" altLang="zh-CN" sz="1600" b="1" dirty="0"/>
              <a:t>21. profession n. </a:t>
            </a:r>
            <a:r>
              <a:rPr lang="zh-CN" altLang="zh-CN" sz="1600" b="1" dirty="0"/>
              <a:t>行业</a:t>
            </a:r>
            <a:r>
              <a:rPr lang="en-US" altLang="zh-CN" sz="1600" b="1" dirty="0"/>
              <a:t>, </a:t>
            </a:r>
            <a:r>
              <a:rPr lang="zh-CN" altLang="zh-CN" sz="1600" b="1" dirty="0"/>
              <a:t>职业</a:t>
            </a:r>
            <a:r>
              <a:rPr lang="en-US" altLang="zh-CN" sz="1600" b="1" dirty="0"/>
              <a:t>→</a:t>
            </a:r>
            <a:r>
              <a:rPr lang="en-US" altLang="zh-CN" sz="1600" b="1" u="sng" dirty="0"/>
              <a:t>professional</a:t>
            </a:r>
            <a:r>
              <a:rPr lang="en-US" altLang="zh-CN" sz="1600" b="1" dirty="0"/>
              <a:t> a. </a:t>
            </a:r>
            <a:r>
              <a:rPr lang="zh-CN" altLang="zh-CN" sz="1600" b="1" dirty="0"/>
              <a:t>专业的，职业的</a:t>
            </a:r>
            <a:r>
              <a:rPr lang="en-US" altLang="zh-CN" sz="1600" b="1" dirty="0"/>
              <a:t>n.</a:t>
            </a:r>
            <a:r>
              <a:rPr lang="zh-CN" altLang="zh-CN" sz="1600" b="1" dirty="0"/>
              <a:t>专业人员</a:t>
            </a:r>
          </a:p>
          <a:p>
            <a:r>
              <a:rPr lang="en-US" altLang="zh-CN" sz="1600" b="1" dirty="0"/>
              <a:t>22. drama n. </a:t>
            </a:r>
            <a:r>
              <a:rPr lang="zh-CN" altLang="zh-CN" sz="1600" b="1" dirty="0"/>
              <a:t>戏剧</a:t>
            </a:r>
            <a:r>
              <a:rPr lang="en-US" altLang="zh-CN" sz="1600" b="1" dirty="0"/>
              <a:t>→</a:t>
            </a:r>
            <a:r>
              <a:rPr lang="en-US" altLang="zh-CN" sz="1600" b="1" u="sng" dirty="0"/>
              <a:t>dramatic</a:t>
            </a:r>
            <a:r>
              <a:rPr lang="en-US" altLang="zh-CN" sz="1600" b="1" dirty="0"/>
              <a:t> a. </a:t>
            </a:r>
            <a:r>
              <a:rPr lang="zh-CN" altLang="zh-CN" sz="1600" b="1" dirty="0"/>
              <a:t>戏剧的</a:t>
            </a:r>
            <a:r>
              <a:rPr lang="en-US" altLang="zh-CN" sz="1600" b="1" dirty="0"/>
              <a:t>→</a:t>
            </a:r>
            <a:r>
              <a:rPr lang="en-US" altLang="zh-CN" sz="1600" b="1" u="sng" dirty="0"/>
              <a:t>dramatically</a:t>
            </a:r>
            <a:r>
              <a:rPr lang="en-US" altLang="zh-CN" sz="1600" b="1" dirty="0"/>
              <a:t> adv. </a:t>
            </a:r>
            <a:r>
              <a:rPr lang="zh-CN" altLang="zh-CN" sz="1600" b="1" dirty="0"/>
              <a:t>剧烈地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200" b="1" dirty="0"/>
              <a:t>1. edition n. </a:t>
            </a:r>
            <a:r>
              <a:rPr lang="zh-CN" altLang="zh-CN" sz="3200" b="1" dirty="0"/>
              <a:t>版本</a:t>
            </a:r>
            <a:r>
              <a:rPr lang="en-US" altLang="zh-CN" sz="3200" b="1" dirty="0"/>
              <a:t>→</a:t>
            </a:r>
            <a:r>
              <a:rPr lang="en-US" altLang="zh-CN" sz="3200" b="1" u="sng" dirty="0"/>
              <a:t>edit</a:t>
            </a:r>
            <a:r>
              <a:rPr lang="en-US" altLang="zh-CN" sz="3200" b="1" dirty="0"/>
              <a:t> v. </a:t>
            </a:r>
            <a:r>
              <a:rPr lang="zh-CN" altLang="zh-CN" sz="3200" b="1" dirty="0"/>
              <a:t>编辑</a:t>
            </a:r>
            <a:r>
              <a:rPr lang="en-US" altLang="zh-CN" sz="3200" b="1" dirty="0"/>
              <a:t>→</a:t>
            </a:r>
            <a:r>
              <a:rPr lang="en-US" altLang="zh-CN" sz="3200" b="1" u="sng" dirty="0"/>
              <a:t>editor</a:t>
            </a:r>
            <a:r>
              <a:rPr lang="en-US" altLang="zh-CN" sz="3200" b="1" dirty="0"/>
              <a:t> n.</a:t>
            </a:r>
            <a:r>
              <a:rPr lang="zh-CN" altLang="zh-CN" sz="3200" b="1" dirty="0"/>
              <a:t>编辑</a:t>
            </a:r>
          </a:p>
          <a:p>
            <a:r>
              <a:rPr lang="en-US" altLang="zh-CN" sz="3200" b="1" dirty="0"/>
              <a:t>2. interaction n. </a:t>
            </a:r>
            <a:r>
              <a:rPr lang="zh-CN" altLang="zh-CN" sz="3200" b="1" dirty="0"/>
              <a:t>互动</a:t>
            </a:r>
            <a:r>
              <a:rPr lang="en-US" altLang="zh-CN" sz="3200" b="1" dirty="0"/>
              <a:t>→</a:t>
            </a:r>
            <a:r>
              <a:rPr lang="en-US" altLang="zh-CN" sz="3200" b="1" u="sng" dirty="0"/>
              <a:t>interact</a:t>
            </a:r>
            <a:r>
              <a:rPr lang="en-US" altLang="zh-CN" sz="3200" b="1" dirty="0"/>
              <a:t> v. </a:t>
            </a:r>
            <a:r>
              <a:rPr lang="zh-CN" altLang="zh-CN" sz="3200" b="1" dirty="0"/>
              <a:t>相互作用</a:t>
            </a:r>
            <a:r>
              <a:rPr lang="en-US" altLang="zh-CN" sz="3200" b="1" dirty="0"/>
              <a:t>;</a:t>
            </a:r>
            <a:r>
              <a:rPr lang="zh-CN" altLang="zh-CN" sz="3200" b="1" dirty="0"/>
              <a:t>交流</a:t>
            </a:r>
          </a:p>
          <a:p>
            <a:r>
              <a:rPr lang="en-US" altLang="zh-CN" sz="3200" b="1" dirty="0"/>
              <a:t>3. advertising [u]</a:t>
            </a:r>
            <a:r>
              <a:rPr lang="zh-CN" altLang="zh-CN" sz="3200" b="1" dirty="0"/>
              <a:t>广告业</a:t>
            </a:r>
            <a:r>
              <a:rPr lang="en-US" altLang="zh-CN" sz="3200" b="1" dirty="0"/>
              <a:t>→</a:t>
            </a:r>
            <a:r>
              <a:rPr lang="en-US" altLang="zh-CN" sz="3200" b="1" u="sng" dirty="0"/>
              <a:t>advertisement</a:t>
            </a:r>
            <a:r>
              <a:rPr lang="zh-CN" altLang="zh-CN" sz="3200" b="1" dirty="0"/>
              <a:t>广告</a:t>
            </a:r>
            <a:r>
              <a:rPr lang="en-US" altLang="zh-CN" sz="3200" b="1" dirty="0"/>
              <a:t>→</a:t>
            </a:r>
            <a:r>
              <a:rPr lang="en-US" altLang="zh-CN" sz="3200" b="1" u="sng" dirty="0"/>
              <a:t>advertise</a:t>
            </a:r>
            <a:r>
              <a:rPr lang="en-US" altLang="zh-CN" sz="3200" b="1" dirty="0"/>
              <a:t> v.</a:t>
            </a:r>
            <a:r>
              <a:rPr lang="zh-CN" altLang="zh-CN" sz="3200" b="1" dirty="0"/>
              <a:t>做广告征聘宣传</a:t>
            </a:r>
            <a:r>
              <a:rPr lang="en-US" altLang="zh-CN" sz="3200" b="1" dirty="0"/>
              <a:t>→</a:t>
            </a:r>
            <a:r>
              <a:rPr lang="en-US" altLang="zh-CN" sz="3200" b="1" u="sng" dirty="0"/>
              <a:t>advertiser</a:t>
            </a:r>
            <a:r>
              <a:rPr lang="en-US" altLang="zh-CN" sz="3200" b="1" dirty="0"/>
              <a:t> n. </a:t>
            </a:r>
            <a:r>
              <a:rPr lang="zh-CN" altLang="zh-CN" sz="3200" b="1" dirty="0"/>
              <a:t>广告商</a:t>
            </a:r>
          </a:p>
          <a:p>
            <a:r>
              <a:rPr lang="en-US" altLang="zh-CN" sz="3200" b="1" dirty="0"/>
              <a:t>4. persuade v.</a:t>
            </a:r>
            <a:r>
              <a:rPr lang="zh-CN" altLang="zh-CN" sz="3200" b="1" dirty="0"/>
              <a:t>说服</a:t>
            </a:r>
            <a:r>
              <a:rPr lang="en-US" altLang="zh-CN" sz="3200" b="1" dirty="0"/>
              <a:t>→</a:t>
            </a:r>
            <a:r>
              <a:rPr lang="en-US" altLang="zh-CN" sz="3200" b="1" u="sng" dirty="0"/>
              <a:t>persuasion</a:t>
            </a:r>
            <a:r>
              <a:rPr lang="en-US" altLang="zh-CN" sz="3200" b="1" dirty="0"/>
              <a:t> n.</a:t>
            </a:r>
            <a:r>
              <a:rPr lang="zh-CN" altLang="zh-CN" sz="3200" b="1" dirty="0"/>
              <a:t>说服</a:t>
            </a:r>
            <a:r>
              <a:rPr lang="en-US" altLang="zh-CN" sz="3200" b="1" dirty="0"/>
              <a:t>→</a:t>
            </a:r>
            <a:r>
              <a:rPr lang="en-US" altLang="zh-CN" sz="3200" b="1" u="sng" dirty="0"/>
              <a:t>persuasive</a:t>
            </a:r>
            <a:r>
              <a:rPr lang="en-US" altLang="zh-CN" sz="3200" b="1" dirty="0"/>
              <a:t> a.</a:t>
            </a:r>
            <a:r>
              <a:rPr lang="zh-CN" altLang="zh-CN" sz="3200" b="1" dirty="0"/>
              <a:t>有说服力的 </a:t>
            </a:r>
          </a:p>
          <a:p>
            <a:r>
              <a:rPr lang="en-US" altLang="zh-CN" sz="3200" b="1" dirty="0"/>
              <a:t>5. psychology n. </a:t>
            </a:r>
            <a:r>
              <a:rPr lang="zh-CN" altLang="zh-CN" sz="3200" b="1" dirty="0"/>
              <a:t>心理学</a:t>
            </a:r>
            <a:r>
              <a:rPr lang="en-US" altLang="zh-CN" sz="3200" b="1" dirty="0"/>
              <a:t>→</a:t>
            </a:r>
            <a:r>
              <a:rPr lang="en-US" altLang="zh-CN" sz="3200" b="1" u="sng" dirty="0"/>
              <a:t>psychological</a:t>
            </a:r>
            <a:r>
              <a:rPr lang="en-US" altLang="zh-CN" sz="3200" b="1" dirty="0"/>
              <a:t> a.</a:t>
            </a:r>
            <a:r>
              <a:rPr lang="zh-CN" altLang="zh-CN" sz="3200" b="1" dirty="0"/>
              <a:t>心理学的</a:t>
            </a:r>
            <a:r>
              <a:rPr lang="en-US" altLang="zh-CN" sz="3200" b="1" dirty="0"/>
              <a:t>→</a:t>
            </a:r>
            <a:r>
              <a:rPr lang="en-US" altLang="zh-CN" sz="3200" b="1" u="sng" dirty="0"/>
              <a:t>psychologically</a:t>
            </a:r>
            <a:r>
              <a:rPr lang="en-US" altLang="zh-CN" sz="3200" b="1" dirty="0"/>
              <a:t> adv.</a:t>
            </a:r>
            <a:r>
              <a:rPr lang="zh-CN" altLang="zh-CN" sz="3200" b="1" dirty="0"/>
              <a:t>心理学地</a:t>
            </a:r>
            <a:r>
              <a:rPr lang="en-US" altLang="zh-CN" sz="3200" b="1" dirty="0"/>
              <a:t>→</a:t>
            </a:r>
            <a:r>
              <a:rPr lang="en-US" altLang="zh-CN" sz="3200" b="1" u="sng" dirty="0"/>
              <a:t>psychologist</a:t>
            </a:r>
            <a:r>
              <a:rPr lang="en-US" altLang="zh-CN" sz="3200" b="1" dirty="0"/>
              <a:t> n. </a:t>
            </a:r>
            <a:r>
              <a:rPr lang="zh-CN" altLang="zh-CN" sz="3200" b="1" dirty="0"/>
              <a:t>心理学家 </a:t>
            </a:r>
          </a:p>
          <a:p>
            <a:r>
              <a:rPr lang="en-US" altLang="zh-CN" sz="3200" b="1" dirty="0"/>
              <a:t>6. memorable a. </a:t>
            </a:r>
            <a:r>
              <a:rPr lang="zh-CN" altLang="zh-CN" sz="3200" b="1" dirty="0"/>
              <a:t>难忘的</a:t>
            </a:r>
            <a:r>
              <a:rPr lang="en-US" altLang="zh-CN" sz="3200" b="1" dirty="0"/>
              <a:t>→</a:t>
            </a:r>
            <a:r>
              <a:rPr lang="en-US" altLang="zh-CN" sz="3200" b="1" u="sng" dirty="0"/>
              <a:t>memory</a:t>
            </a:r>
            <a:r>
              <a:rPr lang="en-US" altLang="zh-CN" sz="3200" b="1" dirty="0"/>
              <a:t> n. </a:t>
            </a:r>
            <a:r>
              <a:rPr lang="zh-CN" altLang="zh-CN" sz="3200" b="1" dirty="0"/>
              <a:t>记忆</a:t>
            </a:r>
            <a:r>
              <a:rPr lang="en-US" altLang="zh-CN" sz="3200" b="1" dirty="0"/>
              <a:t>→</a:t>
            </a:r>
            <a:r>
              <a:rPr lang="en-US" altLang="zh-CN" sz="3200" b="1" u="sng" dirty="0"/>
              <a:t>memorize</a:t>
            </a:r>
            <a:r>
              <a:rPr lang="en-US" altLang="zh-CN" sz="3200" b="1" dirty="0"/>
              <a:t> v. </a:t>
            </a:r>
            <a:r>
              <a:rPr lang="zh-CN" altLang="zh-CN" sz="3200" b="1" dirty="0"/>
              <a:t>记住</a:t>
            </a:r>
          </a:p>
          <a:p>
            <a:r>
              <a:rPr lang="en-US" altLang="zh-CN" sz="3200" b="1" dirty="0"/>
              <a:t>7. absorb </a:t>
            </a:r>
            <a:r>
              <a:rPr lang="en-US" altLang="zh-CN" sz="3200" b="1"/>
              <a:t>v.</a:t>
            </a:r>
            <a:r>
              <a:rPr lang="zh-CN" altLang="zh-CN" sz="3200" b="1"/>
              <a:t>理解</a:t>
            </a:r>
            <a:r>
              <a:rPr lang="zh-CN" altLang="zh-CN" sz="3200" b="1" dirty="0"/>
              <a:t>掌握吸收</a:t>
            </a:r>
            <a:r>
              <a:rPr lang="en-US" altLang="zh-CN" sz="3200" b="1" dirty="0"/>
              <a:t>→</a:t>
            </a:r>
            <a:r>
              <a:rPr lang="en-US" altLang="zh-CN" sz="3200" b="1" u="sng" dirty="0"/>
              <a:t>absorption</a:t>
            </a:r>
            <a:r>
              <a:rPr lang="en-US" altLang="zh-CN" sz="3200" b="1" dirty="0"/>
              <a:t> n. </a:t>
            </a:r>
            <a:r>
              <a:rPr lang="zh-CN" altLang="zh-CN" sz="3200" b="1" dirty="0"/>
              <a:t>吸收</a:t>
            </a:r>
          </a:p>
          <a:p>
            <a:r>
              <a:rPr lang="en-US" altLang="zh-CN" sz="3200" b="1" dirty="0"/>
              <a:t>8. amuse v.</a:t>
            </a:r>
            <a:r>
              <a:rPr lang="zh-CN" altLang="zh-CN" sz="3200" b="1" dirty="0"/>
              <a:t>提供消遣逗笑</a:t>
            </a:r>
            <a:r>
              <a:rPr lang="en-US" altLang="zh-CN" sz="3200" b="1" dirty="0"/>
              <a:t>→</a:t>
            </a:r>
            <a:r>
              <a:rPr lang="en-US" altLang="zh-CN" sz="3200" b="1" u="sng" dirty="0"/>
              <a:t>amusing</a:t>
            </a:r>
            <a:r>
              <a:rPr lang="en-US" altLang="zh-CN" sz="3200" b="1" dirty="0"/>
              <a:t> a.</a:t>
            </a:r>
            <a:r>
              <a:rPr lang="zh-CN" altLang="zh-CN" sz="3200" b="1" dirty="0"/>
              <a:t>好笑的</a:t>
            </a:r>
            <a:r>
              <a:rPr lang="en-US" altLang="zh-CN" sz="3200" b="1" dirty="0"/>
              <a:t>→</a:t>
            </a:r>
            <a:r>
              <a:rPr lang="en-US" altLang="zh-CN" sz="3200" b="1" u="sng" dirty="0"/>
              <a:t>amused</a:t>
            </a:r>
            <a:r>
              <a:rPr lang="en-US" altLang="zh-CN" sz="3200" b="1" dirty="0"/>
              <a:t> a.</a:t>
            </a:r>
            <a:r>
              <a:rPr lang="zh-CN" altLang="zh-CN" sz="3200" b="1" dirty="0"/>
              <a:t>逗乐的</a:t>
            </a:r>
            <a:r>
              <a:rPr lang="en-US" altLang="zh-CN" sz="3200" b="1" dirty="0"/>
              <a:t>→</a:t>
            </a:r>
            <a:r>
              <a:rPr lang="en-US" altLang="zh-CN" sz="3200" b="1" u="sng" dirty="0"/>
              <a:t>amusement </a:t>
            </a:r>
            <a:r>
              <a:rPr lang="en-US" altLang="zh-CN" sz="3200" b="1" dirty="0"/>
              <a:t>n.</a:t>
            </a:r>
            <a:r>
              <a:rPr lang="zh-CN" altLang="zh-CN" sz="3200" b="1" dirty="0"/>
              <a:t>愉悦娱乐</a:t>
            </a:r>
            <a:endParaRPr lang="en-US" altLang="zh-CN" sz="3200" b="1" dirty="0"/>
          </a:p>
          <a:p>
            <a:r>
              <a:rPr lang="en-US" altLang="zh-CN" sz="3200" b="1" dirty="0"/>
              <a:t>trap (</a:t>
            </a:r>
            <a:r>
              <a:rPr lang="en-US" altLang="zh-CN" sz="3200" b="1" u="sng" dirty="0"/>
              <a:t>tra</a:t>
            </a:r>
            <a:r>
              <a:rPr lang="en-US" altLang="zh-CN" sz="3200" b="1" u="sng" dirty="0">
                <a:solidFill>
                  <a:srgbClr val="FF0000"/>
                </a:solidFill>
                <a:highlight>
                  <a:srgbClr val="FFFF00"/>
                </a:highlight>
              </a:rPr>
              <a:t>pp</a:t>
            </a:r>
            <a:r>
              <a:rPr lang="en-US" altLang="zh-CN" sz="3200" b="1" u="sng" dirty="0"/>
              <a:t>ed*2);</a:t>
            </a:r>
            <a:r>
              <a:rPr lang="en-US" altLang="zh-CN" sz="3200" b="1" dirty="0"/>
              <a:t> commit (</a:t>
            </a:r>
            <a:r>
              <a:rPr lang="en-US" altLang="zh-CN" sz="3200" b="1" u="sng" dirty="0"/>
              <a:t>commi</a:t>
            </a:r>
            <a:r>
              <a:rPr lang="en-US" altLang="zh-CN" sz="3200" b="1" u="sng" dirty="0">
                <a:solidFill>
                  <a:srgbClr val="FF0000"/>
                </a:solidFill>
                <a:highlight>
                  <a:srgbClr val="FFFF00"/>
                </a:highlight>
              </a:rPr>
              <a:t>tt</a:t>
            </a:r>
            <a:r>
              <a:rPr lang="en-US" altLang="zh-CN" sz="3200" b="1" u="sng" dirty="0"/>
              <a:t>ed*2);</a:t>
            </a:r>
            <a:r>
              <a:rPr lang="en-US" altLang="zh-CN" sz="3200" b="1" dirty="0"/>
              <a:t> found (</a:t>
            </a:r>
            <a:r>
              <a:rPr lang="en-US" altLang="zh-CN" sz="3200" b="1" u="sng" dirty="0"/>
              <a:t>found</a:t>
            </a:r>
            <a:r>
              <a:rPr lang="en-US" altLang="zh-CN" sz="3200" b="1" u="sng" dirty="0">
                <a:solidFill>
                  <a:srgbClr val="FF0000"/>
                </a:solidFill>
                <a:highlight>
                  <a:srgbClr val="FFFF00"/>
                </a:highlight>
              </a:rPr>
              <a:t>ed</a:t>
            </a:r>
            <a:r>
              <a:rPr lang="en-US" altLang="zh-CN" sz="3200" b="1" u="sng" dirty="0"/>
              <a:t>*2)</a:t>
            </a:r>
          </a:p>
          <a:p>
            <a:r>
              <a:rPr lang="en-US" altLang="zh-CN" sz="3200" b="1" dirty="0" err="1"/>
              <a:t>spring→sprang→sprung</a:t>
            </a:r>
            <a:r>
              <a:rPr lang="en-US" altLang="zh-CN" sz="3200" b="1" dirty="0"/>
              <a:t>;      broadcast*3</a:t>
            </a:r>
            <a:endParaRPr lang="zh-CN" altLang="en-US" sz="4000" b="1"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200" b="1" dirty="0">
                <a:solidFill>
                  <a:srgbClr val="FF0000"/>
                </a:solidFill>
                <a:latin typeface="Times New Roman" panose="02020603050405020304" pitchFamily="18" charset="0"/>
                <a:cs typeface="Times New Roman" panose="02020603050405020304" pitchFamily="18" charset="0"/>
              </a:rPr>
              <a:t>OB2U1 1.</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老年人</a:t>
            </a:r>
            <a:r>
              <a:rPr lang="en-US" altLang="zh-CN" sz="3200" b="1" dirty="0">
                <a:latin typeface="Times New Roman" panose="02020603050405020304" pitchFamily="18" charset="0"/>
                <a:cs typeface="Times New Roman" panose="02020603050405020304" pitchFamily="18" charset="0"/>
              </a:rPr>
              <a:t>2. </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建立在...基础上</a:t>
            </a:r>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为某事打下基础</a:t>
            </a:r>
            <a:r>
              <a:rPr lang="en-US" altLang="zh-CN" sz="3200" b="1" dirty="0">
                <a:solidFill>
                  <a:srgbClr val="FF0000"/>
                </a:solidFill>
                <a:latin typeface="Times New Roman" panose="02020603050405020304" pitchFamily="18" charset="0"/>
                <a:cs typeface="Times New Roman" panose="02020603050405020304" pitchFamily="18" charset="0"/>
                <a:sym typeface="+mn-ea"/>
              </a:rPr>
              <a:t>(__,__);</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无事实根据</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latin typeface="Times New Roman" panose="02020603050405020304" pitchFamily="18" charset="0"/>
                <a:ea typeface="楷体" panose="02010609060101010101" charset="-122"/>
                <a:cs typeface="Times New Roman" panose="02020603050405020304" pitchFamily="18" charset="0"/>
                <a:sym typeface="+mn-ea"/>
              </a:rPr>
              <a:t>发起人</a:t>
            </a:r>
            <a:r>
              <a:rPr lang="en-US" altLang="zh-CN" sz="3200" b="1" dirty="0">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奠基人 </a:t>
            </a:r>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3.</a:t>
            </a:r>
            <a:r>
              <a:rPr lang="zh-CN" altLang="en-US" sz="3200" b="1" dirty="0">
                <a:latin typeface="Times New Roman" panose="02020603050405020304" pitchFamily="18" charset="0"/>
                <a:ea typeface="楷体" panose="02010609060101010101" charset="-122"/>
                <a:cs typeface="Times New Roman" panose="02020603050405020304" pitchFamily="18" charset="0"/>
                <a:sym typeface="+mn-ea"/>
              </a:rPr>
              <a:t>政治</a:t>
            </a:r>
            <a:r>
              <a:rPr lang="en-US" altLang="zh-CN" sz="3200" b="1" dirty="0">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latin typeface="Times New Roman" panose="02020603050405020304" pitchFamily="18" charset="0"/>
                <a:ea typeface="楷体" panose="02010609060101010101" charset="-122"/>
                <a:cs typeface="Times New Roman" panose="02020603050405020304" pitchFamily="18" charset="0"/>
                <a:sym typeface="+mn-ea"/>
              </a:rPr>
              <a:t>政治的</a:t>
            </a:r>
            <a:r>
              <a:rPr lang="en-US" altLang="zh-CN" sz="3200" b="1" dirty="0">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latin typeface="Times New Roman" panose="02020603050405020304" pitchFamily="18" charset="0"/>
                <a:ea typeface="楷体" panose="02010609060101010101" charset="-122"/>
                <a:cs typeface="Times New Roman" panose="02020603050405020304" pitchFamily="18" charset="0"/>
                <a:sym typeface="+mn-ea"/>
              </a:rPr>
              <a:t>政客</a:t>
            </a:r>
            <a:r>
              <a:rPr lang="en-US" altLang="zh-CN" sz="3200" b="1" dirty="0">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latin typeface="Times New Roman" panose="02020603050405020304" pitchFamily="18" charset="0"/>
                <a:ea typeface="楷体" panose="02010609060101010101" charset="-122"/>
                <a:cs typeface="Times New Roman" panose="02020603050405020304" pitchFamily="18" charset="0"/>
                <a:sym typeface="+mn-ea"/>
              </a:rPr>
              <a:t>政策</a:t>
            </a:r>
            <a:r>
              <a:rPr lang="en-US" altLang="zh-CN" sz="3200" b="1" dirty="0">
                <a:latin typeface="Times New Roman" panose="02020603050405020304" pitchFamily="18" charset="0"/>
                <a:ea typeface="楷体" panose="02010609060101010101" charset="-122"/>
                <a:cs typeface="Times New Roman" panose="02020603050405020304" pitchFamily="18" charset="0"/>
                <a:sym typeface="+mn-ea"/>
              </a:rPr>
              <a:t>4.</a:t>
            </a:r>
            <a:r>
              <a:rPr lang="zh-CN" altLang="en-US" sz="3200" b="1" dirty="0">
                <a:solidFill>
                  <a:srgbClr val="FF0000"/>
                </a:solidFill>
                <a:latin typeface="Times New Roman" panose="02020603050405020304" pitchFamily="18" charset="0"/>
                <a:cs typeface="Times New Roman" panose="02020603050405020304" pitchFamily="18" charset="0"/>
                <a:sym typeface="+mn-ea"/>
              </a:rPr>
              <a:t>因某事控诉某人</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被告</a:t>
            </a:r>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指控</a:t>
            </a:r>
            <a:endPar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endParaRPr>
          </a:p>
          <a:p>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5.</a:t>
            </a:r>
            <a:r>
              <a:rPr lang="zh-CN" altLang="en-US" sz="3200" b="1" dirty="0">
                <a:solidFill>
                  <a:srgbClr val="FF0000"/>
                </a:solidFill>
                <a:latin typeface="Times New Roman" panose="02020603050405020304" pitchFamily="18" charset="0"/>
                <a:cs typeface="Times New Roman" panose="02020603050405020304" pitchFamily="18" charset="0"/>
              </a:rPr>
              <a:t>为某物向某人缴税</a:t>
            </a:r>
            <a:r>
              <a:rPr lang="en-US" altLang="zh-CN" sz="3200" b="1" dirty="0">
                <a:solidFill>
                  <a:srgbClr val="FF0000"/>
                </a:solidFill>
                <a:latin typeface="Times New Roman" panose="02020603050405020304" pitchFamily="18" charset="0"/>
                <a:cs typeface="Times New Roman" panose="02020603050405020304" pitchFamily="18" charset="0"/>
              </a:rPr>
              <a:t>6.</a:t>
            </a:r>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登上讲台;开展运动</a:t>
            </a:r>
            <a:r>
              <a:rPr lang="en-US" altLang="zh-CN" sz="3200" b="1" dirty="0">
                <a:latin typeface="Times New Roman" panose="02020603050405020304" pitchFamily="18" charset="0"/>
                <a:cs typeface="Times New Roman" panose="02020603050405020304" pitchFamily="18" charset="0"/>
                <a:sym typeface="+mn-ea"/>
              </a:rPr>
              <a:t>;</a:t>
            </a:r>
            <a:r>
              <a:rPr lang="zh-CN" altLang="en-US" sz="3200" b="1" dirty="0">
                <a:latin typeface="Times New Roman" panose="02020603050405020304" pitchFamily="18" charset="0"/>
                <a:cs typeface="Times New Roman" panose="02020603050405020304" pitchFamily="18" charset="0"/>
                <a:sym typeface="+mn-ea"/>
              </a:rPr>
              <a:t>增多 </a:t>
            </a:r>
            <a:r>
              <a:rPr lang="en-US" altLang="zh-CN" sz="3200" b="1" dirty="0">
                <a:latin typeface="Times New Roman" panose="02020603050405020304" pitchFamily="18" charset="0"/>
                <a:cs typeface="Times New Roman" panose="02020603050405020304" pitchFamily="18" charset="0"/>
                <a:sym typeface="+mn-ea"/>
              </a:rPr>
              <a:t>7.</a:t>
            </a:r>
            <a:r>
              <a:rPr lang="en-US" altLang="zh-CN" sz="3200" b="1" dirty="0">
                <a:solidFill>
                  <a:srgbClr val="FF0000"/>
                </a:solidFill>
                <a:latin typeface="Times New Roman" panose="02020603050405020304" pitchFamily="18" charset="0"/>
                <a:cs typeface="Times New Roman" panose="02020603050405020304" pitchFamily="18" charset="0"/>
                <a:sym typeface="+mn-ea"/>
              </a:rPr>
              <a:t>n.</a:t>
            </a:r>
            <a:r>
              <a:rPr lang="zh-CN" altLang="en-US" sz="3200" b="1" dirty="0">
                <a:solidFill>
                  <a:srgbClr val="FF0000"/>
                </a:solidFill>
                <a:latin typeface="Times New Roman" panose="02020603050405020304" pitchFamily="18" charset="0"/>
                <a:cs typeface="Times New Roman" panose="02020603050405020304" pitchFamily="18" charset="0"/>
                <a:sym typeface="+mn-ea"/>
              </a:rPr>
              <a:t>海拔</a:t>
            </a:r>
            <a:r>
              <a:rPr lang="en-US" altLang="zh-CN" sz="3200" b="1" dirty="0">
                <a:solidFill>
                  <a:srgbClr val="FF0000"/>
                </a:solidFill>
                <a:latin typeface="Times New Roman" panose="02020603050405020304" pitchFamily="18" charset="0"/>
                <a:cs typeface="Times New Roman" panose="02020603050405020304" pitchFamily="18" charset="0"/>
                <a:sym typeface="+mn-ea"/>
              </a:rPr>
              <a:t>;v.</a:t>
            </a:r>
            <a:r>
              <a:rPr lang="zh-CN" altLang="en-US" sz="3200" b="1" dirty="0">
                <a:solidFill>
                  <a:srgbClr val="FF0000"/>
                </a:solidFill>
                <a:latin typeface="Times New Roman" panose="02020603050405020304" pitchFamily="18" charset="0"/>
                <a:cs typeface="Times New Roman" panose="02020603050405020304" pitchFamily="18" charset="0"/>
                <a:sym typeface="+mn-ea"/>
              </a:rPr>
              <a:t>提高</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升</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latin typeface="Times New Roman" panose="02020603050405020304" pitchFamily="18" charset="0"/>
                <a:cs typeface="Times New Roman" panose="02020603050405020304" pitchFamily="18" charset="0"/>
                <a:sym typeface="+mn-ea"/>
              </a:rPr>
              <a:t>电梯 </a:t>
            </a:r>
            <a:r>
              <a:rPr lang="en-US" altLang="zh-CN" sz="3200" b="1" dirty="0">
                <a:latin typeface="Times New Roman" panose="02020603050405020304" pitchFamily="18" charset="0"/>
                <a:cs typeface="Times New Roman" panose="02020603050405020304" pitchFamily="18" charset="0"/>
                <a:sym typeface="+mn-ea"/>
              </a:rPr>
              <a:t>8.</a:t>
            </a:r>
            <a:r>
              <a:rPr lang="zh-CN" altLang="en-US" sz="3200" b="1" dirty="0">
                <a:solidFill>
                  <a:srgbClr val="FF0000"/>
                </a:solidFill>
                <a:latin typeface="Times New Roman" panose="02020603050405020304" pitchFamily="18" charset="0"/>
                <a:cs typeface="Times New Roman" panose="02020603050405020304" pitchFamily="18" charset="0"/>
                <a:sym typeface="+mn-ea"/>
              </a:rPr>
              <a:t>职业</a:t>
            </a:r>
            <a:r>
              <a:rPr lang="en-US" altLang="zh-CN" sz="3200" b="1" dirty="0">
                <a:solidFill>
                  <a:srgbClr val="FF0000"/>
                </a:solidFill>
                <a:latin typeface="Times New Roman" panose="02020603050405020304" pitchFamily="18" charset="0"/>
                <a:cs typeface="Times New Roman" panose="02020603050405020304" pitchFamily="18" charset="0"/>
                <a:sym typeface="+mn-ea"/>
              </a:rPr>
              <a:t>;adj</a:t>
            </a:r>
            <a:r>
              <a:rPr lang="en-US" altLang="zh-CN" sz="3200" b="1" dirty="0">
                <a:latin typeface="Times New Roman" panose="02020603050405020304" pitchFamily="18" charset="0"/>
                <a:cs typeface="Times New Roman" panose="02020603050405020304" pitchFamily="18" charset="0"/>
                <a:sym typeface="+mn-ea"/>
              </a:rPr>
              <a:t>.</a:t>
            </a:r>
            <a:r>
              <a:rPr lang="zh-CN" altLang="en-US" sz="3200" b="1" dirty="0">
                <a:latin typeface="Times New Roman" panose="02020603050405020304" pitchFamily="18" charset="0"/>
                <a:cs typeface="Times New Roman" panose="02020603050405020304" pitchFamily="18" charset="0"/>
                <a:sym typeface="+mn-ea"/>
              </a:rPr>
              <a:t>职业的</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业内人士</a:t>
            </a:r>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业余的</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爱好者</a:t>
            </a:r>
            <a:r>
              <a:rPr lang="en-US" altLang="zh-CN" sz="3200" b="1" dirty="0">
                <a:solidFill>
                  <a:srgbClr val="FF0000"/>
                </a:solidFill>
                <a:latin typeface="Times New Roman" panose="02020603050405020304" pitchFamily="18" charset="0"/>
                <a:cs typeface="Times New Roman" panose="02020603050405020304" pitchFamily="18" charset="0"/>
                <a:sym typeface="+mn-ea"/>
              </a:rPr>
              <a:t>) 9.</a:t>
            </a:r>
            <a:r>
              <a:rPr lang="zh-CN" altLang="en-US" sz="3200" b="1" dirty="0">
                <a:latin typeface="Times New Roman" panose="02020603050405020304" pitchFamily="18" charset="0"/>
                <a:cs typeface="Times New Roman" panose="02020603050405020304" pitchFamily="18" charset="0"/>
                <a:sym typeface="+mn-ea"/>
              </a:rPr>
              <a:t>戏剧</a:t>
            </a:r>
            <a:r>
              <a:rPr lang="en-US" altLang="zh-CN" sz="3200" b="1" dirty="0">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戏剧</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性</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的</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剧烈地</a:t>
            </a:r>
            <a:r>
              <a:rPr lang="en-US" altLang="zh-CN" sz="3200" b="1" dirty="0">
                <a:solidFill>
                  <a:srgbClr val="FF0000"/>
                </a:solidFill>
                <a:latin typeface="Times New Roman" panose="02020603050405020304" pitchFamily="18" charset="0"/>
                <a:cs typeface="Times New Roman" panose="02020603050405020304" pitchFamily="18" charset="0"/>
                <a:sym typeface="+mn-ea"/>
              </a:rPr>
              <a:t> 10.</a:t>
            </a:r>
            <a:r>
              <a:rPr lang="zh-CN" altLang="en-US" sz="3200" b="1" dirty="0">
                <a:solidFill>
                  <a:srgbClr val="FF0000"/>
                </a:solidFill>
                <a:latin typeface="Times New Roman" panose="02020603050405020304" pitchFamily="18" charset="0"/>
                <a:cs typeface="Times New Roman" panose="02020603050405020304" pitchFamily="18" charset="0"/>
                <a:sym typeface="+mn-ea"/>
              </a:rPr>
              <a:t>赢得</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的奖学金</a:t>
            </a:r>
            <a:r>
              <a:rPr lang="en-US" altLang="zh-CN" sz="3200" b="1" dirty="0">
                <a:solidFill>
                  <a:srgbClr val="FF0000"/>
                </a:solidFill>
                <a:latin typeface="Times New Roman" panose="02020603050405020304" pitchFamily="18" charset="0"/>
                <a:cs typeface="Times New Roman" panose="02020603050405020304" pitchFamily="18" charset="0"/>
              </a:rPr>
              <a:t>;</a:t>
            </a:r>
            <a:r>
              <a:rPr lang="zh-CN" altLang="en-US" sz="3200" b="1" dirty="0">
                <a:latin typeface="Times New Roman" panose="02020603050405020304" pitchFamily="18" charset="0"/>
                <a:cs typeface="Times New Roman" panose="02020603050405020304" pitchFamily="18" charset="0"/>
                <a:sym typeface="+mn-ea"/>
              </a:rPr>
              <a:t>学者 </a:t>
            </a:r>
            <a:r>
              <a:rPr lang="en-US" altLang="zh-CN" sz="3200" b="1" dirty="0">
                <a:latin typeface="Times New Roman" panose="02020603050405020304" pitchFamily="18" charset="0"/>
                <a:cs typeface="Times New Roman" panose="02020603050405020304" pitchFamily="18" charset="0"/>
                <a:sym typeface="+mn-ea"/>
              </a:rPr>
              <a:t>11.</a:t>
            </a:r>
            <a:r>
              <a:rPr lang="zh-CN" altLang="en-US" sz="3200" b="1" dirty="0">
                <a:solidFill>
                  <a:srgbClr val="FF0000"/>
                </a:solidFill>
                <a:latin typeface="Times New Roman" panose="02020603050405020304" pitchFamily="18" charset="0"/>
                <a:cs typeface="Times New Roman" panose="02020603050405020304" pitchFamily="18" charset="0"/>
                <a:sym typeface="+mn-ea"/>
              </a:rPr>
              <a:t>分三大类</a:t>
            </a:r>
            <a:r>
              <a:rPr lang="en-US" altLang="zh-CN" sz="3200" b="1" dirty="0">
                <a:solidFill>
                  <a:srgbClr val="FF0000"/>
                </a:solidFill>
                <a:latin typeface="Times New Roman" panose="02020603050405020304" pitchFamily="18" charset="0"/>
                <a:cs typeface="Times New Roman" panose="02020603050405020304" pitchFamily="18" charset="0"/>
                <a:sym typeface="+mn-ea"/>
              </a:rPr>
              <a:t> 12.</a:t>
            </a:r>
            <a:r>
              <a:rPr lang="zh-CN" altLang="en-US" sz="3200" b="1" dirty="0">
                <a:solidFill>
                  <a:srgbClr val="FF0000"/>
                </a:solidFill>
                <a:latin typeface="Times New Roman" panose="02020603050405020304" pitchFamily="18" charset="0"/>
                <a:cs typeface="Times New Roman" panose="02020603050405020304" pitchFamily="18" charset="0"/>
                <a:sym typeface="+mn-ea"/>
              </a:rPr>
              <a:t>尽管如此 </a:t>
            </a:r>
            <a:endParaRPr lang="en-US" altLang="zh-CN" sz="3200" b="1" dirty="0">
              <a:solidFill>
                <a:srgbClr val="FF0000"/>
              </a:solidFill>
              <a:latin typeface="Times New Roman" panose="02020603050405020304" pitchFamily="18" charset="0"/>
              <a:cs typeface="Times New Roman" panose="02020603050405020304" pitchFamily="18" charset="0"/>
              <a:sym typeface="+mn-ea"/>
            </a:endParaRPr>
          </a:p>
          <a:p>
            <a:r>
              <a:rPr lang="en-US" altLang="zh-CN" sz="3200" b="1" dirty="0">
                <a:solidFill>
                  <a:srgbClr val="FF0000"/>
                </a:solidFill>
                <a:latin typeface="Times New Roman" panose="02020603050405020304" pitchFamily="18" charset="0"/>
                <a:cs typeface="Times New Roman" panose="02020603050405020304" pitchFamily="18" charset="0"/>
                <a:sym typeface="+mn-ea"/>
              </a:rPr>
              <a:t>13.</a:t>
            </a:r>
            <a:r>
              <a:rPr lang="zh-CN" altLang="en-US" sz="3200" b="1" dirty="0">
                <a:solidFill>
                  <a:srgbClr val="FF0000"/>
                </a:solidFill>
                <a:latin typeface="Times New Roman" panose="02020603050405020304" pitchFamily="18" charset="0"/>
                <a:cs typeface="Times New Roman" panose="02020603050405020304" pitchFamily="18" charset="0"/>
                <a:sym typeface="+mn-ea"/>
              </a:rPr>
              <a:t>是</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的目击者</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宣称已经看到袭击</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近年来见证了</a:t>
            </a:r>
            <a:r>
              <a:rPr lang="en-US" altLang="zh-CN" sz="3200" b="1" dirty="0">
                <a:solidFill>
                  <a:srgbClr val="FF0000"/>
                </a:solidFill>
                <a:latin typeface="Times New Roman" panose="02020603050405020304" pitchFamily="18" charset="0"/>
                <a:cs typeface="Times New Roman" panose="02020603050405020304" pitchFamily="18" charset="0"/>
                <a:sym typeface="+mn-ea"/>
              </a:rPr>
              <a:t>…14.</a:t>
            </a:r>
            <a:r>
              <a:rPr lang="zh-CN" altLang="en-US" sz="3200" b="1" dirty="0">
                <a:solidFill>
                  <a:srgbClr val="FF0000"/>
                </a:solidFill>
                <a:latin typeface="Times New Roman" panose="02020603050405020304" pitchFamily="18" charset="0"/>
                <a:cs typeface="Times New Roman" panose="02020603050405020304" pitchFamily="18" charset="0"/>
                <a:sym typeface="+mn-ea"/>
              </a:rPr>
              <a:t>发行一版</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编辑</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编者</a:t>
            </a:r>
            <a:r>
              <a:rPr lang="en-US" altLang="zh-CN" sz="3200" b="1" dirty="0">
                <a:solidFill>
                  <a:srgbClr val="FF0000"/>
                </a:solidFill>
                <a:latin typeface="Times New Roman" panose="02020603050405020304" pitchFamily="18" charset="0"/>
                <a:cs typeface="Times New Roman" panose="02020603050405020304" pitchFamily="18" charset="0"/>
                <a:sym typeface="+mn-ea"/>
              </a:rPr>
              <a:t>15.</a:t>
            </a:r>
            <a:r>
              <a:rPr lang="zh-CN" altLang="en-US" sz="3200" b="1" dirty="0">
                <a:latin typeface="Times New Roman" panose="02020603050405020304" pitchFamily="18" charset="0"/>
                <a:cs typeface="Times New Roman" panose="02020603050405020304" pitchFamily="18" charset="0"/>
                <a:sym typeface="+mn-ea"/>
              </a:rPr>
              <a:t>为某人提供一个平台 </a:t>
            </a:r>
            <a:r>
              <a:rPr lang="en-US" altLang="zh-CN" sz="3200" b="1" dirty="0">
                <a:latin typeface="Times New Roman" panose="02020603050405020304" pitchFamily="18" charset="0"/>
                <a:cs typeface="Times New Roman" panose="02020603050405020304" pitchFamily="18" charset="0"/>
                <a:sym typeface="+mn-ea"/>
              </a:rPr>
              <a:t>16.</a:t>
            </a:r>
            <a:r>
              <a:rPr lang="zh-CN" altLang="en-US" sz="3200" b="1" dirty="0">
                <a:solidFill>
                  <a:srgbClr val="FF0000"/>
                </a:solidFill>
                <a:latin typeface="Times New Roman" panose="02020603050405020304" pitchFamily="18" charset="0"/>
                <a:cs typeface="Times New Roman" panose="02020603050405020304" pitchFamily="18" charset="0"/>
                <a:sym typeface="+mn-ea"/>
              </a:rPr>
              <a:t>涌现</a:t>
            </a:r>
            <a:r>
              <a:rPr lang="en-US" altLang="zh-CN" sz="3200" b="1" dirty="0">
                <a:solidFill>
                  <a:srgbClr val="FF0000"/>
                </a:solidFill>
                <a:latin typeface="Times New Roman" panose="02020603050405020304" pitchFamily="18" charset="0"/>
                <a:cs typeface="Times New Roman" panose="02020603050405020304" pitchFamily="18" charset="0"/>
                <a:sym typeface="+mn-ea"/>
              </a:rPr>
              <a:t>(__,__);</a:t>
            </a:r>
            <a:r>
              <a:rPr lang="zh-CN" altLang="en-US" sz="3200" b="1" dirty="0">
                <a:solidFill>
                  <a:srgbClr val="FF0000"/>
                </a:solidFill>
                <a:latin typeface="Times New Roman" panose="02020603050405020304" pitchFamily="18" charset="0"/>
                <a:cs typeface="Times New Roman" panose="02020603050405020304" pitchFamily="18" charset="0"/>
                <a:sym typeface="+mn-ea"/>
              </a:rPr>
              <a:t>脱口而出</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突然在脑海中闪现</a:t>
            </a:r>
            <a:r>
              <a:rPr lang="en-US" altLang="zh-CN" sz="3200" b="1" dirty="0">
                <a:solidFill>
                  <a:srgbClr val="FF0000"/>
                </a:solidFill>
                <a:latin typeface="Times New Roman" panose="02020603050405020304" pitchFamily="18" charset="0"/>
                <a:cs typeface="Times New Roman" panose="02020603050405020304" pitchFamily="18" charset="0"/>
                <a:sym typeface="+mn-ea"/>
              </a:rPr>
              <a:t> </a:t>
            </a:r>
            <a:endPar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lnSpcReduction="10000"/>
          </a:bodyPr>
          <a:lstStyle/>
          <a:p>
            <a:r>
              <a:rPr lang="en-US" altLang="zh-CN" sz="3600" b="1" dirty="0">
                <a:latin typeface="Times New Roman" panose="02020603050405020304" pitchFamily="18" charset="0"/>
                <a:cs typeface="Times New Roman" panose="02020603050405020304" pitchFamily="18" charset="0"/>
                <a:sym typeface="+mn-ea"/>
              </a:rPr>
              <a:t>16.</a:t>
            </a:r>
            <a:r>
              <a:rPr lang="zh-CN" altLang="en-US" sz="3600" b="1" dirty="0">
                <a:solidFill>
                  <a:srgbClr val="FF0000"/>
                </a:solidFill>
                <a:latin typeface="Times New Roman" panose="02020603050405020304" pitchFamily="18" charset="0"/>
                <a:cs typeface="Times New Roman" panose="02020603050405020304" pitchFamily="18" charset="0"/>
                <a:sym typeface="+mn-ea"/>
              </a:rPr>
              <a:t>涌现</a:t>
            </a:r>
            <a:r>
              <a:rPr lang="en-US" altLang="zh-CN" sz="3600" b="1" dirty="0">
                <a:solidFill>
                  <a:srgbClr val="FF0000"/>
                </a:solidFill>
                <a:latin typeface="Times New Roman" panose="02020603050405020304" pitchFamily="18" charset="0"/>
                <a:cs typeface="Times New Roman" panose="02020603050405020304" pitchFamily="18" charset="0"/>
                <a:sym typeface="+mn-ea"/>
              </a:rPr>
              <a:t>(__,__);</a:t>
            </a:r>
            <a:r>
              <a:rPr lang="zh-CN" altLang="en-US" sz="3600" b="1" dirty="0">
                <a:solidFill>
                  <a:srgbClr val="FF0000"/>
                </a:solidFill>
                <a:latin typeface="Times New Roman" panose="02020603050405020304" pitchFamily="18" charset="0"/>
                <a:cs typeface="Times New Roman" panose="02020603050405020304" pitchFamily="18" charset="0"/>
                <a:sym typeface="+mn-ea"/>
              </a:rPr>
              <a:t>脱口而出</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突然在脑海中闪现</a:t>
            </a:r>
            <a:r>
              <a:rPr lang="en-US" altLang="zh-CN" sz="3600" b="1" dirty="0">
                <a:solidFill>
                  <a:srgbClr val="FF0000"/>
                </a:solidFill>
                <a:latin typeface="Times New Roman" panose="02020603050405020304" pitchFamily="18" charset="0"/>
                <a:cs typeface="Times New Roman" panose="02020603050405020304" pitchFamily="18" charset="0"/>
                <a:sym typeface="+mn-ea"/>
              </a:rPr>
              <a:t> 17.n.</a:t>
            </a:r>
            <a:r>
              <a:rPr lang="zh-CN" altLang="en-US" sz="3600" b="1" dirty="0">
                <a:solidFill>
                  <a:srgbClr val="FF0000"/>
                </a:solidFill>
                <a:latin typeface="Times New Roman" panose="02020603050405020304" pitchFamily="18" charset="0"/>
                <a:cs typeface="Times New Roman" panose="02020603050405020304" pitchFamily="18" charset="0"/>
                <a:sym typeface="+mn-ea"/>
              </a:rPr>
              <a:t>相互作用</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与</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相互作用</a:t>
            </a:r>
            <a:r>
              <a:rPr lang="en-US" altLang="zh-CN" sz="3600" b="1" dirty="0">
                <a:solidFill>
                  <a:srgbClr val="FF0000"/>
                </a:solidFill>
                <a:latin typeface="Times New Roman" panose="02020603050405020304" pitchFamily="18" charset="0"/>
                <a:cs typeface="Times New Roman" panose="02020603050405020304" pitchFamily="18" charset="0"/>
                <a:sym typeface="+mn-ea"/>
              </a:rPr>
              <a:t>;a.</a:t>
            </a:r>
            <a:r>
              <a:rPr lang="zh-CN" altLang="en-US" sz="3600" b="1" dirty="0">
                <a:solidFill>
                  <a:srgbClr val="FF0000"/>
                </a:solidFill>
                <a:latin typeface="Times New Roman" panose="02020603050405020304" pitchFamily="18" charset="0"/>
                <a:cs typeface="Times New Roman" panose="02020603050405020304" pitchFamily="18" charset="0"/>
                <a:sym typeface="+mn-ea"/>
              </a:rPr>
              <a:t>相互作用的 </a:t>
            </a:r>
            <a:r>
              <a:rPr lang="en-US" altLang="zh-CN" sz="3600" b="1" dirty="0">
                <a:solidFill>
                  <a:srgbClr val="FF0000"/>
                </a:solidFill>
                <a:latin typeface="Times New Roman" panose="02020603050405020304" pitchFamily="18" charset="0"/>
                <a:cs typeface="Times New Roman" panose="02020603050405020304" pitchFamily="18" charset="0"/>
                <a:sym typeface="+mn-ea"/>
              </a:rPr>
              <a:t>18.</a:t>
            </a:r>
            <a:r>
              <a:rPr lang="zh-CN" altLang="en-US" sz="3600" b="1" dirty="0">
                <a:solidFill>
                  <a:srgbClr val="FF0000"/>
                </a:solidFill>
                <a:latin typeface="Times New Roman" panose="02020603050405020304" pitchFamily="18" charset="0"/>
                <a:cs typeface="Times New Roman" panose="02020603050405020304" pitchFamily="18" charset="0"/>
                <a:sym typeface="+mn-ea"/>
              </a:rPr>
              <a:t>每周排行榜首位 </a:t>
            </a:r>
            <a:r>
              <a:rPr lang="en-US" altLang="zh-CN" sz="3600" b="1" dirty="0">
                <a:latin typeface="Times New Roman" panose="02020603050405020304" pitchFamily="18" charset="0"/>
                <a:cs typeface="Times New Roman" panose="02020603050405020304" pitchFamily="18" charset="0"/>
                <a:sym typeface="+mn-ea"/>
              </a:rPr>
              <a:t>19.</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广播</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(__,__);</a:t>
            </a:r>
            <a:r>
              <a:rPr lang="zh-CN" altLang="en-US" sz="3600" b="1" dirty="0">
                <a:latin typeface="Times New Roman" panose="02020603050405020304" pitchFamily="18" charset="0"/>
                <a:ea typeface="楷体" panose="02010609060101010101" charset="-122"/>
                <a:cs typeface="Times New Roman" panose="02020603050405020304" pitchFamily="18" charset="0"/>
                <a:sym typeface="+mn-ea"/>
              </a:rPr>
              <a:t>现场直播 </a:t>
            </a:r>
            <a:r>
              <a:rPr lang="en-US" altLang="zh-CN" sz="3600" b="1" dirty="0">
                <a:latin typeface="Times New Roman" panose="02020603050405020304" pitchFamily="18" charset="0"/>
                <a:ea typeface="楷体" panose="02010609060101010101" charset="-122"/>
                <a:cs typeface="Times New Roman" panose="02020603050405020304" pitchFamily="18" charset="0"/>
                <a:sym typeface="+mn-ea"/>
              </a:rPr>
              <a:t>20.</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广告业</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广告</a:t>
            </a:r>
            <a:r>
              <a:rPr lang="en-US" altLang="zh-CN" sz="3600" b="1" dirty="0">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征聘 </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21.</a:t>
            </a:r>
            <a:r>
              <a:rPr lang="zh-CN" altLang="en-US" sz="3600" b="1" dirty="0">
                <a:solidFill>
                  <a:srgbClr val="FF0000"/>
                </a:solidFill>
                <a:latin typeface="Times New Roman" panose="02020603050405020304" pitchFamily="18" charset="0"/>
                <a:cs typeface="Times New Roman" panose="02020603050405020304" pitchFamily="18" charset="0"/>
                <a:sym typeface="+mn-ea"/>
              </a:rPr>
              <a:t>说服某人做某事</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说服某人不要做某事</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说服某人相信</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令人信服的论点</a:t>
            </a:r>
            <a:r>
              <a:rPr lang="en-US" altLang="zh-CN" sz="3600" b="1" dirty="0">
                <a:solidFill>
                  <a:srgbClr val="FF0000"/>
                </a:solidFill>
                <a:latin typeface="Times New Roman" panose="02020603050405020304" pitchFamily="18" charset="0"/>
                <a:cs typeface="Times New Roman" panose="02020603050405020304" pitchFamily="18" charset="0"/>
                <a:sym typeface="+mn-ea"/>
              </a:rPr>
              <a:t> 22.</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沟通的有益渠道</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宣泄情感的好方法 </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23.在...</a:t>
            </a:r>
            <a:r>
              <a:rPr lang="en-US" altLang="zh-CN" sz="3600" b="1"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的全盛期</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24.</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增强某人的自信心</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销售额增加</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25.</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心理学</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心理学家</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latin typeface="Times New Roman" panose="02020603050405020304" pitchFamily="18" charset="0"/>
                <a:ea typeface="楷体" panose="02010609060101010101" charset="-122"/>
                <a:cs typeface="Times New Roman" panose="02020603050405020304" pitchFamily="18" charset="0"/>
                <a:sym typeface="+mn-ea"/>
              </a:rPr>
              <a:t>心理学的</a:t>
            </a:r>
            <a:r>
              <a:rPr lang="en-US" altLang="zh-CN" sz="3600" b="1" dirty="0">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adv. 26.</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采购</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latin typeface="Times New Roman" panose="02020603050405020304" pitchFamily="18" charset="0"/>
                <a:cs typeface="Times New Roman" panose="02020603050405020304" pitchFamily="18" charset="0"/>
                <a:sym typeface="+mn-ea"/>
              </a:rPr>
              <a:t>购物者</a:t>
            </a:r>
            <a:r>
              <a:rPr lang="en-US" altLang="zh-CN" sz="3600" b="1" dirty="0">
                <a:latin typeface="Times New Roman" panose="02020603050405020304" pitchFamily="18" charset="0"/>
                <a:cs typeface="Times New Roman" panose="02020603050405020304" pitchFamily="18" charset="0"/>
                <a:sym typeface="+mn-ea"/>
              </a:rPr>
              <a:t>;</a:t>
            </a:r>
            <a:r>
              <a:rPr lang="zh-CN" altLang="en-US" sz="3600" b="1" dirty="0">
                <a:latin typeface="Times New Roman" panose="02020603050405020304" pitchFamily="18" charset="0"/>
                <a:cs typeface="Times New Roman" panose="02020603050405020304" pitchFamily="18" charset="0"/>
                <a:sym typeface="+mn-ea"/>
              </a:rPr>
              <a:t>购买力</a:t>
            </a:r>
            <a:r>
              <a:rPr lang="en-US" altLang="zh-CN" sz="3600" b="1" dirty="0">
                <a:latin typeface="Times New Roman" panose="02020603050405020304" pitchFamily="18" charset="0"/>
                <a:ea typeface="楷体" panose="02010609060101010101" charset="-122"/>
                <a:cs typeface="Times New Roman" panose="02020603050405020304" pitchFamily="18" charset="0"/>
                <a:sym typeface="+mn-ea"/>
              </a:rPr>
              <a:t>27.</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adj.</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难忘的</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;v.</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记住</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纪念</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纪念碑 </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28.get across</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翻译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get about/around</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;get through</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;get away with</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get together</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克服恢复</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着手处理</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相处进展</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29.</a:t>
            </a:r>
            <a:r>
              <a:rPr lang="zh-CN" altLang="en-US" sz="3600" b="1" u="sng" dirty="0">
                <a:solidFill>
                  <a:srgbClr val="FF0000"/>
                </a:solidFill>
                <a:latin typeface="Times New Roman" panose="02020603050405020304" pitchFamily="18" charset="0"/>
                <a:ea typeface="楷体" panose="02010609060101010101" charset="-122"/>
                <a:sym typeface="+mn-ea"/>
              </a:rPr>
              <a:t>品牌形象</a:t>
            </a:r>
            <a:r>
              <a:rPr lang="en-US" altLang="zh-CN" sz="3600" b="1" u="sng" dirty="0">
                <a:solidFill>
                  <a:srgbClr val="FF0000"/>
                </a:solidFill>
                <a:latin typeface="Times New Roman" panose="02020603050405020304" pitchFamily="18" charset="0"/>
                <a:ea typeface="楷体" panose="02010609060101010101" charset="-122"/>
                <a:sym typeface="+mn-ea"/>
              </a:rPr>
              <a:t>;</a:t>
            </a:r>
            <a:r>
              <a:rPr lang="zh-CN" altLang="en-US" sz="3600" b="1" dirty="0">
                <a:solidFill>
                  <a:srgbClr val="FF0000"/>
                </a:solidFill>
                <a:latin typeface="Times New Roman" panose="02020603050405020304" pitchFamily="18" charset="0"/>
                <a:ea typeface="楷体" panose="02010609060101010101" charset="-122"/>
                <a:sym typeface="+mn-ea"/>
              </a:rPr>
              <a:t>崭新的</a:t>
            </a:r>
            <a:r>
              <a:rPr lang="en-US" altLang="zh-CN" sz="3600" b="1" dirty="0">
                <a:solidFill>
                  <a:srgbClr val="FF0000"/>
                </a:solidFill>
                <a:latin typeface="Times New Roman" panose="02020603050405020304" pitchFamily="18" charset="0"/>
                <a:ea typeface="楷体" panose="02010609060101010101" charset="-122"/>
                <a:sym typeface="+mn-ea"/>
              </a:rPr>
              <a:t> 30.</a:t>
            </a:r>
            <a:r>
              <a:rPr lang="zh-CN" altLang="en-US" sz="3600" b="1" dirty="0">
                <a:latin typeface="Times New Roman" panose="02020603050405020304" pitchFamily="18" charset="0"/>
                <a:ea typeface="楷体" panose="02010609060101010101" charset="-122"/>
                <a:sym typeface="+mn-ea"/>
              </a:rPr>
              <a:t>大使 </a:t>
            </a:r>
            <a:r>
              <a:rPr lang="en-US" altLang="zh-CN" sz="3600" b="1" dirty="0">
                <a:latin typeface="Times New Roman" panose="02020603050405020304" pitchFamily="18" charset="0"/>
                <a:ea typeface="楷体" panose="02010609060101010101" charset="-122"/>
                <a:sym typeface="+mn-ea"/>
              </a:rPr>
              <a:t>31.</a:t>
            </a:r>
            <a:r>
              <a:rPr lang="zh-CN" altLang="en-US" sz="3600" b="1" dirty="0">
                <a:solidFill>
                  <a:srgbClr val="FF0000"/>
                </a:solidFill>
                <a:latin typeface="Times New Roman" panose="02020603050405020304" pitchFamily="18" charset="0"/>
                <a:ea typeface="楷体" panose="02010609060101010101" charset="-122"/>
                <a:sym typeface="+mn-ea"/>
              </a:rPr>
              <a:t>安置</a:t>
            </a:r>
            <a:r>
              <a:rPr lang="en-US" altLang="zh-CN" sz="3600" b="1" dirty="0">
                <a:solidFill>
                  <a:srgbClr val="FF0000"/>
                </a:solidFill>
                <a:sym typeface="+mn-ea"/>
              </a:rPr>
              <a:t>32.</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失业率</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照此</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那种</a:t>
            </a:r>
            <a:r>
              <a:rPr lang="en-US" altLang="zh-CN" sz="3600"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情形</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以这</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那一速度</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无论如何</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不管怎么说</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评价某人</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某物</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33.</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赞助者</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被赞助</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政府资助的 </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34.n.</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吸收理解</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掌握知识</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b="1"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全神贯注</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35.</a:t>
            </a:r>
            <a:r>
              <a:rPr lang="zh-CN" altLang="en-US" sz="3600" u="sng"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八五折</a:t>
            </a:r>
            <a:r>
              <a:rPr lang="en-US" altLang="zh-CN" sz="3600" u="sng"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latin typeface="Times New Roman" panose="02020603050405020304" pitchFamily="18" charset="0"/>
                <a:ea typeface="楷体" panose="02010609060101010101" charset="-122"/>
                <a:cs typeface="Times New Roman" panose="02020603050405020304" pitchFamily="18" charset="0"/>
                <a:sym typeface="+mn-ea"/>
              </a:rPr>
              <a:t>打折地</a:t>
            </a:r>
            <a:r>
              <a:rPr lang="en-US" altLang="zh-CN" sz="3600" dirty="0">
                <a:latin typeface="Times New Roman" panose="02020603050405020304" pitchFamily="18" charset="0"/>
                <a:ea typeface="楷体" panose="02010609060101010101" charset="-122"/>
                <a:cs typeface="Times New Roman" panose="02020603050405020304" pitchFamily="18" charset="0"/>
                <a:sym typeface="+mn-ea"/>
              </a:rPr>
              <a:t>36.</a:t>
            </a:r>
            <a:r>
              <a:rPr lang="en-US" altLang="zh-CN" sz="3600" b="1" dirty="0">
                <a:latin typeface="Times New Roman" panose="02020603050405020304" pitchFamily="18" charset="0"/>
                <a:ea typeface="楷体" panose="02010609060101010101" charset="-122"/>
                <a:cs typeface="Times New Roman" panose="02020603050405020304" pitchFamily="18" charset="0"/>
                <a:sym typeface="+mn-ea"/>
              </a:rPr>
              <a:t>n.</a:t>
            </a:r>
            <a:r>
              <a:rPr lang="zh-CN" altLang="en-US" sz="3600" b="1" dirty="0">
                <a:latin typeface="Times New Roman" panose="02020603050405020304" pitchFamily="18" charset="0"/>
                <a:ea typeface="楷体" panose="02010609060101010101" charset="-122"/>
                <a:cs typeface="Times New Roman" panose="02020603050405020304" pitchFamily="18" charset="0"/>
                <a:sym typeface="+mn-ea"/>
              </a:rPr>
              <a:t>裁缝</a:t>
            </a:r>
            <a:r>
              <a:rPr lang="en-US" altLang="zh-CN" sz="3600" b="1" dirty="0">
                <a:latin typeface="Times New Roman" panose="02020603050405020304" pitchFamily="18" charset="0"/>
                <a:ea typeface="楷体" panose="02010609060101010101" charset="-122"/>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在裁缝店</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根据个人的需求</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口味量身定制</a:t>
            </a:r>
            <a:r>
              <a:rPr lang="en-US" altLang="zh-CN" sz="3600" b="1" dirty="0">
                <a:solidFill>
                  <a:srgbClr val="FF0000"/>
                </a:solidFill>
                <a:latin typeface="Times New Roman" panose="02020603050405020304" pitchFamily="18" charset="0"/>
                <a:cs typeface="Times New Roman" panose="02020603050405020304" pitchFamily="18" charset="0"/>
                <a:sym typeface="+mn-ea"/>
              </a:rPr>
              <a:t> 37.</a:t>
            </a:r>
            <a:r>
              <a:rPr lang="zh-CN" altLang="en-US" sz="3600" b="1" dirty="0">
                <a:solidFill>
                  <a:srgbClr val="FF0000"/>
                </a:solidFill>
                <a:latin typeface="Times New Roman" panose="02020603050405020304" pitchFamily="18" charset="0"/>
                <a:ea typeface="楷体" panose="02010609060101010101" charset="-122"/>
                <a:sym typeface="+mn-ea"/>
              </a:rPr>
              <a:t>变亮改善</a:t>
            </a:r>
            <a:r>
              <a:rPr lang="en-US" altLang="zh-CN" sz="3600" b="1" dirty="0">
                <a:solidFill>
                  <a:srgbClr val="FF0000"/>
                </a:solidFill>
                <a:latin typeface="Times New Roman" panose="02020603050405020304" pitchFamily="18" charset="0"/>
                <a:ea typeface="楷体" panose="02010609060101010101" charset="-122"/>
                <a:sym typeface="+mn-ea"/>
              </a:rPr>
              <a:t>;</a:t>
            </a:r>
            <a:r>
              <a:rPr lang="zh-CN" altLang="en-US" sz="3600" b="1" dirty="0">
                <a:solidFill>
                  <a:srgbClr val="FF0000"/>
                </a:solidFill>
                <a:latin typeface="Times New Roman" panose="02020603050405020304" pitchFamily="18" charset="0"/>
                <a:ea typeface="楷体" panose="02010609060101010101" charset="-122"/>
                <a:sym typeface="+mn-ea"/>
              </a:rPr>
              <a:t>使我的一天充满了快乐</a:t>
            </a:r>
            <a:r>
              <a:rPr lang="en-US" altLang="zh-CN" sz="3600" dirty="0">
                <a:latin typeface="Times New Roman" panose="02020603050405020304" pitchFamily="18" charset="0"/>
                <a:ea typeface="楷体" panose="02010609060101010101" charset="-122"/>
                <a:sym typeface="+mn-ea"/>
              </a:rPr>
              <a:t>38.</a:t>
            </a:r>
            <a:r>
              <a:rPr lang="zh-CN" altLang="en-US" sz="3600" dirty="0">
                <a:latin typeface="Times New Roman" panose="02020603050405020304" pitchFamily="18" charset="0"/>
                <a:ea typeface="楷体" panose="02010609060101010101" charset="-122"/>
                <a:sym typeface="+mn-ea"/>
              </a:rPr>
              <a:t>住宅区</a:t>
            </a:r>
            <a:r>
              <a:rPr lang="en-US" altLang="zh-CN" sz="3600" dirty="0">
                <a:latin typeface="Times New Roman" panose="02020603050405020304" pitchFamily="18" charset="0"/>
                <a:ea typeface="楷体" panose="02010609060101010101" charset="-122"/>
                <a:sym typeface="+mn-ea"/>
              </a:rPr>
              <a:t>39.</a:t>
            </a:r>
            <a:r>
              <a:rPr lang="zh-CN" altLang="zh-CN" sz="3600" dirty="0">
                <a:solidFill>
                  <a:srgbClr val="FF0000"/>
                </a:solidFill>
                <a:latin typeface="Times New Roman" panose="02020603050405020304" pitchFamily="18" charset="0"/>
                <a:cs typeface="Times New Roman" panose="02020603050405020304" pitchFamily="18" charset="0"/>
                <a:sym typeface="+mn-ea"/>
              </a:rPr>
              <a:t>以</a:t>
            </a:r>
            <a:r>
              <a:rPr lang="en-US" altLang="zh-CN" sz="3600" dirty="0">
                <a:solidFill>
                  <a:srgbClr val="FF0000"/>
                </a:solidFill>
                <a:latin typeface="Times New Roman" panose="02020603050405020304" pitchFamily="18" charset="0"/>
                <a:cs typeface="Times New Roman" panose="02020603050405020304" pitchFamily="18" charset="0"/>
                <a:sym typeface="+mn-ea"/>
              </a:rPr>
              <a:t>…</a:t>
            </a:r>
            <a:r>
              <a:rPr lang="zh-CN" altLang="zh-CN" sz="3600" dirty="0">
                <a:solidFill>
                  <a:srgbClr val="FF0000"/>
                </a:solidFill>
                <a:latin typeface="Times New Roman" panose="02020603050405020304" pitchFamily="18" charset="0"/>
                <a:cs typeface="Times New Roman" panose="02020603050405020304" pitchFamily="18" charset="0"/>
                <a:sym typeface="+mn-ea"/>
              </a:rPr>
              <a:t>为乐</a:t>
            </a:r>
            <a:r>
              <a:rPr lang="en-US" altLang="zh-CN" sz="3600"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逗乐的神情</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表情</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令某人感到好笑的是</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游乐园</a:t>
            </a:r>
            <a:r>
              <a:rPr lang="en-US" altLang="zh-CN" sz="3600" dirty="0">
                <a:latin typeface="Times New Roman" panose="02020603050405020304" pitchFamily="18" charset="0"/>
                <a:cs typeface="Times New Roman" panose="02020603050405020304" pitchFamily="18" charset="0"/>
                <a:sym typeface="阿里巴巴普惠体 2.0 55 Regular" panose="00020600040101010101" pitchFamily="18" charset="-122"/>
              </a:rPr>
              <a:t>;</a:t>
            </a:r>
            <a:r>
              <a:rPr lang="zh-CN" altLang="en-US" sz="3600" u="sng" dirty="0">
                <a:solidFill>
                  <a:srgbClr val="FF0000"/>
                </a:solidFill>
                <a:latin typeface="Times New Roman" panose="02020603050405020304" pitchFamily="18" charset="0"/>
                <a:ea typeface="楷体" panose="02010609060101010101" charset="-122"/>
                <a:sym typeface="阿里巴巴普惠体 2.0 55 Regular" panose="00020600040101010101" pitchFamily="18" charset="-122"/>
              </a:rPr>
              <a:t>可笑的是 </a:t>
            </a:r>
            <a:r>
              <a:rPr lang="en-US" altLang="zh-CN" sz="3600" u="sng" dirty="0">
                <a:solidFill>
                  <a:srgbClr val="FF0000"/>
                </a:solidFill>
                <a:latin typeface="Times New Roman" panose="02020603050405020304" pitchFamily="18" charset="0"/>
                <a:ea typeface="楷体" panose="02010609060101010101" charset="-122"/>
                <a:sym typeface="阿里巴巴普惠体 2.0 55 Regular" panose="00020600040101010101" pitchFamily="18" charset="-122"/>
              </a:rPr>
              <a:t>40.</a:t>
            </a:r>
            <a:r>
              <a:rPr lang="en-US" altLang="zh-CN" sz="3600" b="1" dirty="0">
                <a:solidFill>
                  <a:srgbClr val="7030A0"/>
                </a:solidFill>
                <a:sym typeface="+mn-ea"/>
              </a:rPr>
              <a:t>break up</a:t>
            </a:r>
            <a:r>
              <a:rPr lang="zh-CN" altLang="en-US" sz="3600" b="1" dirty="0">
                <a:solidFill>
                  <a:srgbClr val="7030A0"/>
                </a:solidFill>
                <a:sym typeface="+mn-ea"/>
              </a:rPr>
              <a:t>译</a:t>
            </a:r>
            <a:r>
              <a:rPr lang="en-US" altLang="zh-CN" sz="3600" b="1" dirty="0">
                <a:solidFill>
                  <a:srgbClr val="7030A0"/>
                </a:solidFill>
                <a:sym typeface="+mn-ea"/>
              </a:rPr>
              <a:t>; bring up</a:t>
            </a:r>
            <a:r>
              <a:rPr lang="zh-CN" altLang="en-US" sz="3600" b="1" dirty="0">
                <a:solidFill>
                  <a:srgbClr val="7030A0"/>
                </a:solidFill>
                <a:sym typeface="+mn-ea"/>
              </a:rPr>
              <a:t>译</a:t>
            </a:r>
            <a:r>
              <a:rPr lang="en-US" altLang="zh-CN" sz="3600" b="1" dirty="0">
                <a:solidFill>
                  <a:srgbClr val="7030A0"/>
                </a:solidFill>
                <a:sym typeface="+mn-ea"/>
              </a:rPr>
              <a:t>;build up</a:t>
            </a:r>
            <a:r>
              <a:rPr lang="zh-CN" altLang="en-US" sz="3600" b="1" dirty="0">
                <a:solidFill>
                  <a:srgbClr val="7030A0"/>
                </a:solidFill>
                <a:sym typeface="+mn-ea"/>
              </a:rPr>
              <a:t>译</a:t>
            </a:r>
            <a:r>
              <a:rPr lang="en-US" altLang="zh-CN" sz="3600" b="1" dirty="0">
                <a:solidFill>
                  <a:srgbClr val="7030A0"/>
                </a:solidFill>
                <a:sym typeface="+mn-ea"/>
              </a:rPr>
              <a:t>;clear up</a:t>
            </a:r>
            <a:r>
              <a:rPr lang="zh-CN" altLang="en-US" sz="3600" b="1" dirty="0">
                <a:solidFill>
                  <a:srgbClr val="7030A0"/>
                </a:solidFill>
                <a:sym typeface="+mn-ea"/>
              </a:rPr>
              <a:t>译</a:t>
            </a:r>
            <a:r>
              <a:rPr lang="en-US" altLang="zh-CN" sz="3600" b="1" dirty="0">
                <a:solidFill>
                  <a:srgbClr val="7030A0"/>
                </a:solidFill>
                <a:sym typeface="+mn-ea"/>
              </a:rPr>
              <a:t>;come up</a:t>
            </a:r>
            <a:r>
              <a:rPr lang="zh-CN" altLang="en-US" sz="3600" b="1" dirty="0">
                <a:solidFill>
                  <a:srgbClr val="7030A0"/>
                </a:solidFill>
                <a:sym typeface="+mn-ea"/>
              </a:rPr>
              <a:t>译</a:t>
            </a:r>
            <a:r>
              <a:rPr lang="en-US" altLang="zh-CN" sz="3600" b="1" dirty="0">
                <a:solidFill>
                  <a:srgbClr val="7030A0"/>
                </a:solidFill>
                <a:sym typeface="+mn-ea"/>
              </a:rPr>
              <a:t>; make up</a:t>
            </a:r>
            <a:r>
              <a:rPr lang="zh-CN" altLang="en-US" sz="3600" b="1" dirty="0">
                <a:solidFill>
                  <a:srgbClr val="7030A0"/>
                </a:solidFill>
                <a:sym typeface="+mn-ea"/>
              </a:rPr>
              <a:t>译</a:t>
            </a:r>
            <a:r>
              <a:rPr lang="en-US" altLang="zh-CN" sz="3600" b="1" dirty="0">
                <a:solidFill>
                  <a:srgbClr val="7030A0"/>
                </a:solidFill>
                <a:sym typeface="+mn-ea"/>
              </a:rPr>
              <a:t>;pick up</a:t>
            </a:r>
            <a:r>
              <a:rPr lang="zh-CN" altLang="en-US" sz="3600" b="1" dirty="0">
                <a:solidFill>
                  <a:srgbClr val="7030A0"/>
                </a:solidFill>
                <a:sym typeface="+mn-ea"/>
              </a:rPr>
              <a:t>译</a:t>
            </a:r>
            <a:r>
              <a:rPr lang="en-US" altLang="zh-CN" sz="3600" b="1" dirty="0">
                <a:solidFill>
                  <a:srgbClr val="7030A0"/>
                </a:solidFill>
                <a:sym typeface="+mn-ea"/>
              </a:rPr>
              <a:t>;put up</a:t>
            </a:r>
            <a:r>
              <a:rPr lang="zh-CN" altLang="en-US" sz="3600" b="1" dirty="0">
                <a:solidFill>
                  <a:srgbClr val="7030A0"/>
                </a:solidFill>
                <a:sym typeface="+mn-ea"/>
              </a:rPr>
              <a:t>译</a:t>
            </a:r>
            <a:r>
              <a:rPr lang="en-US" altLang="zh-CN" sz="3600" b="1" dirty="0">
                <a:solidFill>
                  <a:srgbClr val="7030A0"/>
                </a:solidFill>
                <a:sym typeface="+mn-ea"/>
              </a:rPr>
              <a:t>;split up</a:t>
            </a:r>
            <a:r>
              <a:rPr lang="zh-CN" altLang="en-US" sz="3600" b="1" dirty="0">
                <a:solidFill>
                  <a:srgbClr val="7030A0"/>
                </a:solidFill>
                <a:sym typeface="+mn-ea"/>
              </a:rPr>
              <a:t>译</a:t>
            </a:r>
            <a:r>
              <a:rPr lang="en-US" altLang="zh-CN" sz="3600" b="1" dirty="0">
                <a:solidFill>
                  <a:srgbClr val="7030A0"/>
                </a:solidFill>
                <a:sym typeface="+mn-ea"/>
              </a:rPr>
              <a:t>;take up</a:t>
            </a:r>
            <a:r>
              <a:rPr lang="zh-CN" altLang="en-US" sz="3600" b="1" dirty="0">
                <a:solidFill>
                  <a:srgbClr val="7030A0"/>
                </a:solidFill>
                <a:sym typeface="+mn-ea"/>
              </a:rPr>
              <a:t>译</a:t>
            </a:r>
            <a:r>
              <a:rPr lang="en-US" altLang="zh-CN" sz="3600" b="1" dirty="0">
                <a:solidFill>
                  <a:srgbClr val="7030A0"/>
                </a:solidFill>
                <a:sym typeface="+mn-ea"/>
              </a:rPr>
              <a:t>;turn up</a:t>
            </a:r>
            <a:r>
              <a:rPr lang="zh-CN" altLang="en-US" sz="3600" b="1" dirty="0">
                <a:solidFill>
                  <a:srgbClr val="7030A0"/>
                </a:solidFill>
                <a:sym typeface="+mn-ea"/>
              </a:rPr>
              <a:t>译</a:t>
            </a:r>
            <a:r>
              <a:rPr lang="en-US" altLang="zh-CN" sz="3600" b="1">
                <a:solidFill>
                  <a:srgbClr val="FF0000"/>
                </a:solidFill>
                <a:latin typeface="Times New Roman" panose="02020603050405020304" pitchFamily="18" charset="0"/>
                <a:cs typeface="Times New Roman" panose="02020603050405020304" pitchFamily="18" charset="0"/>
                <a:sym typeface="+mn-ea"/>
              </a:rPr>
              <a:t>;</a:t>
            </a:r>
            <a:r>
              <a:rPr lang="zh-CN" altLang="zh-CN" sz="3600" b="1">
                <a:solidFill>
                  <a:srgbClr val="7030A0"/>
                </a:solidFill>
                <a:sym typeface="+mn-ea"/>
              </a:rPr>
              <a:t>草拟</a:t>
            </a:r>
            <a:r>
              <a:rPr lang="en-US" altLang="zh-CN" sz="3600" b="1" dirty="0">
                <a:solidFill>
                  <a:srgbClr val="7030A0"/>
                </a:solidFill>
                <a:sym typeface="+mn-ea"/>
              </a:rPr>
              <a:t>;</a:t>
            </a:r>
            <a:r>
              <a:rPr lang="zh-CN" altLang="zh-CN" sz="3600" b="1" dirty="0">
                <a:solidFill>
                  <a:srgbClr val="7030A0"/>
                </a:solidFill>
                <a:sym typeface="+mn-ea"/>
              </a:rPr>
              <a:t>修理</a:t>
            </a:r>
            <a:r>
              <a:rPr lang="en-US" altLang="zh-CN" sz="3600" b="1" dirty="0">
                <a:solidFill>
                  <a:srgbClr val="7030A0"/>
                </a:solidFill>
                <a:sym typeface="+mn-ea"/>
              </a:rPr>
              <a:t>;</a:t>
            </a:r>
            <a:r>
              <a:rPr lang="zh-CN" altLang="zh-CN" sz="3600" b="1" dirty="0">
                <a:solidFill>
                  <a:srgbClr val="7030A0"/>
                </a:solidFill>
                <a:sym typeface="+mn-ea"/>
              </a:rPr>
              <a:t>阻止</a:t>
            </a:r>
            <a:r>
              <a:rPr lang="en-US" altLang="zh-CN" sz="3600" b="1" dirty="0">
                <a:solidFill>
                  <a:srgbClr val="7030A0"/>
                </a:solidFill>
                <a:sym typeface="+mn-ea"/>
              </a:rPr>
              <a:t>;</a:t>
            </a:r>
            <a:r>
              <a:rPr lang="zh-CN" altLang="zh-CN" sz="3600" b="1" dirty="0">
                <a:solidFill>
                  <a:srgbClr val="7030A0"/>
                </a:solidFill>
                <a:sym typeface="+mn-ea"/>
              </a:rPr>
              <a:t>堵塞住</a:t>
            </a:r>
            <a:r>
              <a:rPr lang="en-US" altLang="zh-CN" sz="3600" b="1" dirty="0">
                <a:solidFill>
                  <a:srgbClr val="7030A0"/>
                </a:solidFill>
                <a:sym typeface="+mn-ea"/>
              </a:rPr>
              <a:t>;</a:t>
            </a:r>
            <a:r>
              <a:rPr lang="zh-CN" altLang="en-US" sz="3600" b="1" dirty="0">
                <a:solidFill>
                  <a:srgbClr val="7030A0"/>
                </a:solidFill>
                <a:sym typeface="+mn-ea"/>
              </a:rPr>
              <a:t>弥补</a:t>
            </a:r>
            <a:r>
              <a:rPr lang="en-US" altLang="zh-CN" sz="3600" b="1" dirty="0">
                <a:solidFill>
                  <a:srgbClr val="7030A0"/>
                </a:solidFill>
                <a:sym typeface="+mn-ea"/>
              </a:rPr>
              <a:t>;</a:t>
            </a:r>
            <a:r>
              <a:rPr lang="zh-CN" altLang="zh-CN" sz="3600" b="1" dirty="0">
                <a:solidFill>
                  <a:srgbClr val="7030A0"/>
                </a:solidFill>
                <a:sym typeface="+mn-ea"/>
              </a:rPr>
              <a:t>收拾行李</a:t>
            </a:r>
            <a:r>
              <a:rPr lang="en-US" altLang="zh-CN" sz="3600" b="1" dirty="0">
                <a:solidFill>
                  <a:srgbClr val="7030A0"/>
                </a:solidFill>
                <a:sym typeface="+mn-ea"/>
              </a:rPr>
              <a:t>;</a:t>
            </a:r>
            <a:r>
              <a:rPr lang="zh-CN" altLang="en-US" sz="3600" b="1" dirty="0">
                <a:solidFill>
                  <a:srgbClr val="7030A0"/>
                </a:solidFill>
                <a:sym typeface="+mn-ea"/>
              </a:rPr>
              <a:t>停车</a:t>
            </a:r>
            <a:r>
              <a:rPr lang="en-US" altLang="zh-CN" sz="3600" b="1" dirty="0">
                <a:solidFill>
                  <a:srgbClr val="7030A0"/>
                </a:solidFill>
                <a:sym typeface="+mn-ea"/>
              </a:rPr>
              <a:t>;</a:t>
            </a:r>
            <a:r>
              <a:rPr lang="zh-CN" altLang="zh-CN" sz="3600" b="1" dirty="0">
                <a:solidFill>
                  <a:srgbClr val="7030A0"/>
                </a:solidFill>
                <a:sym typeface="+mn-ea"/>
              </a:rPr>
              <a:t>设立</a:t>
            </a:r>
            <a:r>
              <a:rPr lang="en-US" altLang="zh-CN" sz="3600" b="1" dirty="0">
                <a:solidFill>
                  <a:srgbClr val="7030A0"/>
                </a:solidFill>
                <a:sym typeface="+mn-ea"/>
              </a:rPr>
              <a:t>;</a:t>
            </a:r>
            <a:r>
              <a:rPr lang="zh-CN" altLang="zh-CN" sz="3600" b="1" dirty="0">
                <a:solidFill>
                  <a:srgbClr val="7030A0"/>
                </a:solidFill>
                <a:sym typeface="+mn-ea"/>
              </a:rPr>
              <a:t>涌现</a:t>
            </a:r>
            <a:endPar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endParaRPr>
          </a:p>
          <a:p>
            <a:endParaRPr lang="zh-CN" altLang="en-US" sz="3600" b="1" dirty="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lnSpcReduction="10000"/>
          </a:bodyPr>
          <a:lstStyle/>
          <a:p>
            <a:pPr algn="ctr"/>
            <a:r>
              <a:rPr lang="en-US" altLang="zh-CN" sz="3600" b="1" dirty="0">
                <a:solidFill>
                  <a:schemeClr val="tx1"/>
                </a:solidFill>
              </a:rPr>
              <a:t>Volunteer Librarian Recruitment</a:t>
            </a:r>
          </a:p>
          <a:p>
            <a:r>
              <a:rPr lang="en-US" altLang="zh-CN" sz="3600" b="1" dirty="0">
                <a:solidFill>
                  <a:schemeClr val="tx1"/>
                </a:solidFill>
              </a:rPr>
              <a:t>    The school library </a:t>
            </a:r>
            <a:r>
              <a:rPr lang="en-US" altLang="zh-CN" sz="3600" b="1" u="sng" dirty="0">
                <a:solidFill>
                  <a:srgbClr val="FF0000"/>
                </a:solidFill>
              </a:rPr>
              <a:t>is now exploring volunteer librarians. </a:t>
            </a:r>
            <a:r>
              <a:rPr lang="en-US" altLang="zh-CN" sz="3600" b="1" dirty="0">
                <a:solidFill>
                  <a:srgbClr val="FF0000"/>
                </a:solidFill>
              </a:rPr>
              <a:t>The ideal candidates </a:t>
            </a:r>
            <a:r>
              <a:rPr lang="en-US" altLang="zh-CN" sz="3600" b="1" u="sng" dirty="0">
                <a:solidFill>
                  <a:srgbClr val="FF0000"/>
                </a:solidFill>
                <a:highlight>
                  <a:srgbClr val="FFFF00"/>
                </a:highlight>
              </a:rPr>
              <a:t>should have a strong sense of responsibility,</a:t>
            </a:r>
            <a:r>
              <a:rPr lang="en-US" altLang="zh-CN" sz="3600" b="1" dirty="0">
                <a:solidFill>
                  <a:srgbClr val="FF0000"/>
                </a:solidFill>
              </a:rPr>
              <a:t> be detail-centered and possess good communication skills. A love for literature and knowledge </a:t>
            </a:r>
            <a:r>
              <a:rPr lang="en-US" altLang="zh-CN" sz="3600" b="1" u="sng" dirty="0">
                <a:solidFill>
                  <a:srgbClr val="FF0000"/>
                </a:solidFill>
                <a:highlight>
                  <a:srgbClr val="FFFF00"/>
                </a:highlight>
              </a:rPr>
              <a:t>is a must.</a:t>
            </a:r>
            <a:r>
              <a:rPr lang="en-US" altLang="zh-CN" sz="3600" b="1" dirty="0">
                <a:solidFill>
                  <a:srgbClr val="FF0000"/>
                </a:solidFill>
              </a:rPr>
              <a:t> Basic computer operation skills and a certain level of English proficiency </a:t>
            </a:r>
            <a:r>
              <a:rPr lang="en-US" altLang="zh-CN" sz="3600" b="1" u="sng" dirty="0">
                <a:solidFill>
                  <a:srgbClr val="FF0000"/>
                </a:solidFill>
                <a:highlight>
                  <a:srgbClr val="FFFF00"/>
                </a:highlight>
              </a:rPr>
              <a:t>will be an advantage.</a:t>
            </a:r>
          </a:p>
          <a:p>
            <a:r>
              <a:rPr lang="en-US" altLang="zh-CN" sz="3600" b="1" dirty="0">
                <a:solidFill>
                  <a:srgbClr val="FF0000"/>
                </a:solidFill>
              </a:rPr>
              <a:t>    Volunteers will be rewarded with free participation in library workshops and lectures, extended borrowing periods, and a cozy reading corner reserved only for them. </a:t>
            </a:r>
            <a:r>
              <a:rPr lang="en-US" altLang="zh-CN" sz="3600" b="1" u="sng" dirty="0">
                <a:solidFill>
                  <a:srgbClr val="FF0000"/>
                </a:solidFill>
                <a:highlight>
                  <a:srgbClr val="FFFF00"/>
                </a:highlight>
              </a:rPr>
              <a:t>Moreover, </a:t>
            </a:r>
            <a:r>
              <a:rPr lang="en-US" altLang="zh-CN" sz="3600" b="1" dirty="0">
                <a:solidFill>
                  <a:srgbClr val="FF0000"/>
                </a:solidFill>
              </a:rPr>
              <a:t>they can build up community service hours and get a certificate of honor.</a:t>
            </a:r>
          </a:p>
          <a:p>
            <a:r>
              <a:rPr lang="en-US" altLang="zh-CN" sz="3600" b="1" dirty="0">
                <a:solidFill>
                  <a:srgbClr val="FF0000"/>
                </a:solidFill>
              </a:rPr>
              <a:t>    To apply, please send your resume and a short self-introduction to </a:t>
            </a:r>
            <a:r>
              <a:rPr lang="en-US" altLang="zh-CN" sz="3600" b="1" i="1" dirty="0">
                <a:solidFill>
                  <a:srgbClr val="FF0000"/>
                </a:solidFill>
              </a:rPr>
              <a:t>the students union @ school.com</a:t>
            </a:r>
            <a:r>
              <a:rPr lang="en-US" altLang="zh-CN" sz="3600" b="1" dirty="0">
                <a:solidFill>
                  <a:srgbClr val="FF0000"/>
                </a:solidFill>
              </a:rPr>
              <a:t> </a:t>
            </a:r>
            <a:r>
              <a:rPr lang="en-US" altLang="zh-CN" sz="3600" b="1" dirty="0">
                <a:solidFill>
                  <a:srgbClr val="FF0000"/>
                </a:solidFill>
                <a:highlight>
                  <a:srgbClr val="FFFF00"/>
                </a:highlight>
              </a:rPr>
              <a:t>by November 20th.</a:t>
            </a:r>
            <a:r>
              <a:rPr lang="en-US" altLang="zh-CN" sz="3600" b="1" dirty="0">
                <a:solidFill>
                  <a:srgbClr val="FF0000"/>
                </a:solidFill>
              </a:rPr>
              <a:t> We look forward to your joining and growing with us in the world of books.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ctr"/>
            <a:r>
              <a:rPr lang="zh-CN" altLang="en-US" sz="3600" b="1" dirty="0">
                <a:solidFill>
                  <a:srgbClr val="FF0000"/>
                </a:solidFill>
              </a:rPr>
              <a:t>招聘启事</a:t>
            </a:r>
          </a:p>
          <a:p>
            <a:r>
              <a:rPr lang="zh-CN" altLang="en-US" sz="3600" b="1" dirty="0">
                <a:solidFill>
                  <a:schemeClr val="tx1"/>
                </a:solidFill>
              </a:rPr>
              <a:t>招聘启事是</a:t>
            </a:r>
            <a:r>
              <a:rPr lang="zh-CN" altLang="en-US" sz="3600" b="1" dirty="0">
                <a:solidFill>
                  <a:srgbClr val="FF0000"/>
                </a:solidFill>
              </a:rPr>
              <a:t>用人单位面向社会公开招聘</a:t>
            </a:r>
            <a:r>
              <a:rPr lang="zh-CN" altLang="en-US" sz="3600" b="1" dirty="0">
                <a:solidFill>
                  <a:schemeClr val="tx1"/>
                </a:solidFill>
              </a:rPr>
              <a:t>有关人员时使用的一种应用文文体</a:t>
            </a:r>
            <a:r>
              <a:rPr lang="zh-CN" sz="3600" b="1" dirty="0">
                <a:solidFill>
                  <a:schemeClr val="tx1"/>
                </a:solidFill>
              </a:rPr>
              <a:t>。</a:t>
            </a:r>
            <a:endParaRPr lang="zh-CN" altLang="en-US" sz="3600" b="1" dirty="0">
              <a:solidFill>
                <a:schemeClr val="tx1"/>
              </a:solidFill>
            </a:endParaRPr>
          </a:p>
          <a:p>
            <a:r>
              <a:rPr lang="zh-CN" altLang="en-US" sz="3600" b="1" dirty="0">
                <a:solidFill>
                  <a:srgbClr val="FF0000"/>
                </a:solidFill>
              </a:rPr>
              <a:t>一、写作步骤</a:t>
            </a:r>
          </a:p>
          <a:p>
            <a:r>
              <a:rPr lang="en-US" altLang="zh-CN" sz="3600" b="1" dirty="0">
                <a:solidFill>
                  <a:srgbClr val="FF0000"/>
                </a:solidFill>
              </a:rPr>
              <a:t>Step1</a:t>
            </a:r>
            <a:r>
              <a:rPr lang="zh-CN" altLang="en-US" sz="3600" b="1" dirty="0">
                <a:solidFill>
                  <a:srgbClr val="FF0000"/>
                </a:solidFill>
              </a:rPr>
              <a:t>：开门见山，说明要招聘的职位；（</a:t>
            </a:r>
            <a:r>
              <a:rPr lang="en-US" altLang="zh-CN" sz="3600" b="1" dirty="0">
                <a:solidFill>
                  <a:srgbClr val="FF0000"/>
                </a:solidFill>
              </a:rPr>
              <a:t>position</a:t>
            </a:r>
            <a:r>
              <a:rPr lang="zh-CN" altLang="en-US" sz="3600" b="1" dirty="0">
                <a:solidFill>
                  <a:srgbClr val="FF0000"/>
                </a:solidFill>
              </a:rPr>
              <a:t>）</a:t>
            </a:r>
          </a:p>
          <a:p>
            <a:r>
              <a:rPr lang="en-US" altLang="zh-CN" sz="3600" b="1" dirty="0">
                <a:solidFill>
                  <a:srgbClr val="FF0000"/>
                </a:solidFill>
              </a:rPr>
              <a:t>Step2</a:t>
            </a:r>
            <a:r>
              <a:rPr lang="zh-CN" altLang="en-US" sz="3600" b="1" dirty="0">
                <a:solidFill>
                  <a:srgbClr val="FF0000"/>
                </a:solidFill>
              </a:rPr>
              <a:t>：详细介绍岗位职责</a:t>
            </a:r>
            <a:r>
              <a:rPr lang="en-US" altLang="zh-CN" sz="3600" b="1" dirty="0">
                <a:solidFill>
                  <a:srgbClr val="FF0000"/>
                </a:solidFill>
              </a:rPr>
              <a:t>,</a:t>
            </a:r>
            <a:r>
              <a:rPr lang="zh-CN" altLang="en-US" sz="3600" b="1" dirty="0">
                <a:solidFill>
                  <a:srgbClr val="FF0000"/>
                </a:solidFill>
              </a:rPr>
              <a:t>工作时间，地点和要求：</a:t>
            </a:r>
          </a:p>
          <a:p>
            <a:r>
              <a:rPr lang="en-US" altLang="zh-CN" sz="3600" b="1" dirty="0">
                <a:solidFill>
                  <a:srgbClr val="FF0000"/>
                </a:solidFill>
              </a:rPr>
              <a:t>Step3</a:t>
            </a:r>
            <a:r>
              <a:rPr lang="zh-CN" altLang="en-US" sz="3600" b="1" dirty="0">
                <a:solidFill>
                  <a:srgbClr val="FF0000"/>
                </a:solidFill>
              </a:rPr>
              <a:t>：简要介绍福利待遇，并且给出联系方式</a:t>
            </a:r>
          </a:p>
          <a:p>
            <a:endParaRPr lang="zh-CN" altLang="en-US" sz="3600" b="1" dirty="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600" b="1" dirty="0">
                <a:solidFill>
                  <a:schemeClr val="tx1"/>
                </a:solidFill>
              </a:rPr>
              <a:t>二、常用语料</a:t>
            </a:r>
          </a:p>
          <a:p>
            <a:r>
              <a:rPr lang="zh-CN" altLang="en-US" sz="3600" b="1" dirty="0">
                <a:solidFill>
                  <a:srgbClr val="FF0000"/>
                </a:solidFill>
              </a:rPr>
              <a:t>说明</a:t>
            </a:r>
            <a:r>
              <a:rPr lang="zh-CN" altLang="en-US" sz="3600" b="1" dirty="0">
                <a:solidFill>
                  <a:schemeClr val="tx1"/>
                </a:solidFill>
              </a:rPr>
              <a:t>要招聘的</a:t>
            </a:r>
            <a:r>
              <a:rPr lang="zh-CN" altLang="en-US" sz="3600" b="1" dirty="0">
                <a:solidFill>
                  <a:srgbClr val="FF0000"/>
                </a:solidFill>
              </a:rPr>
              <a:t>职位：</a:t>
            </a:r>
          </a:p>
          <a:p>
            <a:r>
              <a:rPr lang="en-US" altLang="zh-CN" sz="3600" b="1" dirty="0">
                <a:solidFill>
                  <a:srgbClr val="FF0000"/>
                </a:solidFill>
              </a:rPr>
              <a:t>1....is seeking a(n)...to fill the position of...</a:t>
            </a:r>
          </a:p>
          <a:p>
            <a:r>
              <a:rPr lang="en-US" altLang="zh-CN" sz="3600" b="1" dirty="0">
                <a:solidFill>
                  <a:srgbClr val="FF0000"/>
                </a:solidFill>
              </a:rPr>
              <a:t>2.In order to ..., we plan to look for a(n)...</a:t>
            </a:r>
          </a:p>
          <a:p>
            <a:r>
              <a:rPr lang="en-US" altLang="zh-CN" sz="3600" b="1" dirty="0">
                <a:solidFill>
                  <a:srgbClr val="FF0000"/>
                </a:solidFill>
              </a:rPr>
              <a:t>3.With...approaching, we would like to invite some students to work as...</a:t>
            </a:r>
          </a:p>
          <a:p>
            <a:r>
              <a:rPr lang="zh-CN" altLang="en-US" sz="3600" b="1" dirty="0">
                <a:solidFill>
                  <a:schemeClr val="tx1"/>
                </a:solidFill>
              </a:rPr>
              <a:t>介绍</a:t>
            </a:r>
            <a:r>
              <a:rPr lang="zh-CN" altLang="en-US" sz="3600" b="1" dirty="0">
                <a:solidFill>
                  <a:srgbClr val="FF0000"/>
                </a:solidFill>
              </a:rPr>
              <a:t>岗位职责和要求：</a:t>
            </a:r>
          </a:p>
          <a:p>
            <a:r>
              <a:rPr lang="en-US" altLang="zh-CN" sz="3600" b="1" dirty="0">
                <a:solidFill>
                  <a:srgbClr val="FF0000"/>
                </a:solidFill>
              </a:rPr>
              <a:t>1.Your main responsibilities include…</a:t>
            </a:r>
          </a:p>
          <a:p>
            <a:r>
              <a:rPr lang="en-US" altLang="zh-CN" sz="3600" b="1" dirty="0">
                <a:solidFill>
                  <a:srgbClr val="FF0000"/>
                </a:solidFill>
              </a:rPr>
              <a:t>2.The applicant is required to...In addition, ..</a:t>
            </a:r>
            <a:endParaRPr lang="zh-CN" altLang="en-US" sz="3600" b="1"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600" b="1" dirty="0">
                <a:solidFill>
                  <a:srgbClr val="FF0000"/>
                </a:solidFill>
              </a:rPr>
              <a:t>福利待遇好处和联系方式：</a:t>
            </a:r>
          </a:p>
          <a:p>
            <a:r>
              <a:rPr lang="en-US" altLang="zh-CN" sz="3600" b="1" dirty="0">
                <a:solidFill>
                  <a:srgbClr val="FF0000"/>
                </a:solidFill>
              </a:rPr>
              <a:t>1.If you are interested, please contact...at...for an interview.</a:t>
            </a:r>
          </a:p>
          <a:p>
            <a:r>
              <a:rPr lang="en-US" altLang="zh-CN" sz="3600" b="1" dirty="0">
                <a:solidFill>
                  <a:srgbClr val="FF0000"/>
                </a:solidFill>
              </a:rPr>
              <a:t>2.Payment for the position will be discussed during the interview...</a:t>
            </a:r>
          </a:p>
          <a:p>
            <a:r>
              <a:rPr lang="en-US" altLang="zh-CN" sz="3600" b="1" dirty="0">
                <a:solidFill>
                  <a:srgbClr val="FF0000"/>
                </a:solidFill>
              </a:rPr>
              <a:t>3.For more information, please visit.../call…</a:t>
            </a:r>
          </a:p>
          <a:p>
            <a:r>
              <a:rPr lang="en-US" altLang="zh-CN" sz="3600" b="1" dirty="0">
                <a:solidFill>
                  <a:srgbClr val="FF0000"/>
                </a:solidFill>
              </a:rPr>
              <a:t>4. By participating in our activities, you will benefit a lot.</a:t>
            </a:r>
          </a:p>
          <a:p>
            <a:endParaRPr lang="zh-CN" altLang="en-US" sz="3600" b="1"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600" b="1" dirty="0">
                <a:solidFill>
                  <a:srgbClr val="FF0000"/>
                </a:solidFill>
              </a:rPr>
              <a:t>三、注意事项</a:t>
            </a:r>
          </a:p>
          <a:p>
            <a:r>
              <a:rPr lang="en-US" altLang="zh-CN" sz="3600" b="1" dirty="0">
                <a:solidFill>
                  <a:srgbClr val="FF0000"/>
                </a:solidFill>
              </a:rPr>
              <a:t>1.</a:t>
            </a:r>
            <a:r>
              <a:rPr lang="zh-CN" altLang="en-US" sz="3600" b="1" dirty="0">
                <a:solidFill>
                  <a:srgbClr val="FF0000"/>
                </a:solidFill>
              </a:rPr>
              <a:t>审题：</a:t>
            </a:r>
            <a:r>
              <a:rPr lang="zh-CN" altLang="en-US" sz="3600" b="1" dirty="0">
                <a:solidFill>
                  <a:schemeClr val="tx1"/>
                </a:solidFill>
              </a:rPr>
              <a:t>考生在进行写作前，</a:t>
            </a:r>
            <a:r>
              <a:rPr lang="zh-CN" altLang="en-US" sz="3600" b="1" dirty="0">
                <a:solidFill>
                  <a:srgbClr val="FF0000"/>
                </a:solidFill>
              </a:rPr>
              <a:t>要先对题目进行分析，确定</a:t>
            </a:r>
            <a:r>
              <a:rPr lang="zh-CN" altLang="en-US" sz="3600" b="1" dirty="0">
                <a:solidFill>
                  <a:schemeClr val="tx1"/>
                </a:solidFill>
              </a:rPr>
              <a:t>文章的</a:t>
            </a:r>
            <a:r>
              <a:rPr lang="zh-CN" altLang="en-US" sz="3600" b="1" dirty="0">
                <a:solidFill>
                  <a:srgbClr val="FF0000"/>
                </a:solidFill>
              </a:rPr>
              <a:t>主题，然后根据要点提示确定相应的词汇，并将其整合成完整的句子。</a:t>
            </a:r>
          </a:p>
          <a:p>
            <a:r>
              <a:rPr lang="en-US" altLang="zh-CN" sz="3600" b="1" dirty="0">
                <a:solidFill>
                  <a:srgbClr val="FF0000"/>
                </a:solidFill>
              </a:rPr>
              <a:t>2.</a:t>
            </a:r>
            <a:r>
              <a:rPr lang="zh-CN" altLang="en-US" sz="3600" b="1" dirty="0">
                <a:solidFill>
                  <a:srgbClr val="FF0000"/>
                </a:solidFill>
              </a:rPr>
              <a:t>人称和时态：人称</a:t>
            </a:r>
            <a:r>
              <a:rPr lang="zh-CN" altLang="en-US" sz="3600" b="1" dirty="0">
                <a:solidFill>
                  <a:schemeClr val="tx1"/>
                </a:solidFill>
              </a:rPr>
              <a:t>主要用</a:t>
            </a:r>
            <a:r>
              <a:rPr lang="zh-CN" altLang="en-US" sz="3600" b="1" dirty="0">
                <a:solidFill>
                  <a:srgbClr val="FF0000"/>
                </a:solidFill>
              </a:rPr>
              <a:t>第二人称和第三人称，</a:t>
            </a:r>
          </a:p>
          <a:p>
            <a:r>
              <a:rPr lang="zh-CN" altLang="en-US" sz="3600" b="1" dirty="0">
                <a:solidFill>
                  <a:srgbClr val="FF0000"/>
                </a:solidFill>
              </a:rPr>
              <a:t>时态</a:t>
            </a:r>
            <a:r>
              <a:rPr lang="zh-CN" altLang="en-US" sz="3600" b="1" dirty="0">
                <a:solidFill>
                  <a:schemeClr val="tx1"/>
                </a:solidFill>
              </a:rPr>
              <a:t>主要为</a:t>
            </a:r>
            <a:r>
              <a:rPr lang="zh-CN" altLang="en-US" sz="3600" b="1" dirty="0">
                <a:solidFill>
                  <a:srgbClr val="FF0000"/>
                </a:solidFill>
              </a:rPr>
              <a:t>一般现在时。</a:t>
            </a:r>
          </a:p>
          <a:p>
            <a:r>
              <a:rPr lang="en-US" altLang="zh-CN" sz="3600" b="1" dirty="0">
                <a:solidFill>
                  <a:srgbClr val="FF0000"/>
                </a:solidFill>
              </a:rPr>
              <a:t>3.</a:t>
            </a:r>
            <a:r>
              <a:rPr lang="zh-CN" altLang="en-US" sz="3600" b="1" dirty="0">
                <a:solidFill>
                  <a:srgbClr val="FF0000"/>
                </a:solidFill>
              </a:rPr>
              <a:t>结构和语言：</a:t>
            </a:r>
            <a:r>
              <a:rPr lang="zh-CN" altLang="en-US" sz="3600" b="1" dirty="0">
                <a:solidFill>
                  <a:schemeClr val="tx1"/>
                </a:solidFill>
              </a:rPr>
              <a:t>考生在写作时</a:t>
            </a:r>
            <a:r>
              <a:rPr lang="zh-CN" altLang="en-US" sz="3600" b="1" dirty="0">
                <a:solidFill>
                  <a:srgbClr val="FF0000"/>
                </a:solidFill>
              </a:rPr>
              <a:t>注意分好段落，</a:t>
            </a:r>
            <a:r>
              <a:rPr lang="zh-CN" altLang="en-US" sz="3600" b="1" dirty="0">
                <a:solidFill>
                  <a:schemeClr val="tx1"/>
                </a:solidFill>
              </a:rPr>
              <a:t>使得文章层次清晰、结构清楚，适当加入些</a:t>
            </a:r>
            <a:r>
              <a:rPr lang="zh-CN" altLang="en-US" sz="3600" b="1" dirty="0">
                <a:solidFill>
                  <a:srgbClr val="FF0000"/>
                </a:solidFill>
              </a:rPr>
              <a:t>衔接词，起到承上启下的作用。</a:t>
            </a:r>
            <a:r>
              <a:rPr lang="zh-CN" altLang="en-US" sz="3600" b="1" dirty="0">
                <a:solidFill>
                  <a:schemeClr val="tx1"/>
                </a:solidFill>
              </a:rPr>
              <a:t>在语言上考生要注意多使用</a:t>
            </a:r>
            <a:r>
              <a:rPr lang="zh-CN" altLang="en-US" sz="3600" b="1" dirty="0">
                <a:solidFill>
                  <a:srgbClr val="FF0000"/>
                </a:solidFill>
              </a:rPr>
              <a:t>高级词汇和表达，避免中式英语。</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algn="ctr"/>
            <a:r>
              <a:rPr lang="zh-CN" altLang="en-US" sz="3600" dirty="0">
                <a:solidFill>
                  <a:schemeClr val="tx1"/>
                </a:solidFill>
                <a:latin typeface="Times New Roman" panose="02020603050405020304" pitchFamily="18" charset="0"/>
                <a:ea typeface="楷体" panose="02010609060101010101" charset="-122"/>
                <a:cs typeface="Times New Roman" panose="02020603050405020304" pitchFamily="18" charset="0"/>
                <a:sym typeface="+mn-ea"/>
              </a:rPr>
              <a:t>志愿者图书管理员招募</a:t>
            </a:r>
          </a:p>
          <a:p>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学校图书馆现招募志愿者图书管理员。理想的候选人应具备强烈的责任感，注重细节，拥有良好的沟通能力。热爱文学和知识是必备条件。具备基本的计算机操作技能和一定的英语水平将是一个加分项。</a:t>
            </a:r>
          </a:p>
          <a:p>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志愿者将获得免费参加图书馆工作坊和讲座的机会，延长借阅期限，以及专为他们预留的舒适阅读角落。此外，他们还能积累社区服务时长，并获得荣誉证书。</a:t>
            </a:r>
          </a:p>
          <a:p>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有意者请于</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11 </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月</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20 </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日前将简历和简短的自我介绍发送至学生会邮箱：</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students union @ school.com</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。我们期待您的加入，在书籍的世界里与我们共同成长。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a:p>
            <a:r>
              <a:rPr lang="zh-CN" altLang="en-US" sz="3600" b="1" dirty="0">
                <a:solidFill>
                  <a:srgbClr val="FF0000"/>
                </a:solidFill>
              </a:rPr>
              <a:t>我醒来时心中既有兴奋也有紧张。</a:t>
            </a:r>
          </a:p>
          <a:p>
            <a:r>
              <a:rPr lang="zh-CN" altLang="en-US" sz="3600" b="1" dirty="0">
                <a:solidFill>
                  <a:srgbClr val="FF0000"/>
                </a:solidFill>
              </a:rPr>
              <a:t>那种萦绕在内心深处的不确定感挥之不去。</a:t>
            </a:r>
          </a:p>
          <a:p>
            <a:r>
              <a:rPr lang="zh-CN" altLang="en-US" sz="3600" b="1" dirty="0">
                <a:solidFill>
                  <a:srgbClr val="FF0000"/>
                </a:solidFill>
              </a:rPr>
              <a:t>当前一位表演者结束，掌声在音乐厅里回荡时，她带着鼓励的微笑向我走来。</a:t>
            </a:r>
            <a:endParaRPr lang="en-US" altLang="zh-CN" sz="3600" b="1" dirty="0">
              <a:solidFill>
                <a:srgbClr val="FF0000"/>
              </a:solidFill>
            </a:endParaRPr>
          </a:p>
          <a:p>
            <a:r>
              <a:rPr lang="zh-CN" altLang="en-US" sz="3600" b="1" dirty="0">
                <a:solidFill>
                  <a:srgbClr val="FF0000"/>
                </a:solidFill>
              </a:rPr>
              <a:t>她的这番话引起了我的共鸣，我深吸一口气，走上了舞台。</a:t>
            </a:r>
          </a:p>
          <a:p>
            <a:r>
              <a:rPr lang="zh-CN" altLang="en-US" sz="3600" b="1" dirty="0">
                <a:solidFill>
                  <a:srgbClr val="FF0000"/>
                </a:solidFill>
              </a:rPr>
              <a:t>一种自信的感觉开始涌上心头。</a:t>
            </a:r>
          </a:p>
          <a:p>
            <a:r>
              <a:rPr lang="zh-CN" altLang="en-US" sz="3600" b="1" dirty="0">
                <a:solidFill>
                  <a:srgbClr val="FF0000"/>
                </a:solidFill>
              </a:rPr>
              <a:t>在那一刻，我意识到天赋并非是与生俱来的，而是可以通过热情和坚持不懈去培养和发现的。</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marL="0" indent="0">
              <a:lnSpc>
                <a:spcPct val="75000"/>
              </a:lnSpc>
              <a:buNone/>
            </a:pP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U1</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1.</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批评</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至关重要</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批评</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评论家</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因</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而受到指责 </a:t>
            </a:r>
            <a:endPar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marL="0" indent="0">
              <a:lnSpc>
                <a:spcPct val="75000"/>
              </a:lnSpc>
              <a:buNone/>
            </a:pP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困在</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诱骗某人做</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落入陷阱 </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将</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从</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释放 </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4.</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延长最后期限</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伸出手</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向某人表示热烈欢迎</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向某人表示感谢</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竭尽全力</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大家庭 </a:t>
            </a:r>
            <a:endPar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marL="0" indent="0">
              <a:lnSpc>
                <a:spcPct val="75000"/>
              </a:lnSpc>
              <a:buNone/>
            </a:pP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5.</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正在建造</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建设性的</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建造者</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;v.</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毁灭</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(__,__)</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n. </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6.</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两打</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很多 </a:t>
            </a:r>
            <a:endParaRPr lang="en-US" altLang="zh-CN" sz="3600" b="1" dirty="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75000"/>
              </a:lnSpc>
              <a:buNone/>
            </a:pP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7.</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主修</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占少</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多数 </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8.</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洗澡</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清洗伤口</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沐浴在</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rPr>
              <a:t>阳光里</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rPr>
              <a:t> 9.</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吓得尖叫</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发出一声</a:t>
            </a:r>
            <a:r>
              <a:rPr lang="zh-CN" altLang="en-US" sz="3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惊恐的尖叫</a:t>
            </a:r>
            <a:r>
              <a:rPr lang="en-US" altLang="zh-CN" sz="3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10.</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咆哮</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厉声说出 </a:t>
            </a:r>
            <a:endParaRPr lang="zh-CN" altLang="en-US" sz="3600" b="1"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marL="0" indent="0">
              <a:lnSpc>
                <a:spcPct val="75000"/>
              </a:lnSpc>
              <a:buNone/>
            </a:pP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11.</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声音哽咽地</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强忍住泪水</a:t>
            </a:r>
            <a:r>
              <a:rPr lang="en-US" altLang="zh-CN" sz="3200" b="1" kern="100" dirty="0">
                <a:latin typeface="Times New Roman" panose="02020603050405020304" pitchFamily="18" charset="0"/>
                <a:ea typeface="宋体" panose="02010600030101010101" pitchFamily="2" charset="-122"/>
                <a:cs typeface="Times New Roman" panose="02020603050405020304" pitchFamily="18" charset="0"/>
              </a:rPr>
              <a:t> 12.</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掩盖某事</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布满</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鲜花</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en-US"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一包香烟</a:t>
            </a:r>
            <a:r>
              <a:rPr lang="en-US"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p>
          <a:p>
            <a:pPr marL="0" indent="0">
              <a:lnSpc>
                <a:spcPct val="75000"/>
              </a:lnSpc>
              <a:buNone/>
            </a:pP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13.</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不假思索的反应</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adv.</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自动地 </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14.n.</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调查者</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在调查中</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进行彻底调查</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15.</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新闻</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记者</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新闻业</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新闻报道</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期刊</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日记</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16.</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发生</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;come out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翻译</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;come over</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译</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;come to</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译</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;come up</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译</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当谈及</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做</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某事</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提出 </a:t>
            </a:r>
          </a:p>
          <a:p>
            <a:pPr marL="0" indent="0">
              <a:lnSpc>
                <a:spcPct val="75000"/>
              </a:lnSpc>
              <a:buNone/>
            </a:pP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17.v.</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优先考虑</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当务之急</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比某事优先考虑</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18.</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自相矛盾</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矛盾的</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与</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矛盾</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 19.</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事实上 </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20.</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例如 </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21.A</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与</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B</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不同</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在…方面不同</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起(不起)作用</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区分</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AB;</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在</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方面与…不同 </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22.</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贸然断定</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lt"/>
              </a:rPr>
              <a:t>得出结论</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lt"/>
              </a:rPr>
              <a:t>;</a:t>
            </a:r>
            <a:r>
              <a:rPr lang="en-US" altLang="zh-CN"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总之</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以</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结束</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 </a:t>
            </a:r>
          </a:p>
          <a:p>
            <a:pPr marL="0" indent="0">
              <a:lnSpc>
                <a:spcPct val="75000"/>
              </a:lnSpc>
              <a:buNone/>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23.</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揭露</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为人所知</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点燃的蜡烛</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笑容满面</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24.</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最小</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大值</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25.</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概括</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总之 </a:t>
            </a:r>
          </a:p>
          <a:p>
            <a:pPr marL="0" indent="0">
              <a:lnSpc>
                <a:spcPct val="75000"/>
              </a:lnSpc>
              <a:buNone/>
            </a:pP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26.</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准确的;</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不准确的</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精确 </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27.</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致力于做某事</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承诺做某事</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犯罪</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尽责忠诚的 </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28.</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种族歧视</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区分</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AB;</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歧视</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偏爱 </a:t>
            </a:r>
          </a:p>
          <a:p>
            <a:pPr marL="0" indent="0">
              <a:lnSpc>
                <a:spcPct val="75000"/>
              </a:lnSpc>
              <a:buNone/>
            </a:pP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29.</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对</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好奇</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出于好奇</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满足</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激起某人的好奇心</a:t>
            </a:r>
          </a:p>
          <a:p>
            <a:pPr marL="0" indent="0">
              <a:lnSpc>
                <a:spcPct val="75000"/>
              </a:lnSpc>
              <a:buNone/>
            </a:pP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时态：</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与过去完成时连用的时间状语</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个</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a:t>
            </a:r>
          </a:p>
          <a:p>
            <a:pPr marL="0" indent="0">
              <a:lnSpc>
                <a:spcPct val="75000"/>
              </a:lnSpc>
              <a:buNone/>
            </a:pP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2.by the time</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句型</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 3.</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有史以来第一次句型</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4.</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本打算</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却</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 </a:t>
            </a:r>
            <a:endPar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75000"/>
              </a:lnSpc>
              <a:buNone/>
            </a:pP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5.</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写一个</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一</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就</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的倒装句</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lvl="0"/>
            <a:r>
              <a:rPr lang="en-US" altLang="zh-CN" sz="3600" b="1" dirty="0"/>
              <a:t>P53-53 1.</a:t>
            </a:r>
            <a:r>
              <a:rPr lang="zh-CN" altLang="zh-CN" sz="3600" b="1" dirty="0"/>
              <a:t>伸手去够</a:t>
            </a:r>
            <a:r>
              <a:rPr lang="en-US" altLang="zh-CN" sz="3600" b="1" dirty="0"/>
              <a:t> 2.</a:t>
            </a:r>
            <a:r>
              <a:rPr lang="zh-CN" altLang="zh-CN" sz="3600" b="1" dirty="0"/>
              <a:t>因为害怕</a:t>
            </a:r>
            <a:r>
              <a:rPr lang="en-US" altLang="zh-CN" sz="3600" b="1" dirty="0"/>
              <a:t> 3.</a:t>
            </a:r>
            <a:r>
              <a:rPr lang="zh-CN" altLang="zh-CN" sz="3600" b="1" dirty="0"/>
              <a:t>吓到居民</a:t>
            </a:r>
            <a:r>
              <a:rPr lang="en-US" altLang="zh-CN" sz="3600" b="1" dirty="0"/>
              <a:t>4.</a:t>
            </a:r>
            <a:r>
              <a:rPr lang="zh-CN" altLang="zh-CN" sz="3600" b="1" dirty="0"/>
              <a:t>惊人的想象力</a:t>
            </a:r>
            <a:endParaRPr lang="en-US" altLang="zh-CN" sz="3600" b="1" dirty="0"/>
          </a:p>
          <a:p>
            <a:pPr lvl="0"/>
            <a:r>
              <a:rPr lang="en-US" altLang="zh-CN" sz="3600" b="1" dirty="0"/>
              <a:t>5.</a:t>
            </a:r>
            <a:r>
              <a:rPr lang="zh-CN" altLang="zh-CN" sz="3600" b="1" dirty="0"/>
              <a:t>导致</a:t>
            </a:r>
            <a:r>
              <a:rPr lang="en-US" altLang="zh-CN" sz="3600" b="1" dirty="0"/>
              <a:t>,</a:t>
            </a:r>
            <a:r>
              <a:rPr lang="zh-CN" altLang="zh-CN" sz="3600" b="1" dirty="0"/>
              <a:t>是</a:t>
            </a:r>
            <a:r>
              <a:rPr lang="en-US" altLang="zh-CN" sz="3600" b="1" dirty="0"/>
              <a:t>...</a:t>
            </a:r>
            <a:r>
              <a:rPr lang="zh-CN" altLang="zh-CN" sz="3600" b="1" dirty="0"/>
              <a:t>的原因之一</a:t>
            </a:r>
            <a:r>
              <a:rPr lang="en-US" altLang="zh-CN" sz="3600" b="1" dirty="0"/>
              <a:t> 6.n.</a:t>
            </a:r>
            <a:r>
              <a:rPr lang="zh-CN" altLang="zh-CN" sz="3600" b="1" dirty="0"/>
              <a:t>哲学家</a:t>
            </a:r>
            <a:r>
              <a:rPr lang="zh-CN" altLang="en-US" sz="3600" b="1" dirty="0"/>
              <a:t>→</a:t>
            </a:r>
            <a:r>
              <a:rPr lang="zh-CN" altLang="zh-CN" sz="3600" b="1" dirty="0"/>
              <a:t>哲学</a:t>
            </a:r>
            <a:r>
              <a:rPr lang="en-US" altLang="zh-CN" sz="3600" b="1" dirty="0"/>
              <a:t>7.</a:t>
            </a:r>
            <a:r>
              <a:rPr lang="zh-CN" altLang="zh-CN" sz="3600" b="1" dirty="0"/>
              <a:t>使某人自己熟悉</a:t>
            </a:r>
            <a:r>
              <a:rPr lang="en-US" altLang="zh-CN" sz="3600" b="1" dirty="0"/>
              <a:t> </a:t>
            </a:r>
          </a:p>
          <a:p>
            <a:pPr lvl="0"/>
            <a:r>
              <a:rPr lang="en-US" altLang="zh-CN" sz="3600" b="1" dirty="0"/>
              <a:t>8.</a:t>
            </a:r>
            <a:r>
              <a:rPr lang="zh-CN" altLang="zh-CN" sz="3600" b="1" dirty="0"/>
              <a:t>更重要的是</a:t>
            </a:r>
            <a:r>
              <a:rPr lang="en-US" altLang="zh-CN" sz="3600" b="1" dirty="0"/>
              <a:t> 9.</a:t>
            </a:r>
            <a:r>
              <a:rPr lang="zh-CN" altLang="zh-CN" sz="3600" b="1" dirty="0"/>
              <a:t>受到</a:t>
            </a:r>
            <a:r>
              <a:rPr lang="en-US" altLang="zh-CN" sz="3600" b="1" dirty="0"/>
              <a:t>...</a:t>
            </a:r>
            <a:r>
              <a:rPr lang="zh-CN" altLang="zh-CN" sz="3600" b="1" dirty="0"/>
              <a:t>的驱使</a:t>
            </a:r>
            <a:r>
              <a:rPr lang="en-US" altLang="zh-CN" sz="3600" b="1" dirty="0"/>
              <a:t> 10.</a:t>
            </a:r>
            <a:r>
              <a:rPr lang="zh-CN" altLang="zh-CN" sz="3600" b="1" dirty="0"/>
              <a:t>鼓舞某人做某事</a:t>
            </a:r>
            <a:r>
              <a:rPr lang="en-US" altLang="zh-CN" sz="3600" b="1" dirty="0"/>
              <a:t> </a:t>
            </a:r>
          </a:p>
          <a:p>
            <a:pPr lvl="0"/>
            <a:r>
              <a:rPr lang="en-US" altLang="zh-CN" sz="3600" b="1" dirty="0"/>
              <a:t>11.</a:t>
            </a:r>
            <a:r>
              <a:rPr lang="zh-CN" altLang="zh-CN" sz="3600" b="1" dirty="0"/>
              <a:t>培养对大自然的热爱之情</a:t>
            </a:r>
            <a:r>
              <a:rPr lang="en-US" altLang="zh-CN" sz="3600" b="1" dirty="0"/>
              <a:t> 12.</a:t>
            </a:r>
            <a:r>
              <a:rPr lang="zh-CN" altLang="zh-CN" sz="3600" b="1" dirty="0"/>
              <a:t>深深扎根于</a:t>
            </a:r>
            <a:r>
              <a:rPr lang="en-US" altLang="zh-CN" sz="3600" b="1" dirty="0"/>
              <a:t> 13.</a:t>
            </a:r>
            <a:r>
              <a:rPr lang="zh-CN" altLang="zh-CN" sz="3600" b="1" dirty="0"/>
              <a:t>社会历史背景</a:t>
            </a:r>
            <a:r>
              <a:rPr lang="en-US" altLang="zh-CN" sz="3600" b="1" dirty="0"/>
              <a:t> 14.</a:t>
            </a:r>
            <a:r>
              <a:rPr lang="zh-CN" altLang="zh-CN" sz="3600" b="1" dirty="0"/>
              <a:t>成长在唐朝最辉煌的时期</a:t>
            </a:r>
            <a:r>
              <a:rPr lang="en-US" altLang="zh-CN" sz="3600" b="1" dirty="0"/>
              <a:t> 15.</a:t>
            </a:r>
            <a:r>
              <a:rPr lang="zh-CN" altLang="zh-CN" sz="3600" b="1" dirty="0"/>
              <a:t>一个经济繁荣、社会稳定的时期</a:t>
            </a:r>
            <a:r>
              <a:rPr lang="en-US" altLang="zh-CN" sz="3600" b="1" dirty="0"/>
              <a:t> 16.</a:t>
            </a:r>
            <a:r>
              <a:rPr lang="zh-CN" altLang="en-US" sz="3600" b="1" dirty="0"/>
              <a:t>包容</a:t>
            </a:r>
            <a:r>
              <a:rPr lang="zh-CN" altLang="zh-CN" sz="3600" b="1" dirty="0"/>
              <a:t>的氛围</a:t>
            </a:r>
            <a:r>
              <a:rPr lang="en-US" altLang="zh-CN" sz="3600" b="1" dirty="0"/>
              <a:t> </a:t>
            </a:r>
            <a:r>
              <a:rPr lang="en-US" altLang="zh-CN" sz="3600" b="1" dirty="0">
                <a:latin typeface="Times New Roman" panose="02020603050405020304" pitchFamily="18" charset="0"/>
                <a:ea typeface="宋体" panose="02010600030101010101" pitchFamily="2" charset="-122"/>
              </a:rPr>
              <a:t>17.</a:t>
            </a:r>
            <a:r>
              <a:rPr lang="zh-CN" altLang="zh-CN" sz="3600" b="1" dirty="0"/>
              <a:t>允许某人自由做某事</a:t>
            </a:r>
            <a:r>
              <a:rPr lang="en-US" altLang="zh-CN" sz="3600" b="1" dirty="0"/>
              <a:t> 18.</a:t>
            </a:r>
            <a:r>
              <a:rPr lang="zh-CN" altLang="zh-CN" sz="3600" b="1" dirty="0"/>
              <a:t>培养自由不羁的个性</a:t>
            </a:r>
            <a:r>
              <a:rPr lang="en-US" altLang="zh-CN" sz="3600" b="1" dirty="0"/>
              <a:t> 19.in turn</a:t>
            </a:r>
            <a:r>
              <a:rPr lang="zh-CN" altLang="en-US" sz="3600" b="1" dirty="0"/>
              <a:t>翻译 </a:t>
            </a:r>
            <a:r>
              <a:rPr lang="en-US" altLang="zh-CN" sz="3600" b="1" dirty="0"/>
              <a:t>20.</a:t>
            </a:r>
            <a:r>
              <a:rPr lang="zh-CN" altLang="zh-CN" sz="3600" b="1" dirty="0"/>
              <a:t>考虑到</a:t>
            </a:r>
            <a:r>
              <a:rPr lang="en-US" altLang="zh-CN" sz="3600" b="1" dirty="0"/>
              <a:t> 21.</a:t>
            </a:r>
            <a:r>
              <a:rPr lang="zh-CN" altLang="zh-CN" sz="3600" b="1" dirty="0"/>
              <a:t>大部分</a:t>
            </a:r>
            <a:r>
              <a:rPr lang="en-US" altLang="zh-CN" sz="3600" b="1" dirty="0"/>
              <a:t> </a:t>
            </a:r>
          </a:p>
          <a:p>
            <a:pPr lvl="0"/>
            <a:r>
              <a:rPr lang="en-US" altLang="zh-CN" sz="3600" b="1" dirty="0"/>
              <a:t>22.</a:t>
            </a:r>
            <a:r>
              <a:rPr lang="zh-CN" altLang="zh-CN" sz="3600" b="1" dirty="0"/>
              <a:t>以</a:t>
            </a:r>
            <a:r>
              <a:rPr lang="en-US" altLang="zh-CN" sz="3600" b="1" dirty="0"/>
              <a:t>...</a:t>
            </a:r>
            <a:r>
              <a:rPr lang="zh-CN" altLang="zh-CN" sz="3600" b="1" dirty="0"/>
              <a:t>为特点</a:t>
            </a:r>
            <a:r>
              <a:rPr lang="en-US" altLang="zh-CN" sz="3600" b="1" dirty="0"/>
              <a:t> 23.</a:t>
            </a:r>
            <a:r>
              <a:rPr lang="zh-CN" altLang="zh-CN" sz="3600" b="1" dirty="0"/>
              <a:t>无知的</a:t>
            </a:r>
            <a:r>
              <a:rPr lang="en-US" altLang="zh-CN" sz="3600" b="1" dirty="0"/>
              <a:t>;</a:t>
            </a:r>
            <a:r>
              <a:rPr lang="zh-CN" altLang="zh-CN" sz="3600" b="1" dirty="0"/>
              <a:t>让某人知晓</a:t>
            </a:r>
            <a:r>
              <a:rPr lang="en-US" altLang="zh-CN" sz="3600" b="1" dirty="0"/>
              <a:t>24.</a:t>
            </a:r>
            <a:r>
              <a:rPr lang="zh-CN" altLang="zh-CN" sz="3600" b="1" dirty="0"/>
              <a:t>未能做某事</a:t>
            </a:r>
            <a:endParaRPr lang="en-US" altLang="zh-CN" sz="3600" b="1" dirty="0"/>
          </a:p>
          <a:p>
            <a:pPr lvl="0"/>
            <a:r>
              <a:rPr lang="en-US" altLang="zh-CN" sz="3600" b="1" dirty="0"/>
              <a:t>25.</a:t>
            </a:r>
            <a:r>
              <a:rPr lang="zh-CN" altLang="zh-CN" sz="3600" b="1" dirty="0"/>
              <a:t>对</a:t>
            </a:r>
            <a:r>
              <a:rPr lang="en-US" altLang="zh-CN" sz="3600" b="1" dirty="0"/>
              <a:t>...</a:t>
            </a:r>
            <a:r>
              <a:rPr lang="zh-CN" altLang="zh-CN" sz="3600" b="1" dirty="0"/>
              <a:t>印象深刻</a:t>
            </a:r>
            <a:r>
              <a:rPr lang="en-US" altLang="zh-CN" sz="3600" b="1" dirty="0"/>
              <a:t> 26.</a:t>
            </a:r>
            <a:r>
              <a:rPr lang="zh-CN" altLang="zh-CN" sz="3600" b="1" dirty="0"/>
              <a:t>同样令人印象深刻的是</a:t>
            </a:r>
            <a:r>
              <a:rPr lang="en-US" altLang="zh-CN" sz="3600" b="1" dirty="0"/>
              <a:t>27.</a:t>
            </a:r>
            <a:r>
              <a:rPr lang="zh-CN" altLang="zh-CN" sz="3600" b="1" dirty="0"/>
              <a:t>被广泛认为</a:t>
            </a:r>
            <a:endParaRPr lang="en-US" altLang="zh-CN" sz="3600" b="1" dirty="0"/>
          </a:p>
          <a:p>
            <a:pPr lvl="0"/>
            <a:r>
              <a:rPr lang="en-US" altLang="zh-CN" sz="3600" b="1" dirty="0"/>
              <a:t>28.</a:t>
            </a:r>
            <a:r>
              <a:rPr lang="zh-CN" altLang="en-US" sz="3600" b="1" dirty="0">
                <a:latin typeface="+mj-ea"/>
                <a:cs typeface="Times New Roman" panose="02020603050405020304" pitchFamily="18" charset="0"/>
                <a:sym typeface="+mn-ea"/>
              </a:rPr>
              <a:t>把</a:t>
            </a:r>
            <a:r>
              <a:rPr lang="en-US" altLang="zh-CN" sz="3600" b="1" dirty="0">
                <a:latin typeface="+mj-ea"/>
                <a:cs typeface="Times New Roman" panose="02020603050405020304" pitchFamily="18" charset="0"/>
                <a:sym typeface="+mn-ea"/>
              </a:rPr>
              <a:t>…</a:t>
            </a:r>
            <a:r>
              <a:rPr lang="zh-CN" altLang="en-US" sz="3600" b="1">
                <a:latin typeface="+mj-ea"/>
                <a:cs typeface="Times New Roman" panose="02020603050405020304" pitchFamily="18" charset="0"/>
                <a:sym typeface="+mn-ea"/>
              </a:rPr>
              <a:t>归功于某人 </a:t>
            </a:r>
            <a:r>
              <a:rPr lang="en-US" altLang="zh-CN" sz="3600" b="1"/>
              <a:t>29</a:t>
            </a:r>
            <a:r>
              <a:rPr lang="en-US" altLang="zh-CN" sz="3600" b="1" dirty="0"/>
              <a:t>.</a:t>
            </a:r>
            <a:r>
              <a:rPr lang="zh-CN" altLang="zh-CN" sz="3600" b="1" dirty="0"/>
              <a:t>启发灵感鼓舞人心的</a:t>
            </a:r>
            <a:r>
              <a:rPr lang="en-US" altLang="zh-CN" sz="3600" b="1" dirty="0"/>
              <a:t> </a:t>
            </a:r>
            <a:r>
              <a:rPr lang="zh-CN" altLang="zh-CN" sz="3600" b="1" dirty="0"/>
              <a:t>3</a:t>
            </a:r>
            <a:r>
              <a:rPr lang="en-US" altLang="zh-CN" sz="3600" b="1" dirty="0"/>
              <a:t>0.</a:t>
            </a:r>
            <a:r>
              <a:rPr lang="zh-CN" altLang="zh-CN" sz="3600" b="1" dirty="0"/>
              <a:t>着迷于</a:t>
            </a:r>
            <a:endParaRPr lang="en-US" altLang="zh-CN" sz="3600" b="1" dirty="0"/>
          </a:p>
          <a:p>
            <a:pPr lvl="0"/>
            <a:r>
              <a:rPr lang="en-US" altLang="zh-CN" sz="3600" b="1" dirty="0"/>
              <a:t>31.</a:t>
            </a:r>
            <a:r>
              <a:rPr lang="zh-CN" altLang="zh-CN" sz="3600" b="1" dirty="0"/>
              <a:t>标题为…</a:t>
            </a:r>
            <a:endParaRPr lang="en-US" altLang="zh-CN" sz="3600" b="1" dirty="0"/>
          </a:p>
          <a:p>
            <a:pPr lvl="0"/>
            <a:endParaRPr lang="zh-CN" altLang="en-US" sz="3600" b="1" dirty="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 y="1"/>
            <a:ext cx="12192000" cy="6740307"/>
          </a:xfrm>
          <a:prstGeom prst="rect">
            <a:avLst/>
          </a:prstGeom>
          <a:noFill/>
        </p:spPr>
        <p:txBody>
          <a:bodyPr wrap="square">
            <a:spAutoFit/>
          </a:bodyPr>
          <a:lstStyle/>
          <a:p>
            <a:r>
              <a:rPr lang="en-US" altLang="zh-CN" sz="5400" b="1" dirty="0"/>
              <a:t>P54  at dawn</a:t>
            </a:r>
            <a:r>
              <a:rPr lang="zh-CN" altLang="zh-CN" sz="5400" b="1" dirty="0"/>
              <a:t>在黎明时刻</a:t>
            </a:r>
            <a:endParaRPr lang="en-US" altLang="zh-CN" sz="5400" b="1" dirty="0"/>
          </a:p>
          <a:p>
            <a:r>
              <a:rPr lang="en-US" altLang="zh-CN" sz="5400" b="1" dirty="0"/>
              <a:t>P55</a:t>
            </a:r>
            <a:endParaRPr lang="zh-CN" altLang="zh-CN" sz="5400" b="1" dirty="0"/>
          </a:p>
          <a:p>
            <a:pPr lvl="0"/>
            <a:r>
              <a:rPr lang="en-US" altLang="zh-CN" sz="5400" b="1" dirty="0"/>
              <a:t>blame </a:t>
            </a:r>
            <a:r>
              <a:rPr lang="en-US" altLang="zh-CN" sz="5400" b="1" dirty="0" err="1"/>
              <a:t>sth</a:t>
            </a:r>
            <a:r>
              <a:rPr lang="en-US" altLang="zh-CN" sz="5400" b="1" dirty="0"/>
              <a:t>. on sb.</a:t>
            </a:r>
            <a:r>
              <a:rPr lang="zh-CN" altLang="zh-CN" sz="5400" b="1" dirty="0"/>
              <a:t>将某事归咎于某人</a:t>
            </a:r>
          </a:p>
          <a:p>
            <a:r>
              <a:rPr lang="en-US" altLang="zh-CN" sz="5400" b="1" dirty="0"/>
              <a:t>blame sb. for </a:t>
            </a:r>
            <a:r>
              <a:rPr lang="en-US" altLang="zh-CN" sz="5400" b="1" dirty="0" err="1"/>
              <a:t>sth</a:t>
            </a:r>
            <a:r>
              <a:rPr lang="en-US" altLang="zh-CN" sz="5400" b="1" dirty="0"/>
              <a:t>. </a:t>
            </a:r>
            <a:r>
              <a:rPr lang="zh-CN" altLang="zh-CN" sz="5400" b="1" dirty="0"/>
              <a:t>因某事责怪某人</a:t>
            </a:r>
          </a:p>
          <a:p>
            <a:r>
              <a:rPr lang="en-US" altLang="zh-CN" sz="5400" b="1" dirty="0"/>
              <a:t>be to blame for </a:t>
            </a:r>
            <a:r>
              <a:rPr lang="en-US" altLang="zh-CN" sz="5400" b="1" dirty="0" err="1"/>
              <a:t>sth</a:t>
            </a:r>
            <a:r>
              <a:rPr lang="en-US" altLang="zh-CN" sz="5400" b="1" dirty="0"/>
              <a:t>. </a:t>
            </a:r>
            <a:r>
              <a:rPr lang="zh-CN" altLang="zh-CN" sz="5400" b="1" dirty="0"/>
              <a:t>对某事负有责任</a:t>
            </a:r>
          </a:p>
          <a:p>
            <a:pPr lvl="0"/>
            <a:r>
              <a:rPr lang="en-US" altLang="zh-CN" sz="5400" b="1" dirty="0"/>
              <a:t>make allowance for</a:t>
            </a:r>
            <a:r>
              <a:rPr lang="zh-CN" altLang="zh-CN" sz="5400" b="1" dirty="0"/>
              <a:t>体谅，考虑到</a:t>
            </a:r>
          </a:p>
          <a:p>
            <a:pPr lvl="0"/>
            <a:r>
              <a:rPr lang="en-US" altLang="zh-CN" sz="5400" b="1" dirty="0"/>
              <a:t>give way to</a:t>
            </a:r>
            <a:r>
              <a:rPr lang="zh-CN" altLang="zh-CN" sz="5400" b="1" dirty="0"/>
              <a:t>让位于</a:t>
            </a:r>
            <a:r>
              <a:rPr lang="en-US" altLang="zh-CN" sz="5400" b="1" dirty="0"/>
              <a:t>,</a:t>
            </a:r>
            <a:r>
              <a:rPr lang="zh-CN" altLang="zh-CN" sz="5400" b="1" dirty="0"/>
              <a:t>屈服</a:t>
            </a:r>
          </a:p>
          <a:p>
            <a:pPr lvl="0"/>
            <a:r>
              <a:rPr lang="en-US" altLang="zh-CN" sz="5400" b="1" dirty="0"/>
              <a:t>meet with triumph</a:t>
            </a:r>
            <a:r>
              <a:rPr lang="zh-CN" altLang="zh-CN" sz="5400" b="1" dirty="0"/>
              <a:t>迎接胜利</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 y="1"/>
            <a:ext cx="12192000" cy="6740307"/>
          </a:xfrm>
          <a:prstGeom prst="rect">
            <a:avLst/>
          </a:prstGeom>
          <a:noFill/>
        </p:spPr>
        <p:txBody>
          <a:bodyPr wrap="square">
            <a:spAutoFit/>
          </a:bodyPr>
          <a:lstStyle/>
          <a:p>
            <a:r>
              <a:rPr lang="en-US" altLang="zh-CN" sz="5400" b="1" dirty="0"/>
              <a:t>P47</a:t>
            </a:r>
            <a:endParaRPr lang="zh-CN" altLang="zh-CN" sz="5400" b="1" dirty="0"/>
          </a:p>
          <a:p>
            <a:pPr lvl="0"/>
            <a:r>
              <a:rPr lang="en-US" altLang="zh-CN" sz="5400" b="1" dirty="0">
                <a:solidFill>
                  <a:srgbClr val="FF0000"/>
                </a:solidFill>
              </a:rPr>
              <a:t>be covered with mist(2)</a:t>
            </a:r>
            <a:r>
              <a:rPr lang="zh-CN" altLang="zh-CN" sz="5400" b="1" dirty="0">
                <a:solidFill>
                  <a:srgbClr val="FF0000"/>
                </a:solidFill>
              </a:rPr>
              <a:t>被雾气笼罩</a:t>
            </a:r>
          </a:p>
          <a:p>
            <a:pPr lvl="0"/>
            <a:r>
              <a:rPr lang="en-US" altLang="zh-CN" sz="5400" b="1" dirty="0">
                <a:solidFill>
                  <a:srgbClr val="FF0000"/>
                </a:solidFill>
              </a:rPr>
              <a:t>be out of place(7)</a:t>
            </a:r>
            <a:r>
              <a:rPr lang="zh-CN" altLang="zh-CN" sz="5400" b="1" dirty="0">
                <a:solidFill>
                  <a:srgbClr val="FF0000"/>
                </a:solidFill>
              </a:rPr>
              <a:t>不恰当的，不和谐的</a:t>
            </a:r>
          </a:p>
          <a:p>
            <a:pPr lvl="0"/>
            <a:r>
              <a:rPr lang="en-US" altLang="zh-CN" sz="5400" b="1" dirty="0">
                <a:solidFill>
                  <a:srgbClr val="FF0000"/>
                </a:solidFill>
              </a:rPr>
              <a:t>stick out(8)</a:t>
            </a:r>
            <a:r>
              <a:rPr lang="zh-CN" altLang="zh-CN" sz="5400" b="1" dirty="0">
                <a:solidFill>
                  <a:srgbClr val="FF0000"/>
                </a:solidFill>
              </a:rPr>
              <a:t>突出显眼，坚持到底</a:t>
            </a:r>
          </a:p>
          <a:p>
            <a:pPr lvl="0"/>
            <a:r>
              <a:rPr lang="en-US" altLang="zh-CN" sz="5400" b="1" dirty="0">
                <a:solidFill>
                  <a:srgbClr val="FF0000"/>
                </a:solidFill>
              </a:rPr>
              <a:t>riddle(10)n.</a:t>
            </a:r>
            <a:r>
              <a:rPr lang="zh-CN" altLang="zh-CN" sz="5400" b="1" dirty="0">
                <a:solidFill>
                  <a:srgbClr val="FF0000"/>
                </a:solidFill>
              </a:rPr>
              <a:t>谜语</a:t>
            </a:r>
          </a:p>
          <a:p>
            <a:pPr lvl="0"/>
            <a:r>
              <a:rPr lang="en-US" altLang="zh-CN" sz="5400" b="1" dirty="0">
                <a:solidFill>
                  <a:srgbClr val="FF0000"/>
                </a:solidFill>
              </a:rPr>
              <a:t>say to oneself(11)</a:t>
            </a:r>
            <a:r>
              <a:rPr lang="zh-CN" altLang="zh-CN" sz="5400" b="1" dirty="0">
                <a:solidFill>
                  <a:srgbClr val="FF0000"/>
                </a:solidFill>
              </a:rPr>
              <a:t>自言自语</a:t>
            </a:r>
          </a:p>
          <a:p>
            <a:pPr lvl="0"/>
            <a:r>
              <a:rPr lang="en-US" altLang="zh-CN" sz="5400" b="1" dirty="0">
                <a:solidFill>
                  <a:srgbClr val="FF0000"/>
                </a:solidFill>
              </a:rPr>
              <a:t>look…up in the dictionary</a:t>
            </a:r>
            <a:r>
              <a:rPr lang="zh-CN" altLang="zh-CN" sz="5400" b="1" dirty="0">
                <a:solidFill>
                  <a:srgbClr val="FF0000"/>
                </a:solidFill>
              </a:rPr>
              <a:t>查字典</a:t>
            </a:r>
            <a:endParaRPr lang="en-US" altLang="zh-CN" sz="5400" b="1" dirty="0">
              <a:solidFill>
                <a:srgbClr val="FF0000"/>
              </a:solidFill>
            </a:endParaRPr>
          </a:p>
          <a:p>
            <a:pPr lvl="0"/>
            <a:r>
              <a:rPr lang="en-US" altLang="zh-CN" sz="5400" b="1" dirty="0">
                <a:solidFill>
                  <a:srgbClr val="FF0000"/>
                </a:solidFill>
              </a:rPr>
              <a:t>that is to say,</a:t>
            </a:r>
            <a:r>
              <a:rPr lang="zh-CN" altLang="en-US" sz="5400" b="1" dirty="0">
                <a:solidFill>
                  <a:srgbClr val="FF0000"/>
                </a:solidFill>
              </a:rPr>
              <a:t>换句话说</a:t>
            </a:r>
            <a:endParaRPr lang="en-US" altLang="zh-CN" sz="5400" b="1"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 y="1"/>
            <a:ext cx="12192000" cy="6740307"/>
          </a:xfrm>
          <a:prstGeom prst="rect">
            <a:avLst/>
          </a:prstGeom>
          <a:noFill/>
        </p:spPr>
        <p:txBody>
          <a:bodyPr wrap="square">
            <a:spAutoFit/>
          </a:bodyPr>
          <a:lstStyle/>
          <a:p>
            <a:pPr lvl="0"/>
            <a:r>
              <a:rPr lang="en-US" altLang="zh-CN" sz="3600" b="1" dirty="0"/>
              <a:t>P48  </a:t>
            </a:r>
            <a:r>
              <a:rPr lang="en-US" altLang="zh-CN" sz="3600" b="1" dirty="0">
                <a:solidFill>
                  <a:srgbClr val="FF0000"/>
                </a:solidFill>
              </a:rPr>
              <a:t>a cultural movement(1)</a:t>
            </a:r>
            <a:r>
              <a:rPr lang="zh-CN" altLang="zh-CN" sz="3600" b="1" dirty="0">
                <a:solidFill>
                  <a:srgbClr val="FF0000"/>
                </a:solidFill>
              </a:rPr>
              <a:t>一场文化运动</a:t>
            </a:r>
          </a:p>
          <a:p>
            <a:pPr lvl="0"/>
            <a:r>
              <a:rPr lang="en-US" altLang="zh-CN" sz="3600" b="1" dirty="0">
                <a:solidFill>
                  <a:srgbClr val="FF0000"/>
                </a:solidFill>
              </a:rPr>
              <a:t>break with (3)</a:t>
            </a:r>
            <a:r>
              <a:rPr lang="zh-CN" altLang="zh-CN" sz="3600" b="1" dirty="0">
                <a:solidFill>
                  <a:srgbClr val="FF0000"/>
                </a:solidFill>
              </a:rPr>
              <a:t>与</a:t>
            </a:r>
            <a:r>
              <a:rPr lang="en-US" altLang="zh-CN" sz="3600" b="1" dirty="0">
                <a:solidFill>
                  <a:srgbClr val="FF0000"/>
                </a:solidFill>
              </a:rPr>
              <a:t>...</a:t>
            </a:r>
            <a:r>
              <a:rPr lang="zh-CN" altLang="zh-CN" sz="3600" b="1" dirty="0">
                <a:solidFill>
                  <a:srgbClr val="FF0000"/>
                </a:solidFill>
              </a:rPr>
              <a:t>终止关联</a:t>
            </a:r>
          </a:p>
          <a:p>
            <a:pPr lvl="0"/>
            <a:r>
              <a:rPr lang="en-US" altLang="zh-CN" sz="3600" b="1" dirty="0">
                <a:solidFill>
                  <a:srgbClr val="FF0000"/>
                </a:solidFill>
              </a:rPr>
              <a:t>refuse to follow rigid rules(4)</a:t>
            </a:r>
            <a:r>
              <a:rPr lang="zh-CN" altLang="zh-CN" sz="3600" b="1" dirty="0">
                <a:solidFill>
                  <a:srgbClr val="FF0000"/>
                </a:solidFill>
              </a:rPr>
              <a:t>拒绝遵守死板的规则</a:t>
            </a:r>
          </a:p>
          <a:p>
            <a:pPr lvl="0"/>
            <a:r>
              <a:rPr lang="en-US" altLang="zh-CN" sz="3600" b="1" dirty="0">
                <a:solidFill>
                  <a:srgbClr val="FF0000"/>
                </a:solidFill>
              </a:rPr>
              <a:t>put emphasis on(5)</a:t>
            </a:r>
            <a:r>
              <a:rPr lang="zh-CN" altLang="zh-CN" sz="3600" b="1" dirty="0">
                <a:solidFill>
                  <a:srgbClr val="FF0000"/>
                </a:solidFill>
              </a:rPr>
              <a:t>强调，重视</a:t>
            </a:r>
          </a:p>
          <a:p>
            <a:pPr lvl="0"/>
            <a:r>
              <a:rPr lang="en-US" altLang="zh-CN" sz="3600" b="1" dirty="0">
                <a:solidFill>
                  <a:srgbClr val="FF0000"/>
                </a:solidFill>
              </a:rPr>
              <a:t>return(6)n.</a:t>
            </a:r>
            <a:r>
              <a:rPr lang="zh-CN" altLang="zh-CN" sz="3600" b="1" dirty="0">
                <a:solidFill>
                  <a:srgbClr val="FF0000"/>
                </a:solidFill>
              </a:rPr>
              <a:t>返回，归来，退回，重现</a:t>
            </a:r>
          </a:p>
          <a:p>
            <a:pPr lvl="0"/>
            <a:r>
              <a:rPr lang="en-US" altLang="zh-CN" sz="3600" b="1" dirty="0">
                <a:solidFill>
                  <a:srgbClr val="FF0000"/>
                </a:solidFill>
              </a:rPr>
              <a:t>lie in</a:t>
            </a:r>
            <a:r>
              <a:rPr lang="zh-CN" altLang="zh-CN" sz="3600" b="1" dirty="0">
                <a:solidFill>
                  <a:srgbClr val="FF0000"/>
                </a:solidFill>
              </a:rPr>
              <a:t>在于</a:t>
            </a:r>
            <a:r>
              <a:rPr lang="en-US" altLang="zh-CN" sz="3600" b="1" dirty="0">
                <a:solidFill>
                  <a:srgbClr val="FF0000"/>
                </a:solidFill>
              </a:rPr>
              <a:t>(lay, lain)</a:t>
            </a:r>
            <a:endParaRPr lang="zh-CN" altLang="zh-CN" sz="3600" b="1" dirty="0">
              <a:solidFill>
                <a:srgbClr val="FF0000"/>
              </a:solidFill>
            </a:endParaRPr>
          </a:p>
          <a:p>
            <a:pPr lvl="0"/>
            <a:r>
              <a:rPr lang="en-US" altLang="zh-CN" sz="3600" b="1" dirty="0">
                <a:solidFill>
                  <a:srgbClr val="FF0000"/>
                </a:solidFill>
              </a:rPr>
              <a:t>undergo a process called industrialization(9)</a:t>
            </a:r>
            <a:r>
              <a:rPr lang="zh-CN" altLang="zh-CN" sz="3600" b="1" dirty="0">
                <a:solidFill>
                  <a:srgbClr val="FF0000"/>
                </a:solidFill>
              </a:rPr>
              <a:t>经历一个被称为工业化的过程</a:t>
            </a:r>
          </a:p>
          <a:p>
            <a:pPr lvl="0"/>
            <a:r>
              <a:rPr lang="en-US" altLang="zh-CN" sz="3600" b="1" dirty="0">
                <a:solidFill>
                  <a:srgbClr val="FF0000"/>
                </a:solidFill>
              </a:rPr>
              <a:t>be made to do </a:t>
            </a:r>
            <a:r>
              <a:rPr lang="en-US" altLang="zh-CN" sz="3600" b="1" dirty="0" err="1">
                <a:solidFill>
                  <a:srgbClr val="FF0000"/>
                </a:solidFill>
              </a:rPr>
              <a:t>sth</a:t>
            </a:r>
            <a:r>
              <a:rPr lang="en-US" altLang="zh-CN" sz="3600" b="1" dirty="0">
                <a:solidFill>
                  <a:srgbClr val="FF0000"/>
                </a:solidFill>
              </a:rPr>
              <a:t>(10)</a:t>
            </a:r>
            <a:r>
              <a:rPr lang="zh-CN" altLang="zh-CN" sz="3600" b="1" dirty="0">
                <a:solidFill>
                  <a:srgbClr val="FF0000"/>
                </a:solidFill>
              </a:rPr>
              <a:t>被迫做某事</a:t>
            </a:r>
          </a:p>
          <a:p>
            <a:pPr lvl="0"/>
            <a:r>
              <a:rPr lang="en-US" altLang="zh-CN" sz="3600" b="1" dirty="0">
                <a:solidFill>
                  <a:srgbClr val="FF0000"/>
                </a:solidFill>
              </a:rPr>
              <a:t>be pleased with(11)</a:t>
            </a:r>
            <a:r>
              <a:rPr lang="zh-CN" altLang="zh-CN" sz="3600" b="1" dirty="0">
                <a:solidFill>
                  <a:srgbClr val="FF0000"/>
                </a:solidFill>
              </a:rPr>
              <a:t>对</a:t>
            </a:r>
            <a:r>
              <a:rPr lang="en-US" altLang="zh-CN" sz="3600" b="1" dirty="0">
                <a:solidFill>
                  <a:srgbClr val="FF0000"/>
                </a:solidFill>
              </a:rPr>
              <a:t>...</a:t>
            </a:r>
            <a:r>
              <a:rPr lang="zh-CN" altLang="zh-CN" sz="3600" b="1" dirty="0">
                <a:solidFill>
                  <a:srgbClr val="FF0000"/>
                </a:solidFill>
              </a:rPr>
              <a:t>感到满意</a:t>
            </a:r>
          </a:p>
          <a:p>
            <a:pPr lvl="0"/>
            <a:r>
              <a:rPr lang="en-US" altLang="zh-CN" sz="3600" b="1" dirty="0">
                <a:solidFill>
                  <a:srgbClr val="FF0000"/>
                </a:solidFill>
              </a:rPr>
              <a:t>advocate doing(12)</a:t>
            </a:r>
            <a:r>
              <a:rPr lang="zh-CN" altLang="zh-CN" sz="3600" b="1" dirty="0">
                <a:solidFill>
                  <a:srgbClr val="FF0000"/>
                </a:solidFill>
              </a:rPr>
              <a:t>提倡做某事 </a:t>
            </a:r>
          </a:p>
          <a:p>
            <a:r>
              <a:rPr lang="en-US" altLang="zh-CN" sz="3600" b="1" dirty="0">
                <a:solidFill>
                  <a:srgbClr val="FF0000"/>
                </a:solidFill>
              </a:rPr>
              <a:t>advocate going back to nature </a:t>
            </a:r>
            <a:r>
              <a:rPr lang="zh-CN" altLang="zh-CN" sz="3600" b="1" dirty="0">
                <a:solidFill>
                  <a:srgbClr val="FF0000"/>
                </a:solidFill>
              </a:rPr>
              <a:t>支持回归自然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 y="1"/>
            <a:ext cx="12192000" cy="6863417"/>
          </a:xfrm>
          <a:prstGeom prst="rect">
            <a:avLst/>
          </a:prstGeom>
          <a:noFill/>
        </p:spPr>
        <p:txBody>
          <a:bodyPr wrap="square">
            <a:spAutoFit/>
          </a:bodyPr>
          <a:lstStyle/>
          <a:p>
            <a:pPr lvl="0"/>
            <a:r>
              <a:rPr lang="en-US" altLang="zh-CN" sz="4400" b="1" dirty="0"/>
              <a:t>P49  </a:t>
            </a:r>
            <a:r>
              <a:rPr lang="en-US" altLang="zh-CN" sz="4400" b="1" dirty="0">
                <a:solidFill>
                  <a:srgbClr val="FF0000"/>
                </a:solidFill>
              </a:rPr>
              <a:t>experiment with</a:t>
            </a:r>
            <a:r>
              <a:rPr lang="zh-CN" altLang="zh-CN" sz="4400" b="1" dirty="0">
                <a:solidFill>
                  <a:srgbClr val="FF0000"/>
                </a:solidFill>
              </a:rPr>
              <a:t>尝试，试验</a:t>
            </a:r>
          </a:p>
          <a:p>
            <a:pPr lvl="0"/>
            <a:r>
              <a:rPr lang="en-US" altLang="zh-CN" sz="4400" b="1" dirty="0">
                <a:solidFill>
                  <a:srgbClr val="FF0000"/>
                </a:solidFill>
              </a:rPr>
              <a:t>poetic forms</a:t>
            </a:r>
            <a:r>
              <a:rPr lang="zh-CN" altLang="zh-CN" sz="4400" b="1" dirty="0">
                <a:solidFill>
                  <a:srgbClr val="FF0000"/>
                </a:solidFill>
              </a:rPr>
              <a:t>诗歌形式</a:t>
            </a:r>
            <a:r>
              <a:rPr lang="en-US" altLang="zh-CN" sz="4400" b="1" dirty="0">
                <a:solidFill>
                  <a:srgbClr val="FF0000"/>
                </a:solidFill>
              </a:rPr>
              <a:t> poetic adj.</a:t>
            </a:r>
            <a:r>
              <a:rPr lang="zh-CN" altLang="zh-CN" sz="4400" b="1" dirty="0">
                <a:solidFill>
                  <a:srgbClr val="FF0000"/>
                </a:solidFill>
              </a:rPr>
              <a:t>诗的，诗歌的</a:t>
            </a:r>
          </a:p>
          <a:p>
            <a:pPr lvl="0"/>
            <a:r>
              <a:rPr lang="en-US" altLang="zh-CN" sz="4400" b="1" dirty="0">
                <a:solidFill>
                  <a:srgbClr val="FF0000"/>
                </a:solidFill>
              </a:rPr>
              <a:t>contain rich sensory details</a:t>
            </a:r>
            <a:r>
              <a:rPr lang="zh-CN" altLang="zh-CN" sz="4400" b="1" dirty="0">
                <a:solidFill>
                  <a:srgbClr val="FF0000"/>
                </a:solidFill>
              </a:rPr>
              <a:t>包含丰富的感官细节</a:t>
            </a:r>
            <a:endParaRPr lang="en-US" altLang="zh-CN" sz="4400" b="1" dirty="0">
              <a:solidFill>
                <a:srgbClr val="FF0000"/>
              </a:solidFill>
            </a:endParaRPr>
          </a:p>
          <a:p>
            <a:pPr lvl="0"/>
            <a:r>
              <a:rPr lang="en-US" altLang="zh-CN" sz="4400" b="1" dirty="0">
                <a:solidFill>
                  <a:srgbClr val="FF0000"/>
                </a:solidFill>
              </a:rPr>
              <a:t>provide sb. with </a:t>
            </a:r>
            <a:r>
              <a:rPr lang="en-US" altLang="zh-CN" sz="4400" b="1" dirty="0" err="1">
                <a:solidFill>
                  <a:srgbClr val="FF0000"/>
                </a:solidFill>
              </a:rPr>
              <a:t>sth</a:t>
            </a:r>
            <a:r>
              <a:rPr lang="en-US" altLang="zh-CN" sz="4400" b="1" dirty="0">
                <a:solidFill>
                  <a:srgbClr val="FF0000"/>
                </a:solidFill>
              </a:rPr>
              <a:t>.=provide </a:t>
            </a:r>
            <a:r>
              <a:rPr lang="en-US" altLang="zh-CN" sz="4400" b="1" dirty="0" err="1">
                <a:solidFill>
                  <a:srgbClr val="FF0000"/>
                </a:solidFill>
              </a:rPr>
              <a:t>sth</a:t>
            </a:r>
            <a:r>
              <a:rPr lang="en-US" altLang="zh-CN" sz="4400" b="1" dirty="0">
                <a:solidFill>
                  <a:srgbClr val="FF0000"/>
                </a:solidFill>
              </a:rPr>
              <a:t>. for sb.</a:t>
            </a:r>
            <a:r>
              <a:rPr lang="zh-CN" altLang="en-US" sz="4400" b="1" dirty="0">
                <a:solidFill>
                  <a:srgbClr val="FF0000"/>
                </a:solidFill>
              </a:rPr>
              <a:t>提供某人某物</a:t>
            </a:r>
            <a:endParaRPr lang="en-US" altLang="zh-CN" sz="4400" b="1" dirty="0">
              <a:solidFill>
                <a:srgbClr val="FF0000"/>
              </a:solidFill>
            </a:endParaRPr>
          </a:p>
          <a:p>
            <a:pPr lvl="0"/>
            <a:r>
              <a:rPr lang="en-US" altLang="zh-CN" sz="4400" b="1" dirty="0">
                <a:solidFill>
                  <a:srgbClr val="FF0000"/>
                </a:solidFill>
              </a:rPr>
              <a:t>have a huge impact on</a:t>
            </a:r>
            <a:r>
              <a:rPr lang="zh-CN" altLang="en-US" sz="4400" b="1" dirty="0">
                <a:solidFill>
                  <a:srgbClr val="FF0000"/>
                </a:solidFill>
              </a:rPr>
              <a:t>有巨大影响</a:t>
            </a:r>
            <a:endParaRPr lang="en-US" altLang="zh-CN" sz="4400" b="1" dirty="0">
              <a:solidFill>
                <a:srgbClr val="FF0000"/>
              </a:solidFill>
            </a:endParaRPr>
          </a:p>
          <a:p>
            <a:pPr lvl="0"/>
            <a:r>
              <a:rPr lang="en-US" altLang="zh-CN" sz="4400" b="1" dirty="0">
                <a:solidFill>
                  <a:srgbClr val="FF0000"/>
                </a:solidFill>
              </a:rPr>
              <a:t>mark the start of the Romantic era</a:t>
            </a:r>
            <a:r>
              <a:rPr lang="zh-CN" altLang="en-US" sz="4400" b="1" dirty="0">
                <a:solidFill>
                  <a:srgbClr val="FF0000"/>
                </a:solidFill>
              </a:rPr>
              <a:t>标志着浪漫主义时代的开始</a:t>
            </a:r>
            <a:endParaRPr lang="en-US" altLang="zh-CN" sz="4400" b="1" dirty="0">
              <a:solidFill>
                <a:srgbClr val="FF0000"/>
              </a:solidFill>
            </a:endParaRPr>
          </a:p>
          <a:p>
            <a:pPr lvl="0"/>
            <a:r>
              <a:rPr lang="en-US" altLang="zh-CN" sz="4400" b="1" dirty="0">
                <a:solidFill>
                  <a:srgbClr val="FF0000"/>
                </a:solidFill>
              </a:rPr>
              <a:t>poetic devices </a:t>
            </a:r>
            <a:r>
              <a:rPr lang="en-US" altLang="zh-CN" sz="4400" b="1" u="sng" dirty="0">
                <a:solidFill>
                  <a:srgbClr val="FF0000"/>
                </a:solidFill>
              </a:rPr>
              <a:t>employed</a:t>
            </a:r>
            <a:r>
              <a:rPr lang="en-US" altLang="zh-CN" sz="4400" b="1" dirty="0">
                <a:solidFill>
                  <a:srgbClr val="FF0000"/>
                </a:solidFill>
              </a:rPr>
              <a:t> in poems</a:t>
            </a:r>
            <a:r>
              <a:rPr lang="zh-CN" altLang="en-US" sz="4400" b="1" dirty="0">
                <a:solidFill>
                  <a:srgbClr val="FF0000"/>
                </a:solidFill>
              </a:rPr>
              <a:t>诗歌中使用的诗歌手法</a:t>
            </a:r>
            <a:endParaRPr lang="zh-CN" altLang="zh-CN" sz="4400" b="1" dirty="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 y="1"/>
            <a:ext cx="12192000" cy="5632311"/>
          </a:xfrm>
          <a:prstGeom prst="rect">
            <a:avLst/>
          </a:prstGeom>
          <a:noFill/>
        </p:spPr>
        <p:txBody>
          <a:bodyPr wrap="square">
            <a:spAutoFit/>
          </a:bodyPr>
          <a:lstStyle/>
          <a:p>
            <a:pPr lvl="0"/>
            <a:r>
              <a:rPr lang="en-US" altLang="zh-CN" sz="4000" b="1" dirty="0">
                <a:solidFill>
                  <a:srgbClr val="FF0000"/>
                </a:solidFill>
              </a:rPr>
              <a:t>P50</a:t>
            </a:r>
          </a:p>
          <a:p>
            <a:pPr lvl="0"/>
            <a:r>
              <a:rPr lang="en-US" altLang="zh-CN" sz="4000" b="1" dirty="0">
                <a:solidFill>
                  <a:srgbClr val="FF0000"/>
                </a:solidFill>
              </a:rPr>
              <a:t>with a sigh</a:t>
            </a:r>
            <a:r>
              <a:rPr lang="zh-CN" altLang="en-US" sz="4000" b="1" dirty="0">
                <a:solidFill>
                  <a:srgbClr val="FF0000"/>
                </a:solidFill>
              </a:rPr>
              <a:t>叹息</a:t>
            </a:r>
            <a:endParaRPr lang="en-US" altLang="zh-CN" sz="4000" b="1" dirty="0">
              <a:solidFill>
                <a:srgbClr val="FF0000"/>
              </a:solidFill>
            </a:endParaRPr>
          </a:p>
          <a:p>
            <a:pPr lvl="0"/>
            <a:r>
              <a:rPr lang="en-US" altLang="zh-CN" sz="4000" b="1" dirty="0">
                <a:solidFill>
                  <a:srgbClr val="FF0000"/>
                </a:solidFill>
              </a:rPr>
              <a:t>make all the difference</a:t>
            </a:r>
            <a:r>
              <a:rPr lang="zh-CN" altLang="en-US" sz="4000" b="1" dirty="0">
                <a:solidFill>
                  <a:srgbClr val="FF0000"/>
                </a:solidFill>
              </a:rPr>
              <a:t>起决定性作用</a:t>
            </a:r>
            <a:endParaRPr lang="en-US" altLang="zh-CN" sz="4000" b="1" dirty="0">
              <a:solidFill>
                <a:srgbClr val="FF0000"/>
              </a:solidFill>
            </a:endParaRPr>
          </a:p>
          <a:p>
            <a:pPr lvl="0"/>
            <a:endParaRPr lang="en-US" altLang="zh-CN" sz="4000" b="1" dirty="0">
              <a:solidFill>
                <a:srgbClr val="FF0000"/>
              </a:solidFill>
            </a:endParaRPr>
          </a:p>
          <a:p>
            <a:pPr lvl="0"/>
            <a:r>
              <a:rPr lang="en-US" altLang="zh-CN" sz="4000" b="1" dirty="0">
                <a:solidFill>
                  <a:srgbClr val="FF0000"/>
                </a:solidFill>
              </a:rPr>
              <a:t>P51  be inspired by...</a:t>
            </a:r>
            <a:r>
              <a:rPr lang="zh-CN" altLang="zh-CN" sz="4000" b="1" dirty="0">
                <a:solidFill>
                  <a:srgbClr val="FF0000"/>
                </a:solidFill>
              </a:rPr>
              <a:t>受到</a:t>
            </a:r>
            <a:r>
              <a:rPr lang="en-US" altLang="zh-CN" sz="4000" b="1" dirty="0">
                <a:solidFill>
                  <a:srgbClr val="FF0000"/>
                </a:solidFill>
              </a:rPr>
              <a:t>...</a:t>
            </a:r>
            <a:r>
              <a:rPr lang="zh-CN" altLang="zh-CN" sz="4000" b="1" dirty="0">
                <a:solidFill>
                  <a:srgbClr val="FF0000"/>
                </a:solidFill>
              </a:rPr>
              <a:t>启发</a:t>
            </a:r>
            <a:r>
              <a:rPr lang="en-US" altLang="zh-CN" sz="4000" b="1" dirty="0">
                <a:solidFill>
                  <a:srgbClr val="FF0000"/>
                </a:solidFill>
              </a:rPr>
              <a:t>/</a:t>
            </a:r>
            <a:r>
              <a:rPr lang="zh-CN" altLang="zh-CN" sz="4000" b="1" dirty="0">
                <a:solidFill>
                  <a:srgbClr val="FF0000"/>
                </a:solidFill>
              </a:rPr>
              <a:t>鼓舞</a:t>
            </a:r>
            <a:endParaRPr lang="en-US" altLang="zh-CN" sz="4000" b="1" dirty="0">
              <a:solidFill>
                <a:srgbClr val="FF0000"/>
              </a:solidFill>
            </a:endParaRPr>
          </a:p>
          <a:p>
            <a:pPr lvl="0"/>
            <a:r>
              <a:rPr lang="en-US" altLang="zh-CN" sz="4000" b="1" dirty="0">
                <a:solidFill>
                  <a:srgbClr val="FF0000"/>
                </a:solidFill>
              </a:rPr>
              <a:t>spend a long time </a:t>
            </a:r>
            <a:r>
              <a:rPr lang="en-US" altLang="zh-CN" sz="4000" b="1" u="sng" dirty="0">
                <a:solidFill>
                  <a:srgbClr val="FF0000"/>
                </a:solidFill>
              </a:rPr>
              <a:t>choosing</a:t>
            </a:r>
            <a:r>
              <a:rPr lang="en-US" altLang="zh-CN" sz="4000" b="1" dirty="0">
                <a:solidFill>
                  <a:srgbClr val="FF0000"/>
                </a:solidFill>
              </a:rPr>
              <a:t> </a:t>
            </a:r>
            <a:r>
              <a:rPr lang="en-US" altLang="zh-CN" sz="4000" b="1" u="sng" dirty="0">
                <a:solidFill>
                  <a:srgbClr val="FF0000"/>
                </a:solidFill>
              </a:rPr>
              <a:t>which path to take</a:t>
            </a:r>
            <a:r>
              <a:rPr lang="zh-CN" altLang="en-US" sz="4000" b="1" dirty="0">
                <a:solidFill>
                  <a:srgbClr val="FF0000"/>
                </a:solidFill>
              </a:rPr>
              <a:t>花很长时间选择走哪条路</a:t>
            </a:r>
            <a:endParaRPr lang="en-US" altLang="zh-CN" sz="4000" b="1" dirty="0">
              <a:solidFill>
                <a:srgbClr val="FF0000"/>
              </a:solidFill>
            </a:endParaRPr>
          </a:p>
          <a:p>
            <a:pPr lvl="0"/>
            <a:r>
              <a:rPr lang="en-US" altLang="zh-CN" sz="4000" b="1" dirty="0">
                <a:solidFill>
                  <a:srgbClr val="FF0000"/>
                </a:solidFill>
              </a:rPr>
              <a:t>when </a:t>
            </a:r>
            <a:r>
              <a:rPr lang="en-US" altLang="zh-CN" sz="4000" b="1" u="sng" dirty="0">
                <a:solidFill>
                  <a:srgbClr val="FF0000"/>
                </a:solidFill>
              </a:rPr>
              <a:t>faced with </a:t>
            </a:r>
            <a:r>
              <a:rPr lang="en-US" altLang="zh-CN" sz="4000" b="1" dirty="0">
                <a:solidFill>
                  <a:srgbClr val="FF0000"/>
                </a:solidFill>
              </a:rPr>
              <a:t>…</a:t>
            </a:r>
            <a:r>
              <a:rPr lang="zh-CN" altLang="en-US" sz="4000" b="1" dirty="0">
                <a:solidFill>
                  <a:srgbClr val="FF0000"/>
                </a:solidFill>
              </a:rPr>
              <a:t>当面对</a:t>
            </a:r>
            <a:endParaRPr lang="zh-CN" altLang="zh-CN" sz="4000" b="1" dirty="0">
              <a:solidFill>
                <a:srgbClr val="FF0000"/>
              </a:solidFill>
            </a:endParaRPr>
          </a:p>
          <a:p>
            <a:r>
              <a:rPr lang="en-US" altLang="zh-CN" sz="4000" b="1" dirty="0">
                <a:solidFill>
                  <a:srgbClr val="FF0000"/>
                </a:solidFill>
              </a:rPr>
              <a:t>have no choice but to do </a:t>
            </a:r>
            <a:r>
              <a:rPr lang="en-US" altLang="zh-CN" sz="4000" b="1" dirty="0" err="1">
                <a:solidFill>
                  <a:srgbClr val="FF0000"/>
                </a:solidFill>
              </a:rPr>
              <a:t>sth</a:t>
            </a:r>
            <a:r>
              <a:rPr lang="zh-CN" altLang="zh-CN" sz="4000" b="1" dirty="0">
                <a:solidFill>
                  <a:srgbClr val="FF0000"/>
                </a:solidFill>
              </a:rPr>
              <a:t>别无选择</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200" b="1" dirty="0">
                <a:solidFill>
                  <a:schemeClr val="tx1"/>
                </a:solidFill>
              </a:rPr>
              <a:t>1. </a:t>
            </a:r>
            <a:r>
              <a:rPr lang="en-US" altLang="zh-CN" sz="3200" b="1" dirty="0">
                <a:solidFill>
                  <a:schemeClr val="tx1"/>
                </a:solidFill>
                <a:highlight>
                  <a:srgbClr val="FFFF00"/>
                </a:highlight>
              </a:rPr>
              <a:t>bend </a:t>
            </a:r>
            <a:r>
              <a:rPr lang="en-US" altLang="zh-CN" sz="3200" b="1" dirty="0">
                <a:solidFill>
                  <a:schemeClr val="tx1"/>
                </a:solidFill>
              </a:rPr>
              <a:t>vi. &amp; vt.</a:t>
            </a:r>
            <a:r>
              <a:rPr lang="en-US" altLang="zh-CN" sz="3200" b="1" dirty="0">
                <a:solidFill>
                  <a:schemeClr val="tx1"/>
                </a:solidFill>
                <a:highlight>
                  <a:srgbClr val="FFFF00"/>
                </a:highlight>
              </a:rPr>
              <a:t> (bent, bent)</a:t>
            </a:r>
            <a:r>
              <a:rPr lang="zh-CN" altLang="en-US" sz="3200" b="1" dirty="0">
                <a:solidFill>
                  <a:schemeClr val="tx1"/>
                </a:solidFill>
              </a:rPr>
              <a:t>（使）拐弯，弯曲</a:t>
            </a:r>
            <a:r>
              <a:rPr lang="en-US" altLang="zh-CN" sz="3200" b="1" dirty="0">
                <a:solidFill>
                  <a:schemeClr val="tx1"/>
                </a:solidFill>
              </a:rPr>
              <a:t>	n. </a:t>
            </a:r>
            <a:r>
              <a:rPr lang="zh-CN" altLang="en-US" sz="3200" b="1" dirty="0">
                <a:solidFill>
                  <a:schemeClr val="tx1"/>
                </a:solidFill>
              </a:rPr>
              <a:t>拐弯，弯道</a:t>
            </a:r>
          </a:p>
          <a:p>
            <a:r>
              <a:rPr lang="en-US" altLang="zh-CN" sz="3200" b="1" dirty="0">
                <a:solidFill>
                  <a:schemeClr val="tx1"/>
                </a:solidFill>
              </a:rPr>
              <a:t>2. </a:t>
            </a:r>
            <a:r>
              <a:rPr lang="en-US" altLang="zh-CN" sz="3200" b="1" dirty="0">
                <a:solidFill>
                  <a:schemeClr val="tx1"/>
                </a:solidFill>
                <a:highlight>
                  <a:srgbClr val="FFFF00"/>
                </a:highlight>
              </a:rPr>
              <a:t>striking </a:t>
            </a:r>
            <a:r>
              <a:rPr lang="en-US" altLang="zh-CN" sz="3200" b="1" dirty="0">
                <a:solidFill>
                  <a:schemeClr val="tx1"/>
                </a:solidFill>
              </a:rPr>
              <a:t>adj. </a:t>
            </a:r>
            <a:r>
              <a:rPr lang="zh-CN" altLang="en-US" sz="3200" b="1" dirty="0">
                <a:solidFill>
                  <a:schemeClr val="tx1"/>
                </a:solidFill>
              </a:rPr>
              <a:t>引人注目的，显著的；妩媚动人的，标致的</a:t>
            </a:r>
            <a:r>
              <a:rPr lang="en-US" altLang="en-US" sz="3200" b="1" dirty="0">
                <a:solidFill>
                  <a:schemeClr val="tx1"/>
                </a:solidFill>
              </a:rPr>
              <a:t>→</a:t>
            </a:r>
            <a:r>
              <a:rPr lang="en-US" altLang="zh-CN" sz="3200" b="1" dirty="0">
                <a:solidFill>
                  <a:schemeClr val="tx1"/>
                </a:solidFill>
                <a:highlight>
                  <a:srgbClr val="FFFF00"/>
                </a:highlight>
              </a:rPr>
              <a:t>strike v.(struck, struck)</a:t>
            </a:r>
          </a:p>
          <a:p>
            <a:r>
              <a:rPr lang="en-US" altLang="zh-CN" sz="3200" b="1" dirty="0">
                <a:solidFill>
                  <a:schemeClr val="tx1"/>
                </a:solidFill>
              </a:rPr>
              <a:t>3.</a:t>
            </a:r>
            <a:r>
              <a:rPr lang="en-US" altLang="zh-CN" sz="3200" b="1" dirty="0">
                <a:solidFill>
                  <a:schemeClr val="tx1"/>
                </a:solidFill>
                <a:highlight>
                  <a:srgbClr val="FFFF00"/>
                </a:highlight>
              </a:rPr>
              <a:t>characterize </a:t>
            </a:r>
            <a:r>
              <a:rPr lang="en-US" altLang="zh-CN" sz="3200" b="1" dirty="0">
                <a:solidFill>
                  <a:schemeClr val="tx1"/>
                </a:solidFill>
              </a:rPr>
              <a:t>(also characterise)vt. </a:t>
            </a:r>
            <a:r>
              <a:rPr lang="zh-CN" altLang="en-US" sz="3200" b="1" dirty="0">
                <a:solidFill>
                  <a:schemeClr val="tx1"/>
                </a:solidFill>
              </a:rPr>
              <a:t>是</a:t>
            </a:r>
            <a:r>
              <a:rPr lang="en-US" altLang="zh-CN" sz="3200" b="1" dirty="0">
                <a:solidFill>
                  <a:schemeClr val="tx1"/>
                </a:solidFill>
              </a:rPr>
              <a:t>…</a:t>
            </a:r>
            <a:r>
              <a:rPr lang="zh-CN" altLang="en-US" sz="3200" b="1" dirty="0">
                <a:solidFill>
                  <a:schemeClr val="tx1"/>
                </a:solidFill>
              </a:rPr>
              <a:t>的特征</a:t>
            </a:r>
            <a:r>
              <a:rPr lang="en-US" altLang="zh-CN" sz="3200" b="1" dirty="0">
                <a:solidFill>
                  <a:schemeClr val="tx1"/>
                </a:solidFill>
              </a:rPr>
              <a:t>,</a:t>
            </a:r>
            <a:r>
              <a:rPr lang="zh-CN" altLang="en-US" sz="3200" b="1" dirty="0">
                <a:solidFill>
                  <a:schemeClr val="tx1"/>
                </a:solidFill>
              </a:rPr>
              <a:t>以</a:t>
            </a:r>
            <a:r>
              <a:rPr lang="en-US" altLang="zh-CN" sz="3200" b="1" dirty="0">
                <a:solidFill>
                  <a:schemeClr val="tx1"/>
                </a:solidFill>
              </a:rPr>
              <a:t>…</a:t>
            </a:r>
            <a:r>
              <a:rPr lang="zh-CN" altLang="en-US" sz="3200" b="1" dirty="0">
                <a:solidFill>
                  <a:schemeClr val="tx1"/>
                </a:solidFill>
              </a:rPr>
              <a:t>为典型</a:t>
            </a:r>
            <a:r>
              <a:rPr lang="en-US" altLang="zh-CN" sz="3200" b="1" dirty="0">
                <a:solidFill>
                  <a:schemeClr val="tx1"/>
                </a:solidFill>
              </a:rPr>
              <a:t>;</a:t>
            </a:r>
            <a:r>
              <a:rPr lang="zh-CN" altLang="en-US" sz="3200" b="1" dirty="0">
                <a:solidFill>
                  <a:schemeClr val="tx1"/>
                </a:solidFill>
              </a:rPr>
              <a:t>使</a:t>
            </a:r>
            <a:r>
              <a:rPr lang="en-US" altLang="zh-CN" sz="3200" b="1" dirty="0">
                <a:solidFill>
                  <a:schemeClr val="tx1"/>
                </a:solidFill>
              </a:rPr>
              <a:t>…</a:t>
            </a:r>
            <a:r>
              <a:rPr lang="zh-CN" altLang="en-US" sz="3200" b="1" dirty="0">
                <a:solidFill>
                  <a:schemeClr val="tx1"/>
                </a:solidFill>
              </a:rPr>
              <a:t>具有特点</a:t>
            </a:r>
            <a:r>
              <a:rPr lang="en-US" altLang="zh-CN" sz="3200" b="1" dirty="0">
                <a:solidFill>
                  <a:schemeClr val="tx1"/>
                </a:solidFill>
              </a:rPr>
              <a:t>;</a:t>
            </a:r>
            <a:r>
              <a:rPr lang="zh-CN" altLang="en-US" sz="3200" b="1" dirty="0">
                <a:solidFill>
                  <a:schemeClr val="tx1"/>
                </a:solidFill>
              </a:rPr>
              <a:t>描述</a:t>
            </a:r>
            <a:r>
              <a:rPr lang="en-US" altLang="en-US" sz="3200" b="1" dirty="0">
                <a:solidFill>
                  <a:schemeClr val="tx1"/>
                </a:solidFill>
              </a:rPr>
              <a:t>→</a:t>
            </a:r>
            <a:r>
              <a:rPr lang="en-US" altLang="zh-CN" sz="3200" b="1" dirty="0">
                <a:solidFill>
                  <a:schemeClr val="tx1"/>
                </a:solidFill>
                <a:highlight>
                  <a:srgbClr val="FFFF00"/>
                </a:highlight>
              </a:rPr>
              <a:t>character </a:t>
            </a:r>
            <a:r>
              <a:rPr lang="en-US" altLang="zh-CN" sz="3200" b="1" dirty="0">
                <a:solidFill>
                  <a:schemeClr val="tx1"/>
                </a:solidFill>
              </a:rPr>
              <a:t>n.</a:t>
            </a:r>
            <a:r>
              <a:rPr lang="zh-CN" altLang="en-US" sz="3200" b="1" dirty="0">
                <a:solidFill>
                  <a:schemeClr val="tx1"/>
                </a:solidFill>
              </a:rPr>
              <a:t>性格</a:t>
            </a:r>
            <a:r>
              <a:rPr lang="en-US" altLang="zh-CN" sz="3200" b="1" dirty="0">
                <a:solidFill>
                  <a:schemeClr val="tx1"/>
                </a:solidFill>
              </a:rPr>
              <a:t>;</a:t>
            </a:r>
            <a:r>
              <a:rPr lang="zh-CN" altLang="en-US" sz="3200" b="1" dirty="0">
                <a:solidFill>
                  <a:schemeClr val="tx1"/>
                </a:solidFill>
              </a:rPr>
              <a:t>特色</a:t>
            </a:r>
            <a:r>
              <a:rPr lang="en-US" altLang="zh-CN" sz="3200" b="1" dirty="0">
                <a:solidFill>
                  <a:schemeClr val="tx1"/>
                </a:solidFill>
              </a:rPr>
              <a:t>;</a:t>
            </a:r>
            <a:r>
              <a:rPr lang="zh-CN" altLang="en-US" sz="3200" b="1" dirty="0">
                <a:solidFill>
                  <a:schemeClr val="tx1"/>
                </a:solidFill>
              </a:rPr>
              <a:t>角色</a:t>
            </a:r>
            <a:r>
              <a:rPr lang="en-US" altLang="en-US" sz="3200" b="1" dirty="0">
                <a:solidFill>
                  <a:schemeClr val="tx1"/>
                </a:solidFill>
              </a:rPr>
              <a:t>→</a:t>
            </a:r>
            <a:r>
              <a:rPr lang="en-US" altLang="zh-CN" sz="3200" b="1" dirty="0">
                <a:solidFill>
                  <a:schemeClr val="tx1"/>
                </a:solidFill>
              </a:rPr>
              <a:t> </a:t>
            </a:r>
            <a:r>
              <a:rPr lang="en-US" altLang="zh-CN" sz="3200" b="1" dirty="0">
                <a:solidFill>
                  <a:schemeClr val="tx1"/>
                </a:solidFill>
                <a:highlight>
                  <a:srgbClr val="FFFF00"/>
                </a:highlight>
              </a:rPr>
              <a:t>characteristic </a:t>
            </a:r>
            <a:r>
              <a:rPr lang="en-US" altLang="zh-CN" sz="3200" b="1" dirty="0">
                <a:solidFill>
                  <a:schemeClr val="tx1"/>
                </a:solidFill>
              </a:rPr>
              <a:t>  n.</a:t>
            </a:r>
            <a:r>
              <a:rPr lang="zh-CN" altLang="en-US" sz="3200" b="1" dirty="0">
                <a:solidFill>
                  <a:schemeClr val="tx1"/>
                </a:solidFill>
              </a:rPr>
              <a:t>特点</a:t>
            </a:r>
            <a:r>
              <a:rPr lang="en-US" altLang="zh-CN" sz="3200" b="1" dirty="0">
                <a:solidFill>
                  <a:schemeClr val="tx1"/>
                </a:solidFill>
              </a:rPr>
              <a:t>;</a:t>
            </a:r>
            <a:r>
              <a:rPr lang="zh-CN" altLang="en-US" sz="3200" b="1" dirty="0">
                <a:solidFill>
                  <a:schemeClr val="tx1"/>
                </a:solidFill>
              </a:rPr>
              <a:t>特性</a:t>
            </a:r>
            <a:r>
              <a:rPr lang="en-US" altLang="zh-CN" sz="3200" b="1" dirty="0">
                <a:solidFill>
                  <a:schemeClr val="tx1"/>
                </a:solidFill>
              </a:rPr>
              <a:t>;</a:t>
            </a:r>
            <a:r>
              <a:rPr lang="zh-CN" altLang="en-US" sz="3200" b="1" dirty="0">
                <a:solidFill>
                  <a:schemeClr val="tx1"/>
                </a:solidFill>
              </a:rPr>
              <a:t>品质</a:t>
            </a:r>
            <a:r>
              <a:rPr lang="en-US" altLang="zh-CN" sz="3200" b="1" dirty="0">
                <a:solidFill>
                  <a:schemeClr val="tx1"/>
                </a:solidFill>
              </a:rPr>
              <a:t> adj.</a:t>
            </a:r>
            <a:r>
              <a:rPr lang="zh-CN" altLang="en-US" sz="3200" b="1" dirty="0">
                <a:solidFill>
                  <a:schemeClr val="tx1"/>
                </a:solidFill>
              </a:rPr>
              <a:t>典型的</a:t>
            </a:r>
            <a:r>
              <a:rPr lang="en-US" altLang="zh-CN" sz="3200" b="1" dirty="0">
                <a:solidFill>
                  <a:schemeClr val="tx1"/>
                </a:solidFill>
              </a:rPr>
              <a:t>;</a:t>
            </a:r>
            <a:r>
              <a:rPr lang="zh-CN" altLang="en-US" sz="3200" b="1" dirty="0">
                <a:solidFill>
                  <a:schemeClr val="tx1"/>
                </a:solidFill>
              </a:rPr>
              <a:t>特有的</a:t>
            </a:r>
          </a:p>
          <a:p>
            <a:r>
              <a:rPr lang="en-US" altLang="zh-CN" sz="3200" b="1" dirty="0">
                <a:solidFill>
                  <a:schemeClr val="tx1"/>
                </a:solidFill>
              </a:rPr>
              <a:t>4.</a:t>
            </a:r>
            <a:r>
              <a:rPr lang="en-US" altLang="zh-CN" sz="3200" b="1" dirty="0">
                <a:solidFill>
                  <a:schemeClr val="tx1"/>
                </a:solidFill>
                <a:highlight>
                  <a:srgbClr val="FFFF00"/>
                </a:highlight>
              </a:rPr>
              <a:t>legend </a:t>
            </a:r>
            <a:r>
              <a:rPr lang="en-US" altLang="zh-CN" sz="3200" b="1" dirty="0">
                <a:solidFill>
                  <a:schemeClr val="tx1"/>
                </a:solidFill>
              </a:rPr>
              <a:t>(n.) </a:t>
            </a:r>
            <a:r>
              <a:rPr lang="zh-CN" altLang="en-US" sz="3200" b="1" dirty="0">
                <a:solidFill>
                  <a:schemeClr val="tx1"/>
                </a:solidFill>
              </a:rPr>
              <a:t>传说，传奇故事</a:t>
            </a:r>
            <a:r>
              <a:rPr lang="en-US" altLang="en-US" sz="3200" b="1" dirty="0">
                <a:solidFill>
                  <a:schemeClr val="tx1"/>
                </a:solidFill>
              </a:rPr>
              <a:t>→</a:t>
            </a:r>
            <a:r>
              <a:rPr lang="en-US" altLang="zh-CN" sz="3200" b="1" dirty="0">
                <a:solidFill>
                  <a:schemeClr val="tx1"/>
                </a:solidFill>
                <a:highlight>
                  <a:srgbClr val="FFFF00"/>
                </a:highlight>
              </a:rPr>
              <a:t>legendary </a:t>
            </a:r>
            <a:r>
              <a:rPr lang="en-US" altLang="zh-CN" sz="3200" b="1" dirty="0">
                <a:solidFill>
                  <a:schemeClr val="tx1"/>
                </a:solidFill>
              </a:rPr>
              <a:t>(adj.) </a:t>
            </a:r>
            <a:r>
              <a:rPr lang="zh-CN" altLang="en-US" sz="3200" b="1" dirty="0">
                <a:solidFill>
                  <a:schemeClr val="tx1"/>
                </a:solidFill>
              </a:rPr>
              <a:t>非常著名的</a:t>
            </a:r>
            <a:r>
              <a:rPr lang="en-US" altLang="zh-CN" sz="3200" b="1" dirty="0">
                <a:solidFill>
                  <a:schemeClr val="tx1"/>
                </a:solidFill>
              </a:rPr>
              <a:t>;</a:t>
            </a:r>
            <a:r>
              <a:rPr lang="zh-CN" altLang="en-US" sz="3200" b="1" dirty="0">
                <a:solidFill>
                  <a:schemeClr val="tx1"/>
                </a:solidFill>
              </a:rPr>
              <a:t>传奇的</a:t>
            </a:r>
            <a:r>
              <a:rPr lang="en-US" altLang="zh-CN" sz="3200" b="1" dirty="0">
                <a:solidFill>
                  <a:schemeClr val="tx1"/>
                </a:solidFill>
              </a:rPr>
              <a:t>;</a:t>
            </a:r>
            <a:r>
              <a:rPr lang="zh-CN" altLang="en-US" sz="3200" b="1" dirty="0">
                <a:solidFill>
                  <a:schemeClr val="tx1"/>
                </a:solidFill>
              </a:rPr>
              <a:t>传说的</a:t>
            </a:r>
          </a:p>
          <a:p>
            <a:r>
              <a:rPr lang="en-US" altLang="zh-CN" sz="3200" b="1" dirty="0">
                <a:solidFill>
                  <a:schemeClr val="tx1"/>
                </a:solidFill>
              </a:rPr>
              <a:t>5.</a:t>
            </a:r>
            <a:r>
              <a:rPr lang="en-US" altLang="zh-CN" sz="3200" b="1" dirty="0">
                <a:solidFill>
                  <a:schemeClr val="tx1"/>
                </a:solidFill>
                <a:highlight>
                  <a:srgbClr val="FFFF00"/>
                </a:highlight>
              </a:rPr>
              <a:t>glorious </a:t>
            </a:r>
            <a:r>
              <a:rPr lang="en-US" altLang="zh-CN" sz="3200" b="1" dirty="0">
                <a:solidFill>
                  <a:schemeClr val="tx1"/>
                </a:solidFill>
              </a:rPr>
              <a:t>(adj.) </a:t>
            </a:r>
            <a:r>
              <a:rPr lang="zh-CN" altLang="en-US" sz="3200" b="1" dirty="0">
                <a:solidFill>
                  <a:schemeClr val="tx1"/>
                </a:solidFill>
              </a:rPr>
              <a:t>荣耀的，光荣的；壮丽的，辉煌的</a:t>
            </a:r>
            <a:r>
              <a:rPr lang="en-US" altLang="en-US" sz="3200" b="1" dirty="0">
                <a:solidFill>
                  <a:schemeClr val="tx1"/>
                </a:solidFill>
              </a:rPr>
              <a:t>→</a:t>
            </a:r>
            <a:r>
              <a:rPr lang="en-US" altLang="zh-CN" sz="3200" b="1" dirty="0">
                <a:solidFill>
                  <a:schemeClr val="tx1"/>
                </a:solidFill>
                <a:highlight>
                  <a:srgbClr val="FFFF00"/>
                </a:highlight>
              </a:rPr>
              <a:t>glory </a:t>
            </a:r>
            <a:r>
              <a:rPr lang="en-US" altLang="zh-CN" sz="3200" b="1" dirty="0">
                <a:solidFill>
                  <a:schemeClr val="tx1"/>
                </a:solidFill>
              </a:rPr>
              <a:t>(n.) </a:t>
            </a:r>
            <a:r>
              <a:rPr lang="zh-CN" altLang="en-US" sz="3200" b="1" dirty="0">
                <a:solidFill>
                  <a:schemeClr val="tx1"/>
                </a:solidFill>
              </a:rPr>
              <a:t>荣誉</a:t>
            </a:r>
            <a:r>
              <a:rPr lang="en-US" altLang="zh-CN" sz="3200" b="1" dirty="0">
                <a:solidFill>
                  <a:schemeClr val="tx1"/>
                </a:solidFill>
              </a:rPr>
              <a:t>;</a:t>
            </a:r>
            <a:r>
              <a:rPr lang="zh-CN" altLang="en-US" sz="3200" b="1" dirty="0">
                <a:solidFill>
                  <a:schemeClr val="tx1"/>
                </a:solidFill>
              </a:rPr>
              <a:t>光荣</a:t>
            </a:r>
          </a:p>
          <a:p>
            <a:r>
              <a:rPr lang="en-US" altLang="zh-CN" sz="3200" b="1" dirty="0">
                <a:solidFill>
                  <a:schemeClr val="tx1"/>
                </a:solidFill>
              </a:rPr>
              <a:t>6.</a:t>
            </a:r>
            <a:r>
              <a:rPr lang="en-US" altLang="zh-CN" sz="3200" b="1" dirty="0">
                <a:solidFill>
                  <a:schemeClr val="tx1"/>
                </a:solidFill>
                <a:highlight>
                  <a:srgbClr val="FFFF00"/>
                </a:highlight>
              </a:rPr>
              <a:t>stability </a:t>
            </a:r>
            <a:r>
              <a:rPr lang="en-US" altLang="zh-CN" sz="3200" b="1" dirty="0">
                <a:solidFill>
                  <a:schemeClr val="tx1"/>
                </a:solidFill>
              </a:rPr>
              <a:t>n.</a:t>
            </a:r>
            <a:r>
              <a:rPr lang="zh-CN" altLang="en-US" sz="3200" b="1" dirty="0">
                <a:solidFill>
                  <a:schemeClr val="tx1"/>
                </a:solidFill>
              </a:rPr>
              <a:t>稳定</a:t>
            </a:r>
            <a:r>
              <a:rPr lang="en-US" altLang="zh-CN" sz="3200" b="1" dirty="0">
                <a:solidFill>
                  <a:schemeClr val="tx1"/>
                </a:solidFill>
              </a:rPr>
              <a:t>(</a:t>
            </a:r>
            <a:r>
              <a:rPr lang="zh-CN" altLang="en-US" sz="3200" b="1" dirty="0">
                <a:solidFill>
                  <a:schemeClr val="tx1"/>
                </a:solidFill>
              </a:rPr>
              <a:t>性</a:t>
            </a:r>
            <a:r>
              <a:rPr lang="en-US" altLang="zh-CN" sz="3200" b="1" dirty="0">
                <a:solidFill>
                  <a:schemeClr val="tx1"/>
                </a:solidFill>
              </a:rPr>
              <a:t>)</a:t>
            </a:r>
            <a:r>
              <a:rPr lang="zh-CN" altLang="en-US" sz="3200" b="1" dirty="0">
                <a:solidFill>
                  <a:schemeClr val="tx1"/>
                </a:solidFill>
              </a:rPr>
              <a:t>，稳固</a:t>
            </a:r>
            <a:r>
              <a:rPr lang="en-US" altLang="zh-CN" sz="3200" b="1" dirty="0">
                <a:solidFill>
                  <a:schemeClr val="tx1"/>
                </a:solidFill>
              </a:rPr>
              <a:t>(</a:t>
            </a:r>
            <a:r>
              <a:rPr lang="zh-CN" altLang="en-US" sz="3200" b="1" dirty="0">
                <a:solidFill>
                  <a:schemeClr val="tx1"/>
                </a:solidFill>
              </a:rPr>
              <a:t>性</a:t>
            </a:r>
            <a:r>
              <a:rPr lang="en-US" altLang="zh-CN" sz="3200" b="1" dirty="0">
                <a:solidFill>
                  <a:schemeClr val="tx1"/>
                </a:solidFill>
              </a:rPr>
              <a:t>)</a:t>
            </a:r>
            <a:r>
              <a:rPr lang="en-US" altLang="en-US" sz="3200" b="1" dirty="0">
                <a:solidFill>
                  <a:schemeClr val="tx1"/>
                </a:solidFill>
              </a:rPr>
              <a:t>→</a:t>
            </a:r>
            <a:r>
              <a:rPr lang="en-US" altLang="zh-CN" sz="3200" b="1" dirty="0">
                <a:solidFill>
                  <a:schemeClr val="tx1"/>
                </a:solidFill>
                <a:highlight>
                  <a:srgbClr val="FFFF00"/>
                </a:highlight>
              </a:rPr>
              <a:t>stable </a:t>
            </a:r>
            <a:r>
              <a:rPr lang="en-US" altLang="zh-CN" sz="3200" b="1" dirty="0">
                <a:solidFill>
                  <a:schemeClr val="tx1"/>
                </a:solidFill>
              </a:rPr>
              <a:t>adj.</a:t>
            </a:r>
            <a:r>
              <a:rPr lang="zh-CN" altLang="en-US" sz="3200" b="1" dirty="0">
                <a:solidFill>
                  <a:schemeClr val="tx1"/>
                </a:solidFill>
              </a:rPr>
              <a:t>稳定的</a:t>
            </a:r>
            <a:r>
              <a:rPr lang="en-US" altLang="en-US" sz="3200" b="1" dirty="0">
                <a:solidFill>
                  <a:schemeClr val="tx1"/>
                </a:solidFill>
              </a:rPr>
              <a:t>→</a:t>
            </a:r>
            <a:r>
              <a:rPr lang="en-US" altLang="zh-CN" sz="3200" b="1" dirty="0">
                <a:solidFill>
                  <a:schemeClr val="tx1"/>
                </a:solidFill>
              </a:rPr>
              <a:t> </a:t>
            </a:r>
            <a:r>
              <a:rPr lang="en-US" altLang="zh-CN" sz="3200" b="1" dirty="0">
                <a:solidFill>
                  <a:schemeClr val="tx1"/>
                </a:solidFill>
                <a:highlight>
                  <a:srgbClr val="FFFF00"/>
                </a:highlight>
              </a:rPr>
              <a:t>stably   </a:t>
            </a:r>
            <a:r>
              <a:rPr lang="en-US" altLang="zh-CN" sz="3200" b="1" dirty="0">
                <a:solidFill>
                  <a:schemeClr val="tx1"/>
                </a:solidFill>
              </a:rPr>
              <a:t>adv.</a:t>
            </a:r>
            <a:r>
              <a:rPr lang="zh-CN" altLang="en-US" sz="3200" b="1" dirty="0">
                <a:solidFill>
                  <a:schemeClr val="tx1"/>
                </a:solidFill>
              </a:rPr>
              <a:t>稳定地</a:t>
            </a:r>
          </a:p>
          <a:p>
            <a:r>
              <a:rPr lang="en-US" altLang="zh-CN" sz="3200" b="1" dirty="0">
                <a:solidFill>
                  <a:schemeClr val="tx1"/>
                </a:solidFill>
              </a:rPr>
              <a:t>7. </a:t>
            </a:r>
            <a:r>
              <a:rPr lang="en-US" altLang="zh-CN" sz="3200" b="1" dirty="0">
                <a:solidFill>
                  <a:schemeClr val="tx1"/>
                </a:solidFill>
                <a:highlight>
                  <a:srgbClr val="FFFF00"/>
                </a:highlight>
              </a:rPr>
              <a:t>tolerant </a:t>
            </a:r>
            <a:r>
              <a:rPr lang="en-US" altLang="zh-CN" sz="3200" b="1" dirty="0">
                <a:solidFill>
                  <a:schemeClr val="tx1"/>
                </a:solidFill>
              </a:rPr>
              <a:t>adj.</a:t>
            </a:r>
            <a:r>
              <a:rPr lang="zh-CN" altLang="en-US" sz="3200" b="1" dirty="0">
                <a:solidFill>
                  <a:schemeClr val="tx1"/>
                </a:solidFill>
              </a:rPr>
              <a:t>宽容的，容忍的</a:t>
            </a:r>
            <a:r>
              <a:rPr lang="en-US" altLang="en-US" sz="3200" b="1" dirty="0">
                <a:solidFill>
                  <a:schemeClr val="tx1"/>
                </a:solidFill>
              </a:rPr>
              <a:t>→</a:t>
            </a:r>
            <a:r>
              <a:rPr lang="en-US" altLang="zh-CN" sz="3200" b="1" dirty="0">
                <a:solidFill>
                  <a:schemeClr val="tx1"/>
                </a:solidFill>
                <a:highlight>
                  <a:srgbClr val="FFFF00"/>
                </a:highlight>
              </a:rPr>
              <a:t>tolerate </a:t>
            </a:r>
            <a:r>
              <a:rPr lang="en-US" altLang="zh-CN" sz="3200" b="1" dirty="0">
                <a:solidFill>
                  <a:schemeClr val="tx1"/>
                </a:solidFill>
              </a:rPr>
              <a:t>vt.</a:t>
            </a:r>
            <a:r>
              <a:rPr lang="zh-CN" altLang="en-US" sz="3200" b="1" dirty="0">
                <a:solidFill>
                  <a:schemeClr val="tx1"/>
                </a:solidFill>
              </a:rPr>
              <a:t>容许，允许</a:t>
            </a:r>
            <a:r>
              <a:rPr lang="en-US" altLang="en-US" sz="3200" b="1" dirty="0">
                <a:solidFill>
                  <a:schemeClr val="tx1"/>
                </a:solidFill>
              </a:rPr>
              <a:t>→</a:t>
            </a:r>
            <a:r>
              <a:rPr lang="en-US" altLang="zh-CN" sz="3200" b="1" dirty="0">
                <a:solidFill>
                  <a:schemeClr val="tx1"/>
                </a:solidFill>
                <a:highlight>
                  <a:srgbClr val="FFFF00"/>
                </a:highlight>
              </a:rPr>
              <a:t>tolerance </a:t>
            </a:r>
            <a:r>
              <a:rPr lang="en-US" altLang="zh-CN" sz="3200" b="1" dirty="0">
                <a:solidFill>
                  <a:schemeClr val="tx1"/>
                </a:solidFill>
              </a:rPr>
              <a:t>n.</a:t>
            </a:r>
            <a:r>
              <a:rPr lang="zh-CN" altLang="en-US" sz="3200" b="1" dirty="0">
                <a:solidFill>
                  <a:schemeClr val="tx1"/>
                </a:solidFill>
              </a:rPr>
              <a:t>忍受</a:t>
            </a:r>
            <a:r>
              <a:rPr lang="en-US" altLang="zh-CN" sz="3200" b="1" dirty="0">
                <a:solidFill>
                  <a:schemeClr val="tx1"/>
                </a:solidFill>
              </a:rPr>
              <a:t>;</a:t>
            </a:r>
            <a:r>
              <a:rPr lang="zh-CN" altLang="en-US" sz="3200" b="1" dirty="0">
                <a:solidFill>
                  <a:schemeClr val="tx1"/>
                </a:solidFill>
              </a:rPr>
              <a:t>容忍</a:t>
            </a:r>
            <a:r>
              <a:rPr lang="en-US" altLang="zh-CN" sz="3200" b="1" dirty="0">
                <a:solidFill>
                  <a:schemeClr val="tx1"/>
                </a:solidFill>
              </a:rPr>
              <a:t>;</a:t>
            </a:r>
            <a:r>
              <a:rPr lang="zh-CN" altLang="en-US" sz="3200" b="1" dirty="0">
                <a:solidFill>
                  <a:schemeClr val="tx1"/>
                </a:solidFill>
              </a:rPr>
              <a:t>宽容</a:t>
            </a:r>
            <a:r>
              <a:rPr lang="en-US" altLang="zh-CN" sz="3200" b="1" dirty="0">
                <a:solidFill>
                  <a:schemeClr val="tx1"/>
                </a:solidFill>
              </a:rPr>
              <a:t>;</a:t>
            </a:r>
            <a:r>
              <a:rPr lang="zh-CN" altLang="en-US" sz="3200" b="1" dirty="0">
                <a:solidFill>
                  <a:schemeClr val="tx1"/>
                </a:solidFill>
              </a:rPr>
              <a:t>容许</a:t>
            </a:r>
            <a:r>
              <a:rPr lang="en-US" altLang="en-US" sz="3200" b="1" dirty="0">
                <a:solidFill>
                  <a:schemeClr val="tx1"/>
                </a:solidFill>
              </a:rPr>
              <a:t>→</a:t>
            </a:r>
            <a:r>
              <a:rPr lang="en-US" altLang="zh-CN" sz="3200" b="1" dirty="0">
                <a:solidFill>
                  <a:schemeClr val="tx1"/>
                </a:solidFill>
                <a:highlight>
                  <a:srgbClr val="FFFF00"/>
                </a:highlight>
              </a:rPr>
              <a:t>intolerant </a:t>
            </a:r>
            <a:r>
              <a:rPr lang="en-US" altLang="zh-CN" sz="3200" b="1" dirty="0">
                <a:solidFill>
                  <a:schemeClr val="tx1"/>
                </a:solidFill>
              </a:rPr>
              <a:t>adj.</a:t>
            </a:r>
            <a:r>
              <a:rPr lang="zh-CN" altLang="en-US" sz="3200" b="1" dirty="0">
                <a:solidFill>
                  <a:schemeClr val="tx1"/>
                </a:solidFill>
              </a:rPr>
              <a:t>无法忍受的</a:t>
            </a:r>
          </a:p>
          <a:p>
            <a:endParaRPr lang="en-US" altLang="zh-CN" sz="3200" b="1" dirty="0">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200" b="1" dirty="0">
                <a:sym typeface="+mn-ea"/>
              </a:rPr>
              <a:t>8. </a:t>
            </a:r>
            <a:r>
              <a:rPr lang="en-US" altLang="zh-CN" sz="3200" b="1" dirty="0">
                <a:highlight>
                  <a:srgbClr val="FFFF00"/>
                </a:highlight>
                <a:sym typeface="+mn-ea"/>
              </a:rPr>
              <a:t>vitality </a:t>
            </a:r>
            <a:r>
              <a:rPr lang="en-US" altLang="zh-CN" sz="3200" b="1" dirty="0">
                <a:sym typeface="+mn-ea"/>
              </a:rPr>
              <a:t>n.</a:t>
            </a:r>
            <a:r>
              <a:rPr lang="zh-CN" altLang="en-US" sz="3200" b="1" dirty="0">
                <a:sym typeface="+mn-ea"/>
              </a:rPr>
              <a:t>生命力，活力，热情</a:t>
            </a:r>
            <a:r>
              <a:rPr lang="en-US" altLang="en-US" sz="3200" b="1" dirty="0">
                <a:sym typeface="+mn-ea"/>
              </a:rPr>
              <a:t>→</a:t>
            </a:r>
            <a:r>
              <a:rPr lang="en-US" altLang="zh-CN" sz="3200" b="1" dirty="0">
                <a:highlight>
                  <a:srgbClr val="FFFF00"/>
                </a:highlight>
                <a:sym typeface="+mn-ea"/>
              </a:rPr>
              <a:t>vital </a:t>
            </a:r>
            <a:r>
              <a:rPr lang="en-US" altLang="zh-CN" sz="3200" b="1" dirty="0">
                <a:sym typeface="+mn-ea"/>
              </a:rPr>
              <a:t>adj.</a:t>
            </a:r>
            <a:r>
              <a:rPr lang="zh-CN" altLang="en-US" sz="3200" b="1" dirty="0">
                <a:sym typeface="+mn-ea"/>
              </a:rPr>
              <a:t>必不可少的，对</a:t>
            </a:r>
            <a:r>
              <a:rPr lang="en-US" altLang="zh-CN" sz="3200" b="1" dirty="0">
                <a:sym typeface="+mn-ea"/>
              </a:rPr>
              <a:t>…</a:t>
            </a:r>
            <a:r>
              <a:rPr lang="zh-CN" altLang="en-US" sz="3200" b="1" dirty="0">
                <a:sym typeface="+mn-ea"/>
              </a:rPr>
              <a:t>极重要的；维持生命所必需的；热情洋溢的</a:t>
            </a:r>
            <a:r>
              <a:rPr lang="en-US" altLang="en-US" sz="3200" b="1" dirty="0">
                <a:sym typeface="+mn-ea"/>
              </a:rPr>
              <a:t>→</a:t>
            </a:r>
            <a:r>
              <a:rPr lang="en-US" altLang="zh-CN" sz="3200" b="1" dirty="0">
                <a:highlight>
                  <a:srgbClr val="FFFF00"/>
                </a:highlight>
                <a:sym typeface="+mn-ea"/>
              </a:rPr>
              <a:t>vitally </a:t>
            </a:r>
            <a:r>
              <a:rPr lang="en-US" altLang="zh-CN" sz="3200" b="1" dirty="0">
                <a:sym typeface="+mn-ea"/>
              </a:rPr>
              <a:t>adv.</a:t>
            </a:r>
            <a:endParaRPr lang="en-US" altLang="zh-CN" sz="3200" b="1" dirty="0">
              <a:solidFill>
                <a:schemeClr val="tx1"/>
              </a:solidFill>
            </a:endParaRPr>
          </a:p>
          <a:p>
            <a:r>
              <a:rPr lang="en-US" altLang="zh-CN" sz="3200" b="1" dirty="0">
                <a:sym typeface="+mn-ea"/>
              </a:rPr>
              <a:t>9.</a:t>
            </a:r>
            <a:r>
              <a:rPr lang="en-US" altLang="zh-CN" sz="3200" b="1" dirty="0">
                <a:highlight>
                  <a:srgbClr val="FFFF00"/>
                </a:highlight>
                <a:sym typeface="+mn-ea"/>
              </a:rPr>
              <a:t>distinguish </a:t>
            </a:r>
            <a:r>
              <a:rPr lang="en-US" altLang="zh-CN" sz="3200" b="1" dirty="0">
                <a:sym typeface="+mn-ea"/>
              </a:rPr>
              <a:t>vt. &amp;vi.</a:t>
            </a:r>
            <a:r>
              <a:rPr lang="zh-CN" altLang="en-US" sz="3200" b="1" dirty="0">
                <a:sym typeface="+mn-ea"/>
              </a:rPr>
              <a:t>成为</a:t>
            </a:r>
            <a:r>
              <a:rPr lang="en-US" altLang="zh-CN" sz="3200" b="1" dirty="0">
                <a:sym typeface="+mn-ea"/>
              </a:rPr>
              <a:t>…</a:t>
            </a:r>
            <a:r>
              <a:rPr lang="zh-CN" altLang="en-US" sz="3200" b="1" dirty="0">
                <a:sym typeface="+mn-ea"/>
              </a:rPr>
              <a:t>的特征，使有别于；区分，辨别</a:t>
            </a:r>
            <a:r>
              <a:rPr lang="en-US" altLang="en-US" sz="3200" b="1" dirty="0">
                <a:sym typeface="+mn-ea"/>
              </a:rPr>
              <a:t>→</a:t>
            </a:r>
            <a:r>
              <a:rPr lang="en-US" altLang="zh-CN" sz="3200" b="1" dirty="0">
                <a:highlight>
                  <a:srgbClr val="FFFF00"/>
                </a:highlight>
                <a:sym typeface="+mn-ea"/>
              </a:rPr>
              <a:t>distinguished </a:t>
            </a:r>
            <a:r>
              <a:rPr lang="en-US" altLang="zh-CN" sz="3200" b="1" dirty="0">
                <a:sym typeface="+mn-ea"/>
              </a:rPr>
              <a:t>adj.</a:t>
            </a:r>
            <a:r>
              <a:rPr lang="zh-CN" altLang="en-US" sz="3200" b="1" dirty="0">
                <a:sym typeface="+mn-ea"/>
              </a:rPr>
              <a:t>卓越的</a:t>
            </a:r>
            <a:r>
              <a:rPr lang="en-US" altLang="zh-CN" sz="3200" b="1" dirty="0">
                <a:sym typeface="+mn-ea"/>
              </a:rPr>
              <a:t>;</a:t>
            </a:r>
            <a:r>
              <a:rPr lang="zh-CN" altLang="en-US" sz="3200" b="1" dirty="0">
                <a:sym typeface="+mn-ea"/>
              </a:rPr>
              <a:t>杰出的</a:t>
            </a:r>
            <a:r>
              <a:rPr lang="en-US" altLang="zh-CN" sz="3200" b="1" dirty="0">
                <a:sym typeface="+mn-ea"/>
              </a:rPr>
              <a:t>;</a:t>
            </a:r>
            <a:r>
              <a:rPr lang="zh-CN" altLang="en-US" sz="3200" b="1" dirty="0">
                <a:sym typeface="+mn-ea"/>
              </a:rPr>
              <a:t>著名的</a:t>
            </a:r>
            <a:r>
              <a:rPr lang="en-US" altLang="zh-CN" sz="3200" b="1" dirty="0">
                <a:sym typeface="+mn-ea"/>
              </a:rPr>
              <a:t>;</a:t>
            </a:r>
            <a:r>
              <a:rPr lang="zh-CN" altLang="en-US" sz="3200" b="1" dirty="0">
                <a:sym typeface="+mn-ea"/>
              </a:rPr>
              <a:t>显得重要的</a:t>
            </a:r>
            <a:r>
              <a:rPr lang="en-US" altLang="zh-CN" sz="3200" b="1" dirty="0">
                <a:sym typeface="+mn-ea"/>
              </a:rPr>
              <a:t>;</a:t>
            </a:r>
            <a:r>
              <a:rPr lang="zh-CN" altLang="en-US" sz="3200" b="1" dirty="0">
                <a:sym typeface="+mn-ea"/>
              </a:rPr>
              <a:t>高贵的</a:t>
            </a:r>
            <a:r>
              <a:rPr lang="en-US" altLang="zh-CN" sz="3200" b="1" dirty="0">
                <a:sym typeface="+mn-ea"/>
              </a:rPr>
              <a:t>;</a:t>
            </a:r>
            <a:r>
              <a:rPr lang="zh-CN" altLang="en-US" sz="3200" b="1" dirty="0">
                <a:sym typeface="+mn-ea"/>
              </a:rPr>
              <a:t>有尊严的</a:t>
            </a:r>
            <a:endParaRPr lang="zh-CN" altLang="en-US" sz="3200" b="1" dirty="0">
              <a:solidFill>
                <a:schemeClr val="tx1"/>
              </a:solidFill>
            </a:endParaRPr>
          </a:p>
          <a:p>
            <a:r>
              <a:rPr lang="en-US" altLang="zh-CN" sz="3200" b="1" dirty="0">
                <a:sym typeface="+mn-ea"/>
              </a:rPr>
              <a:t>10.</a:t>
            </a:r>
            <a:r>
              <a:rPr lang="en-US" altLang="zh-CN" sz="3200" b="1" dirty="0">
                <a:highlight>
                  <a:srgbClr val="FFFF00"/>
                </a:highlight>
                <a:sym typeface="+mn-ea"/>
              </a:rPr>
              <a:t>exaggeration </a:t>
            </a:r>
            <a:r>
              <a:rPr lang="en-US" altLang="zh-CN" sz="3200" b="1" dirty="0">
                <a:sym typeface="+mn-ea"/>
              </a:rPr>
              <a:t>n. </a:t>
            </a:r>
            <a:r>
              <a:rPr lang="zh-CN" altLang="en-US" sz="3200" b="1" dirty="0">
                <a:sym typeface="+mn-ea"/>
              </a:rPr>
              <a:t>夸张</a:t>
            </a:r>
            <a:r>
              <a:rPr lang="en-US" altLang="en-US" sz="3200" b="1" dirty="0">
                <a:sym typeface="+mn-ea"/>
              </a:rPr>
              <a:t>→</a:t>
            </a:r>
            <a:r>
              <a:rPr lang="en-US" altLang="zh-CN" sz="3200" b="1" dirty="0">
                <a:highlight>
                  <a:srgbClr val="FFFF00"/>
                </a:highlight>
                <a:sym typeface="+mn-ea"/>
              </a:rPr>
              <a:t>exaggerate </a:t>
            </a:r>
            <a:r>
              <a:rPr lang="en-US" altLang="zh-CN" sz="3200" b="1" dirty="0">
                <a:sym typeface="+mn-ea"/>
              </a:rPr>
              <a:t>v.</a:t>
            </a:r>
            <a:r>
              <a:rPr lang="zh-CN" altLang="en-US" sz="3200" b="1" dirty="0">
                <a:sym typeface="+mn-ea"/>
              </a:rPr>
              <a:t>夸张</a:t>
            </a:r>
            <a:r>
              <a:rPr lang="en-US" altLang="zh-CN" sz="3200" b="1" dirty="0">
                <a:sym typeface="+mn-ea"/>
              </a:rPr>
              <a:t>; </a:t>
            </a:r>
            <a:r>
              <a:rPr lang="zh-CN" altLang="en-US" sz="3200" b="1" dirty="0">
                <a:sym typeface="+mn-ea"/>
              </a:rPr>
              <a:t>夸大</a:t>
            </a:r>
            <a:r>
              <a:rPr lang="en-US" altLang="zh-CN" sz="3200" b="1" dirty="0">
                <a:sym typeface="+mn-ea"/>
              </a:rPr>
              <a:t>; </a:t>
            </a:r>
            <a:r>
              <a:rPr lang="zh-CN" altLang="en-US" sz="3200" b="1" dirty="0">
                <a:sym typeface="+mn-ea"/>
              </a:rPr>
              <a:t>言过其实</a:t>
            </a:r>
            <a:endParaRPr lang="zh-CN" altLang="en-US" sz="3200" b="1" dirty="0">
              <a:solidFill>
                <a:schemeClr val="tx1"/>
              </a:solidFill>
            </a:endParaRPr>
          </a:p>
          <a:p>
            <a:r>
              <a:rPr lang="en-US" altLang="zh-CN" sz="3200" b="1" dirty="0">
                <a:sym typeface="+mn-ea"/>
              </a:rPr>
              <a:t>11.</a:t>
            </a:r>
            <a:r>
              <a:rPr lang="en-US" altLang="zh-CN" sz="3200" b="1" dirty="0">
                <a:highlight>
                  <a:srgbClr val="FFFF00"/>
                </a:highlight>
                <a:sym typeface="+mn-ea"/>
              </a:rPr>
              <a:t>representative </a:t>
            </a:r>
            <a:r>
              <a:rPr lang="en-US" altLang="zh-CN" sz="3200" b="1" dirty="0">
                <a:sym typeface="+mn-ea"/>
              </a:rPr>
              <a:t>adj.</a:t>
            </a:r>
            <a:r>
              <a:rPr lang="zh-CN" altLang="en-US" sz="3200" b="1" dirty="0">
                <a:sym typeface="+mn-ea"/>
              </a:rPr>
              <a:t>典型的，有代表性的；</a:t>
            </a:r>
            <a:r>
              <a:rPr lang="en-US" altLang="zh-CN" sz="3200" b="1" dirty="0">
                <a:sym typeface="+mn-ea"/>
              </a:rPr>
              <a:t>n.</a:t>
            </a:r>
            <a:r>
              <a:rPr lang="zh-CN" altLang="en-US" sz="3200" b="1" dirty="0">
                <a:sym typeface="+mn-ea"/>
              </a:rPr>
              <a:t>典型人物</a:t>
            </a:r>
            <a:r>
              <a:rPr lang="en-US" altLang="en-US" sz="3200" b="1" dirty="0">
                <a:sym typeface="+mn-ea"/>
              </a:rPr>
              <a:t>→</a:t>
            </a:r>
            <a:r>
              <a:rPr lang="en-US" altLang="zh-CN" sz="3200" b="1" dirty="0">
                <a:highlight>
                  <a:srgbClr val="FFFF00"/>
                </a:highlight>
                <a:sym typeface="+mn-ea"/>
              </a:rPr>
              <a:t>represent </a:t>
            </a:r>
            <a:r>
              <a:rPr lang="en-US" altLang="zh-CN" sz="3200" b="1" dirty="0">
                <a:sym typeface="+mn-ea"/>
              </a:rPr>
              <a:t>vt. </a:t>
            </a:r>
            <a:r>
              <a:rPr lang="zh-CN" altLang="en-US" sz="3200" b="1" dirty="0">
                <a:sym typeface="+mn-ea"/>
              </a:rPr>
              <a:t>代表；作为</a:t>
            </a:r>
            <a:r>
              <a:rPr lang="en-US" altLang="zh-CN" sz="3200" b="1" dirty="0">
                <a:sym typeface="+mn-ea"/>
              </a:rPr>
              <a:t>…</a:t>
            </a:r>
            <a:r>
              <a:rPr lang="zh-CN" altLang="en-US" sz="3200" b="1" dirty="0">
                <a:sym typeface="+mn-ea"/>
              </a:rPr>
              <a:t>的象征</a:t>
            </a:r>
            <a:r>
              <a:rPr lang="en-US" altLang="zh-CN" sz="3200" b="1" dirty="0">
                <a:sym typeface="+mn-ea"/>
              </a:rPr>
              <a:t>; </a:t>
            </a:r>
            <a:r>
              <a:rPr lang="zh-CN" altLang="en-US" sz="3200" b="1" dirty="0">
                <a:sym typeface="+mn-ea"/>
              </a:rPr>
              <a:t>意味着</a:t>
            </a:r>
            <a:r>
              <a:rPr lang="en-US" altLang="en-US" sz="3200" b="1" dirty="0">
                <a:sym typeface="+mn-ea"/>
              </a:rPr>
              <a:t>→</a:t>
            </a:r>
            <a:r>
              <a:rPr lang="en-US" altLang="zh-CN" sz="3200" b="1" dirty="0">
                <a:sym typeface="+mn-ea"/>
              </a:rPr>
              <a:t> </a:t>
            </a:r>
            <a:r>
              <a:rPr lang="en-US" altLang="zh-CN" sz="3200" b="1" dirty="0">
                <a:highlight>
                  <a:srgbClr val="FFFF00"/>
                </a:highlight>
                <a:sym typeface="+mn-ea"/>
              </a:rPr>
              <a:t>representation </a:t>
            </a:r>
            <a:r>
              <a:rPr lang="en-US" altLang="zh-CN" sz="3200" b="1" dirty="0">
                <a:sym typeface="+mn-ea"/>
              </a:rPr>
              <a:t>n.</a:t>
            </a:r>
            <a:r>
              <a:rPr lang="zh-CN" altLang="en-US" sz="3200" b="1" dirty="0">
                <a:sym typeface="+mn-ea"/>
              </a:rPr>
              <a:t>表现</a:t>
            </a:r>
            <a:r>
              <a:rPr lang="en-US" altLang="zh-CN" sz="3200" b="1" dirty="0">
                <a:sym typeface="+mn-ea"/>
              </a:rPr>
              <a:t>; </a:t>
            </a:r>
            <a:r>
              <a:rPr lang="zh-CN" altLang="en-US" sz="3200" b="1" dirty="0">
                <a:sym typeface="+mn-ea"/>
              </a:rPr>
              <a:t>描述</a:t>
            </a:r>
            <a:r>
              <a:rPr lang="en-US" altLang="zh-CN" sz="3200" b="1" dirty="0">
                <a:sym typeface="+mn-ea"/>
              </a:rPr>
              <a:t>; </a:t>
            </a:r>
            <a:r>
              <a:rPr lang="zh-CN" altLang="en-US" sz="3200" b="1" dirty="0">
                <a:sym typeface="+mn-ea"/>
              </a:rPr>
              <a:t>描绘</a:t>
            </a:r>
            <a:endParaRPr lang="zh-CN" altLang="en-US" sz="3200" b="1" dirty="0">
              <a:solidFill>
                <a:schemeClr val="tx1"/>
              </a:solidFill>
            </a:endParaRPr>
          </a:p>
          <a:p>
            <a:r>
              <a:rPr lang="en-US" altLang="zh-CN" sz="3200" b="1" dirty="0">
                <a:sym typeface="+mn-ea"/>
              </a:rPr>
              <a:t>12.</a:t>
            </a:r>
            <a:r>
              <a:rPr lang="en-US" altLang="zh-CN" sz="3200" b="1" dirty="0">
                <a:highlight>
                  <a:srgbClr val="FFFF00"/>
                </a:highlight>
                <a:sym typeface="+mn-ea"/>
              </a:rPr>
              <a:t>frost </a:t>
            </a:r>
            <a:r>
              <a:rPr lang="en-US" altLang="zh-CN" sz="3200" b="1" dirty="0">
                <a:sym typeface="+mn-ea"/>
              </a:rPr>
              <a:t>n.</a:t>
            </a:r>
            <a:r>
              <a:rPr lang="zh-CN" altLang="en-US" sz="3200" b="1" dirty="0">
                <a:sym typeface="+mn-ea"/>
              </a:rPr>
              <a:t>霜冻</a:t>
            </a:r>
            <a:r>
              <a:rPr lang="en-US" altLang="en-US" sz="3200" b="1" dirty="0">
                <a:sym typeface="+mn-ea"/>
              </a:rPr>
              <a:t>→</a:t>
            </a:r>
            <a:r>
              <a:rPr lang="en-US" altLang="zh-CN" sz="3200" b="1" dirty="0">
                <a:highlight>
                  <a:srgbClr val="FFFF00"/>
                </a:highlight>
                <a:sym typeface="+mn-ea"/>
              </a:rPr>
              <a:t>frosty </a:t>
            </a:r>
            <a:r>
              <a:rPr lang="en-US" altLang="zh-CN" sz="3200" b="1" dirty="0">
                <a:sym typeface="+mn-ea"/>
              </a:rPr>
              <a:t>adj.</a:t>
            </a:r>
            <a:r>
              <a:rPr lang="zh-CN" altLang="en-US" sz="3200" b="1" dirty="0">
                <a:sym typeface="+mn-ea"/>
              </a:rPr>
              <a:t>严寒的</a:t>
            </a:r>
            <a:r>
              <a:rPr lang="en-US" altLang="zh-CN" sz="3200" b="1" dirty="0">
                <a:sym typeface="+mn-ea"/>
              </a:rPr>
              <a:t>;</a:t>
            </a:r>
            <a:r>
              <a:rPr lang="zh-CN" altLang="en-US" sz="3200" b="1" dirty="0">
                <a:sym typeface="+mn-ea"/>
              </a:rPr>
              <a:t>霜冻的</a:t>
            </a:r>
            <a:endParaRPr lang="zh-CN" altLang="en-US" sz="3200" b="1" dirty="0">
              <a:solidFill>
                <a:schemeClr val="tx1"/>
              </a:solidFill>
            </a:endParaRPr>
          </a:p>
          <a:p>
            <a:r>
              <a:rPr lang="en-US" altLang="zh-CN" sz="3200" b="1" dirty="0">
                <a:sym typeface="+mn-ea"/>
              </a:rPr>
              <a:t>13.</a:t>
            </a:r>
            <a:r>
              <a:rPr lang="en-US" altLang="zh-CN" sz="3200" b="1" dirty="0">
                <a:highlight>
                  <a:srgbClr val="FFFF00"/>
                </a:highlight>
                <a:sym typeface="+mn-ea"/>
              </a:rPr>
              <a:t>cast </a:t>
            </a:r>
            <a:r>
              <a:rPr lang="en-US" altLang="zh-CN" sz="3200" b="1" dirty="0">
                <a:sym typeface="+mn-ea"/>
              </a:rPr>
              <a:t>vt. </a:t>
            </a:r>
            <a:r>
              <a:rPr lang="en-US" altLang="zh-CN" sz="3200" b="1" dirty="0">
                <a:highlight>
                  <a:srgbClr val="FFFF00"/>
                </a:highlight>
                <a:sym typeface="+mn-ea"/>
              </a:rPr>
              <a:t>(cast, cast)</a:t>
            </a:r>
            <a:r>
              <a:rPr lang="en-US" altLang="zh-CN" sz="3200" b="1" dirty="0">
                <a:sym typeface="+mn-ea"/>
              </a:rPr>
              <a:t> </a:t>
            </a:r>
            <a:r>
              <a:rPr lang="zh-CN" altLang="en-US" sz="3200" b="1" dirty="0">
                <a:sym typeface="+mn-ea"/>
              </a:rPr>
              <a:t>投射；向</a:t>
            </a:r>
            <a:r>
              <a:rPr lang="en-US" altLang="zh-CN" sz="3200" b="1" dirty="0">
                <a:sym typeface="+mn-ea"/>
              </a:rPr>
              <a:t>…</a:t>
            </a:r>
            <a:r>
              <a:rPr lang="zh-CN" altLang="en-US" sz="3200" b="1" dirty="0">
                <a:sym typeface="+mn-ea"/>
              </a:rPr>
              <a:t>投以（视线、笑容等）；投，抛；选派</a:t>
            </a:r>
            <a:r>
              <a:rPr lang="en-US" altLang="zh-CN" sz="3200" b="1" dirty="0">
                <a:sym typeface="+mn-ea"/>
              </a:rPr>
              <a:t>	n. </a:t>
            </a:r>
            <a:r>
              <a:rPr lang="zh-CN" altLang="en-US" sz="3200" b="1" dirty="0">
                <a:sym typeface="+mn-ea"/>
              </a:rPr>
              <a:t>全体演员；投，抛</a:t>
            </a:r>
            <a:endParaRPr lang="zh-CN" altLang="en-US" sz="3200" b="1" dirty="0">
              <a:solidFill>
                <a:schemeClr val="tx1"/>
              </a:solidFill>
            </a:endParaRPr>
          </a:p>
          <a:p>
            <a:endParaRPr lang="en-US" altLang="zh-CN" sz="3200" b="1" dirty="0">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en-US" altLang="zh-CN" sz="3600" b="1" dirty="0">
                <a:sym typeface="+mn-ea"/>
              </a:rPr>
              <a:t>14.</a:t>
            </a:r>
            <a:r>
              <a:rPr lang="en-US" altLang="zh-CN" sz="3600" b="1" dirty="0">
                <a:highlight>
                  <a:srgbClr val="FFFF00"/>
                </a:highlight>
                <a:sym typeface="+mn-ea"/>
              </a:rPr>
              <a:t>fascinate </a:t>
            </a:r>
            <a:r>
              <a:rPr lang="en-US" altLang="zh-CN" sz="3600" b="1" dirty="0">
                <a:sym typeface="+mn-ea"/>
              </a:rPr>
              <a:t>(vt.&amp;vi.)</a:t>
            </a:r>
            <a:r>
              <a:rPr lang="zh-CN" altLang="en-US" sz="3600" b="1" dirty="0">
                <a:sym typeface="+mn-ea"/>
              </a:rPr>
              <a:t>深深吸引，迷住</a:t>
            </a:r>
            <a:r>
              <a:rPr lang="en-US" altLang="en-US" sz="3600" b="1" dirty="0">
                <a:sym typeface="+mn-ea"/>
              </a:rPr>
              <a:t>→</a:t>
            </a:r>
            <a:r>
              <a:rPr lang="en-US" altLang="zh-CN" sz="3600" b="1" dirty="0">
                <a:highlight>
                  <a:srgbClr val="FFFF00"/>
                </a:highlight>
                <a:sym typeface="+mn-ea"/>
              </a:rPr>
              <a:t>fascination </a:t>
            </a:r>
            <a:r>
              <a:rPr lang="en-US" altLang="zh-CN" sz="3600" b="1" dirty="0">
                <a:sym typeface="+mn-ea"/>
              </a:rPr>
              <a:t>n.</a:t>
            </a:r>
            <a:r>
              <a:rPr lang="zh-CN" altLang="en-US" sz="3600" b="1" dirty="0">
                <a:sym typeface="+mn-ea"/>
              </a:rPr>
              <a:t>魅力</a:t>
            </a:r>
            <a:r>
              <a:rPr lang="en-US" altLang="zh-CN" sz="3600" b="1" dirty="0">
                <a:sym typeface="+mn-ea"/>
              </a:rPr>
              <a:t>;</a:t>
            </a:r>
            <a:r>
              <a:rPr lang="zh-CN" altLang="en-US" sz="3600" b="1" dirty="0">
                <a:sym typeface="+mn-ea"/>
              </a:rPr>
              <a:t>极大的吸引力</a:t>
            </a:r>
            <a:r>
              <a:rPr lang="en-US" altLang="zh-CN" sz="3600" b="1" dirty="0">
                <a:sym typeface="+mn-ea"/>
              </a:rPr>
              <a:t>;</a:t>
            </a:r>
            <a:r>
              <a:rPr lang="zh-CN" altLang="en-US" sz="3600" b="1" dirty="0">
                <a:sym typeface="+mn-ea"/>
              </a:rPr>
              <a:t>入迷</a:t>
            </a:r>
            <a:r>
              <a:rPr lang="en-US" altLang="zh-CN" sz="3600" b="1" dirty="0">
                <a:sym typeface="+mn-ea"/>
              </a:rPr>
              <a:t>;</a:t>
            </a:r>
            <a:r>
              <a:rPr lang="zh-CN" altLang="en-US" sz="3600" b="1" dirty="0">
                <a:sym typeface="+mn-ea"/>
              </a:rPr>
              <a:t>着迷</a:t>
            </a:r>
            <a:r>
              <a:rPr lang="en-US" altLang="en-US" sz="3600" b="1" dirty="0">
                <a:sym typeface="+mn-ea"/>
              </a:rPr>
              <a:t>→</a:t>
            </a:r>
            <a:r>
              <a:rPr lang="en-US" altLang="zh-CN" sz="3600" b="1" dirty="0">
                <a:highlight>
                  <a:srgbClr val="FFFF00"/>
                </a:highlight>
                <a:sym typeface="+mn-ea"/>
              </a:rPr>
              <a:t>fascinated </a:t>
            </a:r>
            <a:r>
              <a:rPr lang="en-US" altLang="zh-CN" sz="3600" b="1" dirty="0">
                <a:sym typeface="+mn-ea"/>
              </a:rPr>
              <a:t>adj.</a:t>
            </a:r>
            <a:r>
              <a:rPr lang="zh-CN" altLang="en-US" sz="3600" b="1" dirty="0">
                <a:sym typeface="+mn-ea"/>
              </a:rPr>
              <a:t>入迷的</a:t>
            </a:r>
            <a:r>
              <a:rPr lang="en-US" altLang="zh-CN" sz="3600" b="1" dirty="0">
                <a:sym typeface="+mn-ea"/>
              </a:rPr>
              <a:t>;</a:t>
            </a:r>
            <a:r>
              <a:rPr lang="zh-CN" altLang="en-US" sz="3600" b="1" dirty="0">
                <a:sym typeface="+mn-ea"/>
              </a:rPr>
              <a:t>极感兴趣的</a:t>
            </a:r>
            <a:r>
              <a:rPr lang="en-US" altLang="en-US" sz="3600" b="1" dirty="0">
                <a:sym typeface="+mn-ea"/>
              </a:rPr>
              <a:t>→</a:t>
            </a:r>
            <a:r>
              <a:rPr lang="en-US" altLang="zh-CN" sz="3600" b="1" dirty="0">
                <a:highlight>
                  <a:srgbClr val="FFFF00"/>
                </a:highlight>
                <a:sym typeface="+mn-ea"/>
              </a:rPr>
              <a:t>fascinating </a:t>
            </a:r>
            <a:r>
              <a:rPr lang="en-US" altLang="zh-CN" sz="3600" b="1" dirty="0">
                <a:sym typeface="+mn-ea"/>
              </a:rPr>
              <a:t>adj.</a:t>
            </a:r>
            <a:r>
              <a:rPr lang="zh-CN" altLang="en-US" sz="3600" b="1" dirty="0">
                <a:sym typeface="+mn-ea"/>
              </a:rPr>
              <a:t>极有吸引力的</a:t>
            </a:r>
            <a:r>
              <a:rPr lang="en-US" altLang="zh-CN" sz="3600" b="1" dirty="0">
                <a:sym typeface="+mn-ea"/>
              </a:rPr>
              <a:t>;</a:t>
            </a:r>
            <a:r>
              <a:rPr lang="zh-CN" altLang="en-US" sz="3600" b="1" dirty="0">
                <a:sym typeface="+mn-ea"/>
              </a:rPr>
              <a:t>迷人的</a:t>
            </a:r>
            <a:endParaRPr lang="zh-CN" altLang="en-US" sz="3600" b="1" dirty="0">
              <a:solidFill>
                <a:schemeClr val="tx1"/>
              </a:solidFill>
            </a:endParaRPr>
          </a:p>
          <a:p>
            <a:r>
              <a:rPr lang="en-US" altLang="zh-CN" sz="3600" b="1" dirty="0">
                <a:sym typeface="+mn-ea"/>
              </a:rPr>
              <a:t>15.</a:t>
            </a:r>
            <a:r>
              <a:rPr lang="en-US" altLang="zh-CN" sz="3600" b="1" dirty="0">
                <a:highlight>
                  <a:srgbClr val="FFFF00"/>
                </a:highlight>
                <a:sym typeface="+mn-ea"/>
              </a:rPr>
              <a:t>entitle </a:t>
            </a:r>
            <a:r>
              <a:rPr lang="en-US" altLang="zh-CN" sz="3600" b="1" dirty="0">
                <a:sym typeface="+mn-ea"/>
              </a:rPr>
              <a:t>vt.</a:t>
            </a:r>
            <a:r>
              <a:rPr lang="zh-CN" altLang="en-US" sz="3600" b="1" dirty="0">
                <a:sym typeface="+mn-ea"/>
              </a:rPr>
              <a:t>给</a:t>
            </a:r>
            <a:r>
              <a:rPr lang="en-US" altLang="zh-CN" sz="3600" b="1" dirty="0">
                <a:sym typeface="+mn-ea"/>
              </a:rPr>
              <a:t>……</a:t>
            </a:r>
            <a:r>
              <a:rPr lang="zh-CN" altLang="en-US" sz="3600" b="1" dirty="0">
                <a:sym typeface="+mn-ea"/>
              </a:rPr>
              <a:t>命名；使享有权利，使符合资格</a:t>
            </a:r>
            <a:r>
              <a:rPr lang="en-US" altLang="en-US" sz="3600" b="1" dirty="0">
                <a:sym typeface="+mn-ea"/>
              </a:rPr>
              <a:t>→</a:t>
            </a:r>
            <a:r>
              <a:rPr lang="en-US" altLang="zh-CN" sz="3600" b="1" dirty="0">
                <a:highlight>
                  <a:srgbClr val="FFFF00"/>
                </a:highlight>
                <a:sym typeface="+mn-ea"/>
              </a:rPr>
              <a:t>title </a:t>
            </a:r>
            <a:r>
              <a:rPr lang="en-US" altLang="zh-CN" sz="3600" b="1" dirty="0">
                <a:sym typeface="+mn-ea"/>
              </a:rPr>
              <a:t>n</a:t>
            </a:r>
            <a:r>
              <a:rPr lang="zh-CN" altLang="en-US" sz="3600" b="1" dirty="0">
                <a:sym typeface="+mn-ea"/>
              </a:rPr>
              <a:t>．标题，权利，头衔</a:t>
            </a:r>
            <a:r>
              <a:rPr lang="en-US" altLang="zh-CN" sz="3600" b="1" dirty="0">
                <a:sym typeface="+mn-ea"/>
              </a:rPr>
              <a:t> v</a:t>
            </a:r>
            <a:r>
              <a:rPr lang="zh-CN" altLang="en-US" sz="3600" b="1" dirty="0">
                <a:sym typeface="+mn-ea"/>
              </a:rPr>
              <a:t>．加标题，定题目</a:t>
            </a:r>
            <a:endParaRPr lang="zh-CN" altLang="en-US" sz="3600" b="1" dirty="0">
              <a:solidFill>
                <a:schemeClr val="tx1"/>
              </a:solidFill>
            </a:endParaRPr>
          </a:p>
          <a:p>
            <a:r>
              <a:rPr lang="en-US" altLang="zh-CN" sz="3600" b="1" dirty="0">
                <a:sym typeface="+mn-ea"/>
              </a:rPr>
              <a:t>16.</a:t>
            </a:r>
            <a:r>
              <a:rPr lang="en-US" altLang="zh-CN" sz="3600" b="1" dirty="0">
                <a:highlight>
                  <a:srgbClr val="FFFF00"/>
                </a:highlight>
                <a:sym typeface="+mn-ea"/>
              </a:rPr>
              <a:t>allowance </a:t>
            </a:r>
            <a:r>
              <a:rPr lang="en-US" altLang="zh-CN" sz="3600" b="1" dirty="0">
                <a:sym typeface="+mn-ea"/>
              </a:rPr>
              <a:t>n.</a:t>
            </a:r>
            <a:r>
              <a:rPr lang="zh-CN" altLang="en-US" sz="3600" b="1" dirty="0">
                <a:sym typeface="+mn-ea"/>
              </a:rPr>
              <a:t>津贴，补助</a:t>
            </a:r>
            <a:r>
              <a:rPr lang="en-US" altLang="en-US" sz="3600" b="1" dirty="0">
                <a:sym typeface="+mn-ea"/>
              </a:rPr>
              <a:t>→</a:t>
            </a:r>
            <a:r>
              <a:rPr lang="en-US" altLang="zh-CN" sz="3600" b="1" dirty="0">
                <a:highlight>
                  <a:srgbClr val="FFFF00"/>
                </a:highlight>
                <a:sym typeface="+mn-ea"/>
              </a:rPr>
              <a:t>allow </a:t>
            </a:r>
            <a:r>
              <a:rPr lang="en-US" altLang="zh-CN" sz="3600" b="1" dirty="0">
                <a:sym typeface="+mn-ea"/>
              </a:rPr>
              <a:t>vt.</a:t>
            </a:r>
            <a:r>
              <a:rPr lang="zh-CN" altLang="en-US" sz="3600" b="1" dirty="0">
                <a:sym typeface="+mn-ea"/>
              </a:rPr>
              <a:t>允许</a:t>
            </a:r>
            <a:endParaRPr lang="zh-CN" altLang="en-US" sz="3600" b="1" dirty="0">
              <a:solidFill>
                <a:schemeClr val="tx1"/>
              </a:solidFill>
            </a:endParaRPr>
          </a:p>
          <a:p>
            <a:r>
              <a:rPr lang="en-US" altLang="zh-CN" sz="3600" b="1" dirty="0">
                <a:sym typeface="+mn-ea"/>
              </a:rPr>
              <a:t>17.</a:t>
            </a:r>
            <a:r>
              <a:rPr lang="en-US" altLang="zh-CN" sz="3600" b="1" dirty="0">
                <a:highlight>
                  <a:srgbClr val="FFFF00"/>
                </a:highlight>
                <a:sym typeface="+mn-ea"/>
              </a:rPr>
              <a:t>unforgiving </a:t>
            </a:r>
            <a:r>
              <a:rPr lang="en-US" altLang="zh-CN" sz="3600" b="1" dirty="0">
                <a:sym typeface="+mn-ea"/>
              </a:rPr>
              <a:t>adj.</a:t>
            </a:r>
            <a:r>
              <a:rPr lang="zh-CN" altLang="en-US" sz="3600" b="1" dirty="0">
                <a:sym typeface="+mn-ea"/>
              </a:rPr>
              <a:t>棘手的</a:t>
            </a:r>
            <a:r>
              <a:rPr lang="en-US" altLang="zh-CN" sz="3600" b="1" dirty="0">
                <a:sym typeface="+mn-ea"/>
              </a:rPr>
              <a:t>;</a:t>
            </a:r>
            <a:r>
              <a:rPr lang="zh-CN" altLang="en-US" sz="3600" b="1" dirty="0">
                <a:sym typeface="+mn-ea"/>
              </a:rPr>
              <a:t>不饶人的</a:t>
            </a:r>
            <a:r>
              <a:rPr lang="en-US" altLang="en-US" sz="3600" b="1" dirty="0">
                <a:sym typeface="+mn-ea"/>
              </a:rPr>
              <a:t>→</a:t>
            </a:r>
            <a:r>
              <a:rPr lang="en-US" altLang="zh-CN" sz="3600" b="1" dirty="0">
                <a:highlight>
                  <a:srgbClr val="FFFF00"/>
                </a:highlight>
                <a:sym typeface="+mn-ea"/>
              </a:rPr>
              <a:t>forgive </a:t>
            </a:r>
            <a:r>
              <a:rPr lang="en-US" altLang="zh-CN" sz="3600" b="1" dirty="0">
                <a:sym typeface="+mn-ea"/>
              </a:rPr>
              <a:t>v.</a:t>
            </a:r>
            <a:r>
              <a:rPr lang="zh-CN" altLang="en-US" sz="3600" b="1" dirty="0">
                <a:sym typeface="+mn-ea"/>
              </a:rPr>
              <a:t>原谅</a:t>
            </a:r>
            <a:r>
              <a:rPr lang="en-US" altLang="zh-CN" sz="3600" b="1" dirty="0">
                <a:highlight>
                  <a:srgbClr val="FFFF00"/>
                </a:highlight>
                <a:sym typeface="+mn-ea"/>
              </a:rPr>
              <a:t>(forgave, forgiven)</a:t>
            </a:r>
            <a:endParaRPr lang="en-US" altLang="zh-CN" sz="3600" b="1" dirty="0">
              <a:solidFill>
                <a:schemeClr val="tx1"/>
              </a:solidFill>
              <a:highlight>
                <a:srgbClr val="FFFF00"/>
              </a:highlight>
            </a:endParaRPr>
          </a:p>
          <a:p>
            <a:r>
              <a:rPr lang="zh-CN" altLang="en-US" sz="3600" b="1" dirty="0">
                <a:sym typeface="+mn-ea"/>
              </a:rPr>
              <a:t>二、动词过去式</a:t>
            </a:r>
            <a:r>
              <a:rPr lang="en-US" altLang="zh-CN" sz="3600" b="1" dirty="0">
                <a:sym typeface="+mn-ea"/>
              </a:rPr>
              <a:t>&amp;</a:t>
            </a:r>
            <a:r>
              <a:rPr lang="zh-CN" altLang="en-US" sz="3600" b="1" dirty="0">
                <a:sym typeface="+mn-ea"/>
              </a:rPr>
              <a:t>过去分词变化</a:t>
            </a:r>
            <a:endParaRPr lang="zh-CN" altLang="en-US" sz="3600" b="1" dirty="0">
              <a:solidFill>
                <a:schemeClr val="tx1"/>
              </a:solidFill>
            </a:endParaRPr>
          </a:p>
          <a:p>
            <a:r>
              <a:rPr lang="en-US" altLang="zh-CN" sz="3600" b="1" dirty="0">
                <a:sym typeface="+mn-ea"/>
              </a:rPr>
              <a:t>1. </a:t>
            </a:r>
            <a:r>
              <a:rPr lang="en-US" altLang="zh-CN" sz="3600" b="1" dirty="0">
                <a:highlight>
                  <a:srgbClr val="FFFF00"/>
                </a:highlight>
                <a:sym typeface="+mn-ea"/>
              </a:rPr>
              <a:t>bend</a:t>
            </a:r>
            <a:r>
              <a:rPr lang="en-US" altLang="en-US" sz="3600" b="1" dirty="0">
                <a:highlight>
                  <a:srgbClr val="FFFF00"/>
                </a:highlight>
                <a:sym typeface="+mn-ea"/>
              </a:rPr>
              <a:t>→</a:t>
            </a:r>
            <a:r>
              <a:rPr lang="en-US" altLang="zh-CN" sz="3600" b="1" dirty="0">
                <a:highlight>
                  <a:srgbClr val="FFFF00"/>
                </a:highlight>
                <a:sym typeface="+mn-ea"/>
              </a:rPr>
              <a:t>bent</a:t>
            </a:r>
            <a:r>
              <a:rPr lang="en-US" altLang="en-US" sz="3600" b="1" dirty="0">
                <a:highlight>
                  <a:srgbClr val="FFFF00"/>
                </a:highlight>
                <a:sym typeface="+mn-ea"/>
              </a:rPr>
              <a:t>→</a:t>
            </a:r>
            <a:r>
              <a:rPr lang="en-US" altLang="zh-CN" sz="3600" b="1" dirty="0">
                <a:highlight>
                  <a:srgbClr val="FFFF00"/>
                </a:highlight>
                <a:sym typeface="+mn-ea"/>
              </a:rPr>
              <a:t> bent  2. cast</a:t>
            </a:r>
            <a:r>
              <a:rPr lang="en-US" altLang="en-US" sz="3600" b="1" dirty="0">
                <a:highlight>
                  <a:srgbClr val="FFFF00"/>
                </a:highlight>
                <a:sym typeface="+mn-ea"/>
              </a:rPr>
              <a:t>→</a:t>
            </a:r>
            <a:r>
              <a:rPr lang="en-US" altLang="zh-CN" sz="3600" b="1" dirty="0">
                <a:highlight>
                  <a:srgbClr val="FFFF00"/>
                </a:highlight>
                <a:sym typeface="+mn-ea"/>
              </a:rPr>
              <a:t>cast</a:t>
            </a:r>
            <a:r>
              <a:rPr lang="en-US" altLang="en-US" sz="3600" b="1" dirty="0">
                <a:highlight>
                  <a:srgbClr val="FFFF00"/>
                </a:highlight>
                <a:sym typeface="+mn-ea"/>
              </a:rPr>
              <a:t>→</a:t>
            </a:r>
            <a:r>
              <a:rPr lang="en-US" altLang="zh-CN" sz="3600" b="1" dirty="0">
                <a:highlight>
                  <a:srgbClr val="FFFF00"/>
                </a:highlight>
                <a:sym typeface="+mn-ea"/>
              </a:rPr>
              <a:t>cast</a:t>
            </a:r>
            <a:endParaRPr lang="en-US" altLang="zh-CN" sz="3600" b="1" dirty="0">
              <a:solidFill>
                <a:schemeClr val="tx1"/>
              </a:solidFill>
              <a:highlight>
                <a:srgbClr val="FFFF00"/>
              </a:highlight>
            </a:endParaRPr>
          </a:p>
          <a:p>
            <a:r>
              <a:rPr lang="en-US" altLang="zh-CN" sz="3600" b="1" dirty="0">
                <a:highlight>
                  <a:srgbClr val="FFFF00"/>
                </a:highlight>
                <a:sym typeface="+mn-ea"/>
              </a:rPr>
              <a:t>3. strike</a:t>
            </a:r>
            <a:r>
              <a:rPr lang="en-US" altLang="en-US" sz="3600" b="1" dirty="0">
                <a:highlight>
                  <a:srgbClr val="FFFF00"/>
                </a:highlight>
                <a:sym typeface="+mn-ea"/>
              </a:rPr>
              <a:t>→</a:t>
            </a:r>
            <a:r>
              <a:rPr lang="en-US" altLang="zh-CN" sz="3600" b="1" dirty="0">
                <a:highlight>
                  <a:srgbClr val="FFFF00"/>
                </a:highlight>
                <a:sym typeface="+mn-ea"/>
              </a:rPr>
              <a:t>struck</a:t>
            </a:r>
            <a:r>
              <a:rPr lang="en-US" altLang="en-US" sz="3600" b="1" dirty="0">
                <a:highlight>
                  <a:srgbClr val="FFFF00"/>
                </a:highlight>
                <a:sym typeface="+mn-ea"/>
              </a:rPr>
              <a:t>→</a:t>
            </a:r>
            <a:r>
              <a:rPr lang="en-US" altLang="zh-CN" sz="3600" b="1" dirty="0">
                <a:highlight>
                  <a:srgbClr val="FFFF00"/>
                </a:highlight>
                <a:sym typeface="+mn-ea"/>
              </a:rPr>
              <a:t>struck 4. forgive</a:t>
            </a:r>
            <a:r>
              <a:rPr lang="en-US" altLang="en-US" sz="3600" b="1" dirty="0">
                <a:highlight>
                  <a:srgbClr val="FFFF00"/>
                </a:highlight>
                <a:sym typeface="+mn-ea"/>
              </a:rPr>
              <a:t>→</a:t>
            </a:r>
            <a:r>
              <a:rPr lang="en-US" altLang="zh-CN" sz="3600" b="1" dirty="0">
                <a:highlight>
                  <a:srgbClr val="FFFF00"/>
                </a:highlight>
                <a:sym typeface="+mn-ea"/>
              </a:rPr>
              <a:t>forgave</a:t>
            </a:r>
            <a:r>
              <a:rPr lang="en-US" altLang="en-US" sz="3600" b="1" dirty="0">
                <a:highlight>
                  <a:srgbClr val="FFFF00"/>
                </a:highlight>
                <a:sym typeface="+mn-ea"/>
              </a:rPr>
              <a:t>→</a:t>
            </a:r>
            <a:r>
              <a:rPr lang="en-US" altLang="zh-CN" sz="3600" b="1" dirty="0">
                <a:highlight>
                  <a:srgbClr val="FFFF00"/>
                </a:highlight>
                <a:sym typeface="+mn-ea"/>
              </a:rPr>
              <a:t>forgiven</a:t>
            </a:r>
            <a:endParaRPr lang="en-US" altLang="zh-CN" sz="3600" b="1" dirty="0">
              <a:solidFill>
                <a:schemeClr val="tx1"/>
              </a:solidFill>
              <a:highlight>
                <a:srgbClr val="FFFF00"/>
              </a:highlight>
            </a:endParaRPr>
          </a:p>
          <a:p>
            <a:r>
              <a:rPr lang="en-US" altLang="zh-CN" sz="3600" b="1" dirty="0">
                <a:highlight>
                  <a:srgbClr val="FFFF00"/>
                </a:highlight>
                <a:sym typeface="+mn-ea"/>
              </a:rPr>
              <a:t>5. tread vi. &amp; vt. (trod, trodden) </a:t>
            </a:r>
            <a:r>
              <a:rPr lang="zh-CN" altLang="en-US" sz="3600" b="1" dirty="0">
                <a:sym typeface="+mn-ea"/>
              </a:rPr>
              <a:t>踩</a:t>
            </a:r>
            <a:r>
              <a:rPr lang="en-US" altLang="zh-CN" sz="3600" b="1" dirty="0">
                <a:sym typeface="+mn-ea"/>
              </a:rPr>
              <a:t>,</a:t>
            </a:r>
            <a:r>
              <a:rPr lang="zh-CN" altLang="en-US" sz="3600" b="1" dirty="0">
                <a:sym typeface="+mn-ea"/>
              </a:rPr>
              <a:t>踏</a:t>
            </a:r>
            <a:r>
              <a:rPr lang="en-US" altLang="zh-CN" sz="3600" b="1" dirty="0">
                <a:sym typeface="+mn-ea"/>
              </a:rPr>
              <a:t>;</a:t>
            </a:r>
            <a:r>
              <a:rPr lang="zh-CN" altLang="en-US" sz="3600" b="1" dirty="0">
                <a:sym typeface="+mn-ea"/>
              </a:rPr>
              <a:t>行走</a:t>
            </a:r>
            <a:endParaRPr lang="zh-CN" altLang="en-US" sz="3600" b="1" dirty="0">
              <a:solidFill>
                <a:schemeClr val="tx1"/>
              </a:solidFill>
            </a:endParaRPr>
          </a:p>
          <a:p>
            <a:r>
              <a:rPr lang="en-US" altLang="zh-CN" sz="3600" b="1" dirty="0">
                <a:sym typeface="+mn-ea"/>
              </a:rPr>
              <a:t>1.</a:t>
            </a:r>
            <a:r>
              <a:rPr lang="en-US" altLang="zh-CN" sz="3600" b="1" dirty="0">
                <a:highlight>
                  <a:srgbClr val="FFFF00"/>
                </a:highlight>
                <a:sym typeface="+mn-ea"/>
              </a:rPr>
              <a:t>make allowance for</a:t>
            </a:r>
            <a:r>
              <a:rPr lang="zh-CN" altLang="en-US" sz="3600" b="1" dirty="0">
                <a:sym typeface="+mn-ea"/>
              </a:rPr>
              <a:t>体谅；考虑到</a:t>
            </a:r>
            <a:r>
              <a:rPr lang="en-US" altLang="zh-CN" sz="3600" b="1" dirty="0">
                <a:sym typeface="+mn-ea"/>
              </a:rPr>
              <a:t> (made, made)</a:t>
            </a:r>
            <a:endParaRPr lang="en-US" altLang="zh-CN" sz="3600" b="1" dirty="0">
              <a:solidFill>
                <a:schemeClr val="tx1"/>
              </a:solidFill>
            </a:endParaRPr>
          </a:p>
          <a:p>
            <a:endParaRPr lang="zh-CN" altLang="en-US" sz="3600" b="1" dirty="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a:bodyPr>
          <a:lstStyle/>
          <a:p>
            <a:r>
              <a:rPr lang="en-US" altLang="zh-CN" b="1" dirty="0"/>
              <a:t>1. ________ v. (____, ____)</a:t>
            </a:r>
            <a:r>
              <a:rPr lang="zh-CN" altLang="zh-CN" b="1" dirty="0"/>
              <a:t>（使）拐弯</a:t>
            </a:r>
            <a:r>
              <a:rPr lang="en-US" altLang="zh-CN" b="1" dirty="0"/>
              <a:t>,</a:t>
            </a:r>
            <a:r>
              <a:rPr lang="zh-CN" altLang="zh-CN" b="1" dirty="0"/>
              <a:t>弯曲</a:t>
            </a:r>
            <a:r>
              <a:rPr lang="en-US" altLang="zh-CN" b="1" dirty="0"/>
              <a:t> n. </a:t>
            </a:r>
          </a:p>
          <a:p>
            <a:r>
              <a:rPr lang="en-US" altLang="zh-CN" b="1" dirty="0"/>
              <a:t>2. _____ adj.</a:t>
            </a:r>
            <a:r>
              <a:rPr lang="zh-CN" altLang="zh-CN" b="1" dirty="0"/>
              <a:t>引人注目的</a:t>
            </a:r>
            <a:r>
              <a:rPr lang="en-US" altLang="zh-CN" b="1" dirty="0"/>
              <a:t>,</a:t>
            </a:r>
            <a:r>
              <a:rPr lang="zh-CN" altLang="zh-CN" b="1" dirty="0"/>
              <a:t>显著</a:t>
            </a:r>
            <a:r>
              <a:rPr lang="en-US" altLang="zh-CN" b="1" dirty="0"/>
              <a:t>→strike v.(______, ___)</a:t>
            </a:r>
            <a:endParaRPr lang="zh-CN" altLang="zh-CN" b="1" dirty="0"/>
          </a:p>
          <a:p>
            <a:r>
              <a:rPr lang="en-US" altLang="zh-CN" b="1" dirty="0"/>
              <a:t>3. ___</a:t>
            </a:r>
            <a:r>
              <a:rPr lang="en-US" altLang="zh-CN" b="1" dirty="0" err="1"/>
              <a:t>vt.</a:t>
            </a:r>
            <a:r>
              <a:rPr lang="zh-CN" altLang="zh-CN" b="1" dirty="0"/>
              <a:t>是</a:t>
            </a:r>
            <a:r>
              <a:rPr lang="en-US" altLang="zh-CN" b="1" dirty="0"/>
              <a:t>…</a:t>
            </a:r>
            <a:r>
              <a:rPr lang="zh-CN" altLang="zh-CN" b="1" dirty="0"/>
              <a:t>的特征</a:t>
            </a:r>
            <a:r>
              <a:rPr lang="en-US" altLang="zh-CN" b="1" dirty="0"/>
              <a:t>;</a:t>
            </a:r>
            <a:r>
              <a:rPr lang="zh-CN" altLang="zh-CN" b="1" dirty="0"/>
              <a:t>描述</a:t>
            </a:r>
            <a:r>
              <a:rPr lang="en-US" altLang="zh-CN" b="1" dirty="0"/>
              <a:t>→___n.</a:t>
            </a:r>
            <a:r>
              <a:rPr lang="zh-CN" altLang="zh-CN" b="1" dirty="0"/>
              <a:t>性格</a:t>
            </a:r>
            <a:r>
              <a:rPr lang="en-US" altLang="zh-CN" b="1" dirty="0"/>
              <a:t>;</a:t>
            </a:r>
            <a:r>
              <a:rPr lang="zh-CN" altLang="zh-CN" b="1" dirty="0"/>
              <a:t>特色</a:t>
            </a:r>
            <a:r>
              <a:rPr lang="en-US" altLang="zh-CN" b="1" dirty="0"/>
              <a:t>;</a:t>
            </a:r>
            <a:r>
              <a:rPr lang="zh-CN" altLang="zh-CN" b="1" dirty="0"/>
              <a:t>角色</a:t>
            </a:r>
            <a:r>
              <a:rPr lang="en-US" altLang="zh-CN" b="1" dirty="0"/>
              <a:t>→__n.</a:t>
            </a:r>
            <a:r>
              <a:rPr lang="zh-CN" altLang="zh-CN" b="1" dirty="0"/>
              <a:t>特点品质</a:t>
            </a:r>
            <a:r>
              <a:rPr lang="en-US" altLang="zh-CN" b="1" dirty="0"/>
              <a:t>→___adj.</a:t>
            </a:r>
            <a:r>
              <a:rPr lang="zh-CN" altLang="zh-CN" b="1" dirty="0"/>
              <a:t>典型特有的</a:t>
            </a:r>
          </a:p>
          <a:p>
            <a:r>
              <a:rPr lang="en-US" altLang="zh-CN" b="1" dirty="0"/>
              <a:t>4. ____ n.</a:t>
            </a:r>
            <a:r>
              <a:rPr lang="zh-CN" altLang="zh-CN" b="1" dirty="0"/>
              <a:t>传奇故事</a:t>
            </a:r>
            <a:r>
              <a:rPr lang="en-US" altLang="zh-CN" b="1" dirty="0"/>
              <a:t>→_____ adj.</a:t>
            </a:r>
            <a:r>
              <a:rPr lang="zh-CN" altLang="zh-CN" b="1" dirty="0"/>
              <a:t>传奇的</a:t>
            </a:r>
            <a:r>
              <a:rPr lang="en-US" altLang="zh-CN" b="1" dirty="0"/>
              <a:t> 5. ___ adj.</a:t>
            </a:r>
            <a:r>
              <a:rPr lang="zh-CN" altLang="zh-CN" b="1" dirty="0"/>
              <a:t>光荣的</a:t>
            </a:r>
            <a:r>
              <a:rPr lang="en-US" altLang="zh-CN" b="1" dirty="0"/>
              <a:t>;</a:t>
            </a:r>
            <a:r>
              <a:rPr lang="zh-CN" altLang="zh-CN" b="1" dirty="0"/>
              <a:t>壮丽的</a:t>
            </a:r>
            <a:r>
              <a:rPr lang="en-US" altLang="zh-CN" b="1" dirty="0"/>
              <a:t>→___n.</a:t>
            </a:r>
            <a:r>
              <a:rPr lang="zh-CN" altLang="zh-CN" b="1" dirty="0"/>
              <a:t>光荣</a:t>
            </a:r>
          </a:p>
          <a:p>
            <a:r>
              <a:rPr lang="en-US" altLang="zh-CN" b="1" dirty="0"/>
              <a:t>6. ________ n.</a:t>
            </a:r>
            <a:r>
              <a:rPr lang="zh-CN" altLang="zh-CN" b="1" dirty="0"/>
              <a:t>稳定</a:t>
            </a:r>
            <a:r>
              <a:rPr lang="en-US" altLang="zh-CN" b="1" dirty="0"/>
              <a:t>(</a:t>
            </a:r>
            <a:r>
              <a:rPr lang="zh-CN" altLang="zh-CN" b="1" dirty="0"/>
              <a:t>性</a:t>
            </a:r>
            <a:r>
              <a:rPr lang="en-US" altLang="zh-CN" b="1" dirty="0"/>
              <a:t>)→____ adj.</a:t>
            </a:r>
            <a:r>
              <a:rPr lang="zh-CN" altLang="zh-CN" b="1" dirty="0"/>
              <a:t>稳定的</a:t>
            </a:r>
            <a:r>
              <a:rPr lang="en-US" altLang="zh-CN" b="1" dirty="0"/>
              <a:t>→ ___adv</a:t>
            </a:r>
            <a:endParaRPr lang="zh-CN" altLang="zh-CN" b="1" dirty="0"/>
          </a:p>
          <a:p>
            <a:r>
              <a:rPr lang="en-US" altLang="zh-CN" b="1" dirty="0"/>
              <a:t>7. ___ adj.</a:t>
            </a:r>
            <a:r>
              <a:rPr lang="zh-CN" altLang="zh-CN" b="1" dirty="0"/>
              <a:t>宽容容忍的</a:t>
            </a:r>
            <a:r>
              <a:rPr lang="en-US" altLang="zh-CN" b="1" dirty="0"/>
              <a:t>→____ </a:t>
            </a:r>
            <a:r>
              <a:rPr lang="en-US" altLang="zh-CN" b="1" dirty="0" err="1"/>
              <a:t>vt.</a:t>
            </a:r>
            <a:r>
              <a:rPr lang="zh-CN" altLang="zh-CN" b="1" dirty="0"/>
              <a:t>容许</a:t>
            </a:r>
            <a:r>
              <a:rPr lang="en-US" altLang="zh-CN" b="1" dirty="0"/>
              <a:t>→_____ n.</a:t>
            </a:r>
            <a:r>
              <a:rPr lang="zh-CN" altLang="zh-CN" b="1" dirty="0"/>
              <a:t>忍受</a:t>
            </a:r>
            <a:r>
              <a:rPr lang="en-US" altLang="zh-CN" b="1" dirty="0"/>
              <a:t>;</a:t>
            </a:r>
            <a:r>
              <a:rPr lang="zh-CN" altLang="zh-CN" b="1" dirty="0"/>
              <a:t>容忍</a:t>
            </a:r>
            <a:r>
              <a:rPr lang="en-US" altLang="zh-CN" b="1" dirty="0"/>
              <a:t>→___ adj.</a:t>
            </a:r>
            <a:r>
              <a:rPr lang="zh-CN" altLang="zh-CN" b="1" dirty="0"/>
              <a:t>无法忍受的</a:t>
            </a:r>
          </a:p>
          <a:p>
            <a:r>
              <a:rPr lang="en-US" altLang="zh-CN" b="1" dirty="0"/>
              <a:t>8. ________ n.</a:t>
            </a:r>
            <a:r>
              <a:rPr lang="zh-CN" altLang="zh-CN" b="1" dirty="0"/>
              <a:t>生命力</a:t>
            </a:r>
            <a:r>
              <a:rPr lang="en-US" altLang="zh-CN" b="1" dirty="0"/>
              <a:t>,</a:t>
            </a:r>
            <a:r>
              <a:rPr lang="zh-CN" altLang="zh-CN" b="1" dirty="0"/>
              <a:t>活力</a:t>
            </a:r>
            <a:r>
              <a:rPr lang="en-US" altLang="zh-CN" b="1" dirty="0"/>
              <a:t>,</a:t>
            </a:r>
            <a:r>
              <a:rPr lang="zh-CN" altLang="zh-CN" b="1" dirty="0"/>
              <a:t>热情</a:t>
            </a:r>
            <a:r>
              <a:rPr lang="en-US" altLang="zh-CN" b="1" dirty="0"/>
              <a:t>→_______adj.</a:t>
            </a:r>
            <a:r>
              <a:rPr lang="zh-CN" altLang="zh-CN" b="1" dirty="0"/>
              <a:t>必不可少的</a:t>
            </a:r>
            <a:r>
              <a:rPr lang="en-US" altLang="zh-CN" b="1" dirty="0"/>
              <a:t>,</a:t>
            </a:r>
            <a:r>
              <a:rPr lang="zh-CN" altLang="zh-CN" b="1" dirty="0"/>
              <a:t>对</a:t>
            </a:r>
            <a:r>
              <a:rPr lang="en-US" altLang="zh-CN" b="1" dirty="0"/>
              <a:t>…</a:t>
            </a:r>
            <a:r>
              <a:rPr lang="zh-CN" altLang="zh-CN" b="1" dirty="0"/>
              <a:t>极重要的</a:t>
            </a:r>
            <a:r>
              <a:rPr lang="en-US" altLang="zh-CN" b="1" dirty="0"/>
              <a:t>→________ adv.</a:t>
            </a:r>
            <a:endParaRPr lang="zh-CN" altLang="zh-CN" b="1" dirty="0"/>
          </a:p>
          <a:p>
            <a:r>
              <a:rPr lang="en-US" altLang="zh-CN" b="1" dirty="0"/>
              <a:t>9. ______ v.</a:t>
            </a:r>
            <a:r>
              <a:rPr lang="zh-CN" altLang="zh-CN" b="1" dirty="0"/>
              <a:t>成为</a:t>
            </a:r>
            <a:r>
              <a:rPr lang="en-US" altLang="zh-CN" b="1" dirty="0"/>
              <a:t>…</a:t>
            </a:r>
            <a:r>
              <a:rPr lang="zh-CN" altLang="zh-CN" b="1" dirty="0"/>
              <a:t>的特征</a:t>
            </a:r>
            <a:r>
              <a:rPr lang="en-US" altLang="zh-CN" b="1" dirty="0"/>
              <a:t>,</a:t>
            </a:r>
            <a:r>
              <a:rPr lang="zh-CN" altLang="zh-CN" b="1" dirty="0"/>
              <a:t>使有别于</a:t>
            </a:r>
            <a:r>
              <a:rPr lang="en-US" altLang="zh-CN" b="1" dirty="0"/>
              <a:t>;</a:t>
            </a:r>
            <a:r>
              <a:rPr lang="zh-CN" altLang="zh-CN" b="1" dirty="0"/>
              <a:t>区分辨别</a:t>
            </a:r>
            <a:r>
              <a:rPr lang="en-US" altLang="zh-CN" b="1" dirty="0"/>
              <a:t>→________ adj.</a:t>
            </a:r>
            <a:r>
              <a:rPr lang="zh-CN" altLang="zh-CN" b="1" dirty="0"/>
              <a:t>卓越的</a:t>
            </a:r>
            <a:r>
              <a:rPr lang="en-US" altLang="zh-CN" b="1" dirty="0"/>
              <a:t>;</a:t>
            </a:r>
            <a:r>
              <a:rPr lang="zh-CN" altLang="zh-CN" b="1" dirty="0"/>
              <a:t>杰出的</a:t>
            </a:r>
            <a:r>
              <a:rPr lang="en-US" altLang="zh-CN" b="1" dirty="0"/>
              <a:t>;</a:t>
            </a:r>
            <a:r>
              <a:rPr lang="zh-CN" altLang="zh-CN" b="1" dirty="0"/>
              <a:t>著名的</a:t>
            </a:r>
            <a:endParaRPr lang="en-US" altLang="zh-CN" b="1" dirty="0"/>
          </a:p>
          <a:p>
            <a:r>
              <a:rPr lang="en-US" altLang="zh-CN" b="1" dirty="0"/>
              <a:t>11. ___ adj.</a:t>
            </a:r>
            <a:r>
              <a:rPr lang="zh-CN" altLang="zh-CN" b="1" dirty="0"/>
              <a:t>典型的</a:t>
            </a:r>
            <a:r>
              <a:rPr lang="en-US" altLang="zh-CN" b="1" dirty="0"/>
              <a:t>→___ n.</a:t>
            </a:r>
            <a:r>
              <a:rPr lang="zh-CN" altLang="zh-CN" b="1" dirty="0"/>
              <a:t>典型人物</a:t>
            </a:r>
            <a:r>
              <a:rPr lang="en-US" altLang="zh-CN" b="1" dirty="0"/>
              <a:t>→____ </a:t>
            </a:r>
            <a:r>
              <a:rPr lang="en-US" altLang="zh-CN" b="1" dirty="0" err="1"/>
              <a:t>vt.</a:t>
            </a:r>
            <a:r>
              <a:rPr lang="en-US" altLang="zh-CN" b="1" dirty="0"/>
              <a:t> </a:t>
            </a:r>
            <a:r>
              <a:rPr lang="zh-CN" altLang="zh-CN" b="1" dirty="0"/>
              <a:t>代表</a:t>
            </a:r>
            <a:r>
              <a:rPr lang="en-US" altLang="zh-CN" b="1" dirty="0"/>
              <a:t>;</a:t>
            </a:r>
            <a:r>
              <a:rPr lang="zh-CN" altLang="zh-CN" b="1" dirty="0"/>
              <a:t>意味着</a:t>
            </a:r>
            <a:r>
              <a:rPr lang="en-US" altLang="zh-CN" b="1" dirty="0"/>
              <a:t>→____ n.</a:t>
            </a:r>
            <a:r>
              <a:rPr lang="zh-CN" altLang="zh-CN" b="1" dirty="0"/>
              <a:t>表现</a:t>
            </a:r>
            <a:r>
              <a:rPr lang="en-US" altLang="zh-CN" b="1" dirty="0"/>
              <a:t>; </a:t>
            </a:r>
            <a:r>
              <a:rPr lang="zh-CN" altLang="zh-CN" b="1" dirty="0"/>
              <a:t>描述</a:t>
            </a:r>
          </a:p>
          <a:p>
            <a:r>
              <a:rPr lang="en-US" altLang="zh-CN" b="1" dirty="0"/>
              <a:t>12. ___ </a:t>
            </a:r>
            <a:r>
              <a:rPr lang="en-US" altLang="zh-CN" b="1" dirty="0" err="1"/>
              <a:t>vt.</a:t>
            </a:r>
            <a:r>
              <a:rPr lang="en-US" altLang="zh-CN" b="1" dirty="0"/>
              <a:t> (__, __)</a:t>
            </a:r>
            <a:r>
              <a:rPr lang="zh-CN" altLang="zh-CN" b="1" dirty="0"/>
              <a:t>投射</a:t>
            </a:r>
            <a:r>
              <a:rPr lang="en-US" altLang="zh-CN" b="1" dirty="0"/>
              <a:t>;</a:t>
            </a:r>
            <a:r>
              <a:rPr lang="zh-CN" altLang="zh-CN" b="1" dirty="0"/>
              <a:t>向</a:t>
            </a:r>
            <a:r>
              <a:rPr lang="en-US" altLang="zh-CN" b="1" dirty="0"/>
              <a:t>…</a:t>
            </a:r>
            <a:r>
              <a:rPr lang="zh-CN" altLang="zh-CN" b="1" dirty="0"/>
              <a:t>投以视线、笑容等</a:t>
            </a:r>
            <a:r>
              <a:rPr lang="en-US" altLang="zh-CN" b="1" dirty="0"/>
              <a:t>;</a:t>
            </a:r>
            <a:r>
              <a:rPr lang="zh-CN" altLang="zh-CN" b="1" dirty="0"/>
              <a:t>投</a:t>
            </a:r>
            <a:r>
              <a:rPr lang="en-US" altLang="zh-CN" b="1" dirty="0"/>
              <a:t>,</a:t>
            </a:r>
            <a:r>
              <a:rPr lang="zh-CN" altLang="zh-CN" b="1" dirty="0"/>
              <a:t>抛</a:t>
            </a:r>
            <a:r>
              <a:rPr lang="en-US" altLang="zh-CN" b="1" dirty="0"/>
              <a:t>;</a:t>
            </a:r>
            <a:r>
              <a:rPr lang="zh-CN" altLang="zh-CN" b="1" dirty="0"/>
              <a:t>选派</a:t>
            </a:r>
            <a:r>
              <a:rPr lang="en-US" altLang="zh-CN" b="1" dirty="0"/>
              <a:t>→ __n. </a:t>
            </a:r>
            <a:r>
              <a:rPr lang="zh-CN" altLang="zh-CN" b="1" dirty="0"/>
              <a:t>全体演员</a:t>
            </a:r>
            <a:r>
              <a:rPr lang="en-US" altLang="zh-CN" b="1" dirty="0"/>
              <a:t>;</a:t>
            </a:r>
            <a:r>
              <a:rPr lang="zh-CN" altLang="zh-CN" b="1" dirty="0"/>
              <a:t>投</a:t>
            </a:r>
            <a:r>
              <a:rPr lang="en-US" altLang="zh-CN" b="1" dirty="0"/>
              <a:t>.</a:t>
            </a:r>
            <a:r>
              <a:rPr lang="zh-CN" altLang="zh-CN" b="1" dirty="0"/>
              <a:t>抛</a:t>
            </a:r>
          </a:p>
          <a:p>
            <a:r>
              <a:rPr lang="en-US" altLang="zh-CN" b="1" dirty="0"/>
              <a:t>13. ___ v.</a:t>
            </a:r>
            <a:r>
              <a:rPr lang="zh-CN" altLang="zh-CN" b="1" dirty="0"/>
              <a:t>深深吸引迷住</a:t>
            </a:r>
            <a:r>
              <a:rPr lang="en-US" altLang="zh-CN" b="1" dirty="0"/>
              <a:t>→_____ n.</a:t>
            </a:r>
            <a:r>
              <a:rPr lang="zh-CN" altLang="zh-CN" b="1" dirty="0"/>
              <a:t>魅力</a:t>
            </a:r>
            <a:r>
              <a:rPr lang="en-US" altLang="zh-CN" b="1" dirty="0"/>
              <a:t>;</a:t>
            </a:r>
            <a:r>
              <a:rPr lang="zh-CN" altLang="zh-CN" b="1" dirty="0"/>
              <a:t>入迷</a:t>
            </a:r>
            <a:r>
              <a:rPr lang="en-US" altLang="zh-CN" b="1" dirty="0"/>
              <a:t>→__ adj.</a:t>
            </a:r>
            <a:r>
              <a:rPr lang="zh-CN" altLang="zh-CN" b="1" dirty="0"/>
              <a:t>入迷的</a:t>
            </a:r>
            <a:r>
              <a:rPr lang="en-US" altLang="zh-CN" b="1" dirty="0"/>
              <a:t>→__ adj.</a:t>
            </a:r>
            <a:r>
              <a:rPr lang="zh-CN" altLang="zh-CN" b="1" dirty="0"/>
              <a:t>迷人的</a:t>
            </a:r>
          </a:p>
          <a:p>
            <a:r>
              <a:rPr lang="en-US" altLang="zh-CN" b="1" dirty="0"/>
              <a:t>14. __ </a:t>
            </a:r>
            <a:r>
              <a:rPr lang="en-US" altLang="zh-CN" b="1" dirty="0" err="1"/>
              <a:t>vt.</a:t>
            </a:r>
            <a:r>
              <a:rPr lang="zh-CN" altLang="zh-CN" b="1" dirty="0"/>
              <a:t>给</a:t>
            </a:r>
            <a:r>
              <a:rPr lang="en-US" altLang="zh-CN" b="1" dirty="0"/>
              <a:t>…</a:t>
            </a:r>
            <a:r>
              <a:rPr lang="zh-CN" altLang="zh-CN" b="1" dirty="0"/>
              <a:t>命名</a:t>
            </a:r>
            <a:r>
              <a:rPr lang="en-US" altLang="zh-CN" b="1" dirty="0"/>
              <a:t>;</a:t>
            </a:r>
            <a:r>
              <a:rPr lang="zh-CN" altLang="zh-CN" b="1" dirty="0"/>
              <a:t>使享有权利</a:t>
            </a:r>
            <a:r>
              <a:rPr lang="en-US" altLang="zh-CN" b="1" dirty="0"/>
              <a:t>,</a:t>
            </a:r>
            <a:r>
              <a:rPr lang="zh-CN" altLang="zh-CN" b="1" dirty="0"/>
              <a:t>使符合资格</a:t>
            </a:r>
          </a:p>
          <a:p>
            <a:r>
              <a:rPr lang="en-US" altLang="zh-CN" b="1" dirty="0"/>
              <a:t>15. ____ n.</a:t>
            </a:r>
            <a:r>
              <a:rPr lang="zh-CN" altLang="zh-CN" b="1" dirty="0"/>
              <a:t>津贴补助</a:t>
            </a:r>
            <a:r>
              <a:rPr lang="en-US" altLang="zh-CN" b="1" dirty="0"/>
              <a:t>→ </a:t>
            </a:r>
            <a:r>
              <a:rPr lang="zh-CN" altLang="en-US" b="1" dirty="0"/>
              <a:t>考虑到</a:t>
            </a:r>
            <a:r>
              <a:rPr lang="en-US" altLang="zh-CN" b="1" dirty="0"/>
              <a:t>(</a:t>
            </a:r>
            <a:r>
              <a:rPr lang="zh-CN" altLang="en-US" b="1" dirty="0"/>
              <a:t>词组</a:t>
            </a:r>
            <a:r>
              <a:rPr lang="en-US" altLang="zh-CN" b="1" dirty="0"/>
              <a:t>2</a:t>
            </a:r>
            <a:r>
              <a:rPr lang="zh-CN" altLang="en-US" b="1" dirty="0"/>
              <a:t>个</a:t>
            </a:r>
            <a:r>
              <a:rPr lang="en-US" altLang="zh-CN" b="1" dirty="0"/>
              <a:t>)__________________</a:t>
            </a:r>
            <a:endParaRPr lang="zh-CN" altLang="zh-CN" b="1" dirty="0"/>
          </a:p>
          <a:p>
            <a:r>
              <a:rPr lang="en-US" altLang="zh-CN" b="1" dirty="0"/>
              <a:t>16. ___ adj.</a:t>
            </a:r>
            <a:r>
              <a:rPr lang="zh-CN" altLang="zh-CN" b="1" dirty="0"/>
              <a:t>棘手的</a:t>
            </a:r>
            <a:r>
              <a:rPr lang="en-US" altLang="zh-CN" b="1" dirty="0"/>
              <a:t>;</a:t>
            </a:r>
            <a:r>
              <a:rPr lang="zh-CN" altLang="zh-CN" b="1" dirty="0"/>
              <a:t>不饶人的</a:t>
            </a:r>
            <a:r>
              <a:rPr lang="en-US" altLang="zh-CN" b="1" dirty="0"/>
              <a:t>→_______ v.</a:t>
            </a:r>
            <a:r>
              <a:rPr lang="zh-CN" altLang="zh-CN" b="1" dirty="0"/>
              <a:t>原谅</a:t>
            </a:r>
            <a:r>
              <a:rPr lang="en-US" altLang="zh-CN" b="1" dirty="0"/>
              <a:t>.(_____, ______)</a:t>
            </a:r>
            <a:endParaRPr lang="zh-CN" altLang="zh-CN"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fontAlgn="ctr"/>
            <a:r>
              <a:rPr lang="en-US" altLang="zh-CN" sz="3200" b="1" dirty="0">
                <a:solidFill>
                  <a:srgbClr val="FF0000"/>
                </a:solidFill>
              </a:rPr>
              <a:t>Delighted to know that you are determined to</a:t>
            </a:r>
            <a:r>
              <a:rPr lang="en-US" altLang="zh-CN" sz="3200" b="1" dirty="0"/>
              <a:t> teach </a:t>
            </a:r>
            <a:r>
              <a:rPr lang="en-US" altLang="zh-CN" sz="3200" b="1" dirty="0">
                <a:solidFill>
                  <a:srgbClr val="FF0000"/>
                </a:solidFill>
              </a:rPr>
              <a:t>English in a scenic place</a:t>
            </a:r>
            <a:r>
              <a:rPr lang="en-US" altLang="zh-CN" sz="3200" b="1" dirty="0"/>
              <a:t> in China</a:t>
            </a:r>
            <a:r>
              <a:rPr lang="en-US" altLang="zh-CN" sz="3200" b="1" dirty="0">
                <a:solidFill>
                  <a:srgbClr val="FF0000"/>
                </a:solidFill>
              </a:rPr>
              <a:t>, I highly recommend </a:t>
            </a:r>
            <a:r>
              <a:rPr lang="en-US" altLang="zh-CN" sz="3200" b="1" dirty="0"/>
              <a:t>my hometown --Yangzhou and </a:t>
            </a:r>
            <a:r>
              <a:rPr lang="en-US" altLang="zh-CN" sz="3200" b="1" dirty="0">
                <a:solidFill>
                  <a:srgbClr val="FF0000"/>
                </a:solidFill>
              </a:rPr>
              <a:t>extend my warmest welcome to you.</a:t>
            </a:r>
            <a:endParaRPr lang="zh-CN" altLang="zh-CN" sz="3200" b="1" dirty="0">
              <a:solidFill>
                <a:srgbClr val="FF0000"/>
              </a:solidFill>
            </a:endParaRPr>
          </a:p>
          <a:p>
            <a:pPr fontAlgn="ctr"/>
            <a:r>
              <a:rPr lang="en-US" altLang="zh-CN" sz="3200" b="1" dirty="0">
                <a:solidFill>
                  <a:srgbClr val="FF0000"/>
                </a:solidFill>
              </a:rPr>
              <a:t>To begin with, when it comes to the ideal destination both for education and tourism, never will Yangzhou city be neglected. Not only is the scenery splendid, but also the discipline construction</a:t>
            </a:r>
            <a:r>
              <a:rPr lang="zh-CN" altLang="zh-CN" sz="3200" b="1" dirty="0">
                <a:solidFill>
                  <a:srgbClr val="FF0000"/>
                </a:solidFill>
              </a:rPr>
              <a:t>（</a:t>
            </a:r>
            <a:r>
              <a:rPr lang="en-US" altLang="zh-CN" sz="3200" b="1" dirty="0">
                <a:solidFill>
                  <a:srgbClr val="FF0000"/>
                </a:solidFill>
              </a:rPr>
              <a:t>academic construction</a:t>
            </a:r>
            <a:r>
              <a:rPr lang="zh-CN" altLang="zh-CN" sz="3200" b="1" dirty="0">
                <a:solidFill>
                  <a:srgbClr val="FF0000"/>
                </a:solidFill>
              </a:rPr>
              <a:t>）</a:t>
            </a:r>
            <a:r>
              <a:rPr lang="en-US" altLang="zh-CN" sz="3200" b="1" dirty="0">
                <a:solidFill>
                  <a:srgbClr val="FF0000"/>
                </a:solidFill>
              </a:rPr>
              <a:t> has gained a high reputation at home and abroad. In addition, you can always enjoy numerous tasty food here in the night fairs. Last but not least, Yangzhou being an outstanding historic city, its people are eager to learn English to embrace the world, making it an inviting city undoubtedly worth working in.</a:t>
            </a:r>
            <a:endParaRPr lang="zh-CN" altLang="zh-CN" sz="3200" b="1" dirty="0">
              <a:solidFill>
                <a:srgbClr val="FF0000"/>
              </a:solidFill>
            </a:endParaRPr>
          </a:p>
          <a:p>
            <a:pPr fontAlgn="ctr"/>
            <a:r>
              <a:rPr lang="en-US" altLang="zh-CN" sz="3200" b="1" dirty="0">
                <a:solidFill>
                  <a:srgbClr val="FF0000"/>
                </a:solidFill>
              </a:rPr>
              <a:t>Should my suggestions be taken into consideration, I would be extremely privileged.</a:t>
            </a:r>
            <a:endParaRPr lang="zh-CN" altLang="zh-CN" sz="3200" b="1" dirty="0">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en-US" altLang="zh-CN" sz="3600" b="1" dirty="0"/>
          </a:p>
          <a:p>
            <a:r>
              <a:rPr lang="zh-CN" altLang="en-US" sz="3600" b="1" dirty="0"/>
              <a:t>很高兴得知你决定在中国风景优美的地方教英语，我强烈推荐我的家乡</a:t>
            </a:r>
            <a:r>
              <a:rPr lang="en-US" altLang="zh-CN" sz="3600" b="1" dirty="0"/>
              <a:t>——</a:t>
            </a:r>
            <a:r>
              <a:rPr lang="zh-CN" altLang="en-US" sz="3600" b="1" dirty="0"/>
              <a:t>扬州，并向你表示最热烈的欢迎。</a:t>
            </a:r>
            <a:endParaRPr lang="en-US" altLang="zh-CN" sz="3600" b="1" dirty="0"/>
          </a:p>
          <a:p>
            <a:r>
              <a:rPr lang="zh-CN" altLang="en-US" sz="3600" b="1" dirty="0"/>
              <a:t>首先，当谈到理想的教育和旅游目的地时，扬州永远不会被忽视。不仅风景秀丽，而且学科建设也在国内外赢得了很高的声誉。此外，你还可以在夜市上享受到无数美味的食物。最后但并非最不重要的是，扬州作为一个杰出的历史名城，它的人民渴望学习英语，拥抱世界，使它成为一个吸引人的城市，无疑值得在这里工作。</a:t>
            </a:r>
            <a:endParaRPr lang="en-US" altLang="zh-CN" sz="3600" b="1" dirty="0"/>
          </a:p>
          <a:p>
            <a:r>
              <a:rPr lang="zh-CN" altLang="en-US" sz="3600" b="1" dirty="0"/>
              <a:t>如果我的建议被考虑，我将不胜荣幸。</a:t>
            </a:r>
            <a:endParaRPr lang="zh-CN" altLang="en-US" sz="3600" b="1" dirty="0">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1.it</a:t>
            </a:r>
            <a:r>
              <a:rPr lang="zh-CN" altLang="en-US" sz="3600" b="1" dirty="0">
                <a:solidFill>
                  <a:srgbClr val="FF0000"/>
                </a:solidFill>
              </a:rPr>
              <a:t>作形式主语句型</a:t>
            </a:r>
            <a:r>
              <a:rPr lang="en-US" altLang="zh-CN" sz="3600" b="1" dirty="0">
                <a:solidFill>
                  <a:srgbClr val="FF0000"/>
                </a:solidFill>
              </a:rPr>
              <a:t>(1)+to do; (2)+doing</a:t>
            </a:r>
          </a:p>
          <a:p>
            <a:r>
              <a:rPr lang="en-US" altLang="zh-CN" sz="3600" b="1" dirty="0">
                <a:solidFill>
                  <a:srgbClr val="FF0000"/>
                </a:solidFill>
              </a:rPr>
              <a:t>2.(1)</a:t>
            </a:r>
            <a:r>
              <a:rPr lang="en-US" altLang="zh-CN" sz="3600" b="1" dirty="0" err="1">
                <a:solidFill>
                  <a:srgbClr val="FF0000"/>
                </a:solidFill>
              </a:rPr>
              <a:t>v.+to</a:t>
            </a:r>
            <a:r>
              <a:rPr lang="en-US" altLang="zh-CN" sz="3600" b="1" dirty="0">
                <a:solidFill>
                  <a:srgbClr val="FF0000"/>
                </a:solidFill>
              </a:rPr>
              <a:t> do: v.</a:t>
            </a:r>
            <a:r>
              <a:rPr lang="zh-CN" altLang="en-US" sz="3600" b="1" dirty="0">
                <a:solidFill>
                  <a:srgbClr val="FF0000"/>
                </a:solidFill>
              </a:rPr>
              <a:t>举例至少</a:t>
            </a:r>
            <a:r>
              <a:rPr lang="en-US" altLang="zh-CN" sz="3600" b="1" dirty="0">
                <a:solidFill>
                  <a:srgbClr val="FF0000"/>
                </a:solidFill>
              </a:rPr>
              <a:t>6</a:t>
            </a:r>
            <a:r>
              <a:rPr lang="zh-CN" altLang="en-US" sz="3600" b="1" dirty="0">
                <a:solidFill>
                  <a:srgbClr val="FF0000"/>
                </a:solidFill>
              </a:rPr>
              <a:t>个</a:t>
            </a:r>
            <a:r>
              <a:rPr lang="en-US" altLang="zh-CN" sz="3600" b="1" dirty="0">
                <a:solidFill>
                  <a:srgbClr val="FF0000"/>
                </a:solidFill>
              </a:rPr>
              <a:t>; (2)</a:t>
            </a:r>
            <a:r>
              <a:rPr lang="en-US" altLang="zh-CN" sz="3600" b="1" dirty="0" err="1">
                <a:solidFill>
                  <a:srgbClr val="FF0000"/>
                </a:solidFill>
              </a:rPr>
              <a:t>v.+doing</a:t>
            </a:r>
            <a:r>
              <a:rPr lang="en-US" altLang="zh-CN" sz="3600" b="1" dirty="0">
                <a:solidFill>
                  <a:srgbClr val="FF0000"/>
                </a:solidFill>
              </a:rPr>
              <a:t>: v.</a:t>
            </a:r>
            <a:r>
              <a:rPr lang="zh-CN" altLang="en-US" sz="3600" b="1" dirty="0">
                <a:solidFill>
                  <a:srgbClr val="FF0000"/>
                </a:solidFill>
              </a:rPr>
              <a:t>举例至少</a:t>
            </a:r>
            <a:r>
              <a:rPr lang="en-US" altLang="zh-CN" sz="3600" b="1" dirty="0">
                <a:solidFill>
                  <a:srgbClr val="FF0000"/>
                </a:solidFill>
              </a:rPr>
              <a:t>6</a:t>
            </a:r>
            <a:r>
              <a:rPr lang="zh-CN" altLang="en-US" sz="3600" b="1">
                <a:solidFill>
                  <a:srgbClr val="FF0000"/>
                </a:solidFill>
              </a:rPr>
              <a:t>个</a:t>
            </a:r>
            <a:endParaRPr lang="en-US" altLang="zh-CN" sz="3600" b="1" dirty="0">
              <a:solidFill>
                <a:srgbClr val="FF0000"/>
              </a:solidFill>
            </a:endParaRPr>
          </a:p>
          <a:p>
            <a:r>
              <a:rPr lang="en-US" altLang="zh-CN" sz="3600" b="1" dirty="0">
                <a:solidFill>
                  <a:srgbClr val="FF0000"/>
                </a:solidFill>
              </a:rPr>
              <a:t>3.(1)regret to do</a:t>
            </a:r>
            <a:r>
              <a:rPr lang="zh-CN" altLang="en-US" sz="3600" b="1" dirty="0">
                <a:solidFill>
                  <a:srgbClr val="FF0000"/>
                </a:solidFill>
              </a:rPr>
              <a:t>翻译</a:t>
            </a:r>
            <a:r>
              <a:rPr lang="en-US" altLang="zh-CN" sz="3600" b="1" dirty="0">
                <a:solidFill>
                  <a:srgbClr val="FF0000"/>
                </a:solidFill>
              </a:rPr>
              <a:t>; regret doing</a:t>
            </a:r>
            <a:r>
              <a:rPr lang="zh-CN" altLang="en-US" sz="3600" b="1" dirty="0">
                <a:solidFill>
                  <a:srgbClr val="FF0000"/>
                </a:solidFill>
              </a:rPr>
              <a:t>翻译</a:t>
            </a:r>
            <a:endParaRPr lang="en-US" altLang="zh-CN" sz="3600" b="1" dirty="0">
              <a:solidFill>
                <a:srgbClr val="FF0000"/>
              </a:solidFill>
            </a:endParaRPr>
          </a:p>
          <a:p>
            <a:r>
              <a:rPr lang="en-US" altLang="zh-CN" sz="3600" b="1" dirty="0">
                <a:solidFill>
                  <a:srgbClr val="FF0000"/>
                </a:solidFill>
              </a:rPr>
              <a:t> (2)</a:t>
            </a:r>
            <a:r>
              <a:rPr lang="zh-CN" altLang="en-US" sz="3600" b="1" dirty="0">
                <a:solidFill>
                  <a:srgbClr val="FF0000"/>
                </a:solidFill>
              </a:rPr>
              <a:t>不能帮忙做某事</a:t>
            </a:r>
            <a:r>
              <a:rPr lang="en-US" altLang="zh-CN" sz="3600" b="1" dirty="0">
                <a:solidFill>
                  <a:srgbClr val="FF0000"/>
                </a:solidFill>
              </a:rPr>
              <a:t>;</a:t>
            </a:r>
            <a:r>
              <a:rPr lang="zh-CN" altLang="en-US" sz="3600" b="1" dirty="0">
                <a:solidFill>
                  <a:srgbClr val="FF0000"/>
                </a:solidFill>
              </a:rPr>
              <a:t>情不自禁做某事</a:t>
            </a:r>
            <a:endParaRPr lang="en-US" altLang="zh-CN" sz="3600" b="1" dirty="0">
              <a:solidFill>
                <a:srgbClr val="FF0000"/>
              </a:solidFill>
            </a:endParaRPr>
          </a:p>
          <a:p>
            <a:r>
              <a:rPr lang="en-US" altLang="zh-CN" sz="3600" b="1" dirty="0">
                <a:solidFill>
                  <a:srgbClr val="FF0000"/>
                </a:solidFill>
              </a:rPr>
              <a:t>4.require/desire</a:t>
            </a:r>
            <a:r>
              <a:rPr lang="zh-CN" altLang="en-US" sz="3600" b="1" dirty="0">
                <a:solidFill>
                  <a:srgbClr val="FF0000"/>
                </a:solidFill>
              </a:rPr>
              <a:t>“值得被”句型</a:t>
            </a:r>
            <a:r>
              <a:rPr lang="en-US" altLang="zh-CN" sz="3600" b="1" dirty="0">
                <a:solidFill>
                  <a:srgbClr val="FF0000"/>
                </a:solidFill>
              </a:rPr>
              <a:t> 5.</a:t>
            </a:r>
            <a:r>
              <a:rPr lang="zh-CN" altLang="en-US" sz="3600" b="1" dirty="0">
                <a:solidFill>
                  <a:srgbClr val="FF0000"/>
                </a:solidFill>
              </a:rPr>
              <a:t>别无选择只好做某事</a:t>
            </a:r>
            <a:endParaRPr lang="en-US" altLang="zh-CN" sz="3600" b="1" dirty="0">
              <a:solidFill>
                <a:srgbClr val="FF0000"/>
              </a:solidFill>
            </a:endParaRPr>
          </a:p>
          <a:p>
            <a:r>
              <a:rPr lang="en-US" altLang="zh-CN" sz="3600" b="1" dirty="0">
                <a:solidFill>
                  <a:srgbClr val="FF0000"/>
                </a:solidFill>
              </a:rPr>
              <a:t>6.remain(1)</a:t>
            </a:r>
            <a:r>
              <a:rPr lang="zh-CN" altLang="en-US" sz="3600" b="1" dirty="0">
                <a:solidFill>
                  <a:srgbClr val="FF0000"/>
                </a:solidFill>
              </a:rPr>
              <a:t>继续坐着 </a:t>
            </a:r>
            <a:r>
              <a:rPr lang="en-US" altLang="zh-CN" sz="3600" b="1" dirty="0">
                <a:solidFill>
                  <a:srgbClr val="FF0000"/>
                </a:solidFill>
              </a:rPr>
              <a:t>(2)</a:t>
            </a:r>
            <a:r>
              <a:rPr lang="zh-CN" altLang="en-US" sz="3600" b="1" dirty="0">
                <a:solidFill>
                  <a:srgbClr val="FF0000"/>
                </a:solidFill>
              </a:rPr>
              <a:t>有待被解决</a:t>
            </a:r>
            <a:endParaRPr lang="en-US" altLang="zh-CN" sz="3600" b="1" dirty="0">
              <a:solidFill>
                <a:srgbClr val="FF0000"/>
              </a:solidFill>
            </a:endParaRPr>
          </a:p>
          <a:p>
            <a:r>
              <a:rPr lang="en-US" altLang="zh-CN" sz="3600" b="1" dirty="0">
                <a:solidFill>
                  <a:srgbClr val="FF0000"/>
                </a:solidFill>
              </a:rPr>
              <a:t>7.the house(1)</a:t>
            </a:r>
            <a:r>
              <a:rPr lang="zh-CN" altLang="en-US" sz="3600" b="1" dirty="0">
                <a:solidFill>
                  <a:srgbClr val="FF0000"/>
                </a:solidFill>
              </a:rPr>
              <a:t>正在被建 </a:t>
            </a:r>
            <a:r>
              <a:rPr lang="en-US" altLang="zh-CN" sz="3600" b="1" dirty="0">
                <a:solidFill>
                  <a:srgbClr val="FF0000"/>
                </a:solidFill>
              </a:rPr>
              <a:t>(2)</a:t>
            </a:r>
            <a:r>
              <a:rPr lang="zh-CN" altLang="en-US" sz="3600" b="1" dirty="0">
                <a:solidFill>
                  <a:srgbClr val="FF0000"/>
                </a:solidFill>
              </a:rPr>
              <a:t>已经建成 </a:t>
            </a:r>
            <a:r>
              <a:rPr lang="en-US" altLang="zh-CN" sz="3600" b="1" dirty="0">
                <a:solidFill>
                  <a:srgbClr val="FF0000"/>
                </a:solidFill>
              </a:rPr>
              <a:t>(3)</a:t>
            </a:r>
            <a:r>
              <a:rPr lang="zh-CN" altLang="en-US" sz="3600" b="1" dirty="0">
                <a:solidFill>
                  <a:srgbClr val="FF0000"/>
                </a:solidFill>
              </a:rPr>
              <a:t>将要被建</a:t>
            </a:r>
            <a:endParaRPr lang="en-US" altLang="zh-CN" sz="3600" b="1" dirty="0">
              <a:solidFill>
                <a:srgbClr val="FF0000"/>
              </a:solidFill>
            </a:endParaRPr>
          </a:p>
          <a:p>
            <a:r>
              <a:rPr lang="en-US" altLang="zh-CN" sz="3600" b="1" dirty="0">
                <a:solidFill>
                  <a:srgbClr val="FF0000"/>
                </a:solidFill>
              </a:rPr>
              <a:t>8.</a:t>
            </a:r>
            <a:r>
              <a:rPr lang="zh-CN" altLang="en-US" sz="3600" b="1" dirty="0">
                <a:solidFill>
                  <a:srgbClr val="FF0000"/>
                </a:solidFill>
              </a:rPr>
              <a:t>不定式作定语</a:t>
            </a:r>
            <a:r>
              <a:rPr lang="en-US" altLang="zh-CN" sz="3600" b="1" dirty="0">
                <a:solidFill>
                  <a:srgbClr val="FF0000"/>
                </a:solidFill>
              </a:rPr>
              <a:t>(</a:t>
            </a:r>
            <a:r>
              <a:rPr lang="zh-CN" altLang="en-US" sz="3600" b="1" dirty="0">
                <a:solidFill>
                  <a:srgbClr val="FF0000"/>
                </a:solidFill>
              </a:rPr>
              <a:t>写全</a:t>
            </a:r>
            <a:r>
              <a:rPr lang="en-US" altLang="zh-CN" sz="3600" b="1" dirty="0">
                <a:solidFill>
                  <a:srgbClr val="FF0000"/>
                </a:solidFill>
              </a:rPr>
              <a:t>)  9.(1)</a:t>
            </a:r>
            <a:r>
              <a:rPr lang="zh-CN" altLang="en-US" sz="3600" b="1" dirty="0">
                <a:solidFill>
                  <a:srgbClr val="FF0000"/>
                </a:solidFill>
              </a:rPr>
              <a:t>作目的状语用</a:t>
            </a:r>
            <a:r>
              <a:rPr lang="en-US" altLang="zh-CN" sz="3600" b="1" dirty="0">
                <a:solidFill>
                  <a:srgbClr val="FF0000"/>
                </a:solidFill>
              </a:rPr>
              <a:t>____ </a:t>
            </a:r>
          </a:p>
          <a:p>
            <a:r>
              <a:rPr lang="en-US" altLang="zh-CN" sz="3600" b="1" dirty="0">
                <a:solidFill>
                  <a:srgbClr val="FF0000"/>
                </a:solidFill>
              </a:rPr>
              <a:t> (2)</a:t>
            </a:r>
            <a:r>
              <a:rPr lang="zh-CN" altLang="en-US" sz="3600" b="1" dirty="0">
                <a:solidFill>
                  <a:srgbClr val="FF0000"/>
                </a:solidFill>
              </a:rPr>
              <a:t>作结果状语</a:t>
            </a:r>
            <a:r>
              <a:rPr lang="en-US" altLang="zh-CN" sz="3600" b="1" dirty="0">
                <a:solidFill>
                  <a:srgbClr val="FF0000"/>
                </a:solidFill>
              </a:rPr>
              <a:t>:</a:t>
            </a:r>
            <a:r>
              <a:rPr lang="zh-CN" altLang="en-US" sz="3600" b="1" dirty="0">
                <a:solidFill>
                  <a:srgbClr val="FF0000"/>
                </a:solidFill>
              </a:rPr>
              <a:t>用</a:t>
            </a:r>
            <a:r>
              <a:rPr lang="en-US" altLang="zh-CN" sz="3600" b="1" dirty="0">
                <a:solidFill>
                  <a:srgbClr val="FF0000"/>
                </a:solidFill>
              </a:rPr>
              <a:t>___</a:t>
            </a:r>
            <a:r>
              <a:rPr lang="zh-CN" altLang="en-US" sz="3600" b="1" dirty="0">
                <a:solidFill>
                  <a:srgbClr val="FF0000"/>
                </a:solidFill>
              </a:rPr>
              <a:t>表示</a:t>
            </a:r>
            <a:r>
              <a:rPr lang="en-US" altLang="zh-CN" sz="3600" b="1" dirty="0">
                <a:solidFill>
                  <a:srgbClr val="FF0000"/>
                </a:solidFill>
              </a:rPr>
              <a:t>___</a:t>
            </a:r>
            <a:r>
              <a:rPr lang="zh-CN" altLang="en-US" sz="3600" b="1" dirty="0">
                <a:solidFill>
                  <a:srgbClr val="FF0000"/>
                </a:solidFill>
              </a:rPr>
              <a:t>的结果</a:t>
            </a:r>
            <a:r>
              <a:rPr lang="en-US" altLang="zh-CN" sz="3600" b="1" dirty="0">
                <a:solidFill>
                  <a:srgbClr val="FF0000"/>
                </a:solidFill>
              </a:rPr>
              <a:t>; </a:t>
            </a:r>
            <a:r>
              <a:rPr lang="zh-CN" altLang="en-US" sz="3600" b="1" dirty="0">
                <a:solidFill>
                  <a:srgbClr val="FF0000"/>
                </a:solidFill>
              </a:rPr>
              <a:t>用</a:t>
            </a:r>
            <a:r>
              <a:rPr lang="en-US" altLang="zh-CN" sz="3600" b="1" dirty="0">
                <a:solidFill>
                  <a:srgbClr val="FF0000"/>
                </a:solidFill>
              </a:rPr>
              <a:t>___</a:t>
            </a:r>
            <a:r>
              <a:rPr lang="zh-CN" altLang="en-US" sz="3600" b="1" dirty="0">
                <a:solidFill>
                  <a:srgbClr val="FF0000"/>
                </a:solidFill>
              </a:rPr>
              <a:t>表示</a:t>
            </a:r>
            <a:r>
              <a:rPr lang="en-US" altLang="zh-CN" sz="3600" b="1" dirty="0">
                <a:solidFill>
                  <a:srgbClr val="FF0000"/>
                </a:solidFill>
              </a:rPr>
              <a:t>____</a:t>
            </a:r>
            <a:r>
              <a:rPr lang="zh-CN" altLang="en-US" sz="3600" b="1" dirty="0">
                <a:solidFill>
                  <a:srgbClr val="FF0000"/>
                </a:solidFill>
              </a:rPr>
              <a:t>的结果</a:t>
            </a:r>
            <a:endParaRPr lang="en-US" altLang="zh-CN" sz="3600" b="1" dirty="0">
              <a:solidFill>
                <a:srgbClr val="FF0000"/>
              </a:solidFill>
            </a:endParaRPr>
          </a:p>
          <a:p>
            <a:r>
              <a:rPr lang="en-US" altLang="zh-CN" sz="3600" b="1" dirty="0">
                <a:solidFill>
                  <a:srgbClr val="FF0000"/>
                </a:solidFill>
              </a:rPr>
              <a:t>10.</a:t>
            </a:r>
            <a:r>
              <a:rPr lang="zh-CN" altLang="en-US" sz="3600" b="1" dirty="0">
                <a:solidFill>
                  <a:srgbClr val="FF0000"/>
                </a:solidFill>
              </a:rPr>
              <a:t>坦率地说</a:t>
            </a:r>
            <a:r>
              <a:rPr lang="en-US" altLang="zh-CN" sz="3600" b="1" dirty="0">
                <a:solidFill>
                  <a:srgbClr val="FF0000"/>
                </a:solidFill>
              </a:rPr>
              <a:t>;</a:t>
            </a:r>
            <a:r>
              <a:rPr lang="zh-CN" altLang="en-US" sz="3600" b="1" dirty="0">
                <a:solidFill>
                  <a:srgbClr val="FF0000"/>
                </a:solidFill>
              </a:rPr>
              <a:t>说到</a:t>
            </a:r>
            <a:r>
              <a:rPr lang="en-US" altLang="zh-CN" sz="3600" b="1" dirty="0">
                <a:solidFill>
                  <a:srgbClr val="FF0000"/>
                </a:solidFill>
              </a:rPr>
              <a:t>;</a:t>
            </a:r>
            <a:r>
              <a:rPr lang="zh-CN" altLang="en-US" sz="3600" b="1" dirty="0">
                <a:solidFill>
                  <a:srgbClr val="FF0000"/>
                </a:solidFill>
              </a:rPr>
              <a:t>时间</a:t>
            </a:r>
            <a:r>
              <a:rPr lang="en-US" altLang="zh-CN" sz="3600" b="1" dirty="0">
                <a:solidFill>
                  <a:srgbClr val="FF0000"/>
                </a:solidFill>
              </a:rPr>
              <a:t>/</a:t>
            </a:r>
            <a:r>
              <a:rPr lang="zh-CN" altLang="en-US" sz="3600" b="1" dirty="0">
                <a:solidFill>
                  <a:srgbClr val="FF0000"/>
                </a:solidFill>
              </a:rPr>
              <a:t>天气允许的话</a:t>
            </a:r>
            <a:r>
              <a:rPr lang="en-US" altLang="zh-CN" sz="3600" b="1" dirty="0">
                <a:solidFill>
                  <a:srgbClr val="FF0000"/>
                </a:solidFill>
              </a:rPr>
              <a:t>;</a:t>
            </a:r>
            <a:r>
              <a:rPr lang="zh-CN" altLang="en-US" sz="3600" b="1" dirty="0">
                <a:solidFill>
                  <a:srgbClr val="FF0000"/>
                </a:solidFill>
              </a:rPr>
              <a:t> 考虑到一切的</a:t>
            </a:r>
            <a:r>
              <a:rPr lang="en-US" altLang="zh-CN" sz="3600" b="1" dirty="0">
                <a:solidFill>
                  <a:srgbClr val="FF0000"/>
                </a:solidFill>
              </a:rPr>
              <a:t>;</a:t>
            </a:r>
            <a:r>
              <a:rPr lang="zh-CN" altLang="en-US" sz="3600" b="1" dirty="0">
                <a:solidFill>
                  <a:srgbClr val="FF0000"/>
                </a:solidFill>
              </a:rPr>
              <a:t>提供</a:t>
            </a:r>
            <a:r>
              <a:rPr lang="en-US" altLang="zh-CN" sz="3600" b="1" dirty="0">
                <a:solidFill>
                  <a:srgbClr val="FF0000"/>
                </a:solidFill>
              </a:rPr>
              <a:t>;</a:t>
            </a:r>
            <a:r>
              <a:rPr lang="zh-CN" altLang="en-US" sz="3600" b="1" dirty="0">
                <a:solidFill>
                  <a:srgbClr val="FF0000"/>
                </a:solidFill>
              </a:rPr>
              <a:t>假设</a:t>
            </a:r>
            <a:r>
              <a:rPr lang="en-US" altLang="zh-CN" sz="3600" b="1" dirty="0">
                <a:solidFill>
                  <a:srgbClr val="FF0000"/>
                </a:solidFill>
              </a:rPr>
              <a:t>;</a:t>
            </a:r>
            <a:r>
              <a:rPr lang="zh-CN" altLang="en-US" sz="3600" b="1" dirty="0">
                <a:solidFill>
                  <a:srgbClr val="FF0000"/>
                </a:solidFill>
              </a:rPr>
              <a:t>考虑到</a:t>
            </a:r>
            <a:r>
              <a:rPr lang="en-US" altLang="zh-CN" sz="3600" b="1" dirty="0">
                <a:solidFill>
                  <a:srgbClr val="FF0000"/>
                </a:solidFill>
              </a:rPr>
              <a:t>;</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相比</a:t>
            </a:r>
            <a:r>
              <a:rPr lang="en-US" altLang="zh-CN" sz="3600" b="1" dirty="0">
                <a:solidFill>
                  <a:srgbClr val="FF0000"/>
                </a:solidFill>
              </a:rPr>
              <a:t>;</a:t>
            </a:r>
            <a:r>
              <a:rPr lang="zh-CN" altLang="en-US" sz="3600" b="1" dirty="0">
                <a:solidFill>
                  <a:srgbClr val="FF0000"/>
                </a:solidFill>
              </a:rPr>
              <a:t>实话实说</a:t>
            </a:r>
            <a:r>
              <a:rPr lang="en-US" altLang="zh-CN" sz="3600" b="1" dirty="0">
                <a:solidFill>
                  <a:srgbClr val="FF0000"/>
                </a:solidFill>
              </a:rPr>
              <a:t>;</a:t>
            </a:r>
            <a:r>
              <a:rPr lang="zh-CN" altLang="en-US" sz="3600" b="1" dirty="0">
                <a:solidFill>
                  <a:srgbClr val="FF0000"/>
                </a:solidFill>
              </a:rPr>
              <a:t>开始</a:t>
            </a:r>
            <a:r>
              <a:rPr lang="en-US" altLang="zh-CN" sz="3600" b="1" dirty="0">
                <a:solidFill>
                  <a:srgbClr val="FF0000"/>
                </a:solidFill>
              </a:rPr>
              <a:t>;</a:t>
            </a:r>
            <a:r>
              <a:rPr lang="zh-CN" altLang="en-US" sz="3600" b="1" dirty="0">
                <a:solidFill>
                  <a:srgbClr val="FF0000"/>
                </a:solidFill>
              </a:rPr>
              <a:t>使事情更糟</a:t>
            </a:r>
            <a:r>
              <a:rPr lang="en-US" altLang="zh-CN" sz="3600" b="1" dirty="0">
                <a:solidFill>
                  <a:srgbClr val="FF0000"/>
                </a:solidFill>
              </a:rPr>
              <a:t>;</a:t>
            </a:r>
            <a:r>
              <a:rPr lang="zh-CN" altLang="en-US" sz="3600" b="1" dirty="0">
                <a:solidFill>
                  <a:srgbClr val="FF0000"/>
                </a:solidFill>
              </a:rPr>
              <a:t>长话短说</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marL="0" indent="0">
              <a:buNone/>
            </a:pPr>
            <a:r>
              <a:rPr lang="en-US" altLang="zh-CN" sz="3500" b="1" dirty="0">
                <a:solidFill>
                  <a:srgbClr val="FF0000"/>
                </a:solidFill>
                <a:sym typeface="+mn-ea"/>
              </a:rPr>
              <a:t>11.</a:t>
            </a:r>
            <a:r>
              <a:rPr lang="zh-CN" altLang="en-US" sz="3500" b="1" dirty="0">
                <a:solidFill>
                  <a:srgbClr val="FF0000"/>
                </a:solidFill>
                <a:sym typeface="+mn-ea"/>
              </a:rPr>
              <a:t>用不定式做宾补的</a:t>
            </a:r>
            <a:r>
              <a:rPr lang="en-US" altLang="zh-CN" sz="3500" b="1" dirty="0">
                <a:solidFill>
                  <a:srgbClr val="FF0000"/>
                </a:solidFill>
                <a:sym typeface="+mn-ea"/>
              </a:rPr>
              <a:t>v.</a:t>
            </a:r>
            <a:r>
              <a:rPr lang="zh-CN" altLang="en-US" sz="3500" b="1" dirty="0">
                <a:solidFill>
                  <a:srgbClr val="FF0000"/>
                </a:solidFill>
                <a:sym typeface="+mn-ea"/>
              </a:rPr>
              <a:t>和词组</a:t>
            </a:r>
            <a:r>
              <a:rPr lang="en-US" altLang="zh-CN" sz="3500" b="1" dirty="0">
                <a:solidFill>
                  <a:srgbClr val="FF0000"/>
                </a:solidFill>
                <a:sym typeface="+mn-ea"/>
              </a:rPr>
              <a:t>(6</a:t>
            </a:r>
            <a:r>
              <a:rPr lang="zh-CN" altLang="en-US" sz="3500" b="1" dirty="0">
                <a:solidFill>
                  <a:srgbClr val="FF0000"/>
                </a:solidFill>
                <a:sym typeface="+mn-ea"/>
              </a:rPr>
              <a:t>个</a:t>
            </a:r>
            <a:r>
              <a:rPr lang="en-US" altLang="zh-CN" sz="3500" b="1" dirty="0">
                <a:solidFill>
                  <a:srgbClr val="FF0000"/>
                </a:solidFill>
                <a:sym typeface="+mn-ea"/>
              </a:rPr>
              <a:t>)</a:t>
            </a:r>
            <a:endParaRPr lang="en-US" altLang="zh-CN" sz="3500" b="1" dirty="0">
              <a:solidFill>
                <a:srgbClr val="FF0000"/>
              </a:solidFill>
            </a:endParaRPr>
          </a:p>
          <a:p>
            <a:pPr marL="0" indent="0">
              <a:buNone/>
            </a:pPr>
            <a:r>
              <a:rPr lang="en-US" altLang="zh-CN" sz="3500" b="1" dirty="0">
                <a:solidFill>
                  <a:srgbClr val="FF0000"/>
                </a:solidFill>
                <a:sym typeface="+mn-ea"/>
              </a:rPr>
              <a:t>12.</a:t>
            </a:r>
            <a:r>
              <a:rPr lang="zh-CN" altLang="en-US" sz="3500" b="1" dirty="0">
                <a:solidFill>
                  <a:srgbClr val="FF0000"/>
                </a:solidFill>
                <a:sym typeface="+mn-ea"/>
              </a:rPr>
              <a:t>感官动词加宾补的区别</a:t>
            </a:r>
            <a:r>
              <a:rPr lang="en-US" altLang="zh-CN" sz="3500" b="1" dirty="0">
                <a:solidFill>
                  <a:srgbClr val="FF0000"/>
                </a:solidFill>
                <a:sym typeface="+mn-ea"/>
              </a:rPr>
              <a:t>  13.</a:t>
            </a:r>
            <a:r>
              <a:rPr lang="zh-CN" altLang="en-US" sz="3500" b="1" dirty="0">
                <a:solidFill>
                  <a:srgbClr val="FF0000"/>
                </a:solidFill>
                <a:sym typeface="+mn-ea"/>
              </a:rPr>
              <a:t>被认为是句型</a:t>
            </a:r>
            <a:endParaRPr lang="zh-CN" altLang="en-US" sz="3500" b="1" dirty="0">
              <a:solidFill>
                <a:srgbClr val="FF0000"/>
              </a:solidFill>
            </a:endParaRPr>
          </a:p>
          <a:p>
            <a:pPr marL="0" indent="0">
              <a:buNone/>
            </a:pPr>
            <a:r>
              <a:rPr lang="en-US" altLang="zh-CN" sz="3500" b="1" dirty="0">
                <a:solidFill>
                  <a:srgbClr val="FF0000"/>
                </a:solidFill>
                <a:sym typeface="+mn-ea"/>
              </a:rPr>
              <a:t>14.</a:t>
            </a:r>
            <a:r>
              <a:rPr lang="zh-CN" altLang="en-US" sz="3500" b="1" dirty="0">
                <a:solidFill>
                  <a:srgbClr val="FF0000"/>
                </a:solidFill>
                <a:sym typeface="+mn-ea"/>
              </a:rPr>
              <a:t>据说据报道结构</a:t>
            </a:r>
            <a:r>
              <a:rPr lang="en-US" altLang="zh-CN" sz="3500" b="1" dirty="0">
                <a:solidFill>
                  <a:srgbClr val="FF0000"/>
                </a:solidFill>
                <a:sym typeface="+mn-ea"/>
              </a:rPr>
              <a:t>   15.</a:t>
            </a:r>
            <a:r>
              <a:rPr lang="zh-CN" altLang="en-US" sz="3500" b="1" dirty="0">
                <a:solidFill>
                  <a:srgbClr val="FF0000"/>
                </a:solidFill>
                <a:sym typeface="+mn-ea"/>
              </a:rPr>
              <a:t>让某人做某事句型；变被动</a:t>
            </a:r>
            <a:r>
              <a:rPr lang="en-US" altLang="zh-CN" sz="3500" b="1" dirty="0">
                <a:solidFill>
                  <a:srgbClr val="FF0000"/>
                </a:solidFill>
                <a:sym typeface="+mn-ea"/>
              </a:rPr>
              <a:t> </a:t>
            </a:r>
            <a:endParaRPr lang="en-US" altLang="zh-CN" sz="3500" b="1" dirty="0">
              <a:solidFill>
                <a:srgbClr val="FF0000"/>
              </a:solidFill>
            </a:endParaRPr>
          </a:p>
          <a:p>
            <a:pPr marL="0" indent="0">
              <a:buNone/>
            </a:pPr>
            <a:r>
              <a:rPr lang="en-US" altLang="zh-CN" sz="3500" b="1" dirty="0">
                <a:solidFill>
                  <a:srgbClr val="FF0000"/>
                </a:solidFill>
                <a:sym typeface="+mn-ea"/>
              </a:rPr>
              <a:t>16.with</a:t>
            </a:r>
            <a:r>
              <a:rPr lang="zh-CN" altLang="en-US" sz="3500" b="1" dirty="0">
                <a:solidFill>
                  <a:srgbClr val="FF0000"/>
                </a:solidFill>
                <a:sym typeface="+mn-ea"/>
              </a:rPr>
              <a:t>的复合结构</a:t>
            </a:r>
            <a:r>
              <a:rPr lang="en-US" altLang="zh-CN" sz="3500" b="1" dirty="0">
                <a:solidFill>
                  <a:srgbClr val="FF0000"/>
                </a:solidFill>
                <a:sym typeface="+mn-ea"/>
              </a:rPr>
              <a:t>   17.</a:t>
            </a:r>
            <a:r>
              <a:rPr lang="zh-CN" altLang="en-US" sz="3500" b="1" dirty="0">
                <a:solidFill>
                  <a:srgbClr val="FF0000"/>
                </a:solidFill>
                <a:sym typeface="+mn-ea"/>
              </a:rPr>
              <a:t>坐落于</a:t>
            </a:r>
            <a:r>
              <a:rPr lang="en-US" altLang="zh-CN" sz="3500" b="1" dirty="0">
                <a:solidFill>
                  <a:srgbClr val="FF0000"/>
                </a:solidFill>
                <a:sym typeface="+mn-ea"/>
              </a:rPr>
              <a:t>;</a:t>
            </a:r>
            <a:r>
              <a:rPr lang="zh-CN" altLang="en-US" sz="3500" b="1" dirty="0">
                <a:solidFill>
                  <a:srgbClr val="FF0000"/>
                </a:solidFill>
                <a:sym typeface="+mn-ea"/>
              </a:rPr>
              <a:t>沉思</a:t>
            </a:r>
            <a:r>
              <a:rPr lang="en-US" altLang="zh-CN" sz="3500" b="1" dirty="0">
                <a:solidFill>
                  <a:srgbClr val="FF0000"/>
                </a:solidFill>
                <a:sym typeface="+mn-ea"/>
              </a:rPr>
              <a:t>;</a:t>
            </a:r>
            <a:r>
              <a:rPr lang="zh-CN" altLang="en-US" sz="3500" b="1" dirty="0">
                <a:solidFill>
                  <a:srgbClr val="FF0000"/>
                </a:solidFill>
                <a:sym typeface="+mn-ea"/>
              </a:rPr>
              <a:t>沉迷于</a:t>
            </a:r>
            <a:endParaRPr lang="en-US" altLang="zh-CN" sz="3500" b="1" dirty="0">
              <a:solidFill>
                <a:schemeClr val="tx1"/>
              </a:solidFill>
            </a:endParaRPr>
          </a:p>
          <a:p>
            <a:r>
              <a:rPr lang="en-US" altLang="zh-CN" sz="3500" b="1" dirty="0">
                <a:solidFill>
                  <a:schemeClr val="tx1"/>
                </a:solidFill>
              </a:rPr>
              <a:t>1.</a:t>
            </a:r>
            <a:r>
              <a:rPr lang="zh-CN" altLang="en-US" sz="3500" b="1" dirty="0">
                <a:solidFill>
                  <a:schemeClr val="tx1"/>
                </a:solidFill>
              </a:rPr>
              <a:t>被一阵</a:t>
            </a:r>
            <a:r>
              <a:rPr lang="zh-CN" altLang="en-US" sz="3500" b="1" dirty="0"/>
              <a:t>困惑</a:t>
            </a:r>
            <a:r>
              <a:rPr lang="zh-CN" altLang="en-US" sz="3500" b="1" dirty="0">
                <a:solidFill>
                  <a:schemeClr val="tx1"/>
                </a:solidFill>
              </a:rPr>
              <a:t>压倒了    </a:t>
            </a:r>
            <a:r>
              <a:rPr lang="en-US" altLang="zh-CN" sz="3500" b="1" dirty="0">
                <a:solidFill>
                  <a:schemeClr val="tx1"/>
                </a:solidFill>
              </a:rPr>
              <a:t>2.</a:t>
            </a:r>
            <a:r>
              <a:rPr lang="zh-CN" altLang="en-US" sz="3500" b="1" dirty="0">
                <a:solidFill>
                  <a:schemeClr val="tx1"/>
                </a:solidFill>
              </a:rPr>
              <a:t>当他的目光落在</a:t>
            </a:r>
            <a:r>
              <a:rPr lang="en-US" altLang="zh-CN" sz="3500" b="1" dirty="0">
                <a:solidFill>
                  <a:schemeClr val="tx1"/>
                </a:solidFill>
              </a:rPr>
              <a:t>…</a:t>
            </a:r>
            <a:r>
              <a:rPr lang="zh-CN" altLang="en-US" sz="3500" b="1" dirty="0">
                <a:solidFill>
                  <a:schemeClr val="tx1"/>
                </a:solidFill>
              </a:rPr>
              <a:t>上时</a:t>
            </a:r>
            <a:endParaRPr lang="en-US" altLang="zh-CN" sz="3500" b="1" dirty="0">
              <a:solidFill>
                <a:schemeClr val="tx1"/>
              </a:solidFill>
            </a:endParaRPr>
          </a:p>
          <a:p>
            <a:r>
              <a:rPr lang="en-US" altLang="zh-CN" sz="3500" b="1" dirty="0">
                <a:solidFill>
                  <a:schemeClr val="tx1"/>
                </a:solidFill>
              </a:rPr>
              <a:t>3.</a:t>
            </a:r>
            <a:r>
              <a:rPr lang="zh-CN" altLang="en-US" sz="3500" b="1" dirty="0">
                <a:solidFill>
                  <a:schemeClr val="tx1"/>
                </a:solidFill>
              </a:rPr>
              <a:t>他的心漏了一跳</a:t>
            </a:r>
            <a:r>
              <a:rPr lang="en-US" altLang="zh-CN" sz="3500" b="1" dirty="0">
                <a:solidFill>
                  <a:schemeClr val="tx1"/>
                </a:solidFill>
              </a:rPr>
              <a:t>—</a:t>
            </a:r>
            <a:r>
              <a:rPr lang="zh-CN" altLang="en-US" sz="3500" b="1" dirty="0">
                <a:solidFill>
                  <a:schemeClr val="tx1"/>
                </a:solidFill>
              </a:rPr>
              <a:t>他</a:t>
            </a:r>
            <a:r>
              <a:rPr lang="zh-CN" altLang="en-US" sz="3500" b="1" dirty="0"/>
              <a:t>毁了他妈妈最喜欢的衣服</a:t>
            </a:r>
            <a:r>
              <a:rPr lang="en-US" altLang="zh-CN" sz="3500" b="1" dirty="0"/>
              <a:t>,</a:t>
            </a:r>
            <a:r>
              <a:rPr lang="zh-CN" altLang="en-US" sz="3500" b="1" dirty="0"/>
              <a:t>因为没有</a:t>
            </a:r>
            <a:r>
              <a:rPr lang="zh-CN" altLang="en-US" sz="3500" b="1" dirty="0">
                <a:solidFill>
                  <a:schemeClr val="tx1"/>
                </a:solidFill>
              </a:rPr>
              <a:t>把分开洗</a:t>
            </a:r>
            <a:r>
              <a:rPr lang="en-US" altLang="zh-CN" sz="3500" b="1" dirty="0">
                <a:solidFill>
                  <a:schemeClr val="tx1"/>
                </a:solidFill>
              </a:rPr>
              <a:t>.</a:t>
            </a:r>
            <a:r>
              <a:rPr lang="zh-CN" altLang="en-US" sz="3500" b="1" dirty="0">
                <a:solidFill>
                  <a:schemeClr val="tx1"/>
                </a:solidFill>
              </a:rPr>
              <a:t>    </a:t>
            </a:r>
            <a:r>
              <a:rPr lang="en-US" altLang="zh-CN" sz="3500" b="1" dirty="0">
                <a:solidFill>
                  <a:schemeClr val="tx1"/>
                </a:solidFill>
              </a:rPr>
              <a:t>4.</a:t>
            </a:r>
            <a:r>
              <a:rPr lang="zh-CN" altLang="en-US" sz="3500" b="1" dirty="0">
                <a:solidFill>
                  <a:schemeClr val="tx1"/>
                </a:solidFill>
              </a:rPr>
              <a:t>杰里米惊慌失措</a:t>
            </a:r>
            <a:r>
              <a:rPr lang="en-US" altLang="zh-CN" sz="3500" b="1" dirty="0">
                <a:solidFill>
                  <a:schemeClr val="tx1"/>
                </a:solidFill>
              </a:rPr>
              <a:t>,</a:t>
            </a:r>
            <a:r>
              <a:rPr lang="zh-CN" altLang="en-US" sz="3500" b="1" dirty="0">
                <a:solidFill>
                  <a:schemeClr val="tx1"/>
                </a:solidFill>
              </a:rPr>
              <a:t>满头大汗。</a:t>
            </a:r>
            <a:r>
              <a:rPr lang="en-US" altLang="zh-CN" sz="3500" b="1" dirty="0">
                <a:solidFill>
                  <a:schemeClr val="tx1"/>
                </a:solidFill>
              </a:rPr>
              <a:t>5.</a:t>
            </a:r>
            <a:r>
              <a:rPr lang="zh-CN" altLang="en-US" sz="3500" b="1" dirty="0">
                <a:solidFill>
                  <a:schemeClr val="tx1"/>
                </a:solidFill>
              </a:rPr>
              <a:t>必须面对现实 </a:t>
            </a:r>
            <a:r>
              <a:rPr lang="en-US" altLang="zh-CN" sz="3500" b="1" dirty="0"/>
              <a:t>       </a:t>
            </a:r>
          </a:p>
          <a:p>
            <a:r>
              <a:rPr lang="en-US" altLang="zh-CN" sz="3500" b="1" dirty="0">
                <a:solidFill>
                  <a:schemeClr val="tx1"/>
                </a:solidFill>
              </a:rPr>
              <a:t>6.</a:t>
            </a:r>
            <a:r>
              <a:rPr lang="zh-CN" altLang="en-US" sz="3500" b="1" dirty="0">
                <a:solidFill>
                  <a:schemeClr val="tx1"/>
                </a:solidFill>
              </a:rPr>
              <a:t>他深吸了一口气</a:t>
            </a:r>
            <a:r>
              <a:rPr lang="en-US" altLang="zh-CN" sz="3500" b="1" dirty="0">
                <a:solidFill>
                  <a:schemeClr val="tx1"/>
                </a:solidFill>
              </a:rPr>
              <a:t>,</a:t>
            </a:r>
            <a:r>
              <a:rPr lang="zh-CN" altLang="en-US" sz="3500" b="1" dirty="0">
                <a:solidFill>
                  <a:schemeClr val="tx1"/>
                </a:solidFill>
              </a:rPr>
              <a:t>使自己镇定下来</a:t>
            </a:r>
            <a:r>
              <a:rPr lang="en-US" altLang="zh-CN" sz="3500" b="1" dirty="0">
                <a:solidFill>
                  <a:schemeClr val="tx1"/>
                </a:solidFill>
              </a:rPr>
              <a:t>.7.</a:t>
            </a:r>
            <a:r>
              <a:rPr lang="zh-CN" altLang="en-US" sz="3500" b="1" dirty="0">
                <a:solidFill>
                  <a:schemeClr val="tx1"/>
                </a:solidFill>
              </a:rPr>
              <a:t>拖着沉重的步子走向卧室</a:t>
            </a:r>
            <a:r>
              <a:rPr lang="en-US" altLang="zh-CN" sz="3500" b="1" dirty="0">
                <a:solidFill>
                  <a:schemeClr val="tx1"/>
                </a:solidFill>
              </a:rPr>
              <a:t>  8.</a:t>
            </a:r>
            <a:r>
              <a:rPr lang="zh-CN" altLang="en-US" sz="3500" b="1" dirty="0">
                <a:solidFill>
                  <a:schemeClr val="tx1"/>
                </a:solidFill>
              </a:rPr>
              <a:t>他刚走到床边，妈妈就注意到儿子的不安。</a:t>
            </a:r>
            <a:endParaRPr lang="en-US" altLang="zh-CN" sz="3500" b="1" dirty="0">
              <a:solidFill>
                <a:schemeClr val="tx1"/>
              </a:solidFill>
            </a:endParaRPr>
          </a:p>
          <a:p>
            <a:r>
              <a:rPr lang="en-US" altLang="zh-CN" sz="3500" b="1" dirty="0">
                <a:solidFill>
                  <a:schemeClr val="tx1"/>
                </a:solidFill>
              </a:rPr>
              <a:t>9.</a:t>
            </a:r>
            <a:r>
              <a:rPr lang="zh-CN" altLang="en-US" sz="3500" b="1" dirty="0">
                <a:solidFill>
                  <a:schemeClr val="tx1"/>
                </a:solidFill>
              </a:rPr>
              <a:t>结结巴巴地解释着   </a:t>
            </a:r>
            <a:r>
              <a:rPr lang="en-US" altLang="zh-CN" sz="3500" b="1" dirty="0">
                <a:solidFill>
                  <a:schemeClr val="tx1"/>
                </a:solidFill>
              </a:rPr>
              <a:t>10.</a:t>
            </a:r>
            <a:r>
              <a:rPr lang="zh-CN" altLang="en-US" sz="3500" b="1" dirty="0">
                <a:solidFill>
                  <a:schemeClr val="tx1"/>
                </a:solidFill>
              </a:rPr>
              <a:t>朝</a:t>
            </a:r>
            <a:r>
              <a:rPr lang="en-US" altLang="zh-CN" sz="3500" b="1" dirty="0">
                <a:solidFill>
                  <a:schemeClr val="tx1"/>
                </a:solidFill>
              </a:rPr>
              <a:t>...</a:t>
            </a:r>
            <a:r>
              <a:rPr lang="zh-CN" altLang="en-US" sz="3500" b="1" dirty="0">
                <a:solidFill>
                  <a:schemeClr val="tx1"/>
                </a:solidFill>
              </a:rPr>
              <a:t>微笑</a:t>
            </a:r>
            <a:r>
              <a:rPr lang="en-US" altLang="zh-CN" sz="3500" b="1" dirty="0">
                <a:solidFill>
                  <a:schemeClr val="tx1"/>
                </a:solidFill>
              </a:rPr>
              <a:t> 11.</a:t>
            </a:r>
            <a:r>
              <a:rPr lang="zh-CN" altLang="en-US" sz="3500" b="1" dirty="0">
                <a:solidFill>
                  <a:schemeClr val="tx1"/>
                </a:solidFill>
              </a:rPr>
              <a:t>用赞许的语气说</a:t>
            </a:r>
            <a:endParaRPr lang="en-US" altLang="zh-CN" sz="3500" b="1" dirty="0">
              <a:solidFill>
                <a:schemeClr val="tx1"/>
              </a:solidFill>
            </a:endParaRPr>
          </a:p>
          <a:p>
            <a:r>
              <a:rPr lang="en-US" altLang="zh-CN" sz="3500" b="1" dirty="0">
                <a:solidFill>
                  <a:schemeClr val="tx1"/>
                </a:solidFill>
              </a:rPr>
              <a:t>12.</a:t>
            </a:r>
            <a:r>
              <a:rPr lang="zh-CN" altLang="en-US" sz="3500" b="1" dirty="0">
                <a:solidFill>
                  <a:schemeClr val="tx1"/>
                </a:solidFill>
              </a:rPr>
              <a:t>听到这里</a:t>
            </a:r>
            <a:r>
              <a:rPr lang="en-US" altLang="zh-CN" sz="3500" b="1" dirty="0">
                <a:solidFill>
                  <a:schemeClr val="tx1"/>
                </a:solidFill>
              </a:rPr>
              <a:t>,</a:t>
            </a:r>
            <a:r>
              <a:rPr lang="zh-CN" altLang="en-US" sz="3500" b="1" dirty="0">
                <a:solidFill>
                  <a:schemeClr val="tx1"/>
                </a:solidFill>
              </a:rPr>
              <a:t>他笑得合不拢嘴</a:t>
            </a:r>
            <a:r>
              <a:rPr lang="en-US" altLang="zh-CN" sz="3500" b="1" dirty="0">
                <a:solidFill>
                  <a:schemeClr val="tx1"/>
                </a:solidFill>
              </a:rPr>
              <a:t>,</a:t>
            </a:r>
            <a:r>
              <a:rPr lang="zh-CN" altLang="en-US" sz="3500" b="1" dirty="0">
                <a:solidFill>
                  <a:schemeClr val="tx1"/>
                </a:solidFill>
              </a:rPr>
              <a:t>给了妈妈一个温暖的拥抱</a:t>
            </a:r>
            <a:r>
              <a:rPr lang="en-US" altLang="zh-CN" sz="3500" b="1" dirty="0">
                <a:solidFill>
                  <a:schemeClr val="tx1"/>
                </a:solidFill>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lnSpcReduction="10000"/>
          </a:bodyPr>
          <a:lstStyle/>
          <a:p>
            <a:r>
              <a:rPr lang="en-US" altLang="zh-CN" sz="3600" b="1" dirty="0"/>
              <a:t>But he remembered there was no pink dress in the laundry basket. Overwhelmed by a surge of confusion, Jeremy pulled out a few more clothes and checked over each item. As his eyes rested on the red socks, Jeremy was sure that he had found the answer. His heart missed a beat—he had spoiled his mom’s favorite dress by not washing them separately! Panic seized Jeremy, leaving him in a sweat. However, he knew he had to face the music. He took a deep breath to compose himself.</a:t>
            </a:r>
          </a:p>
          <a:p>
            <a:r>
              <a:rPr lang="en-US" altLang="zh-CN" sz="3600" b="1" dirty="0"/>
              <a:t>Holding the pink dress, Jeremy dragged himself towards his mom’s bedroom. Hardly had he approached the bedside when Mom noticed her son’s unease. She sat up, asking him what was wrong. Jeremy held out the pink dress, stumbling through an explanation. “I know you meant to help,” Mom beamed at Jeremy. Then she held the dress up before her and said in an approving tone, “I think it looks nice.” At this, Jeremy grinned from ear to ear, giving his mom a warm hug.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pPr algn="ctr"/>
            <a:r>
              <a:rPr lang="zh-CN" altLang="en-US" sz="3600" b="1" dirty="0">
                <a:solidFill>
                  <a:srgbClr val="FF0000"/>
                </a:solidFill>
              </a:rPr>
              <a:t>语言自查表：</a:t>
            </a:r>
          </a:p>
          <a:p>
            <a:r>
              <a:rPr lang="en-US" altLang="zh-CN" sz="3600" b="1" dirty="0">
                <a:solidFill>
                  <a:srgbClr val="FF0000"/>
                </a:solidFill>
              </a:rPr>
              <a:t>1.</a:t>
            </a:r>
            <a:r>
              <a:rPr lang="zh-CN" altLang="en-US" sz="3600" b="1" dirty="0">
                <a:solidFill>
                  <a:srgbClr val="FF0000"/>
                </a:solidFill>
              </a:rPr>
              <a:t>非谓语：</a:t>
            </a:r>
            <a:r>
              <a:rPr lang="en-US" altLang="zh-CN" sz="3600" b="1" dirty="0">
                <a:solidFill>
                  <a:srgbClr val="FF0000"/>
                </a:solidFill>
              </a:rPr>
              <a:t>Doing, </a:t>
            </a:r>
            <a:r>
              <a:rPr lang="zh-CN" altLang="en-US" sz="3600" b="1" dirty="0">
                <a:solidFill>
                  <a:srgbClr val="FF0000"/>
                </a:solidFill>
              </a:rPr>
              <a:t>主语</a:t>
            </a:r>
            <a:r>
              <a:rPr lang="en-US" altLang="zh-CN" sz="3600" b="1" dirty="0">
                <a:solidFill>
                  <a:srgbClr val="FF0000"/>
                </a:solidFill>
              </a:rPr>
              <a:t>+</a:t>
            </a:r>
            <a:r>
              <a:rPr lang="zh-CN" altLang="en-US" sz="3600" b="1" dirty="0">
                <a:solidFill>
                  <a:srgbClr val="FF0000"/>
                </a:solidFill>
              </a:rPr>
              <a:t>谓语动词</a:t>
            </a:r>
          </a:p>
          <a:p>
            <a:r>
              <a:rPr lang="zh-CN" altLang="en-US" sz="3600" b="1" dirty="0">
                <a:solidFill>
                  <a:srgbClr val="FF0000"/>
                </a:solidFill>
              </a:rPr>
              <a:t> </a:t>
            </a:r>
            <a:r>
              <a:rPr lang="en-US" altLang="zh-CN" sz="3600" b="1" dirty="0">
                <a:solidFill>
                  <a:srgbClr val="FF0000"/>
                </a:solidFill>
              </a:rPr>
              <a:t>    adj./P.P.+and+adj./P.P.,</a:t>
            </a:r>
            <a:r>
              <a:rPr lang="zh-CN" altLang="en-US" sz="3600" b="1" dirty="0">
                <a:solidFill>
                  <a:srgbClr val="FF0000"/>
                </a:solidFill>
                <a:sym typeface="+mn-ea"/>
              </a:rPr>
              <a:t>主语</a:t>
            </a:r>
            <a:r>
              <a:rPr lang="en-US" altLang="zh-CN" sz="3600" b="1" dirty="0">
                <a:solidFill>
                  <a:srgbClr val="FF0000"/>
                </a:solidFill>
                <a:sym typeface="+mn-ea"/>
              </a:rPr>
              <a:t>+</a:t>
            </a:r>
            <a:r>
              <a:rPr lang="zh-CN" altLang="en-US" sz="3600" b="1" dirty="0">
                <a:solidFill>
                  <a:srgbClr val="FF0000"/>
                </a:solidFill>
                <a:sym typeface="+mn-ea"/>
              </a:rPr>
              <a:t>谓语动词</a:t>
            </a:r>
          </a:p>
          <a:p>
            <a:r>
              <a:rPr lang="zh-CN" altLang="en-US" sz="3600" b="1" dirty="0">
                <a:solidFill>
                  <a:srgbClr val="FF0000"/>
                </a:solidFill>
                <a:sym typeface="+mn-ea"/>
              </a:rPr>
              <a:t> </a:t>
            </a:r>
            <a:r>
              <a:rPr lang="en-US" altLang="zh-CN" sz="3600" b="1" dirty="0">
                <a:solidFill>
                  <a:srgbClr val="FF0000"/>
                </a:solidFill>
                <a:sym typeface="+mn-ea"/>
              </a:rPr>
              <a:t>    SVO, +ving</a:t>
            </a:r>
            <a:r>
              <a:rPr lang="zh-CN" altLang="en-US" sz="3600" b="1" dirty="0">
                <a:solidFill>
                  <a:srgbClr val="FF0000"/>
                </a:solidFill>
                <a:sym typeface="+mn-ea"/>
              </a:rPr>
              <a:t>自然而然结果</a:t>
            </a:r>
            <a:r>
              <a:rPr lang="en-US" altLang="zh-CN" sz="3600" b="1" dirty="0">
                <a:solidFill>
                  <a:srgbClr val="FF0000"/>
                </a:solidFill>
                <a:sym typeface="+mn-ea"/>
              </a:rPr>
              <a:t>/ </a:t>
            </a:r>
            <a:r>
              <a:rPr lang="zh-CN" altLang="en-US" sz="3600" b="1" dirty="0">
                <a:solidFill>
                  <a:srgbClr val="FF0000"/>
                </a:solidFill>
                <a:sym typeface="+mn-ea"/>
              </a:rPr>
              <a:t>伴随</a:t>
            </a:r>
          </a:p>
          <a:p>
            <a:r>
              <a:rPr lang="zh-CN" altLang="en-US" sz="3600" b="1" dirty="0">
                <a:solidFill>
                  <a:srgbClr val="FF0000"/>
                </a:solidFill>
                <a:sym typeface="+mn-ea"/>
              </a:rPr>
              <a:t> </a:t>
            </a:r>
            <a:r>
              <a:rPr lang="en-US" altLang="zh-CN" sz="3600" b="1" dirty="0">
                <a:solidFill>
                  <a:srgbClr val="FF0000"/>
                </a:solidFill>
                <a:sym typeface="+mn-ea"/>
              </a:rPr>
              <a:t>             +only to do</a:t>
            </a:r>
            <a:r>
              <a:rPr lang="zh-CN" altLang="en-US" sz="3600" b="1" dirty="0">
                <a:solidFill>
                  <a:srgbClr val="FF0000"/>
                </a:solidFill>
                <a:sym typeface="+mn-ea"/>
              </a:rPr>
              <a:t>出乎意外结果</a:t>
            </a:r>
            <a:endParaRPr lang="zh-CN" altLang="en-US" sz="3600" b="1" dirty="0">
              <a:solidFill>
                <a:srgbClr val="FF0000"/>
              </a:solidFill>
            </a:endParaRPr>
          </a:p>
          <a:p>
            <a:r>
              <a:rPr lang="en-US" altLang="zh-CN" sz="3600" b="1" dirty="0">
                <a:solidFill>
                  <a:srgbClr val="FF0000"/>
                </a:solidFill>
              </a:rPr>
              <a:t>2.</a:t>
            </a:r>
            <a:r>
              <a:rPr lang="zh-CN" altLang="en-US" sz="3600" b="1" dirty="0">
                <a:solidFill>
                  <a:srgbClr val="FF0000"/>
                </a:solidFill>
              </a:rPr>
              <a:t>动作链：</a:t>
            </a:r>
            <a:r>
              <a:rPr lang="en-US" altLang="zh-CN" sz="3600" b="1" dirty="0">
                <a:solidFill>
                  <a:srgbClr val="FF0000"/>
                </a:solidFill>
              </a:rPr>
              <a:t>A, B and C</a:t>
            </a:r>
          </a:p>
          <a:p>
            <a:r>
              <a:rPr lang="en-US" altLang="zh-CN" sz="3600" b="1" dirty="0">
                <a:solidFill>
                  <a:srgbClr val="FF0000"/>
                </a:solidFill>
              </a:rPr>
              <a:t>3.</a:t>
            </a:r>
            <a:r>
              <a:rPr lang="zh-CN" altLang="en-US" sz="3600" b="1" dirty="0">
                <a:solidFill>
                  <a:srgbClr val="FF0000"/>
                </a:solidFill>
                <a:sym typeface="+mn-ea"/>
              </a:rPr>
              <a:t>倒装句：</a:t>
            </a:r>
          </a:p>
          <a:p>
            <a:r>
              <a:rPr lang="en-US" altLang="zh-CN" sz="3600" b="1" dirty="0">
                <a:solidFill>
                  <a:srgbClr val="FF0000"/>
                </a:solidFill>
              </a:rPr>
              <a:t>“</a:t>
            </a:r>
            <a:r>
              <a:rPr lang="zh-CN" altLang="en-US" sz="3600" b="1" dirty="0">
                <a:solidFill>
                  <a:srgbClr val="FF0000"/>
                </a:solidFill>
              </a:rPr>
              <a:t>一</a:t>
            </a:r>
            <a:r>
              <a:rPr lang="en-US" altLang="zh-CN" sz="3600" b="1" dirty="0">
                <a:solidFill>
                  <a:srgbClr val="FF0000"/>
                </a:solidFill>
              </a:rPr>
              <a:t>…</a:t>
            </a:r>
            <a:r>
              <a:rPr lang="zh-CN" altLang="en-US" sz="3600" b="1" dirty="0">
                <a:solidFill>
                  <a:srgbClr val="FF0000"/>
                </a:solidFill>
              </a:rPr>
              <a:t>就</a:t>
            </a:r>
            <a:r>
              <a:rPr lang="en-US" altLang="zh-CN" sz="3600" b="1" dirty="0">
                <a:solidFill>
                  <a:srgbClr val="FF0000"/>
                </a:solidFill>
              </a:rPr>
              <a:t>…” No sooner...than.../ Hardly...when...</a:t>
            </a:r>
          </a:p>
          <a:p>
            <a:r>
              <a:rPr lang="en-US" altLang="zh-CN" sz="3600" b="1" dirty="0">
                <a:solidFill>
                  <a:srgbClr val="FF0000"/>
                </a:solidFill>
              </a:rPr>
              <a:t>4.with+</a:t>
            </a:r>
            <a:r>
              <a:rPr lang="zh-CN" altLang="en-US" sz="3600" b="1" dirty="0">
                <a:solidFill>
                  <a:srgbClr val="FF0000"/>
                </a:solidFill>
              </a:rPr>
              <a:t>宾语</a:t>
            </a:r>
            <a:r>
              <a:rPr lang="en-US" altLang="zh-CN" sz="3600" b="1" dirty="0">
                <a:solidFill>
                  <a:srgbClr val="FF0000"/>
                </a:solidFill>
              </a:rPr>
              <a:t>+</a:t>
            </a:r>
            <a:r>
              <a:rPr lang="zh-CN" altLang="en-US" sz="3600" b="1" dirty="0">
                <a:solidFill>
                  <a:srgbClr val="FF0000"/>
                </a:solidFill>
              </a:rPr>
              <a:t>宾补</a:t>
            </a:r>
          </a:p>
          <a:p>
            <a:r>
              <a:rPr lang="en-US" altLang="zh-CN" sz="3600" b="1" dirty="0">
                <a:solidFill>
                  <a:srgbClr val="FF0000"/>
                </a:solidFill>
              </a:rPr>
              <a:t>5.</a:t>
            </a:r>
            <a:r>
              <a:rPr lang="zh-CN" altLang="en-US" sz="3600" b="1" dirty="0">
                <a:solidFill>
                  <a:srgbClr val="FF0000"/>
                </a:solidFill>
              </a:rPr>
              <a:t>强调句型：</a:t>
            </a:r>
            <a:r>
              <a:rPr lang="en-US" altLang="zh-CN" sz="3600" b="1" dirty="0">
                <a:solidFill>
                  <a:srgbClr val="FF0000"/>
                </a:solidFill>
              </a:rPr>
              <a:t>It is/was...that...</a:t>
            </a:r>
            <a:endParaRPr lang="zh-CN" altLang="en-US" sz="3600" b="1" dirty="0">
              <a:solidFill>
                <a:srgbClr val="FF0000"/>
              </a:solidFill>
            </a:endParaRPr>
          </a:p>
          <a:p>
            <a:r>
              <a:rPr lang="en-US" altLang="zh-CN" sz="3600" b="1" dirty="0">
                <a:solidFill>
                  <a:srgbClr val="FF0000"/>
                </a:solidFill>
              </a:rPr>
              <a:t>6.</a:t>
            </a:r>
            <a:r>
              <a:rPr lang="zh-CN" altLang="en-US" sz="3600" b="1" dirty="0">
                <a:solidFill>
                  <a:srgbClr val="FF0000"/>
                </a:solidFill>
              </a:rPr>
              <a:t>定语从句</a:t>
            </a:r>
          </a:p>
          <a:p>
            <a:r>
              <a:rPr lang="en-US" altLang="zh-CN" sz="3600" b="1" dirty="0">
                <a:solidFill>
                  <a:srgbClr val="FF0000"/>
                </a:solidFill>
              </a:rPr>
              <a:t>7.</a:t>
            </a:r>
            <a:r>
              <a:rPr lang="zh-CN" altLang="en-US" sz="3600" b="1" dirty="0">
                <a:solidFill>
                  <a:srgbClr val="FF0000"/>
                </a:solidFill>
              </a:rPr>
              <a:t>其他主从复合句</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lvl="0" algn="just"/>
            <a:r>
              <a:rPr lang="en-US" altLang="zh-CN" sz="3600" b="1" dirty="0">
                <a:solidFill>
                  <a:srgbClr val="FF0000"/>
                </a:solidFill>
              </a:rPr>
              <a:t> 1.</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难以置信地</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信任</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2.</a:t>
            </a:r>
            <a:r>
              <a:rPr kumimoji="1" lang="zh-CN" altLang="en-US" sz="3600" b="1" dirty="0">
                <a:solidFill>
                  <a:srgbClr val="FF0000"/>
                </a:solidFill>
              </a:rPr>
              <a:t>偏离某事物 </a:t>
            </a:r>
            <a:r>
              <a:rPr kumimoji="1" lang="en-US" altLang="zh-CN" sz="3600" b="1" dirty="0">
                <a:solidFill>
                  <a:srgbClr val="FF0000"/>
                </a:solidFill>
              </a:rPr>
              <a:t>3.</a:t>
            </a:r>
            <a:r>
              <a:rPr lang="zh-CN" altLang="zh-CN" sz="3600" b="1" dirty="0">
                <a:solidFill>
                  <a:srgbClr val="FF0000"/>
                </a:solidFill>
              </a:rPr>
              <a:t>歪曲事实</a:t>
            </a:r>
            <a:r>
              <a:rPr lang="en-US" altLang="zh-CN" sz="3600" b="1" dirty="0">
                <a:solidFill>
                  <a:srgbClr val="FF0000"/>
                </a:solidFill>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一个急拐弯</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dirty="0"/>
              <a:t>决心做某事</a:t>
            </a:r>
            <a:r>
              <a:rPr lang="en-US" altLang="zh-CN" sz="3600" b="1" dirty="0"/>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有</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的天赋</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(__,__) 4.</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声称</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做某事</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要求损害赔偿</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认领</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钱包</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夺去生命</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引起某人的注意</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占一席之地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a:t>
            </a:r>
            <a:r>
              <a:rPr kumimoji="1" lang="zh-CN" altLang="en-US" sz="3600" b="1" dirty="0">
                <a:solidFill>
                  <a:srgbClr val="FF0000"/>
                </a:solidFill>
              </a:rPr>
              <a:t>紧随某人之后 </a:t>
            </a:r>
            <a:r>
              <a:rPr kumimoji="1" lang="en-US" altLang="zh-CN" sz="3600" b="1" dirty="0">
                <a:solidFill>
                  <a:srgbClr val="FF0000"/>
                </a:solidFill>
              </a:rPr>
              <a:t>6.</a:t>
            </a:r>
            <a:r>
              <a:rPr kumimoji="1" lang="zh-CN" altLang="en-US" sz="3600" b="1" dirty="0">
                <a:solidFill>
                  <a:srgbClr val="FF0000"/>
                </a:solidFill>
              </a:rPr>
              <a:t>舒了一口气</a:t>
            </a:r>
            <a:r>
              <a:rPr kumimoji="1" lang="en-US" altLang="zh-CN" sz="3600" b="1" dirty="0">
                <a:solidFill>
                  <a:srgbClr val="FF0000"/>
                </a:solidFill>
              </a:rPr>
              <a:t>;</a:t>
            </a:r>
            <a:r>
              <a:rPr kumimoji="1" lang="zh-CN" altLang="en-US" sz="3600" b="1" dirty="0">
                <a:solidFill>
                  <a:srgbClr val="FF0000"/>
                </a:solidFill>
              </a:rPr>
              <a:t>发出叹息 </a:t>
            </a:r>
            <a:r>
              <a:rPr kumimoji="1" lang="en-US" altLang="zh-CN" sz="3600" b="1" dirty="0">
                <a:solidFill>
                  <a:srgbClr val="FF0000"/>
                </a:solidFill>
              </a:rPr>
              <a:t>7.</a:t>
            </a:r>
            <a:r>
              <a:rPr kumimoji="1" lang="zh-CN" altLang="en-US" sz="3600" b="1" dirty="0">
                <a:solidFill>
                  <a:srgbClr val="FF0000"/>
                </a:solidFill>
              </a:rPr>
              <a:t>敢做某事</a:t>
            </a:r>
            <a:r>
              <a:rPr kumimoji="1" lang="en-US" altLang="zh-CN" sz="3600" b="1" dirty="0">
                <a:solidFill>
                  <a:srgbClr val="FF0000"/>
                </a:solidFill>
              </a:rPr>
              <a:t>;</a:t>
            </a:r>
            <a:r>
              <a:rPr kumimoji="1" lang="zh-CN" altLang="en-US" sz="3600" b="1" dirty="0">
                <a:solidFill>
                  <a:srgbClr val="FF0000"/>
                </a:solidFill>
              </a:rPr>
              <a:t>不敢做某事 </a:t>
            </a:r>
            <a:r>
              <a:rPr kumimoji="1" lang="en-US" altLang="zh-CN" sz="3600" b="1" dirty="0"/>
              <a:t>8.</a:t>
            </a:r>
            <a:r>
              <a:rPr kumimoji="1" lang="zh-CN" altLang="en-US" sz="3600" b="1" dirty="0"/>
              <a:t>居住者</a:t>
            </a:r>
            <a:r>
              <a:rPr kumimoji="1" lang="en-US" altLang="zh-CN" sz="3600" b="1" dirty="0"/>
              <a:t>;</a:t>
            </a:r>
            <a:r>
              <a:rPr kumimoji="1" lang="zh-CN" altLang="en-US" sz="3600" b="1" dirty="0"/>
              <a:t>住处</a:t>
            </a:r>
            <a:r>
              <a:rPr kumimoji="1" lang="en-US" altLang="zh-CN" sz="3600" b="1" dirty="0"/>
              <a:t>;</a:t>
            </a:r>
            <a:r>
              <a:rPr kumimoji="1" lang="zh-CN" altLang="en-US" sz="3600" b="1" dirty="0">
                <a:solidFill>
                  <a:srgbClr val="FF0000"/>
                </a:solidFill>
              </a:rPr>
              <a:t>老是想着</a:t>
            </a:r>
            <a:r>
              <a:rPr kumimoji="1" lang="en-US" altLang="zh-CN" sz="3600" b="1" dirty="0">
                <a:solidFill>
                  <a:srgbClr val="FF0000"/>
                </a:solidFill>
              </a:rPr>
              <a:t>/</a:t>
            </a:r>
            <a:r>
              <a:rPr kumimoji="1" lang="zh-CN" altLang="en-US" sz="3600" b="1" dirty="0">
                <a:solidFill>
                  <a:srgbClr val="FF0000"/>
                </a:solidFill>
              </a:rPr>
              <a:t>详述</a:t>
            </a:r>
            <a:r>
              <a:rPr kumimoji="1" lang="en-US" altLang="zh-CN" sz="3600" b="1" dirty="0">
                <a:solidFill>
                  <a:srgbClr val="FF0000"/>
                </a:solidFill>
              </a:rPr>
              <a:t>/</a:t>
            </a:r>
            <a:r>
              <a:rPr kumimoji="1" lang="zh-CN" altLang="en-US" sz="3600" b="1" dirty="0">
                <a:solidFill>
                  <a:srgbClr val="FF0000"/>
                </a:solidFill>
              </a:rPr>
              <a:t>停留在</a:t>
            </a:r>
            <a:r>
              <a:rPr kumimoji="1" lang="en-US" altLang="zh-CN" sz="3600" b="1" dirty="0">
                <a:solidFill>
                  <a:srgbClr val="FF0000"/>
                </a:solidFill>
              </a:rPr>
              <a:t>…</a:t>
            </a:r>
            <a:r>
              <a:rPr kumimoji="1" lang="zh-CN" altLang="en-US" sz="3600" b="1" dirty="0">
                <a:solidFill>
                  <a:srgbClr val="FF0000"/>
                </a:solidFill>
              </a:rPr>
              <a:t>身上 </a:t>
            </a:r>
            <a:r>
              <a:rPr kumimoji="1" lang="en-US" altLang="zh-CN" sz="3600" b="1" dirty="0">
                <a:solidFill>
                  <a:srgbClr val="FF0000"/>
                </a:solidFill>
              </a:rPr>
              <a:t>9.</a:t>
            </a:r>
            <a:r>
              <a:rPr kumimoji="1" lang="zh-CN" altLang="en-US" sz="3600" b="1" dirty="0">
                <a:solidFill>
                  <a:srgbClr val="FF0000"/>
                </a:solidFill>
              </a:rPr>
              <a:t>显著的特征</a:t>
            </a:r>
            <a:r>
              <a:rPr kumimoji="1" lang="en-US" altLang="zh-CN" sz="3600" b="1" dirty="0">
                <a:solidFill>
                  <a:srgbClr val="FF0000"/>
                </a:solidFill>
              </a:rPr>
              <a:t>; strike (__, __) 10.</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描述</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刻画</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的特点</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具有某种特点</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是</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的特点</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特质符号人物</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特点品质</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典型特有的</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11.</a:t>
            </a:r>
            <a:r>
              <a:rPr kumimoji="1" lang="en-US" altLang="zh-CN" sz="3600" b="1" dirty="0">
                <a:solidFill>
                  <a:srgbClr val="FF0000"/>
                </a:solidFill>
              </a:rPr>
              <a:t>n.</a:t>
            </a:r>
            <a:r>
              <a:rPr kumimoji="1" lang="zh-CN" altLang="en-US" sz="3600" b="1" dirty="0">
                <a:solidFill>
                  <a:srgbClr val="FF0000"/>
                </a:solidFill>
              </a:rPr>
              <a:t>儒学</a:t>
            </a:r>
            <a:r>
              <a:rPr kumimoji="1" lang="en-US" altLang="zh-CN" sz="3600" b="1" dirty="0">
                <a:solidFill>
                  <a:srgbClr val="FF0000"/>
                </a:solidFill>
              </a:rPr>
              <a:t>;adj.</a:t>
            </a:r>
            <a:r>
              <a:rPr kumimoji="1" lang="zh-CN" altLang="en-US" sz="3600" b="1" dirty="0">
                <a:solidFill>
                  <a:srgbClr val="FF0000"/>
                </a:solidFill>
              </a:rPr>
              <a:t>孔子</a:t>
            </a:r>
            <a:r>
              <a:rPr kumimoji="1" lang="zh-CN" altLang="en-US" sz="3600" b="1" dirty="0"/>
              <a:t>儒家的</a:t>
            </a:r>
            <a:r>
              <a:rPr kumimoji="1" lang="en-US" altLang="zh-CN" sz="3600" b="1" dirty="0"/>
              <a:t>;</a:t>
            </a:r>
            <a:r>
              <a:rPr kumimoji="1" lang="zh-CN" altLang="en-US" sz="3600" b="1" dirty="0">
                <a:solidFill>
                  <a:srgbClr val="FF0000"/>
                </a:solidFill>
              </a:rPr>
              <a:t>孔子语录 </a:t>
            </a:r>
            <a:r>
              <a:rPr kumimoji="1" lang="en-US" altLang="zh-CN" sz="3600" b="1" dirty="0"/>
              <a:t>12.</a:t>
            </a:r>
            <a:r>
              <a:rPr lang="en-US" altLang="zh-CN"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en-US"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传说中的</a:t>
            </a:r>
            <a:r>
              <a:rPr kumimoji="1"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3600" b="1" dirty="0">
                <a:solidFill>
                  <a:srgbClr val="FF0000"/>
                </a:solidFill>
              </a:rPr>
              <a:t>传说 </a:t>
            </a:r>
            <a:r>
              <a:rPr kumimoji="1" lang="en-US" altLang="zh-CN" sz="3600" b="1" dirty="0">
                <a:solidFill>
                  <a:srgbClr val="FF0000"/>
                </a:solidFill>
              </a:rPr>
              <a:t>13.</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偶然碰到遭遇</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秘密非法地</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14.</a:t>
            </a:r>
            <a:r>
              <a:rPr kumimoji="1" lang="en-US" altLang="zh-CN" sz="3600" b="1" dirty="0">
                <a:solidFill>
                  <a:srgbClr val="FF0000"/>
                </a:solidFill>
              </a:rPr>
              <a:t>v.</a:t>
            </a:r>
            <a:r>
              <a:rPr kumimoji="1" lang="zh-CN" altLang="en-US" sz="3600" b="1" dirty="0">
                <a:solidFill>
                  <a:srgbClr val="FF0000"/>
                </a:solidFill>
              </a:rPr>
              <a:t>养育培养</a:t>
            </a:r>
            <a:r>
              <a:rPr kumimoji="1" lang="en-US" altLang="zh-CN" sz="3600" b="1" dirty="0">
                <a:solidFill>
                  <a:srgbClr val="FF0000"/>
                </a:solidFill>
              </a:rPr>
              <a:t>;</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营养丰富的</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营养食物</a:t>
            </a:r>
            <a:r>
              <a:rPr lang="en-US" altLang="zh-CN"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15.</a:t>
            </a:r>
            <a:r>
              <a:rPr kumimoji="1" lang="zh-CN" altLang="en-US" sz="3600" b="1" dirty="0">
                <a:solidFill>
                  <a:srgbClr val="FF0000"/>
                </a:solidFill>
              </a:rPr>
              <a:t>在诸多场合 </a:t>
            </a:r>
            <a:r>
              <a:rPr kumimoji="1" lang="en-US" altLang="zh-CN" sz="3600" b="1" dirty="0"/>
              <a:t>16.</a:t>
            </a:r>
            <a:r>
              <a:rPr lang="zh-CN" altLang="en-US" sz="3600" b="1" kern="100" dirty="0">
                <a:latin typeface="Times New Roman" panose="02020603050405020304" pitchFamily="18" charset="0"/>
                <a:ea typeface="宋体" panose="02010600030101010101" pitchFamily="2" charset="-122"/>
                <a:cs typeface="Times New Roman" panose="02020603050405020304" pitchFamily="18" charset="0"/>
              </a:rPr>
              <a:t>光荣的</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光荣</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 17.…</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的剧增</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人口激增</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18.n.</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稳定性</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使</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稳定</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稳定的</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adv. </a:t>
            </a:r>
            <a:endParaRPr lang="zh-CN" altLang="en-US" sz="3600" b="1" dirty="0">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endPar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endParaRPr>
          </a:p>
          <a:p>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rPr>
              <a:t>19.</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容忍做某事</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rPr>
              <a:t>20.</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剥夺某人的自由</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可以随意做某事</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慷慨给予某物</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21.</a:t>
            </a:r>
            <a:r>
              <a:rPr kumimoji="1" lang="en-US" altLang="zh-CN" sz="3600" b="1" dirty="0">
                <a:solidFill>
                  <a:srgbClr val="FF0000"/>
                </a:solidFill>
              </a:rPr>
              <a:t>adj.</a:t>
            </a:r>
            <a:r>
              <a:rPr kumimoji="1" lang="zh-CN" altLang="en-US" sz="3600" b="1" dirty="0">
                <a:solidFill>
                  <a:srgbClr val="FF0000"/>
                </a:solidFill>
              </a:rPr>
              <a:t>不受拘束的</a:t>
            </a:r>
            <a:r>
              <a:rPr kumimoji="1" lang="en-US" altLang="zh-CN" sz="3600" b="1" dirty="0">
                <a:solidFill>
                  <a:srgbClr val="FF0000"/>
                </a:solidFill>
              </a:rPr>
              <a:t>;</a:t>
            </a:r>
            <a:r>
              <a:rPr kumimoji="1" lang="zh-CN" altLang="en-US" sz="3600" b="1" dirty="0"/>
              <a:t>限制某人做某事 </a:t>
            </a:r>
            <a:r>
              <a:rPr kumimoji="1" lang="en-US" altLang="zh-CN" sz="3600" b="1" dirty="0"/>
              <a:t>22.</a:t>
            </a:r>
            <a:r>
              <a:rPr kumimoji="1" lang="zh-CN" altLang="en-US" sz="3600" b="1" dirty="0">
                <a:solidFill>
                  <a:srgbClr val="FF0000"/>
                </a:solidFill>
              </a:rPr>
              <a:t>朝气蓬勃</a:t>
            </a:r>
            <a:r>
              <a:rPr kumimoji="1" lang="en-US" altLang="zh-CN" sz="3600" b="1" dirty="0"/>
              <a:t>;</a:t>
            </a:r>
            <a:r>
              <a:rPr kumimoji="1" lang="en-US" altLang="zh-CN" sz="3600" b="1" dirty="0">
                <a:solidFill>
                  <a:srgbClr val="FF0000"/>
                </a:solidFill>
              </a:rPr>
              <a:t>…</a:t>
            </a:r>
            <a:r>
              <a:rPr kumimoji="1" lang="zh-CN" altLang="en-US" sz="3600" b="1" dirty="0">
                <a:solidFill>
                  <a:srgbClr val="FF0000"/>
                </a:solidFill>
              </a:rPr>
              <a:t>是极其重要的</a:t>
            </a:r>
            <a:r>
              <a:rPr kumimoji="1" lang="en-US" altLang="zh-CN" sz="3600" b="1" dirty="0">
                <a:solidFill>
                  <a:srgbClr val="FF0000"/>
                </a:solidFill>
              </a:rPr>
              <a:t>;</a:t>
            </a:r>
            <a:r>
              <a:rPr kumimoji="1" lang="zh-CN" altLang="en-US" sz="3600" b="1" dirty="0">
                <a:solidFill>
                  <a:srgbClr val="FF0000"/>
                </a:solidFill>
              </a:rPr>
              <a:t>起着至关重要的作用 </a:t>
            </a:r>
            <a:r>
              <a:rPr kumimoji="1" lang="en-US" altLang="zh-CN" sz="3600" b="1" dirty="0">
                <a:solidFill>
                  <a:srgbClr val="FF0000"/>
                </a:solidFill>
              </a:rPr>
              <a:t>23.</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区分</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zh-CN" sz="3600" b="1" u="sng"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享有盛名</a:t>
            </a:r>
            <a:r>
              <a:rPr lang="en-US" altLang="zh-CN" sz="3600" b="1" u="sng"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卓越的</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1" dirty="0"/>
              <a:t>adj.</a:t>
            </a:r>
            <a:r>
              <a:rPr kumimoji="1" lang="zh-CN" altLang="en-US" sz="3600" b="1" dirty="0"/>
              <a:t>可辨认出的</a:t>
            </a:r>
            <a:r>
              <a:rPr kumimoji="1" lang="en-US" altLang="zh-CN" sz="3600" b="1" dirty="0"/>
              <a:t>;</a:t>
            </a:r>
            <a:r>
              <a:rPr kumimoji="1" lang="zh-CN" altLang="en-US" sz="3600" b="1" dirty="0">
                <a:solidFill>
                  <a:srgbClr val="FF0000"/>
                </a:solidFill>
              </a:rPr>
              <a:t>把</a:t>
            </a:r>
            <a:r>
              <a:rPr kumimoji="1" lang="en-US" altLang="zh-CN" sz="3600" b="1" dirty="0">
                <a:solidFill>
                  <a:srgbClr val="FF0000"/>
                </a:solidFill>
              </a:rPr>
              <a:t>…</a:t>
            </a:r>
            <a:r>
              <a:rPr kumimoji="1" lang="zh-CN" altLang="en-US" sz="3600" b="1" dirty="0">
                <a:solidFill>
                  <a:srgbClr val="FF0000"/>
                </a:solidFill>
              </a:rPr>
              <a:t>和</a:t>
            </a:r>
            <a:r>
              <a:rPr kumimoji="1" lang="en-US" altLang="zh-CN" sz="3600" b="1" dirty="0">
                <a:solidFill>
                  <a:srgbClr val="FF0000"/>
                </a:solidFill>
              </a:rPr>
              <a:t>…</a:t>
            </a:r>
            <a:r>
              <a:rPr kumimoji="1" lang="zh-CN" altLang="en-US" sz="3600" b="1" dirty="0">
                <a:solidFill>
                  <a:srgbClr val="FF0000"/>
                </a:solidFill>
              </a:rPr>
              <a:t>区别开</a:t>
            </a:r>
            <a:r>
              <a:rPr kumimoji="1" lang="en-US" altLang="zh-CN" sz="3600" b="1" dirty="0">
                <a:solidFill>
                  <a:srgbClr val="FF0000"/>
                </a:solidFill>
              </a:rPr>
              <a:t>;</a:t>
            </a:r>
            <a:r>
              <a:rPr kumimoji="1" lang="zh-CN" altLang="en-US" sz="3600" b="1" dirty="0">
                <a:solidFill>
                  <a:srgbClr val="FF0000"/>
                </a:solidFill>
              </a:rPr>
              <a:t>优秀作家</a:t>
            </a:r>
            <a:r>
              <a:rPr kumimoji="1" lang="en-US" altLang="zh-CN" sz="3600" b="1" dirty="0">
                <a:solidFill>
                  <a:srgbClr val="FF0000"/>
                </a:solidFill>
              </a:rPr>
              <a:t>;</a:t>
            </a:r>
            <a:r>
              <a:rPr kumimoji="1" lang="zh-CN" altLang="en-US" sz="3600" b="1" dirty="0">
                <a:solidFill>
                  <a:srgbClr val="FF0000"/>
                </a:solidFill>
              </a:rPr>
              <a:t>是某物的特点</a:t>
            </a:r>
            <a:r>
              <a:rPr kumimoji="1" lang="en-US" altLang="zh-CN" sz="3600" b="1" dirty="0">
                <a:solidFill>
                  <a:srgbClr val="FF0000"/>
                </a:solidFill>
              </a:rPr>
              <a:t>;</a:t>
            </a:r>
            <a:r>
              <a:rPr kumimoji="1" lang="zh-CN" altLang="en-US" sz="3600" b="1" dirty="0">
                <a:solidFill>
                  <a:srgbClr val="FF0000"/>
                </a:solidFill>
              </a:rPr>
              <a:t>与某事物不同</a:t>
            </a:r>
            <a:r>
              <a:rPr kumimoji="1" lang="en-US" altLang="zh-CN" sz="3600" b="1" dirty="0">
                <a:solidFill>
                  <a:srgbClr val="FF0000"/>
                </a:solidFill>
              </a:rPr>
              <a:t> 24.n.</a:t>
            </a:r>
            <a:r>
              <a:rPr kumimoji="1" lang="zh-CN" altLang="en-US" sz="3600" b="1" dirty="0"/>
              <a:t>夸大</a:t>
            </a:r>
            <a:r>
              <a:rPr kumimoji="1" lang="en-US" altLang="zh-CN" sz="3600" b="1" dirty="0"/>
              <a:t>;</a:t>
            </a:r>
            <a:r>
              <a:rPr kumimoji="1" lang="en-US" altLang="zh-CN" sz="3600" b="1" dirty="0">
                <a:solidFill>
                  <a:srgbClr val="FF0000"/>
                </a:solidFill>
              </a:rPr>
              <a:t>v.</a:t>
            </a:r>
            <a:r>
              <a:rPr kumimoji="1" lang="zh-CN" altLang="en-US" sz="3600" b="1" dirty="0"/>
              <a:t>夸大</a:t>
            </a:r>
            <a:r>
              <a:rPr kumimoji="1" lang="en-US" altLang="zh-CN" sz="3600" b="1" dirty="0"/>
              <a:t>;</a:t>
            </a:r>
            <a:r>
              <a:rPr kumimoji="1" lang="en-US" altLang="zh-CN" sz="3600" b="1" dirty="0">
                <a:solidFill>
                  <a:srgbClr val="FF0000"/>
                </a:solidFill>
              </a:rPr>
              <a:t>adj</a:t>
            </a:r>
            <a:r>
              <a:rPr kumimoji="1" lang="en-US" altLang="zh-CN" sz="3600" b="1" dirty="0"/>
              <a:t>.</a:t>
            </a:r>
            <a:r>
              <a:rPr kumimoji="1" lang="zh-CN" altLang="en-US" sz="3600" b="1" dirty="0"/>
              <a:t>夸张的</a:t>
            </a:r>
            <a:r>
              <a:rPr kumimoji="1" lang="en-US" altLang="zh-CN" sz="3600" b="1" dirty="0"/>
              <a:t> </a:t>
            </a:r>
          </a:p>
          <a:p>
            <a:r>
              <a:rPr kumimoji="1" lang="en-US" altLang="zh-CN" sz="3600" b="1" dirty="0"/>
              <a:t>25.</a:t>
            </a:r>
            <a:r>
              <a:rPr kumimoji="1" lang="zh-CN" altLang="en-US" sz="3600" b="1" dirty="0">
                <a:solidFill>
                  <a:srgbClr val="FF0000"/>
                </a:solidFill>
              </a:rPr>
              <a:t>隐喻</a:t>
            </a:r>
            <a:r>
              <a:rPr kumimoji="1" lang="en-US" altLang="zh-CN" sz="3600" b="1" dirty="0"/>
              <a:t>;</a:t>
            </a:r>
            <a:r>
              <a:rPr kumimoji="1" lang="zh-CN" altLang="en-US" sz="3600" b="1" dirty="0">
                <a:solidFill>
                  <a:srgbClr val="FF0000"/>
                </a:solidFill>
              </a:rPr>
              <a:t>明喻 </a:t>
            </a:r>
            <a:r>
              <a:rPr kumimoji="1" lang="en-US" altLang="zh-CN" sz="3600" b="1" dirty="0">
                <a:solidFill>
                  <a:srgbClr val="FF0000"/>
                </a:solidFill>
              </a:rPr>
              <a:t>26.</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的代表</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描绘成</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 n.</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描述</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表现</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p>
          <a:p>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27.</a:t>
            </a:r>
            <a:r>
              <a:rPr kumimoji="1" lang="en-US" altLang="zh-CN" sz="3600" b="1" dirty="0">
                <a:solidFill>
                  <a:srgbClr val="FF0000"/>
                </a:solidFill>
              </a:rPr>
              <a:t>n.</a:t>
            </a:r>
            <a:r>
              <a:rPr kumimoji="1" lang="zh-CN" altLang="en-US" sz="3600" b="1" dirty="0">
                <a:solidFill>
                  <a:srgbClr val="FF0000"/>
                </a:solidFill>
              </a:rPr>
              <a:t>霜冻期</a:t>
            </a:r>
            <a:r>
              <a:rPr kumimoji="1" lang="en-US" altLang="zh-CN" sz="3600" b="1" dirty="0">
                <a:solidFill>
                  <a:srgbClr val="FF0000"/>
                </a:solidFill>
              </a:rPr>
              <a:t>;adj.</a:t>
            </a:r>
            <a:r>
              <a:rPr kumimoji="1" lang="zh-CN" altLang="en-US" sz="3600" b="1" dirty="0">
                <a:solidFill>
                  <a:srgbClr val="FF0000"/>
                </a:solidFill>
              </a:rPr>
              <a:t>严寒结霜的</a:t>
            </a:r>
            <a:r>
              <a:rPr kumimoji="1" lang="en-US" altLang="zh-CN" sz="3600" b="1" dirty="0">
                <a:solidFill>
                  <a:srgbClr val="FF0000"/>
                </a:solidFill>
              </a:rPr>
              <a:t>;</a:t>
            </a:r>
            <a:r>
              <a:rPr kumimoji="1" lang="zh-CN" altLang="en-US" sz="3600" b="1" dirty="0">
                <a:solidFill>
                  <a:srgbClr val="FF0000"/>
                </a:solidFill>
              </a:rPr>
              <a:t>冻伤</a:t>
            </a:r>
            <a:r>
              <a:rPr kumimoji="1" lang="en-US" altLang="zh-CN" sz="3600" b="1" dirty="0">
                <a:solidFill>
                  <a:srgbClr val="FF0000"/>
                </a:solidFill>
              </a:rPr>
              <a:t> 28.</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使人对某物有新的认识</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给</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蒙上一层阴影</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使人怀疑</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扮演</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(__,__) 29.</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欠债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账</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情</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认为自己应该做某事</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归因于</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由于因为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30.</a:t>
            </a:r>
            <a:r>
              <a:rPr kumimoji="1" lang="zh-CN" altLang="en-US" sz="3600" b="1" dirty="0">
                <a:solidFill>
                  <a:srgbClr val="FF0000"/>
                </a:solidFill>
              </a:rPr>
              <a:t>付清欠款</a:t>
            </a:r>
            <a:r>
              <a:rPr kumimoji="1" lang="en-US" altLang="zh-CN" sz="3600" b="1" dirty="0">
                <a:solidFill>
                  <a:srgbClr val="FF0000"/>
                </a:solidFill>
              </a:rPr>
              <a:t>;</a:t>
            </a:r>
            <a:r>
              <a:rPr kumimoji="1" lang="zh-CN" altLang="en-US" sz="3600" b="1" dirty="0">
                <a:solidFill>
                  <a:srgbClr val="FF0000"/>
                </a:solidFill>
              </a:rPr>
              <a:t>不负债</a:t>
            </a:r>
            <a:r>
              <a:rPr kumimoji="1" lang="en-US" altLang="zh-CN" sz="3600" b="1" dirty="0">
                <a:solidFill>
                  <a:srgbClr val="FF0000"/>
                </a:solidFill>
              </a:rPr>
              <a:t>;</a:t>
            </a:r>
            <a:r>
              <a:rPr kumimoji="1" lang="zh-CN" altLang="en-US" sz="3600" b="1" u="sng" dirty="0">
                <a:solidFill>
                  <a:srgbClr val="FF0000"/>
                </a:solidFill>
              </a:rPr>
              <a:t>欠债 </a:t>
            </a:r>
            <a:r>
              <a:rPr kumimoji="1" lang="en-US" altLang="zh-CN" sz="3600" b="1" u="sng" dirty="0">
                <a:solidFill>
                  <a:srgbClr val="FF0000"/>
                </a:solidFill>
              </a:rPr>
              <a:t>31.</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v.</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迷住</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;adj.</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入迷的</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;adj.</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迷人的</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吸引力入迷</a:t>
            </a:r>
            <a:r>
              <a:rPr kumimoji="1" lang="en-US" altLang="zh-CN" sz="3600" b="1" kern="100" dirty="0"/>
              <a:t> 32.</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使享有权利</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标</a:t>
            </a:r>
            <a:r>
              <a:rPr lang="zh-CN" altLang="en-US" sz="3600" b="1" u="sng"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题</a:t>
            </a:r>
            <a:r>
              <a:rPr lang="zh-CN" altLang="en-US" sz="3600" b="1" kern="1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权利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33.</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因某事责备某人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把某事归咎于某人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因某事而受到责备</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34.</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考虑到体谅</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补贴</a:t>
            </a:r>
            <a:r>
              <a:rPr lang="en-US" altLang="zh-CN"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行李限重</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容许</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的发生</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允许某人做某事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35.</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战胜</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打败某人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物</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因</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而狂喜</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36.</a:t>
            </a:r>
            <a:r>
              <a:rPr kumimoji="1" lang="en-US" altLang="zh-CN" sz="3600" b="1" dirty="0">
                <a:solidFill>
                  <a:srgbClr val="FF0000"/>
                </a:solidFill>
              </a:rPr>
              <a:t>adj.</a:t>
            </a:r>
            <a:r>
              <a:rPr kumimoji="1" lang="zh-CN" altLang="en-US" sz="3600" b="1" dirty="0">
                <a:solidFill>
                  <a:srgbClr val="FF0000"/>
                </a:solidFill>
              </a:rPr>
              <a:t>不可原谅人棘手的</a:t>
            </a:r>
            <a:r>
              <a:rPr kumimoji="1" lang="en-US" altLang="zh-CN" sz="3600" b="1" dirty="0">
                <a:solidFill>
                  <a:srgbClr val="FF0000"/>
                </a:solidFill>
              </a:rPr>
              <a:t>;adj.</a:t>
            </a:r>
            <a:r>
              <a:rPr kumimoji="1" lang="zh-CN" altLang="en-US" sz="3600" b="1" dirty="0">
                <a:solidFill>
                  <a:srgbClr val="FF0000"/>
                </a:solidFill>
              </a:rPr>
              <a:t>宽容的</a:t>
            </a:r>
            <a:r>
              <a:rPr kumimoji="1" lang="en-US" altLang="zh-CN" sz="3600" b="1" dirty="0">
                <a:solidFill>
                  <a:srgbClr val="FF0000"/>
                </a:solidFill>
              </a:rPr>
              <a:t>;</a:t>
            </a:r>
            <a:r>
              <a:rPr kumimoji="1" lang="zh-CN" altLang="zh-CN" sz="3600" b="1" dirty="0">
                <a:solidFill>
                  <a:srgbClr val="FF0000"/>
                </a:solidFill>
              </a:rPr>
              <a:t> </a:t>
            </a:r>
            <a:r>
              <a:rPr kumimoji="1" lang="en-US" altLang="zh-CN" sz="3600" b="1" dirty="0">
                <a:solidFill>
                  <a:srgbClr val="FF0000"/>
                </a:solidFill>
              </a:rPr>
              <a:t>forgive (__, __);</a:t>
            </a:r>
            <a:r>
              <a:rPr kumimoji="1" lang="zh-CN" altLang="en-US" sz="3600" b="1" dirty="0">
                <a:solidFill>
                  <a:srgbClr val="FF0000"/>
                </a:solidFill>
              </a:rPr>
              <a:t>原谅某人做</a:t>
            </a:r>
            <a:endPar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pPr lvl="0"/>
            <a:r>
              <a:rPr lang="en-US" altLang="zh-CN" sz="3600" b="1" dirty="0">
                <a:solidFill>
                  <a:srgbClr val="FF0000"/>
                </a:solidFill>
              </a:rPr>
              <a:t>U4</a:t>
            </a:r>
            <a:r>
              <a:rPr lang="zh-CN" altLang="en-US" sz="3600" b="1" dirty="0">
                <a:solidFill>
                  <a:srgbClr val="FF0000"/>
                </a:solidFill>
              </a:rPr>
              <a:t>词组</a:t>
            </a:r>
            <a:r>
              <a:rPr lang="en-US" altLang="zh-CN" sz="3600" b="1" dirty="0">
                <a:solidFill>
                  <a:srgbClr val="FF0000"/>
                </a:solidFill>
              </a:rPr>
              <a:t>P43-47</a:t>
            </a:r>
          </a:p>
          <a:p>
            <a:pPr lvl="0"/>
            <a:r>
              <a:rPr lang="en-US" altLang="zh-CN" sz="3600" b="1" dirty="0">
                <a:solidFill>
                  <a:srgbClr val="FF0000"/>
                </a:solidFill>
              </a:rPr>
              <a:t>1.</a:t>
            </a:r>
            <a:r>
              <a:rPr lang="zh-CN" altLang="en-US" sz="3600" b="1" dirty="0">
                <a:solidFill>
                  <a:srgbClr val="FF0000"/>
                </a:solidFill>
              </a:rPr>
              <a:t>演讲稿 </a:t>
            </a:r>
            <a:r>
              <a:rPr lang="en-US" altLang="zh-CN" sz="3600" b="1" dirty="0">
                <a:solidFill>
                  <a:srgbClr val="FF0000"/>
                </a:solidFill>
              </a:rPr>
              <a:t>2.</a:t>
            </a:r>
            <a:r>
              <a:rPr lang="zh-CN" altLang="en-US" sz="3600" b="1" dirty="0">
                <a:solidFill>
                  <a:srgbClr val="FF0000"/>
                </a:solidFill>
              </a:rPr>
              <a:t>落花 </a:t>
            </a:r>
            <a:r>
              <a:rPr lang="en-US" altLang="zh-CN" sz="3600" b="1" dirty="0">
                <a:solidFill>
                  <a:srgbClr val="FF0000"/>
                </a:solidFill>
              </a:rPr>
              <a:t>3.</a:t>
            </a:r>
            <a:r>
              <a:rPr lang="zh-CN" altLang="en-US" sz="3600" b="1" dirty="0">
                <a:solidFill>
                  <a:srgbClr val="FF0000"/>
                </a:solidFill>
              </a:rPr>
              <a:t>紧紧抓住 </a:t>
            </a:r>
            <a:r>
              <a:rPr lang="en-US" altLang="zh-CN" sz="3600" b="1" dirty="0">
                <a:solidFill>
                  <a:srgbClr val="FF0000"/>
                </a:solidFill>
              </a:rPr>
              <a:t>4.</a:t>
            </a:r>
            <a:r>
              <a:rPr lang="zh-CN" altLang="en-US" sz="3600" b="1" dirty="0">
                <a:solidFill>
                  <a:srgbClr val="FF0000"/>
                </a:solidFill>
              </a:rPr>
              <a:t>折翼的鸟 </a:t>
            </a:r>
            <a:r>
              <a:rPr lang="en-US" altLang="zh-CN" sz="3600" b="1" dirty="0">
                <a:solidFill>
                  <a:srgbClr val="FF0000"/>
                </a:solidFill>
              </a:rPr>
              <a:t>5.</a:t>
            </a:r>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和</a:t>
            </a:r>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的结合</a:t>
            </a:r>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 </a:t>
            </a:r>
          </a:p>
          <a:p>
            <a:pPr lvl="0"/>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6.</a:t>
            </a:r>
            <a:r>
              <a:rPr lang="zh-CN"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不仅仅是</a:t>
            </a:r>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 7.</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隐含更深意义</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kern="100" dirty="0">
                <a:solidFill>
                  <a:srgbClr val="FF0000"/>
                </a:solidFill>
                <a:latin typeface="宋体" panose="02010600030101010101" pitchFamily="2" charset="-122"/>
                <a:ea typeface="宋体" panose="02010600030101010101" pitchFamily="2" charset="-122"/>
                <a:cs typeface="Courier New" panose="02070309020205020404" pitchFamily="49" charset="0"/>
              </a:rPr>
              <a:t>8.</a:t>
            </a:r>
            <a:r>
              <a:rPr lang="zh-CN"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超越文字</a:t>
            </a:r>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 </a:t>
            </a:r>
            <a:r>
              <a:rPr lang="en-US" altLang="zh-CN" sz="3600" b="1" kern="100" dirty="0">
                <a:solidFill>
                  <a:srgbClr val="FF0000"/>
                </a:solidFill>
                <a:latin typeface="Times New Roman" panose="02020603050405020304" pitchFamily="18" charset="0"/>
                <a:ea typeface="宋体" panose="02010600030101010101" pitchFamily="2" charset="-122"/>
                <a:cs typeface="Courier New" panose="02070309020205020404" pitchFamily="49" charset="0"/>
              </a:rPr>
              <a:t>9.</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揭露隐藏的层面</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p>
          <a:p>
            <a:pPr lvl="0"/>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10.</a:t>
            </a:r>
            <a:r>
              <a:rPr lang="zh-CN" altLang="zh-CN" sz="3600" b="1" dirty="0">
                <a:solidFill>
                  <a:srgbClr val="FF0000"/>
                </a:solidFill>
              </a:rPr>
              <a:t>似乎已经做了</a:t>
            </a:r>
            <a:r>
              <a:rPr lang="en-US" altLang="zh-CN" sz="3600" b="1" dirty="0">
                <a:solidFill>
                  <a:srgbClr val="FF0000"/>
                </a:solidFill>
              </a:rPr>
              <a:t> 11.</a:t>
            </a:r>
            <a:r>
              <a:rPr lang="zh-CN" altLang="zh-CN" sz="3600" b="1" dirty="0">
                <a:solidFill>
                  <a:srgbClr val="FF0000"/>
                </a:solidFill>
              </a:rPr>
              <a:t>力所不及无法理解</a:t>
            </a:r>
            <a:r>
              <a:rPr lang="en-US" altLang="zh-CN" sz="3600" b="1" dirty="0">
                <a:solidFill>
                  <a:srgbClr val="FF0000"/>
                </a:solidFill>
              </a:rPr>
              <a:t> 12.n.</a:t>
            </a:r>
            <a:r>
              <a:rPr lang="zh-CN" altLang="zh-CN" sz="3600" b="1" dirty="0">
                <a:solidFill>
                  <a:srgbClr val="FF0000"/>
                </a:solidFill>
              </a:rPr>
              <a:t>重复</a:t>
            </a:r>
            <a:r>
              <a:rPr lang="en-US" altLang="zh-CN" sz="3600" b="1" dirty="0">
                <a:solidFill>
                  <a:srgbClr val="FF0000"/>
                </a:solidFill>
              </a:rPr>
              <a:t> 13.</a:t>
            </a:r>
            <a:r>
              <a:rPr lang="zh-CN" altLang="zh-CN" sz="3600" b="1" dirty="0">
                <a:solidFill>
                  <a:srgbClr val="FF0000"/>
                </a:solidFill>
              </a:rPr>
              <a:t>对</a:t>
            </a:r>
            <a:r>
              <a:rPr lang="en-US" altLang="zh-CN" sz="3600" b="1" dirty="0">
                <a:solidFill>
                  <a:srgbClr val="FF0000"/>
                </a:solidFill>
              </a:rPr>
              <a:t>...</a:t>
            </a:r>
            <a:r>
              <a:rPr lang="zh-CN" altLang="zh-CN" sz="3600" b="1" dirty="0">
                <a:solidFill>
                  <a:srgbClr val="FF0000"/>
                </a:solidFill>
              </a:rPr>
              <a:t>有更好的理解</a:t>
            </a:r>
            <a:r>
              <a:rPr lang="en-US" altLang="zh-CN" sz="3600" b="1" dirty="0">
                <a:solidFill>
                  <a:srgbClr val="FF0000"/>
                </a:solidFill>
              </a:rPr>
              <a:t> 14.</a:t>
            </a:r>
            <a:r>
              <a:rPr lang="zh-CN" altLang="zh-CN" sz="3600" b="1" dirty="0">
                <a:solidFill>
                  <a:srgbClr val="FF0000"/>
                </a:solidFill>
              </a:rPr>
              <a:t>最终</a:t>
            </a:r>
            <a:r>
              <a:rPr lang="en-US" altLang="zh-CN" sz="3600" b="1" dirty="0">
                <a:solidFill>
                  <a:srgbClr val="FF0000"/>
                </a:solidFill>
              </a:rPr>
              <a:t> 15.</a:t>
            </a:r>
            <a:r>
              <a:rPr lang="zh-CN" altLang="zh-CN" sz="3600" b="1" dirty="0">
                <a:solidFill>
                  <a:srgbClr val="FF0000"/>
                </a:solidFill>
              </a:rPr>
              <a:t>反对</a:t>
            </a:r>
            <a:r>
              <a:rPr lang="zh-CN" altLang="en-US" sz="3600" b="1" dirty="0">
                <a:solidFill>
                  <a:srgbClr val="FF0000"/>
                </a:solidFill>
              </a:rPr>
              <a:t>做某事 </a:t>
            </a:r>
            <a:r>
              <a:rPr lang="en-US" altLang="zh-CN" sz="3600" b="1" dirty="0">
                <a:solidFill>
                  <a:srgbClr val="FF0000"/>
                </a:solidFill>
              </a:rPr>
              <a:t>16.</a:t>
            </a:r>
            <a:r>
              <a:rPr lang="zh-CN" altLang="zh-CN" sz="3600" b="1" dirty="0">
                <a:solidFill>
                  <a:srgbClr val="FF0000"/>
                </a:solidFill>
              </a:rPr>
              <a:t>组装</a:t>
            </a:r>
            <a:r>
              <a:rPr lang="en-US" altLang="zh-CN" sz="3600" b="1" dirty="0">
                <a:solidFill>
                  <a:srgbClr val="FF0000"/>
                </a:solidFill>
              </a:rPr>
              <a:t> 17.</a:t>
            </a:r>
            <a:r>
              <a:rPr lang="zh-CN" altLang="en-US" sz="3600" b="1" dirty="0">
                <a:solidFill>
                  <a:srgbClr val="FF0000"/>
                </a:solidFill>
              </a:rPr>
              <a:t>复杂的</a:t>
            </a:r>
            <a:r>
              <a:rPr lang="en-US" altLang="zh-CN" sz="3600" b="1" dirty="0">
                <a:solidFill>
                  <a:srgbClr val="FF0000"/>
                </a:solidFill>
              </a:rPr>
              <a:t>;</a:t>
            </a:r>
            <a:r>
              <a:rPr lang="zh-CN" altLang="en-US" sz="3600" b="1" dirty="0">
                <a:solidFill>
                  <a:srgbClr val="FF0000"/>
                </a:solidFill>
              </a:rPr>
              <a:t>矛盾的</a:t>
            </a:r>
            <a:r>
              <a:rPr lang="en-US" altLang="zh-CN" sz="3600" b="1" dirty="0">
                <a:solidFill>
                  <a:srgbClr val="FF0000"/>
                </a:solidFill>
              </a:rPr>
              <a:t>18.</a:t>
            </a:r>
            <a:r>
              <a:rPr lang="zh-CN" altLang="zh-CN" sz="3600" b="1" dirty="0">
                <a:solidFill>
                  <a:srgbClr val="FF0000"/>
                </a:solidFill>
              </a:rPr>
              <a:t>挖掘线索</a:t>
            </a:r>
            <a:r>
              <a:rPr lang="en-US" altLang="zh-CN" sz="3600" b="1" dirty="0">
                <a:solidFill>
                  <a:srgbClr val="FF0000"/>
                </a:solidFill>
              </a:rPr>
              <a:t>19.</a:t>
            </a:r>
            <a:r>
              <a:rPr lang="zh-CN" altLang="en-US" sz="3600" b="1" dirty="0">
                <a:solidFill>
                  <a:srgbClr val="FF0000"/>
                </a:solidFill>
              </a:rPr>
              <a:t>渴望做某事 </a:t>
            </a:r>
            <a:r>
              <a:rPr lang="en-US" altLang="zh-CN" sz="3600" b="1" dirty="0">
                <a:solidFill>
                  <a:srgbClr val="FF0000"/>
                </a:solidFill>
              </a:rPr>
              <a:t>20.</a:t>
            </a:r>
            <a:r>
              <a:rPr lang="zh-CN" altLang="zh-CN" sz="3600" b="1" dirty="0">
                <a:solidFill>
                  <a:srgbClr val="FF0000"/>
                </a:solidFill>
              </a:rPr>
              <a:t>难以诠释一首诗的意义</a:t>
            </a:r>
            <a:endParaRPr lang="en-US" altLang="zh-CN" sz="3600" b="1" dirty="0">
              <a:solidFill>
                <a:srgbClr val="FF0000"/>
              </a:solidFill>
            </a:endParaRPr>
          </a:p>
          <a:p>
            <a:pPr lvl="0"/>
            <a:r>
              <a:rPr lang="en-US" altLang="zh-CN" sz="3600" b="1" dirty="0">
                <a:solidFill>
                  <a:srgbClr val="FF0000"/>
                </a:solidFill>
              </a:rPr>
              <a:t>21.</a:t>
            </a:r>
            <a:r>
              <a:rPr lang="zh-CN" altLang="zh-CN" sz="3600" b="1" dirty="0">
                <a:solidFill>
                  <a:srgbClr val="FF0000"/>
                </a:solidFill>
              </a:rPr>
              <a:t>下了很大功夫</a:t>
            </a:r>
            <a:r>
              <a:rPr lang="en-US" altLang="zh-CN" sz="3600" b="1" dirty="0">
                <a:solidFill>
                  <a:srgbClr val="FF0000"/>
                </a:solidFill>
              </a:rPr>
              <a:t> 22.get it</a:t>
            </a:r>
            <a:r>
              <a:rPr lang="zh-CN" altLang="en-US" sz="3600" b="1" dirty="0">
                <a:solidFill>
                  <a:srgbClr val="FF0000"/>
                </a:solidFill>
              </a:rPr>
              <a:t>翻译 </a:t>
            </a:r>
            <a:r>
              <a:rPr lang="en-US" altLang="zh-CN" sz="3600" b="1" dirty="0">
                <a:solidFill>
                  <a:srgbClr val="FF0000"/>
                </a:solidFill>
              </a:rPr>
              <a:t>23.</a:t>
            </a:r>
            <a:r>
              <a:rPr lang="zh-CN" altLang="zh-CN" sz="3600" b="1" dirty="0">
                <a:solidFill>
                  <a:srgbClr val="FF0000"/>
                </a:solidFill>
              </a:rPr>
              <a:t>把</a:t>
            </a:r>
            <a:r>
              <a:rPr lang="en-US" altLang="zh-CN" sz="3600" b="1" dirty="0">
                <a:solidFill>
                  <a:srgbClr val="FF0000"/>
                </a:solidFill>
              </a:rPr>
              <a:t>…</a:t>
            </a:r>
            <a:r>
              <a:rPr lang="zh-CN" altLang="zh-CN" sz="3600" b="1" dirty="0">
                <a:solidFill>
                  <a:srgbClr val="FF0000"/>
                </a:solidFill>
              </a:rPr>
              <a:t>放到一边</a:t>
            </a:r>
            <a:r>
              <a:rPr lang="en-US" altLang="zh-CN" sz="3600" b="1" dirty="0">
                <a:solidFill>
                  <a:srgbClr val="FF0000"/>
                </a:solidFill>
              </a:rPr>
              <a:t>set(__,__)</a:t>
            </a:r>
          </a:p>
          <a:p>
            <a:pPr lvl="0"/>
            <a:r>
              <a:rPr lang="en-US" altLang="zh-CN" sz="3600" b="1" dirty="0">
                <a:solidFill>
                  <a:srgbClr val="FF0000"/>
                </a:solidFill>
              </a:rPr>
              <a:t>24.</a:t>
            </a:r>
            <a:r>
              <a:rPr lang="zh-CN" altLang="zh-CN" sz="3600" b="1" dirty="0">
                <a:solidFill>
                  <a:srgbClr val="FF0000"/>
                </a:solidFill>
              </a:rPr>
              <a:t>去一个遥远而未知的目的地旅行</a:t>
            </a:r>
            <a:r>
              <a:rPr lang="en-US" altLang="zh-CN" sz="3600" b="1" dirty="0">
                <a:solidFill>
                  <a:srgbClr val="FF0000"/>
                </a:solidFill>
              </a:rPr>
              <a:t>25.</a:t>
            </a:r>
            <a:r>
              <a:rPr lang="zh-CN" altLang="zh-CN" sz="3600" b="1" dirty="0">
                <a:solidFill>
                  <a:srgbClr val="FF0000"/>
                </a:solidFill>
              </a:rPr>
              <a:t>你的努力会有回报的</a:t>
            </a:r>
            <a:r>
              <a:rPr lang="en-US" altLang="zh-CN" sz="3600" b="1" dirty="0">
                <a:solidFill>
                  <a:srgbClr val="FF0000"/>
                </a:solidFill>
              </a:rPr>
              <a:t> </a:t>
            </a:r>
          </a:p>
          <a:p>
            <a:pPr lvl="0"/>
            <a:r>
              <a:rPr lang="en-US" altLang="zh-CN" sz="3600" b="1" dirty="0">
                <a:solidFill>
                  <a:srgbClr val="FF0000"/>
                </a:solidFill>
              </a:rPr>
              <a:t>26.adj.</a:t>
            </a:r>
            <a:r>
              <a:rPr lang="zh-CN" altLang="zh-CN" sz="3600" b="1" dirty="0">
                <a:solidFill>
                  <a:srgbClr val="FF0000"/>
                </a:solidFill>
              </a:rPr>
              <a:t>未被承认</a:t>
            </a:r>
            <a:r>
              <a:rPr lang="en-US" altLang="zh-CN" sz="3600" b="1" dirty="0">
                <a:solidFill>
                  <a:srgbClr val="FF0000"/>
                </a:solidFill>
              </a:rPr>
              <a:t>/</a:t>
            </a:r>
            <a:r>
              <a:rPr lang="zh-CN" altLang="zh-CN" sz="3600" b="1" dirty="0">
                <a:solidFill>
                  <a:srgbClr val="FF0000"/>
                </a:solidFill>
              </a:rPr>
              <a:t>认出的</a:t>
            </a:r>
            <a:r>
              <a:rPr lang="en-US" altLang="zh-CN" sz="3600" b="1" dirty="0">
                <a:solidFill>
                  <a:srgbClr val="FF0000"/>
                </a:solidFill>
              </a:rPr>
              <a:t>; </a:t>
            </a:r>
            <a:r>
              <a:rPr lang="zh-CN" altLang="en-US" sz="3600" b="1" dirty="0">
                <a:solidFill>
                  <a:srgbClr val="FF0000"/>
                </a:solidFill>
              </a:rPr>
              <a:t>→</a:t>
            </a:r>
            <a:r>
              <a:rPr lang="en-US" altLang="zh-CN" sz="3600" b="1" dirty="0">
                <a:solidFill>
                  <a:srgbClr val="FF0000"/>
                </a:solidFill>
              </a:rPr>
              <a:t>n.</a:t>
            </a:r>
            <a:r>
              <a:rPr lang="zh-CN" altLang="en-US" sz="3600" b="1" dirty="0">
                <a:solidFill>
                  <a:srgbClr val="FF0000"/>
                </a:solidFill>
              </a:rPr>
              <a:t>认出</a:t>
            </a:r>
            <a:r>
              <a:rPr lang="en-US" altLang="zh-CN" sz="3600" b="1" dirty="0">
                <a:solidFill>
                  <a:srgbClr val="FF0000"/>
                </a:solidFill>
              </a:rPr>
              <a:t>/</a:t>
            </a:r>
            <a:r>
              <a:rPr lang="zh-CN" altLang="en-US" sz="3600" b="1" dirty="0">
                <a:solidFill>
                  <a:srgbClr val="FF0000"/>
                </a:solidFill>
              </a:rPr>
              <a:t>可 </a:t>
            </a:r>
            <a:r>
              <a:rPr lang="en-US" altLang="zh-CN" sz="3600" b="1" dirty="0">
                <a:solidFill>
                  <a:srgbClr val="FF0000"/>
                </a:solidFill>
              </a:rPr>
              <a:t>27.</a:t>
            </a:r>
            <a:r>
              <a:rPr lang="zh-CN" altLang="zh-CN" sz="3600" b="1" dirty="0">
                <a:solidFill>
                  <a:srgbClr val="FF0000"/>
                </a:solidFill>
              </a:rPr>
              <a:t>抛弃逻辑思维</a:t>
            </a:r>
            <a:endParaRPr lang="en-US" altLang="zh-CN" sz="3600" b="1" dirty="0">
              <a:solidFill>
                <a:srgbClr val="FF0000"/>
              </a:solidFill>
            </a:endParaRPr>
          </a:p>
          <a:p>
            <a:pPr lvl="0"/>
            <a:r>
              <a:rPr lang="en-US" altLang="zh-CN" sz="3600" b="1" dirty="0">
                <a:solidFill>
                  <a:srgbClr val="FF0000"/>
                </a:solidFill>
              </a:rPr>
              <a:t>28.</a:t>
            </a:r>
            <a:r>
              <a:rPr lang="zh-CN" altLang="zh-CN" sz="3600" b="1" dirty="0">
                <a:solidFill>
                  <a:srgbClr val="FF0000"/>
                </a:solidFill>
              </a:rPr>
              <a:t>只要</a:t>
            </a:r>
            <a:r>
              <a:rPr lang="en-US" altLang="zh-CN" sz="3600" b="1" dirty="0">
                <a:solidFill>
                  <a:srgbClr val="FF0000"/>
                </a:solidFill>
              </a:rPr>
              <a:t> 29.v.</a:t>
            </a:r>
            <a:r>
              <a:rPr lang="zh-CN" altLang="zh-CN" sz="3600" b="1" dirty="0">
                <a:solidFill>
                  <a:srgbClr val="FF0000"/>
                </a:solidFill>
              </a:rPr>
              <a:t>感知</a:t>
            </a:r>
            <a:r>
              <a:rPr lang="zh-CN" altLang="en-US" sz="3600" b="1" dirty="0">
                <a:solidFill>
                  <a:srgbClr val="FF0000"/>
                </a:solidFill>
              </a:rPr>
              <a:t>→</a:t>
            </a:r>
            <a:r>
              <a:rPr lang="en-US" altLang="zh-CN" sz="3600" b="1" dirty="0">
                <a:solidFill>
                  <a:srgbClr val="FF0000"/>
                </a:solidFill>
              </a:rPr>
              <a:t>n. 30.</a:t>
            </a:r>
            <a:r>
              <a:rPr lang="zh-CN" altLang="zh-CN" sz="3600" b="1" dirty="0">
                <a:solidFill>
                  <a:srgbClr val="FF0000"/>
                </a:solidFill>
              </a:rPr>
              <a:t>值得你的努力</a:t>
            </a:r>
            <a:r>
              <a:rPr lang="en-US" altLang="zh-CN" sz="3600" b="1" dirty="0">
                <a:solidFill>
                  <a:srgbClr val="FF0000"/>
                </a:solidFill>
              </a:rPr>
              <a:t> 31.</a:t>
            </a:r>
            <a:r>
              <a:rPr lang="zh-CN" altLang="zh-CN" sz="3600" b="1" dirty="0">
                <a:solidFill>
                  <a:srgbClr val="FF0000"/>
                </a:solidFill>
              </a:rPr>
              <a:t>让你超越正常的现实</a:t>
            </a:r>
            <a:r>
              <a:rPr lang="en-US" altLang="zh-CN" sz="3600" b="1" dirty="0">
                <a:solidFill>
                  <a:srgbClr val="FF0000"/>
                </a:solidFill>
              </a:rPr>
              <a:t>,</a:t>
            </a:r>
            <a:r>
              <a:rPr lang="zh-CN" altLang="zh-CN" sz="3600" b="1" dirty="0">
                <a:solidFill>
                  <a:srgbClr val="FF0000"/>
                </a:solidFill>
              </a:rPr>
              <a:t>追求永恒的美丽 </a:t>
            </a:r>
            <a:r>
              <a:rPr lang="en-US" altLang="zh-CN" sz="3600" b="1" dirty="0">
                <a:solidFill>
                  <a:srgbClr val="FF0000"/>
                </a:solidFill>
              </a:rPr>
              <a:t>32.</a:t>
            </a:r>
            <a:r>
              <a:rPr lang="zh-CN" altLang="zh-CN" sz="3600" b="1" dirty="0">
                <a:solidFill>
                  <a:srgbClr val="FF0000"/>
                </a:solidFill>
              </a:rPr>
              <a:t>被雾气笼罩</a:t>
            </a:r>
            <a:r>
              <a:rPr lang="en-US" altLang="zh-CN" sz="3600" b="1" dirty="0">
                <a:solidFill>
                  <a:srgbClr val="FF0000"/>
                </a:solidFill>
              </a:rPr>
              <a:t> 33.</a:t>
            </a:r>
            <a:r>
              <a:rPr lang="zh-CN" altLang="zh-CN" sz="3600" b="1" dirty="0">
                <a:solidFill>
                  <a:srgbClr val="FF0000"/>
                </a:solidFill>
              </a:rPr>
              <a:t>不恰当的</a:t>
            </a:r>
            <a:endParaRPr lang="en-US" altLang="zh-CN" sz="3600" b="1" dirty="0">
              <a:solidFill>
                <a:srgbClr val="FF0000"/>
              </a:solidFill>
            </a:endParaRPr>
          </a:p>
          <a:p>
            <a:pPr lvl="0"/>
            <a:r>
              <a:rPr lang="en-US" altLang="zh-CN" sz="3600" b="1" dirty="0">
                <a:solidFill>
                  <a:srgbClr val="FF0000"/>
                </a:solidFill>
              </a:rPr>
              <a:t>34.</a:t>
            </a:r>
            <a:r>
              <a:rPr lang="zh-CN" altLang="zh-CN" sz="3600" b="1" dirty="0">
                <a:solidFill>
                  <a:srgbClr val="FF0000"/>
                </a:solidFill>
              </a:rPr>
              <a:t>突出显眼</a:t>
            </a:r>
            <a:r>
              <a:rPr lang="en-US" altLang="zh-CN" sz="3600" b="1" dirty="0">
                <a:solidFill>
                  <a:srgbClr val="FF0000"/>
                </a:solidFill>
              </a:rPr>
              <a:t>(__,__)35.</a:t>
            </a:r>
            <a:r>
              <a:rPr lang="zh-CN" altLang="zh-CN" sz="3600" b="1" dirty="0">
                <a:solidFill>
                  <a:srgbClr val="FF0000"/>
                </a:solidFill>
              </a:rPr>
              <a:t>查字典</a:t>
            </a:r>
            <a:r>
              <a:rPr lang="en-US" altLang="zh-CN" sz="3600" b="1" dirty="0">
                <a:solidFill>
                  <a:srgbClr val="FF0000"/>
                </a:solidFill>
              </a:rPr>
              <a:t>36.</a:t>
            </a:r>
            <a:r>
              <a:rPr lang="zh-CN" altLang="en-US" sz="3600" b="1" dirty="0">
                <a:solidFill>
                  <a:srgbClr val="FF0000"/>
                </a:solidFill>
              </a:rPr>
              <a:t>换句话说</a:t>
            </a:r>
            <a:endParaRPr lang="en-US" altLang="zh-CN" sz="3600" b="1" dirty="0">
              <a:solidFill>
                <a:srgbClr val="FF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just"/>
            <a:r>
              <a:rPr lang="en-US" altLang="zh-CN" sz="3300" b="1" dirty="0"/>
              <a:t>U4 </a:t>
            </a:r>
            <a:r>
              <a:rPr lang="en-US" altLang="zh-CN" sz="3300" b="1" dirty="0">
                <a:solidFill>
                  <a:srgbClr val="FF0000"/>
                </a:solidFill>
              </a:rPr>
              <a:t>1.v.</a:t>
            </a:r>
            <a:r>
              <a:rPr lang="zh-CN" altLang="en-US" sz="3300" b="1" dirty="0">
                <a:solidFill>
                  <a:srgbClr val="FF0000"/>
                </a:solidFill>
              </a:rPr>
              <a:t>结冰</a:t>
            </a:r>
            <a:r>
              <a:rPr lang="en-US" altLang="zh-CN" sz="3300" b="1" dirty="0">
                <a:solidFill>
                  <a:srgbClr val="FF0000"/>
                </a:solidFill>
              </a:rPr>
              <a:t>(__, __);</a:t>
            </a:r>
            <a:r>
              <a:rPr lang="zh-CN" altLang="en-US" sz="3300" b="1" dirty="0">
                <a:solidFill>
                  <a:srgbClr val="FF0000"/>
                </a:solidFill>
              </a:rPr>
              <a:t>极冷的</a:t>
            </a:r>
            <a:r>
              <a:rPr lang="en-US" altLang="zh-CN" sz="3300" b="1" dirty="0">
                <a:solidFill>
                  <a:srgbClr val="FF0000"/>
                </a:solidFill>
              </a:rPr>
              <a:t>;</a:t>
            </a:r>
            <a:r>
              <a:rPr lang="zh-CN" altLang="en-US" sz="3300" b="1" dirty="0">
                <a:solidFill>
                  <a:srgbClr val="FF0000"/>
                </a:solidFill>
              </a:rPr>
              <a:t>吓呆</a:t>
            </a:r>
            <a:r>
              <a:rPr lang="en-US" altLang="zh-CN" sz="3300" b="1" dirty="0">
                <a:solidFill>
                  <a:srgbClr val="FF0000"/>
                </a:solidFill>
              </a:rPr>
              <a:t>;</a:t>
            </a:r>
            <a:r>
              <a:rPr lang="zh-CN" altLang="en-US" sz="3300" b="1" dirty="0">
                <a:solidFill>
                  <a:srgbClr val="FF0000"/>
                </a:solidFill>
              </a:rPr>
              <a:t>冰点以下</a:t>
            </a:r>
            <a:r>
              <a:rPr lang="en-US" altLang="zh-CN" sz="3300" b="1" dirty="0">
                <a:solidFill>
                  <a:srgbClr val="FF0000"/>
                </a:solidFill>
              </a:rPr>
              <a:t>;</a:t>
            </a:r>
            <a:r>
              <a:rPr lang="zh-CN" altLang="zh-CN" sz="3300" dirty="0">
                <a:solidFill>
                  <a:srgbClr val="FF0000"/>
                </a:solidFill>
              </a:rPr>
              <a:t>笑容在他的脸上僵住了</a:t>
            </a:r>
            <a:endParaRPr lang="en-US" altLang="zh-CN" sz="3300" dirty="0">
              <a:solidFill>
                <a:srgbClr val="FF0000"/>
              </a:solidFill>
            </a:endParaRPr>
          </a:p>
          <a:p>
            <a:pPr algn="just"/>
            <a:r>
              <a:rPr lang="en-US" altLang="zh-CN" sz="3300" b="1" dirty="0">
                <a:solidFill>
                  <a:srgbClr val="FF0000"/>
                </a:solidFill>
              </a:rPr>
              <a:t>2.v.</a:t>
            </a:r>
            <a:r>
              <a:rPr lang="zh-CN" altLang="en-US" sz="3300" b="1" dirty="0">
                <a:solidFill>
                  <a:srgbClr val="FF0000"/>
                </a:solidFill>
              </a:rPr>
              <a:t>暗示</a:t>
            </a:r>
            <a:r>
              <a:rPr lang="en-US" altLang="zh-CN" sz="3300" b="1" dirty="0">
                <a:solidFill>
                  <a:srgbClr val="FF0000"/>
                </a:solidFill>
              </a:rPr>
              <a:t>(__, __);n.</a:t>
            </a:r>
            <a:r>
              <a:rPr lang="zh-CN" altLang="en-US" sz="3300" b="1" dirty="0">
                <a:solidFill>
                  <a:srgbClr val="FF0000"/>
                </a:solidFill>
              </a:rPr>
              <a:t>暗示</a:t>
            </a:r>
            <a:r>
              <a:rPr lang="en-US" altLang="zh-CN" sz="3300" b="1" dirty="0">
                <a:solidFill>
                  <a:srgbClr val="FF0000"/>
                </a:solidFill>
              </a:rPr>
              <a:t>3.</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增添了新内容</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三维</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对</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彻底了解</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为某人不能</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能理解的</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3300" i="1" dirty="0">
                <a:latin typeface="Times New Roman" panose="02020603050405020304" pitchFamily="18" charset="0"/>
                <a:ea typeface="宋体" panose="02010600030101010101" pitchFamily="2" charset="-122"/>
                <a:cs typeface="Times New Roman" panose="02020603050405020304" pitchFamily="18" charset="0"/>
              </a:rPr>
              <a:t>vt.</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发现查明</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300" i="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发现</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i="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侦探</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侦探器</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6.</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rPr>
              <a:t>adj.</a:t>
            </a:r>
            <a:r>
              <a:rPr lang="zh-CN" altLang="zh-CN" sz="3300" b="1" kern="100" dirty="0">
                <a:latin typeface="Times New Roman" panose="02020603050405020304" pitchFamily="18" charset="0"/>
                <a:ea typeface="宋体" panose="02010600030101010101" pitchFamily="2" charset="-122"/>
                <a:cs typeface="Times New Roman" panose="02020603050405020304" pitchFamily="18" charset="0"/>
              </a:rPr>
              <a:t>复杂的</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建筑群</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情结</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b="1" kern="100" dirty="0">
                <a:latin typeface="Times New Roman" panose="02020603050405020304" pitchFamily="18" charset="0"/>
                <a:ea typeface="宋体" panose="02010600030101010101" pitchFamily="2" charset="-122"/>
                <a:cs typeface="Times New Roman" panose="02020603050405020304" pitchFamily="18" charset="0"/>
              </a:rPr>
              <a:t>错综复杂</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rPr>
              <a:t>7.</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与</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相矛盾</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个</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发现</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dig(__,__);-</a:t>
            </a:r>
            <a:r>
              <a:rPr lang="en-US" altLang="zh-CN" sz="3300" kern="1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ing</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8.</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搜寻线索</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solidFill>
                  <a:srgbClr val="FF0000"/>
                </a:solidFill>
              </a:rPr>
              <a:t>对</a:t>
            </a:r>
            <a:r>
              <a:rPr lang="en-US" altLang="zh-CN" sz="3300" dirty="0">
                <a:solidFill>
                  <a:srgbClr val="FF0000"/>
                </a:solidFill>
              </a:rPr>
              <a:t>…</a:t>
            </a:r>
            <a:r>
              <a:rPr lang="zh-CN" altLang="zh-CN" sz="3300" dirty="0">
                <a:solidFill>
                  <a:srgbClr val="FF0000"/>
                </a:solidFill>
              </a:rPr>
              <a:t>一无所知</a:t>
            </a:r>
            <a:r>
              <a:rPr lang="en-US" altLang="zh-CN" sz="3300" dirty="0">
                <a:solidFill>
                  <a:srgbClr val="FF0000"/>
                </a:solidFill>
              </a:rPr>
              <a:t> </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9.</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理解为</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口译者</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i="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dirty="0">
                <a:latin typeface="Times New Roman" panose="02020603050405020304" pitchFamily="18" charset="0"/>
                <a:ea typeface="宋体" panose="02010600030101010101" pitchFamily="2" charset="-122"/>
                <a:cs typeface="Times New Roman" panose="02020603050405020304" pitchFamily="18" charset="0"/>
              </a:rPr>
              <a:t>解释口译</a:t>
            </a:r>
            <a:endParaRPr lang="en-US" altLang="zh-CN" sz="3300" dirty="0">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10.</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耐心做</a:t>
            </a:r>
            <a:r>
              <a:rPr lang="zh-CN" altLang="en-US"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某事</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对</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有</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无耐心</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耐心</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的必要条件</a:t>
            </a:r>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300" dirty="0">
                <a:latin typeface="Times New Roman" panose="02020603050405020304" pitchFamily="18" charset="0"/>
                <a:ea typeface="宋体" panose="02010600030101010101" pitchFamily="2" charset="-122"/>
                <a:cs typeface="Times New Roman" panose="02020603050405020304" pitchFamily="18" charset="0"/>
              </a:rPr>
              <a:t>耐心耗尽</a:t>
            </a:r>
            <a:endParaRPr lang="en-US" altLang="zh-CN" sz="3300" dirty="0">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11.</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放一边</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留</a:t>
            </a:r>
            <a:r>
              <a:rPr lang="zh-CN" altLang="en-US"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出</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除</a:t>
            </a:r>
            <a:r>
              <a:rPr lang="en-US" altLang="zh-CN" sz="3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之外</a:t>
            </a:r>
            <a:r>
              <a:rPr lang="en-US" altLang="zh-CN" sz="3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solidFill>
                  <a:srgbClr val="FF0000"/>
                </a:solidFill>
              </a:rPr>
              <a:t>开始着手做</a:t>
            </a:r>
            <a:r>
              <a:rPr lang="en-US" altLang="zh-CN" sz="3300" dirty="0">
                <a:solidFill>
                  <a:srgbClr val="FF0000"/>
                </a:solidFill>
              </a:rPr>
              <a:t>;</a:t>
            </a:r>
            <a:r>
              <a:rPr lang="zh-CN" altLang="zh-CN" sz="3300" dirty="0">
                <a:solidFill>
                  <a:srgbClr val="FF0000"/>
                </a:solidFill>
              </a:rPr>
              <a:t>以</a:t>
            </a:r>
            <a:r>
              <a:rPr lang="en-US" altLang="zh-CN" sz="3300" dirty="0">
                <a:solidFill>
                  <a:srgbClr val="FF0000"/>
                </a:solidFill>
              </a:rPr>
              <a:t>…</a:t>
            </a:r>
            <a:r>
              <a:rPr lang="zh-CN" altLang="zh-CN" sz="3300" dirty="0">
                <a:solidFill>
                  <a:srgbClr val="FF0000"/>
                </a:solidFill>
              </a:rPr>
              <a:t>为背景</a:t>
            </a:r>
            <a:r>
              <a:rPr lang="en-US" altLang="zh-CN" sz="3300" dirty="0">
                <a:solidFill>
                  <a:srgbClr val="FF0000"/>
                </a:solidFill>
              </a:rPr>
              <a:t>;</a:t>
            </a:r>
            <a:r>
              <a:rPr lang="zh-CN" altLang="zh-CN" sz="3300" dirty="0">
                <a:solidFill>
                  <a:srgbClr val="FF0000"/>
                </a:solidFill>
              </a:rPr>
              <a:t>使与众不同</a:t>
            </a:r>
            <a:r>
              <a:rPr lang="en-US" altLang="zh-CN" sz="3300" dirty="0">
                <a:solidFill>
                  <a:srgbClr val="FF0000"/>
                </a:solidFill>
              </a:rPr>
              <a:t>; set off</a:t>
            </a:r>
            <a:r>
              <a:rPr lang="zh-CN" altLang="en-US" sz="3300" dirty="0">
                <a:solidFill>
                  <a:srgbClr val="FF0000"/>
                </a:solidFill>
              </a:rPr>
              <a:t>翻译</a:t>
            </a:r>
            <a:r>
              <a:rPr lang="en-US" altLang="zh-CN" sz="3300" dirty="0">
                <a:solidFill>
                  <a:srgbClr val="FF0000"/>
                </a:solidFill>
              </a:rPr>
              <a:t>;set forth</a:t>
            </a:r>
            <a:r>
              <a:rPr lang="zh-CN" altLang="en-US" sz="3300" dirty="0">
                <a:solidFill>
                  <a:srgbClr val="FF0000"/>
                </a:solidFill>
              </a:rPr>
              <a:t>翻译</a:t>
            </a:r>
            <a:r>
              <a:rPr lang="en-US" altLang="zh-CN" sz="3300" dirty="0">
                <a:solidFill>
                  <a:srgbClr val="FF0000"/>
                </a:solidFill>
              </a:rPr>
              <a:t>12.</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冷淡的态度</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13.</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用</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酬谢某人做了某事</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得到回报取得成功</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作为…的回报</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i="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有益的值得的</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14.</a:t>
            </a:r>
            <a:r>
              <a:rPr lang="zh-CN" altLang="zh-CN" sz="3300" dirty="0">
                <a:solidFill>
                  <a:srgbClr val="FF0000"/>
                </a:solidFill>
              </a:rPr>
              <a:t>络绎不绝的游客</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滴水穿石</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15.</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符合逻辑的</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不符合逻辑的</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latin typeface="Times New Roman" panose="02020603050405020304" pitchFamily="18" charset="0"/>
                <a:ea typeface="宋体" panose="02010600030101010101" pitchFamily="2" charset="-122"/>
                <a:cs typeface="Times New Roman" panose="02020603050405020304" pitchFamily="18" charset="0"/>
              </a:rPr>
              <a:t>逻辑</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16.</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内心的想法</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17.</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觉察到某人在做某事</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视作</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知觉</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洞察力</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18.</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把…变成现实</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实际上</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solidFill>
                  <a:srgbClr val="FF0000"/>
                </a:solidFill>
              </a:rPr>
              <a:t>对某事物实事求是</a:t>
            </a:r>
            <a:r>
              <a:rPr lang="en-US" altLang="zh-CN" sz="3300" dirty="0">
                <a:solidFill>
                  <a:srgbClr val="FF0000"/>
                </a:solidFill>
              </a:rPr>
              <a:t>;adv.</a:t>
            </a:r>
            <a:r>
              <a:rPr lang="zh-CN" altLang="en-US" sz="3300" dirty="0">
                <a:solidFill>
                  <a:srgbClr val="FF0000"/>
                </a:solidFill>
              </a:rPr>
              <a:t>现实地</a:t>
            </a:r>
            <a:r>
              <a:rPr lang="en-US" altLang="zh-CN" sz="3300" dirty="0">
                <a:solidFill>
                  <a:srgbClr val="FF0000"/>
                </a:solidFill>
              </a:rPr>
              <a:t>19.</a:t>
            </a:r>
            <a:r>
              <a:rPr kumimoji="1" lang="zh-CN" altLang="en-US" sz="3300" u="sng" dirty="0">
                <a:solidFill>
                  <a:srgbClr val="FF0000"/>
                </a:solidFill>
              </a:rPr>
              <a:t>他泪眼模糊</a:t>
            </a:r>
            <a:r>
              <a:rPr kumimoji="1" lang="en-US" altLang="zh-CN" sz="3300" u="sng" dirty="0">
                <a:solidFill>
                  <a:srgbClr val="FF0000"/>
                </a:solidFill>
              </a:rPr>
              <a:t>20.</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小说家</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小说</a:t>
            </a:r>
            <a:r>
              <a:rPr lang="en-US" altLang="zh-CN" sz="33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新颖的</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21.</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理想</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完美的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左右为难</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22.</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因害怕而变僵硬</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i="1" kern="100" dirty="0">
                <a:latin typeface="Times New Roman" panose="02020603050405020304" pitchFamily="18" charset="0"/>
                <a:ea typeface="宋体" panose="02010600030101010101" pitchFamily="2" charset="-122"/>
                <a:cs typeface="Times New Roman" panose="02020603050405020304" pitchFamily="18" charset="0"/>
              </a:rPr>
              <a:t> n.</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呆板</a:t>
            </a:r>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300" i="1" dirty="0">
                <a:latin typeface="Times New Roman" panose="02020603050405020304" pitchFamily="18" charset="0"/>
                <a:ea typeface="宋体" panose="02010600030101010101" pitchFamily="2" charset="-122"/>
                <a:cs typeface="Times New Roman" panose="02020603050405020304" pitchFamily="18" charset="0"/>
              </a:rPr>
              <a:t>ad.</a:t>
            </a:r>
            <a:r>
              <a:rPr lang="zh-CN" altLang="zh-CN" sz="3300" dirty="0">
                <a:latin typeface="Times New Roman" panose="02020603050405020304" pitchFamily="18" charset="0"/>
                <a:ea typeface="宋体" panose="02010600030101010101" pitchFamily="2" charset="-122"/>
                <a:cs typeface="Times New Roman" panose="02020603050405020304" pitchFamily="18" charset="0"/>
              </a:rPr>
              <a:t>固执地</a:t>
            </a:r>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 23.</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经历</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(__,__) 24.</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提倡做某事</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拥护者</a:t>
            </a:r>
            <a:endParaRPr lang="zh-CN" altLang="zh-CN" sz="3300" dirty="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r>
              <a:rPr lang="zh-CN" altLang="en-US" sz="3600" b="1" dirty="0"/>
              <a:t>凤</a:t>
            </a:r>
            <a:r>
              <a:rPr lang="en-US" altLang="zh-CN" sz="3600" b="1" dirty="0"/>
              <a:t>P73-80</a:t>
            </a:r>
          </a:p>
          <a:p>
            <a:r>
              <a:rPr lang="en-US" altLang="zh-CN" sz="3600" b="1" dirty="0">
                <a:solidFill>
                  <a:srgbClr val="FF0000"/>
                </a:solidFill>
              </a:rPr>
              <a:t> on-the-go </a:t>
            </a:r>
            <a:r>
              <a:rPr lang="zh-CN" altLang="en-US" sz="3600" b="1" dirty="0">
                <a:solidFill>
                  <a:srgbClr val="FF0000"/>
                </a:solidFill>
              </a:rPr>
              <a:t>忙个不停的</a:t>
            </a:r>
            <a:r>
              <a:rPr lang="en-US" altLang="zh-CN" sz="3600" b="1" dirty="0">
                <a:solidFill>
                  <a:srgbClr val="FF0000"/>
                </a:solidFill>
              </a:rPr>
              <a:t> reject v.</a:t>
            </a:r>
            <a:r>
              <a:rPr lang="zh-CN" altLang="en-US" sz="3600" b="1" dirty="0">
                <a:solidFill>
                  <a:srgbClr val="FF0000"/>
                </a:solidFill>
              </a:rPr>
              <a:t>拒绝</a:t>
            </a:r>
            <a:r>
              <a:rPr lang="en-US" altLang="zh-CN" sz="3600" b="1" dirty="0">
                <a:solidFill>
                  <a:srgbClr val="FF0000"/>
                </a:solidFill>
              </a:rPr>
              <a:t>;</a:t>
            </a:r>
            <a:r>
              <a:rPr lang="zh-CN" altLang="en-US" sz="3600" b="1" dirty="0">
                <a:solidFill>
                  <a:srgbClr val="FF0000"/>
                </a:solidFill>
              </a:rPr>
              <a:t>否认</a:t>
            </a:r>
            <a:r>
              <a:rPr lang="en-US" altLang="zh-CN" sz="3600" b="1" dirty="0">
                <a:solidFill>
                  <a:srgbClr val="FF0000"/>
                </a:solidFill>
              </a:rPr>
              <a:t>;</a:t>
            </a:r>
            <a:r>
              <a:rPr lang="zh-CN" altLang="en-US" sz="3600" b="1" dirty="0">
                <a:solidFill>
                  <a:srgbClr val="FF0000"/>
                </a:solidFill>
              </a:rPr>
              <a:t>排异</a:t>
            </a:r>
            <a:endParaRPr lang="en-US" altLang="zh-CN" sz="3600" b="1" dirty="0">
              <a:solidFill>
                <a:srgbClr val="FF0000"/>
              </a:solidFill>
            </a:endParaRPr>
          </a:p>
          <a:p>
            <a:r>
              <a:rPr lang="en-US" altLang="zh-CN" sz="3600" b="1" dirty="0">
                <a:solidFill>
                  <a:srgbClr val="FF0000"/>
                </a:solidFill>
              </a:rPr>
              <a:t> celebrity n.</a:t>
            </a:r>
            <a:r>
              <a:rPr lang="zh-CN" altLang="en-US" sz="3600" b="1" dirty="0">
                <a:solidFill>
                  <a:srgbClr val="FF0000"/>
                </a:solidFill>
              </a:rPr>
              <a:t>名人</a:t>
            </a:r>
            <a:r>
              <a:rPr lang="en-US" altLang="zh-CN" sz="3600" b="1" dirty="0">
                <a:solidFill>
                  <a:srgbClr val="FF0000"/>
                </a:solidFill>
              </a:rPr>
              <a:t>;</a:t>
            </a:r>
            <a:r>
              <a:rPr lang="zh-CN" altLang="en-US" sz="3600" b="1" dirty="0">
                <a:solidFill>
                  <a:srgbClr val="FF0000"/>
                </a:solidFill>
              </a:rPr>
              <a:t>名声</a:t>
            </a:r>
            <a:r>
              <a:rPr lang="en-US" altLang="zh-CN" sz="3600" b="1" dirty="0">
                <a:solidFill>
                  <a:srgbClr val="FF0000"/>
                </a:solidFill>
              </a:rPr>
              <a:t> leave behind</a:t>
            </a:r>
            <a:r>
              <a:rPr lang="zh-CN" altLang="en-US" sz="3600" b="1" dirty="0">
                <a:solidFill>
                  <a:srgbClr val="FF0000"/>
                </a:solidFill>
              </a:rPr>
              <a:t>遗弃</a:t>
            </a:r>
            <a:r>
              <a:rPr lang="en-US" altLang="zh-CN" sz="3600" b="1" dirty="0">
                <a:solidFill>
                  <a:srgbClr val="FF0000"/>
                </a:solidFill>
              </a:rPr>
              <a:t>;</a:t>
            </a:r>
            <a:r>
              <a:rPr lang="zh-CN" altLang="en-US" sz="3600" b="1" dirty="0">
                <a:solidFill>
                  <a:srgbClr val="FF0000"/>
                </a:solidFill>
              </a:rPr>
              <a:t>忘记</a:t>
            </a:r>
            <a:endParaRPr lang="en-US" altLang="zh-CN" sz="3600" b="1" dirty="0">
              <a:solidFill>
                <a:srgbClr val="FF0000"/>
              </a:solidFill>
            </a:endParaRPr>
          </a:p>
          <a:p>
            <a:r>
              <a:rPr lang="en-US" altLang="zh-CN" sz="3600" b="1" dirty="0">
                <a:solidFill>
                  <a:srgbClr val="FF0000"/>
                </a:solidFill>
              </a:rPr>
              <a:t> highlight the importance of</a:t>
            </a:r>
            <a:r>
              <a:rPr lang="zh-CN" altLang="en-US" sz="3600" b="1" dirty="0">
                <a:solidFill>
                  <a:srgbClr val="FF0000"/>
                </a:solidFill>
              </a:rPr>
              <a:t>强调</a:t>
            </a:r>
            <a:r>
              <a:rPr lang="en-US" altLang="zh-CN" sz="3600" b="1" dirty="0">
                <a:solidFill>
                  <a:srgbClr val="FF0000"/>
                </a:solidFill>
              </a:rPr>
              <a:t>…</a:t>
            </a:r>
            <a:r>
              <a:rPr lang="zh-CN" altLang="en-US" sz="3600" b="1" dirty="0">
                <a:solidFill>
                  <a:srgbClr val="FF0000"/>
                </a:solidFill>
              </a:rPr>
              <a:t>的重要性</a:t>
            </a:r>
            <a:endParaRPr lang="en-US" altLang="zh-CN" sz="3600" b="1" dirty="0">
              <a:solidFill>
                <a:srgbClr val="FF0000"/>
              </a:solidFill>
            </a:endParaRPr>
          </a:p>
          <a:p>
            <a:r>
              <a:rPr lang="en-US" altLang="zh-CN" sz="3600" b="1" dirty="0">
                <a:solidFill>
                  <a:srgbClr val="FF0000"/>
                </a:solidFill>
              </a:rPr>
              <a:t> be proposed by</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提议</a:t>
            </a:r>
            <a:endParaRPr lang="en-US" altLang="zh-CN" sz="3600" b="1" dirty="0">
              <a:solidFill>
                <a:srgbClr val="FF0000"/>
              </a:solidFill>
            </a:endParaRPr>
          </a:p>
          <a:p>
            <a:r>
              <a:rPr lang="en-US" altLang="zh-CN" sz="3600" b="1" dirty="0">
                <a:solidFill>
                  <a:srgbClr val="FF0000"/>
                </a:solidFill>
              </a:rPr>
              <a:t> settle a disagreement</a:t>
            </a:r>
            <a:r>
              <a:rPr lang="zh-CN" altLang="en-US" sz="3600" b="1" dirty="0">
                <a:solidFill>
                  <a:srgbClr val="FF0000"/>
                </a:solidFill>
              </a:rPr>
              <a:t>解决分歧</a:t>
            </a:r>
            <a:r>
              <a:rPr lang="en-US" altLang="zh-CN" sz="3600" b="1" dirty="0">
                <a:solidFill>
                  <a:srgbClr val="FF0000"/>
                </a:solidFill>
              </a:rPr>
              <a:t>  heroic adj.</a:t>
            </a:r>
            <a:r>
              <a:rPr lang="zh-CN" altLang="en-US" sz="3600" b="1" dirty="0">
                <a:solidFill>
                  <a:srgbClr val="FF0000"/>
                </a:solidFill>
              </a:rPr>
              <a:t>英雄的</a:t>
            </a:r>
            <a:endParaRPr lang="en-US" altLang="zh-CN" sz="3600" b="1" dirty="0">
              <a:solidFill>
                <a:srgbClr val="FF0000"/>
              </a:solidFill>
            </a:endParaRPr>
          </a:p>
          <a:p>
            <a:r>
              <a:rPr lang="en-US" altLang="zh-CN" sz="3600" b="1" dirty="0">
                <a:solidFill>
                  <a:srgbClr val="FF0000"/>
                </a:solidFill>
              </a:rPr>
              <a:t> be no match for</a:t>
            </a:r>
            <a:r>
              <a:rPr lang="zh-CN" altLang="en-US" sz="3600" b="1" dirty="0">
                <a:solidFill>
                  <a:srgbClr val="FF0000"/>
                </a:solidFill>
              </a:rPr>
              <a:t>不是</a:t>
            </a:r>
            <a:r>
              <a:rPr lang="en-US" altLang="zh-CN" sz="3600" b="1" dirty="0">
                <a:solidFill>
                  <a:srgbClr val="FF0000"/>
                </a:solidFill>
              </a:rPr>
              <a:t>…</a:t>
            </a:r>
            <a:r>
              <a:rPr lang="zh-CN" altLang="en-US" sz="3600" b="1" dirty="0">
                <a:solidFill>
                  <a:srgbClr val="FF0000"/>
                </a:solidFill>
              </a:rPr>
              <a:t>的对手</a:t>
            </a:r>
            <a:r>
              <a:rPr lang="en-US" altLang="zh-CN" sz="3600" b="1" dirty="0">
                <a:solidFill>
                  <a:srgbClr val="FF0000"/>
                </a:solidFill>
              </a:rPr>
              <a:t>;</a:t>
            </a:r>
            <a:r>
              <a:rPr lang="zh-CN" altLang="en-US" sz="3600" b="1" dirty="0">
                <a:solidFill>
                  <a:srgbClr val="FF0000"/>
                </a:solidFill>
              </a:rPr>
              <a:t>比不上</a:t>
            </a:r>
            <a:endParaRPr lang="en-US" altLang="zh-CN" sz="3600" b="1" dirty="0">
              <a:solidFill>
                <a:srgbClr val="FF0000"/>
              </a:solidFill>
            </a:endParaRPr>
          </a:p>
          <a:p>
            <a:r>
              <a:rPr lang="en-US" altLang="zh-CN" sz="3600" b="1" dirty="0">
                <a:solidFill>
                  <a:srgbClr val="FF0000"/>
                </a:solidFill>
              </a:rPr>
              <a:t> cheer up</a:t>
            </a:r>
            <a:r>
              <a:rPr lang="zh-CN" altLang="en-US" sz="3600" b="1" dirty="0">
                <a:solidFill>
                  <a:srgbClr val="FF0000"/>
                </a:solidFill>
              </a:rPr>
              <a:t>振作</a:t>
            </a:r>
            <a:r>
              <a:rPr lang="en-US" altLang="zh-CN" sz="3600" b="1" dirty="0">
                <a:solidFill>
                  <a:srgbClr val="FF0000"/>
                </a:solidFill>
              </a:rPr>
              <a:t>;</a:t>
            </a:r>
            <a:r>
              <a:rPr lang="zh-CN" altLang="en-US" sz="3600" b="1" dirty="0">
                <a:solidFill>
                  <a:srgbClr val="FF0000"/>
                </a:solidFill>
              </a:rPr>
              <a:t>高兴</a:t>
            </a:r>
            <a:r>
              <a:rPr lang="en-US" altLang="zh-CN" sz="3600" b="1" dirty="0">
                <a:solidFill>
                  <a:srgbClr val="FF0000"/>
                </a:solidFill>
              </a:rPr>
              <a:t> knock off</a:t>
            </a:r>
            <a:r>
              <a:rPr lang="zh-CN" altLang="en-US" sz="3600" b="1" dirty="0">
                <a:solidFill>
                  <a:srgbClr val="FF0000"/>
                </a:solidFill>
              </a:rPr>
              <a:t>停止</a:t>
            </a:r>
            <a:r>
              <a:rPr lang="en-US" altLang="zh-CN" sz="3600" b="1" dirty="0">
                <a:solidFill>
                  <a:srgbClr val="FF0000"/>
                </a:solidFill>
              </a:rPr>
              <a:t>;</a:t>
            </a:r>
            <a:r>
              <a:rPr lang="zh-CN" altLang="en-US" sz="3600" b="1" dirty="0">
                <a:solidFill>
                  <a:srgbClr val="FF0000"/>
                </a:solidFill>
              </a:rPr>
              <a:t>击败</a:t>
            </a:r>
            <a:endParaRPr lang="en-US" altLang="zh-CN" sz="3600" b="1" dirty="0">
              <a:solidFill>
                <a:srgbClr val="FF0000"/>
              </a:solidFill>
            </a:endParaRPr>
          </a:p>
          <a:p>
            <a:r>
              <a:rPr lang="en-US" altLang="zh-CN" sz="3600" b="1" dirty="0">
                <a:solidFill>
                  <a:srgbClr val="FF0000"/>
                </a:solidFill>
              </a:rPr>
              <a:t> store up</a:t>
            </a:r>
            <a:r>
              <a:rPr lang="zh-CN" altLang="en-US" sz="3600" b="1" dirty="0">
                <a:solidFill>
                  <a:srgbClr val="FF0000"/>
                </a:solidFill>
              </a:rPr>
              <a:t>存储收藏</a:t>
            </a:r>
            <a:r>
              <a:rPr lang="en-US" altLang="zh-CN" sz="3600" b="1" dirty="0">
                <a:solidFill>
                  <a:srgbClr val="FF0000"/>
                </a:solidFill>
              </a:rPr>
              <a:t> give away</a:t>
            </a:r>
            <a:r>
              <a:rPr lang="zh-CN" altLang="en-US" sz="3600" b="1" dirty="0">
                <a:solidFill>
                  <a:srgbClr val="FF0000"/>
                </a:solidFill>
              </a:rPr>
              <a:t>赠送</a:t>
            </a:r>
            <a:r>
              <a:rPr lang="en-US" altLang="zh-CN" sz="3600" b="1" dirty="0">
                <a:solidFill>
                  <a:srgbClr val="FF0000"/>
                </a:solidFill>
              </a:rPr>
              <a:t>;</a:t>
            </a:r>
            <a:r>
              <a:rPr lang="zh-CN" altLang="en-US" sz="3600" b="1" dirty="0">
                <a:solidFill>
                  <a:srgbClr val="FF0000"/>
                </a:solidFill>
              </a:rPr>
              <a:t>泄露</a:t>
            </a:r>
            <a:endParaRPr lang="en-US" altLang="zh-CN" sz="3600" b="1" dirty="0">
              <a:solidFill>
                <a:srgbClr val="FF0000"/>
              </a:solidFill>
            </a:endParaRPr>
          </a:p>
          <a:p>
            <a:r>
              <a:rPr lang="en-US" altLang="zh-CN" sz="3600" b="1" dirty="0">
                <a:solidFill>
                  <a:srgbClr val="FF0000"/>
                </a:solidFill>
              </a:rPr>
              <a:t> put on</a:t>
            </a:r>
            <a:r>
              <a:rPr lang="zh-CN" altLang="en-US" sz="3600" b="1" dirty="0">
                <a:solidFill>
                  <a:srgbClr val="FF0000"/>
                </a:solidFill>
              </a:rPr>
              <a:t>穿上</a:t>
            </a:r>
            <a:r>
              <a:rPr lang="en-US" altLang="zh-CN" sz="3600" b="1" dirty="0">
                <a:solidFill>
                  <a:srgbClr val="FF0000"/>
                </a:solidFill>
              </a:rPr>
              <a:t>;</a:t>
            </a:r>
            <a:r>
              <a:rPr lang="zh-CN" altLang="en-US" sz="3600" b="1" dirty="0">
                <a:solidFill>
                  <a:srgbClr val="FF0000"/>
                </a:solidFill>
              </a:rPr>
              <a:t>戴上</a:t>
            </a:r>
            <a:r>
              <a:rPr lang="en-US" altLang="zh-CN" sz="3600" b="1" dirty="0">
                <a:solidFill>
                  <a:srgbClr val="FF0000"/>
                </a:solidFill>
              </a:rPr>
              <a:t>;</a:t>
            </a:r>
            <a:r>
              <a:rPr lang="zh-CN" altLang="en-US" sz="3600" b="1" dirty="0">
                <a:solidFill>
                  <a:srgbClr val="FF0000"/>
                </a:solidFill>
              </a:rPr>
              <a:t>增加</a:t>
            </a:r>
            <a:r>
              <a:rPr lang="en-US" altLang="zh-CN" sz="3600" b="1" dirty="0">
                <a:solidFill>
                  <a:srgbClr val="FF0000"/>
                </a:solidFill>
              </a:rPr>
              <a:t>;</a:t>
            </a:r>
            <a:r>
              <a:rPr lang="zh-CN" altLang="en-US" sz="3600" b="1" dirty="0">
                <a:solidFill>
                  <a:srgbClr val="FF0000"/>
                </a:solidFill>
              </a:rPr>
              <a:t>假装</a:t>
            </a:r>
            <a:r>
              <a:rPr lang="en-US" altLang="zh-CN" sz="3600" b="1" dirty="0">
                <a:solidFill>
                  <a:srgbClr val="FF0000"/>
                </a:solidFill>
              </a:rPr>
              <a:t>;</a:t>
            </a:r>
            <a:r>
              <a:rPr lang="zh-CN" altLang="en-US" sz="3600" b="1" dirty="0">
                <a:solidFill>
                  <a:srgbClr val="FF0000"/>
                </a:solidFill>
              </a:rPr>
              <a:t>上演</a:t>
            </a:r>
            <a:r>
              <a:rPr lang="en-US" altLang="zh-CN" sz="3600" b="1" dirty="0">
                <a:solidFill>
                  <a:srgbClr val="FF0000"/>
                </a:solidFill>
              </a:rPr>
              <a:t> </a:t>
            </a:r>
            <a:r>
              <a:rPr lang="en-US" altLang="zh-CN" sz="3600" b="1" dirty="0"/>
              <a:t>search for</a:t>
            </a:r>
            <a:r>
              <a:rPr lang="zh-CN" altLang="en-US" sz="3600" b="1" dirty="0"/>
              <a:t>寻找</a:t>
            </a:r>
            <a:endParaRPr lang="en-US" altLang="zh-CN" sz="3600" b="1" dirty="0"/>
          </a:p>
          <a:p>
            <a:r>
              <a:rPr lang="en-US" altLang="zh-CN" sz="3600" b="1" dirty="0">
                <a:solidFill>
                  <a:srgbClr val="FF0000"/>
                </a:solidFill>
              </a:rPr>
              <a:t> beat</a:t>
            </a:r>
            <a:r>
              <a:rPr lang="zh-CN" altLang="en-US" sz="3600" b="1" dirty="0">
                <a:solidFill>
                  <a:srgbClr val="FF0000"/>
                </a:solidFill>
              </a:rPr>
              <a:t>节拍  </a:t>
            </a:r>
            <a:r>
              <a:rPr lang="en-US" altLang="zh-CN" sz="3600" b="1" dirty="0">
                <a:solidFill>
                  <a:srgbClr val="FF0000"/>
                </a:solidFill>
              </a:rPr>
              <a:t>be thankful for</a:t>
            </a:r>
            <a:r>
              <a:rPr lang="zh-CN" altLang="en-US" sz="3600" b="1" dirty="0">
                <a:solidFill>
                  <a:srgbClr val="FF0000"/>
                </a:solidFill>
              </a:rPr>
              <a:t>感激</a:t>
            </a:r>
            <a:r>
              <a:rPr lang="en-US" altLang="zh-CN" sz="3600" b="1" dirty="0">
                <a:solidFill>
                  <a:srgbClr val="FF0000"/>
                </a:solidFill>
              </a:rPr>
              <a:t> commenter</a:t>
            </a:r>
            <a:r>
              <a:rPr lang="zh-CN" altLang="en-US" sz="3600" b="1" dirty="0">
                <a:solidFill>
                  <a:srgbClr val="FF0000"/>
                </a:solidFill>
              </a:rPr>
              <a:t>评论家</a:t>
            </a:r>
            <a:r>
              <a:rPr lang="en-US" altLang="zh-CN" sz="3600" b="1" dirty="0">
                <a:solidFill>
                  <a:srgbClr val="FF0000"/>
                </a:solidFill>
              </a:rPr>
              <a:t>=critic</a:t>
            </a:r>
          </a:p>
          <a:p>
            <a:r>
              <a:rPr lang="en-US" altLang="zh-CN" sz="3600" b="1" dirty="0">
                <a:solidFill>
                  <a:srgbClr val="FF0000"/>
                </a:solidFill>
              </a:rPr>
              <a:t> another added, </a:t>
            </a:r>
            <a:r>
              <a:rPr lang="zh-CN" altLang="en-US" sz="3600" b="1" dirty="0">
                <a:solidFill>
                  <a:srgbClr val="FF0000"/>
                </a:solidFill>
              </a:rPr>
              <a:t>还有人补充道</a:t>
            </a:r>
            <a:endParaRPr lang="en-US" altLang="zh-CN" sz="3600" b="1" dirty="0">
              <a:solidFill>
                <a:srgbClr val="FF0000"/>
              </a:solidFill>
            </a:endParaRPr>
          </a:p>
          <a:p>
            <a:r>
              <a:rPr lang="en-US" altLang="zh-CN" sz="3600" b="1" dirty="0">
                <a:solidFill>
                  <a:srgbClr val="FF0000"/>
                </a:solidFill>
              </a:rPr>
              <a:t> make an impact</a:t>
            </a:r>
            <a:r>
              <a:rPr lang="zh-CN" altLang="en-US" sz="3600" b="1" dirty="0">
                <a:solidFill>
                  <a:srgbClr val="FF0000"/>
                </a:solidFill>
              </a:rPr>
              <a:t>产生影响</a:t>
            </a:r>
            <a:endParaRPr lang="en-US" altLang="zh-CN" sz="3600" b="1" dirty="0">
              <a:solidFill>
                <a:srgbClr val="FF0000"/>
              </a:solidFill>
            </a:endParaRPr>
          </a:p>
          <a:p>
            <a:r>
              <a:rPr lang="en-US" altLang="zh-CN" sz="3600" b="1" dirty="0">
                <a:solidFill>
                  <a:srgbClr val="FF0000"/>
                </a:solidFill>
              </a:rPr>
              <a:t> make an assumption</a:t>
            </a:r>
            <a:r>
              <a:rPr lang="zh-CN" altLang="en-US" sz="3600" b="1" dirty="0">
                <a:solidFill>
                  <a:srgbClr val="FF0000"/>
                </a:solidFill>
              </a:rPr>
              <a:t>作出假设</a:t>
            </a:r>
            <a:endParaRPr lang="en-US" altLang="zh-CN" sz="3600" b="1" dirty="0">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t>31. named             32.graduating </a:t>
            </a:r>
          </a:p>
          <a:p>
            <a:r>
              <a:rPr lang="en-US" altLang="zh-CN" sz="3600" b="1" dirty="0"/>
              <a:t>33. to take </a:t>
            </a:r>
          </a:p>
          <a:p>
            <a:r>
              <a:rPr lang="en-US" altLang="zh-CN" sz="3600" b="1" dirty="0">
                <a:solidFill>
                  <a:srgbClr val="FF0000"/>
                </a:solidFill>
              </a:rPr>
              <a:t>inspire sb.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激励某人做某事</a:t>
            </a:r>
            <a:r>
              <a:rPr lang="en-US" altLang="zh-CN" sz="3600" b="1" dirty="0">
                <a:solidFill>
                  <a:srgbClr val="FF0000"/>
                </a:solidFill>
              </a:rPr>
              <a:t> </a:t>
            </a:r>
          </a:p>
          <a:p>
            <a:r>
              <a:rPr lang="en-US" altLang="zh-CN" sz="3600" b="1" dirty="0"/>
              <a:t>34.devotion           35.</a:t>
            </a:r>
            <a:r>
              <a:rPr lang="en-US" altLang="zh-CN" sz="3600" b="1" dirty="0">
                <a:solidFill>
                  <a:srgbClr val="FF0000"/>
                </a:solidFill>
              </a:rPr>
              <a:t>companion n.</a:t>
            </a:r>
            <a:r>
              <a:rPr lang="zh-CN" altLang="en-US" sz="3600" b="1" dirty="0">
                <a:solidFill>
                  <a:srgbClr val="FF0000"/>
                </a:solidFill>
              </a:rPr>
              <a:t>同伴</a:t>
            </a:r>
            <a:r>
              <a:rPr lang="en-US" altLang="zh-CN" sz="3600" b="1" dirty="0">
                <a:solidFill>
                  <a:srgbClr val="FF0000"/>
                </a:solidFill>
              </a:rPr>
              <a:t>;</a:t>
            </a:r>
            <a:r>
              <a:rPr lang="zh-CN" altLang="en-US" sz="3600" b="1" dirty="0">
                <a:solidFill>
                  <a:srgbClr val="FF0000"/>
                </a:solidFill>
              </a:rPr>
              <a:t>伴侣</a:t>
            </a:r>
            <a:endParaRPr lang="en-US" altLang="zh-CN" sz="3600" b="1" dirty="0">
              <a:solidFill>
                <a:srgbClr val="FF0000"/>
              </a:solidFill>
            </a:endParaRPr>
          </a:p>
          <a:p>
            <a:r>
              <a:rPr lang="en-US" altLang="zh-CN" sz="3600" b="1" dirty="0"/>
              <a:t>36.with                   </a:t>
            </a:r>
            <a:r>
              <a:rPr lang="en-US" altLang="zh-CN" sz="3600" b="1" dirty="0">
                <a:solidFill>
                  <a:srgbClr val="FF0000"/>
                </a:solidFill>
              </a:rPr>
              <a:t>live with</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一起生活</a:t>
            </a:r>
            <a:r>
              <a:rPr lang="en-US" altLang="zh-CN" sz="3600" b="1" dirty="0">
                <a:solidFill>
                  <a:srgbClr val="FF0000"/>
                </a:solidFill>
              </a:rPr>
              <a:t>;</a:t>
            </a:r>
            <a:r>
              <a:rPr lang="zh-CN" altLang="en-US" sz="3600" b="1" dirty="0">
                <a:solidFill>
                  <a:srgbClr val="FF0000"/>
                </a:solidFill>
              </a:rPr>
              <a:t>接受忍受</a:t>
            </a:r>
            <a:endParaRPr lang="en-US" altLang="zh-CN" sz="3600" b="1" dirty="0">
              <a:solidFill>
                <a:srgbClr val="FF0000"/>
              </a:solidFill>
            </a:endParaRPr>
          </a:p>
          <a:p>
            <a:r>
              <a:rPr lang="en-US" altLang="zh-CN" sz="3600" b="1" dirty="0"/>
              <a:t>37.that                   </a:t>
            </a:r>
            <a:r>
              <a:rPr lang="en-US" altLang="zh-CN" sz="3600" b="1" i="1" dirty="0">
                <a:solidFill>
                  <a:srgbClr val="FF0000"/>
                </a:solidFill>
              </a:rPr>
              <a:t>It is…that…</a:t>
            </a:r>
            <a:r>
              <a:rPr lang="zh-CN" altLang="en-US" sz="3600" b="1" i="1" dirty="0">
                <a:solidFill>
                  <a:srgbClr val="FF0000"/>
                </a:solidFill>
              </a:rPr>
              <a:t>强调句型</a:t>
            </a:r>
            <a:endParaRPr lang="en-US" altLang="zh-CN" sz="3600" b="1" i="1" dirty="0">
              <a:solidFill>
                <a:srgbClr val="FF0000"/>
              </a:solidFill>
            </a:endParaRPr>
          </a:p>
          <a:p>
            <a:r>
              <a:rPr lang="en-US" altLang="zh-CN" sz="3600" b="1" dirty="0"/>
              <a:t>38.are faced with</a:t>
            </a:r>
          </a:p>
          <a:p>
            <a:r>
              <a:rPr lang="en-US" altLang="zh-CN" sz="3600" b="1" dirty="0">
                <a:solidFill>
                  <a:srgbClr val="FF0000"/>
                </a:solidFill>
              </a:rPr>
              <a:t> sb. face </a:t>
            </a:r>
            <a:r>
              <a:rPr lang="en-US" altLang="zh-CN" sz="3600" b="1" dirty="0" err="1">
                <a:solidFill>
                  <a:srgbClr val="FF0000"/>
                </a:solidFill>
              </a:rPr>
              <a:t>sth</a:t>
            </a:r>
            <a:r>
              <a:rPr lang="en-US" altLang="zh-CN" sz="3600" b="1" dirty="0">
                <a:solidFill>
                  <a:srgbClr val="FF0000"/>
                </a:solidFill>
              </a:rPr>
              <a:t>.= sb. be faced with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面对</a:t>
            </a:r>
            <a:endParaRPr lang="en-US" altLang="zh-CN" sz="3600" b="1" dirty="0">
              <a:solidFill>
                <a:srgbClr val="FF0000"/>
              </a:solidFill>
            </a:endParaRPr>
          </a:p>
          <a:p>
            <a:r>
              <a:rPr lang="en-US" altLang="zh-CN" sz="3600" b="1" dirty="0"/>
              <a:t>39.</a:t>
            </a:r>
            <a:r>
              <a:rPr lang="en-US" altLang="zh-CN" sz="3600" b="1"/>
              <a:t>Without            40</a:t>
            </a:r>
            <a:r>
              <a:rPr lang="en-US" altLang="zh-CN" sz="3600" b="1" dirty="0"/>
              <a:t>.</a:t>
            </a:r>
            <a:r>
              <a:rPr lang="en-US" altLang="zh-CN" sz="3600" b="1" dirty="0">
                <a:solidFill>
                  <a:srgbClr val="FF0000"/>
                </a:solidFill>
              </a:rPr>
              <a:t>fame n.</a:t>
            </a:r>
            <a:r>
              <a:rPr lang="zh-CN" altLang="en-US" sz="3600" b="1" dirty="0">
                <a:solidFill>
                  <a:srgbClr val="FF0000"/>
                </a:solidFill>
              </a:rPr>
              <a:t>名望</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t>P39-40</a:t>
            </a:r>
            <a:r>
              <a:rPr lang="zh-CN" altLang="en-US" sz="3600" b="1" dirty="0"/>
              <a:t>词组</a:t>
            </a:r>
            <a:endParaRPr lang="en-US" altLang="zh-CN" sz="3600" b="1" dirty="0"/>
          </a:p>
          <a:p>
            <a:r>
              <a:rPr lang="en-US" altLang="zh-CN" sz="3600" b="1" dirty="0"/>
              <a:t>1.</a:t>
            </a:r>
            <a:r>
              <a:rPr lang="zh-CN" altLang="en-US" sz="3600" b="1" dirty="0"/>
              <a:t>洞悉</a:t>
            </a:r>
            <a:r>
              <a:rPr lang="en-US" altLang="zh-CN" sz="3600" b="1" dirty="0"/>
              <a:t>…</a:t>
            </a:r>
            <a:r>
              <a:rPr lang="zh-CN" altLang="en-US" sz="3600" b="1" dirty="0"/>
              <a:t>生活面貌</a:t>
            </a:r>
            <a:r>
              <a:rPr lang="en-US" altLang="zh-CN" sz="3600" b="1" dirty="0"/>
              <a:t>2.</a:t>
            </a:r>
            <a:r>
              <a:rPr lang="zh-CN" altLang="en-US" sz="3600" b="1" dirty="0"/>
              <a:t>历经沧桑</a:t>
            </a:r>
            <a:r>
              <a:rPr lang="en-US" altLang="zh-CN" sz="3600" b="1" dirty="0"/>
              <a:t>3.</a:t>
            </a:r>
            <a:r>
              <a:rPr lang="zh-CN" altLang="en-US" sz="3600" b="1" dirty="0"/>
              <a:t>藏于 </a:t>
            </a:r>
            <a:r>
              <a:rPr lang="en-US" altLang="zh-CN" sz="3600" b="1" dirty="0"/>
              <a:t>4.</a:t>
            </a:r>
            <a:r>
              <a:rPr lang="zh-CN" altLang="en-US" sz="3600" b="1" dirty="0"/>
              <a:t>由</a:t>
            </a:r>
            <a:r>
              <a:rPr lang="en-US" altLang="zh-CN" sz="3600" b="1" dirty="0"/>
              <a:t>…</a:t>
            </a:r>
            <a:r>
              <a:rPr lang="zh-CN" altLang="en-US" sz="3600" b="1" dirty="0"/>
              <a:t>组成</a:t>
            </a:r>
            <a:r>
              <a:rPr lang="en-US" altLang="zh-CN" sz="3600" b="1" dirty="0"/>
              <a:t>5.</a:t>
            </a:r>
            <a:r>
              <a:rPr lang="zh-CN" altLang="en-US" sz="3600" b="1" dirty="0"/>
              <a:t>展现了恬静的乡村生活</a:t>
            </a:r>
            <a:r>
              <a:rPr lang="en-US" altLang="zh-CN" sz="3600" b="1" dirty="0"/>
              <a:t>6.</a:t>
            </a:r>
            <a:r>
              <a:rPr lang="zh-CN" altLang="en-US" sz="3600" b="1" dirty="0"/>
              <a:t>蜿蜒而过的河流</a:t>
            </a:r>
            <a:r>
              <a:rPr lang="en-US" altLang="zh-CN" sz="3600" b="1" dirty="0"/>
              <a:t>7.</a:t>
            </a:r>
            <a:r>
              <a:rPr lang="zh-CN" altLang="en-US" sz="3600" b="1" dirty="0"/>
              <a:t>各行各业的人</a:t>
            </a:r>
            <a:r>
              <a:rPr lang="en-US" altLang="zh-CN" sz="3600" b="1" dirty="0"/>
              <a:t>8.</a:t>
            </a:r>
            <a:r>
              <a:rPr lang="zh-CN" altLang="en-US" sz="3600" b="1" dirty="0"/>
              <a:t>忙着各自的营生</a:t>
            </a:r>
            <a:r>
              <a:rPr lang="en-US" altLang="zh-CN" sz="3600" b="1" dirty="0"/>
              <a:t>9.</a:t>
            </a:r>
            <a:r>
              <a:rPr lang="zh-CN" altLang="en-US" sz="3600" b="1" dirty="0"/>
              <a:t>综合起来</a:t>
            </a:r>
            <a:r>
              <a:rPr lang="en-US" altLang="zh-CN" sz="3600" b="1" dirty="0"/>
              <a:t>10.</a:t>
            </a:r>
            <a:r>
              <a:rPr lang="zh-CN" altLang="en-US" sz="3600" b="1" dirty="0"/>
              <a:t>表现了他高妙的艺术技巧</a:t>
            </a:r>
            <a:r>
              <a:rPr lang="en-US" altLang="zh-CN" sz="3600" b="1" dirty="0"/>
              <a:t>11.</a:t>
            </a:r>
            <a:r>
              <a:rPr lang="zh-CN" altLang="en-US" sz="3600" b="1" dirty="0"/>
              <a:t>全面展示了北宋时期的生活景象</a:t>
            </a:r>
            <a:r>
              <a:rPr lang="en-US" altLang="zh-CN" sz="3600" b="1" dirty="0"/>
              <a:t>12.</a:t>
            </a:r>
            <a:r>
              <a:rPr lang="zh-CN" altLang="en-US" sz="3600" b="1" dirty="0"/>
              <a:t>种类繁多的建筑</a:t>
            </a:r>
            <a:r>
              <a:rPr lang="en-US" altLang="zh-CN" sz="3600" b="1" dirty="0"/>
              <a:t>13.</a:t>
            </a:r>
            <a:r>
              <a:rPr lang="zh-CN" altLang="en-US" sz="3600" b="1" dirty="0"/>
              <a:t>乍看上去</a:t>
            </a:r>
            <a:r>
              <a:rPr lang="en-US" altLang="zh-CN" sz="3600" b="1" dirty="0"/>
              <a:t>14.</a:t>
            </a:r>
            <a:r>
              <a:rPr lang="zh-CN" altLang="en-US" sz="3600" b="1" dirty="0"/>
              <a:t>细心观察</a:t>
            </a:r>
            <a:r>
              <a:rPr lang="en-US" altLang="zh-CN" sz="3600" b="1" dirty="0"/>
              <a:t>15.</a:t>
            </a:r>
            <a:r>
              <a:rPr lang="zh-CN" altLang="en-US" sz="3600" b="1" dirty="0"/>
              <a:t>揭露了严重的政治和社会问题</a:t>
            </a:r>
            <a:r>
              <a:rPr lang="en-US" altLang="zh-CN" sz="3600" b="1" dirty="0"/>
              <a:t>16.</a:t>
            </a:r>
            <a:r>
              <a:rPr lang="zh-CN" altLang="en-US" sz="3600" b="1" dirty="0"/>
              <a:t>失控 </a:t>
            </a:r>
            <a:r>
              <a:rPr lang="en-US" altLang="zh-CN" sz="3600" b="1" dirty="0"/>
              <a:t>17.</a:t>
            </a:r>
            <a:r>
              <a:rPr lang="zh-CN" altLang="en-US" sz="3600" b="1" dirty="0"/>
              <a:t>似乎疏于职守 </a:t>
            </a:r>
            <a:r>
              <a:rPr lang="en-US" altLang="zh-CN" sz="3600" b="1" dirty="0"/>
              <a:t>18.</a:t>
            </a:r>
            <a:r>
              <a:rPr lang="zh-CN" altLang="en-US" sz="3600" b="1" dirty="0"/>
              <a:t>有撞到桥的危险</a:t>
            </a:r>
            <a:r>
              <a:rPr lang="en-US" altLang="zh-CN" sz="3600" b="1" dirty="0"/>
              <a:t>19.</a:t>
            </a:r>
            <a:r>
              <a:rPr lang="zh-CN" altLang="en-US" sz="3600" b="1" dirty="0"/>
              <a:t>走下坡路</a:t>
            </a:r>
            <a:r>
              <a:rPr lang="en-US" altLang="zh-CN" sz="3600" b="1" dirty="0"/>
              <a:t> 20.</a:t>
            </a:r>
            <a:r>
              <a:rPr lang="zh-CN" altLang="en-US" sz="3600" b="1" dirty="0"/>
              <a:t>覆灭</a:t>
            </a:r>
            <a:r>
              <a:rPr lang="en-US" altLang="zh-CN" sz="3600" b="1" dirty="0"/>
              <a:t>21.</a:t>
            </a:r>
            <a:r>
              <a:rPr lang="zh-CN" altLang="en-US" sz="3600" b="1" dirty="0"/>
              <a:t>在于</a:t>
            </a:r>
            <a:r>
              <a:rPr lang="en-US" altLang="zh-CN" sz="3600" b="1" dirty="0"/>
              <a:t>,</a:t>
            </a:r>
            <a:r>
              <a:rPr lang="zh-CN" altLang="en-US" sz="3600" b="1" dirty="0"/>
              <a:t>归因于 </a:t>
            </a:r>
            <a:r>
              <a:rPr lang="en-US" altLang="zh-CN" sz="3600" b="1" dirty="0"/>
              <a:t>22.</a:t>
            </a:r>
            <a:r>
              <a:rPr lang="zh-CN" altLang="en-US" sz="3600" b="1" dirty="0"/>
              <a:t>其价值之高，以至</a:t>
            </a:r>
            <a:r>
              <a:rPr lang="en-US" altLang="zh-CN" sz="3600" b="1" dirty="0"/>
              <a:t>… 23.</a:t>
            </a:r>
            <a:r>
              <a:rPr lang="zh-CN" altLang="en-US" sz="3600" b="1" dirty="0"/>
              <a:t>临摹</a:t>
            </a:r>
            <a:r>
              <a:rPr lang="en-US" altLang="zh-CN" sz="3600" b="1" dirty="0"/>
              <a:t>24.</a:t>
            </a:r>
            <a:r>
              <a:rPr lang="zh-CN" altLang="en-US" sz="3600" b="1" dirty="0"/>
              <a:t>摹本自身被视为艺术珍品</a:t>
            </a:r>
            <a:r>
              <a:rPr lang="en-US" altLang="zh-CN" sz="3600" b="1" dirty="0"/>
              <a:t>25.</a:t>
            </a:r>
            <a:r>
              <a:rPr lang="zh-CN" altLang="en-US" sz="3600" b="1" dirty="0"/>
              <a:t>对</a:t>
            </a:r>
            <a:r>
              <a:rPr lang="en-US" altLang="zh-CN" sz="3600" b="1" dirty="0"/>
              <a:t>…</a:t>
            </a:r>
            <a:r>
              <a:rPr lang="zh-CN" altLang="en-US" sz="3600" b="1" dirty="0"/>
              <a:t>做出了卓越贡献</a:t>
            </a:r>
            <a:r>
              <a:rPr lang="en-US" altLang="zh-CN" sz="3600" b="1" dirty="0"/>
              <a:t>26.</a:t>
            </a:r>
            <a:r>
              <a:rPr lang="zh-CN" altLang="en-US" sz="3600" b="1" dirty="0"/>
              <a:t>完好</a:t>
            </a:r>
            <a:r>
              <a:rPr lang="en-US" altLang="zh-CN" sz="3600" b="1" dirty="0"/>
              <a:t>27.</a:t>
            </a:r>
            <a:r>
              <a:rPr lang="zh-CN" altLang="en-US" sz="3600" b="1" dirty="0"/>
              <a:t>极为脆弱</a:t>
            </a:r>
            <a:r>
              <a:rPr lang="en-US" altLang="zh-CN" sz="3600" b="1" dirty="0"/>
              <a:t>28.</a:t>
            </a:r>
            <a:r>
              <a:rPr lang="zh-CN" altLang="en-US" sz="3600" b="1" dirty="0"/>
              <a:t>展出</a:t>
            </a:r>
            <a:r>
              <a:rPr lang="en-US" altLang="zh-CN" sz="3600" b="1" dirty="0"/>
              <a:t>29.</a:t>
            </a:r>
            <a:r>
              <a:rPr lang="zh-CN" altLang="en-US" sz="3600" b="1" dirty="0"/>
              <a:t>热情不减</a:t>
            </a:r>
            <a:r>
              <a:rPr lang="en-US" altLang="zh-CN" sz="3600" b="1" dirty="0"/>
              <a:t>30.</a:t>
            </a:r>
            <a:r>
              <a:rPr lang="zh-CN" altLang="en-US" sz="3600" b="1" dirty="0"/>
              <a:t>足以证明这幅历史名画的魅力</a:t>
            </a:r>
            <a:endParaRPr lang="zh-CN" altLang="en-US" sz="3600" b="1" dirty="0">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zh-CN" altLang="en-US" sz="3600" b="1" dirty="0">
                <a:solidFill>
                  <a:srgbClr val="FF0000"/>
                </a:solidFill>
              </a:rPr>
              <a:t>试卷</a:t>
            </a:r>
            <a:r>
              <a:rPr lang="en-US" altLang="zh-CN" sz="3600" b="1" dirty="0">
                <a:solidFill>
                  <a:srgbClr val="FF0000"/>
                </a:solidFill>
              </a:rPr>
              <a:t> 1.interest</a:t>
            </a:r>
            <a:r>
              <a:rPr lang="zh-CN" altLang="en-US" sz="3600" b="1" dirty="0">
                <a:solidFill>
                  <a:srgbClr val="FF0000"/>
                </a:solidFill>
              </a:rPr>
              <a:t>翻译</a:t>
            </a:r>
            <a:r>
              <a:rPr lang="en-US" altLang="zh-CN" sz="3600" b="1" dirty="0">
                <a:solidFill>
                  <a:srgbClr val="FF0000"/>
                </a:solidFill>
              </a:rPr>
              <a:t>;balance</a:t>
            </a:r>
            <a:r>
              <a:rPr lang="zh-CN" altLang="en-US" sz="3600" b="1" dirty="0">
                <a:solidFill>
                  <a:srgbClr val="FF0000"/>
                </a:solidFill>
              </a:rPr>
              <a:t>翻译</a:t>
            </a:r>
            <a:r>
              <a:rPr lang="en-US" altLang="zh-CN" sz="3600" b="1" dirty="0">
                <a:solidFill>
                  <a:srgbClr val="FF0000"/>
                </a:solidFill>
              </a:rPr>
              <a:t> 2.</a:t>
            </a:r>
            <a:r>
              <a:rPr lang="zh-CN" altLang="zh-CN" sz="3600" b="1" dirty="0">
                <a:solidFill>
                  <a:srgbClr val="FF0000"/>
                </a:solidFill>
              </a:rPr>
              <a:t>必不可少的</a:t>
            </a:r>
            <a:r>
              <a:rPr lang="zh-CN" altLang="en-US" sz="3600" b="1" dirty="0">
                <a:solidFill>
                  <a:srgbClr val="FF0000"/>
                </a:solidFill>
              </a:rPr>
              <a:t>金融工具 </a:t>
            </a:r>
            <a:endParaRPr lang="en-US" altLang="zh-CN" sz="3600" b="1" dirty="0">
              <a:solidFill>
                <a:srgbClr val="FF0000"/>
              </a:solidFill>
            </a:endParaRPr>
          </a:p>
          <a:p>
            <a:r>
              <a:rPr lang="en-US" altLang="zh-CN" sz="3600" b="1" dirty="0">
                <a:solidFill>
                  <a:srgbClr val="FF0000"/>
                </a:solidFill>
              </a:rPr>
              <a:t>3.</a:t>
            </a:r>
            <a:r>
              <a:rPr lang="zh-CN" altLang="en-US" sz="3600" b="1" dirty="0">
                <a:solidFill>
                  <a:srgbClr val="FF0000"/>
                </a:solidFill>
              </a:rPr>
              <a:t>与我们的期望相去甚远</a:t>
            </a:r>
            <a:r>
              <a:rPr lang="en-US" altLang="zh-CN" sz="3600" b="1" dirty="0">
                <a:solidFill>
                  <a:srgbClr val="FF0000"/>
                </a:solidFill>
              </a:rPr>
              <a:t> 4.</a:t>
            </a:r>
            <a:r>
              <a:rPr lang="zh-CN" altLang="zh-CN" sz="3600" b="1" dirty="0">
                <a:solidFill>
                  <a:srgbClr val="FF0000"/>
                </a:solidFill>
              </a:rPr>
              <a:t>便利性</a:t>
            </a:r>
            <a:r>
              <a:rPr lang="zh-CN" altLang="en-US" sz="3600" b="1" dirty="0">
                <a:solidFill>
                  <a:srgbClr val="FF0000"/>
                </a:solidFill>
              </a:rPr>
              <a:t>和</a:t>
            </a:r>
            <a:r>
              <a:rPr lang="zh-CN" altLang="zh-CN" sz="3600" b="1" dirty="0">
                <a:solidFill>
                  <a:srgbClr val="FF0000"/>
                </a:solidFill>
              </a:rPr>
              <a:t>灵活性</a:t>
            </a:r>
            <a:r>
              <a:rPr lang="en-US" altLang="zh-CN" sz="3600" b="1" dirty="0">
                <a:solidFill>
                  <a:srgbClr val="FF0000"/>
                </a:solidFill>
              </a:rPr>
              <a:t>5.</a:t>
            </a:r>
            <a:r>
              <a:rPr lang="zh-CN" altLang="en-US" sz="3600" b="1" dirty="0">
                <a:solidFill>
                  <a:srgbClr val="FF0000"/>
                </a:solidFill>
              </a:rPr>
              <a:t>心理问题 </a:t>
            </a:r>
            <a:endParaRPr lang="en-US" altLang="zh-CN" sz="3600" b="1" dirty="0">
              <a:solidFill>
                <a:srgbClr val="FF0000"/>
              </a:solidFill>
            </a:endParaRPr>
          </a:p>
          <a:p>
            <a:r>
              <a:rPr lang="en-US" altLang="zh-CN" sz="3600" b="1" dirty="0">
                <a:solidFill>
                  <a:srgbClr val="FF0000"/>
                </a:solidFill>
              </a:rPr>
              <a:t>6.</a:t>
            </a:r>
            <a:r>
              <a:rPr lang="zh-CN" altLang="en-US" sz="3600" b="1" dirty="0">
                <a:solidFill>
                  <a:srgbClr val="FF0000"/>
                </a:solidFill>
              </a:rPr>
              <a:t>欠债 </a:t>
            </a:r>
            <a:r>
              <a:rPr lang="en-US" altLang="zh-CN" sz="3600" b="1" dirty="0">
                <a:solidFill>
                  <a:srgbClr val="FF0000"/>
                </a:solidFill>
              </a:rPr>
              <a:t>7.</a:t>
            </a:r>
            <a:r>
              <a:rPr lang="zh-CN" altLang="en-US" sz="3600" b="1" dirty="0">
                <a:solidFill>
                  <a:srgbClr val="FF0000"/>
                </a:solidFill>
              </a:rPr>
              <a:t>身体健康 </a:t>
            </a:r>
            <a:r>
              <a:rPr lang="en-US" altLang="zh-CN" sz="3600" b="1" dirty="0">
                <a:solidFill>
                  <a:srgbClr val="FF0000"/>
                </a:solidFill>
              </a:rPr>
              <a:t>8.</a:t>
            </a:r>
            <a:r>
              <a:rPr lang="zh-CN" altLang="en-US" sz="3600" b="1" dirty="0">
                <a:solidFill>
                  <a:srgbClr val="FF0000"/>
                </a:solidFill>
              </a:rPr>
              <a:t>多样性</a:t>
            </a:r>
            <a:r>
              <a:rPr lang="en-US" altLang="zh-CN" sz="3600" dirty="0"/>
              <a:t>9.</a:t>
            </a:r>
            <a:r>
              <a:rPr lang="zh-CN" altLang="en-US" sz="3600" dirty="0"/>
              <a:t>残疾人权益倡导者</a:t>
            </a:r>
            <a:r>
              <a:rPr lang="en-US" altLang="zh-CN" sz="3600" b="1" dirty="0">
                <a:solidFill>
                  <a:srgbClr val="FF0000"/>
                </a:solidFill>
              </a:rPr>
              <a:t>10.</a:t>
            </a:r>
            <a:r>
              <a:rPr lang="zh-CN" altLang="en-US" sz="3600" b="1" dirty="0">
                <a:solidFill>
                  <a:srgbClr val="FF0000"/>
                </a:solidFill>
              </a:rPr>
              <a:t>决心做</a:t>
            </a:r>
            <a:endParaRPr lang="en-US" altLang="zh-CN" sz="3600" b="1" dirty="0">
              <a:solidFill>
                <a:srgbClr val="FF0000"/>
              </a:solidFill>
            </a:endParaRPr>
          </a:p>
          <a:p>
            <a:r>
              <a:rPr lang="en-US" altLang="zh-CN" sz="3600" b="1" dirty="0">
                <a:solidFill>
                  <a:srgbClr val="FF0000"/>
                </a:solidFill>
              </a:rPr>
              <a:t>11.</a:t>
            </a:r>
            <a:r>
              <a:rPr lang="zh-CN" altLang="en-US" sz="3600" b="1" dirty="0">
                <a:solidFill>
                  <a:srgbClr val="FF0000"/>
                </a:solidFill>
              </a:rPr>
              <a:t>起初</a:t>
            </a:r>
            <a:r>
              <a:rPr lang="en-US" altLang="zh-CN" sz="3600" b="1" dirty="0">
                <a:solidFill>
                  <a:srgbClr val="FF0000"/>
                </a:solidFill>
              </a:rPr>
              <a:t> 12.hold back</a:t>
            </a:r>
            <a:r>
              <a:rPr lang="zh-CN" altLang="en-US" sz="3600" b="1" dirty="0">
                <a:solidFill>
                  <a:srgbClr val="FF0000"/>
                </a:solidFill>
              </a:rPr>
              <a:t>翻译</a:t>
            </a:r>
            <a:r>
              <a:rPr lang="en-US" altLang="zh-CN" sz="3600" b="1" dirty="0">
                <a:solidFill>
                  <a:srgbClr val="FF0000"/>
                </a:solidFill>
              </a:rPr>
              <a:t>;out of place</a:t>
            </a:r>
            <a:r>
              <a:rPr lang="zh-CN" altLang="en-US" sz="3600" b="1" dirty="0">
                <a:solidFill>
                  <a:srgbClr val="FF0000"/>
                </a:solidFill>
              </a:rPr>
              <a:t>翻译</a:t>
            </a:r>
            <a:r>
              <a:rPr lang="en-US" altLang="zh-CN" sz="3600" b="1" dirty="0">
                <a:solidFill>
                  <a:srgbClr val="FF0000"/>
                </a:solidFill>
              </a:rPr>
              <a:t>;</a:t>
            </a:r>
            <a:r>
              <a:rPr lang="zh-CN" altLang="en-US" sz="3600" b="1" dirty="0">
                <a:solidFill>
                  <a:srgbClr val="FF0000"/>
                </a:solidFill>
              </a:rPr>
              <a:t> </a:t>
            </a:r>
            <a:r>
              <a:rPr lang="en-US" altLang="zh-CN" sz="3600" b="1" dirty="0">
                <a:solidFill>
                  <a:srgbClr val="FF0000"/>
                </a:solidFill>
              </a:rPr>
              <a:t>in the way</a:t>
            </a:r>
            <a:r>
              <a:rPr lang="zh-CN" altLang="en-US" sz="3600" b="1" dirty="0">
                <a:solidFill>
                  <a:srgbClr val="FF0000"/>
                </a:solidFill>
              </a:rPr>
              <a:t>译</a:t>
            </a:r>
            <a:endParaRPr lang="en-US" altLang="zh-CN" sz="3600" b="1" dirty="0">
              <a:solidFill>
                <a:srgbClr val="FF0000"/>
              </a:solidFill>
            </a:endParaRPr>
          </a:p>
          <a:p>
            <a:r>
              <a:rPr lang="en-US" altLang="zh-CN" sz="3600" b="1" dirty="0">
                <a:solidFill>
                  <a:srgbClr val="FF0000"/>
                </a:solidFill>
              </a:rPr>
              <a:t>13.</a:t>
            </a:r>
            <a:r>
              <a:rPr lang="zh-CN" altLang="en-US" sz="3600" b="1" dirty="0">
                <a:solidFill>
                  <a:srgbClr val="FF0000"/>
                </a:solidFill>
              </a:rPr>
              <a:t>应对挑战</a:t>
            </a:r>
            <a:r>
              <a:rPr lang="en-US" altLang="zh-CN" sz="3600" b="1" dirty="0">
                <a:solidFill>
                  <a:srgbClr val="FF0000"/>
                </a:solidFill>
              </a:rPr>
              <a:t>14.</a:t>
            </a:r>
            <a:r>
              <a:rPr lang="zh-CN" altLang="en-US" sz="3600" b="1" dirty="0">
                <a:solidFill>
                  <a:srgbClr val="FF0000"/>
                </a:solidFill>
              </a:rPr>
              <a:t>拒绝接受不予考虑</a:t>
            </a:r>
            <a:r>
              <a:rPr lang="en-US" altLang="zh-CN" sz="3600" b="1" dirty="0">
                <a:solidFill>
                  <a:srgbClr val="FF0000"/>
                </a:solidFill>
              </a:rPr>
              <a:t>15.</a:t>
            </a:r>
            <a:r>
              <a:rPr lang="zh-CN" altLang="en-US" sz="3600" b="1" dirty="0">
                <a:solidFill>
                  <a:srgbClr val="FF0000"/>
                </a:solidFill>
              </a:rPr>
              <a:t> </a:t>
            </a:r>
            <a:r>
              <a:rPr lang="en-US" altLang="zh-CN" sz="3600" b="1" dirty="0">
                <a:solidFill>
                  <a:srgbClr val="FF0000"/>
                </a:solidFill>
              </a:rPr>
              <a:t>issue</a:t>
            </a:r>
            <a:r>
              <a:rPr lang="zh-CN" altLang="en-US" sz="3600" b="1" dirty="0">
                <a:solidFill>
                  <a:srgbClr val="FF0000"/>
                </a:solidFill>
              </a:rPr>
              <a:t>翻译</a:t>
            </a:r>
            <a:r>
              <a:rPr lang="en-US" altLang="zh-CN" sz="3600" b="1" dirty="0">
                <a:solidFill>
                  <a:srgbClr val="FF0000"/>
                </a:solidFill>
              </a:rPr>
              <a:t>;eventually</a:t>
            </a:r>
            <a:r>
              <a:rPr lang="zh-CN" altLang="en-US" sz="3600" b="1" dirty="0">
                <a:solidFill>
                  <a:srgbClr val="FF0000"/>
                </a:solidFill>
              </a:rPr>
              <a:t>翻译</a:t>
            </a:r>
            <a:r>
              <a:rPr lang="en-US" altLang="zh-CN" sz="3600" b="1" dirty="0">
                <a:solidFill>
                  <a:srgbClr val="FF0000"/>
                </a:solidFill>
              </a:rPr>
              <a:t>;classic</a:t>
            </a:r>
            <a:r>
              <a:rPr lang="zh-CN" altLang="en-US" sz="3600" b="1" dirty="0">
                <a:solidFill>
                  <a:srgbClr val="FF0000"/>
                </a:solidFill>
              </a:rPr>
              <a:t>翻译 </a:t>
            </a:r>
            <a:r>
              <a:rPr lang="en-US" altLang="zh-CN" sz="3600" b="1" dirty="0">
                <a:solidFill>
                  <a:srgbClr val="FF0000"/>
                </a:solidFill>
              </a:rPr>
              <a:t>16.</a:t>
            </a:r>
            <a:r>
              <a:rPr lang="zh-CN" altLang="en-US" sz="3600" b="1" dirty="0">
                <a:solidFill>
                  <a:srgbClr val="FF0000"/>
                </a:solidFill>
              </a:rPr>
              <a:t>认出识别理解</a:t>
            </a:r>
            <a:r>
              <a:rPr lang="en-US" altLang="zh-CN" sz="3600" b="1" dirty="0">
                <a:solidFill>
                  <a:srgbClr val="FF0000"/>
                </a:solidFill>
              </a:rPr>
              <a:t>17.</a:t>
            </a:r>
            <a:r>
              <a:rPr lang="zh-CN" altLang="en-US" sz="3600" b="1" dirty="0">
                <a:solidFill>
                  <a:srgbClr val="FF0000"/>
                </a:solidFill>
              </a:rPr>
              <a:t>人生哲学生活准则 </a:t>
            </a:r>
            <a:endParaRPr lang="en-US" altLang="zh-CN" sz="3600" b="1" dirty="0">
              <a:solidFill>
                <a:srgbClr val="FF0000"/>
              </a:solidFill>
            </a:endParaRPr>
          </a:p>
          <a:p>
            <a:r>
              <a:rPr lang="en-US" altLang="zh-CN" sz="3600" b="1" dirty="0">
                <a:solidFill>
                  <a:srgbClr val="FF0000"/>
                </a:solidFill>
              </a:rPr>
              <a:t>18.</a:t>
            </a:r>
            <a:r>
              <a:rPr lang="zh-CN" altLang="en-US" sz="3600" b="1" dirty="0">
                <a:solidFill>
                  <a:srgbClr val="FF0000"/>
                </a:solidFill>
              </a:rPr>
              <a:t>可忍受的</a:t>
            </a:r>
            <a:r>
              <a:rPr lang="en-US" altLang="zh-CN" sz="3600" b="1" dirty="0">
                <a:solidFill>
                  <a:srgbClr val="FF0000"/>
                </a:solidFill>
              </a:rPr>
              <a:t>;</a:t>
            </a:r>
            <a:r>
              <a:rPr lang="zh-CN" altLang="en-US" sz="3600" b="1" dirty="0">
                <a:solidFill>
                  <a:srgbClr val="FF0000"/>
                </a:solidFill>
              </a:rPr>
              <a:t>过得去的</a:t>
            </a:r>
            <a:r>
              <a:rPr lang="en-US" altLang="zh-CN" sz="3600" b="1" dirty="0">
                <a:solidFill>
                  <a:srgbClr val="FF0000"/>
                </a:solidFill>
              </a:rPr>
              <a:t>19.tricky</a:t>
            </a:r>
            <a:r>
              <a:rPr lang="zh-CN" altLang="en-US" sz="3600" b="1" dirty="0">
                <a:solidFill>
                  <a:srgbClr val="FF0000"/>
                </a:solidFill>
              </a:rPr>
              <a:t>翻译</a:t>
            </a:r>
            <a:r>
              <a:rPr lang="en-US" altLang="zh-CN" sz="3600" b="1" dirty="0">
                <a:solidFill>
                  <a:srgbClr val="FF0000"/>
                </a:solidFill>
              </a:rPr>
              <a:t> pull through</a:t>
            </a:r>
            <a:r>
              <a:rPr lang="zh-CN" altLang="en-US" sz="3600" b="1" dirty="0">
                <a:solidFill>
                  <a:srgbClr val="FF0000"/>
                </a:solidFill>
              </a:rPr>
              <a:t>翻译 </a:t>
            </a:r>
            <a:endParaRPr lang="en-US" altLang="zh-CN" sz="3600" b="1" dirty="0">
              <a:solidFill>
                <a:srgbClr val="FF0000"/>
              </a:solidFill>
            </a:endParaRPr>
          </a:p>
          <a:p>
            <a:r>
              <a:rPr lang="en-US" altLang="zh-CN" sz="3600" b="1" dirty="0">
                <a:solidFill>
                  <a:srgbClr val="FF0000"/>
                </a:solidFill>
              </a:rPr>
              <a:t>20.</a:t>
            </a:r>
            <a:r>
              <a:rPr lang="zh-CN" altLang="en-US" sz="3600" b="1" dirty="0">
                <a:solidFill>
                  <a:srgbClr val="FF0000"/>
                </a:solidFill>
              </a:rPr>
              <a:t>打破界限</a:t>
            </a:r>
            <a:r>
              <a:rPr lang="en-US" altLang="zh-CN" sz="3600" b="1" dirty="0">
                <a:solidFill>
                  <a:srgbClr val="FF0000"/>
                </a:solidFill>
              </a:rPr>
              <a:t>/</a:t>
            </a:r>
            <a:r>
              <a:rPr lang="zh-CN" altLang="en-US" sz="3600" b="1" dirty="0">
                <a:solidFill>
                  <a:srgbClr val="FF0000"/>
                </a:solidFill>
              </a:rPr>
              <a:t>障碍</a:t>
            </a:r>
            <a:r>
              <a:rPr lang="en-US" altLang="zh-CN" sz="3600" dirty="0"/>
              <a:t>21.</a:t>
            </a:r>
            <a:r>
              <a:rPr lang="zh-CN" altLang="en-US" sz="3600" dirty="0"/>
              <a:t>给大牌做模特</a:t>
            </a:r>
            <a:r>
              <a:rPr lang="en-US" altLang="zh-CN" sz="3600" b="1" dirty="0">
                <a:solidFill>
                  <a:srgbClr val="FF0000"/>
                </a:solidFill>
              </a:rPr>
              <a:t>22.</a:t>
            </a:r>
            <a:r>
              <a:rPr lang="zh-CN" altLang="en-US" sz="3600" b="1" dirty="0">
                <a:solidFill>
                  <a:srgbClr val="FF0000"/>
                </a:solidFill>
              </a:rPr>
              <a:t>暂时地</a:t>
            </a:r>
            <a:r>
              <a:rPr lang="en-US" altLang="zh-CN" sz="3600" b="1" dirty="0">
                <a:solidFill>
                  <a:srgbClr val="FF0000"/>
                </a:solidFill>
              </a:rPr>
              <a:t> 23.</a:t>
            </a:r>
            <a:r>
              <a:rPr lang="zh-CN" altLang="en-US" sz="3600" b="1" dirty="0">
                <a:solidFill>
                  <a:srgbClr val="FF0000"/>
                </a:solidFill>
              </a:rPr>
              <a:t>意外地</a:t>
            </a:r>
            <a:r>
              <a:rPr lang="en-US" altLang="zh-CN" sz="3600" b="1" dirty="0">
                <a:solidFill>
                  <a:srgbClr val="FF0000"/>
                </a:solidFill>
              </a:rPr>
              <a:t> </a:t>
            </a:r>
          </a:p>
          <a:p>
            <a:r>
              <a:rPr lang="en-US" altLang="zh-CN" sz="3600" b="1" dirty="0">
                <a:solidFill>
                  <a:srgbClr val="FF0000"/>
                </a:solidFill>
              </a:rPr>
              <a:t>24.</a:t>
            </a:r>
            <a:r>
              <a:rPr lang="zh-CN" altLang="en-US" sz="3600" b="1" dirty="0">
                <a:solidFill>
                  <a:srgbClr val="FF0000"/>
                </a:solidFill>
              </a:rPr>
              <a:t>同情共鸣</a:t>
            </a:r>
            <a:r>
              <a:rPr lang="en-US" altLang="zh-CN" sz="3600" b="1" dirty="0">
                <a:solidFill>
                  <a:srgbClr val="FF0000"/>
                </a:solidFill>
              </a:rPr>
              <a:t> 25.</a:t>
            </a:r>
            <a:r>
              <a:rPr lang="zh-CN" altLang="en-US" sz="3600" b="1" dirty="0">
                <a:solidFill>
                  <a:srgbClr val="FF0000"/>
                </a:solidFill>
              </a:rPr>
              <a:t>可靠 </a:t>
            </a:r>
            <a:r>
              <a:rPr lang="en-US" altLang="zh-CN" sz="3600" b="1" dirty="0">
                <a:solidFill>
                  <a:srgbClr val="FF0000"/>
                </a:solidFill>
              </a:rPr>
              <a:t>26.</a:t>
            </a:r>
            <a:r>
              <a:rPr lang="zh-CN" altLang="en-US" sz="3600" b="1" dirty="0">
                <a:solidFill>
                  <a:srgbClr val="FF0000"/>
                </a:solidFill>
              </a:rPr>
              <a:t>决心</a:t>
            </a:r>
            <a:r>
              <a:rPr lang="en-US" altLang="zh-CN" sz="3600" b="1" dirty="0">
                <a:solidFill>
                  <a:srgbClr val="FF0000"/>
                </a:solidFill>
              </a:rPr>
              <a:t> 27.</a:t>
            </a:r>
            <a:r>
              <a:rPr lang="zh-CN" altLang="en-US" sz="3600" b="1" dirty="0">
                <a:solidFill>
                  <a:srgbClr val="FF0000"/>
                </a:solidFill>
              </a:rPr>
              <a:t>想象力</a:t>
            </a:r>
            <a:r>
              <a:rPr lang="en-US" altLang="zh-CN" sz="3600" b="1" dirty="0">
                <a:solidFill>
                  <a:srgbClr val="FF0000"/>
                </a:solidFill>
              </a:rPr>
              <a:t>28.</a:t>
            </a:r>
            <a:r>
              <a:rPr lang="zh-CN" altLang="en-US" sz="3600" b="1" dirty="0">
                <a:solidFill>
                  <a:srgbClr val="FF0000"/>
                </a:solidFill>
              </a:rPr>
              <a:t>始终如一地</a:t>
            </a:r>
            <a:r>
              <a:rPr lang="en-US" altLang="zh-CN" sz="3600" b="1" dirty="0">
                <a:solidFill>
                  <a:srgbClr val="FF0000"/>
                </a:solidFill>
              </a:rPr>
              <a:t> </a:t>
            </a:r>
          </a:p>
          <a:p>
            <a:r>
              <a:rPr lang="en-US" altLang="zh-CN" sz="3600" b="1" dirty="0">
                <a:solidFill>
                  <a:srgbClr val="FF0000"/>
                </a:solidFill>
              </a:rPr>
              <a:t>29.</a:t>
            </a:r>
            <a:r>
              <a:rPr lang="zh-CN" altLang="en-US" sz="3600" b="1" dirty="0">
                <a:solidFill>
                  <a:srgbClr val="FF0000"/>
                </a:solidFill>
              </a:rPr>
              <a:t>革新的新颖的</a:t>
            </a:r>
            <a:r>
              <a:rPr lang="en-US" altLang="zh-CN" sz="3600" b="1">
                <a:solidFill>
                  <a:srgbClr val="FF0000"/>
                </a:solidFill>
              </a:rPr>
              <a:t>;</a:t>
            </a:r>
            <a:r>
              <a:rPr lang="en-US" altLang="zh-CN" sz="3600" b="1" dirty="0">
                <a:solidFill>
                  <a:srgbClr val="FF0000"/>
                </a:solidFill>
              </a:rPr>
              <a:t> </a:t>
            </a:r>
            <a:r>
              <a:rPr lang="zh-CN" altLang="zh-CN" sz="3600" b="1">
                <a:solidFill>
                  <a:srgbClr val="FF0000"/>
                </a:solidFill>
              </a:rPr>
              <a:t>时尚</a:t>
            </a:r>
            <a:r>
              <a:rPr lang="zh-CN" altLang="zh-CN" sz="3600" b="1" dirty="0">
                <a:solidFill>
                  <a:srgbClr val="FF0000"/>
                </a:solidFill>
              </a:rPr>
              <a:t>的</a:t>
            </a:r>
            <a:r>
              <a:rPr lang="en-US" altLang="zh-CN" sz="3600" b="1" dirty="0">
                <a:solidFill>
                  <a:srgbClr val="FF0000"/>
                </a:solidFill>
              </a:rPr>
              <a:t>30.</a:t>
            </a:r>
            <a:r>
              <a:rPr lang="zh-CN" altLang="en-US" sz="3600" b="1" dirty="0">
                <a:solidFill>
                  <a:srgbClr val="FF0000"/>
                </a:solidFill>
              </a:rPr>
              <a:t>常客 </a:t>
            </a:r>
            <a:r>
              <a:rPr lang="en-US" altLang="zh-CN" sz="3600" b="1" dirty="0">
                <a:solidFill>
                  <a:srgbClr val="FF0000"/>
                </a:solidFill>
              </a:rPr>
              <a:t>31.</a:t>
            </a:r>
            <a:r>
              <a:rPr lang="zh-CN" altLang="en-US" sz="3600" b="1" dirty="0">
                <a:solidFill>
                  <a:srgbClr val="FF0000"/>
                </a:solidFill>
              </a:rPr>
              <a:t>例外 </a:t>
            </a:r>
            <a:r>
              <a:rPr lang="en-US" altLang="zh-CN" sz="3600" b="1" dirty="0">
                <a:solidFill>
                  <a:srgbClr val="FF0000"/>
                </a:solidFill>
              </a:rPr>
              <a:t>32.v.</a:t>
            </a:r>
            <a:r>
              <a:rPr lang="zh-CN" altLang="en-US" sz="3600" b="1" dirty="0">
                <a:solidFill>
                  <a:srgbClr val="FF0000"/>
                </a:solidFill>
              </a:rPr>
              <a:t>出发离开违背</a:t>
            </a:r>
            <a:r>
              <a:rPr lang="en-US" altLang="zh-CN" sz="3600" b="1" dirty="0">
                <a:solidFill>
                  <a:srgbClr val="FF0000"/>
                </a:solidFill>
              </a:rPr>
              <a:t>;_____ n. </a:t>
            </a:r>
            <a:r>
              <a:rPr lang="en-US" altLang="zh-CN" sz="3600" dirty="0"/>
              <a:t>33.</a:t>
            </a:r>
            <a:r>
              <a:rPr lang="zh-CN" altLang="en-US" sz="3600" dirty="0"/>
              <a:t>屈服 </a:t>
            </a:r>
            <a:r>
              <a:rPr lang="en-US" altLang="zh-CN" sz="3600" b="1" dirty="0">
                <a:solidFill>
                  <a:srgbClr val="FF0000"/>
                </a:solidFill>
              </a:rPr>
              <a:t>34.make up</a:t>
            </a:r>
            <a:r>
              <a:rPr lang="zh-CN" altLang="en-US" sz="3600" b="1" dirty="0">
                <a:solidFill>
                  <a:srgbClr val="FF0000"/>
                </a:solidFill>
              </a:rPr>
              <a:t>翻译</a:t>
            </a:r>
            <a:r>
              <a:rPr lang="en-US" altLang="zh-CN" sz="3600" b="1" dirty="0">
                <a:solidFill>
                  <a:srgbClr val="FF0000"/>
                </a:solidFill>
              </a:rPr>
              <a:t>;</a:t>
            </a:r>
            <a:r>
              <a:rPr lang="zh-CN" altLang="en-US" sz="3600" b="1" dirty="0">
                <a:solidFill>
                  <a:srgbClr val="FF0000"/>
                </a:solidFill>
              </a:rPr>
              <a:t> </a:t>
            </a:r>
            <a:r>
              <a:rPr lang="en-US" altLang="zh-CN" sz="3600" b="1" dirty="0">
                <a:solidFill>
                  <a:srgbClr val="FF0000"/>
                </a:solidFill>
              </a:rPr>
              <a:t>check out</a:t>
            </a:r>
            <a:r>
              <a:rPr lang="zh-CN" altLang="en-US" sz="3600" b="1" dirty="0">
                <a:solidFill>
                  <a:srgbClr val="FF0000"/>
                </a:solidFill>
              </a:rPr>
              <a:t>翻译</a:t>
            </a:r>
            <a:r>
              <a:rPr lang="en-US" altLang="zh-CN" sz="3600" b="1" dirty="0">
                <a:solidFill>
                  <a:srgbClr val="FF0000"/>
                </a:solidFill>
              </a:rPr>
              <a:t>;set aside</a:t>
            </a:r>
            <a:r>
              <a:rPr lang="zh-CN" altLang="en-US" sz="3600" b="1" dirty="0">
                <a:solidFill>
                  <a:srgbClr val="FF0000"/>
                </a:solidFill>
              </a:rPr>
              <a:t>翻译</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solidFill>
                  <a:srgbClr val="FF0000"/>
                </a:solidFill>
              </a:rPr>
              <a:t>卷四</a:t>
            </a:r>
            <a:endParaRPr lang="en-US" altLang="zh-CN" sz="3600" b="1" dirty="0">
              <a:solidFill>
                <a:srgbClr val="FF0000"/>
              </a:solidFill>
            </a:endParaRPr>
          </a:p>
          <a:p>
            <a:r>
              <a:rPr lang="en-US" altLang="zh-CN" sz="3600" b="1" dirty="0">
                <a:solidFill>
                  <a:srgbClr val="FF0000"/>
                </a:solidFill>
              </a:rPr>
              <a:t>1.</a:t>
            </a:r>
            <a:r>
              <a:rPr lang="zh-CN" altLang="en-US" sz="3600" b="1" dirty="0">
                <a:solidFill>
                  <a:srgbClr val="FF0000"/>
                </a:solidFill>
              </a:rPr>
              <a:t>活在当下</a:t>
            </a:r>
            <a:r>
              <a:rPr lang="en-US" altLang="zh-CN" sz="3600" b="1" dirty="0">
                <a:solidFill>
                  <a:srgbClr val="FF0000"/>
                </a:solidFill>
              </a:rPr>
              <a:t> 2.</a:t>
            </a:r>
            <a:r>
              <a:rPr lang="zh-CN" altLang="en-US" sz="3600" b="1" dirty="0">
                <a:solidFill>
                  <a:srgbClr val="FF0000"/>
                </a:solidFill>
              </a:rPr>
              <a:t>愤世嫉俗的 </a:t>
            </a:r>
            <a:r>
              <a:rPr lang="en-US" altLang="zh-CN" sz="3600" b="1" dirty="0">
                <a:solidFill>
                  <a:srgbClr val="FF0000"/>
                </a:solidFill>
              </a:rPr>
              <a:t>3.</a:t>
            </a:r>
            <a:r>
              <a:rPr lang="zh-CN" altLang="en-US" sz="3600" b="1" dirty="0">
                <a:solidFill>
                  <a:srgbClr val="FF0000"/>
                </a:solidFill>
              </a:rPr>
              <a:t>远非完美</a:t>
            </a:r>
            <a:r>
              <a:rPr lang="en-US" altLang="zh-CN" sz="3600" b="1" dirty="0">
                <a:solidFill>
                  <a:srgbClr val="FF0000"/>
                </a:solidFill>
              </a:rPr>
              <a:t> 4.__n.</a:t>
            </a:r>
            <a:r>
              <a:rPr lang="zh-CN" altLang="en-US" sz="3600" b="1" dirty="0">
                <a:solidFill>
                  <a:srgbClr val="FF0000"/>
                </a:solidFill>
              </a:rPr>
              <a:t>渴望</a:t>
            </a:r>
            <a:r>
              <a:rPr lang="en-US" altLang="zh-CN" sz="3600" b="1" dirty="0">
                <a:solidFill>
                  <a:srgbClr val="FF0000"/>
                </a:solidFill>
              </a:rPr>
              <a:t>;</a:t>
            </a:r>
            <a:r>
              <a:rPr lang="zh-CN" altLang="en-US" sz="3600" b="1" dirty="0">
                <a:solidFill>
                  <a:srgbClr val="FF0000"/>
                </a:solidFill>
              </a:rPr>
              <a:t> </a:t>
            </a:r>
            <a:r>
              <a:rPr lang="en-US" altLang="zh-CN" sz="3600" b="1" dirty="0">
                <a:solidFill>
                  <a:srgbClr val="FF0000"/>
                </a:solidFill>
              </a:rPr>
              <a:t>__v.</a:t>
            </a:r>
          </a:p>
          <a:p>
            <a:r>
              <a:rPr lang="en-US" altLang="zh-CN" sz="3600" b="1" dirty="0">
                <a:solidFill>
                  <a:srgbClr val="FF0000"/>
                </a:solidFill>
              </a:rPr>
              <a:t>5.n.</a:t>
            </a:r>
            <a:r>
              <a:rPr lang="zh-CN" altLang="en-US" sz="3600" b="1" dirty="0">
                <a:solidFill>
                  <a:srgbClr val="FF0000"/>
                </a:solidFill>
              </a:rPr>
              <a:t>规章制度</a:t>
            </a:r>
            <a:r>
              <a:rPr lang="en-US" altLang="zh-CN" sz="3600" b="1" dirty="0">
                <a:solidFill>
                  <a:srgbClr val="FF0000"/>
                </a:solidFill>
              </a:rPr>
              <a:t>6.</a:t>
            </a:r>
            <a:r>
              <a:rPr lang="zh-CN" altLang="en-US" sz="3600" b="1" dirty="0">
                <a:solidFill>
                  <a:srgbClr val="FF0000"/>
                </a:solidFill>
              </a:rPr>
              <a:t>的障碍</a:t>
            </a:r>
            <a:r>
              <a:rPr lang="en-US" altLang="zh-CN" sz="3600" b="1" dirty="0">
                <a:solidFill>
                  <a:srgbClr val="FF0000"/>
                </a:solidFill>
              </a:rPr>
              <a:t> 7.</a:t>
            </a:r>
            <a:r>
              <a:rPr lang="zh-CN" altLang="en-US" sz="3600" b="1" dirty="0">
                <a:solidFill>
                  <a:srgbClr val="FF0000"/>
                </a:solidFill>
              </a:rPr>
              <a:t>杂货</a:t>
            </a:r>
            <a:r>
              <a:rPr lang="en-US" altLang="zh-CN" sz="3600" b="1" dirty="0">
                <a:solidFill>
                  <a:srgbClr val="FF0000"/>
                </a:solidFill>
              </a:rPr>
              <a:t>/</a:t>
            </a:r>
            <a:r>
              <a:rPr lang="zh-CN" altLang="en-US" sz="3600" b="1" dirty="0">
                <a:solidFill>
                  <a:srgbClr val="FF0000"/>
                </a:solidFill>
              </a:rPr>
              <a:t>食品</a:t>
            </a:r>
            <a:r>
              <a:rPr lang="en-US" altLang="zh-CN" sz="3600" b="1" dirty="0">
                <a:solidFill>
                  <a:srgbClr val="FF0000"/>
                </a:solidFill>
              </a:rPr>
              <a:t>/</a:t>
            </a:r>
            <a:r>
              <a:rPr lang="zh-CN" altLang="en-US" sz="3600" b="1" dirty="0">
                <a:solidFill>
                  <a:srgbClr val="FF0000"/>
                </a:solidFill>
              </a:rPr>
              <a:t>生活用品</a:t>
            </a:r>
            <a:r>
              <a:rPr lang="en-US" altLang="zh-CN" sz="3600" b="1" dirty="0">
                <a:solidFill>
                  <a:srgbClr val="FF0000"/>
                </a:solidFill>
              </a:rPr>
              <a:t>8.</a:t>
            </a:r>
            <a:r>
              <a:rPr lang="zh-CN" altLang="en-US" sz="3600" b="1" dirty="0">
                <a:solidFill>
                  <a:srgbClr val="FF0000"/>
                </a:solidFill>
              </a:rPr>
              <a:t>成分</a:t>
            </a:r>
            <a:r>
              <a:rPr lang="en-US" altLang="zh-CN" sz="3600" b="1" dirty="0">
                <a:solidFill>
                  <a:srgbClr val="FF0000"/>
                </a:solidFill>
              </a:rPr>
              <a:t>;</a:t>
            </a:r>
            <a:r>
              <a:rPr lang="zh-CN" altLang="en-US" sz="3600" b="1" dirty="0">
                <a:solidFill>
                  <a:srgbClr val="FF0000"/>
                </a:solidFill>
              </a:rPr>
              <a:t>因素</a:t>
            </a:r>
            <a:endParaRPr lang="en-US" altLang="zh-CN" sz="3600" b="1" dirty="0">
              <a:solidFill>
                <a:srgbClr val="FF0000"/>
              </a:solidFill>
            </a:endParaRPr>
          </a:p>
          <a:p>
            <a:r>
              <a:rPr lang="en-US" altLang="zh-CN" sz="3600" b="1" dirty="0">
                <a:solidFill>
                  <a:srgbClr val="FF0000"/>
                </a:solidFill>
              </a:rPr>
              <a:t>9.</a:t>
            </a:r>
            <a:r>
              <a:rPr lang="zh-CN" altLang="en-US" sz="3600" b="1" dirty="0">
                <a:solidFill>
                  <a:srgbClr val="FF0000"/>
                </a:solidFill>
              </a:rPr>
              <a:t>大声讲</a:t>
            </a:r>
            <a:r>
              <a:rPr lang="en-US" altLang="zh-CN" sz="3600" b="1" dirty="0">
                <a:solidFill>
                  <a:srgbClr val="FF0000"/>
                </a:solidFill>
              </a:rPr>
              <a:t>10. make out</a:t>
            </a:r>
            <a:r>
              <a:rPr lang="zh-CN" altLang="en-US" sz="3600" b="1" dirty="0">
                <a:solidFill>
                  <a:srgbClr val="FF0000"/>
                </a:solidFill>
              </a:rPr>
              <a:t>翻译 </a:t>
            </a:r>
            <a:r>
              <a:rPr lang="en-US" altLang="zh-CN" sz="3600" b="1" dirty="0">
                <a:solidFill>
                  <a:srgbClr val="FF0000"/>
                </a:solidFill>
              </a:rPr>
              <a:t>11.</a:t>
            </a:r>
            <a:r>
              <a:rPr lang="zh-CN" altLang="en-US" sz="3600" b="1" dirty="0">
                <a:solidFill>
                  <a:srgbClr val="FF0000"/>
                </a:solidFill>
              </a:rPr>
              <a:t>调查</a:t>
            </a:r>
            <a:r>
              <a:rPr lang="en-US" altLang="zh-CN" sz="3600" b="1" dirty="0">
                <a:solidFill>
                  <a:srgbClr val="FF0000"/>
                </a:solidFill>
              </a:rPr>
              <a:t> 12.</a:t>
            </a:r>
            <a:r>
              <a:rPr lang="zh-CN" altLang="en-US" sz="3600" b="1" dirty="0">
                <a:solidFill>
                  <a:srgbClr val="FF0000"/>
                </a:solidFill>
              </a:rPr>
              <a:t>及时</a:t>
            </a:r>
            <a:r>
              <a:rPr lang="en-US" altLang="zh-CN" sz="3600" b="1" dirty="0">
                <a:solidFill>
                  <a:srgbClr val="FF0000"/>
                </a:solidFill>
              </a:rPr>
              <a:t>;</a:t>
            </a:r>
            <a:r>
              <a:rPr lang="zh-CN" altLang="en-US" sz="3600" b="1" dirty="0">
                <a:solidFill>
                  <a:srgbClr val="FF0000"/>
                </a:solidFill>
              </a:rPr>
              <a:t>赶得上 </a:t>
            </a:r>
            <a:endParaRPr lang="en-US" altLang="zh-CN" sz="3600" b="1" dirty="0">
              <a:solidFill>
                <a:srgbClr val="FF0000"/>
              </a:solidFill>
            </a:endParaRPr>
          </a:p>
          <a:p>
            <a:r>
              <a:rPr lang="en-US" altLang="zh-CN" sz="3600" b="1" dirty="0">
                <a:solidFill>
                  <a:srgbClr val="FF0000"/>
                </a:solidFill>
              </a:rPr>
              <a:t>13.</a:t>
            </a:r>
            <a:r>
              <a:rPr lang="zh-CN" altLang="en-US" sz="3600" b="1" dirty="0">
                <a:solidFill>
                  <a:srgbClr val="FF0000"/>
                </a:solidFill>
              </a:rPr>
              <a:t> </a:t>
            </a:r>
            <a:r>
              <a:rPr lang="en-US" altLang="zh-CN" sz="3600" b="1" dirty="0">
                <a:solidFill>
                  <a:srgbClr val="FF0000"/>
                </a:solidFill>
              </a:rPr>
              <a:t>in favor of</a:t>
            </a:r>
            <a:r>
              <a:rPr lang="zh-CN" altLang="en-US" sz="3600" b="1" dirty="0">
                <a:solidFill>
                  <a:srgbClr val="FF0000"/>
                </a:solidFill>
              </a:rPr>
              <a:t>翻译 </a:t>
            </a:r>
            <a:r>
              <a:rPr lang="en-US" altLang="zh-CN" sz="3600" b="1" dirty="0">
                <a:solidFill>
                  <a:srgbClr val="FF0000"/>
                </a:solidFill>
              </a:rPr>
              <a:t>14.</a:t>
            </a:r>
            <a:r>
              <a:rPr lang="zh-CN" altLang="en-US" sz="3600" b="1" dirty="0">
                <a:solidFill>
                  <a:srgbClr val="FF0000"/>
                </a:solidFill>
              </a:rPr>
              <a:t>缺乏</a:t>
            </a:r>
            <a:r>
              <a:rPr lang="en-US" altLang="zh-CN" sz="3600" b="1" dirty="0">
                <a:solidFill>
                  <a:srgbClr val="FF0000"/>
                </a:solidFill>
              </a:rPr>
              <a:t> 15.write(__, __) speak(__, __)</a:t>
            </a:r>
          </a:p>
          <a:p>
            <a:r>
              <a:rPr lang="en-US" altLang="zh-CN" sz="3600" b="1" dirty="0">
                <a:solidFill>
                  <a:srgbClr val="FF0000"/>
                </a:solidFill>
              </a:rPr>
              <a:t> 16.</a:t>
            </a:r>
            <a:r>
              <a:rPr lang="zh-CN" altLang="en-US" sz="3600" b="1" dirty="0">
                <a:solidFill>
                  <a:srgbClr val="FF0000"/>
                </a:solidFill>
              </a:rPr>
              <a:t>基于</a:t>
            </a:r>
            <a:r>
              <a:rPr lang="en-US" altLang="zh-CN" sz="3600" b="1" dirty="0">
                <a:solidFill>
                  <a:srgbClr val="FF0000"/>
                </a:solidFill>
              </a:rPr>
              <a:t> 17. n.</a:t>
            </a:r>
            <a:r>
              <a:rPr lang="zh-CN" altLang="en-US" sz="3600" b="1" dirty="0">
                <a:solidFill>
                  <a:srgbClr val="FF0000"/>
                </a:solidFill>
              </a:rPr>
              <a:t>温暖</a:t>
            </a:r>
            <a:r>
              <a:rPr lang="en-US" altLang="zh-CN" sz="3600" b="1" dirty="0">
                <a:solidFill>
                  <a:srgbClr val="FF0000"/>
                </a:solidFill>
              </a:rPr>
              <a:t>;</a:t>
            </a:r>
            <a:r>
              <a:rPr lang="zh-CN" altLang="en-US" sz="3600" b="1" dirty="0">
                <a:solidFill>
                  <a:srgbClr val="FF0000"/>
                </a:solidFill>
              </a:rPr>
              <a:t>热情友好</a:t>
            </a:r>
            <a:r>
              <a:rPr lang="en-US" altLang="zh-CN" sz="3600" b="1" dirty="0">
                <a:solidFill>
                  <a:srgbClr val="FF0000"/>
                </a:solidFill>
              </a:rPr>
              <a:t> 18.</a:t>
            </a:r>
            <a:r>
              <a:rPr lang="zh-CN" altLang="en-US" sz="3600" b="1" dirty="0">
                <a:solidFill>
                  <a:srgbClr val="FF0000"/>
                </a:solidFill>
              </a:rPr>
              <a:t>密切关注</a:t>
            </a:r>
          </a:p>
          <a:p>
            <a:endParaRPr lang="zh-CN" altLang="en-US" sz="3600" b="1" dirty="0">
              <a:solidFill>
                <a:srgbClr val="FF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u="sng" dirty="0">
                <a:solidFill>
                  <a:srgbClr val="FF0000"/>
                </a:solidFill>
              </a:rPr>
              <a:t>1. </a:t>
            </a:r>
            <a:r>
              <a:rPr lang="zh-CN" altLang="en-US" sz="3600" b="1" dirty="0"/>
              <a:t>他把目光移开</a:t>
            </a:r>
            <a:r>
              <a:rPr lang="en-US" altLang="zh-CN" sz="3600" b="1" dirty="0"/>
              <a:t>,</a:t>
            </a:r>
            <a:r>
              <a:rPr lang="zh-CN" altLang="en-US" sz="3600" b="1" u="sng" dirty="0">
                <a:solidFill>
                  <a:srgbClr val="FF0000"/>
                </a:solidFill>
              </a:rPr>
              <a:t>吞下肿块</a:t>
            </a:r>
            <a:r>
              <a:rPr lang="en-US" altLang="zh-CN" sz="3600" b="1" u="sng" dirty="0">
                <a:solidFill>
                  <a:srgbClr val="FF0000"/>
                </a:solidFill>
              </a:rPr>
              <a:t> </a:t>
            </a:r>
            <a:r>
              <a:rPr lang="en-US" altLang="zh-CN" sz="3600" b="1" dirty="0"/>
              <a:t>2.Ted</a:t>
            </a:r>
            <a:r>
              <a:rPr lang="zh-CN" altLang="en-US" sz="3600" b="1" dirty="0"/>
              <a:t>抬头看着他</a:t>
            </a:r>
            <a:r>
              <a:rPr lang="en-US" altLang="zh-CN" sz="3600" b="1" dirty="0"/>
              <a:t>,</a:t>
            </a:r>
            <a:r>
              <a:rPr lang="zh-CN" altLang="en-US" sz="3600" b="1" dirty="0">
                <a:solidFill>
                  <a:srgbClr val="FF0000"/>
                </a:solidFill>
              </a:rPr>
              <a:t>从父亲的眼中看到了自己的失望</a:t>
            </a:r>
            <a:r>
              <a:rPr lang="en-US" altLang="zh-CN" sz="3600" b="1" dirty="0">
                <a:solidFill>
                  <a:srgbClr val="FF0000"/>
                </a:solidFill>
              </a:rPr>
              <a:t>3.</a:t>
            </a:r>
            <a:r>
              <a:rPr lang="zh-CN" altLang="en-US" sz="3600" b="1" dirty="0"/>
              <a:t>他看着那辆二手自行车</a:t>
            </a:r>
            <a:r>
              <a:rPr lang="en-US" altLang="zh-CN" sz="3600" b="1" dirty="0"/>
              <a:t>,</a:t>
            </a:r>
            <a:r>
              <a:rPr lang="zh-CN" altLang="en-US" sz="3600" b="1" dirty="0"/>
              <a:t>心一沉</a:t>
            </a:r>
            <a:r>
              <a:rPr lang="en-US" altLang="zh-CN" sz="3600" b="1" dirty="0"/>
              <a:t>4.</a:t>
            </a:r>
            <a:r>
              <a:rPr lang="en-US" altLang="zh-CN" sz="3600" b="1" dirty="0">
                <a:solidFill>
                  <a:srgbClr val="FF0000"/>
                </a:solidFill>
              </a:rPr>
              <a:t> </a:t>
            </a:r>
            <a:r>
              <a:rPr lang="zh-CN" altLang="en-US" sz="3600" b="1" dirty="0"/>
              <a:t>他感到一阵失望的情绪涌上心头</a:t>
            </a:r>
            <a:r>
              <a:rPr lang="en-US" altLang="zh-CN" sz="3600" b="1" dirty="0"/>
              <a:t>5.</a:t>
            </a:r>
            <a:r>
              <a:rPr lang="en-US" altLang="zh-CN" sz="3600" b="1" dirty="0">
                <a:solidFill>
                  <a:srgbClr val="FF0000"/>
                </a:solidFill>
              </a:rPr>
              <a:t> </a:t>
            </a:r>
            <a:r>
              <a:rPr lang="zh-CN" altLang="en-US" sz="3600" b="1" dirty="0"/>
              <a:t>一股苦涩的失望情绪涌上他的胸膛，他的喉咙也绷紧了</a:t>
            </a:r>
            <a:r>
              <a:rPr lang="en-US" altLang="zh-CN" sz="3600" b="1" dirty="0">
                <a:solidFill>
                  <a:srgbClr val="FF0000"/>
                </a:solidFill>
              </a:rPr>
              <a:t>6.</a:t>
            </a:r>
            <a:r>
              <a:rPr lang="en-US" altLang="zh-CN" sz="3600" b="1" dirty="0"/>
              <a:t> </a:t>
            </a:r>
            <a:r>
              <a:rPr lang="zh-CN" altLang="en-US" sz="3600" b="1" dirty="0"/>
              <a:t>他意识到自己是多么自私只考虑自己的愿望，而不考虑他们的困难</a:t>
            </a:r>
            <a:r>
              <a:rPr lang="en-US" altLang="zh-CN" sz="3600" b="1" dirty="0">
                <a:solidFill>
                  <a:srgbClr val="FF0000"/>
                </a:solidFill>
              </a:rPr>
              <a:t>7. </a:t>
            </a:r>
            <a:r>
              <a:rPr lang="zh-CN" altLang="en-US" sz="3600" b="1" dirty="0"/>
              <a:t>带着感激的微笑他拥抱父亲</a:t>
            </a:r>
            <a:r>
              <a:rPr lang="en-US" altLang="zh-CN" sz="3600" b="1" dirty="0">
                <a:solidFill>
                  <a:srgbClr val="FF0000"/>
                </a:solidFill>
              </a:rPr>
              <a:t>8.</a:t>
            </a:r>
            <a:r>
              <a:rPr lang="zh-CN" altLang="en-US" sz="3600" b="1" dirty="0"/>
              <a:t>脸上绽开了真诚的笑容</a:t>
            </a:r>
            <a:endParaRPr lang="en-US" altLang="zh-CN" sz="3600" b="1" dirty="0"/>
          </a:p>
          <a:p>
            <a:r>
              <a:rPr lang="en-US" altLang="zh-CN" sz="3600" b="1" dirty="0"/>
              <a:t>1.</a:t>
            </a:r>
            <a:r>
              <a:rPr lang="zh-CN" altLang="en-US" sz="3600" b="1" dirty="0"/>
              <a:t>拥抱美好</a:t>
            </a:r>
            <a:r>
              <a:rPr lang="en-US" altLang="zh-CN" sz="3600" b="1" dirty="0"/>
              <a:t> 2.</a:t>
            </a:r>
            <a:r>
              <a:rPr lang="zh-CN" altLang="en-US" sz="3600" b="1" dirty="0"/>
              <a:t>亲爱的同学们</a:t>
            </a:r>
            <a:endParaRPr lang="en-US" altLang="zh-CN" sz="3600" b="1" dirty="0"/>
          </a:p>
          <a:p>
            <a:r>
              <a:rPr lang="en-US" altLang="zh-CN" sz="3600" b="1" dirty="0"/>
              <a:t>3.</a:t>
            </a:r>
            <a:r>
              <a:rPr lang="zh-CN" altLang="en-US" sz="3600" b="1" dirty="0"/>
              <a:t>为了给我们的校园生活增添更多色彩，并响应美育倡议，学生会非常高兴地推出即将举行的“艺术周”活动。</a:t>
            </a:r>
            <a:endParaRPr lang="en-US" altLang="zh-CN" sz="3600" b="1" dirty="0"/>
          </a:p>
          <a:p>
            <a:r>
              <a:rPr lang="en-US" altLang="zh-CN" sz="3600" b="1" dirty="0"/>
              <a:t>4.</a:t>
            </a:r>
            <a:r>
              <a:rPr lang="zh-CN" altLang="en-US" sz="3600" b="1" dirty="0"/>
              <a:t>一系列精彩活动正等待着您：</a:t>
            </a:r>
            <a:endParaRPr lang="en-US" altLang="zh-CN" sz="3600" b="1" dirty="0"/>
          </a:p>
          <a:p>
            <a:r>
              <a:rPr lang="en-US" altLang="zh-CN" sz="3600" b="1" dirty="0"/>
              <a:t>5.</a:t>
            </a:r>
            <a:r>
              <a:rPr lang="zh-CN" altLang="en-US" sz="3600" b="1" dirty="0"/>
              <a:t>艺术不仅能悦目，还能塑造心灵。让我们携手共进，共同创造一个充满创造力和欢乐的周。您的参与是使这次活动取得辉煌成功的关键</a:t>
            </a:r>
            <a:r>
              <a:rPr lang="zh-CN" altLang="en-US" sz="3600" b="1" dirty="0">
                <a:solidFill>
                  <a:srgbClr val="FF0000"/>
                </a:solidFill>
              </a:rPr>
              <a:t>。</a:t>
            </a:r>
          </a:p>
          <a:p>
            <a:endParaRPr lang="zh-CN" altLang="en-US" sz="3600" b="1" dirty="0">
              <a:solidFill>
                <a:srgbClr val="FF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just"/>
            <a:r>
              <a:rPr lang="en-US" altLang="zh-CN" sz="3600" b="1" u="sng" dirty="0"/>
              <a:t>Luckily,</a:t>
            </a:r>
            <a:r>
              <a:rPr lang="en-US" altLang="zh-CN" sz="3600" b="1" dirty="0"/>
              <a:t>_</a:t>
            </a:r>
            <a:r>
              <a:rPr lang="en-US" altLang="zh-CN" sz="3600" b="1" u="sng" dirty="0" err="1"/>
              <a:t>he</a:t>
            </a:r>
            <a:r>
              <a:rPr lang="en-US" altLang="zh-CN" sz="3600" b="1" dirty="0" err="1"/>
              <a:t>_</a:t>
            </a:r>
            <a:r>
              <a:rPr lang="en-US" altLang="zh-CN" sz="3600" b="1" u="sng" dirty="0" err="1"/>
              <a:t>had</a:t>
            </a:r>
            <a:r>
              <a:rPr lang="en-US" altLang="zh-CN" sz="3600" b="1" dirty="0" err="1"/>
              <a:t>_</a:t>
            </a:r>
            <a:r>
              <a:rPr lang="en-US" altLang="zh-CN" sz="3600" b="1" u="sng" dirty="0" err="1"/>
              <a:t>a</a:t>
            </a:r>
            <a:r>
              <a:rPr lang="en-US" altLang="zh-CN" sz="3600" b="1" dirty="0" err="1"/>
              <a:t>_</a:t>
            </a:r>
            <a:r>
              <a:rPr lang="en-US" altLang="zh-CN" sz="3600" b="1" u="sng" dirty="0" err="1"/>
              <a:t>first­aid</a:t>
            </a:r>
            <a:r>
              <a:rPr lang="en-US" altLang="zh-CN" sz="3600" b="1" dirty="0" err="1"/>
              <a:t>_</a:t>
            </a:r>
            <a:r>
              <a:rPr lang="en-US" altLang="zh-CN" sz="3600" b="1" u="sng" dirty="0" err="1"/>
              <a:t>kit</a:t>
            </a:r>
            <a:r>
              <a:rPr lang="en-US" altLang="zh-CN" sz="3600" b="1" dirty="0" err="1"/>
              <a:t>_</a:t>
            </a:r>
            <a:r>
              <a:rPr lang="en-US" altLang="zh-CN" sz="3600" b="1" u="sng" dirty="0" err="1"/>
              <a:t>in</a:t>
            </a:r>
            <a:r>
              <a:rPr lang="en-US" altLang="zh-CN" sz="3600" b="1" dirty="0" err="1"/>
              <a:t>_</a:t>
            </a:r>
            <a:r>
              <a:rPr lang="en-US" altLang="zh-CN" sz="3600" b="1" u="sng" dirty="0" err="1"/>
              <a:t>the</a:t>
            </a:r>
            <a:r>
              <a:rPr lang="en-US" altLang="zh-CN" sz="3600" b="1" dirty="0" err="1"/>
              <a:t>_</a:t>
            </a:r>
            <a:r>
              <a:rPr lang="en-US" altLang="zh-CN" sz="3600" b="1" u="sng" dirty="0" err="1"/>
              <a:t>car</a:t>
            </a:r>
            <a:r>
              <a:rPr lang="en-US" altLang="zh-CN" sz="3600" b="1" u="sng" dirty="0"/>
              <a:t>.</a:t>
            </a:r>
            <a:r>
              <a:rPr lang="en-US" altLang="zh-CN" sz="3600" b="1" dirty="0"/>
              <a:t> Immediately, he took out a bandage from the kit, and tied it lightly around the wound. Slowly, he got the disabled into the back seat of the car, while the younger brother sat beside to take care of him. Then the manager folded the wheelchair and put it into the trunk. Starting the car quickly again(</a:t>
            </a:r>
            <a:r>
              <a:rPr lang="zh-CN" altLang="zh-CN" sz="3600" b="1" dirty="0"/>
              <a:t>现在分词做状语</a:t>
            </a:r>
            <a:r>
              <a:rPr lang="en-US" altLang="zh-CN" sz="3600" b="1" dirty="0"/>
              <a:t>), he rushed toward the nearest hospital. On the way, he handed his smart phone to the younger brother to call their parents, and constantly comforted the two brothers to take it easy.</a:t>
            </a:r>
            <a:endParaRPr lang="zh-CN" altLang="zh-CN" sz="3600" b="1"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algn="just"/>
            <a:r>
              <a:rPr lang="en-US" altLang="zh-CN" sz="3600" b="1" u="sng" dirty="0"/>
              <a:t>In</a:t>
            </a:r>
            <a:r>
              <a:rPr lang="en-US" altLang="zh-CN" sz="3600" b="1" dirty="0"/>
              <a:t>_</a:t>
            </a:r>
            <a:r>
              <a:rPr lang="en-US" altLang="zh-CN" sz="3600" b="1" u="sng" dirty="0"/>
              <a:t>fifteen</a:t>
            </a:r>
            <a:r>
              <a:rPr lang="en-US" altLang="zh-CN" sz="3600" b="1" dirty="0"/>
              <a:t>_</a:t>
            </a:r>
            <a:r>
              <a:rPr lang="en-US" altLang="zh-CN" sz="3600" b="1" u="sng" dirty="0"/>
              <a:t>minutes,</a:t>
            </a:r>
            <a:r>
              <a:rPr lang="en-US" altLang="zh-CN" sz="3600" b="1" dirty="0"/>
              <a:t>_</a:t>
            </a:r>
            <a:r>
              <a:rPr lang="en-US" altLang="zh-CN" sz="3600" b="1" u="sng" dirty="0" err="1"/>
              <a:t>they</a:t>
            </a:r>
            <a:r>
              <a:rPr lang="en-US" altLang="zh-CN" sz="3600" b="1" dirty="0" err="1"/>
              <a:t>_</a:t>
            </a:r>
            <a:r>
              <a:rPr lang="en-US" altLang="zh-CN" sz="3600" b="1" u="sng" dirty="0" err="1"/>
              <a:t>arrived</a:t>
            </a:r>
            <a:r>
              <a:rPr lang="en-US" altLang="zh-CN" sz="3600" b="1" dirty="0" err="1"/>
              <a:t>_</a:t>
            </a:r>
            <a:r>
              <a:rPr lang="en-US" altLang="zh-CN" sz="3600" b="1" u="sng" dirty="0" err="1"/>
              <a:t>at</a:t>
            </a:r>
            <a:r>
              <a:rPr lang="en-US" altLang="zh-CN" sz="3600" b="1" dirty="0" err="1"/>
              <a:t>_</a:t>
            </a:r>
            <a:r>
              <a:rPr lang="en-US" altLang="zh-CN" sz="3600" b="1" u="sng" dirty="0" err="1"/>
              <a:t>the</a:t>
            </a:r>
            <a:r>
              <a:rPr lang="en-US" altLang="zh-CN" sz="3600" b="1" dirty="0" err="1"/>
              <a:t>_</a:t>
            </a:r>
            <a:r>
              <a:rPr lang="en-US" altLang="zh-CN" sz="3600" b="1" u="sng" dirty="0" err="1"/>
              <a:t>nearest</a:t>
            </a:r>
            <a:r>
              <a:rPr lang="en-US" altLang="zh-CN" sz="3600" b="1" dirty="0" err="1"/>
              <a:t>_</a:t>
            </a:r>
            <a:r>
              <a:rPr lang="en-US" altLang="zh-CN" sz="3600" b="1" u="sng" dirty="0" err="1"/>
              <a:t>hospital</a:t>
            </a:r>
            <a:r>
              <a:rPr lang="en-US" altLang="zh-CN" sz="3600" b="1" u="sng" dirty="0"/>
              <a:t>.</a:t>
            </a:r>
            <a:r>
              <a:rPr lang="en-US" altLang="zh-CN" sz="3600" b="1" dirty="0"/>
              <a:t> The manager got the wheelchair out, lifted the disabled into it and hurriedly pushed him to the emergency center. When giving the injured boy to the medical workers(when</a:t>
            </a:r>
            <a:r>
              <a:rPr lang="zh-CN" altLang="zh-CN" sz="3600" b="1" dirty="0"/>
              <a:t>引导的时间状语从句的省略</a:t>
            </a:r>
            <a:r>
              <a:rPr lang="en-US" altLang="zh-CN" sz="3600" b="1" dirty="0"/>
              <a:t>), he got released. At this time, the younger boy and his parents came to him and gave him heartfelt thanks. Finally, he drove his car to work, with the side door still dented(with</a:t>
            </a:r>
            <a:r>
              <a:rPr lang="zh-CN" altLang="zh-CN" sz="3600" b="1" dirty="0"/>
              <a:t>的复合结构</a:t>
            </a:r>
            <a:r>
              <a:rPr lang="en-US" altLang="zh-CN" sz="3600" b="1" dirty="0"/>
              <a:t>).</a:t>
            </a:r>
            <a:endParaRPr lang="zh-CN" altLang="zh-CN" sz="3600" b="1" dirty="0"/>
          </a:p>
          <a:p>
            <a:pPr algn="just"/>
            <a:endParaRPr lang="zh-CN" altLang="en-US" sz="3600" b="1" dirty="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just">
              <a:lnSpc>
                <a:spcPct val="80000"/>
              </a:lnSpc>
            </a:pPr>
            <a:r>
              <a:rPr 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U3 </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单词后半</a:t>
            </a:r>
            <a:endParaRPr 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algn="just">
              <a:lnSpc>
                <a:spcPct val="80000"/>
              </a:lnSpc>
            </a:pPr>
            <a:r>
              <a:rPr kumimoji="1" 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kumimoji="1" lang="en-US" altLang="zh-CN" sz="3200" b="1" dirty="0">
                <a:solidFill>
                  <a:srgbClr val="FF0000"/>
                </a:solidFill>
                <a:sym typeface="+mn-ea"/>
              </a:rPr>
              <a:t>.</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使某人</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物相形见绌</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在阴凉处</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kumimoji="1" lang="zh-CN" altLang="en-US" sz="3200" b="1" dirty="0">
                <a:solidFill>
                  <a:srgbClr val="FF0000"/>
                </a:solidFill>
                <a:sym typeface="+mn-ea"/>
              </a:rPr>
              <a:t>收获庄稼 </a:t>
            </a:r>
            <a:r>
              <a:rPr kumimoji="1" lang="en-US" altLang="zh-CN" sz="3200" b="1" dirty="0">
                <a:solidFill>
                  <a:srgbClr val="FF0000"/>
                </a:solidFill>
                <a:sym typeface="+mn-ea"/>
              </a:rPr>
              <a:t>3.</a:t>
            </a:r>
            <a:r>
              <a:rPr lang="zh-CN"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蜿蜒的小路</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蜿蜒穿过</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wind </a:t>
            </a:r>
            <a:r>
              <a:rPr lang="en-US" altLang="zh-CN" sz="3200" b="1" kern="1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sth</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up</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翻译</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个</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);wind(__,__)4.</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洞悉某事</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有见解的 </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5</a:t>
            </a:r>
            <a:r>
              <a:rPr lang="en-US"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kumimoji="1" lang="zh-CN" altLang="en-US" sz="3200" b="1" dirty="0">
                <a:solidFill>
                  <a:srgbClr val="FF0000"/>
                </a:solidFill>
                <a:sym typeface="+mn-ea"/>
              </a:rPr>
              <a:t>拜访</a:t>
            </a:r>
            <a:r>
              <a:rPr kumimoji="1" lang="en-US" altLang="zh-CN" sz="3200" b="1" dirty="0">
                <a:solidFill>
                  <a:srgbClr val="FF0000"/>
                </a:solidFill>
                <a:sym typeface="+mn-ea"/>
              </a:rPr>
              <a:t>;</a:t>
            </a:r>
            <a:r>
              <a:rPr kumimoji="1" lang="zh-CN" altLang="en-US" sz="3200" b="1" dirty="0">
                <a:solidFill>
                  <a:srgbClr val="FF0000"/>
                </a:solidFill>
                <a:sym typeface="+mn-ea"/>
              </a:rPr>
              <a:t>取消</a:t>
            </a:r>
            <a:r>
              <a:rPr kumimoji="1" lang="en-US" altLang="zh-CN" sz="3200" b="1" dirty="0">
                <a:solidFill>
                  <a:srgbClr val="FF0000"/>
                </a:solidFill>
                <a:sym typeface="+mn-ea"/>
              </a:rPr>
              <a:t>;</a:t>
            </a:r>
            <a:r>
              <a:rPr kumimoji="1" lang="zh-CN" altLang="en-US" sz="3200" b="1" dirty="0">
                <a:solidFill>
                  <a:srgbClr val="FF0000"/>
                </a:solidFill>
                <a:sym typeface="+mn-ea"/>
              </a:rPr>
              <a:t>推迟</a:t>
            </a:r>
            <a:r>
              <a:rPr kumimoji="1" lang="en-US" altLang="zh-CN" sz="3200" b="1" dirty="0">
                <a:solidFill>
                  <a:srgbClr val="FF0000"/>
                </a:solidFill>
                <a:sym typeface="+mn-ea"/>
              </a:rPr>
              <a:t>6.</a:t>
            </a:r>
            <a:r>
              <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启航去</a:t>
            </a:r>
            <a:r>
              <a:rPr lang="en-US"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;__n.</a:t>
            </a:r>
            <a:r>
              <a:rPr lang="zh-CN" altLang="zh-CN" sz="3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航行</a:t>
            </a:r>
            <a:r>
              <a:rPr lang="en-US" altLang="zh-CN" sz="3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en-US" sz="3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__</a:t>
            </a:r>
            <a:r>
              <a:rPr lang="en-US" altLang="zh-CN" sz="32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zh-CN" sz="3200" b="1" dirty="0">
                <a:effectLst/>
                <a:latin typeface="Times New Roman" panose="02020603050405020304" pitchFamily="18" charset="0"/>
                <a:ea typeface="宋体" panose="02010600030101010101" pitchFamily="2" charset="-122"/>
                <a:cs typeface="Times New Roman" panose="02020603050405020304" pitchFamily="18" charset="0"/>
                <a:sym typeface="+mn-ea"/>
              </a:rPr>
              <a:t>水手</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7</a:t>
            </a:r>
            <a:r>
              <a:rPr lang="en-US" altLang="zh-CN" sz="3200" b="1" dirty="0">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士兵和平民</a:t>
            </a:r>
            <a:r>
              <a:rPr lang="en-US" sz="3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过平民生活</a:t>
            </a:r>
            <a:r>
              <a:rPr lang="en-US"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公民权</a:t>
            </a:r>
            <a:r>
              <a:rPr lang="en-US"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文明</a:t>
            </a:r>
            <a:r>
              <a:rPr lang="zh-CN" altLang="en-US"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举止</a:t>
            </a:r>
            <a:r>
              <a:rPr lang="en-US"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;__</a:t>
            </a:r>
            <a:r>
              <a:rPr lang="en-US" altLang="zh-CN" sz="32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n. </a:t>
            </a:r>
            <a:r>
              <a:rPr lang="zh-CN" altLang="zh-CN" sz="3200" b="1" dirty="0">
                <a:effectLst/>
                <a:latin typeface="Times New Roman" panose="02020603050405020304" pitchFamily="18" charset="0"/>
                <a:ea typeface="宋体" panose="02010600030101010101" pitchFamily="2" charset="-122"/>
                <a:cs typeface="Times New Roman" panose="02020603050405020304" pitchFamily="18" charset="0"/>
                <a:sym typeface="+mn-ea"/>
              </a:rPr>
              <a:t>文明</a:t>
            </a:r>
            <a:endPar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8.</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来自各行各业</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9.</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在肉店</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10.</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忙于做某事</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300" b="1" kern="1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违背自然;参加爱好;四处奔走;全力以赴做某事;go</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off</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译</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;go through</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译</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;go around</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译</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11.</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明显是</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;adv.</a:t>
            </a:r>
            <a:r>
              <a:rPr lang="zh-CN"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显然</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12.</a:t>
            </a:r>
            <a:r>
              <a:rPr kumimoji="1" lang="zh-CN" altLang="en-US" sz="3300" b="1" dirty="0">
                <a:solidFill>
                  <a:srgbClr val="FF0000"/>
                </a:solidFill>
                <a:sym typeface="+mn-ea"/>
              </a:rPr>
              <a:t>用墨水写</a:t>
            </a:r>
            <a:r>
              <a:rPr kumimoji="1" lang="en-US" altLang="zh-CN" sz="3300" b="1" dirty="0">
                <a:solidFill>
                  <a:srgbClr val="FF0000"/>
                </a:solidFill>
                <a:sym typeface="+mn-ea"/>
              </a:rPr>
              <a:t>13.</a:t>
            </a:r>
            <a:r>
              <a:rPr kumimoji="1" lang="zh-CN" altLang="en-US" sz="3300" b="1" dirty="0">
                <a:solidFill>
                  <a:srgbClr val="FF0000"/>
                </a:solidFill>
                <a:sym typeface="+mn-ea"/>
              </a:rPr>
              <a:t>从某人的观点看来</a:t>
            </a:r>
            <a:r>
              <a:rPr kumimoji="1" lang="en-US" altLang="zh-CN" sz="3300" b="1" dirty="0">
                <a:solidFill>
                  <a:srgbClr val="FF0000"/>
                </a:solidFill>
                <a:sym typeface="+mn-ea"/>
              </a:rPr>
              <a:t>;</a:t>
            </a:r>
            <a:r>
              <a:rPr kumimoji="1" lang="zh-CN" altLang="en-US" sz="3300" b="1" dirty="0">
                <a:solidFill>
                  <a:srgbClr val="FF0000"/>
                </a:solidFill>
                <a:sym typeface="+mn-ea"/>
              </a:rPr>
              <a:t>正确处理某事</a:t>
            </a:r>
            <a:r>
              <a:rPr kumimoji="1" lang="en-US" altLang="zh-CN" sz="3300" b="1" dirty="0">
                <a:solidFill>
                  <a:srgbClr val="FF0000"/>
                </a:solidFill>
                <a:sym typeface="+mn-ea"/>
              </a:rPr>
              <a:t> 14.确切地说;</a:t>
            </a:r>
            <a:r>
              <a:rPr kumimoji="1" lang="zh-CN" altLang="en-US" sz="3300" b="1" dirty="0">
                <a:solidFill>
                  <a:srgbClr val="FF0000"/>
                </a:solidFill>
                <a:sym typeface="+mn-ea"/>
              </a:rPr>
              <a:t>准确地</a:t>
            </a:r>
            <a:r>
              <a:rPr kumimoji="1" lang="en-US" altLang="zh-CN" sz="3300" b="1" dirty="0">
                <a:solidFill>
                  <a:srgbClr val="FF0000"/>
                </a:solidFill>
                <a:sym typeface="+mn-ea"/>
              </a:rPr>
              <a:t> 15.</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有做某事的雄心壮志</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实现某人的抱负</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16.</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adj.</a:t>
            </a:r>
            <a:r>
              <a:rPr lang="zh-CN" altLang="en-US" sz="3300" b="1" dirty="0">
                <a:latin typeface="Times New Roman" panose="02020603050405020304" pitchFamily="18" charset="0"/>
                <a:ea typeface="宋体" panose="02010600030101010101" pitchFamily="2" charset="-122"/>
                <a:cs typeface="Times New Roman" panose="02020603050405020304" pitchFamily="18" charset="0"/>
                <a:sym typeface="+mn-ea"/>
              </a:rPr>
              <a:t>庞大的</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dv.</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极其非常</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17.</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全面详尽的</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;v.</a:t>
            </a:r>
            <a:r>
              <a:rPr lang="zh-CN" altLang="en-US"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理解</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不可理解的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18.</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一件衣服</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19.</a:t>
            </a:r>
            <a:r>
              <a:rPr kumimoji="1" lang="zh-CN" altLang="en-US" sz="3300" b="1" dirty="0">
                <a:solidFill>
                  <a:srgbClr val="FF0000"/>
                </a:solidFill>
                <a:sym typeface="+mn-ea"/>
              </a:rPr>
              <a:t>社会结构</a:t>
            </a:r>
            <a:r>
              <a:rPr kumimoji="1" lang="en-US" altLang="zh-CN" sz="3300" b="1" dirty="0">
                <a:solidFill>
                  <a:srgbClr val="FF0000"/>
                </a:solidFill>
                <a:sym typeface="+mn-ea"/>
              </a:rPr>
              <a:t>;</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adj.</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建筑结构的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20.</a:t>
            </a:r>
            <a:r>
              <a:rPr kumimoji="1" lang="en-US" altLang="zh-CN" sz="3300" b="1" dirty="0">
                <a:solidFill>
                  <a:srgbClr val="FF0000"/>
                </a:solidFill>
                <a:sym typeface="+mn-ea"/>
              </a:rPr>
              <a:t>adj.</a:t>
            </a:r>
            <a:r>
              <a:rPr kumimoji="1" lang="zh-CN" altLang="en-US" sz="3300" b="1" dirty="0">
                <a:solidFill>
                  <a:srgbClr val="FF0000"/>
                </a:solidFill>
                <a:sym typeface="+mn-ea"/>
              </a:rPr>
              <a:t>总体的</a:t>
            </a:r>
            <a:r>
              <a:rPr kumimoji="1" lang="en-US" altLang="zh-CN" sz="3300" b="1" dirty="0">
                <a:solidFill>
                  <a:srgbClr val="FF0000"/>
                </a:solidFill>
                <a:sym typeface="+mn-ea"/>
              </a:rPr>
              <a:t> 21.</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至关重要</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极为重要</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批评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指责</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批判性思维</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批评家</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v.</a:t>
            </a:r>
            <a:r>
              <a:rPr lang="zh-CN"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批评</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adv.</a:t>
            </a:r>
            <a:r>
              <a:rPr lang="zh-CN" altLang="en-US" sz="3300" b="1" dirty="0">
                <a:latin typeface="Times New Roman" panose="02020603050405020304" pitchFamily="18" charset="0"/>
                <a:ea typeface="宋体" panose="02010600030101010101" pitchFamily="2" charset="-122"/>
                <a:cs typeface="Times New Roman" panose="02020603050405020304" pitchFamily="18" charset="0"/>
                <a:sym typeface="+mn-ea"/>
              </a:rPr>
              <a:t>批判性地</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22.</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进行</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调查</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进一步检查</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检察员</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23.</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使某人接触某事</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置身于</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24.adj.</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政治的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;adv.</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政治上</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政治家</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政治</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25.</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处于危机之中</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感情危机</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金融危机</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pl. 26.</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在衰退中</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下降了</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至</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方面减少</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拒绝做某事</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婉拒</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27.</a:t>
            </a:r>
            <a:r>
              <a:rPr lang="zh-CN"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推翻</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(__,__)</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28.</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归因于</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29.</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大规模地</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30.</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凭本人的资格</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有权做某事</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人权</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版权所有</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31.</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adj.</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杰出的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;adv.</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特别地</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32.</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展览</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举办</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组织艺术展</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33</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充分表明</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34.(</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某人</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做某事难得</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写一个部分倒装句</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35.</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历史性</a:t>
            </a:r>
            <a:r>
              <a:rPr lang="zh-CN"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事件</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历史</a:t>
            </a:r>
            <a:r>
              <a:rPr lang="zh-CN"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电影</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载入史册</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历史学家</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36.</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事业</a:t>
            </a:r>
            <a:endParaRPr lang="zh-CN" altLang="en-US" sz="3300" b="1" dirty="0">
              <a:solidFill>
                <a:srgbClr val="FF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en-US" altLang="zh-CN" sz="3600" b="1" dirty="0"/>
              <a:t>P29-38 1.</a:t>
            </a:r>
            <a:r>
              <a:rPr lang="zh-CN" altLang="en-US" sz="3600" b="1" dirty="0"/>
              <a:t>游记 </a:t>
            </a:r>
            <a:r>
              <a:rPr lang="en-US" altLang="zh-CN" sz="3600" b="1" dirty="0"/>
              <a:t>2.</a:t>
            </a:r>
            <a:r>
              <a:rPr lang="zh-CN" altLang="en-US" sz="3600" b="1" dirty="0"/>
              <a:t>一次有益的经历 </a:t>
            </a:r>
            <a:r>
              <a:rPr lang="en-US" altLang="zh-CN" sz="3600" b="1" dirty="0"/>
              <a:t>3.</a:t>
            </a:r>
            <a:r>
              <a:rPr lang="zh-CN" altLang="en-US" sz="3600" b="1" dirty="0"/>
              <a:t>安置坐落在</a:t>
            </a:r>
            <a:r>
              <a:rPr lang="en-US" altLang="zh-CN" sz="3600" b="1" dirty="0"/>
              <a:t>4.</a:t>
            </a:r>
            <a:r>
              <a:rPr lang="zh-CN" altLang="en-US" sz="3600" b="1" dirty="0"/>
              <a:t>漫步于</a:t>
            </a:r>
            <a:r>
              <a:rPr lang="en-US" altLang="zh-CN" sz="3600" b="1" dirty="0"/>
              <a:t>5.</a:t>
            </a:r>
            <a:r>
              <a:rPr lang="zh-CN" altLang="en-US" sz="3600" b="1" dirty="0"/>
              <a:t>注视见到 </a:t>
            </a:r>
            <a:r>
              <a:rPr lang="en-US" altLang="zh-CN" sz="3600" b="1" dirty="0"/>
              <a:t>6.</a:t>
            </a:r>
            <a:r>
              <a:rPr lang="zh-CN" altLang="en-US" sz="3600" b="1" dirty="0"/>
              <a:t>挑选出 </a:t>
            </a:r>
            <a:r>
              <a:rPr lang="en-US" altLang="zh-CN" sz="3600" b="1" dirty="0"/>
              <a:t>7.</a:t>
            </a:r>
            <a:r>
              <a:rPr lang="zh-CN" altLang="en-US" sz="3600" b="1" dirty="0"/>
              <a:t>留下了最深的印象</a:t>
            </a:r>
            <a:r>
              <a:rPr lang="en-US" altLang="zh-CN" sz="3600" b="1" dirty="0"/>
              <a:t> 8.</a:t>
            </a:r>
            <a:r>
              <a:rPr lang="zh-CN" altLang="en-US" sz="3600" b="1" dirty="0"/>
              <a:t>深受大自然的启发 </a:t>
            </a:r>
            <a:r>
              <a:rPr lang="en-US" altLang="zh-CN" sz="3600" b="1" dirty="0"/>
              <a:t>9.</a:t>
            </a:r>
            <a:r>
              <a:rPr lang="zh-CN" altLang="en-US" sz="3600" b="1" dirty="0"/>
              <a:t>在他生命的最后三十年 </a:t>
            </a:r>
            <a:r>
              <a:rPr lang="en-US" altLang="zh-CN" sz="3600" b="1" dirty="0"/>
              <a:t>10.</a:t>
            </a:r>
            <a:r>
              <a:rPr lang="zh-CN" altLang="en-US" sz="3600" b="1" dirty="0"/>
              <a:t>端详了好一阵子 </a:t>
            </a:r>
            <a:r>
              <a:rPr lang="en-US" altLang="zh-CN" sz="3600" b="1" dirty="0"/>
              <a:t>11.</a:t>
            </a:r>
            <a:r>
              <a:rPr lang="zh-CN" altLang="en-US" sz="3600" b="1" dirty="0"/>
              <a:t>令人赞叹的是</a:t>
            </a:r>
            <a:r>
              <a:rPr lang="en-US" altLang="zh-CN" sz="3600" b="1" dirty="0"/>
              <a:t>12.</a:t>
            </a:r>
            <a:r>
              <a:rPr lang="zh-CN" altLang="en-US" sz="3600" b="1" dirty="0"/>
              <a:t>以独特的方式让它的美跃然于画布之上</a:t>
            </a:r>
            <a:r>
              <a:rPr lang="en-US" altLang="zh-CN" sz="3600" b="1" dirty="0"/>
              <a:t>13.</a:t>
            </a:r>
            <a:r>
              <a:rPr lang="zh-CN" altLang="en-US" sz="3600" b="1" dirty="0"/>
              <a:t>更喜欢做</a:t>
            </a:r>
            <a:r>
              <a:rPr lang="en-US" altLang="zh-CN" sz="3600" b="1" dirty="0"/>
              <a:t>…</a:t>
            </a:r>
            <a:r>
              <a:rPr lang="zh-CN" altLang="en-US" sz="3600" b="1" dirty="0"/>
              <a:t>而不是</a:t>
            </a:r>
            <a:r>
              <a:rPr lang="en-US" altLang="zh-CN" sz="3600" b="1" dirty="0"/>
              <a:t>…(2</a:t>
            </a:r>
            <a:r>
              <a:rPr lang="zh-CN" altLang="en-US" sz="3600" b="1" dirty="0"/>
              <a:t>个</a:t>
            </a:r>
            <a:r>
              <a:rPr lang="en-US" altLang="zh-CN" sz="3600" b="1" dirty="0"/>
              <a:t>)14.</a:t>
            </a:r>
            <a:r>
              <a:rPr lang="zh-CN" altLang="en-US" sz="3600" b="1" dirty="0"/>
              <a:t>一处热闹街区</a:t>
            </a:r>
            <a:r>
              <a:rPr lang="en-US" altLang="zh-CN" sz="3600" b="1" dirty="0"/>
              <a:t>15.</a:t>
            </a:r>
            <a:r>
              <a:rPr lang="zh-CN" altLang="en-US" sz="3600" b="1" dirty="0"/>
              <a:t>近距离</a:t>
            </a:r>
            <a:r>
              <a:rPr lang="en-US" altLang="zh-CN" sz="3600" b="1" dirty="0"/>
              <a:t>16.</a:t>
            </a:r>
            <a:r>
              <a:rPr lang="zh-CN" altLang="en-US" sz="3600" b="1" dirty="0"/>
              <a:t>令我大为震撼</a:t>
            </a:r>
            <a:r>
              <a:rPr lang="en-US" altLang="zh-CN" sz="3600" b="1" dirty="0"/>
              <a:t>17.</a:t>
            </a:r>
            <a:r>
              <a:rPr lang="zh-CN" altLang="en-US" sz="3600" b="1" dirty="0"/>
              <a:t>志趣相投的艺术家</a:t>
            </a:r>
            <a:r>
              <a:rPr lang="en-US" altLang="zh-CN" sz="3600" b="1" dirty="0"/>
              <a:t>18.</a:t>
            </a:r>
            <a:r>
              <a:rPr lang="zh-CN" altLang="en-US" sz="3600" b="1" dirty="0"/>
              <a:t>力求从</a:t>
            </a:r>
            <a:r>
              <a:rPr lang="en-US" altLang="zh-CN" sz="3600" b="1" dirty="0"/>
              <a:t>…</a:t>
            </a:r>
            <a:r>
              <a:rPr lang="zh-CN" altLang="en-US" sz="3600" b="1" dirty="0"/>
              <a:t>的束缚中挣脱出来</a:t>
            </a:r>
            <a:r>
              <a:rPr lang="en-US" altLang="zh-CN" sz="3600" b="1" dirty="0"/>
              <a:t>19.</a:t>
            </a:r>
            <a:r>
              <a:rPr lang="zh-CN" altLang="en-US" sz="3600" b="1" dirty="0"/>
              <a:t>与</a:t>
            </a:r>
            <a:r>
              <a:rPr lang="en-US" altLang="zh-CN" sz="3600" b="1" dirty="0"/>
              <a:t>…</a:t>
            </a:r>
            <a:r>
              <a:rPr lang="zh-CN" altLang="en-US" sz="3600" b="1" dirty="0"/>
              <a:t>不同 </a:t>
            </a:r>
            <a:r>
              <a:rPr lang="en-US" altLang="zh-CN" sz="3600" b="1" dirty="0"/>
              <a:t>20.</a:t>
            </a:r>
            <a:r>
              <a:rPr lang="zh-CN" altLang="en-US" sz="3600" b="1" dirty="0"/>
              <a:t>运用自由的笔法</a:t>
            </a:r>
            <a:r>
              <a:rPr lang="en-US" altLang="zh-CN" sz="3600" b="1" dirty="0"/>
              <a:t>21.…</a:t>
            </a:r>
            <a:r>
              <a:rPr lang="zh-CN" altLang="en-US" sz="3600" b="1" dirty="0"/>
              <a:t>的精髓</a:t>
            </a:r>
            <a:r>
              <a:rPr lang="en-US" altLang="zh-CN" sz="3600" b="1" dirty="0"/>
              <a:t>22.</a:t>
            </a:r>
            <a:r>
              <a:rPr lang="zh-CN" altLang="en-US" sz="3600" b="1" dirty="0"/>
              <a:t>迸发着鲜明的光彩</a:t>
            </a:r>
            <a:r>
              <a:rPr lang="en-US" altLang="zh-CN" sz="3600" b="1" dirty="0"/>
              <a:t>23.</a:t>
            </a:r>
            <a:r>
              <a:rPr lang="zh-CN" altLang="en-US" sz="3600" b="1" dirty="0"/>
              <a:t>启发了新一代的画家</a:t>
            </a:r>
            <a:r>
              <a:rPr lang="en-US" altLang="zh-CN" sz="3600" b="1" dirty="0"/>
              <a:t>24.</a:t>
            </a:r>
            <a:r>
              <a:rPr lang="zh-CN" altLang="en-US" sz="3600" b="1" dirty="0"/>
              <a:t>值得注意的是</a:t>
            </a:r>
            <a:r>
              <a:rPr lang="en-US" altLang="zh-CN" sz="3600" b="1" dirty="0"/>
              <a:t>25.</a:t>
            </a:r>
            <a:r>
              <a:rPr lang="zh-CN" altLang="en-US" sz="3600" b="1" dirty="0"/>
              <a:t>对</a:t>
            </a:r>
            <a:r>
              <a:rPr lang="en-US" altLang="zh-CN" sz="3600" b="1" dirty="0"/>
              <a:t>…</a:t>
            </a:r>
            <a:r>
              <a:rPr lang="zh-CN" altLang="en-US" sz="3600" b="1" dirty="0"/>
              <a:t>产生了持久的影响 </a:t>
            </a:r>
            <a:r>
              <a:rPr lang="en-US" altLang="zh-CN" sz="3600" b="1" dirty="0"/>
              <a:t>26.</a:t>
            </a:r>
            <a:r>
              <a:rPr lang="zh-CN" altLang="en-US" sz="3600" b="1" dirty="0"/>
              <a:t>鼓励着艺术家们从一个全新的视角去看待世界 </a:t>
            </a:r>
            <a:r>
              <a:rPr lang="en-US" altLang="zh-CN" sz="3600" b="1" dirty="0"/>
              <a:t>27.</a:t>
            </a:r>
            <a:r>
              <a:rPr lang="zh-CN" altLang="en-US" sz="3600" b="1" dirty="0"/>
              <a:t>给我留下了难忘的印象 </a:t>
            </a:r>
            <a:r>
              <a:rPr lang="en-US" altLang="zh-CN" sz="3600" b="1" dirty="0"/>
              <a:t>28.</a:t>
            </a:r>
            <a:r>
              <a:rPr lang="zh-CN" altLang="en-US" sz="3600" b="1" dirty="0"/>
              <a:t>从</a:t>
            </a:r>
            <a:r>
              <a:rPr lang="en-US" altLang="zh-CN" sz="3600" b="1" dirty="0"/>
              <a:t>…</a:t>
            </a:r>
            <a:r>
              <a:rPr lang="zh-CN" altLang="en-US" sz="3600" b="1" dirty="0"/>
              <a:t>种寻求安慰 </a:t>
            </a:r>
            <a:r>
              <a:rPr lang="en-US" altLang="zh-CN" sz="3600" b="1" dirty="0"/>
              <a:t>29.</a:t>
            </a:r>
            <a:r>
              <a:rPr lang="zh-CN" altLang="en-US" sz="3600" b="1" dirty="0"/>
              <a:t>展现</a:t>
            </a:r>
            <a:r>
              <a:rPr lang="en-US" altLang="zh-CN" sz="3600" b="1" dirty="0"/>
              <a:t>…</a:t>
            </a:r>
            <a:r>
              <a:rPr lang="zh-CN" altLang="en-US" sz="3600" b="1" dirty="0"/>
              <a:t>的天赋 </a:t>
            </a:r>
            <a:r>
              <a:rPr lang="en-US" altLang="zh-CN" sz="3600" b="1" dirty="0"/>
              <a:t>30.A</a:t>
            </a:r>
            <a:r>
              <a:rPr lang="zh-CN" altLang="en-US" sz="3600" b="1" dirty="0"/>
              <a:t>与</a:t>
            </a:r>
            <a:r>
              <a:rPr lang="en-US" altLang="zh-CN" sz="3600" b="1" dirty="0"/>
              <a:t>B</a:t>
            </a:r>
            <a:r>
              <a:rPr lang="zh-CN" altLang="en-US" sz="3600" b="1" dirty="0"/>
              <a:t>在某方面相似 </a:t>
            </a:r>
            <a:r>
              <a:rPr lang="en-US" altLang="zh-CN" sz="3600" b="1" dirty="0"/>
              <a:t>31.</a:t>
            </a:r>
            <a:r>
              <a:rPr lang="zh-CN" altLang="en-US" sz="3600" b="1" dirty="0"/>
              <a:t>扩大词汇量 </a:t>
            </a:r>
            <a:r>
              <a:rPr lang="en-US" altLang="zh-CN" sz="3600" b="1" dirty="0"/>
              <a:t>32.</a:t>
            </a:r>
            <a:r>
              <a:rPr lang="zh-CN" altLang="en-US" sz="3600" b="1" dirty="0"/>
              <a:t>与</a:t>
            </a:r>
            <a:r>
              <a:rPr lang="en-US" altLang="zh-CN" sz="3600" b="1" dirty="0"/>
              <a:t>…</a:t>
            </a:r>
            <a:r>
              <a:rPr lang="zh-CN" altLang="en-US" sz="3600" b="1" dirty="0"/>
              <a:t>相反 </a:t>
            </a:r>
            <a:r>
              <a:rPr lang="en-US" altLang="zh-CN" sz="3600" b="1" dirty="0"/>
              <a:t>33.</a:t>
            </a:r>
            <a:r>
              <a:rPr lang="zh-CN" altLang="en-US" sz="3600" b="1" dirty="0"/>
              <a:t>坐落在 </a:t>
            </a:r>
            <a:r>
              <a:rPr lang="en-US" altLang="zh-CN" sz="3600" b="1" dirty="0"/>
              <a:t>34.</a:t>
            </a:r>
            <a:r>
              <a:rPr lang="zh-CN" altLang="en-US" sz="3600" b="1" dirty="0"/>
              <a:t>范围从</a:t>
            </a:r>
            <a:r>
              <a:rPr lang="en-US" altLang="zh-CN" sz="3600" b="1" dirty="0"/>
              <a:t>…</a:t>
            </a:r>
            <a:r>
              <a:rPr lang="zh-CN" altLang="en-US" sz="3600" b="1" dirty="0"/>
              <a:t>到</a:t>
            </a:r>
            <a:r>
              <a:rPr lang="en-US" altLang="zh-CN" sz="3600" b="1" dirty="0"/>
              <a:t>… 35.</a:t>
            </a:r>
            <a:r>
              <a:rPr lang="zh-CN" altLang="en-US" sz="3600" b="1" dirty="0"/>
              <a:t>在数字时代 </a:t>
            </a:r>
            <a:r>
              <a:rPr lang="en-US" altLang="zh-CN" sz="3600" b="1" dirty="0"/>
              <a:t>36.</a:t>
            </a:r>
            <a:r>
              <a:rPr lang="zh-CN" altLang="en-US" sz="3600" b="1" dirty="0"/>
              <a:t>惊奇的看到 </a:t>
            </a:r>
            <a:r>
              <a:rPr lang="en-US" altLang="zh-CN" sz="3600" b="1" dirty="0"/>
              <a:t>37.</a:t>
            </a:r>
            <a:r>
              <a:rPr lang="zh-CN" altLang="en-US" sz="3600" b="1" dirty="0"/>
              <a:t>令人吃惊的发现 </a:t>
            </a:r>
            <a:r>
              <a:rPr lang="en-US" altLang="zh-CN" sz="3600" b="1" dirty="0"/>
              <a:t>38.</a:t>
            </a:r>
            <a:r>
              <a:rPr lang="zh-CN" altLang="en-US" sz="3600" b="1" dirty="0"/>
              <a:t>沐浴在</a:t>
            </a:r>
            <a:r>
              <a:rPr lang="en-US" altLang="zh-CN" sz="3600" b="1" dirty="0"/>
              <a:t>…</a:t>
            </a:r>
            <a:r>
              <a:rPr lang="zh-CN" altLang="en-US" sz="3600" b="1" dirty="0"/>
              <a:t>下 </a:t>
            </a:r>
            <a:r>
              <a:rPr lang="en-US" altLang="zh-CN" sz="3600" b="1" dirty="0"/>
              <a:t>39.</a:t>
            </a:r>
            <a:r>
              <a:rPr lang="zh-CN" altLang="en-US" sz="3600" b="1" dirty="0"/>
              <a:t>对拍照感兴趣 </a:t>
            </a:r>
            <a:r>
              <a:rPr lang="en-US" altLang="zh-CN" sz="3600" b="1" dirty="0"/>
              <a:t>40.</a:t>
            </a:r>
            <a:r>
              <a:rPr lang="zh-CN" altLang="en-US" sz="3600" b="1" dirty="0"/>
              <a:t>沦落到做某事 </a:t>
            </a:r>
            <a:r>
              <a:rPr lang="en-US" altLang="zh-CN" sz="3600" b="1" dirty="0"/>
              <a:t>41.</a:t>
            </a:r>
            <a:r>
              <a:rPr lang="zh-CN" altLang="en-US" sz="3600" b="1" dirty="0"/>
              <a:t>感受到微风拂面 </a:t>
            </a:r>
            <a:r>
              <a:rPr lang="en-US" altLang="zh-CN" sz="3600" b="1" dirty="0"/>
              <a:t>42.</a:t>
            </a:r>
            <a:r>
              <a:rPr lang="zh-CN" altLang="en-US" sz="3600" b="1" dirty="0"/>
              <a:t>下定决心做某事 </a:t>
            </a:r>
            <a:r>
              <a:rPr lang="en-US" altLang="zh-CN" sz="3600" b="1" dirty="0"/>
              <a:t>43.</a:t>
            </a:r>
            <a:r>
              <a:rPr lang="zh-CN" altLang="en-US" sz="3600" b="1" dirty="0"/>
              <a:t>免费参观 </a:t>
            </a:r>
            <a:r>
              <a:rPr lang="en-US" altLang="zh-CN" sz="3600" b="1" dirty="0"/>
              <a:t>44.</a:t>
            </a:r>
            <a:r>
              <a:rPr lang="zh-CN" altLang="en-US" sz="3600" b="1" dirty="0"/>
              <a:t>只不过仅仅 </a:t>
            </a:r>
            <a:r>
              <a:rPr lang="en-US" altLang="zh-CN" sz="3600" b="1" dirty="0"/>
              <a:t>45.</a:t>
            </a:r>
            <a:r>
              <a:rPr lang="zh-CN" altLang="en-US" sz="3600" b="1" dirty="0"/>
              <a:t>发布到社交媒体上 </a:t>
            </a:r>
            <a:r>
              <a:rPr lang="en-US" altLang="zh-CN" sz="3600" b="1" dirty="0"/>
              <a:t>46.</a:t>
            </a:r>
            <a:r>
              <a:rPr lang="zh-CN" altLang="en-US" sz="3600" b="1" dirty="0"/>
              <a:t>发起一场运动</a:t>
            </a:r>
            <a:r>
              <a:rPr lang="en-US" altLang="zh-CN" sz="3600" b="1" dirty="0"/>
              <a:t>47.</a:t>
            </a:r>
            <a:r>
              <a:rPr lang="zh-CN" altLang="en-US" sz="3600" b="1" dirty="0"/>
              <a:t>鼓励某人做某事</a:t>
            </a:r>
            <a:r>
              <a:rPr lang="en-US" altLang="zh-CN" sz="3600" b="1" dirty="0"/>
              <a:t>;</a:t>
            </a:r>
            <a:r>
              <a:rPr lang="zh-CN" altLang="en-US" sz="3600" b="1" dirty="0"/>
              <a:t>打消某人做某事的念头 </a:t>
            </a:r>
            <a:r>
              <a:rPr lang="en-US" altLang="zh-CN" sz="3600" b="1" dirty="0"/>
              <a:t>48.</a:t>
            </a:r>
            <a:r>
              <a:rPr lang="zh-CN" altLang="en-US" sz="3600" b="1" dirty="0"/>
              <a:t>有很长的路要走</a:t>
            </a:r>
            <a:r>
              <a:rPr lang="en-US" altLang="zh-CN" sz="3600" b="1" dirty="0"/>
              <a:t>49.</a:t>
            </a:r>
            <a:r>
              <a:rPr lang="zh-CN" altLang="en-US" sz="3600" b="1"/>
              <a:t>铺开陈列</a:t>
            </a:r>
            <a:r>
              <a:rPr lang="en-US" altLang="zh-CN" sz="3600" b="1"/>
              <a:t>50</a:t>
            </a:r>
            <a:r>
              <a:rPr lang="en-US" altLang="zh-CN" sz="3600" b="1" dirty="0"/>
              <a:t>.</a:t>
            </a:r>
            <a:r>
              <a:rPr lang="zh-CN" altLang="en-US" sz="3600" b="1" dirty="0"/>
              <a:t>原材料</a:t>
            </a:r>
            <a:r>
              <a:rPr lang="en-US" altLang="zh-CN" sz="3600" b="1" dirty="0"/>
              <a:t>51.</a:t>
            </a:r>
            <a:r>
              <a:rPr lang="zh-CN" altLang="en-US" sz="3600" b="1" dirty="0"/>
              <a:t>有很多品种</a:t>
            </a:r>
            <a:r>
              <a:rPr lang="en-US" altLang="zh-CN" sz="3600" b="1" dirty="0"/>
              <a:t>52.</a:t>
            </a:r>
            <a:r>
              <a:rPr lang="zh-CN" altLang="en-US" sz="3600" b="1" dirty="0"/>
              <a:t>粘贴</a:t>
            </a:r>
            <a:r>
              <a:rPr lang="en-US" altLang="zh-CN" sz="3600" b="1" dirty="0"/>
              <a:t>(__,__) 53.</a:t>
            </a:r>
            <a:r>
              <a:rPr lang="zh-CN" altLang="en-US" sz="3600" b="1" dirty="0"/>
              <a:t>开始</a:t>
            </a:r>
            <a:r>
              <a:rPr lang="en-US" altLang="zh-CN" sz="3600" b="1" dirty="0"/>
              <a:t>;</a:t>
            </a:r>
            <a:r>
              <a:rPr lang="zh-CN" altLang="en-US" sz="3600" b="1" dirty="0"/>
              <a:t>随后</a:t>
            </a:r>
            <a:r>
              <a:rPr lang="en-US" altLang="zh-CN" sz="3600" b="1" dirty="0"/>
              <a:t>;</a:t>
            </a:r>
            <a:r>
              <a:rPr lang="zh-CN" altLang="en-US" sz="3600" b="1" dirty="0"/>
              <a:t>最后</a:t>
            </a:r>
            <a:endParaRPr lang="zh-CN" altLang="en-US" sz="3600" b="1" dirty="0">
              <a:solidFill>
                <a:srgbClr val="FF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lnSpcReduction="10000"/>
          </a:bodyPr>
          <a:lstStyle/>
          <a:p>
            <a:pPr algn="just"/>
            <a:r>
              <a:rPr lang="en-US" altLang="zh-CN" sz="3600" b="1" dirty="0"/>
              <a:t>U3 </a:t>
            </a:r>
            <a:r>
              <a:rPr lang="en-US" altLang="zh-CN" sz="3600" b="1" dirty="0">
                <a:solidFill>
                  <a:srgbClr val="FF0000"/>
                </a:solidFill>
              </a:rPr>
              <a:t>1.</a:t>
            </a:r>
            <a:r>
              <a:rPr lang="zh-CN" altLang="en-US" sz="3600" b="1" dirty="0">
                <a:solidFill>
                  <a:srgbClr val="FF0000"/>
                </a:solidFill>
              </a:rPr>
              <a:t>肖像画</a:t>
            </a:r>
            <a:r>
              <a:rPr lang="en-US" altLang="zh-CN" sz="3600" b="1" dirty="0">
                <a:solidFill>
                  <a:srgbClr val="FF0000"/>
                </a:solidFill>
              </a:rPr>
              <a:t>;</a:t>
            </a:r>
            <a:r>
              <a:rPr lang="zh-CN" altLang="en-US" sz="3600" b="1" dirty="0">
                <a:solidFill>
                  <a:srgbClr val="FF0000"/>
                </a:solidFill>
              </a:rPr>
              <a:t>风景画</a:t>
            </a:r>
            <a:r>
              <a:rPr lang="en-US" altLang="zh-CN" sz="3600" b="1" dirty="0">
                <a:solidFill>
                  <a:srgbClr val="FF0000"/>
                </a:solidFill>
              </a:rPr>
              <a:t>;</a:t>
            </a:r>
            <a:r>
              <a:rPr lang="zh-CN" altLang="en-US" sz="3600" b="1" dirty="0">
                <a:solidFill>
                  <a:srgbClr val="FF0000"/>
                </a:solidFill>
              </a:rPr>
              <a:t>美术馆 </a:t>
            </a:r>
            <a:r>
              <a:rPr lang="en-US" altLang="zh-CN" sz="3600" b="1" dirty="0">
                <a:solidFill>
                  <a:srgbClr val="FF0000"/>
                </a:solidFill>
              </a:rPr>
              <a:t>2.</a:t>
            </a:r>
            <a:r>
              <a:rPr lang="zh-CN" altLang="en-US" sz="3600" b="1" dirty="0">
                <a:solidFill>
                  <a:srgbClr val="FF0000"/>
                </a:solidFill>
              </a:rPr>
              <a:t>闲逛</a:t>
            </a:r>
            <a:r>
              <a:rPr lang="en-US" altLang="zh-CN" sz="3600" b="1" dirty="0">
                <a:solidFill>
                  <a:srgbClr val="FF0000"/>
                </a:solidFill>
              </a:rPr>
              <a:t>;</a:t>
            </a:r>
            <a:r>
              <a:rPr lang="zh-CN" altLang="en-US" sz="3600" b="1" dirty="0">
                <a:solidFill>
                  <a:srgbClr val="FF0000"/>
                </a:solidFill>
              </a:rPr>
              <a:t>偏题</a:t>
            </a:r>
            <a:r>
              <a:rPr lang="en-US" altLang="zh-CN" sz="3600" b="1" dirty="0">
                <a:solidFill>
                  <a:srgbClr val="FF0000"/>
                </a:solidFill>
              </a:rPr>
              <a:t>;__n.</a:t>
            </a:r>
            <a:r>
              <a:rPr lang="zh-CN" altLang="en-US" sz="3600" b="1" dirty="0">
                <a:solidFill>
                  <a:srgbClr val="FF0000"/>
                </a:solidFill>
              </a:rPr>
              <a:t>者</a:t>
            </a:r>
            <a:r>
              <a:rPr lang="en-US" altLang="zh-CN" sz="3600" b="1" dirty="0">
                <a:solidFill>
                  <a:srgbClr val="FF0000"/>
                </a:solidFill>
              </a:rPr>
              <a:t>;__a.</a:t>
            </a:r>
            <a:r>
              <a:rPr lang="zh-CN" altLang="en-US" sz="3600" b="1" dirty="0">
                <a:solidFill>
                  <a:srgbClr val="FF0000"/>
                </a:solidFill>
              </a:rPr>
              <a:t>漂泊的  </a:t>
            </a:r>
            <a:r>
              <a:rPr lang="en-US" altLang="zh-CN" sz="3600" b="1" dirty="0">
                <a:solidFill>
                  <a:srgbClr val="FF0000"/>
                </a:solidFill>
              </a:rPr>
              <a:t>3.</a:t>
            </a:r>
            <a:r>
              <a:rPr lang="zh-CN" altLang="en-US" sz="3600" b="1" dirty="0">
                <a:solidFill>
                  <a:srgbClr val="FF0000"/>
                </a:solidFill>
              </a:rPr>
              <a:t>在过去十年</a:t>
            </a:r>
            <a:r>
              <a:rPr lang="en-US" altLang="zh-CN" sz="3600" b="1" dirty="0">
                <a:solidFill>
                  <a:srgbClr val="FF0000"/>
                </a:solidFill>
              </a:rPr>
              <a:t>+</a:t>
            </a:r>
            <a:r>
              <a:rPr lang="zh-CN" altLang="en-US" sz="3600" b="1" dirty="0">
                <a:solidFill>
                  <a:srgbClr val="FF0000"/>
                </a:solidFill>
              </a:rPr>
              <a:t>时态</a:t>
            </a:r>
            <a:r>
              <a:rPr lang="en-US" altLang="zh-CN" sz="3600" b="1" dirty="0">
                <a:solidFill>
                  <a:srgbClr val="FF0000"/>
                </a:solidFill>
              </a:rPr>
              <a:t>:__;</a:t>
            </a:r>
            <a:r>
              <a:rPr lang="zh-CN" altLang="en-US" sz="3600" b="1" dirty="0">
                <a:solidFill>
                  <a:srgbClr val="FF0000"/>
                </a:solidFill>
              </a:rPr>
              <a:t> </a:t>
            </a:r>
            <a:r>
              <a:rPr lang="en-US" altLang="zh-CN" sz="3600" b="1" dirty="0">
                <a:solidFill>
                  <a:srgbClr val="FF0000"/>
                </a:solidFill>
              </a:rPr>
              <a:t>30</a:t>
            </a:r>
            <a:r>
              <a:rPr lang="zh-CN" altLang="en-US" sz="3600" b="1" dirty="0">
                <a:solidFill>
                  <a:srgbClr val="FF0000"/>
                </a:solidFill>
              </a:rPr>
              <a:t>年前</a:t>
            </a:r>
            <a:r>
              <a:rPr lang="en-US" altLang="zh-CN" sz="3600" b="1" dirty="0">
                <a:solidFill>
                  <a:srgbClr val="FF0000"/>
                </a:solidFill>
              </a:rPr>
              <a:t>+</a:t>
            </a:r>
            <a:r>
              <a:rPr lang="zh-CN" altLang="en-US" sz="3600" b="1" dirty="0">
                <a:solidFill>
                  <a:srgbClr val="FF0000"/>
                </a:solidFill>
              </a:rPr>
              <a:t>时态</a:t>
            </a:r>
            <a:r>
              <a:rPr lang="en-US" altLang="zh-CN" sz="3600" b="1" dirty="0">
                <a:solidFill>
                  <a:srgbClr val="FF0000"/>
                </a:solidFill>
              </a:rPr>
              <a:t>:__ 4.</a:t>
            </a:r>
            <a:r>
              <a:rPr lang="zh-CN" altLang="en-US" sz="3600" b="1" dirty="0">
                <a:solidFill>
                  <a:srgbClr val="FF0000"/>
                </a:solidFill>
              </a:rPr>
              <a:t>在</a:t>
            </a:r>
            <a:r>
              <a:rPr lang="en-US" altLang="zh-CN" sz="3600" b="1" dirty="0">
                <a:solidFill>
                  <a:srgbClr val="FF0000"/>
                </a:solidFill>
              </a:rPr>
              <a:t>…</a:t>
            </a:r>
            <a:r>
              <a:rPr lang="zh-CN" altLang="en-US" sz="3600" b="1" dirty="0">
                <a:solidFill>
                  <a:srgbClr val="FF0000"/>
                </a:solidFill>
              </a:rPr>
              <a:t>附近</a:t>
            </a:r>
            <a:r>
              <a:rPr lang="en-US" altLang="zh-CN" sz="3600" b="1" dirty="0">
                <a:solidFill>
                  <a:srgbClr val="FF0000"/>
                </a:solidFill>
              </a:rPr>
              <a:t>;__n.</a:t>
            </a:r>
            <a:r>
              <a:rPr lang="zh-CN" altLang="en-US" sz="3600" b="1" dirty="0">
                <a:solidFill>
                  <a:srgbClr val="FF0000"/>
                </a:solidFill>
              </a:rPr>
              <a:t>邻居</a:t>
            </a:r>
            <a:r>
              <a:rPr lang="en-US" altLang="zh-CN" sz="3600" b="1" dirty="0">
                <a:solidFill>
                  <a:srgbClr val="FF0000"/>
                </a:solidFill>
              </a:rPr>
              <a:t>;__a.</a:t>
            </a:r>
            <a:r>
              <a:rPr lang="zh-CN" altLang="en-US" sz="3600" b="1" dirty="0">
                <a:solidFill>
                  <a:srgbClr val="FF0000"/>
                </a:solidFill>
              </a:rPr>
              <a:t>临近的 </a:t>
            </a:r>
            <a:r>
              <a:rPr lang="en-US" altLang="zh-CN" sz="3600" b="1" dirty="0">
                <a:solidFill>
                  <a:srgbClr val="FF0000"/>
                </a:solidFill>
              </a:rPr>
              <a:t>5.</a:t>
            </a:r>
            <a:r>
              <a:rPr lang="zh-CN" altLang="en-US" sz="3600" b="1" dirty="0">
                <a:solidFill>
                  <a:srgbClr val="FF0000"/>
                </a:solidFill>
              </a:rPr>
              <a:t>某人突然想到某事</a:t>
            </a:r>
            <a:r>
              <a:rPr lang="en-US" altLang="zh-CN" sz="3600" b="1" dirty="0">
                <a:solidFill>
                  <a:srgbClr val="FF0000"/>
                </a:solidFill>
              </a:rPr>
              <a:t>;</a:t>
            </a:r>
            <a:r>
              <a:rPr lang="zh-CN" altLang="en-US" sz="3600" b="1" dirty="0">
                <a:solidFill>
                  <a:srgbClr val="FF0000"/>
                </a:solidFill>
              </a:rPr>
              <a:t>某人突然想到句型</a:t>
            </a:r>
            <a:r>
              <a:rPr lang="en-US" altLang="zh-CN" sz="3600" b="1" dirty="0">
                <a:solidFill>
                  <a:srgbClr val="FF0000"/>
                </a:solidFill>
              </a:rPr>
              <a:t>;</a:t>
            </a:r>
            <a:r>
              <a:rPr lang="zh-CN" altLang="en-US" sz="3600" b="1" dirty="0">
                <a:solidFill>
                  <a:srgbClr val="FF0000"/>
                </a:solidFill>
              </a:rPr>
              <a:t>给我印象最深的是</a:t>
            </a:r>
            <a:r>
              <a:rPr lang="en-US" altLang="zh-CN" sz="3600" b="1" dirty="0">
                <a:solidFill>
                  <a:srgbClr val="FF0000"/>
                </a:solidFill>
              </a:rPr>
              <a:t>;</a:t>
            </a:r>
            <a:r>
              <a:rPr lang="zh-CN" altLang="en-US" sz="3600" b="1" dirty="0">
                <a:solidFill>
                  <a:srgbClr val="FF0000"/>
                </a:solidFill>
              </a:rPr>
              <a:t>被</a:t>
            </a:r>
            <a:r>
              <a:rPr lang="en-US" altLang="zh-CN" sz="3600" b="1" dirty="0">
                <a:solidFill>
                  <a:srgbClr val="FF0000"/>
                </a:solidFill>
              </a:rPr>
              <a:t>…</a:t>
            </a:r>
            <a:r>
              <a:rPr lang="zh-CN" altLang="en-US" sz="3600" b="1" dirty="0">
                <a:solidFill>
                  <a:srgbClr val="FF0000"/>
                </a:solidFill>
              </a:rPr>
              <a:t>打动</a:t>
            </a:r>
            <a:r>
              <a:rPr lang="en-US" altLang="zh-CN" sz="3600" b="1" dirty="0">
                <a:solidFill>
                  <a:srgbClr val="FF0000"/>
                </a:solidFill>
              </a:rPr>
              <a:t>;</a:t>
            </a:r>
            <a:r>
              <a:rPr lang="zh-CN" altLang="en-US" sz="3600" b="1" dirty="0">
                <a:solidFill>
                  <a:srgbClr val="FF0000"/>
                </a:solidFill>
              </a:rPr>
              <a:t>达成协议</a:t>
            </a:r>
            <a:r>
              <a:rPr lang="en-US" altLang="zh-CN" sz="3600" b="1" dirty="0">
                <a:solidFill>
                  <a:srgbClr val="FF0000"/>
                </a:solidFill>
              </a:rPr>
              <a:t>;</a:t>
            </a:r>
            <a:r>
              <a:rPr lang="zh-CN" altLang="en-US" sz="3600" b="1" dirty="0">
                <a:solidFill>
                  <a:srgbClr val="FF0000"/>
                </a:solidFill>
              </a:rPr>
              <a:t>在</a:t>
            </a:r>
            <a:r>
              <a:rPr lang="en-US" altLang="zh-CN" sz="3600" b="1" dirty="0">
                <a:solidFill>
                  <a:srgbClr val="FF0000"/>
                </a:solidFill>
              </a:rPr>
              <a:t>…</a:t>
            </a:r>
            <a:r>
              <a:rPr lang="zh-CN" altLang="en-US" sz="3600" b="1" dirty="0">
                <a:solidFill>
                  <a:srgbClr val="FF0000"/>
                </a:solidFill>
              </a:rPr>
              <a:t>和</a:t>
            </a:r>
            <a:r>
              <a:rPr lang="en-US" altLang="zh-CN" sz="3600" b="1" dirty="0">
                <a:solidFill>
                  <a:srgbClr val="FF0000"/>
                </a:solidFill>
              </a:rPr>
              <a:t>…</a:t>
            </a:r>
            <a:r>
              <a:rPr lang="zh-CN" altLang="en-US" sz="3600" b="1" dirty="0">
                <a:solidFill>
                  <a:srgbClr val="FF0000"/>
                </a:solidFill>
              </a:rPr>
              <a:t>取得平衡</a:t>
            </a:r>
            <a:r>
              <a:rPr lang="en-US" altLang="zh-CN" sz="3600" b="1" dirty="0">
                <a:solidFill>
                  <a:srgbClr val="FF0000"/>
                </a:solidFill>
              </a:rPr>
              <a:t>;</a:t>
            </a:r>
            <a:r>
              <a:rPr lang="zh-CN" altLang="en-US" sz="3600" b="1" dirty="0">
                <a:solidFill>
                  <a:srgbClr val="FF0000"/>
                </a:solidFill>
              </a:rPr>
              <a:t>开始交谈</a:t>
            </a:r>
            <a:r>
              <a:rPr lang="en-US" altLang="zh-CN" sz="3600" b="1" dirty="0">
                <a:solidFill>
                  <a:srgbClr val="FF0000"/>
                </a:solidFill>
              </a:rPr>
              <a:t>;</a:t>
            </a:r>
            <a:r>
              <a:rPr lang="zh-CN" altLang="en-US" sz="3600" b="1" dirty="0">
                <a:solidFill>
                  <a:srgbClr val="FF0000"/>
                </a:solidFill>
              </a:rPr>
              <a:t>罢工</a:t>
            </a:r>
            <a:r>
              <a:rPr lang="en-US" altLang="zh-CN" sz="3600" b="1" dirty="0">
                <a:solidFill>
                  <a:srgbClr val="FF0000"/>
                </a:solidFill>
              </a:rPr>
              <a:t>;</a:t>
            </a:r>
            <a:r>
              <a:rPr lang="zh-CN" altLang="en-US" sz="3600" b="1" dirty="0">
                <a:solidFill>
                  <a:srgbClr val="FF0000"/>
                </a:solidFill>
              </a:rPr>
              <a:t>发动对</a:t>
            </a:r>
            <a:r>
              <a:rPr lang="en-US" altLang="zh-CN" sz="3600" b="1" dirty="0">
                <a:solidFill>
                  <a:srgbClr val="FF0000"/>
                </a:solidFill>
              </a:rPr>
              <a:t>…</a:t>
            </a:r>
            <a:r>
              <a:rPr lang="zh-CN" altLang="en-US" sz="3600" b="1" dirty="0">
                <a:solidFill>
                  <a:srgbClr val="FF0000"/>
                </a:solidFill>
              </a:rPr>
              <a:t>袭击</a:t>
            </a:r>
            <a:r>
              <a:rPr lang="en-US" altLang="zh-CN" sz="3600" b="1" dirty="0">
                <a:solidFill>
                  <a:srgbClr val="FF0000"/>
                </a:solidFill>
              </a:rPr>
              <a:t>;</a:t>
            </a:r>
            <a:r>
              <a:rPr lang="zh-CN" altLang="en-US" sz="3600" b="1" dirty="0">
                <a:solidFill>
                  <a:srgbClr val="FF0000"/>
                </a:solidFill>
              </a:rPr>
              <a:t>地震灾区</a:t>
            </a:r>
            <a:r>
              <a:rPr lang="en-US" altLang="zh-CN" sz="3600" b="1" dirty="0">
                <a:solidFill>
                  <a:srgbClr val="FF0000"/>
                </a:solidFill>
              </a:rPr>
              <a:t>;</a:t>
            </a:r>
            <a:r>
              <a:rPr lang="zh-CN" altLang="en-US" sz="3600" b="1" dirty="0">
                <a:solidFill>
                  <a:srgbClr val="FF0000"/>
                </a:solidFill>
              </a:rPr>
              <a:t>趁热打铁</a:t>
            </a:r>
            <a:r>
              <a:rPr lang="en-US" altLang="zh-CN" sz="3600" b="1" dirty="0">
                <a:solidFill>
                  <a:srgbClr val="FF0000"/>
                </a:solidFill>
              </a:rPr>
              <a:t>;__a.</a:t>
            </a:r>
            <a:r>
              <a:rPr lang="zh-CN" altLang="en-US" sz="3600" b="1" dirty="0">
                <a:solidFill>
                  <a:srgbClr val="FF0000"/>
                </a:solidFill>
              </a:rPr>
              <a:t>惊人显著的 </a:t>
            </a:r>
            <a:r>
              <a:rPr lang="en-US" altLang="zh-CN" sz="3600" b="1" dirty="0">
                <a:solidFill>
                  <a:srgbClr val="FF0000"/>
                </a:solidFill>
              </a:rPr>
              <a:t>6.</a:t>
            </a:r>
            <a:r>
              <a:rPr lang="zh-CN" altLang="en-US" sz="3600" b="1" dirty="0">
                <a:solidFill>
                  <a:srgbClr val="FF0000"/>
                </a:solidFill>
              </a:rPr>
              <a:t>以</a:t>
            </a:r>
            <a:r>
              <a:rPr lang="en-US" altLang="zh-CN" sz="3600" b="1" dirty="0">
                <a:solidFill>
                  <a:srgbClr val="FF0000"/>
                </a:solidFill>
              </a:rPr>
              <a:t>…</a:t>
            </a:r>
            <a:r>
              <a:rPr lang="zh-CN" altLang="en-US" sz="3600" b="1" dirty="0">
                <a:solidFill>
                  <a:srgbClr val="FF0000"/>
                </a:solidFill>
              </a:rPr>
              <a:t>为背景</a:t>
            </a:r>
            <a:r>
              <a:rPr lang="en-US" altLang="zh-CN" sz="3600" b="1" dirty="0">
                <a:solidFill>
                  <a:srgbClr val="FF0000"/>
                </a:solidFill>
              </a:rPr>
              <a:t>;__n.</a:t>
            </a:r>
            <a:r>
              <a:rPr lang="zh-CN" altLang="en-US" sz="3600" b="1" dirty="0">
                <a:solidFill>
                  <a:srgbClr val="FF0000"/>
                </a:solidFill>
              </a:rPr>
              <a:t>背景 </a:t>
            </a:r>
            <a:r>
              <a:rPr lang="en-US" altLang="zh-CN" sz="3600" b="1" dirty="0">
                <a:solidFill>
                  <a:srgbClr val="FF0000"/>
                </a:solidFill>
              </a:rPr>
              <a:t>7.</a:t>
            </a:r>
            <a:r>
              <a:rPr lang="zh-CN" altLang="en-US" sz="3600" b="1" dirty="0">
                <a:solidFill>
                  <a:srgbClr val="FF0000"/>
                </a:solidFill>
              </a:rPr>
              <a:t>摆脱</a:t>
            </a:r>
            <a:r>
              <a:rPr lang="en-US" altLang="zh-CN" sz="3600" b="1" dirty="0">
                <a:solidFill>
                  <a:srgbClr val="FF0000"/>
                </a:solidFill>
              </a:rPr>
              <a:t>…</a:t>
            </a:r>
            <a:r>
              <a:rPr lang="zh-CN" altLang="en-US" sz="3600" b="1" dirty="0">
                <a:solidFill>
                  <a:srgbClr val="FF0000"/>
                </a:solidFill>
              </a:rPr>
              <a:t>的束缚</a:t>
            </a:r>
            <a:r>
              <a:rPr lang="en-US" altLang="zh-CN" sz="3600" b="1" dirty="0">
                <a:solidFill>
                  <a:srgbClr val="FF0000"/>
                </a:solidFill>
              </a:rPr>
              <a:t>(2</a:t>
            </a:r>
            <a:r>
              <a:rPr lang="zh-CN" altLang="en-US" sz="3600" b="1" dirty="0">
                <a:solidFill>
                  <a:srgbClr val="FF0000"/>
                </a:solidFill>
              </a:rPr>
              <a:t>个</a:t>
            </a:r>
            <a:r>
              <a:rPr lang="en-US" altLang="zh-CN" sz="3600" b="1" dirty="0">
                <a:solidFill>
                  <a:srgbClr val="FF0000"/>
                </a:solidFill>
              </a:rPr>
              <a:t>);__n.</a:t>
            </a:r>
            <a:r>
              <a:rPr lang="zh-CN" altLang="en-US" sz="3600" b="1" dirty="0">
                <a:solidFill>
                  <a:srgbClr val="FF0000"/>
                </a:solidFill>
              </a:rPr>
              <a:t>者 </a:t>
            </a:r>
            <a:r>
              <a:rPr lang="en-US" altLang="zh-CN" sz="3600" b="1" dirty="0">
                <a:solidFill>
                  <a:srgbClr val="FF0000"/>
                </a:solidFill>
              </a:rPr>
              <a:t>8.</a:t>
            </a:r>
            <a:r>
              <a:rPr lang="zh-CN" altLang="en-US" sz="3600" b="1" dirty="0">
                <a:solidFill>
                  <a:srgbClr val="FF0000"/>
                </a:solidFill>
              </a:rPr>
              <a:t>相对于</a:t>
            </a:r>
            <a:r>
              <a:rPr lang="en-US" altLang="zh-CN" sz="3600" b="1" dirty="0">
                <a:solidFill>
                  <a:srgbClr val="FF0000"/>
                </a:solidFill>
              </a:rPr>
              <a:t>;</a:t>
            </a:r>
            <a:r>
              <a:rPr lang="zh-CN" altLang="en-US" sz="3600" b="1" dirty="0">
                <a:solidFill>
                  <a:srgbClr val="FF0000"/>
                </a:solidFill>
              </a:rPr>
              <a:t>反对做某事</a:t>
            </a:r>
            <a:r>
              <a:rPr lang="en-US" altLang="zh-CN" sz="3600" b="1" dirty="0">
                <a:solidFill>
                  <a:srgbClr val="FF0000"/>
                </a:solidFill>
              </a:rPr>
              <a:t>(4</a:t>
            </a:r>
            <a:r>
              <a:rPr lang="zh-CN" altLang="en-US" sz="3600" b="1" dirty="0">
                <a:solidFill>
                  <a:srgbClr val="FF0000"/>
                </a:solidFill>
              </a:rPr>
              <a:t>个</a:t>
            </a:r>
            <a:r>
              <a:rPr lang="en-US" altLang="zh-CN" sz="3600" b="1" dirty="0">
                <a:solidFill>
                  <a:srgbClr val="FF0000"/>
                </a:solidFill>
              </a:rPr>
              <a:t>);__a.</a:t>
            </a:r>
            <a:r>
              <a:rPr lang="zh-CN" altLang="en-US" sz="3600" b="1" dirty="0">
                <a:solidFill>
                  <a:srgbClr val="FF0000"/>
                </a:solidFill>
              </a:rPr>
              <a:t>相反的</a:t>
            </a:r>
            <a:r>
              <a:rPr lang="en-US" altLang="zh-CN" sz="3600" b="1" dirty="0">
                <a:solidFill>
                  <a:srgbClr val="FF0000"/>
                </a:solidFill>
              </a:rPr>
              <a:t>;__n.</a:t>
            </a:r>
            <a:r>
              <a:rPr lang="zh-CN" altLang="en-US" sz="3600" b="1" dirty="0">
                <a:solidFill>
                  <a:srgbClr val="FF0000"/>
                </a:solidFill>
              </a:rPr>
              <a:t>反对</a:t>
            </a:r>
            <a:r>
              <a:rPr lang="en-US" altLang="zh-CN" sz="3600" b="1" dirty="0">
                <a:solidFill>
                  <a:srgbClr val="FF0000"/>
                </a:solidFill>
              </a:rPr>
              <a:t>;__n.</a:t>
            </a:r>
            <a:r>
              <a:rPr lang="zh-CN" altLang="en-US" sz="3600" b="1" dirty="0">
                <a:solidFill>
                  <a:srgbClr val="FF0000"/>
                </a:solidFill>
              </a:rPr>
              <a:t>对手 </a:t>
            </a:r>
            <a:r>
              <a:rPr lang="en-US" altLang="zh-CN" sz="3600" b="1" dirty="0">
                <a:solidFill>
                  <a:srgbClr val="FF0000"/>
                </a:solidFill>
              </a:rPr>
              <a:t>9.__v.</a:t>
            </a:r>
            <a:r>
              <a:rPr lang="zh-CN" altLang="en-US" sz="3600" b="1" dirty="0">
                <a:solidFill>
                  <a:srgbClr val="FF0000"/>
                </a:solidFill>
              </a:rPr>
              <a:t>支配控制</a:t>
            </a:r>
            <a:r>
              <a:rPr lang="en-US" altLang="zh-CN" sz="3600" b="1" dirty="0">
                <a:solidFill>
                  <a:srgbClr val="FF0000"/>
                </a:solidFill>
              </a:rPr>
              <a:t>; __a.</a:t>
            </a:r>
            <a:r>
              <a:rPr lang="zh-CN" altLang="en-US" sz="3600" b="1" dirty="0">
                <a:solidFill>
                  <a:srgbClr val="FF0000"/>
                </a:solidFill>
              </a:rPr>
              <a:t>占支配地位的</a:t>
            </a:r>
            <a:r>
              <a:rPr lang="en-US" altLang="zh-CN" sz="3600" b="1" dirty="0">
                <a:solidFill>
                  <a:srgbClr val="FF0000"/>
                </a:solidFill>
              </a:rPr>
              <a:t>;</a:t>
            </a:r>
            <a:r>
              <a:rPr lang="zh-CN" altLang="en-US" sz="3600" b="1" dirty="0">
                <a:solidFill>
                  <a:srgbClr val="FF0000"/>
                </a:solidFill>
              </a:rPr>
              <a:t>在某人的统治下</a:t>
            </a:r>
            <a:r>
              <a:rPr lang="en-US" altLang="zh-CN" sz="3600" b="1" dirty="0">
                <a:solidFill>
                  <a:srgbClr val="FF0000"/>
                </a:solidFill>
              </a:rPr>
              <a:t>;</a:t>
            </a:r>
            <a:r>
              <a:rPr lang="zh-CN" altLang="en-US" sz="3600" b="1" dirty="0">
                <a:solidFill>
                  <a:srgbClr val="FF0000"/>
                </a:solidFill>
              </a:rPr>
              <a:t>男性主导的 </a:t>
            </a:r>
            <a:r>
              <a:rPr lang="en-US" altLang="zh-CN" sz="3600" b="1" dirty="0">
                <a:solidFill>
                  <a:srgbClr val="FF0000"/>
                </a:solidFill>
              </a:rPr>
              <a:t>10.</a:t>
            </a:r>
            <a:r>
              <a:rPr lang="zh-CN" altLang="en-US" sz="3600" b="1" dirty="0">
                <a:solidFill>
                  <a:srgbClr val="FF0000"/>
                </a:solidFill>
              </a:rPr>
              <a:t>把</a:t>
            </a:r>
            <a:r>
              <a:rPr lang="en-US" altLang="zh-CN" sz="3600" b="1" dirty="0">
                <a:solidFill>
                  <a:srgbClr val="FF0000"/>
                </a:solidFill>
              </a:rPr>
              <a:t>…</a:t>
            </a:r>
            <a:r>
              <a:rPr lang="zh-CN" altLang="en-US" sz="3600" b="1" dirty="0">
                <a:solidFill>
                  <a:srgbClr val="FF0000"/>
                </a:solidFill>
              </a:rPr>
              <a:t>运用于</a:t>
            </a:r>
            <a:r>
              <a:rPr lang="en-US" altLang="zh-CN" sz="3600" b="1" dirty="0">
                <a:solidFill>
                  <a:srgbClr val="FF0000"/>
                </a:solidFill>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雇用某人担任</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雇用某人做某事</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忙于做某事</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失业</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失业者</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雇主</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雇员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11.</a:t>
            </a:r>
            <a:r>
              <a:rPr kumimoji="1" lang="zh-CN" altLang="en-US" sz="3600" b="1" dirty="0">
                <a:solidFill>
                  <a:srgbClr val="FF0000"/>
                </a:solidFill>
              </a:rPr>
              <a:t>对</a:t>
            </a:r>
            <a:r>
              <a:rPr kumimoji="1" lang="en-US" altLang="zh-CN" sz="3600" b="1" dirty="0">
                <a:solidFill>
                  <a:srgbClr val="FF0000"/>
                </a:solidFill>
              </a:rPr>
              <a:t>…</a:t>
            </a:r>
            <a:r>
              <a:rPr kumimoji="1" lang="zh-CN" altLang="en-US" sz="3600" b="1" dirty="0">
                <a:solidFill>
                  <a:srgbClr val="FF0000"/>
                </a:solidFill>
              </a:rPr>
              <a:t>实事求是</a:t>
            </a:r>
            <a:r>
              <a:rPr kumimoji="1" lang="en-US" altLang="zh-CN" sz="3600" b="1" dirty="0">
                <a:solidFill>
                  <a:srgbClr val="FF0000"/>
                </a:solidFill>
              </a:rPr>
              <a:t>;__a.</a:t>
            </a:r>
            <a:r>
              <a:rPr kumimoji="1" lang="zh-CN" altLang="en-US" sz="3600" b="1" dirty="0">
                <a:solidFill>
                  <a:srgbClr val="FF0000"/>
                </a:solidFill>
              </a:rPr>
              <a:t>不切实际的</a:t>
            </a:r>
            <a:r>
              <a:rPr kumimoji="1" lang="en-US" altLang="zh-CN" sz="3600" b="1" dirty="0">
                <a:solidFill>
                  <a:srgbClr val="FF0000"/>
                </a:solidFill>
              </a:rPr>
              <a:t>;__ad.;</a:t>
            </a:r>
            <a:r>
              <a:rPr kumimoji="1" lang="zh-CN" altLang="en-US" sz="3600" b="1" dirty="0">
                <a:solidFill>
                  <a:srgbClr val="FF0000"/>
                </a:solidFill>
              </a:rPr>
              <a:t>事实上</a:t>
            </a:r>
            <a:r>
              <a:rPr kumimoji="1" lang="en-US" altLang="zh-CN" sz="3600" b="1" dirty="0">
                <a:solidFill>
                  <a:srgbClr val="FF0000"/>
                </a:solidFill>
              </a:rPr>
              <a:t>;(</a:t>
            </a:r>
            <a:r>
              <a:rPr kumimoji="1" lang="zh-CN" altLang="en-US" sz="3600" b="1" dirty="0">
                <a:solidFill>
                  <a:srgbClr val="FF0000"/>
                </a:solidFill>
              </a:rPr>
              <a:t>梦想</a:t>
            </a:r>
            <a:r>
              <a:rPr kumimoji="1" lang="en-US" altLang="zh-CN" sz="3600" b="1" dirty="0">
                <a:solidFill>
                  <a:srgbClr val="FF0000"/>
                </a:solidFill>
              </a:rPr>
              <a:t>)</a:t>
            </a:r>
            <a:r>
              <a:rPr kumimoji="1" lang="zh-CN" altLang="en-US" sz="3600" b="1" dirty="0">
                <a:solidFill>
                  <a:srgbClr val="FF0000"/>
                </a:solidFill>
              </a:rPr>
              <a:t>实现</a:t>
            </a:r>
            <a:r>
              <a:rPr kumimoji="1" lang="en-US" altLang="zh-CN" sz="3600" b="1" dirty="0">
                <a:solidFill>
                  <a:srgbClr val="FF0000"/>
                </a:solidFill>
              </a:rPr>
              <a:t>;</a:t>
            </a:r>
            <a:r>
              <a:rPr kumimoji="1" lang="zh-CN" altLang="en-US" sz="3600" b="1" dirty="0">
                <a:solidFill>
                  <a:srgbClr val="FF0000"/>
                </a:solidFill>
              </a:rPr>
              <a:t>实现某人的梦想</a:t>
            </a:r>
            <a:r>
              <a:rPr kumimoji="1" lang="en-US" altLang="zh-CN" sz="3600" b="1" dirty="0">
                <a:solidFill>
                  <a:srgbClr val="FF0000"/>
                </a:solidFill>
              </a:rPr>
              <a:t>(2</a:t>
            </a:r>
            <a:r>
              <a:rPr kumimoji="1" lang="zh-CN" altLang="en-US" sz="3600" b="1" dirty="0">
                <a:solidFill>
                  <a:srgbClr val="FF0000"/>
                </a:solidFill>
              </a:rPr>
              <a:t>个</a:t>
            </a:r>
            <a:r>
              <a:rPr kumimoji="1" lang="en-US" altLang="zh-CN" sz="3600" b="1" dirty="0">
                <a:solidFill>
                  <a:srgbClr val="FF0000"/>
                </a:solidFill>
              </a:rPr>
              <a:t>) </a:t>
            </a:r>
            <a:r>
              <a:rPr kumimoji="1" lang="en-US" altLang="zh-CN" sz="3600" b="1" dirty="0">
                <a:solidFill>
                  <a:srgbClr val="FF0000"/>
                </a:solidFill>
                <a:sym typeface="+mn-ea"/>
              </a:rPr>
              <a:t>12.</a:t>
            </a:r>
            <a:r>
              <a:rPr kumimoji="1" lang="zh-CN" altLang="en-US" sz="3600" b="1" dirty="0">
                <a:solidFill>
                  <a:srgbClr val="FF0000"/>
                </a:solidFill>
                <a:sym typeface="+mn-ea"/>
              </a:rPr>
              <a:t>本质上</a:t>
            </a:r>
            <a:r>
              <a:rPr kumimoji="1" lang="en-US" altLang="zh-CN" sz="3600" b="1" dirty="0">
                <a:solidFill>
                  <a:srgbClr val="FF0000"/>
                </a:solidFill>
                <a:sym typeface="+mn-ea"/>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极为重要</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做某事是</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必不可少</a:t>
            </a:r>
            <a:r>
              <a:rPr lang="zh-CN"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的</a:t>
            </a:r>
            <a:r>
              <a:rPr kumimoji="1"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;__n.</a:t>
            </a:r>
            <a:r>
              <a:rPr kumimoji="1"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必需品基本要素</a:t>
            </a:r>
            <a:r>
              <a:rPr kumimoji="1"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;__ad.</a:t>
            </a:r>
            <a:r>
              <a:rPr kumimoji="1"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本质上地 </a:t>
            </a:r>
            <a:r>
              <a:rPr kumimoji="1"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13.</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生动地描述</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个</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);__n.</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鲜艳生动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14.</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有远见的人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拓宽视野</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;__a.</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视觉的</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15.</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在被展出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个</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)16.worth, worthy, worthwhile</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各写两个用法</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崇高的事业</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3600" b="1" dirty="0">
                <a:solidFill>
                  <a:srgbClr val="FF0000"/>
                </a:solidFill>
                <a:sym typeface="+mn-ea"/>
              </a:rPr>
              <a:t>17.</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沐浴在</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用</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清洗伤口</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洗澡</a:t>
            </a:r>
            <a:r>
              <a:rPr lang="en-US"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 18.</a:t>
            </a:r>
            <a:r>
              <a:rPr lang="zh-CN" altLang="en-US"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发起一场战争</a:t>
            </a:r>
            <a:r>
              <a:rPr lang="en-US"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运动支持</a:t>
            </a:r>
            <a:r>
              <a:rPr lang="en-US"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反对</a:t>
            </a:r>
            <a:r>
              <a:rPr lang="en-US"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;__n.</a:t>
            </a:r>
            <a:r>
              <a:rPr lang="zh-CN" altLang="en-US"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者</a:t>
            </a:r>
            <a:r>
              <a:rPr lang="en-US"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 19.__</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建筑设计</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;__</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建筑师</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a:t>
            </a:r>
            <a:r>
              <a:rPr lang="en-US" altLang="zh-CN" sz="3600" b="1" i="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a:t>
            </a:r>
            <a:r>
              <a:rPr lang="zh-CN" altLang="zh-CN" sz="3600" b="1" dirty="0">
                <a:effectLst/>
                <a:latin typeface="Times New Roman" panose="02020603050405020304" pitchFamily="18" charset="0"/>
                <a:ea typeface="宋体" panose="02010600030101010101" pitchFamily="2" charset="-122"/>
                <a:cs typeface="Times New Roman" panose="02020603050405020304" pitchFamily="18" charset="0"/>
                <a:sym typeface="+mn-ea"/>
              </a:rPr>
              <a:t>建筑学的</a:t>
            </a:r>
            <a:r>
              <a:rPr lang="en-US" altLang="zh-CN" sz="3600" b="1" dirty="0">
                <a:effectLst/>
                <a:latin typeface="Times New Roman" panose="02020603050405020304" pitchFamily="18" charset="0"/>
                <a:ea typeface="宋体" panose="02010600030101010101" pitchFamily="2" charset="-122"/>
                <a:cs typeface="Times New Roman" panose="02020603050405020304" pitchFamily="18" charset="0"/>
                <a:sym typeface="+mn-ea"/>
              </a:rPr>
              <a:t> 20.</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为</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干杯</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 21.</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安排某人做某事</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为</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做安排</a:t>
            </a:r>
            <a:r>
              <a:rPr lang="en-US"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22.</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收集原材料</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 23.</a:t>
            </a:r>
            <a:r>
              <a:rPr kumimoji="1" lang="zh-CN" altLang="en-US" sz="3600" b="1" dirty="0">
                <a:solidFill>
                  <a:srgbClr val="FF0000"/>
                </a:solidFill>
                <a:sym typeface="+mn-ea"/>
              </a:rPr>
              <a:t>向下滚屏</a:t>
            </a:r>
            <a:endPar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70000" lnSpcReduction="20000"/>
          </a:bodyPr>
          <a:lstStyle/>
          <a:p>
            <a:pPr>
              <a:lnSpc>
                <a:spcPct val="70000"/>
              </a:lnSpc>
            </a:pPr>
            <a:r>
              <a:rPr lang="en-US" altLang="zh-CN" sz="3600" b="1" dirty="0">
                <a:solidFill>
                  <a:srgbClr val="FF0000"/>
                </a:solidFill>
              </a:rPr>
              <a:t> </a:t>
            </a:r>
            <a:r>
              <a:rPr lang="en-US" altLang="zh-CN" sz="3600" b="1" dirty="0"/>
              <a:t>U2</a:t>
            </a:r>
            <a:r>
              <a:rPr lang="zh-CN" altLang="en-US" sz="3600" b="1" dirty="0"/>
              <a:t>易错的</a:t>
            </a:r>
            <a:r>
              <a:rPr lang="zh-CN" altLang="en-US" sz="3600" b="1" dirty="0">
                <a:solidFill>
                  <a:srgbClr val="FF0000"/>
                </a:solidFill>
              </a:rPr>
              <a:t>   </a:t>
            </a:r>
            <a:r>
              <a:rPr lang="en-US" altLang="zh-CN" sz="3600" b="1" dirty="0">
                <a:solidFill>
                  <a:srgbClr val="FF0000"/>
                </a:solidFill>
              </a:rPr>
              <a:t>compo</a:t>
            </a:r>
            <a:r>
              <a:rPr lang="en-US" altLang="zh-CN" sz="3600" b="1" u="sng" dirty="0">
                <a:solidFill>
                  <a:srgbClr val="FF0000"/>
                </a:solidFill>
                <a:highlight>
                  <a:srgbClr val="FFFF00"/>
                </a:highlight>
              </a:rPr>
              <a:t>sition</a:t>
            </a:r>
            <a:r>
              <a:rPr lang="en-US" altLang="zh-CN" sz="3600" b="1" dirty="0">
                <a:solidFill>
                  <a:srgbClr val="FF0000"/>
                </a:solidFill>
              </a:rPr>
              <a:t> n.</a:t>
            </a:r>
            <a:r>
              <a:rPr lang="zh-CN" altLang="en-US" sz="3600" b="1" dirty="0">
                <a:solidFill>
                  <a:srgbClr val="FF0000"/>
                </a:solidFill>
              </a:rPr>
              <a:t>作品  </a:t>
            </a:r>
            <a:r>
              <a:rPr lang="en-US" altLang="zh-CN" sz="3600" b="1" dirty="0">
                <a:solidFill>
                  <a:srgbClr val="FF0000"/>
                </a:solidFill>
              </a:rPr>
              <a:t>compose oneself</a:t>
            </a:r>
            <a:r>
              <a:rPr lang="zh-CN" altLang="en-US" sz="3600" b="1" dirty="0">
                <a:solidFill>
                  <a:srgbClr val="FF0000"/>
                </a:solidFill>
              </a:rPr>
              <a:t>镇定  </a:t>
            </a:r>
            <a:endParaRPr lang="en-US" altLang="zh-CN" sz="3600" b="1" dirty="0">
              <a:solidFill>
                <a:srgbClr val="FF0000"/>
              </a:solidFill>
            </a:endParaRPr>
          </a:p>
          <a:p>
            <a:pPr>
              <a:lnSpc>
                <a:spcPct val="70000"/>
              </a:lnSpc>
            </a:pPr>
            <a:r>
              <a:rPr lang="en-US" altLang="zh-CN" sz="3600" b="1" u="sng" dirty="0">
                <a:solidFill>
                  <a:srgbClr val="FF0000"/>
                </a:solidFill>
              </a:rPr>
              <a:t> consist of</a:t>
            </a:r>
            <a:r>
              <a:rPr lang="en-US" altLang="zh-CN" sz="3600" b="1" dirty="0">
                <a:solidFill>
                  <a:srgbClr val="FF0000"/>
                </a:solidFill>
              </a:rPr>
              <a:t>=</a:t>
            </a:r>
            <a:r>
              <a:rPr lang="en-US" altLang="zh-CN" sz="3600" b="1" u="sng" dirty="0">
                <a:solidFill>
                  <a:srgbClr val="FF0000"/>
                </a:solidFill>
              </a:rPr>
              <a:t>be composed of </a:t>
            </a:r>
            <a:r>
              <a:rPr lang="en-US" altLang="zh-CN" sz="3600" b="1" dirty="0">
                <a:solidFill>
                  <a:srgbClr val="FF0000"/>
                </a:solidFill>
              </a:rPr>
              <a:t>=</a:t>
            </a:r>
            <a:r>
              <a:rPr lang="en-US" altLang="zh-CN" sz="3600" b="1" u="sng" dirty="0">
                <a:solidFill>
                  <a:srgbClr val="FF0000"/>
                </a:solidFill>
              </a:rPr>
              <a:t>be made </a:t>
            </a:r>
            <a:r>
              <a:rPr lang="en-US" altLang="zh-CN" sz="3600" b="1" u="sng" dirty="0">
                <a:solidFill>
                  <a:srgbClr val="FF0000"/>
                </a:solidFill>
                <a:highlight>
                  <a:srgbClr val="FFFF00"/>
                </a:highlight>
              </a:rPr>
              <a:t>up</a:t>
            </a:r>
            <a:r>
              <a:rPr lang="en-US" altLang="zh-CN" sz="3600" b="1" u="sng" dirty="0">
                <a:solidFill>
                  <a:srgbClr val="FF0000"/>
                </a:solidFill>
              </a:rPr>
              <a:t> of</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构成</a:t>
            </a:r>
            <a:endParaRPr lang="en-US" altLang="zh-CN" sz="3600" b="1" u="sng" dirty="0">
              <a:solidFill>
                <a:srgbClr val="FF0000"/>
              </a:solidFill>
            </a:endParaRPr>
          </a:p>
          <a:p>
            <a:pPr>
              <a:lnSpc>
                <a:spcPct val="70000"/>
              </a:lnSpc>
            </a:pPr>
            <a:r>
              <a:rPr lang="en-US" altLang="zh-CN" sz="3600" b="1" dirty="0">
                <a:solidFill>
                  <a:srgbClr val="FF0000"/>
                </a:solidFill>
              </a:rPr>
              <a:t> deserve </a:t>
            </a:r>
            <a:r>
              <a:rPr lang="en-US" altLang="zh-CN" sz="3600" b="1" u="sng" dirty="0">
                <a:solidFill>
                  <a:srgbClr val="FF0000"/>
                </a:solidFill>
                <a:highlight>
                  <a:srgbClr val="FFFF00"/>
                </a:highlight>
              </a:rPr>
              <a:t>doing</a:t>
            </a:r>
            <a:r>
              <a:rPr lang="en-US" altLang="zh-CN" sz="3600" b="1" dirty="0">
                <a:solidFill>
                  <a:srgbClr val="FF0000"/>
                </a:solidFill>
              </a:rPr>
              <a:t>=deserve </a:t>
            </a:r>
            <a:r>
              <a:rPr lang="en-US" altLang="zh-CN" sz="3600" b="1" u="sng" dirty="0">
                <a:solidFill>
                  <a:srgbClr val="FF0000"/>
                </a:solidFill>
                <a:highlight>
                  <a:srgbClr val="FFFF00"/>
                </a:highlight>
              </a:rPr>
              <a:t>to be done</a:t>
            </a:r>
            <a:r>
              <a:rPr lang="zh-CN" altLang="en-US" sz="3600" b="1" dirty="0">
                <a:solidFill>
                  <a:srgbClr val="FF0000"/>
                </a:solidFill>
              </a:rPr>
              <a:t>值得被</a:t>
            </a:r>
            <a:endParaRPr lang="en-US" altLang="zh-CN" sz="3600" b="1" dirty="0">
              <a:solidFill>
                <a:srgbClr val="FF0000"/>
              </a:solidFill>
            </a:endParaRPr>
          </a:p>
          <a:p>
            <a:pPr>
              <a:lnSpc>
                <a:spcPct val="70000"/>
              </a:lnSpc>
            </a:pPr>
            <a:r>
              <a:rPr lang="en-US" altLang="zh-CN" sz="3600" b="1" dirty="0">
                <a:solidFill>
                  <a:srgbClr val="FF0000"/>
                </a:solidFill>
              </a:rPr>
              <a:t> abandon </a:t>
            </a:r>
            <a:r>
              <a:rPr lang="en-US" altLang="zh-CN" sz="3600" b="1" u="sng" dirty="0">
                <a:solidFill>
                  <a:srgbClr val="FF0000"/>
                </a:solidFill>
                <a:highlight>
                  <a:srgbClr val="FFFF00"/>
                </a:highlight>
              </a:rPr>
              <a:t>doing</a:t>
            </a:r>
            <a:r>
              <a:rPr lang="en-US" altLang="zh-CN" sz="3600" b="1" dirty="0">
                <a:solidFill>
                  <a:srgbClr val="FF0000"/>
                </a:solidFill>
              </a:rPr>
              <a:t>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放弃</a:t>
            </a:r>
            <a:r>
              <a:rPr lang="en-US" altLang="zh-CN" sz="3600" b="1" dirty="0">
                <a:solidFill>
                  <a:srgbClr val="FF0000"/>
                </a:solidFill>
              </a:rPr>
              <a:t>;abandon </a:t>
            </a:r>
            <a:r>
              <a:rPr lang="en-US" altLang="zh-CN" sz="3600" b="1" u="sng" dirty="0">
                <a:solidFill>
                  <a:srgbClr val="FF0000"/>
                </a:solidFill>
              </a:rPr>
              <a:t>oneself to doing </a:t>
            </a:r>
            <a:r>
              <a:rPr lang="en-US" altLang="zh-CN" sz="3600" b="1" u="sng" dirty="0" err="1">
                <a:solidFill>
                  <a:srgbClr val="FF0000"/>
                </a:solidFill>
              </a:rPr>
              <a:t>sth</a:t>
            </a:r>
            <a:r>
              <a:rPr lang="en-US" altLang="zh-CN" sz="3600" b="1" dirty="0">
                <a:solidFill>
                  <a:srgbClr val="FF0000"/>
                </a:solidFill>
              </a:rPr>
              <a:t>.</a:t>
            </a:r>
            <a:r>
              <a:rPr lang="zh-CN" altLang="en-US" sz="3600" b="1" dirty="0">
                <a:solidFill>
                  <a:srgbClr val="FF0000"/>
                </a:solidFill>
              </a:rPr>
              <a:t>沉溺</a:t>
            </a:r>
            <a:endParaRPr lang="en-US" altLang="zh-CN" sz="3600" b="1" dirty="0">
              <a:solidFill>
                <a:srgbClr val="FF0000"/>
              </a:solidFill>
            </a:endParaRPr>
          </a:p>
          <a:p>
            <a:pPr>
              <a:lnSpc>
                <a:spcPct val="70000"/>
              </a:lnSpc>
            </a:pPr>
            <a:r>
              <a:rPr lang="en-US" altLang="zh-CN" sz="3600" b="1" dirty="0">
                <a:solidFill>
                  <a:srgbClr val="FF0000"/>
                </a:solidFill>
              </a:rPr>
              <a:t> be </a:t>
            </a:r>
            <a:r>
              <a:rPr lang="en-US" altLang="zh-CN" sz="3600" b="1" u="sng" dirty="0">
                <a:solidFill>
                  <a:srgbClr val="FF0000"/>
                </a:solidFill>
                <a:highlight>
                  <a:srgbClr val="FFFF00"/>
                </a:highlight>
              </a:rPr>
              <a:t>desperate</a:t>
            </a:r>
            <a:r>
              <a:rPr lang="en-US" altLang="zh-CN" sz="3600" b="1" dirty="0">
                <a:solidFill>
                  <a:srgbClr val="FF0000"/>
                </a:solidFill>
              </a:rPr>
              <a:t> to do</a:t>
            </a:r>
            <a:r>
              <a:rPr lang="zh-CN" altLang="en-US" sz="3600" b="1" dirty="0">
                <a:solidFill>
                  <a:srgbClr val="FF0000"/>
                </a:solidFill>
              </a:rPr>
              <a:t>渴望</a:t>
            </a:r>
            <a:r>
              <a:rPr lang="en-US" altLang="zh-CN" sz="3600" b="1" dirty="0">
                <a:solidFill>
                  <a:srgbClr val="FF0000"/>
                </a:solidFill>
              </a:rPr>
              <a:t>; </a:t>
            </a:r>
            <a:r>
              <a:rPr lang="zh-CN" altLang="en-US" sz="3600" b="1" dirty="0">
                <a:solidFill>
                  <a:srgbClr val="FF0000"/>
                </a:solidFill>
              </a:rPr>
              <a:t>→</a:t>
            </a:r>
            <a:r>
              <a:rPr lang="en-US" altLang="zh-CN" sz="3600" b="1" dirty="0">
                <a:solidFill>
                  <a:srgbClr val="FF0000"/>
                </a:solidFill>
                <a:highlight>
                  <a:srgbClr val="FFFF00"/>
                </a:highlight>
              </a:rPr>
              <a:t>desperately</a:t>
            </a:r>
            <a:r>
              <a:rPr lang="en-US" altLang="zh-CN" sz="3600" b="1" dirty="0">
                <a:solidFill>
                  <a:srgbClr val="FF0000"/>
                </a:solidFill>
              </a:rPr>
              <a:t> adv. </a:t>
            </a:r>
            <a:r>
              <a:rPr lang="zh-CN" altLang="en-US" sz="3600" b="1" dirty="0">
                <a:solidFill>
                  <a:srgbClr val="FF0000"/>
                </a:solidFill>
              </a:rPr>
              <a:t>→</a:t>
            </a:r>
            <a:r>
              <a:rPr lang="en-US" altLang="zh-CN" sz="3600" b="1" dirty="0">
                <a:solidFill>
                  <a:srgbClr val="FF0000"/>
                </a:solidFill>
                <a:highlight>
                  <a:srgbClr val="FFFF00"/>
                </a:highlight>
              </a:rPr>
              <a:t>desperation</a:t>
            </a:r>
            <a:r>
              <a:rPr lang="en-US" altLang="zh-CN" sz="3600" b="1" dirty="0">
                <a:solidFill>
                  <a:srgbClr val="FF0000"/>
                </a:solidFill>
              </a:rPr>
              <a:t> n.</a:t>
            </a:r>
          </a:p>
          <a:p>
            <a:pPr>
              <a:lnSpc>
                <a:spcPct val="70000"/>
              </a:lnSpc>
            </a:pPr>
            <a:r>
              <a:rPr lang="en-US" altLang="zh-CN" sz="3600" b="1" dirty="0">
                <a:solidFill>
                  <a:srgbClr val="FF0000"/>
                </a:solidFill>
              </a:rPr>
              <a:t> </a:t>
            </a:r>
            <a:r>
              <a:rPr lang="en-US" altLang="zh-CN" sz="3600" b="1" u="sng" dirty="0">
                <a:solidFill>
                  <a:srgbClr val="FF0000"/>
                </a:solidFill>
                <a:highlight>
                  <a:srgbClr val="FFFF00"/>
                </a:highlight>
              </a:rPr>
              <a:t>under</a:t>
            </a:r>
            <a:r>
              <a:rPr lang="en-US" altLang="zh-CN" sz="3600" b="1" dirty="0">
                <a:solidFill>
                  <a:srgbClr val="FF0000"/>
                </a:solidFill>
              </a:rPr>
              <a:t> guarantee (guaran</a:t>
            </a:r>
            <a:r>
              <a:rPr lang="en-US" altLang="zh-CN" sz="3600" b="1" dirty="0">
                <a:solidFill>
                  <a:srgbClr val="FF0000"/>
                </a:solidFill>
                <a:highlight>
                  <a:srgbClr val="FFFF00"/>
                </a:highlight>
              </a:rPr>
              <a:t>teed</a:t>
            </a:r>
            <a:r>
              <a:rPr lang="en-US" altLang="zh-CN" sz="3600" b="1" dirty="0">
                <a:solidFill>
                  <a:srgbClr val="FF0000"/>
                </a:solidFill>
              </a:rPr>
              <a:t>*2, guaran</a:t>
            </a:r>
            <a:r>
              <a:rPr lang="en-US" altLang="zh-CN" sz="3600" b="1" dirty="0">
                <a:solidFill>
                  <a:srgbClr val="FF0000"/>
                </a:solidFill>
                <a:highlight>
                  <a:srgbClr val="FFFF00"/>
                </a:highlight>
              </a:rPr>
              <a:t>teeing</a:t>
            </a:r>
            <a:r>
              <a:rPr lang="en-US" altLang="zh-CN" sz="3600" b="1" dirty="0">
                <a:solidFill>
                  <a:srgbClr val="FF0000"/>
                </a:solidFill>
              </a:rPr>
              <a:t>)</a:t>
            </a:r>
          </a:p>
          <a:p>
            <a:pPr>
              <a:lnSpc>
                <a:spcPct val="70000"/>
              </a:lnSpc>
            </a:pPr>
            <a:r>
              <a:rPr lang="en-US" altLang="zh-CN" sz="3600" b="1" dirty="0">
                <a:solidFill>
                  <a:srgbClr val="FF0000"/>
                </a:solidFill>
              </a:rPr>
              <a:t> be</a:t>
            </a:r>
            <a:r>
              <a:rPr lang="zh-CN" altLang="en-US" sz="3600" b="1" dirty="0">
                <a:solidFill>
                  <a:srgbClr val="FF0000"/>
                </a:solidFill>
              </a:rPr>
              <a:t> </a:t>
            </a:r>
            <a:r>
              <a:rPr lang="en-US" altLang="zh-CN" sz="3600" b="1" dirty="0">
                <a:solidFill>
                  <a:srgbClr val="FF0000"/>
                </a:solidFill>
              </a:rPr>
              <a:t>overc</a:t>
            </a:r>
            <a:r>
              <a:rPr lang="en-US" altLang="zh-CN" sz="3600" b="1" dirty="0">
                <a:solidFill>
                  <a:srgbClr val="FF0000"/>
                </a:solidFill>
                <a:highlight>
                  <a:srgbClr val="FFFF00"/>
                </a:highlight>
              </a:rPr>
              <a:t>o</a:t>
            </a:r>
            <a:r>
              <a:rPr lang="en-US" altLang="zh-CN" sz="3600" b="1" dirty="0">
                <a:solidFill>
                  <a:srgbClr val="FF0000"/>
                </a:solidFill>
              </a:rPr>
              <a:t>me</a:t>
            </a:r>
            <a:r>
              <a:rPr lang="zh-CN" altLang="en-US" sz="3600" b="1" dirty="0">
                <a:solidFill>
                  <a:srgbClr val="FF0000"/>
                </a:solidFill>
              </a:rPr>
              <a:t> </a:t>
            </a:r>
            <a:r>
              <a:rPr lang="en-US" altLang="zh-CN" sz="3600" b="1" dirty="0">
                <a:solidFill>
                  <a:srgbClr val="FF0000"/>
                </a:solidFill>
              </a:rPr>
              <a:t>with/by</a:t>
            </a:r>
            <a:r>
              <a:rPr lang="zh-CN" altLang="en-US" sz="3600" b="1" dirty="0">
                <a:solidFill>
                  <a:srgbClr val="FF0000"/>
                </a:solidFill>
              </a:rPr>
              <a:t>充斥压倒</a:t>
            </a:r>
            <a:r>
              <a:rPr lang="en-US" altLang="zh-CN" sz="3600" b="1" dirty="0">
                <a:solidFill>
                  <a:srgbClr val="FF0000"/>
                </a:solidFill>
              </a:rPr>
              <a:t>(overc</a:t>
            </a:r>
            <a:r>
              <a:rPr lang="en-US" altLang="zh-CN" sz="3600" b="1" dirty="0">
                <a:solidFill>
                  <a:srgbClr val="FF0000"/>
                </a:solidFill>
                <a:highlight>
                  <a:srgbClr val="FFFF00"/>
                </a:highlight>
              </a:rPr>
              <a:t>a</a:t>
            </a:r>
            <a:r>
              <a:rPr lang="en-US" altLang="zh-CN" sz="3600" b="1" dirty="0">
                <a:solidFill>
                  <a:srgbClr val="FF0000"/>
                </a:solidFill>
              </a:rPr>
              <a:t>me, overc</a:t>
            </a:r>
            <a:r>
              <a:rPr lang="en-US" altLang="zh-CN" sz="3600" b="1" dirty="0">
                <a:solidFill>
                  <a:srgbClr val="FF0000"/>
                </a:solidFill>
                <a:highlight>
                  <a:srgbClr val="FFFF00"/>
                </a:highlight>
              </a:rPr>
              <a:t>o</a:t>
            </a:r>
            <a:r>
              <a:rPr lang="en-US" altLang="zh-CN" sz="3600" b="1" dirty="0">
                <a:solidFill>
                  <a:srgbClr val="FF0000"/>
                </a:solidFill>
              </a:rPr>
              <a:t>me); </a:t>
            </a:r>
          </a:p>
          <a:p>
            <a:pPr>
              <a:lnSpc>
                <a:spcPct val="70000"/>
              </a:lnSpc>
            </a:pPr>
            <a:r>
              <a:rPr lang="en-US" altLang="zh-CN" sz="3600" b="1" dirty="0">
                <a:solidFill>
                  <a:srgbClr val="FF0000"/>
                </a:solidFill>
              </a:rPr>
              <a:t> tear apart (</a:t>
            </a:r>
            <a:r>
              <a:rPr lang="en-US" altLang="zh-CN" sz="3600" b="1" dirty="0">
                <a:solidFill>
                  <a:srgbClr val="FF0000"/>
                </a:solidFill>
                <a:highlight>
                  <a:srgbClr val="FFFF00"/>
                </a:highlight>
              </a:rPr>
              <a:t>tore, torn</a:t>
            </a:r>
            <a:r>
              <a:rPr lang="en-US" altLang="zh-CN" sz="3600" b="1" dirty="0">
                <a:solidFill>
                  <a:srgbClr val="FF0000"/>
                </a:solidFill>
              </a:rPr>
              <a:t>)</a:t>
            </a:r>
            <a:r>
              <a:rPr lang="zh-CN" altLang="en-US" sz="3600" b="1" dirty="0">
                <a:solidFill>
                  <a:srgbClr val="FF0000"/>
                </a:solidFill>
              </a:rPr>
              <a:t>分离→</a:t>
            </a:r>
            <a:r>
              <a:rPr lang="en-US" altLang="zh-CN" sz="3600" b="1" u="sng" dirty="0">
                <a:solidFill>
                  <a:srgbClr val="FF0000"/>
                </a:solidFill>
              </a:rPr>
              <a:t>be </a:t>
            </a:r>
            <a:r>
              <a:rPr lang="en-US" altLang="zh-CN" sz="3600" b="1" u="sng" dirty="0">
                <a:solidFill>
                  <a:srgbClr val="FF0000"/>
                </a:solidFill>
                <a:highlight>
                  <a:srgbClr val="FFFF00"/>
                </a:highlight>
              </a:rPr>
              <a:t>torn</a:t>
            </a:r>
            <a:r>
              <a:rPr lang="en-US" altLang="zh-CN" sz="3600" b="1" u="sng" dirty="0">
                <a:solidFill>
                  <a:srgbClr val="FF0000"/>
                </a:solidFill>
              </a:rPr>
              <a:t> apart by</a:t>
            </a:r>
            <a:r>
              <a:rPr lang="zh-CN" altLang="en-US" sz="3600" b="1" dirty="0">
                <a:solidFill>
                  <a:srgbClr val="FF0000"/>
                </a:solidFill>
              </a:rPr>
              <a:t>被拆散</a:t>
            </a:r>
            <a:endParaRPr lang="en-US" altLang="zh-CN" sz="3600" b="1" dirty="0">
              <a:solidFill>
                <a:srgbClr val="FF0000"/>
              </a:solidFill>
            </a:endParaRPr>
          </a:p>
          <a:p>
            <a:pPr>
              <a:lnSpc>
                <a:spcPct val="70000"/>
              </a:lnSpc>
            </a:pPr>
            <a:r>
              <a:rPr lang="en-US" altLang="zh-CN" sz="3600" b="1" dirty="0">
                <a:solidFill>
                  <a:srgbClr val="FF0000"/>
                </a:solidFill>
              </a:rPr>
              <a:t> in </a:t>
            </a:r>
            <a:r>
              <a:rPr lang="en-US" altLang="zh-CN" sz="3600" b="1" u="sng" dirty="0">
                <a:solidFill>
                  <a:srgbClr val="FF0000"/>
                </a:solidFill>
                <a:highlight>
                  <a:srgbClr val="FFFF00"/>
                </a:highlight>
              </a:rPr>
              <a:t>a</a:t>
            </a:r>
            <a:r>
              <a:rPr lang="en-US" altLang="zh-CN" sz="3600" b="1" dirty="0">
                <a:solidFill>
                  <a:srgbClr val="FF0000"/>
                </a:solidFill>
              </a:rPr>
              <a:t> whisper</a:t>
            </a:r>
            <a:r>
              <a:rPr lang="zh-CN" altLang="en-US" sz="3600" b="1" dirty="0">
                <a:solidFill>
                  <a:srgbClr val="FF0000"/>
                </a:solidFill>
              </a:rPr>
              <a:t>低语</a:t>
            </a:r>
            <a:r>
              <a:rPr lang="en-US" altLang="zh-CN" sz="3600" b="1" dirty="0">
                <a:solidFill>
                  <a:srgbClr val="FF0000"/>
                </a:solidFill>
              </a:rPr>
              <a:t>; all of </a:t>
            </a:r>
            <a:r>
              <a:rPr lang="en-US" altLang="zh-CN" sz="3600" b="1" u="sng" dirty="0">
                <a:solidFill>
                  <a:srgbClr val="FF0000"/>
                </a:solidFill>
                <a:highlight>
                  <a:srgbClr val="FFFF00"/>
                </a:highlight>
              </a:rPr>
              <a:t>a</a:t>
            </a:r>
            <a:r>
              <a:rPr lang="en-US" altLang="zh-CN" sz="3600" b="1" dirty="0">
                <a:solidFill>
                  <a:srgbClr val="FF0000"/>
                </a:solidFill>
              </a:rPr>
              <a:t> sudden; have </a:t>
            </a:r>
            <a:r>
              <a:rPr lang="en-US" altLang="zh-CN" sz="3600" b="1" u="sng" dirty="0">
                <a:solidFill>
                  <a:srgbClr val="FF0000"/>
                </a:solidFill>
                <a:highlight>
                  <a:srgbClr val="FFFF00"/>
                </a:highlight>
              </a:rPr>
              <a:t>a</a:t>
            </a:r>
            <a:r>
              <a:rPr lang="en-US" altLang="zh-CN" sz="3600" b="1" dirty="0">
                <a:solidFill>
                  <a:srgbClr val="FF0000"/>
                </a:solidFill>
              </a:rPr>
              <a:t> reputation for;</a:t>
            </a:r>
            <a:r>
              <a:rPr lang="zh-CN" altLang="en-US" sz="3600" b="1" dirty="0">
                <a:solidFill>
                  <a:srgbClr val="FF0000"/>
                </a:solidFill>
              </a:rPr>
              <a:t> </a:t>
            </a:r>
            <a:r>
              <a:rPr lang="en-US" altLang="zh-CN" sz="3600" b="1" dirty="0">
                <a:solidFill>
                  <a:srgbClr val="FF0000"/>
                </a:solidFill>
              </a:rPr>
              <a:t>have</a:t>
            </a:r>
            <a:r>
              <a:rPr lang="zh-CN" altLang="en-US" sz="3600" b="1" dirty="0">
                <a:solidFill>
                  <a:srgbClr val="FF0000"/>
                </a:solidFill>
              </a:rPr>
              <a:t> </a:t>
            </a:r>
            <a:r>
              <a:rPr lang="en-US" altLang="zh-CN" sz="3600" b="1" u="sng" dirty="0">
                <a:solidFill>
                  <a:srgbClr val="FF0000"/>
                </a:solidFill>
                <a:highlight>
                  <a:srgbClr val="FFFF00"/>
                </a:highlight>
              </a:rPr>
              <a:t>a</a:t>
            </a:r>
            <a:r>
              <a:rPr lang="zh-CN" altLang="en-US" sz="3600" b="1" dirty="0">
                <a:solidFill>
                  <a:srgbClr val="FF0000"/>
                </a:solidFill>
              </a:rPr>
              <a:t> </a:t>
            </a:r>
            <a:r>
              <a:rPr lang="en-US" altLang="zh-CN" sz="3600" b="1" dirty="0">
                <a:solidFill>
                  <a:srgbClr val="FF0000"/>
                </a:solidFill>
              </a:rPr>
              <a:t>gift for</a:t>
            </a:r>
          </a:p>
          <a:p>
            <a:pPr>
              <a:lnSpc>
                <a:spcPct val="70000"/>
              </a:lnSpc>
            </a:pPr>
            <a:r>
              <a:rPr lang="en-US" altLang="zh-CN" sz="3600" b="1" dirty="0">
                <a:solidFill>
                  <a:srgbClr val="FF0000"/>
                </a:solidFill>
              </a:rPr>
              <a:t> in </a:t>
            </a:r>
            <a:r>
              <a:rPr lang="en-US" altLang="zh-CN" sz="3600" b="1" u="sng" dirty="0">
                <a:solidFill>
                  <a:srgbClr val="FF0000"/>
                </a:solidFill>
                <a:highlight>
                  <a:srgbClr val="FFFF00"/>
                </a:highlight>
              </a:rPr>
              <a:t>the</a:t>
            </a:r>
            <a:r>
              <a:rPr lang="en-US" altLang="zh-CN" sz="3600" b="1" dirty="0">
                <a:solidFill>
                  <a:srgbClr val="FF0000"/>
                </a:solidFill>
              </a:rPr>
              <a:t> distance; at </a:t>
            </a:r>
            <a:r>
              <a:rPr lang="en-US" altLang="zh-CN" sz="3600" b="1" u="sng" dirty="0">
                <a:solidFill>
                  <a:srgbClr val="FF0000"/>
                </a:solidFill>
                <a:highlight>
                  <a:srgbClr val="FFFF00"/>
                </a:highlight>
              </a:rPr>
              <a:t>a</a:t>
            </a:r>
            <a:r>
              <a:rPr lang="en-US" altLang="zh-CN" sz="3600" b="1" dirty="0">
                <a:solidFill>
                  <a:srgbClr val="FF0000"/>
                </a:solidFill>
              </a:rPr>
              <a:t> distance of…; keep sb. </a:t>
            </a:r>
            <a:r>
              <a:rPr lang="en-US" altLang="zh-CN" sz="3600" b="1" dirty="0">
                <a:solidFill>
                  <a:srgbClr val="FF0000"/>
                </a:solidFill>
                <a:highlight>
                  <a:srgbClr val="FFFF00"/>
                </a:highlight>
              </a:rPr>
              <a:t>at a</a:t>
            </a:r>
            <a:r>
              <a:rPr lang="en-US" altLang="zh-CN" sz="3600" b="1" dirty="0">
                <a:solidFill>
                  <a:srgbClr val="FF0000"/>
                </a:solidFill>
              </a:rPr>
              <a:t> distance;</a:t>
            </a:r>
          </a:p>
          <a:p>
            <a:pPr>
              <a:lnSpc>
                <a:spcPct val="70000"/>
              </a:lnSpc>
            </a:pPr>
            <a:r>
              <a:rPr lang="en-US" altLang="zh-CN" sz="3600" b="1" u="sng" dirty="0">
                <a:solidFill>
                  <a:srgbClr val="FF0000"/>
                </a:solidFill>
              </a:rPr>
              <a:t> live up to </a:t>
            </a:r>
            <a:r>
              <a:rPr lang="en-US" altLang="zh-CN" sz="3600" b="1" dirty="0">
                <a:solidFill>
                  <a:srgbClr val="FF0000"/>
                </a:solidFill>
              </a:rPr>
              <a:t>one’s expectation</a:t>
            </a:r>
            <a:r>
              <a:rPr lang="en-US" altLang="zh-CN" sz="3600" b="1" u="sng" dirty="0">
                <a:solidFill>
                  <a:srgbClr val="FF0000"/>
                </a:solidFill>
                <a:highlight>
                  <a:srgbClr val="FFFF00"/>
                </a:highlight>
              </a:rPr>
              <a:t>s</a:t>
            </a:r>
            <a:r>
              <a:rPr lang="zh-CN" altLang="en-US" sz="3600" b="1" dirty="0">
                <a:solidFill>
                  <a:srgbClr val="FF0000"/>
                </a:solidFill>
              </a:rPr>
              <a:t>不辜负期待</a:t>
            </a:r>
            <a:r>
              <a:rPr lang="en-US" altLang="zh-CN" sz="3600" b="1" dirty="0">
                <a:solidFill>
                  <a:srgbClr val="FF0000"/>
                </a:solidFill>
              </a:rPr>
              <a:t>; in </a:t>
            </a:r>
            <a:r>
              <a:rPr lang="en-US" altLang="zh-CN" sz="3600" b="1" u="sng" dirty="0">
                <a:solidFill>
                  <a:srgbClr val="FF0000"/>
                </a:solidFill>
              </a:rPr>
              <a:t>expectation</a:t>
            </a:r>
            <a:r>
              <a:rPr lang="en-US" altLang="zh-CN" sz="3600" b="1" dirty="0">
                <a:solidFill>
                  <a:srgbClr val="FF0000"/>
                </a:solidFill>
              </a:rPr>
              <a:t> of</a:t>
            </a:r>
            <a:r>
              <a:rPr lang="zh-CN" altLang="en-US" sz="3600" b="1" dirty="0">
                <a:solidFill>
                  <a:srgbClr val="FF0000"/>
                </a:solidFill>
              </a:rPr>
              <a:t>期待</a:t>
            </a:r>
            <a:endParaRPr lang="en-US" altLang="zh-CN" sz="3600" b="1" dirty="0">
              <a:solidFill>
                <a:srgbClr val="FF0000"/>
              </a:solidFill>
            </a:endParaRPr>
          </a:p>
          <a:p>
            <a:pPr>
              <a:lnSpc>
                <a:spcPct val="70000"/>
              </a:lnSpc>
            </a:pPr>
            <a:r>
              <a:rPr lang="en-US" altLang="zh-CN" sz="3600" b="1" dirty="0">
                <a:solidFill>
                  <a:srgbClr val="FF0000"/>
                </a:solidFill>
                <a:highlight>
                  <a:srgbClr val="FFFF00"/>
                </a:highlight>
              </a:rPr>
              <a:t> accompany</a:t>
            </a:r>
            <a:r>
              <a:rPr lang="en-US" altLang="zh-CN" sz="3600" b="1" dirty="0">
                <a:solidFill>
                  <a:srgbClr val="FF0000"/>
                </a:solidFill>
              </a:rPr>
              <a:t> sb. to sp. (accompa</a:t>
            </a:r>
            <a:r>
              <a:rPr lang="en-US" altLang="zh-CN" sz="3600" b="1" u="sng" dirty="0">
                <a:solidFill>
                  <a:srgbClr val="FF0000"/>
                </a:solidFill>
                <a:highlight>
                  <a:srgbClr val="FFFF00"/>
                </a:highlight>
              </a:rPr>
              <a:t>nied</a:t>
            </a:r>
            <a:r>
              <a:rPr lang="en-US" altLang="zh-CN" sz="3600" b="1" dirty="0">
                <a:solidFill>
                  <a:srgbClr val="FF0000"/>
                </a:solidFill>
              </a:rPr>
              <a:t>*2);  </a:t>
            </a:r>
            <a:r>
              <a:rPr lang="en-US" altLang="zh-CN" sz="3600" b="1" u="sng" dirty="0">
                <a:solidFill>
                  <a:srgbClr val="FF0000"/>
                </a:solidFill>
                <a:highlight>
                  <a:srgbClr val="FFFF00"/>
                </a:highlight>
              </a:rPr>
              <a:t>ease</a:t>
            </a:r>
            <a:r>
              <a:rPr lang="en-US" altLang="zh-CN" sz="3600" b="1" dirty="0">
                <a:solidFill>
                  <a:srgbClr val="FF0000"/>
                </a:solidFill>
              </a:rPr>
              <a:t> sb. </a:t>
            </a:r>
            <a:r>
              <a:rPr lang="en-US" altLang="zh-CN" sz="3600" b="1" u="sng" dirty="0">
                <a:solidFill>
                  <a:srgbClr val="FF0000"/>
                </a:solidFill>
                <a:highlight>
                  <a:srgbClr val="FFFF00"/>
                </a:highlight>
              </a:rPr>
              <a:t>of</a:t>
            </a:r>
            <a:r>
              <a:rPr lang="en-US" altLang="zh-CN" sz="3600" b="1" dirty="0">
                <a:solidFill>
                  <a:srgbClr val="FF0000"/>
                </a:solidFill>
              </a:rPr>
              <a:t> one’s burden; </a:t>
            </a:r>
          </a:p>
          <a:p>
            <a:pPr>
              <a:lnSpc>
                <a:spcPct val="70000"/>
              </a:lnSpc>
            </a:pPr>
            <a:r>
              <a:rPr lang="en-US" altLang="zh-CN" sz="3600" b="1" dirty="0">
                <a:solidFill>
                  <a:srgbClr val="FF0000"/>
                </a:solidFill>
              </a:rPr>
              <a:t> be enthusiastic about; enthusiasti</a:t>
            </a:r>
            <a:r>
              <a:rPr lang="en-US" altLang="zh-CN" sz="3600" b="1" u="sng" dirty="0">
                <a:solidFill>
                  <a:srgbClr val="FF0000"/>
                </a:solidFill>
                <a:highlight>
                  <a:srgbClr val="FFFF00"/>
                </a:highlight>
              </a:rPr>
              <a:t>cally</a:t>
            </a:r>
            <a:r>
              <a:rPr lang="en-US" altLang="zh-CN" sz="3600" b="1" dirty="0">
                <a:solidFill>
                  <a:srgbClr val="FF0000"/>
                </a:solidFill>
              </a:rPr>
              <a:t> ad.; </a:t>
            </a:r>
          </a:p>
          <a:p>
            <a:pPr>
              <a:lnSpc>
                <a:spcPct val="70000"/>
              </a:lnSpc>
            </a:pPr>
            <a:r>
              <a:rPr lang="zh-CN" altLang="en-US" sz="3600" b="1" dirty="0">
                <a:solidFill>
                  <a:srgbClr val="FF0000"/>
                </a:solidFill>
              </a:rPr>
              <a:t> 人</a:t>
            </a:r>
            <a:r>
              <a:rPr lang="en-US" altLang="zh-CN" sz="3600" b="1" dirty="0">
                <a:solidFill>
                  <a:srgbClr val="FF0000"/>
                </a:solidFill>
              </a:rPr>
              <a:t>be </a:t>
            </a:r>
            <a:r>
              <a:rPr lang="en-US" altLang="zh-CN" sz="3600" b="1" u="sng" dirty="0">
                <a:solidFill>
                  <a:srgbClr val="FF0000"/>
                </a:solidFill>
              </a:rPr>
              <a:t>in possession of</a:t>
            </a:r>
            <a:r>
              <a:rPr lang="zh-CN" altLang="en-US" sz="3600" b="1" dirty="0">
                <a:solidFill>
                  <a:srgbClr val="FF0000"/>
                </a:solidFill>
              </a:rPr>
              <a:t>物</a:t>
            </a:r>
            <a:r>
              <a:rPr lang="en-US" altLang="zh-CN" sz="3600" b="1" dirty="0">
                <a:solidFill>
                  <a:srgbClr val="FF0000"/>
                </a:solidFill>
              </a:rPr>
              <a:t>; </a:t>
            </a:r>
            <a:r>
              <a:rPr lang="zh-CN" altLang="en-US" sz="3600" b="1" dirty="0">
                <a:solidFill>
                  <a:srgbClr val="FF0000"/>
                </a:solidFill>
              </a:rPr>
              <a:t>物</a:t>
            </a:r>
            <a:r>
              <a:rPr lang="en-US" altLang="zh-CN" sz="3600" b="1" dirty="0">
                <a:solidFill>
                  <a:srgbClr val="FF0000"/>
                </a:solidFill>
              </a:rPr>
              <a:t>be </a:t>
            </a:r>
            <a:r>
              <a:rPr lang="en-US" altLang="zh-CN" sz="3600" b="1" u="sng" dirty="0">
                <a:solidFill>
                  <a:srgbClr val="FF0000"/>
                </a:solidFill>
              </a:rPr>
              <a:t>in </a:t>
            </a:r>
            <a:r>
              <a:rPr lang="en-US" altLang="zh-CN" sz="3600" b="1" u="sng" dirty="0">
                <a:solidFill>
                  <a:srgbClr val="FF0000"/>
                </a:solidFill>
                <a:highlight>
                  <a:srgbClr val="FFFF00"/>
                </a:highlight>
              </a:rPr>
              <a:t>the</a:t>
            </a:r>
            <a:r>
              <a:rPr lang="en-US" altLang="zh-CN" sz="3600" b="1" u="sng" dirty="0">
                <a:solidFill>
                  <a:srgbClr val="FF0000"/>
                </a:solidFill>
              </a:rPr>
              <a:t> possession of</a:t>
            </a:r>
            <a:r>
              <a:rPr lang="zh-CN" altLang="en-US" sz="3600" b="1" u="sng" dirty="0">
                <a:solidFill>
                  <a:srgbClr val="FF0000"/>
                </a:solidFill>
              </a:rPr>
              <a:t> </a:t>
            </a:r>
            <a:r>
              <a:rPr lang="en-US" altLang="zh-CN" sz="3600" b="1" u="sng" dirty="0">
                <a:solidFill>
                  <a:srgbClr val="FF0000"/>
                </a:solidFill>
              </a:rPr>
              <a:t>sb.</a:t>
            </a:r>
            <a:r>
              <a:rPr lang="en-US" altLang="zh-CN" sz="3600" b="1" dirty="0">
                <a:solidFill>
                  <a:srgbClr val="FF0000"/>
                </a:solidFill>
              </a:rPr>
              <a:t>=in one’s possession</a:t>
            </a:r>
          </a:p>
          <a:p>
            <a:pPr>
              <a:lnSpc>
                <a:spcPct val="70000"/>
              </a:lnSpc>
            </a:pPr>
            <a:r>
              <a:rPr lang="en-US" altLang="zh-CN" sz="3600" b="1" dirty="0">
                <a:solidFill>
                  <a:srgbClr val="FF0000"/>
                </a:solidFill>
              </a:rPr>
              <a:t> in </a:t>
            </a:r>
            <a:r>
              <a:rPr lang="en-US" altLang="zh-CN" sz="3600" b="1" dirty="0">
                <a:solidFill>
                  <a:srgbClr val="FF0000"/>
                </a:solidFill>
                <a:highlight>
                  <a:srgbClr val="FFFF00"/>
                </a:highlight>
              </a:rPr>
              <a:t>combination</a:t>
            </a:r>
            <a:r>
              <a:rPr lang="en-US" altLang="zh-CN" sz="3600" b="1" dirty="0">
                <a:solidFill>
                  <a:srgbClr val="FF0000"/>
                </a:solidFill>
              </a:rPr>
              <a:t> with</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结合</a:t>
            </a:r>
            <a:r>
              <a:rPr lang="en-US" altLang="zh-CN" sz="3600" b="1" dirty="0">
                <a:solidFill>
                  <a:srgbClr val="FF0000"/>
                </a:solidFill>
              </a:rPr>
              <a:t>; in </a:t>
            </a:r>
            <a:r>
              <a:rPr lang="en-US" altLang="zh-CN" sz="3600" b="1" dirty="0" err="1">
                <a:solidFill>
                  <a:srgbClr val="FF0000"/>
                </a:solidFill>
                <a:highlight>
                  <a:srgbClr val="FFFF00"/>
                </a:highlight>
              </a:rPr>
              <a:t>defence</a:t>
            </a:r>
            <a:r>
              <a:rPr lang="en-US" altLang="zh-CN" sz="3600" b="1" dirty="0">
                <a:solidFill>
                  <a:srgbClr val="FF0000"/>
                </a:solidFill>
              </a:rPr>
              <a:t> of</a:t>
            </a:r>
            <a:r>
              <a:rPr lang="zh-CN" altLang="en-US" sz="3600" b="1" dirty="0">
                <a:solidFill>
                  <a:srgbClr val="FF0000"/>
                </a:solidFill>
              </a:rPr>
              <a:t>保卫</a:t>
            </a:r>
            <a:r>
              <a:rPr lang="en-US" altLang="zh-CN" sz="3600" b="1" dirty="0">
                <a:solidFill>
                  <a:srgbClr val="FF0000"/>
                </a:solidFill>
              </a:rPr>
              <a:t>/</a:t>
            </a:r>
            <a:r>
              <a:rPr lang="zh-CN" altLang="en-US" sz="3600" b="1" dirty="0">
                <a:solidFill>
                  <a:srgbClr val="FF0000"/>
                </a:solidFill>
              </a:rPr>
              <a:t>辩护</a:t>
            </a:r>
            <a:r>
              <a:rPr lang="en-US" altLang="zh-CN" sz="3600" b="1" dirty="0">
                <a:solidFill>
                  <a:srgbClr val="FF0000"/>
                </a:solidFill>
              </a:rPr>
              <a:t>;</a:t>
            </a:r>
          </a:p>
          <a:p>
            <a:pPr>
              <a:lnSpc>
                <a:spcPct val="70000"/>
              </a:lnSpc>
            </a:pPr>
            <a:r>
              <a:rPr lang="en-US" altLang="zh-CN" sz="3600" b="1" dirty="0">
                <a:solidFill>
                  <a:srgbClr val="FF0000"/>
                </a:solidFill>
              </a:rPr>
              <a:t> rely on sb. </a:t>
            </a:r>
            <a:r>
              <a:rPr lang="en-US" altLang="zh-CN" sz="3600" b="1" dirty="0">
                <a:solidFill>
                  <a:srgbClr val="FF0000"/>
                </a:solidFill>
                <a:highlight>
                  <a:srgbClr val="FFFF00"/>
                </a:highlight>
              </a:rPr>
              <a:t>to do </a:t>
            </a:r>
            <a:r>
              <a:rPr lang="en-US" altLang="zh-CN" sz="3600" b="1" dirty="0" err="1">
                <a:solidFill>
                  <a:srgbClr val="FF0000"/>
                </a:solidFill>
                <a:highlight>
                  <a:srgbClr val="FFFF00"/>
                </a:highlight>
              </a:rPr>
              <a:t>sth</a:t>
            </a:r>
            <a:r>
              <a:rPr lang="en-US" altLang="zh-CN" sz="3600" b="1" dirty="0">
                <a:solidFill>
                  <a:srgbClr val="FF0000"/>
                </a:solidFill>
              </a:rPr>
              <a:t>.; rely on </a:t>
            </a:r>
            <a:r>
              <a:rPr lang="en-US" altLang="zh-CN" sz="3600" b="1" u="sng" dirty="0">
                <a:solidFill>
                  <a:srgbClr val="FF0000"/>
                </a:solidFill>
                <a:highlight>
                  <a:srgbClr val="FFFF00"/>
                </a:highlight>
              </a:rPr>
              <a:t>it</a:t>
            </a:r>
            <a:r>
              <a:rPr lang="en-US" altLang="zh-CN" sz="3600" b="1" dirty="0">
                <a:solidFill>
                  <a:srgbClr val="FF0000"/>
                </a:solidFill>
              </a:rPr>
              <a:t> that…; grab(gra</a:t>
            </a:r>
            <a:r>
              <a:rPr lang="en-US" altLang="zh-CN" sz="3600" b="1" u="sng" dirty="0">
                <a:solidFill>
                  <a:srgbClr val="FF0000"/>
                </a:solidFill>
                <a:highlight>
                  <a:srgbClr val="FFFF00"/>
                </a:highlight>
              </a:rPr>
              <a:t>bbed</a:t>
            </a:r>
            <a:r>
              <a:rPr lang="en-US" altLang="zh-CN" sz="3600" b="1" dirty="0">
                <a:solidFill>
                  <a:srgbClr val="FF0000"/>
                </a:solidFill>
              </a:rPr>
              <a:t>*2)</a:t>
            </a:r>
          </a:p>
          <a:p>
            <a:r>
              <a:rPr lang="en-US" altLang="zh-CN" sz="3600" b="1" dirty="0">
                <a:solidFill>
                  <a:srgbClr val="FF0000"/>
                </a:solidFill>
              </a:rPr>
              <a:t> weep over/at/for</a:t>
            </a:r>
            <a:r>
              <a:rPr lang="zh-CN" altLang="en-US" sz="3600" b="1" dirty="0">
                <a:solidFill>
                  <a:srgbClr val="FF0000"/>
                </a:solidFill>
              </a:rPr>
              <a:t> </a:t>
            </a:r>
            <a:r>
              <a:rPr lang="en-US" altLang="zh-CN" sz="3600" b="1" dirty="0">
                <a:solidFill>
                  <a:srgbClr val="FF0000"/>
                </a:solidFill>
              </a:rPr>
              <a:t>(</a:t>
            </a:r>
            <a:r>
              <a:rPr lang="en-US" altLang="zh-CN" sz="3600" b="1" dirty="0">
                <a:solidFill>
                  <a:srgbClr val="FF0000"/>
                </a:solidFill>
                <a:highlight>
                  <a:srgbClr val="FFFF00"/>
                </a:highlight>
              </a:rPr>
              <a:t>wept</a:t>
            </a:r>
            <a:r>
              <a:rPr lang="en-US" altLang="zh-CN" sz="3600" b="1" dirty="0">
                <a:solidFill>
                  <a:srgbClr val="FF0000"/>
                </a:solidFill>
              </a:rPr>
              <a:t>*2)</a:t>
            </a:r>
            <a:r>
              <a:rPr lang="zh-CN" altLang="en-US" sz="3600" b="1" dirty="0">
                <a:solidFill>
                  <a:srgbClr val="FF0000"/>
                </a:solidFill>
              </a:rPr>
              <a:t>哭泣</a:t>
            </a:r>
            <a:r>
              <a:rPr lang="en-US" altLang="zh-CN" sz="3600" b="1" dirty="0">
                <a:solidFill>
                  <a:srgbClr val="FF0000"/>
                </a:solidFill>
              </a:rPr>
              <a:t>; sweep (</a:t>
            </a:r>
            <a:r>
              <a:rPr lang="en-US" altLang="zh-CN" sz="3600" b="1" dirty="0">
                <a:solidFill>
                  <a:srgbClr val="FF0000"/>
                </a:solidFill>
                <a:highlight>
                  <a:srgbClr val="FFFF00"/>
                </a:highlight>
              </a:rPr>
              <a:t>swept*2</a:t>
            </a:r>
            <a:r>
              <a:rPr lang="en-US" altLang="zh-CN" sz="3600" b="1" dirty="0">
                <a:solidFill>
                  <a:srgbClr val="FF0000"/>
                </a:solidFill>
              </a:rPr>
              <a:t>); flow(</a:t>
            </a:r>
            <a:r>
              <a:rPr lang="en-US" altLang="zh-CN" sz="3600" b="1" dirty="0">
                <a:solidFill>
                  <a:srgbClr val="FF0000"/>
                </a:solidFill>
                <a:highlight>
                  <a:srgbClr val="FFFF00"/>
                </a:highlight>
              </a:rPr>
              <a:t>flowed*</a:t>
            </a:r>
            <a:r>
              <a:rPr lang="en-US" altLang="zh-CN" sz="3600" b="1" dirty="0">
                <a:solidFill>
                  <a:srgbClr val="FF0000"/>
                </a:solidFill>
              </a:rPr>
              <a:t>2)</a:t>
            </a:r>
            <a:r>
              <a:rPr lang="zh-CN" altLang="en-US" sz="3600" b="1" dirty="0">
                <a:solidFill>
                  <a:srgbClr val="FF0000"/>
                </a:solidFill>
              </a:rPr>
              <a:t>流动</a:t>
            </a:r>
            <a:r>
              <a:rPr lang="en-US" altLang="zh-CN" sz="3600" b="1" dirty="0">
                <a:solidFill>
                  <a:srgbClr val="FF0000"/>
                </a:solidFill>
              </a:rPr>
              <a:t>; upset(</a:t>
            </a:r>
            <a:r>
              <a:rPr lang="en-US" altLang="zh-CN" sz="3600" b="1" dirty="0">
                <a:solidFill>
                  <a:srgbClr val="FF0000"/>
                </a:solidFill>
                <a:highlight>
                  <a:srgbClr val="FFFF00"/>
                </a:highlight>
              </a:rPr>
              <a:t>upset</a:t>
            </a:r>
            <a:r>
              <a:rPr lang="en-US" altLang="zh-CN" sz="3600" b="1" dirty="0">
                <a:solidFill>
                  <a:srgbClr val="FF0000"/>
                </a:solidFill>
              </a:rPr>
              <a:t>*3)-upse</a:t>
            </a:r>
            <a:r>
              <a:rPr lang="en-US" altLang="zh-CN" sz="3600" b="1" u="sng" dirty="0">
                <a:solidFill>
                  <a:srgbClr val="FF0000"/>
                </a:solidFill>
                <a:highlight>
                  <a:srgbClr val="FFFF00"/>
                </a:highlight>
              </a:rPr>
              <a:t>tting</a:t>
            </a:r>
            <a:r>
              <a:rPr lang="en-US" altLang="zh-CN" sz="3600" b="1" dirty="0">
                <a:solidFill>
                  <a:srgbClr val="FF0000"/>
                </a:solidFill>
              </a:rPr>
              <a:t>; dramatic</a:t>
            </a:r>
            <a:r>
              <a:rPr lang="zh-CN" altLang="en-US" sz="3600" b="1" dirty="0">
                <a:solidFill>
                  <a:srgbClr val="FF0000"/>
                </a:solidFill>
              </a:rPr>
              <a:t>→</a:t>
            </a:r>
            <a:r>
              <a:rPr lang="en-US" altLang="zh-CN" sz="3600" b="1" dirty="0">
                <a:solidFill>
                  <a:srgbClr val="FF0000"/>
                </a:solidFill>
              </a:rPr>
              <a:t>dramatic</a:t>
            </a:r>
            <a:r>
              <a:rPr lang="en-US" altLang="zh-CN" sz="3600" b="1" dirty="0">
                <a:solidFill>
                  <a:srgbClr val="FF0000"/>
                </a:solidFill>
                <a:highlight>
                  <a:srgbClr val="FFFF00"/>
                </a:highlight>
              </a:rPr>
              <a:t>ally</a:t>
            </a:r>
            <a:r>
              <a:rPr lang="en-US" altLang="zh-CN" sz="3600" b="1" dirty="0">
                <a:solidFill>
                  <a:srgbClr val="FF0000"/>
                </a:solidFill>
              </a:rPr>
              <a:t>; sorrow</a:t>
            </a:r>
            <a:r>
              <a:rPr lang="zh-CN" altLang="en-US" sz="3600" b="1" dirty="0">
                <a:solidFill>
                  <a:srgbClr val="FF0000"/>
                </a:solidFill>
              </a:rPr>
              <a:t>→</a:t>
            </a:r>
            <a:r>
              <a:rPr lang="en-US" altLang="zh-CN" sz="3600" b="1" dirty="0">
                <a:solidFill>
                  <a:srgbClr val="FF0000"/>
                </a:solidFill>
              </a:rPr>
              <a:t>sorrow</a:t>
            </a:r>
            <a:r>
              <a:rPr lang="en-US" altLang="zh-CN" sz="3600" b="1" dirty="0">
                <a:solidFill>
                  <a:srgbClr val="FF0000"/>
                </a:solidFill>
                <a:highlight>
                  <a:srgbClr val="FFFF00"/>
                </a:highlight>
              </a:rPr>
              <a:t>ful; </a:t>
            </a:r>
            <a:r>
              <a:rPr lang="en-US" altLang="zh-CN" sz="3600" b="1" dirty="0">
                <a:solidFill>
                  <a:srgbClr val="FF0000"/>
                </a:solidFill>
              </a:rPr>
              <a:t>transform</a:t>
            </a:r>
            <a:r>
              <a:rPr lang="zh-CN" altLang="en-US" sz="3600" b="1" dirty="0">
                <a:solidFill>
                  <a:srgbClr val="FF0000"/>
                </a:solidFill>
              </a:rPr>
              <a:t>→</a:t>
            </a:r>
            <a:r>
              <a:rPr lang="en-US" altLang="zh-CN" sz="3600" b="1" dirty="0">
                <a:solidFill>
                  <a:srgbClr val="FF0000"/>
                </a:solidFill>
              </a:rPr>
              <a:t>transfor</a:t>
            </a:r>
            <a:r>
              <a:rPr lang="en-US" altLang="zh-CN" sz="3600" b="1" u="sng" dirty="0">
                <a:solidFill>
                  <a:srgbClr val="FF0000"/>
                </a:solidFill>
              </a:rPr>
              <a:t>mation</a:t>
            </a:r>
            <a:r>
              <a:rPr lang="en-US" altLang="zh-CN" sz="3600" b="1" dirty="0">
                <a:solidFill>
                  <a:srgbClr val="FF0000"/>
                </a:solidFill>
              </a:rPr>
              <a:t>; breath n.</a:t>
            </a:r>
            <a:r>
              <a:rPr lang="zh-CN" altLang="en-US" sz="3600" b="1" dirty="0">
                <a:solidFill>
                  <a:srgbClr val="FF0000"/>
                </a:solidFill>
              </a:rPr>
              <a:t>→</a:t>
            </a:r>
            <a:r>
              <a:rPr lang="en-US" altLang="zh-CN" sz="3600" b="1" dirty="0">
                <a:solidFill>
                  <a:srgbClr val="FF0000"/>
                </a:solidFill>
              </a:rPr>
              <a:t>breath</a:t>
            </a:r>
            <a:r>
              <a:rPr lang="en-US" altLang="zh-CN" sz="3600" b="1" dirty="0">
                <a:solidFill>
                  <a:srgbClr val="FF0000"/>
                </a:solidFill>
                <a:highlight>
                  <a:srgbClr val="FFFF00"/>
                </a:highlight>
              </a:rPr>
              <a:t>e</a:t>
            </a:r>
            <a:r>
              <a:rPr lang="en-US" altLang="zh-CN" sz="3600" b="1" dirty="0">
                <a:solidFill>
                  <a:srgbClr val="FF0000"/>
                </a:solidFill>
              </a:rPr>
              <a:t> v. </a:t>
            </a:r>
          </a:p>
          <a:p>
            <a:r>
              <a:rPr lang="en-US" altLang="zh-CN" sz="3600" b="1" dirty="0">
                <a:solidFill>
                  <a:srgbClr val="FF0000"/>
                </a:solidFill>
              </a:rPr>
              <a:t> surrounding</a:t>
            </a:r>
            <a:r>
              <a:rPr lang="en-US" altLang="zh-CN" sz="3600" b="1" u="sng" dirty="0">
                <a:solidFill>
                  <a:srgbClr val="FF0000"/>
                </a:solidFill>
                <a:highlight>
                  <a:srgbClr val="FFFF00"/>
                </a:highlight>
              </a:rPr>
              <a:t>s</a:t>
            </a:r>
            <a:r>
              <a:rPr lang="en-US" altLang="zh-CN" sz="3600" b="1" dirty="0">
                <a:solidFill>
                  <a:srgbClr val="FF0000"/>
                </a:solidFill>
              </a:rPr>
              <a:t> n.</a:t>
            </a:r>
            <a:r>
              <a:rPr lang="zh-CN" altLang="en-US" sz="3600" b="1" dirty="0">
                <a:solidFill>
                  <a:srgbClr val="FF0000"/>
                </a:solidFill>
              </a:rPr>
              <a:t>周围环境 </a:t>
            </a:r>
            <a:r>
              <a:rPr lang="en-US" altLang="zh-CN" sz="3600" b="1" dirty="0">
                <a:solidFill>
                  <a:srgbClr val="FF0000"/>
                </a:solidFill>
              </a:rPr>
              <a:t>adap</a:t>
            </a:r>
            <a:r>
              <a:rPr lang="en-US" altLang="zh-CN" sz="3600" b="1" u="sng" dirty="0">
                <a:solidFill>
                  <a:srgbClr val="FF0000"/>
                </a:solidFill>
                <a:highlight>
                  <a:srgbClr val="FFFF00"/>
                </a:highlight>
              </a:rPr>
              <a:t>ta</a:t>
            </a:r>
            <a:r>
              <a:rPr lang="en-US" altLang="zh-CN" sz="3600" b="1" dirty="0">
                <a:solidFill>
                  <a:srgbClr val="FF0000"/>
                </a:solidFill>
              </a:rPr>
              <a:t>tion n.</a:t>
            </a:r>
            <a:r>
              <a:rPr lang="zh-CN" altLang="en-US" sz="3600" b="1" dirty="0">
                <a:solidFill>
                  <a:srgbClr val="FF0000"/>
                </a:solidFill>
              </a:rPr>
              <a:t>改编本</a:t>
            </a:r>
            <a:r>
              <a:rPr lang="en-US" altLang="zh-CN" sz="3600" b="1" dirty="0">
                <a:solidFill>
                  <a:srgbClr val="FF0000"/>
                </a:solidFill>
              </a:rPr>
              <a:t>;</a:t>
            </a:r>
            <a:r>
              <a:rPr lang="zh-CN" altLang="en-US" sz="3600" b="1" dirty="0">
                <a:solidFill>
                  <a:srgbClr val="FF0000"/>
                </a:solidFill>
              </a:rPr>
              <a:t>适应 </a:t>
            </a:r>
            <a:r>
              <a:rPr lang="en-US" altLang="zh-CN" sz="3600" b="1" dirty="0">
                <a:solidFill>
                  <a:srgbClr val="FF0000"/>
                </a:solidFill>
              </a:rPr>
              <a:t>genius</a:t>
            </a:r>
            <a:r>
              <a:rPr lang="zh-CN" altLang="en-US" sz="3600" b="1" dirty="0">
                <a:solidFill>
                  <a:srgbClr val="FF0000"/>
                </a:solidFill>
              </a:rPr>
              <a:t>天赋</a:t>
            </a:r>
            <a:r>
              <a:rPr lang="en-US" altLang="zh-CN" sz="3600" b="1" dirty="0">
                <a:solidFill>
                  <a:srgbClr val="FF0000"/>
                </a:solidFill>
              </a:rPr>
              <a:t>/</a:t>
            </a:r>
            <a:r>
              <a:rPr lang="zh-CN" altLang="en-US" sz="3600" b="1" dirty="0">
                <a:solidFill>
                  <a:srgbClr val="FF0000"/>
                </a:solidFill>
              </a:rPr>
              <a:t>才 </a:t>
            </a:r>
            <a:endParaRPr lang="en-US" altLang="zh-CN" sz="3600" b="1" dirty="0">
              <a:solidFill>
                <a:srgbClr val="FF0000"/>
              </a:solidFill>
            </a:endParaRPr>
          </a:p>
          <a:p>
            <a:r>
              <a:rPr lang="en-US" altLang="zh-CN" sz="3600" b="1" dirty="0">
                <a:solidFill>
                  <a:srgbClr val="FF0000"/>
                </a:solidFill>
              </a:rPr>
              <a:t> complicated a.</a:t>
            </a:r>
            <a:r>
              <a:rPr lang="zh-CN" altLang="en-US" sz="3600" b="1" dirty="0">
                <a:solidFill>
                  <a:srgbClr val="FF0000"/>
                </a:solidFill>
              </a:rPr>
              <a:t>复杂的 </a:t>
            </a:r>
            <a:r>
              <a:rPr lang="en-US" altLang="zh-CN" sz="3600" b="1" dirty="0">
                <a:solidFill>
                  <a:srgbClr val="FF0000"/>
                </a:solidFill>
              </a:rPr>
              <a:t>unpredictable a.</a:t>
            </a:r>
            <a:r>
              <a:rPr lang="zh-CN" altLang="en-US" sz="3600" b="1" dirty="0">
                <a:solidFill>
                  <a:srgbClr val="FF0000"/>
                </a:solidFill>
              </a:rPr>
              <a:t>不可预测的</a:t>
            </a:r>
            <a:endParaRPr lang="en-US" altLang="zh-CN" sz="3600" b="1" dirty="0">
              <a:solidFill>
                <a:srgbClr val="FF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en-US" sz="3600" b="1" dirty="0">
                <a:solidFill>
                  <a:srgbClr val="FF0000"/>
                </a:solidFill>
              </a:rPr>
              <a:t>P25-27</a:t>
            </a:r>
            <a:r>
              <a:rPr lang="zh-CN" altLang="en-US" sz="3600" b="1" dirty="0">
                <a:solidFill>
                  <a:srgbClr val="FF0000"/>
                </a:solidFill>
              </a:rPr>
              <a:t>词组</a:t>
            </a:r>
            <a:r>
              <a:rPr lang="en-US" altLang="zh-CN" sz="3600" b="1" dirty="0">
                <a:solidFill>
                  <a:srgbClr val="FF0000"/>
                </a:solidFill>
              </a:rPr>
              <a:t> </a:t>
            </a:r>
          </a:p>
          <a:p>
            <a:r>
              <a:rPr lang="en-US" altLang="zh-CN" sz="3600" b="1" dirty="0">
                <a:solidFill>
                  <a:srgbClr val="FF0000"/>
                </a:solidFill>
              </a:rPr>
              <a:t>1.</a:t>
            </a:r>
            <a:r>
              <a:rPr lang="zh-CN" altLang="en-US" sz="3600" b="1" dirty="0">
                <a:solidFill>
                  <a:srgbClr val="FF0000"/>
                </a:solidFill>
              </a:rPr>
              <a:t>涌入</a:t>
            </a:r>
            <a:r>
              <a:rPr lang="en-US" altLang="zh-CN" sz="3600" b="1" dirty="0">
                <a:solidFill>
                  <a:srgbClr val="FF0000"/>
                </a:solidFill>
              </a:rPr>
              <a:t> 2.</a:t>
            </a:r>
            <a:r>
              <a:rPr lang="zh-CN" altLang="en-US" sz="3600" b="1" dirty="0">
                <a:solidFill>
                  <a:srgbClr val="FF0000"/>
                </a:solidFill>
              </a:rPr>
              <a:t>结束的那一刻</a:t>
            </a:r>
            <a:r>
              <a:rPr lang="en-US" altLang="zh-CN" sz="3600" b="1" dirty="0">
                <a:solidFill>
                  <a:srgbClr val="FF0000"/>
                </a:solidFill>
              </a:rPr>
              <a:t> 3.</a:t>
            </a:r>
            <a:r>
              <a:rPr lang="zh-CN" altLang="en-US" sz="3600" b="1" dirty="0">
                <a:solidFill>
                  <a:srgbClr val="FF0000"/>
                </a:solidFill>
              </a:rPr>
              <a:t>爆发出热情的欢呼</a:t>
            </a:r>
            <a:r>
              <a:rPr lang="en-US" altLang="zh-CN" sz="3600" b="1" dirty="0">
                <a:solidFill>
                  <a:srgbClr val="FF0000"/>
                </a:solidFill>
              </a:rPr>
              <a:t> 4.</a:t>
            </a:r>
            <a:r>
              <a:rPr lang="zh-CN" altLang="en-US" sz="3600" b="1" dirty="0">
                <a:solidFill>
                  <a:srgbClr val="FF0000"/>
                </a:solidFill>
              </a:rPr>
              <a:t>没有意识到</a:t>
            </a:r>
            <a:r>
              <a:rPr lang="en-US" altLang="zh-CN" sz="3600" b="1" dirty="0">
                <a:solidFill>
                  <a:srgbClr val="FF0000"/>
                </a:solidFill>
              </a:rPr>
              <a:t> 5.</a:t>
            </a:r>
            <a:r>
              <a:rPr lang="zh-CN" altLang="en-US" sz="3600" b="1" dirty="0">
                <a:solidFill>
                  <a:srgbClr val="FF0000"/>
                </a:solidFill>
              </a:rPr>
              <a:t>看见眼前的人山人海全部起立</a:t>
            </a:r>
            <a:r>
              <a:rPr lang="en-US" altLang="zh-CN" sz="3600" b="1" dirty="0">
                <a:solidFill>
                  <a:srgbClr val="FF0000"/>
                </a:solidFill>
              </a:rPr>
              <a:t> 6.</a:t>
            </a:r>
            <a:r>
              <a:rPr lang="zh-CN" altLang="en-US" sz="3600" b="1" dirty="0">
                <a:solidFill>
                  <a:srgbClr val="FF0000"/>
                </a:solidFill>
              </a:rPr>
              <a:t>表达着对这部杰作的赞赏</a:t>
            </a:r>
            <a:r>
              <a:rPr lang="en-US" altLang="zh-CN" sz="3600" b="1" dirty="0">
                <a:solidFill>
                  <a:srgbClr val="FF0000"/>
                </a:solidFill>
              </a:rPr>
              <a:t> 7.</a:t>
            </a:r>
            <a:r>
              <a:rPr lang="zh-CN" altLang="en-US" sz="3600" b="1" dirty="0">
                <a:solidFill>
                  <a:srgbClr val="FF0000"/>
                </a:solidFill>
              </a:rPr>
              <a:t>非凡的一生</a:t>
            </a:r>
            <a:r>
              <a:rPr lang="en-US" altLang="zh-CN" sz="3600" b="1" dirty="0">
                <a:solidFill>
                  <a:srgbClr val="FF0000"/>
                </a:solidFill>
              </a:rPr>
              <a:t> 8.</a:t>
            </a:r>
            <a:r>
              <a:rPr lang="zh-CN" altLang="en-US" sz="3600" b="1" dirty="0">
                <a:solidFill>
                  <a:srgbClr val="FF0000"/>
                </a:solidFill>
              </a:rPr>
              <a:t>丰厚的作品</a:t>
            </a:r>
            <a:r>
              <a:rPr lang="en-US" altLang="zh-CN" sz="3600" b="1" dirty="0">
                <a:solidFill>
                  <a:srgbClr val="FF0000"/>
                </a:solidFill>
              </a:rPr>
              <a:t> 9.</a:t>
            </a:r>
            <a:r>
              <a:rPr lang="zh-CN" altLang="en-US" sz="3600" b="1" dirty="0">
                <a:solidFill>
                  <a:srgbClr val="FF0000"/>
                </a:solidFill>
              </a:rPr>
              <a:t>夜以继日地</a:t>
            </a:r>
            <a:r>
              <a:rPr lang="en-US" altLang="zh-CN" sz="3600" b="1" dirty="0">
                <a:solidFill>
                  <a:srgbClr val="FF0000"/>
                </a:solidFill>
              </a:rPr>
              <a:t> 10.</a:t>
            </a:r>
            <a:r>
              <a:rPr lang="zh-CN" altLang="en-US" sz="3600" b="1" dirty="0">
                <a:solidFill>
                  <a:srgbClr val="FF0000"/>
                </a:solidFill>
              </a:rPr>
              <a:t>受人赏识</a:t>
            </a:r>
            <a:r>
              <a:rPr lang="en-US" altLang="zh-CN" sz="3600" b="1" dirty="0">
                <a:solidFill>
                  <a:srgbClr val="FF0000"/>
                </a:solidFill>
              </a:rPr>
              <a:t> 11.</a:t>
            </a:r>
            <a:r>
              <a:rPr lang="zh-CN" altLang="en-US" sz="3600" b="1" dirty="0">
                <a:solidFill>
                  <a:srgbClr val="FF0000"/>
                </a:solidFill>
              </a:rPr>
              <a:t>作为</a:t>
            </a:r>
            <a:r>
              <a:rPr lang="en-US" altLang="zh-CN" sz="3600" b="1" dirty="0">
                <a:solidFill>
                  <a:srgbClr val="FF0000"/>
                </a:solidFill>
              </a:rPr>
              <a:t>…</a:t>
            </a:r>
            <a:r>
              <a:rPr lang="zh-CN" altLang="en-US" sz="3600" b="1" dirty="0">
                <a:solidFill>
                  <a:srgbClr val="FF0000"/>
                </a:solidFill>
              </a:rPr>
              <a:t>而享有盛名</a:t>
            </a:r>
            <a:r>
              <a:rPr lang="en-US" altLang="zh-CN" sz="3600" b="1" dirty="0">
                <a:solidFill>
                  <a:srgbClr val="FF0000"/>
                </a:solidFill>
              </a:rPr>
              <a:t>  12.</a:t>
            </a:r>
            <a:r>
              <a:rPr lang="zh-CN" altLang="en-US" sz="3600" b="1" dirty="0">
                <a:solidFill>
                  <a:srgbClr val="FF0000"/>
                </a:solidFill>
              </a:rPr>
              <a:t>给出预言</a:t>
            </a:r>
            <a:r>
              <a:rPr lang="en-US" altLang="zh-CN" sz="3600" b="1" dirty="0">
                <a:solidFill>
                  <a:srgbClr val="FF0000"/>
                </a:solidFill>
              </a:rPr>
              <a:t> 13.</a:t>
            </a:r>
            <a:r>
              <a:rPr lang="zh-CN" altLang="en-US" sz="3600" b="1" dirty="0">
                <a:solidFill>
                  <a:srgbClr val="FF0000"/>
                </a:solidFill>
              </a:rPr>
              <a:t>急转弯</a:t>
            </a:r>
            <a:r>
              <a:rPr lang="en-US" altLang="zh-CN" sz="3600" b="1" dirty="0">
                <a:solidFill>
                  <a:srgbClr val="FF0000"/>
                </a:solidFill>
              </a:rPr>
              <a:t>,</a:t>
            </a:r>
            <a:r>
              <a:rPr lang="zh-CN" altLang="en-US" sz="3600" b="1" dirty="0">
                <a:solidFill>
                  <a:srgbClr val="FF0000"/>
                </a:solidFill>
              </a:rPr>
              <a:t>厄运突至</a:t>
            </a:r>
            <a:r>
              <a:rPr lang="en-US" altLang="zh-CN" sz="3600" b="1" dirty="0">
                <a:solidFill>
                  <a:srgbClr val="FF0000"/>
                </a:solidFill>
              </a:rPr>
              <a:t> 14.</a:t>
            </a:r>
            <a:r>
              <a:rPr lang="zh-CN" altLang="en-US" sz="3600" b="1" dirty="0">
                <a:solidFill>
                  <a:srgbClr val="FF0000"/>
                </a:solidFill>
              </a:rPr>
              <a:t>听觉下降</a:t>
            </a:r>
            <a:r>
              <a:rPr lang="en-US" altLang="zh-CN" sz="3600" b="1" dirty="0">
                <a:solidFill>
                  <a:srgbClr val="FF0000"/>
                </a:solidFill>
              </a:rPr>
              <a:t> 15.</a:t>
            </a:r>
            <a:r>
              <a:rPr lang="zh-CN" altLang="en-US" sz="3600" b="1" dirty="0">
                <a:solidFill>
                  <a:srgbClr val="FF0000"/>
                </a:solidFill>
              </a:rPr>
              <a:t>痛苦不堪</a:t>
            </a:r>
            <a:r>
              <a:rPr lang="en-US" altLang="zh-CN" sz="3600" b="1" dirty="0">
                <a:solidFill>
                  <a:srgbClr val="FF0000"/>
                </a:solidFill>
              </a:rPr>
              <a:t> 16.</a:t>
            </a:r>
            <a:r>
              <a:rPr lang="zh-CN" altLang="en-US" sz="3600" b="1" dirty="0">
                <a:solidFill>
                  <a:srgbClr val="FF0000"/>
                </a:solidFill>
              </a:rPr>
              <a:t>隐瞒</a:t>
            </a:r>
            <a:r>
              <a:rPr lang="en-US" altLang="zh-CN" sz="3600" b="1" dirty="0">
                <a:solidFill>
                  <a:srgbClr val="FF0000"/>
                </a:solidFill>
              </a:rPr>
              <a:t> 17.</a:t>
            </a:r>
            <a:r>
              <a:rPr lang="zh-CN" altLang="en-US" sz="3600" b="1" dirty="0">
                <a:solidFill>
                  <a:srgbClr val="FF0000"/>
                </a:solidFill>
              </a:rPr>
              <a:t>承认缺陷</a:t>
            </a:r>
            <a:r>
              <a:rPr lang="en-US" altLang="zh-CN" sz="3600" b="1" dirty="0">
                <a:solidFill>
                  <a:srgbClr val="FF0000"/>
                </a:solidFill>
              </a:rPr>
              <a:t> 18.</a:t>
            </a:r>
            <a:r>
              <a:rPr lang="zh-CN" altLang="en-US" sz="3600" b="1" dirty="0">
                <a:solidFill>
                  <a:srgbClr val="FF0000"/>
                </a:solidFill>
              </a:rPr>
              <a:t>决心想办法让生活继续充满音乐</a:t>
            </a:r>
            <a:r>
              <a:rPr lang="en-US" altLang="zh-CN" sz="3600" b="1" dirty="0">
                <a:solidFill>
                  <a:srgbClr val="FF0000"/>
                </a:solidFill>
              </a:rPr>
              <a:t> 19.</a:t>
            </a:r>
            <a:r>
              <a:rPr lang="zh-CN" altLang="en-US" sz="3600" b="1" dirty="0">
                <a:solidFill>
                  <a:srgbClr val="FF0000"/>
                </a:solidFill>
              </a:rPr>
              <a:t>各种各样的助听设备</a:t>
            </a:r>
            <a:r>
              <a:rPr lang="en-US" altLang="zh-CN" sz="3600" b="1" dirty="0">
                <a:solidFill>
                  <a:srgbClr val="FF0000"/>
                </a:solidFill>
              </a:rPr>
              <a:t> 20.</a:t>
            </a:r>
            <a:r>
              <a:rPr lang="zh-CN" altLang="en-US" sz="3600" b="1" dirty="0">
                <a:solidFill>
                  <a:srgbClr val="FF0000"/>
                </a:solidFill>
              </a:rPr>
              <a:t>在作曲时</a:t>
            </a:r>
            <a:r>
              <a:rPr lang="en-US" altLang="zh-CN" sz="3600" b="1" dirty="0">
                <a:solidFill>
                  <a:srgbClr val="FF0000"/>
                </a:solidFill>
              </a:rPr>
              <a:t> 21.</a:t>
            </a:r>
            <a:r>
              <a:rPr lang="zh-CN" altLang="en-US" sz="3600" b="1" dirty="0">
                <a:solidFill>
                  <a:srgbClr val="FF0000"/>
                </a:solidFill>
              </a:rPr>
              <a:t>公开演出对于他而言越来越艰难了</a:t>
            </a:r>
            <a:r>
              <a:rPr lang="en-US" altLang="zh-CN" sz="3600" b="1" dirty="0">
                <a:solidFill>
                  <a:srgbClr val="FF0000"/>
                </a:solidFill>
              </a:rPr>
              <a:t> 22.</a:t>
            </a:r>
            <a:r>
              <a:rPr lang="en-US" altLang="zh-CN" sz="3600" b="1" dirty="0">
                <a:solidFill>
                  <a:srgbClr val="FF0000"/>
                </a:solidFill>
                <a:sym typeface="+mn-ea"/>
              </a:rPr>
              <a:t>by the time</a:t>
            </a:r>
            <a:r>
              <a:rPr lang="zh-CN" altLang="en-US" sz="3600" b="1" dirty="0">
                <a:solidFill>
                  <a:srgbClr val="FF0000"/>
                </a:solidFill>
                <a:sym typeface="+mn-ea"/>
              </a:rPr>
              <a:t>用法</a:t>
            </a:r>
            <a:r>
              <a:rPr lang="en-US" altLang="zh-CN" sz="3600" b="1" dirty="0">
                <a:solidFill>
                  <a:srgbClr val="FF0000"/>
                </a:solidFill>
                <a:sym typeface="+mn-ea"/>
              </a:rPr>
              <a:t>; 23.since</a:t>
            </a:r>
            <a:r>
              <a:rPr lang="zh-CN" altLang="en-US" sz="3600" b="1" dirty="0">
                <a:solidFill>
                  <a:srgbClr val="FF0000"/>
                </a:solidFill>
                <a:sym typeface="+mn-ea"/>
              </a:rPr>
              <a:t>用法</a:t>
            </a:r>
            <a:r>
              <a:rPr lang="en-US" altLang="zh-CN" sz="3600" b="1" dirty="0">
                <a:solidFill>
                  <a:srgbClr val="FF0000"/>
                </a:solidFill>
                <a:sym typeface="+mn-ea"/>
              </a:rPr>
              <a:t> </a:t>
            </a:r>
            <a:r>
              <a:rPr lang="en-US" altLang="zh-CN" sz="3600" b="1" dirty="0">
                <a:solidFill>
                  <a:srgbClr val="FF0000"/>
                </a:solidFill>
              </a:rPr>
              <a:t>24.</a:t>
            </a:r>
            <a:r>
              <a:rPr lang="zh-CN" altLang="en-US" sz="3600" b="1" dirty="0">
                <a:solidFill>
                  <a:srgbClr val="FF0000"/>
                </a:solidFill>
              </a:rPr>
              <a:t>在历史上</a:t>
            </a:r>
            <a:r>
              <a:rPr lang="en-US" altLang="zh-CN" sz="3600" b="1" dirty="0">
                <a:solidFill>
                  <a:srgbClr val="FF0000"/>
                </a:solidFill>
              </a:rPr>
              <a:t> 25.</a:t>
            </a:r>
            <a:r>
              <a:rPr lang="zh-CN" altLang="en-US" sz="3600" b="1" dirty="0">
                <a:solidFill>
                  <a:srgbClr val="FF0000"/>
                </a:solidFill>
              </a:rPr>
              <a:t>突然</a:t>
            </a:r>
            <a:r>
              <a:rPr lang="en-US" altLang="zh-CN" sz="3600" b="1" dirty="0">
                <a:solidFill>
                  <a:srgbClr val="FF0000"/>
                </a:solidFill>
              </a:rPr>
              <a:t>  26.</a:t>
            </a:r>
            <a:r>
              <a:rPr lang="zh-CN" altLang="en-US" sz="3600" b="1" dirty="0">
                <a:solidFill>
                  <a:srgbClr val="FF0000"/>
                </a:solidFill>
              </a:rPr>
              <a:t>贯穿</a:t>
            </a:r>
            <a:r>
              <a:rPr lang="en-US" altLang="zh-CN" sz="3600" b="1" dirty="0">
                <a:solidFill>
                  <a:srgbClr val="FF0000"/>
                </a:solidFill>
              </a:rPr>
              <a:t> 27.</a:t>
            </a:r>
            <a:r>
              <a:rPr lang="zh-CN" altLang="en-US" sz="3600" b="1" dirty="0">
                <a:solidFill>
                  <a:srgbClr val="FF0000"/>
                </a:solidFill>
              </a:rPr>
              <a:t>绝望的低声部和激越的高声部</a:t>
            </a:r>
            <a:r>
              <a:rPr lang="en-US" altLang="zh-CN" sz="3600" b="1" dirty="0">
                <a:solidFill>
                  <a:srgbClr val="FF0000"/>
                </a:solidFill>
              </a:rPr>
              <a:t> 28.</a:t>
            </a:r>
            <a:r>
              <a:rPr lang="zh-CN" altLang="en-US" sz="3600" b="1" dirty="0">
                <a:solidFill>
                  <a:srgbClr val="FF0000"/>
                </a:solidFill>
              </a:rPr>
              <a:t>抗争的坚强意志</a:t>
            </a:r>
            <a:r>
              <a:rPr lang="en-US" altLang="zh-CN" sz="3600" b="1" dirty="0">
                <a:solidFill>
                  <a:srgbClr val="FF0000"/>
                </a:solidFill>
              </a:rPr>
              <a:t> 29.</a:t>
            </a:r>
            <a:r>
              <a:rPr lang="zh-CN" altLang="en-US" sz="3600" b="1" dirty="0">
                <a:solidFill>
                  <a:srgbClr val="FF0000"/>
                </a:solidFill>
              </a:rPr>
              <a:t>轻易从容</a:t>
            </a:r>
            <a:r>
              <a:rPr lang="en-US" altLang="zh-CN" sz="3600" b="1" dirty="0">
                <a:solidFill>
                  <a:srgbClr val="FF0000"/>
                </a:solidFill>
              </a:rPr>
              <a:t> 30.</a:t>
            </a:r>
            <a:r>
              <a:rPr lang="zh-CN" altLang="en-US" sz="3600" b="1" dirty="0">
                <a:solidFill>
                  <a:srgbClr val="FF0000"/>
                </a:solidFill>
              </a:rPr>
              <a:t>欢乐的合唱</a:t>
            </a:r>
            <a:r>
              <a:rPr lang="en-US" altLang="zh-CN" sz="3600" b="1" dirty="0">
                <a:solidFill>
                  <a:srgbClr val="FF0000"/>
                </a:solidFill>
              </a:rPr>
              <a:t> 31.</a:t>
            </a:r>
            <a:r>
              <a:rPr lang="zh-CN" altLang="en-US" sz="3600" b="1" dirty="0">
                <a:solidFill>
                  <a:srgbClr val="FF0000"/>
                </a:solidFill>
              </a:rPr>
              <a:t>人生绝唱</a:t>
            </a:r>
            <a:r>
              <a:rPr lang="en-US" altLang="zh-CN" sz="3600" b="1" dirty="0">
                <a:solidFill>
                  <a:srgbClr val="FF0000"/>
                </a:solidFill>
              </a:rPr>
              <a:t> 32.</a:t>
            </a:r>
            <a:r>
              <a:rPr lang="zh-CN" altLang="en-US" sz="3600" b="1" dirty="0">
                <a:solidFill>
                  <a:srgbClr val="FF0000"/>
                </a:solidFill>
              </a:rPr>
              <a:t>被公认为有史以来最卓越的音乐家之一</a:t>
            </a:r>
            <a:r>
              <a:rPr lang="en-US" altLang="zh-CN" sz="3600" b="1" dirty="0">
                <a:solidFill>
                  <a:srgbClr val="FF0000"/>
                </a:solidFill>
              </a:rPr>
              <a:t> 33.</a:t>
            </a:r>
            <a:r>
              <a:rPr lang="zh-CN" altLang="en-US" sz="3600" b="1" dirty="0">
                <a:solidFill>
                  <a:srgbClr val="FF0000"/>
                </a:solidFill>
              </a:rPr>
              <a:t>热门电影</a:t>
            </a:r>
            <a:r>
              <a:rPr lang="en-US" altLang="zh-CN" sz="3600" b="1" dirty="0">
                <a:solidFill>
                  <a:srgbClr val="FF0000"/>
                </a:solidFill>
              </a:rPr>
              <a:t> 34.</a:t>
            </a:r>
            <a:r>
              <a:rPr lang="zh-CN" altLang="en-US" sz="3600" b="1" dirty="0">
                <a:solidFill>
                  <a:srgbClr val="FF0000"/>
                </a:solidFill>
              </a:rPr>
              <a:t>承担角色</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just" fontAlgn="ctr">
              <a:lnSpc>
                <a:spcPct val="68000"/>
              </a:lnSpc>
            </a:pPr>
            <a:r>
              <a:rPr lang="en-US" altLang="zh-CN" sz="3200" dirty="0"/>
              <a:t>On Monday morning, </a:t>
            </a:r>
            <a:r>
              <a:rPr lang="en-US" altLang="zh-CN" sz="3200" b="1" u="sng" dirty="0">
                <a:solidFill>
                  <a:srgbClr val="FF0000"/>
                </a:solidFill>
              </a:rPr>
              <a:t>Mike unwillingly approached the classroom</a:t>
            </a:r>
            <a:r>
              <a:rPr lang="en-US" altLang="zh-CN" sz="3200" dirty="0"/>
              <a:t>. </a:t>
            </a:r>
            <a:r>
              <a:rPr lang="en-US" altLang="zh-CN" sz="3200" b="1" u="sng" dirty="0">
                <a:solidFill>
                  <a:srgbClr val="FF0000"/>
                </a:solidFill>
              </a:rPr>
              <a:t>Feeling nervous and embarrassed, his heart was heavy with worry that his classmates would tease him. </a:t>
            </a:r>
            <a:r>
              <a:rPr lang="en-US" altLang="zh-CN" sz="3200" b="1" dirty="0"/>
              <a:t>His hair had been cut so short that the skin under the hair was nearly visible. </a:t>
            </a:r>
            <a:r>
              <a:rPr lang="en-US" altLang="zh-CN" sz="3200" b="1" dirty="0">
                <a:solidFill>
                  <a:srgbClr val="FF0000"/>
                </a:solidFill>
              </a:rPr>
              <a:t>As he stepped through the door</a:t>
            </a:r>
            <a:r>
              <a:rPr lang="zh-CN" altLang="zh-CN" sz="3200" b="1" dirty="0">
                <a:solidFill>
                  <a:srgbClr val="FF0000"/>
                </a:solidFill>
              </a:rPr>
              <a:t>，</a:t>
            </a:r>
            <a:r>
              <a:rPr lang="en-US" altLang="zh-CN" sz="3200" b="1" dirty="0">
                <a:solidFill>
                  <a:srgbClr val="FF0000"/>
                </a:solidFill>
              </a:rPr>
              <a:t>the room erupted in giggles, </a:t>
            </a:r>
            <a:r>
              <a:rPr lang="en-US" altLang="zh-CN" sz="3200" b="1" dirty="0"/>
              <a:t>nicknaming him “Baldy.” A few curious boys came up and attempted to touch his newly shaved head. </a:t>
            </a:r>
            <a:r>
              <a:rPr lang="en-US" altLang="zh-CN" sz="3200" b="1" u="sng" dirty="0">
                <a:solidFill>
                  <a:srgbClr val="FF0000"/>
                </a:solidFill>
              </a:rPr>
              <a:t>Overwhelmed by shame and anger, Mike shouted out</a:t>
            </a:r>
            <a:r>
              <a:rPr lang="en-US" altLang="zh-CN" sz="3200" b="1" dirty="0">
                <a:solidFill>
                  <a:srgbClr val="FF0000"/>
                </a:solidFill>
              </a:rPr>
              <a:t>, “You are mean!” </a:t>
            </a:r>
            <a:r>
              <a:rPr lang="en-US" altLang="zh-CN" sz="3200" b="1" u="sng" dirty="0">
                <a:solidFill>
                  <a:srgbClr val="FF0000"/>
                </a:solidFill>
              </a:rPr>
              <a:t>Tears welled up in his eyes as Mike stood up and ran towards the door.</a:t>
            </a:r>
            <a:endParaRPr lang="zh-CN" altLang="zh-CN" sz="3200" b="1" u="sng" dirty="0">
              <a:solidFill>
                <a:srgbClr val="FF0000"/>
              </a:solidFill>
            </a:endParaRPr>
          </a:p>
          <a:p>
            <a:pPr algn="just" fontAlgn="ctr">
              <a:lnSpc>
                <a:spcPct val="68000"/>
              </a:lnSpc>
            </a:pPr>
            <a:r>
              <a:rPr lang="en-US" altLang="zh-CN" sz="3200" b="1" dirty="0"/>
              <a:t>At that moment, </a:t>
            </a:r>
            <a:r>
              <a:rPr lang="en-US" altLang="zh-CN" sz="3200" dirty="0"/>
              <a:t>Mr. Stone walked into the classroom with a crumpled ball of paper. </a:t>
            </a:r>
            <a:r>
              <a:rPr lang="en-US" altLang="zh-CN" sz="3200" b="1" dirty="0">
                <a:solidFill>
                  <a:srgbClr val="FF0000"/>
                </a:solidFill>
              </a:rPr>
              <a:t>With a gentle pat on Mike’s shoulder, he guided him back to his seat. As Mr. Stone made his way to the platform, the room fell silent. Holding up the crumpled ball of paper, he began to smooth out its wrinkles. “Each fold represented a scar of hurtful words. Even when we try to apologize,” Mr. Stone explained softly, “the wounds remain. Let us always speak with kindness and warmth.” From that day on, Mike learned a valuable lesson: the importance of kindness and empathy.</a:t>
            </a:r>
            <a:endParaRPr lang="zh-CN" altLang="zh-CN" sz="3200" b="1" dirty="0">
              <a:solidFill>
                <a:srgbClr val="FF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marL="0" indent="0">
              <a:buNone/>
            </a:pPr>
            <a:r>
              <a:rPr lang="zh-CN" altLang="en-US" sz="3600" b="1">
                <a:solidFill>
                  <a:srgbClr val="FF0000"/>
                </a:solidFill>
              </a:rPr>
              <a:t>迈</a:t>
            </a:r>
            <a:r>
              <a:rPr lang="zh-CN" altLang="en-US" sz="3600" b="1" dirty="0">
                <a:solidFill>
                  <a:srgbClr val="FF0000"/>
                </a:solidFill>
              </a:rPr>
              <a:t>克不情愿地走近教室。</a:t>
            </a:r>
          </a:p>
          <a:p>
            <a:r>
              <a:rPr lang="zh-CN" altLang="en-US" sz="3600" b="1" dirty="0">
                <a:solidFill>
                  <a:srgbClr val="FF0000"/>
                </a:solidFill>
              </a:rPr>
              <a:t>他感到紧张和尴尬，心里很沉重，担心同学们会取笑他。</a:t>
            </a:r>
          </a:p>
          <a:p>
            <a:r>
              <a:rPr lang="zh-CN" altLang="en-US" sz="3600" b="1" dirty="0">
                <a:solidFill>
                  <a:srgbClr val="FF0000"/>
                </a:solidFill>
              </a:rPr>
              <a:t>当他走进门时，房间里爆发出一阵咯咯的笑声。</a:t>
            </a:r>
          </a:p>
          <a:p>
            <a:r>
              <a:rPr lang="zh-CN" altLang="en-US" sz="3600" b="1" dirty="0">
                <a:solidFill>
                  <a:srgbClr val="FF0000"/>
                </a:solidFill>
              </a:rPr>
              <a:t>麦克又羞又怒，大声喊道：</a:t>
            </a:r>
            <a:r>
              <a:rPr lang="en-US" altLang="zh-CN" sz="3600" b="1" dirty="0">
                <a:solidFill>
                  <a:srgbClr val="FF0000"/>
                </a:solidFill>
              </a:rPr>
              <a:t>“</a:t>
            </a:r>
            <a:r>
              <a:rPr lang="zh-CN" altLang="en-US" sz="3600" b="1" dirty="0">
                <a:solidFill>
                  <a:srgbClr val="FF0000"/>
                </a:solidFill>
              </a:rPr>
              <a:t>你真卑鄙！</a:t>
            </a:r>
            <a:r>
              <a:rPr lang="en-US" altLang="zh-CN" sz="3600" b="1" dirty="0">
                <a:solidFill>
                  <a:srgbClr val="FF0000"/>
                </a:solidFill>
              </a:rPr>
              <a:t>”</a:t>
            </a:r>
            <a:r>
              <a:rPr lang="zh-CN" altLang="en-US" sz="3600" b="1" dirty="0">
                <a:solidFill>
                  <a:srgbClr val="FF0000"/>
                </a:solidFill>
              </a:rPr>
              <a:t>当迈克站起来向门口跑去时，泪水涌上了他的眼睛。</a:t>
            </a:r>
          </a:p>
          <a:p>
            <a:r>
              <a:rPr lang="zh-CN" altLang="en-US" sz="3600" b="1" dirty="0">
                <a:solidFill>
                  <a:srgbClr val="FF0000"/>
                </a:solidFill>
              </a:rPr>
              <a:t>他轻轻地拍了拍迈克的肩膀，引导他回到座位上。当斯通先生走向讲台时，整个房间鸦雀无声。他拿起那团皱巴巴的纸，开始抚平它的皱纹。</a:t>
            </a:r>
            <a:r>
              <a:rPr lang="en-US" altLang="zh-CN" sz="3600" b="1" dirty="0">
                <a:solidFill>
                  <a:srgbClr val="FF0000"/>
                </a:solidFill>
              </a:rPr>
              <a:t>“</a:t>
            </a:r>
            <a:r>
              <a:rPr lang="zh-CN" altLang="en-US" sz="3600" b="1" dirty="0">
                <a:solidFill>
                  <a:srgbClr val="FF0000"/>
                </a:solidFill>
              </a:rPr>
              <a:t>每一个褶皱都代表着一句伤人的话。</a:t>
            </a:r>
            <a:r>
              <a:rPr lang="en-US" altLang="zh-CN" sz="3600" b="1" dirty="0">
                <a:solidFill>
                  <a:srgbClr val="FF0000"/>
                </a:solidFill>
              </a:rPr>
              <a:t>“</a:t>
            </a:r>
            <a:r>
              <a:rPr lang="zh-CN" altLang="en-US" sz="3600" b="1" dirty="0">
                <a:solidFill>
                  <a:srgbClr val="FF0000"/>
                </a:solidFill>
              </a:rPr>
              <a:t>即使我们试图道歉，</a:t>
            </a:r>
            <a:r>
              <a:rPr lang="en-US" altLang="zh-CN" sz="3600" b="1" dirty="0">
                <a:solidFill>
                  <a:srgbClr val="FF0000"/>
                </a:solidFill>
              </a:rPr>
              <a:t>”</a:t>
            </a:r>
            <a:r>
              <a:rPr lang="zh-CN" altLang="en-US" sz="3600" b="1" dirty="0">
                <a:solidFill>
                  <a:srgbClr val="FF0000"/>
                </a:solidFill>
              </a:rPr>
              <a:t>斯通轻声解释道，</a:t>
            </a:r>
            <a:r>
              <a:rPr lang="en-US" altLang="zh-CN" sz="3600" b="1" dirty="0">
                <a:solidFill>
                  <a:srgbClr val="FF0000"/>
                </a:solidFill>
              </a:rPr>
              <a:t>“</a:t>
            </a:r>
            <a:r>
              <a:rPr lang="zh-CN" altLang="en-US" sz="3600" b="1" dirty="0">
                <a:solidFill>
                  <a:srgbClr val="FF0000"/>
                </a:solidFill>
              </a:rPr>
              <a:t>伤口依然存在。让我们说话总是充满善意和温暖。</a:t>
            </a:r>
            <a:r>
              <a:rPr lang="en-US" altLang="zh-CN" sz="3600" b="1" dirty="0">
                <a:solidFill>
                  <a:srgbClr val="FF0000"/>
                </a:solidFill>
              </a:rPr>
              <a:t>”</a:t>
            </a:r>
            <a:r>
              <a:rPr lang="zh-CN" altLang="en-US" sz="3600" b="1" dirty="0">
                <a:solidFill>
                  <a:srgbClr val="FF0000"/>
                </a:solidFill>
              </a:rPr>
              <a:t>从那天起，迈克学到了宝贵的一课：善良和同理心的重要性。</a:t>
            </a:r>
          </a:p>
          <a:p>
            <a:endParaRPr lang="en-US" altLang="zh-CN" sz="3600" b="1" dirty="0">
              <a:solidFill>
                <a:srgbClr val="FF0000"/>
              </a:solidFill>
            </a:endParaRPr>
          </a:p>
          <a:p>
            <a:endParaRPr lang="en-US" altLang="zh-CN" sz="3600" b="1" dirty="0">
              <a:solidFill>
                <a:srgbClr val="FF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U2</a:t>
            </a:r>
            <a:r>
              <a:rPr lang="zh-CN" altLang="en-US" sz="3600" b="1" dirty="0">
                <a:solidFill>
                  <a:srgbClr val="FF0000"/>
                </a:solidFill>
              </a:rPr>
              <a:t>词组</a:t>
            </a:r>
            <a:r>
              <a:rPr lang="en-US" altLang="zh-CN" sz="3600" b="1" dirty="0">
                <a:solidFill>
                  <a:srgbClr val="FF0000"/>
                </a:solidFill>
              </a:rPr>
              <a:t> </a:t>
            </a:r>
          </a:p>
          <a:p>
            <a:r>
              <a:rPr lang="en-US" altLang="zh-CN" sz="3600" b="1" dirty="0">
                <a:solidFill>
                  <a:srgbClr val="FF0000"/>
                </a:solidFill>
              </a:rPr>
              <a:t>1.</a:t>
            </a:r>
            <a:r>
              <a:rPr lang="zh-CN" altLang="en-US" sz="3600" b="1" dirty="0">
                <a:solidFill>
                  <a:srgbClr val="FF0000"/>
                </a:solidFill>
              </a:rPr>
              <a:t>乐器有各种类型 </a:t>
            </a:r>
            <a:r>
              <a:rPr lang="en-US" altLang="zh-CN" sz="3600" b="1" dirty="0">
                <a:solidFill>
                  <a:srgbClr val="FF0000"/>
                </a:solidFill>
              </a:rPr>
              <a:t>2.</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创作的 </a:t>
            </a:r>
            <a:r>
              <a:rPr lang="en-US" altLang="zh-CN" sz="3600" b="1" dirty="0">
                <a:solidFill>
                  <a:srgbClr val="FF0000"/>
                </a:solidFill>
              </a:rPr>
              <a:t>3.</a:t>
            </a:r>
            <a:r>
              <a:rPr lang="zh-CN" altLang="en-US" sz="3600" b="1" dirty="0">
                <a:solidFill>
                  <a:srgbClr val="FF0000"/>
                </a:solidFill>
              </a:rPr>
              <a:t>带我进入了一个跌宕起伏的经典故事 </a:t>
            </a:r>
            <a:r>
              <a:rPr lang="en-US" altLang="zh-CN" sz="3600" b="1" dirty="0">
                <a:solidFill>
                  <a:srgbClr val="FF0000"/>
                </a:solidFill>
              </a:rPr>
              <a:t>4.</a:t>
            </a:r>
            <a:r>
              <a:rPr lang="zh-CN" altLang="en-US" sz="3600" b="1" dirty="0">
                <a:solidFill>
                  <a:srgbClr val="FF0000"/>
                </a:solidFill>
              </a:rPr>
              <a:t>被</a:t>
            </a:r>
            <a:r>
              <a:rPr lang="en-US" altLang="zh-CN" sz="3600" b="1" dirty="0">
                <a:solidFill>
                  <a:srgbClr val="FF0000"/>
                </a:solidFill>
              </a:rPr>
              <a:t>…</a:t>
            </a:r>
            <a:r>
              <a:rPr lang="zh-CN" altLang="en-US" sz="3600" b="1" dirty="0">
                <a:solidFill>
                  <a:srgbClr val="FF0000"/>
                </a:solidFill>
              </a:rPr>
              <a:t>拆散 </a:t>
            </a:r>
            <a:r>
              <a:rPr lang="en-US" altLang="zh-CN" sz="3600" b="1" dirty="0">
                <a:solidFill>
                  <a:srgbClr val="FF0000"/>
                </a:solidFill>
              </a:rPr>
              <a:t>5.</a:t>
            </a:r>
            <a:r>
              <a:rPr lang="zh-CN" altLang="en-US" sz="3600" b="1" dirty="0">
                <a:solidFill>
                  <a:srgbClr val="FF0000"/>
                </a:solidFill>
              </a:rPr>
              <a:t>像是在和观众低声耳语 </a:t>
            </a:r>
            <a:r>
              <a:rPr lang="en-US" altLang="zh-CN" sz="3600" b="1" dirty="0">
                <a:solidFill>
                  <a:srgbClr val="FF0000"/>
                </a:solidFill>
              </a:rPr>
              <a:t>6.</a:t>
            </a:r>
            <a:r>
              <a:rPr lang="zh-CN" altLang="en-US" sz="3600" b="1" dirty="0">
                <a:solidFill>
                  <a:srgbClr val="FF0000"/>
                </a:solidFill>
              </a:rPr>
              <a:t>曲调突然变得沉重 </a:t>
            </a:r>
            <a:r>
              <a:rPr lang="en-US" altLang="zh-CN" sz="3600" b="1" dirty="0">
                <a:solidFill>
                  <a:srgbClr val="FF0000"/>
                </a:solidFill>
              </a:rPr>
              <a:t>7.</a:t>
            </a:r>
            <a:r>
              <a:rPr lang="zh-CN" altLang="en-US" sz="3600" b="1" dirty="0">
                <a:solidFill>
                  <a:srgbClr val="FF0000"/>
                </a:solidFill>
              </a:rPr>
              <a:t>为失挚爱而痛哭 </a:t>
            </a:r>
            <a:r>
              <a:rPr lang="en-US" altLang="zh-CN" sz="3600" b="1" dirty="0">
                <a:solidFill>
                  <a:srgbClr val="FF0000"/>
                </a:solidFill>
              </a:rPr>
              <a:t>8.</a:t>
            </a:r>
            <a:r>
              <a:rPr lang="zh-CN" altLang="en-US" sz="3600" b="1" dirty="0">
                <a:solidFill>
                  <a:srgbClr val="FF0000"/>
                </a:solidFill>
              </a:rPr>
              <a:t>悲痛欲绝 </a:t>
            </a:r>
            <a:r>
              <a:rPr lang="en-US" altLang="zh-CN" sz="3600" b="1" dirty="0">
                <a:solidFill>
                  <a:srgbClr val="FF0000"/>
                </a:solidFill>
              </a:rPr>
              <a:t>9.</a:t>
            </a:r>
            <a:r>
              <a:rPr lang="zh-CN" altLang="en-US" sz="3600" b="1" dirty="0">
                <a:solidFill>
                  <a:srgbClr val="FF0000"/>
                </a:solidFill>
              </a:rPr>
              <a:t>转变 </a:t>
            </a:r>
            <a:r>
              <a:rPr lang="en-US" altLang="zh-CN" sz="3600" b="1" dirty="0">
                <a:solidFill>
                  <a:srgbClr val="FF0000"/>
                </a:solidFill>
              </a:rPr>
              <a:t>10.</a:t>
            </a:r>
            <a:r>
              <a:rPr lang="zh-CN" altLang="en-US" sz="3600" b="1" dirty="0">
                <a:solidFill>
                  <a:srgbClr val="FF0000"/>
                </a:solidFill>
              </a:rPr>
              <a:t>以凄美的曲调收尾 </a:t>
            </a:r>
            <a:r>
              <a:rPr lang="en-US" altLang="zh-CN" sz="3600" b="1" dirty="0">
                <a:solidFill>
                  <a:srgbClr val="FF0000"/>
                </a:solidFill>
              </a:rPr>
              <a:t>11.</a:t>
            </a:r>
            <a:r>
              <a:rPr lang="zh-CN" altLang="en-US" sz="3600" b="1" dirty="0">
                <a:solidFill>
                  <a:srgbClr val="FF0000"/>
                </a:solidFill>
              </a:rPr>
              <a:t>融合了中西方的音乐元素 </a:t>
            </a:r>
            <a:r>
              <a:rPr lang="en-US" altLang="zh-CN" sz="3600" b="1" dirty="0">
                <a:solidFill>
                  <a:srgbClr val="FF0000"/>
                </a:solidFill>
              </a:rPr>
              <a:t>12.</a:t>
            </a:r>
            <a:r>
              <a:rPr lang="zh-CN" altLang="en-US" sz="3600" b="1" dirty="0">
                <a:solidFill>
                  <a:srgbClr val="FF0000"/>
                </a:solidFill>
              </a:rPr>
              <a:t>更重要的是 </a:t>
            </a:r>
            <a:r>
              <a:rPr lang="en-US" altLang="zh-CN" sz="3600" b="1" dirty="0">
                <a:solidFill>
                  <a:srgbClr val="FF0000"/>
                </a:solidFill>
              </a:rPr>
              <a:t>13.</a:t>
            </a:r>
            <a:r>
              <a:rPr lang="zh-CN" altLang="en-US" sz="3600" b="1" dirty="0">
                <a:solidFill>
                  <a:srgbClr val="FF0000"/>
                </a:solidFill>
              </a:rPr>
              <a:t>源自 </a:t>
            </a:r>
            <a:r>
              <a:rPr lang="en-US" altLang="zh-CN" sz="3600" b="1" dirty="0">
                <a:solidFill>
                  <a:srgbClr val="FF0000"/>
                </a:solidFill>
              </a:rPr>
              <a:t>14.</a:t>
            </a:r>
            <a:r>
              <a:rPr lang="zh-CN" altLang="en-US" sz="3600" b="1" dirty="0">
                <a:solidFill>
                  <a:srgbClr val="FF0000"/>
                </a:solidFill>
              </a:rPr>
              <a:t>音乐的确是一种世界语言 </a:t>
            </a:r>
            <a:r>
              <a:rPr lang="en-US" altLang="zh-CN" sz="3600" b="1" dirty="0">
                <a:solidFill>
                  <a:srgbClr val="FF0000"/>
                </a:solidFill>
              </a:rPr>
              <a:t>15.</a:t>
            </a:r>
            <a:r>
              <a:rPr lang="zh-CN" altLang="en-US" sz="3600" b="1" dirty="0">
                <a:solidFill>
                  <a:srgbClr val="FF0000"/>
                </a:solidFill>
              </a:rPr>
              <a:t>我保证你一定会喜欢它！</a:t>
            </a:r>
            <a:r>
              <a:rPr lang="en-US" altLang="zh-CN" sz="3600" b="1" dirty="0">
                <a:solidFill>
                  <a:srgbClr val="FF0000"/>
                </a:solidFill>
              </a:rPr>
              <a:t>16.</a:t>
            </a:r>
            <a:r>
              <a:rPr lang="zh-CN" altLang="en-US" sz="3600" b="1" dirty="0">
                <a:solidFill>
                  <a:srgbClr val="FF0000"/>
                </a:solidFill>
              </a:rPr>
              <a:t>依赖他们给我介绍歌曲 </a:t>
            </a:r>
            <a:r>
              <a:rPr lang="en-US" altLang="zh-CN" sz="3600" b="1" dirty="0">
                <a:solidFill>
                  <a:srgbClr val="FF0000"/>
                </a:solidFill>
              </a:rPr>
              <a:t>17.</a:t>
            </a:r>
            <a:r>
              <a:rPr lang="zh-CN" altLang="en-US" sz="3600" b="1" dirty="0">
                <a:solidFill>
                  <a:srgbClr val="FF0000"/>
                </a:solidFill>
              </a:rPr>
              <a:t>传遍整个美国 </a:t>
            </a:r>
            <a:r>
              <a:rPr lang="en-US" altLang="zh-CN" sz="3600" b="1" dirty="0">
                <a:solidFill>
                  <a:srgbClr val="FF0000"/>
                </a:solidFill>
              </a:rPr>
              <a:t>18.</a:t>
            </a:r>
            <a:r>
              <a:rPr lang="zh-CN" altLang="en-US" sz="3600" b="1" dirty="0">
                <a:solidFill>
                  <a:srgbClr val="FF0000"/>
                </a:solidFill>
              </a:rPr>
              <a:t>源于 </a:t>
            </a:r>
            <a:r>
              <a:rPr lang="en-US" altLang="zh-CN" sz="3600" b="1" dirty="0">
                <a:solidFill>
                  <a:srgbClr val="FF0000"/>
                </a:solidFill>
              </a:rPr>
              <a:t>19.</a:t>
            </a:r>
            <a:r>
              <a:rPr lang="zh-CN" altLang="en-US" sz="3600" b="1" dirty="0">
                <a:solidFill>
                  <a:srgbClr val="FF0000"/>
                </a:solidFill>
              </a:rPr>
              <a:t>歌词发人深省 </a:t>
            </a:r>
            <a:r>
              <a:rPr lang="en-US" altLang="zh-CN" sz="3600" b="1" dirty="0">
                <a:solidFill>
                  <a:srgbClr val="FF0000"/>
                </a:solidFill>
              </a:rPr>
              <a:t>20.</a:t>
            </a:r>
            <a:r>
              <a:rPr lang="zh-CN" altLang="en-US" sz="3600" b="1" dirty="0">
                <a:solidFill>
                  <a:srgbClr val="FF0000"/>
                </a:solidFill>
              </a:rPr>
              <a:t>附加了很多幽默元素 </a:t>
            </a:r>
            <a:r>
              <a:rPr lang="en-US" altLang="zh-CN" sz="3600" b="1" dirty="0">
                <a:solidFill>
                  <a:srgbClr val="FF0000"/>
                </a:solidFill>
              </a:rPr>
              <a:t>21.</a:t>
            </a:r>
            <a:r>
              <a:rPr lang="zh-CN" altLang="en-US" sz="3600" b="1" dirty="0">
                <a:solidFill>
                  <a:srgbClr val="FF0000"/>
                </a:solidFill>
              </a:rPr>
              <a:t>与音乐家之间的那种情感的联系 </a:t>
            </a:r>
            <a:r>
              <a:rPr lang="en-US" altLang="zh-CN" sz="3600" b="1" dirty="0">
                <a:solidFill>
                  <a:srgbClr val="FF0000"/>
                </a:solidFill>
              </a:rPr>
              <a:t>22.</a:t>
            </a:r>
            <a:r>
              <a:rPr lang="zh-CN" altLang="en-US" sz="3600" b="1" dirty="0">
                <a:solidFill>
                  <a:srgbClr val="FF0000"/>
                </a:solidFill>
              </a:rPr>
              <a:t>乡村静谧的绿野和质朴的生活 </a:t>
            </a:r>
            <a:r>
              <a:rPr lang="en-US" altLang="zh-CN" sz="3600" b="1" dirty="0">
                <a:solidFill>
                  <a:srgbClr val="FF0000"/>
                </a:solidFill>
              </a:rPr>
              <a:t>23.</a:t>
            </a:r>
            <a:r>
              <a:rPr lang="zh-CN" altLang="en-US" sz="3600" b="1" dirty="0">
                <a:solidFill>
                  <a:srgbClr val="FF0000"/>
                </a:solidFill>
              </a:rPr>
              <a:t>究竟是什么样子 </a:t>
            </a:r>
            <a:r>
              <a:rPr lang="en-US" altLang="zh-CN" sz="3600" b="1" dirty="0">
                <a:solidFill>
                  <a:srgbClr val="FF0000"/>
                </a:solidFill>
              </a:rPr>
              <a:t>24.</a:t>
            </a:r>
            <a:r>
              <a:rPr lang="zh-CN" altLang="en-US" sz="3600" b="1" dirty="0">
                <a:solidFill>
                  <a:srgbClr val="FF0000"/>
                </a:solidFill>
              </a:rPr>
              <a:t>身临其境 </a:t>
            </a:r>
            <a:r>
              <a:rPr lang="en-US" altLang="zh-CN" sz="3600" b="1" dirty="0">
                <a:solidFill>
                  <a:srgbClr val="FF0000"/>
                </a:solidFill>
              </a:rPr>
              <a:t>25.</a:t>
            </a:r>
            <a:r>
              <a:rPr lang="zh-CN" altLang="en-US" sz="3600" b="1" dirty="0">
                <a:solidFill>
                  <a:srgbClr val="FF0000"/>
                </a:solidFill>
              </a:rPr>
              <a:t>为什么不试试做某事 </a:t>
            </a:r>
            <a:r>
              <a:rPr lang="en-US" altLang="zh-CN" sz="3600" b="1" dirty="0">
                <a:solidFill>
                  <a:srgbClr val="FF0000"/>
                </a:solidFill>
              </a:rPr>
              <a:t>26</a:t>
            </a:r>
            <a:r>
              <a:rPr lang="zh-CN" altLang="en-US" sz="3600" b="1" dirty="0">
                <a:solidFill>
                  <a:srgbClr val="FF0000"/>
                </a:solidFill>
              </a:rPr>
              <a:t>我保重你会喜欢的 </a:t>
            </a:r>
            <a:r>
              <a:rPr lang="en-US" altLang="zh-CN" sz="3600" b="1" dirty="0">
                <a:solidFill>
                  <a:srgbClr val="FF0000"/>
                </a:solidFill>
              </a:rPr>
              <a:t>27.</a:t>
            </a:r>
            <a:r>
              <a:rPr lang="zh-CN" altLang="en-US" sz="3600" b="1" dirty="0">
                <a:solidFill>
                  <a:srgbClr val="FF0000"/>
                </a:solidFill>
              </a:rPr>
              <a:t>有能力改变生活 </a:t>
            </a:r>
            <a:r>
              <a:rPr lang="en-US" altLang="zh-CN" sz="3600" b="1" dirty="0">
                <a:solidFill>
                  <a:srgbClr val="FF0000"/>
                </a:solidFill>
              </a:rPr>
              <a:t>28.</a:t>
            </a:r>
            <a:r>
              <a:rPr lang="zh-CN" altLang="en-US" sz="3600" b="1" dirty="0">
                <a:solidFill>
                  <a:srgbClr val="FF0000"/>
                </a:solidFill>
              </a:rPr>
              <a:t>让公众更方便接触音乐 </a:t>
            </a:r>
            <a:r>
              <a:rPr lang="en-US" altLang="zh-CN" sz="3600" b="1" dirty="0">
                <a:solidFill>
                  <a:srgbClr val="FF0000"/>
                </a:solidFill>
              </a:rPr>
              <a:t>29.</a:t>
            </a:r>
            <a:r>
              <a:rPr lang="zh-CN" altLang="en-US" sz="3600" b="1" dirty="0">
                <a:solidFill>
                  <a:srgbClr val="FF0000"/>
                </a:solidFill>
              </a:rPr>
              <a:t>举办一系列免费音乐会 </a:t>
            </a:r>
            <a:r>
              <a:rPr lang="en-US" altLang="zh-CN" sz="3600" b="1" dirty="0">
                <a:solidFill>
                  <a:srgbClr val="FF0000"/>
                </a:solidFill>
              </a:rPr>
              <a:t>30.</a:t>
            </a:r>
            <a:r>
              <a:rPr lang="zh-CN" altLang="en-US" sz="3600" b="1" dirty="0">
                <a:solidFill>
                  <a:srgbClr val="FF0000"/>
                </a:solidFill>
              </a:rPr>
              <a:t>古典音乐 </a:t>
            </a:r>
            <a:r>
              <a:rPr lang="en-US" altLang="zh-CN" sz="3600" b="1" dirty="0">
                <a:solidFill>
                  <a:srgbClr val="FF0000"/>
                </a:solidFill>
              </a:rPr>
              <a:t>31.</a:t>
            </a:r>
            <a:r>
              <a:rPr lang="zh-CN" altLang="en-US" sz="3600" b="1" dirty="0">
                <a:solidFill>
                  <a:srgbClr val="FF0000"/>
                </a:solidFill>
              </a:rPr>
              <a:t>对</a:t>
            </a:r>
            <a:r>
              <a:rPr lang="en-US" altLang="zh-CN" sz="3600" b="1" dirty="0">
                <a:solidFill>
                  <a:srgbClr val="FF0000"/>
                </a:solidFill>
              </a:rPr>
              <a:t>…</a:t>
            </a:r>
            <a:r>
              <a:rPr lang="zh-CN" altLang="en-US" sz="3600" b="1" dirty="0">
                <a:solidFill>
                  <a:srgbClr val="FF0000"/>
                </a:solidFill>
              </a:rPr>
              <a:t>的改变 </a:t>
            </a:r>
            <a:r>
              <a:rPr lang="en-US" altLang="zh-CN" sz="3600" b="1" dirty="0">
                <a:solidFill>
                  <a:srgbClr val="FF0000"/>
                </a:solidFill>
              </a:rPr>
              <a:t>32.</a:t>
            </a:r>
            <a:r>
              <a:rPr lang="zh-CN" altLang="en-US" sz="3600" b="1" dirty="0">
                <a:solidFill>
                  <a:srgbClr val="FF0000"/>
                </a:solidFill>
              </a:rPr>
              <a:t>共产党 </a:t>
            </a:r>
            <a:r>
              <a:rPr lang="en-US" altLang="zh-CN" sz="3600" b="1" dirty="0">
                <a:solidFill>
                  <a:srgbClr val="FF0000"/>
                </a:solidFill>
              </a:rPr>
              <a:t>33.</a:t>
            </a:r>
            <a:r>
              <a:rPr lang="zh-CN" altLang="en-US" sz="3600" b="1" dirty="0">
                <a:solidFill>
                  <a:srgbClr val="FF0000"/>
                </a:solidFill>
              </a:rPr>
              <a:t>战胜侵略者 </a:t>
            </a:r>
            <a:r>
              <a:rPr lang="en-US" altLang="zh-CN" sz="3600" b="1" dirty="0">
                <a:solidFill>
                  <a:srgbClr val="FF0000"/>
                </a:solidFill>
              </a:rPr>
              <a:t>34.</a:t>
            </a:r>
            <a:r>
              <a:rPr lang="zh-CN" altLang="en-US" sz="3600" b="1" dirty="0">
                <a:solidFill>
                  <a:srgbClr val="FF0000"/>
                </a:solidFill>
              </a:rPr>
              <a:t>尤其 </a:t>
            </a:r>
            <a:r>
              <a:rPr lang="en-US" altLang="zh-CN" sz="3600" b="1" dirty="0">
                <a:solidFill>
                  <a:srgbClr val="FF0000"/>
                </a:solidFill>
              </a:rPr>
              <a:t>35.</a:t>
            </a:r>
            <a:r>
              <a:rPr lang="zh-CN" altLang="en-US" sz="3600" b="1" dirty="0">
                <a:solidFill>
                  <a:srgbClr val="FF0000"/>
                </a:solidFill>
              </a:rPr>
              <a:t>值得一提 </a:t>
            </a:r>
            <a:r>
              <a:rPr lang="en-US" altLang="zh-CN" sz="3600" b="1" dirty="0">
                <a:solidFill>
                  <a:srgbClr val="FF0000"/>
                </a:solidFill>
              </a:rPr>
              <a:t>36.</a:t>
            </a:r>
            <a:r>
              <a:rPr lang="zh-CN" altLang="en-US" sz="3600" b="1" dirty="0">
                <a:solidFill>
                  <a:srgbClr val="FF0000"/>
                </a:solidFill>
              </a:rPr>
              <a:t>在幕后 </a:t>
            </a:r>
            <a:r>
              <a:rPr lang="en-US" altLang="zh-CN" sz="3600" b="1" dirty="0">
                <a:solidFill>
                  <a:srgbClr val="FF0000"/>
                </a:solidFill>
              </a:rPr>
              <a:t>37.</a:t>
            </a:r>
            <a:r>
              <a:rPr lang="zh-CN" altLang="en-US" sz="3600" b="1" dirty="0">
                <a:solidFill>
                  <a:srgbClr val="FF0000"/>
                </a:solidFill>
              </a:rPr>
              <a:t>更加生动有趣 </a:t>
            </a:r>
            <a:r>
              <a:rPr lang="en-US" altLang="zh-CN" sz="3600" b="1" dirty="0">
                <a:solidFill>
                  <a:srgbClr val="FF0000"/>
                </a:solidFill>
              </a:rPr>
              <a:t>38.</a:t>
            </a:r>
            <a:r>
              <a:rPr lang="zh-CN" altLang="en-US" sz="3600" b="1" dirty="0">
                <a:solidFill>
                  <a:srgbClr val="FF0000"/>
                </a:solidFill>
              </a:rPr>
              <a:t>使读者能够从一个新角度看待事情</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a:bodyPr>
          <a:lstStyle/>
          <a:p>
            <a:r>
              <a:rPr lang="en-US" altLang="zh-CN" sz="3600" b="1" dirty="0">
                <a:solidFill>
                  <a:srgbClr val="FF0000"/>
                </a:solidFill>
                <a:sym typeface="+mn-ea"/>
              </a:rPr>
              <a:t>16.</a:t>
            </a:r>
            <a:r>
              <a:rPr lang="zh-CN" altLang="en-US" sz="3600" b="1" dirty="0">
                <a:solidFill>
                  <a:srgbClr val="FF0000"/>
                </a:solidFill>
                <a:sym typeface="+mn-ea"/>
              </a:rPr>
              <a:t>依赖他们给我介绍歌曲 </a:t>
            </a:r>
            <a:r>
              <a:rPr lang="en-US" altLang="zh-CN" sz="3600" b="1" dirty="0">
                <a:solidFill>
                  <a:srgbClr val="FF0000"/>
                </a:solidFill>
                <a:sym typeface="+mn-ea"/>
              </a:rPr>
              <a:t>17.</a:t>
            </a:r>
            <a:r>
              <a:rPr lang="zh-CN" altLang="en-US" sz="3600" b="1" dirty="0">
                <a:solidFill>
                  <a:srgbClr val="FF0000"/>
                </a:solidFill>
                <a:sym typeface="+mn-ea"/>
              </a:rPr>
              <a:t>传遍整个美国 </a:t>
            </a:r>
            <a:r>
              <a:rPr lang="en-US" altLang="zh-CN" sz="3600" b="1" dirty="0">
                <a:solidFill>
                  <a:srgbClr val="FF0000"/>
                </a:solidFill>
                <a:sym typeface="+mn-ea"/>
              </a:rPr>
              <a:t>18.</a:t>
            </a:r>
            <a:r>
              <a:rPr lang="zh-CN" altLang="en-US" sz="3600" b="1" dirty="0">
                <a:solidFill>
                  <a:srgbClr val="FF0000"/>
                </a:solidFill>
                <a:sym typeface="+mn-ea"/>
              </a:rPr>
              <a:t>源于 </a:t>
            </a:r>
            <a:r>
              <a:rPr lang="en-US" altLang="zh-CN" sz="3600" b="1" dirty="0">
                <a:solidFill>
                  <a:srgbClr val="FF0000"/>
                </a:solidFill>
                <a:sym typeface="+mn-ea"/>
              </a:rPr>
              <a:t>19.</a:t>
            </a:r>
            <a:r>
              <a:rPr lang="zh-CN" altLang="en-US" sz="3600" b="1" dirty="0">
                <a:solidFill>
                  <a:srgbClr val="FF0000"/>
                </a:solidFill>
                <a:sym typeface="+mn-ea"/>
              </a:rPr>
              <a:t>歌词发人深省 </a:t>
            </a:r>
            <a:r>
              <a:rPr lang="en-US" altLang="zh-CN" sz="3600" b="1" dirty="0">
                <a:solidFill>
                  <a:srgbClr val="FF0000"/>
                </a:solidFill>
                <a:sym typeface="+mn-ea"/>
              </a:rPr>
              <a:t>20.</a:t>
            </a:r>
            <a:r>
              <a:rPr lang="zh-CN" altLang="en-US" sz="3600" b="1" dirty="0">
                <a:solidFill>
                  <a:srgbClr val="FF0000"/>
                </a:solidFill>
                <a:sym typeface="+mn-ea"/>
              </a:rPr>
              <a:t>附加了很多幽默元素 </a:t>
            </a:r>
            <a:r>
              <a:rPr lang="en-US" altLang="zh-CN" sz="3600" b="1" dirty="0">
                <a:solidFill>
                  <a:srgbClr val="FF0000"/>
                </a:solidFill>
                <a:sym typeface="+mn-ea"/>
              </a:rPr>
              <a:t>21.</a:t>
            </a:r>
            <a:r>
              <a:rPr lang="zh-CN" altLang="en-US" sz="3600" b="1" dirty="0">
                <a:solidFill>
                  <a:srgbClr val="FF0000"/>
                </a:solidFill>
                <a:sym typeface="+mn-ea"/>
              </a:rPr>
              <a:t>与音乐家之间的那种情感的联系 </a:t>
            </a:r>
            <a:r>
              <a:rPr lang="en-US" altLang="zh-CN" sz="3600" b="1" dirty="0">
                <a:solidFill>
                  <a:srgbClr val="FF0000"/>
                </a:solidFill>
                <a:sym typeface="+mn-ea"/>
              </a:rPr>
              <a:t>22.</a:t>
            </a:r>
            <a:r>
              <a:rPr lang="zh-CN" altLang="en-US" sz="3600" b="1" dirty="0">
                <a:solidFill>
                  <a:srgbClr val="FF0000"/>
                </a:solidFill>
                <a:sym typeface="+mn-ea"/>
              </a:rPr>
              <a:t>乡村静谧的绿野和质朴的生活 </a:t>
            </a:r>
            <a:r>
              <a:rPr lang="en-US" altLang="zh-CN" sz="3600" b="1" dirty="0">
                <a:solidFill>
                  <a:srgbClr val="FF0000"/>
                </a:solidFill>
                <a:sym typeface="+mn-ea"/>
              </a:rPr>
              <a:t>23.</a:t>
            </a:r>
            <a:r>
              <a:rPr lang="zh-CN" altLang="en-US" sz="3600" b="1" dirty="0">
                <a:solidFill>
                  <a:srgbClr val="FF0000"/>
                </a:solidFill>
                <a:sym typeface="+mn-ea"/>
              </a:rPr>
              <a:t>究竟是什么样子 </a:t>
            </a:r>
            <a:r>
              <a:rPr lang="en-US" altLang="zh-CN" sz="3600" b="1" dirty="0">
                <a:solidFill>
                  <a:srgbClr val="FF0000"/>
                </a:solidFill>
                <a:sym typeface="+mn-ea"/>
              </a:rPr>
              <a:t>24.</a:t>
            </a:r>
            <a:r>
              <a:rPr lang="zh-CN" altLang="en-US" sz="3600" b="1" dirty="0">
                <a:solidFill>
                  <a:srgbClr val="FF0000"/>
                </a:solidFill>
                <a:sym typeface="+mn-ea"/>
              </a:rPr>
              <a:t>身临其境 </a:t>
            </a:r>
            <a:r>
              <a:rPr lang="en-US" altLang="zh-CN" sz="3600" b="1" dirty="0">
                <a:solidFill>
                  <a:srgbClr val="FF0000"/>
                </a:solidFill>
                <a:sym typeface="+mn-ea"/>
              </a:rPr>
              <a:t>25.</a:t>
            </a:r>
            <a:r>
              <a:rPr lang="zh-CN" altLang="en-US" sz="3600" b="1" dirty="0">
                <a:solidFill>
                  <a:srgbClr val="FF0000"/>
                </a:solidFill>
                <a:sym typeface="+mn-ea"/>
              </a:rPr>
              <a:t>为什么不试试做某事 </a:t>
            </a:r>
            <a:r>
              <a:rPr lang="en-US" altLang="zh-CN" sz="3600" b="1" dirty="0">
                <a:solidFill>
                  <a:srgbClr val="FF0000"/>
                </a:solidFill>
                <a:sym typeface="+mn-ea"/>
              </a:rPr>
              <a:t>26</a:t>
            </a:r>
            <a:r>
              <a:rPr lang="zh-CN" altLang="en-US" sz="3600" b="1" dirty="0">
                <a:solidFill>
                  <a:srgbClr val="FF0000"/>
                </a:solidFill>
                <a:sym typeface="+mn-ea"/>
              </a:rPr>
              <a:t>我保重你会喜欢的 </a:t>
            </a:r>
            <a:r>
              <a:rPr lang="en-US" altLang="zh-CN" sz="3600" b="1" dirty="0">
                <a:solidFill>
                  <a:srgbClr val="FF0000"/>
                </a:solidFill>
                <a:sym typeface="+mn-ea"/>
              </a:rPr>
              <a:t>27.</a:t>
            </a:r>
            <a:r>
              <a:rPr lang="zh-CN" altLang="en-US" sz="3600" b="1" dirty="0">
                <a:solidFill>
                  <a:srgbClr val="FF0000"/>
                </a:solidFill>
                <a:sym typeface="+mn-ea"/>
              </a:rPr>
              <a:t>有能力改变生活 </a:t>
            </a:r>
            <a:r>
              <a:rPr lang="en-US" altLang="zh-CN" sz="3600" b="1" dirty="0">
                <a:solidFill>
                  <a:srgbClr val="FF0000"/>
                </a:solidFill>
                <a:sym typeface="+mn-ea"/>
              </a:rPr>
              <a:t>28.</a:t>
            </a:r>
            <a:r>
              <a:rPr lang="zh-CN" altLang="en-US" sz="3600" b="1" dirty="0">
                <a:solidFill>
                  <a:srgbClr val="FF0000"/>
                </a:solidFill>
                <a:sym typeface="+mn-ea"/>
              </a:rPr>
              <a:t>让公众更方便接触音乐 </a:t>
            </a:r>
            <a:r>
              <a:rPr lang="en-US" altLang="zh-CN" sz="3600" b="1" dirty="0">
                <a:solidFill>
                  <a:srgbClr val="FF0000"/>
                </a:solidFill>
                <a:sym typeface="+mn-ea"/>
              </a:rPr>
              <a:t>29.</a:t>
            </a:r>
            <a:r>
              <a:rPr lang="zh-CN" altLang="en-US" sz="3600" b="1" dirty="0">
                <a:solidFill>
                  <a:srgbClr val="FF0000"/>
                </a:solidFill>
                <a:sym typeface="+mn-ea"/>
              </a:rPr>
              <a:t>举办一系列免费音乐会 </a:t>
            </a:r>
            <a:r>
              <a:rPr lang="en-US" altLang="zh-CN" sz="3600" b="1" dirty="0">
                <a:solidFill>
                  <a:srgbClr val="FF0000"/>
                </a:solidFill>
                <a:sym typeface="+mn-ea"/>
              </a:rPr>
              <a:t>30.</a:t>
            </a:r>
            <a:r>
              <a:rPr lang="zh-CN" altLang="en-US" sz="3600" b="1" dirty="0">
                <a:solidFill>
                  <a:srgbClr val="FF0000"/>
                </a:solidFill>
                <a:sym typeface="+mn-ea"/>
              </a:rPr>
              <a:t>古典音乐 </a:t>
            </a:r>
            <a:r>
              <a:rPr lang="en-US" altLang="zh-CN" sz="3600" b="1" dirty="0">
                <a:solidFill>
                  <a:srgbClr val="FF0000"/>
                </a:solidFill>
                <a:sym typeface="+mn-ea"/>
              </a:rPr>
              <a:t>31.</a:t>
            </a:r>
            <a:r>
              <a:rPr lang="zh-CN" altLang="en-US" sz="3600" b="1" dirty="0">
                <a:solidFill>
                  <a:srgbClr val="FF0000"/>
                </a:solidFill>
                <a:sym typeface="+mn-ea"/>
              </a:rPr>
              <a:t>对</a:t>
            </a:r>
            <a:r>
              <a:rPr lang="en-US" altLang="zh-CN" sz="3600" b="1" dirty="0">
                <a:solidFill>
                  <a:srgbClr val="FF0000"/>
                </a:solidFill>
                <a:sym typeface="+mn-ea"/>
              </a:rPr>
              <a:t>…</a:t>
            </a:r>
            <a:r>
              <a:rPr lang="zh-CN" altLang="en-US" sz="3600" b="1" dirty="0">
                <a:solidFill>
                  <a:srgbClr val="FF0000"/>
                </a:solidFill>
                <a:sym typeface="+mn-ea"/>
              </a:rPr>
              <a:t>的改变 </a:t>
            </a:r>
            <a:r>
              <a:rPr lang="en-US" altLang="zh-CN" sz="3600" b="1" dirty="0">
                <a:solidFill>
                  <a:srgbClr val="FF0000"/>
                </a:solidFill>
                <a:sym typeface="+mn-ea"/>
              </a:rPr>
              <a:t>32.</a:t>
            </a:r>
            <a:r>
              <a:rPr lang="zh-CN" altLang="en-US" sz="3600" b="1" dirty="0">
                <a:solidFill>
                  <a:srgbClr val="FF0000"/>
                </a:solidFill>
                <a:sym typeface="+mn-ea"/>
              </a:rPr>
              <a:t>共产党 </a:t>
            </a:r>
            <a:r>
              <a:rPr lang="en-US" altLang="zh-CN" sz="3600" b="1" dirty="0">
                <a:solidFill>
                  <a:srgbClr val="FF0000"/>
                </a:solidFill>
                <a:sym typeface="+mn-ea"/>
              </a:rPr>
              <a:t>33.</a:t>
            </a:r>
            <a:r>
              <a:rPr lang="zh-CN" altLang="en-US" sz="3600" b="1" dirty="0">
                <a:solidFill>
                  <a:srgbClr val="FF0000"/>
                </a:solidFill>
                <a:sym typeface="+mn-ea"/>
              </a:rPr>
              <a:t>战胜侵略者 </a:t>
            </a:r>
            <a:r>
              <a:rPr lang="en-US" altLang="zh-CN" sz="3600" b="1" dirty="0">
                <a:solidFill>
                  <a:srgbClr val="FF0000"/>
                </a:solidFill>
                <a:sym typeface="+mn-ea"/>
              </a:rPr>
              <a:t>34.</a:t>
            </a:r>
            <a:r>
              <a:rPr lang="zh-CN" altLang="en-US" sz="3600" b="1" dirty="0">
                <a:solidFill>
                  <a:srgbClr val="FF0000"/>
                </a:solidFill>
                <a:sym typeface="+mn-ea"/>
              </a:rPr>
              <a:t>尤其 </a:t>
            </a:r>
            <a:r>
              <a:rPr lang="en-US" altLang="zh-CN" sz="3600" b="1" dirty="0">
                <a:solidFill>
                  <a:srgbClr val="FF0000"/>
                </a:solidFill>
                <a:sym typeface="+mn-ea"/>
              </a:rPr>
              <a:t>35.</a:t>
            </a:r>
            <a:r>
              <a:rPr lang="zh-CN" altLang="en-US" sz="3600" b="1" dirty="0">
                <a:solidFill>
                  <a:srgbClr val="FF0000"/>
                </a:solidFill>
                <a:sym typeface="+mn-ea"/>
              </a:rPr>
              <a:t>值得一提 </a:t>
            </a:r>
            <a:r>
              <a:rPr lang="en-US" altLang="zh-CN" sz="3600" b="1" dirty="0">
                <a:solidFill>
                  <a:srgbClr val="FF0000"/>
                </a:solidFill>
                <a:sym typeface="+mn-ea"/>
              </a:rPr>
              <a:t>36.</a:t>
            </a:r>
            <a:r>
              <a:rPr lang="zh-CN" altLang="en-US" sz="3600" b="1" dirty="0">
                <a:solidFill>
                  <a:srgbClr val="FF0000"/>
                </a:solidFill>
                <a:sym typeface="+mn-ea"/>
              </a:rPr>
              <a:t>在幕后 </a:t>
            </a:r>
            <a:r>
              <a:rPr lang="en-US" altLang="zh-CN" sz="3600" b="1" dirty="0">
                <a:solidFill>
                  <a:srgbClr val="FF0000"/>
                </a:solidFill>
                <a:sym typeface="+mn-ea"/>
              </a:rPr>
              <a:t>37.</a:t>
            </a:r>
            <a:r>
              <a:rPr lang="zh-CN" altLang="en-US" sz="3600" b="1" dirty="0">
                <a:solidFill>
                  <a:srgbClr val="FF0000"/>
                </a:solidFill>
                <a:sym typeface="+mn-ea"/>
              </a:rPr>
              <a:t>更加生动有趣 </a:t>
            </a:r>
            <a:r>
              <a:rPr lang="en-US" altLang="zh-CN" sz="3600" b="1" dirty="0">
                <a:solidFill>
                  <a:srgbClr val="FF0000"/>
                </a:solidFill>
                <a:sym typeface="+mn-ea"/>
              </a:rPr>
              <a:t>38.</a:t>
            </a:r>
            <a:r>
              <a:rPr lang="zh-CN" altLang="en-US" sz="3600" b="1" dirty="0">
                <a:solidFill>
                  <a:srgbClr val="FF0000"/>
                </a:solidFill>
                <a:sym typeface="+mn-ea"/>
              </a:rPr>
              <a:t>使读者能够从一个新角度看待事情</a:t>
            </a:r>
            <a:endParaRPr lang="zh-CN" altLang="en-US" sz="3600" b="1" dirty="0">
              <a:solidFill>
                <a:srgbClr val="FF0000"/>
              </a:solidFill>
            </a:endParaRPr>
          </a:p>
          <a:p>
            <a:r>
              <a:rPr lang="en-US" altLang="zh-CN" sz="4000" b="1" dirty="0">
                <a:solidFill>
                  <a:srgbClr val="7030A0"/>
                </a:solidFill>
              </a:rPr>
              <a:t>P20-23 1.</a:t>
            </a:r>
            <a:r>
              <a:rPr lang="zh-CN" altLang="en-US" sz="4000" b="1" dirty="0">
                <a:solidFill>
                  <a:srgbClr val="7030A0"/>
                </a:solidFill>
              </a:rPr>
              <a:t>高度评价</a:t>
            </a:r>
            <a:r>
              <a:rPr lang="en-US" altLang="zh-CN" sz="4000" b="1" dirty="0">
                <a:solidFill>
                  <a:srgbClr val="7030A0"/>
                </a:solidFill>
              </a:rPr>
              <a:t> 2.</a:t>
            </a:r>
            <a:r>
              <a:rPr lang="zh-CN" altLang="en-US" sz="4000" b="1" dirty="0">
                <a:solidFill>
                  <a:srgbClr val="7030A0"/>
                </a:solidFill>
              </a:rPr>
              <a:t>山脉</a:t>
            </a:r>
            <a:r>
              <a:rPr lang="en-US" altLang="zh-CN" sz="4000" b="1" dirty="0">
                <a:solidFill>
                  <a:srgbClr val="7030A0"/>
                </a:solidFill>
              </a:rPr>
              <a:t> 3.</a:t>
            </a:r>
            <a:r>
              <a:rPr lang="zh-CN" altLang="en-US" sz="4000" b="1" dirty="0">
                <a:solidFill>
                  <a:srgbClr val="7030A0"/>
                </a:solidFill>
              </a:rPr>
              <a:t>未能出现</a:t>
            </a:r>
            <a:r>
              <a:rPr lang="en-US" altLang="zh-CN" sz="4000" b="1" dirty="0">
                <a:solidFill>
                  <a:srgbClr val="7030A0"/>
                </a:solidFill>
              </a:rPr>
              <a:t> 4.</a:t>
            </a:r>
            <a:r>
              <a:rPr lang="zh-CN" altLang="en-US" sz="4000" b="1" dirty="0">
                <a:solidFill>
                  <a:srgbClr val="7030A0"/>
                </a:solidFill>
              </a:rPr>
              <a:t>被悲伤笼罩</a:t>
            </a:r>
            <a:r>
              <a:rPr lang="en-US" altLang="zh-CN" sz="4000" b="1" dirty="0">
                <a:solidFill>
                  <a:srgbClr val="7030A0"/>
                </a:solidFill>
              </a:rPr>
              <a:t> 5.</a:t>
            </a:r>
            <a:r>
              <a:rPr lang="zh-CN" altLang="en-US" sz="4000" b="1" dirty="0">
                <a:solidFill>
                  <a:srgbClr val="7030A0"/>
                </a:solidFill>
              </a:rPr>
              <a:t>做某事没有意义</a:t>
            </a:r>
            <a:r>
              <a:rPr lang="en-US" altLang="zh-CN" sz="4000" b="1" dirty="0">
                <a:solidFill>
                  <a:srgbClr val="7030A0"/>
                </a:solidFill>
              </a:rPr>
              <a:t>6.</a:t>
            </a:r>
            <a:r>
              <a:rPr lang="zh-CN" altLang="en-US" sz="4000" b="1" dirty="0">
                <a:solidFill>
                  <a:srgbClr val="7030A0"/>
                </a:solidFill>
              </a:rPr>
              <a:t>有能力做某事</a:t>
            </a:r>
            <a:r>
              <a:rPr lang="en-US" altLang="zh-CN" sz="4000" b="1" dirty="0">
                <a:solidFill>
                  <a:srgbClr val="7030A0"/>
                </a:solidFill>
              </a:rPr>
              <a:t> 7.</a:t>
            </a:r>
            <a:r>
              <a:rPr lang="zh-CN" altLang="en-US" sz="4000" b="1" dirty="0">
                <a:solidFill>
                  <a:srgbClr val="7030A0"/>
                </a:solidFill>
              </a:rPr>
              <a:t>太阳系</a:t>
            </a:r>
            <a:r>
              <a:rPr lang="en-US" altLang="zh-CN" sz="4000" b="1" dirty="0">
                <a:solidFill>
                  <a:srgbClr val="7030A0"/>
                </a:solidFill>
              </a:rPr>
              <a:t> 8.</a:t>
            </a:r>
            <a:r>
              <a:rPr lang="zh-CN" altLang="en-US" sz="4000" b="1" dirty="0">
                <a:solidFill>
                  <a:srgbClr val="7030A0"/>
                </a:solidFill>
              </a:rPr>
              <a:t>开始着手做某事</a:t>
            </a:r>
            <a:r>
              <a:rPr lang="en-US" altLang="zh-CN" sz="4000" b="1" dirty="0">
                <a:solidFill>
                  <a:srgbClr val="7030A0"/>
                </a:solidFill>
              </a:rPr>
              <a:t> 9.</a:t>
            </a:r>
            <a:r>
              <a:rPr lang="zh-CN" altLang="en-US" sz="4000" b="1" dirty="0">
                <a:solidFill>
                  <a:srgbClr val="7030A0"/>
                </a:solidFill>
              </a:rPr>
              <a:t>做某事有困难</a:t>
            </a:r>
            <a:r>
              <a:rPr lang="en-US" altLang="zh-CN" sz="4000" b="1" dirty="0">
                <a:solidFill>
                  <a:srgbClr val="7030A0"/>
                </a:solidFill>
              </a:rPr>
              <a:t> 10.</a:t>
            </a:r>
            <a:r>
              <a:rPr lang="zh-CN" altLang="en-US" sz="4000" b="1" dirty="0">
                <a:solidFill>
                  <a:srgbClr val="7030A0"/>
                </a:solidFill>
              </a:rPr>
              <a:t>最终</a:t>
            </a:r>
            <a:r>
              <a:rPr lang="en-US" altLang="zh-CN" sz="4000" b="1" dirty="0">
                <a:solidFill>
                  <a:srgbClr val="7030A0"/>
                </a:solidFill>
              </a:rPr>
              <a:t> 11.</a:t>
            </a:r>
            <a:r>
              <a:rPr lang="zh-CN" altLang="en-US" sz="4000" b="1" dirty="0">
                <a:solidFill>
                  <a:srgbClr val="7030A0"/>
                </a:solidFill>
              </a:rPr>
              <a:t>在遥远的星球上</a:t>
            </a:r>
            <a:r>
              <a:rPr lang="en-US" altLang="zh-CN" sz="4000" b="1" dirty="0">
                <a:solidFill>
                  <a:srgbClr val="7030A0"/>
                </a:solidFill>
              </a:rPr>
              <a:t> 12.</a:t>
            </a:r>
            <a:r>
              <a:rPr lang="zh-CN" altLang="en-US" sz="4000" b="1" dirty="0">
                <a:solidFill>
                  <a:srgbClr val="7030A0"/>
                </a:solidFill>
              </a:rPr>
              <a:t>调高音量</a:t>
            </a:r>
            <a:r>
              <a:rPr lang="en-US" altLang="zh-CN" sz="4000" b="1" dirty="0">
                <a:solidFill>
                  <a:srgbClr val="7030A0"/>
                </a:solidFill>
              </a:rPr>
              <a:t> 13.</a:t>
            </a:r>
            <a:r>
              <a:rPr lang="zh-CN" altLang="en-US" sz="4000" b="1" dirty="0">
                <a:solidFill>
                  <a:srgbClr val="7030A0"/>
                </a:solidFill>
              </a:rPr>
              <a:t>凝视</a:t>
            </a:r>
            <a:r>
              <a:rPr lang="en-US" altLang="zh-CN" sz="4000" b="1" dirty="0">
                <a:solidFill>
                  <a:srgbClr val="7030A0"/>
                </a:solidFill>
              </a:rPr>
              <a:t> 14.</a:t>
            </a:r>
            <a:r>
              <a:rPr lang="zh-CN" altLang="en-US" sz="4000" b="1" dirty="0">
                <a:solidFill>
                  <a:srgbClr val="7030A0"/>
                </a:solidFill>
              </a:rPr>
              <a:t>屏住呼吸</a:t>
            </a:r>
            <a:r>
              <a:rPr lang="en-US" altLang="zh-CN" sz="4000" b="1" dirty="0">
                <a:solidFill>
                  <a:srgbClr val="7030A0"/>
                </a:solidFill>
              </a:rPr>
              <a:t> 15.</a:t>
            </a:r>
            <a:r>
              <a:rPr lang="zh-CN" altLang="en-US" sz="4000" b="1" dirty="0">
                <a:solidFill>
                  <a:srgbClr val="7030A0"/>
                </a:solidFill>
              </a:rPr>
              <a:t>并不罕见</a:t>
            </a:r>
            <a:r>
              <a:rPr lang="en-US" altLang="zh-CN" sz="4000" b="1" dirty="0">
                <a:solidFill>
                  <a:srgbClr val="7030A0"/>
                </a:solidFill>
              </a:rPr>
              <a:t> 16.</a:t>
            </a:r>
            <a:r>
              <a:rPr lang="zh-CN" altLang="en-US" sz="4000" b="1" dirty="0">
                <a:solidFill>
                  <a:srgbClr val="7030A0"/>
                </a:solidFill>
              </a:rPr>
              <a:t>花时间揭示</a:t>
            </a:r>
            <a:r>
              <a:rPr lang="en-US" altLang="zh-CN" sz="4000" b="1" dirty="0">
                <a:solidFill>
                  <a:srgbClr val="7030A0"/>
                </a:solidFill>
              </a:rPr>
              <a:t>…</a:t>
            </a:r>
            <a:r>
              <a:rPr lang="zh-CN" altLang="en-US" sz="4000" b="1" dirty="0">
                <a:solidFill>
                  <a:srgbClr val="7030A0"/>
                </a:solidFill>
              </a:rPr>
              <a:t>的美</a:t>
            </a:r>
            <a:r>
              <a:rPr lang="en-US" altLang="zh-CN" sz="4000" b="1" dirty="0">
                <a:solidFill>
                  <a:srgbClr val="7030A0"/>
                </a:solidFill>
              </a:rPr>
              <a:t> 17.</a:t>
            </a:r>
            <a:r>
              <a:rPr lang="zh-CN" altLang="en-US" sz="4000" b="1" dirty="0">
                <a:solidFill>
                  <a:srgbClr val="7030A0"/>
                </a:solidFill>
              </a:rPr>
              <a:t>迫不及待做某事</a:t>
            </a:r>
            <a:r>
              <a:rPr lang="en-US" altLang="zh-CN" sz="4000" b="1" dirty="0">
                <a:solidFill>
                  <a:srgbClr val="7030A0"/>
                </a:solidFill>
              </a:rPr>
              <a:t> 18.</a:t>
            </a:r>
            <a:r>
              <a:rPr lang="zh-CN" altLang="en-US" sz="4000" b="1" dirty="0">
                <a:solidFill>
                  <a:srgbClr val="7030A0"/>
                </a:solidFill>
              </a:rPr>
              <a:t>抓住注意力</a:t>
            </a:r>
            <a:r>
              <a:rPr lang="en-US" altLang="zh-CN" sz="4000" b="1" dirty="0">
                <a:solidFill>
                  <a:srgbClr val="7030A0"/>
                </a:solidFill>
              </a:rPr>
              <a:t> 19.</a:t>
            </a:r>
            <a:r>
              <a:rPr lang="zh-CN" altLang="en-US" sz="4000" b="1" dirty="0">
                <a:solidFill>
                  <a:srgbClr val="7030A0"/>
                </a:solidFill>
              </a:rPr>
              <a:t>席卷</a:t>
            </a:r>
            <a:r>
              <a:rPr lang="en-US" altLang="zh-CN" sz="4000" b="1" dirty="0">
                <a:solidFill>
                  <a:srgbClr val="7030A0"/>
                </a:solidFill>
              </a:rPr>
              <a:t>,</a:t>
            </a:r>
            <a:r>
              <a:rPr lang="zh-CN" altLang="en-US" sz="4000" b="1" dirty="0">
                <a:solidFill>
                  <a:srgbClr val="7030A0"/>
                </a:solidFill>
              </a:rPr>
              <a:t>醉心于</a:t>
            </a:r>
            <a:r>
              <a:rPr lang="en-US" altLang="zh-CN" sz="4000" b="1" dirty="0">
                <a:solidFill>
                  <a:srgbClr val="7030A0"/>
                </a:solidFill>
              </a:rPr>
              <a:t> 20.</a:t>
            </a:r>
            <a:r>
              <a:rPr lang="zh-CN" altLang="en-US" sz="4000" b="1" dirty="0">
                <a:solidFill>
                  <a:srgbClr val="7030A0"/>
                </a:solidFill>
              </a:rPr>
              <a:t>更加复杂和新潮的</a:t>
            </a:r>
            <a:r>
              <a:rPr lang="en-US" altLang="zh-CN" sz="4000" b="1" dirty="0">
                <a:solidFill>
                  <a:srgbClr val="7030A0"/>
                </a:solidFill>
              </a:rPr>
              <a:t> 16.</a:t>
            </a:r>
            <a:r>
              <a:rPr lang="zh-CN" altLang="en-US" sz="4000" b="1" dirty="0">
                <a:solidFill>
                  <a:srgbClr val="7030A0"/>
                </a:solidFill>
              </a:rPr>
              <a:t>被带回</a:t>
            </a:r>
            <a:r>
              <a:rPr lang="en-US" altLang="zh-CN" sz="4000" b="1" dirty="0">
                <a:solidFill>
                  <a:srgbClr val="7030A0"/>
                </a:solidFill>
              </a:rPr>
              <a:t> 21.</a:t>
            </a:r>
            <a:r>
              <a:rPr lang="zh-CN" altLang="en-US" sz="4000" b="1" dirty="0">
                <a:solidFill>
                  <a:srgbClr val="7030A0"/>
                </a:solidFill>
              </a:rPr>
              <a:t>被装饰的</a:t>
            </a:r>
            <a:r>
              <a:rPr lang="en-US" altLang="zh-CN" sz="4000" b="1" dirty="0">
                <a:solidFill>
                  <a:srgbClr val="7030A0"/>
                </a:solidFill>
              </a:rPr>
              <a:t> 22.</a:t>
            </a:r>
            <a:r>
              <a:rPr lang="zh-CN" altLang="en-US" sz="4000" b="1" dirty="0">
                <a:solidFill>
                  <a:srgbClr val="7030A0"/>
                </a:solidFill>
              </a:rPr>
              <a:t>最高音量</a:t>
            </a:r>
            <a:r>
              <a:rPr lang="en-US" altLang="zh-CN" sz="4000" b="1" dirty="0">
                <a:solidFill>
                  <a:srgbClr val="7030A0"/>
                </a:solidFill>
              </a:rPr>
              <a:t> 23.</a:t>
            </a:r>
            <a:r>
              <a:rPr lang="zh-CN" altLang="en-US" sz="4000" b="1" dirty="0">
                <a:solidFill>
                  <a:srgbClr val="7030A0"/>
                </a:solidFill>
              </a:rPr>
              <a:t>陪伴某人一生</a:t>
            </a:r>
            <a:r>
              <a:rPr lang="en-US" altLang="zh-CN" sz="4000" b="1" dirty="0">
                <a:solidFill>
                  <a:srgbClr val="7030A0"/>
                </a:solidFill>
              </a:rPr>
              <a:t> 24.</a:t>
            </a:r>
            <a:r>
              <a:rPr lang="zh-CN" altLang="en-US" sz="4000" b="1" dirty="0">
                <a:solidFill>
                  <a:srgbClr val="7030A0"/>
                </a:solidFill>
              </a:rPr>
              <a:t>憧憬未来</a:t>
            </a:r>
            <a:r>
              <a:rPr lang="en-US" altLang="zh-CN" sz="4000" b="1" dirty="0">
                <a:solidFill>
                  <a:srgbClr val="7030A0"/>
                </a:solidFill>
              </a:rPr>
              <a:t> 25.</a:t>
            </a:r>
            <a:r>
              <a:rPr lang="zh-CN" altLang="en-US" sz="4000" b="1" dirty="0">
                <a:solidFill>
                  <a:srgbClr val="7030A0"/>
                </a:solidFill>
              </a:rPr>
              <a:t>满足地反思</a:t>
            </a:r>
            <a:r>
              <a:rPr lang="en-US" altLang="zh-CN" sz="4000" b="1" dirty="0">
                <a:solidFill>
                  <a:srgbClr val="7030A0"/>
                </a:solidFill>
              </a:rPr>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pPr marL="0" indent="0" algn="just">
              <a:lnSpc>
                <a:spcPct val="100000"/>
              </a:lnSpc>
              <a:spcBef>
                <a:spcPct val="0"/>
              </a:spcBef>
              <a:buNone/>
            </a:pPr>
            <a:r>
              <a:rPr lang="en-US" altLang="zh-CN" sz="3600" b="1" kern="100" dirty="0">
                <a:solidFill>
                  <a:srgbClr val="FF0000"/>
                </a:solidFill>
                <a:latin typeface="Times New Roman" panose="02020603050405020304" pitchFamily="18" charset="0"/>
                <a:cs typeface="Times New Roman" panose="02020603050405020304" pitchFamily="18" charset="0"/>
              </a:rPr>
              <a:t>U2</a:t>
            </a:r>
            <a:r>
              <a:rPr lang="zh-CN" altLang="en-US" sz="3600" b="1" kern="100" dirty="0">
                <a:solidFill>
                  <a:srgbClr val="FF0000"/>
                </a:solidFill>
                <a:latin typeface="Times New Roman" panose="02020603050405020304" pitchFamily="18" charset="0"/>
                <a:cs typeface="Times New Roman" panose="02020603050405020304" pitchFamily="18" charset="0"/>
              </a:rPr>
              <a:t>词汇</a:t>
            </a:r>
            <a:r>
              <a:rPr lang="en-US" altLang="zh-CN" sz="3600" b="1" kern="100" dirty="0">
                <a:solidFill>
                  <a:srgbClr val="FF0000"/>
                </a:solidFill>
                <a:latin typeface="Times New Roman" panose="02020603050405020304" pitchFamily="18" charset="0"/>
                <a:cs typeface="Times New Roman" panose="02020603050405020304" pitchFamily="18" charset="0"/>
              </a:rPr>
              <a:t>1.</a:t>
            </a:r>
            <a:r>
              <a:rPr lang="zh-CN" altLang="zh-CN" sz="3600" b="1" kern="100" dirty="0">
                <a:solidFill>
                  <a:srgbClr val="FF0000"/>
                </a:solidFill>
                <a:latin typeface="Times New Roman" panose="02020603050405020304" pitchFamily="18" charset="0"/>
                <a:cs typeface="Times New Roman" panose="02020603050405020304" pitchFamily="18" charset="0"/>
              </a:rPr>
              <a:t>由</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zh-CN" sz="3600" b="1" kern="100" dirty="0">
                <a:solidFill>
                  <a:srgbClr val="FF0000"/>
                </a:solidFill>
                <a:latin typeface="Times New Roman" panose="02020603050405020304" pitchFamily="18" charset="0"/>
                <a:cs typeface="Times New Roman" panose="02020603050405020304" pitchFamily="18" charset="0"/>
              </a:rPr>
              <a:t>组成</a:t>
            </a:r>
            <a:r>
              <a:rPr lang="en-US" altLang="zh-CN" sz="3600" b="1" kern="100" dirty="0">
                <a:solidFill>
                  <a:srgbClr val="FF0000"/>
                </a:solidFill>
                <a:latin typeface="Times New Roman" panose="02020603050405020304" pitchFamily="18" charset="0"/>
                <a:cs typeface="Times New Roman" panose="02020603050405020304" pitchFamily="18" charset="0"/>
              </a:rPr>
              <a:t>(3</a:t>
            </a:r>
            <a:r>
              <a:rPr lang="zh-CN" altLang="en-US" sz="3600" b="1" kern="100" dirty="0">
                <a:solidFill>
                  <a:srgbClr val="FF0000"/>
                </a:solidFill>
                <a:latin typeface="Times New Roman" panose="02020603050405020304" pitchFamily="18" charset="0"/>
                <a:cs typeface="Times New Roman" panose="02020603050405020304" pitchFamily="18" charset="0"/>
              </a:rPr>
              <a:t>个</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zh-CN" sz="3600" b="1" kern="100" dirty="0">
                <a:solidFill>
                  <a:srgbClr val="FF0000"/>
                </a:solidFill>
                <a:latin typeface="Times New Roman" panose="02020603050405020304" pitchFamily="18" charset="0"/>
                <a:cs typeface="Times New Roman" panose="02020603050405020304" pitchFamily="18" charset="0"/>
              </a:rPr>
              <a:t>使自己镇定下来</a:t>
            </a:r>
            <a:r>
              <a:rPr lang="en-US" altLang="zh-CN" sz="3600" b="1" kern="100" dirty="0">
                <a:solidFill>
                  <a:srgbClr val="FF0000"/>
                </a:solidFill>
                <a:latin typeface="Times New Roman" panose="02020603050405020304" pitchFamily="18" charset="0"/>
                <a:cs typeface="Times New Roman" panose="02020603050405020304" pitchFamily="18" charset="0"/>
              </a:rPr>
              <a:t>;__n.</a:t>
            </a:r>
            <a:r>
              <a:rPr lang="zh-CN" altLang="zh-CN" sz="3600" b="1" dirty="0">
                <a:solidFill>
                  <a:srgbClr val="FF0000"/>
                </a:solidFill>
                <a:latin typeface="+mn-ea"/>
                <a:cs typeface="Times New Roman" panose="02020603050405020304" pitchFamily="18" charset="0"/>
              </a:rPr>
              <a:t>组成构成创作</a:t>
            </a:r>
            <a:r>
              <a:rPr lang="en-US" altLang="zh-CN" sz="3600" b="1" dirty="0">
                <a:solidFill>
                  <a:srgbClr val="FF0000"/>
                </a:solidFill>
                <a:latin typeface="+mn-ea"/>
                <a:cs typeface="Times New Roman" panose="02020603050405020304" pitchFamily="18" charset="0"/>
              </a:rPr>
              <a:t>;</a:t>
            </a:r>
            <a:r>
              <a:rPr lang="zh-CN" altLang="zh-CN" sz="3600" b="1" dirty="0">
                <a:solidFill>
                  <a:srgbClr val="FF0000"/>
                </a:solidFill>
                <a:latin typeface="+mn-ea"/>
                <a:cs typeface="Times New Roman" panose="02020603050405020304" pitchFamily="18" charset="0"/>
              </a:rPr>
              <a:t>作品</a:t>
            </a:r>
            <a:r>
              <a:rPr lang="en-US" altLang="zh-CN" sz="3600" b="1" dirty="0">
                <a:solidFill>
                  <a:srgbClr val="FF0000"/>
                </a:solidFill>
                <a:latin typeface="+mn-ea"/>
                <a:cs typeface="Times New Roman" panose="02020603050405020304" pitchFamily="18" charset="0"/>
              </a:rPr>
              <a:t> 2.</a:t>
            </a:r>
            <a:r>
              <a:rPr lang="zh-CN" altLang="en-US" sz="3600" b="1" kern="100" dirty="0">
                <a:solidFill>
                  <a:srgbClr val="FF0000"/>
                </a:solidFill>
                <a:latin typeface="Times New Roman" panose="02020603050405020304" pitchFamily="18" charset="0"/>
                <a:cs typeface="Times New Roman" panose="02020603050405020304" pitchFamily="18" charset="0"/>
              </a:rPr>
              <a:t>值得被做</a:t>
            </a:r>
            <a:r>
              <a:rPr lang="en-US" altLang="zh-CN" sz="3600" b="1" kern="100" dirty="0">
                <a:solidFill>
                  <a:srgbClr val="FF0000"/>
                </a:solidFill>
                <a:latin typeface="Times New Roman" panose="02020603050405020304" pitchFamily="18" charset="0"/>
                <a:cs typeface="Times New Roman" panose="02020603050405020304" pitchFamily="18" charset="0"/>
              </a:rPr>
              <a:t>(2</a:t>
            </a:r>
            <a:r>
              <a:rPr lang="zh-CN" altLang="en-US" sz="3600" b="1" kern="100" dirty="0">
                <a:solidFill>
                  <a:srgbClr val="FF0000"/>
                </a:solidFill>
                <a:latin typeface="Times New Roman" panose="02020603050405020304" pitchFamily="18" charset="0"/>
                <a:cs typeface="Times New Roman" panose="02020603050405020304" pitchFamily="18" charset="0"/>
              </a:rPr>
              <a:t>个</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应该做</a:t>
            </a:r>
            <a:r>
              <a:rPr lang="en-US" altLang="zh-CN" sz="3600" b="1" kern="100" dirty="0">
                <a:solidFill>
                  <a:srgbClr val="FF0000"/>
                </a:solidFill>
                <a:latin typeface="Times New Roman" panose="02020603050405020304" pitchFamily="18" charset="0"/>
                <a:cs typeface="Times New Roman" panose="02020603050405020304" pitchFamily="18" charset="0"/>
              </a:rPr>
              <a:t>;__a.</a:t>
            </a:r>
            <a:r>
              <a:rPr lang="zh-CN" altLang="en-US" sz="3600" b="1" kern="100" dirty="0">
                <a:solidFill>
                  <a:srgbClr val="FF0000"/>
                </a:solidFill>
                <a:latin typeface="Times New Roman" panose="02020603050405020304" pitchFamily="18" charset="0"/>
                <a:cs typeface="Times New Roman" panose="02020603050405020304" pitchFamily="18" charset="0"/>
              </a:rPr>
              <a:t>应得的 </a:t>
            </a:r>
            <a:r>
              <a:rPr lang="en-US" altLang="zh-CN" sz="3600" b="1" kern="100" dirty="0">
                <a:solidFill>
                  <a:srgbClr val="FF0000"/>
                </a:solidFill>
                <a:latin typeface="Times New Roman" panose="02020603050405020304" pitchFamily="18" charset="0"/>
                <a:cs typeface="Times New Roman" panose="02020603050405020304" pitchFamily="18" charset="0"/>
              </a:rPr>
              <a:t>3.</a:t>
            </a:r>
            <a:r>
              <a:rPr lang="zh-CN" altLang="en-US" sz="3600" b="1" kern="100" dirty="0">
                <a:solidFill>
                  <a:srgbClr val="FF0000"/>
                </a:solidFill>
                <a:latin typeface="Times New Roman" panose="02020603050405020304" pitchFamily="18" charset="0"/>
                <a:cs typeface="Times New Roman" panose="02020603050405020304" pitchFamily="18" charset="0"/>
              </a:rPr>
              <a:t>使分离</a:t>
            </a:r>
            <a:r>
              <a:rPr lang="en-US" altLang="zh-CN" sz="3600" b="1" kern="100" dirty="0">
                <a:solidFill>
                  <a:srgbClr val="FF0000"/>
                </a:solidFill>
                <a:latin typeface="Times New Roman" panose="02020603050405020304" pitchFamily="18" charset="0"/>
                <a:cs typeface="Times New Roman" panose="02020603050405020304" pitchFamily="18" charset="0"/>
              </a:rPr>
              <a:t>tear(__,__);</a:t>
            </a:r>
            <a:r>
              <a:rPr lang="zh-CN" altLang="en-US" sz="3600" b="1" kern="100" dirty="0">
                <a:solidFill>
                  <a:srgbClr val="FF0000"/>
                </a:solidFill>
                <a:latin typeface="Times New Roman" panose="02020603050405020304" pitchFamily="18" charset="0"/>
                <a:cs typeface="Times New Roman" panose="02020603050405020304" pitchFamily="18" charset="0"/>
              </a:rPr>
              <a:t>依依不舍地离开</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突然大哭</a:t>
            </a:r>
            <a:r>
              <a:rPr lang="en-US" altLang="zh-CN" sz="3600" b="1" kern="100" dirty="0">
                <a:solidFill>
                  <a:srgbClr val="FF0000"/>
                </a:solidFill>
                <a:latin typeface="Times New Roman" panose="02020603050405020304" pitchFamily="18" charset="0"/>
                <a:cs typeface="Times New Roman" panose="02020603050405020304" pitchFamily="18" charset="0"/>
              </a:rPr>
              <a:t>;fall apart</a:t>
            </a:r>
            <a:r>
              <a:rPr lang="zh-CN" altLang="en-US" sz="3600" b="1" kern="100" dirty="0">
                <a:solidFill>
                  <a:srgbClr val="FF0000"/>
                </a:solidFill>
                <a:latin typeface="Times New Roman" panose="02020603050405020304" pitchFamily="18" charset="0"/>
                <a:cs typeface="Times New Roman" panose="02020603050405020304" pitchFamily="18" charset="0"/>
              </a:rPr>
              <a:t>翻译</a:t>
            </a:r>
            <a:r>
              <a:rPr lang="en-US" altLang="zh-CN" sz="3600" b="1" kern="100" dirty="0">
                <a:solidFill>
                  <a:srgbClr val="FF0000"/>
                </a:solidFill>
                <a:latin typeface="Times New Roman" panose="02020603050405020304" pitchFamily="18" charset="0"/>
                <a:cs typeface="Times New Roman" panose="02020603050405020304" pitchFamily="18" charset="0"/>
              </a:rPr>
              <a:t>; tell apart</a:t>
            </a:r>
            <a:r>
              <a:rPr lang="zh-CN" altLang="en-US" sz="3600" b="1" kern="100" dirty="0">
                <a:solidFill>
                  <a:srgbClr val="FF0000"/>
                </a:solidFill>
                <a:latin typeface="Times New Roman" panose="02020603050405020304" pitchFamily="18" charset="0"/>
                <a:cs typeface="Times New Roman" panose="02020603050405020304" pitchFamily="18" charset="0"/>
              </a:rPr>
              <a:t>翻译 </a:t>
            </a:r>
            <a:r>
              <a:rPr lang="en-US" altLang="zh-CN" sz="3600" b="1" kern="100" dirty="0">
                <a:solidFill>
                  <a:srgbClr val="FF0000"/>
                </a:solidFill>
                <a:latin typeface="Times New Roman" panose="02020603050405020304" pitchFamily="18" charset="0"/>
                <a:cs typeface="Times New Roman" panose="02020603050405020304" pitchFamily="18" charset="0"/>
              </a:rPr>
              <a:t>4.</a:t>
            </a:r>
            <a:r>
              <a:rPr lang="zh-CN" altLang="en-US" sz="3600" b="1" kern="100" dirty="0">
                <a:solidFill>
                  <a:srgbClr val="FF0000"/>
                </a:solidFill>
                <a:latin typeface="Times New Roman" panose="02020603050405020304" pitchFamily="18" charset="0"/>
                <a:cs typeface="Times New Roman" panose="02020603050405020304" pitchFamily="18" charset="0"/>
              </a:rPr>
              <a:t>向某人低声说某事</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低声地 </a:t>
            </a:r>
            <a:r>
              <a:rPr lang="en-US" altLang="zh-CN" sz="3600" b="1" kern="100" dirty="0">
                <a:solidFill>
                  <a:srgbClr val="FF0000"/>
                </a:solidFill>
                <a:latin typeface="Times New Roman" panose="02020603050405020304" pitchFamily="18" charset="0"/>
                <a:cs typeface="Times New Roman" panose="02020603050405020304" pitchFamily="18" charset="0"/>
              </a:rPr>
              <a:t>5.</a:t>
            </a:r>
            <a:r>
              <a:rPr lang="zh-CN" altLang="en-US" sz="3600" b="1" kern="100" dirty="0">
                <a:solidFill>
                  <a:srgbClr val="FF0000"/>
                </a:solidFill>
                <a:latin typeface="Times New Roman" panose="02020603050405020304" pitchFamily="18" charset="0"/>
                <a:cs typeface="Times New Roman" panose="02020603050405020304" pitchFamily="18" charset="0"/>
              </a:rPr>
              <a:t>对</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哭泣</a:t>
            </a:r>
            <a:r>
              <a:rPr lang="en-US" altLang="zh-CN" sz="3600" b="1" kern="100" dirty="0">
                <a:solidFill>
                  <a:srgbClr val="FF0000"/>
                </a:solidFill>
                <a:latin typeface="Times New Roman" panose="02020603050405020304" pitchFamily="18" charset="0"/>
                <a:cs typeface="Times New Roman" panose="02020603050405020304" pitchFamily="18" charset="0"/>
              </a:rPr>
              <a:t>;weep(__,__) 6.</a:t>
            </a:r>
            <a:r>
              <a:rPr lang="zh-CN" altLang="en-US" sz="3600" b="1" kern="100" dirty="0">
                <a:solidFill>
                  <a:srgbClr val="FF0000"/>
                </a:solidFill>
                <a:latin typeface="Times New Roman" panose="02020603050405020304" pitchFamily="18" charset="0"/>
                <a:cs typeface="Times New Roman" panose="02020603050405020304" pitchFamily="18" charset="0"/>
              </a:rPr>
              <a:t>受</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极大影响被制服</a:t>
            </a:r>
            <a:r>
              <a:rPr lang="en-US" altLang="zh-CN" sz="3600" b="1" kern="100" dirty="0">
                <a:solidFill>
                  <a:srgbClr val="FF0000"/>
                </a:solidFill>
                <a:latin typeface="Times New Roman" panose="02020603050405020304" pitchFamily="18" charset="0"/>
                <a:cs typeface="Times New Roman" panose="02020603050405020304" pitchFamily="18" charset="0"/>
              </a:rPr>
              <a:t>overcome(__,__);</a:t>
            </a:r>
            <a:r>
              <a:rPr lang="zh-CN" altLang="en-US" sz="3600" b="1" kern="100" dirty="0">
                <a:solidFill>
                  <a:srgbClr val="FF0000"/>
                </a:solidFill>
                <a:latin typeface="Times New Roman" panose="02020603050405020304" pitchFamily="18" charset="0"/>
                <a:cs typeface="Times New Roman" panose="02020603050405020304" pitchFamily="18" charset="0"/>
              </a:rPr>
              <a:t>克服困难</a:t>
            </a:r>
            <a:r>
              <a:rPr lang="en-US" altLang="zh-CN" sz="3600" b="1" kern="100" dirty="0">
                <a:solidFill>
                  <a:srgbClr val="FF0000"/>
                </a:solidFill>
                <a:latin typeface="Times New Roman" panose="02020603050405020304" pitchFamily="18" charset="0"/>
                <a:cs typeface="Times New Roman" panose="02020603050405020304" pitchFamily="18" charset="0"/>
              </a:rPr>
              <a:t>7.</a:t>
            </a:r>
            <a:r>
              <a:rPr lang="zh-CN" altLang="en-US" sz="3600" b="1" kern="100" dirty="0">
                <a:solidFill>
                  <a:srgbClr val="FF0000"/>
                </a:solidFill>
                <a:latin typeface="Times New Roman" panose="02020603050405020304" pitchFamily="18" charset="0"/>
                <a:cs typeface="Times New Roman" panose="02020603050405020304" pitchFamily="18" charset="0"/>
              </a:rPr>
              <a:t>在极大的悲伤中</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同甘共苦</a:t>
            </a:r>
            <a:r>
              <a:rPr lang="en-US" altLang="zh-CN" sz="3600" b="1" kern="100" dirty="0">
                <a:solidFill>
                  <a:srgbClr val="FF0000"/>
                </a:solidFill>
                <a:latin typeface="Times New Roman" panose="02020603050405020304" pitchFamily="18" charset="0"/>
                <a:cs typeface="Times New Roman" panose="02020603050405020304" pitchFamily="18" charset="0"/>
              </a:rPr>
              <a:t>;__a.</a:t>
            </a:r>
            <a:r>
              <a:rPr lang="zh-CN" altLang="en-US" sz="3600" b="1" kern="100" dirty="0">
                <a:solidFill>
                  <a:srgbClr val="FF0000"/>
                </a:solidFill>
                <a:latin typeface="Times New Roman" panose="02020603050405020304" pitchFamily="18" charset="0"/>
                <a:cs typeface="Times New Roman" panose="02020603050405020304" pitchFamily="18" charset="0"/>
              </a:rPr>
              <a:t>悲伤的 </a:t>
            </a:r>
            <a:r>
              <a:rPr lang="en-US" altLang="zh-CN" sz="3600" b="1" kern="100" dirty="0">
                <a:solidFill>
                  <a:srgbClr val="FF0000"/>
                </a:solidFill>
                <a:latin typeface="Times New Roman" panose="02020603050405020304" pitchFamily="18" charset="0"/>
                <a:cs typeface="Times New Roman" panose="02020603050405020304" pitchFamily="18" charset="0"/>
              </a:rPr>
              <a:t>8.</a:t>
            </a:r>
            <a:r>
              <a:rPr lang="zh-CN" altLang="en-US" sz="3600" b="1" kern="100" dirty="0">
                <a:solidFill>
                  <a:srgbClr val="FF0000"/>
                </a:solidFill>
                <a:latin typeface="Times New Roman" panose="02020603050405020304" pitchFamily="18" charset="0"/>
                <a:cs typeface="Times New Roman" panose="02020603050405020304" pitchFamily="18" charset="0"/>
              </a:rPr>
              <a:t>从生到死</a:t>
            </a:r>
            <a:r>
              <a:rPr lang="en-US" altLang="zh-CN" sz="3600" b="1" kern="100" dirty="0">
                <a:solidFill>
                  <a:srgbClr val="FF0000"/>
                </a:solidFill>
                <a:latin typeface="Times New Roman" panose="02020603050405020304" pitchFamily="18" charset="0"/>
                <a:cs typeface="Times New Roman" panose="02020603050405020304" pitchFamily="18" charset="0"/>
              </a:rPr>
              <a:t>;__ad.</a:t>
            </a:r>
            <a:r>
              <a:rPr lang="zh-CN" altLang="en-US" sz="3600" b="1" kern="100" dirty="0">
                <a:solidFill>
                  <a:srgbClr val="FF0000"/>
                </a:solidFill>
                <a:latin typeface="Times New Roman" panose="02020603050405020304" pitchFamily="18" charset="0"/>
                <a:cs typeface="Times New Roman" panose="02020603050405020304" pitchFamily="18" charset="0"/>
              </a:rPr>
              <a:t>严重的 </a:t>
            </a:r>
            <a:r>
              <a:rPr lang="en-US" altLang="zh-CN" sz="3600" b="1" kern="100" dirty="0">
                <a:solidFill>
                  <a:srgbClr val="FF0000"/>
                </a:solidFill>
                <a:latin typeface="Times New Roman" panose="02020603050405020304" pitchFamily="18" charset="0"/>
                <a:cs typeface="Times New Roman" panose="02020603050405020304" pitchFamily="18" charset="0"/>
              </a:rPr>
              <a:t>9.</a:t>
            </a:r>
            <a:r>
              <a:rPr lang="zh-CN" altLang="en-US" sz="3600" b="1" kern="100" dirty="0">
                <a:solidFill>
                  <a:srgbClr val="FF0000"/>
                </a:solidFill>
                <a:latin typeface="Times New Roman" panose="02020603050405020304" pitchFamily="18" charset="0"/>
                <a:cs typeface="Times New Roman" panose="02020603050405020304" pitchFamily="18" charset="0"/>
              </a:rPr>
              <a:t>从</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中转变成</a:t>
            </a:r>
            <a:r>
              <a:rPr lang="en-US" altLang="zh-CN" sz="3600" b="1" kern="100" dirty="0">
                <a:solidFill>
                  <a:srgbClr val="FF0000"/>
                </a:solidFill>
                <a:latin typeface="Times New Roman" panose="02020603050405020304" pitchFamily="18" charset="0"/>
                <a:cs typeface="Times New Roman" panose="02020603050405020304" pitchFamily="18" charset="0"/>
              </a:rPr>
              <a:t>…; __n.</a:t>
            </a:r>
            <a:r>
              <a:rPr lang="zh-CN" altLang="en-US" sz="3600" b="1" kern="100" dirty="0">
                <a:solidFill>
                  <a:srgbClr val="FF0000"/>
                </a:solidFill>
                <a:latin typeface="Times New Roman" panose="02020603050405020304" pitchFamily="18" charset="0"/>
                <a:cs typeface="Times New Roman" panose="02020603050405020304" pitchFamily="18" charset="0"/>
              </a:rPr>
              <a:t>转化 </a:t>
            </a:r>
            <a:r>
              <a:rPr lang="en-US" altLang="zh-CN" sz="3600" b="1" kern="100" dirty="0">
                <a:solidFill>
                  <a:srgbClr val="FF0000"/>
                </a:solidFill>
                <a:latin typeface="Times New Roman" panose="02020603050405020304" pitchFamily="18" charset="0"/>
                <a:cs typeface="Times New Roman" panose="02020603050405020304" pitchFamily="18" charset="0"/>
              </a:rPr>
              <a:t>10.</a:t>
            </a:r>
            <a:r>
              <a:rPr lang="zh-CN" altLang="en-US" sz="3600" b="1" kern="100" dirty="0">
                <a:solidFill>
                  <a:srgbClr val="FF0000"/>
                </a:solidFill>
                <a:latin typeface="Times New Roman" panose="02020603050405020304" pitchFamily="18" charset="0"/>
                <a:cs typeface="Times New Roman" panose="02020603050405020304" pitchFamily="18" charset="0"/>
              </a:rPr>
              <a:t>把</a:t>
            </a:r>
            <a:r>
              <a:rPr lang="en-US" altLang="zh-CN" sz="3600" b="1" kern="100" dirty="0">
                <a:solidFill>
                  <a:srgbClr val="FF0000"/>
                </a:solidFill>
                <a:latin typeface="Times New Roman" panose="02020603050405020304" pitchFamily="18" charset="0"/>
                <a:cs typeface="Times New Roman" panose="02020603050405020304" pitchFamily="18" charset="0"/>
              </a:rPr>
              <a:t>A</a:t>
            </a:r>
            <a:r>
              <a:rPr lang="zh-CN" altLang="en-US" sz="3600" b="1" kern="100" dirty="0">
                <a:solidFill>
                  <a:srgbClr val="FF0000"/>
                </a:solidFill>
                <a:latin typeface="Times New Roman" panose="02020603050405020304" pitchFamily="18" charset="0"/>
                <a:cs typeface="Times New Roman" panose="02020603050405020304" pitchFamily="18" charset="0"/>
              </a:rPr>
              <a:t>与</a:t>
            </a:r>
            <a:r>
              <a:rPr lang="en-US" altLang="zh-CN" sz="3600" b="1" kern="100" dirty="0">
                <a:solidFill>
                  <a:srgbClr val="FF0000"/>
                </a:solidFill>
                <a:latin typeface="Times New Roman" panose="02020603050405020304" pitchFamily="18" charset="0"/>
                <a:cs typeface="Times New Roman" panose="02020603050405020304" pitchFamily="18" charset="0"/>
              </a:rPr>
              <a:t>B</a:t>
            </a:r>
            <a:r>
              <a:rPr lang="zh-CN" altLang="en-US" sz="3600" b="1" kern="100" dirty="0">
                <a:solidFill>
                  <a:srgbClr val="FF0000"/>
                </a:solidFill>
                <a:latin typeface="Times New Roman" panose="02020603050405020304" pitchFamily="18" charset="0"/>
                <a:cs typeface="Times New Roman" panose="02020603050405020304" pitchFamily="18" charset="0"/>
              </a:rPr>
              <a:t>结合</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与</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联合 </a:t>
            </a:r>
            <a:r>
              <a:rPr lang="en-US" altLang="zh-CN" sz="3600" b="1" kern="100" dirty="0">
                <a:solidFill>
                  <a:srgbClr val="FF0000"/>
                </a:solidFill>
                <a:latin typeface="Times New Roman" panose="02020603050405020304" pitchFamily="18" charset="0"/>
                <a:cs typeface="Times New Roman" panose="02020603050405020304" pitchFamily="18" charset="0"/>
              </a:rPr>
              <a:t>11.</a:t>
            </a:r>
            <a:r>
              <a:rPr lang="zh-CN" altLang="en-US" sz="3600" b="1" kern="100" dirty="0">
                <a:solidFill>
                  <a:srgbClr val="FF0000"/>
                </a:solidFill>
                <a:latin typeface="Times New Roman" panose="02020603050405020304" pitchFamily="18" charset="0"/>
                <a:cs typeface="Times New Roman" panose="02020603050405020304" pitchFamily="18" charset="0"/>
              </a:rPr>
              <a:t>依靠</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做某事</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相信指望</a:t>
            </a:r>
            <a:r>
              <a:rPr lang="en-US" altLang="zh-CN" sz="3600" b="1" kern="100" dirty="0">
                <a:solidFill>
                  <a:srgbClr val="FF0000"/>
                </a:solidFill>
                <a:latin typeface="Times New Roman" panose="02020603050405020304" pitchFamily="18" charset="0"/>
                <a:cs typeface="Times New Roman" panose="02020603050405020304" pitchFamily="18" charset="0"/>
              </a:rPr>
              <a:t>; __a.</a:t>
            </a:r>
            <a:r>
              <a:rPr lang="zh-CN" altLang="en-US" sz="3600" b="1" kern="100" dirty="0">
                <a:solidFill>
                  <a:srgbClr val="FF0000"/>
                </a:solidFill>
                <a:latin typeface="Times New Roman" panose="02020603050405020304" pitchFamily="18" charset="0"/>
                <a:cs typeface="Times New Roman" panose="02020603050405020304" pitchFamily="18" charset="0"/>
              </a:rPr>
              <a:t>可信赖的</a:t>
            </a:r>
            <a:r>
              <a:rPr lang="en-US" altLang="zh-CN" sz="3600" b="1" kern="100" dirty="0">
                <a:solidFill>
                  <a:srgbClr val="FF0000"/>
                </a:solidFill>
                <a:latin typeface="Times New Roman" panose="02020603050405020304" pitchFamily="18" charset="0"/>
                <a:cs typeface="Times New Roman" panose="02020603050405020304" pitchFamily="18" charset="0"/>
              </a:rPr>
              <a:t>; __a.</a:t>
            </a:r>
            <a:r>
              <a:rPr lang="zh-CN" altLang="en-US" sz="3600" b="1" kern="100" dirty="0">
                <a:solidFill>
                  <a:srgbClr val="FF0000"/>
                </a:solidFill>
                <a:latin typeface="Times New Roman" panose="02020603050405020304" pitchFamily="18" charset="0"/>
                <a:cs typeface="Times New Roman" panose="02020603050405020304" pitchFamily="18" charset="0"/>
              </a:rPr>
              <a:t>不可靠的 </a:t>
            </a:r>
            <a:r>
              <a:rPr lang="en-US" altLang="zh-CN" sz="3600" b="1" kern="100" dirty="0">
                <a:solidFill>
                  <a:srgbClr val="FF0000"/>
                </a:solidFill>
                <a:latin typeface="Times New Roman" panose="02020603050405020304" pitchFamily="18" charset="0"/>
                <a:cs typeface="Times New Roman" panose="02020603050405020304" pitchFamily="18" charset="0"/>
              </a:rPr>
              <a:t>12.</a:t>
            </a:r>
            <a:r>
              <a:rPr lang="zh-CN" altLang="en-US" sz="3600" b="1" kern="100" dirty="0">
                <a:solidFill>
                  <a:srgbClr val="FF0000"/>
                </a:solidFill>
                <a:latin typeface="Times New Roman" panose="02020603050405020304" pitchFamily="18" charset="0"/>
                <a:cs typeface="Times New Roman" panose="02020603050405020304" pitchFamily="18" charset="0"/>
              </a:rPr>
              <a:t>被包围</a:t>
            </a:r>
            <a:r>
              <a:rPr lang="en-US" altLang="zh-CN" sz="3600" b="1" kern="100" dirty="0">
                <a:solidFill>
                  <a:srgbClr val="FF0000"/>
                </a:solidFill>
                <a:latin typeface="Times New Roman" panose="02020603050405020304" pitchFamily="18" charset="0"/>
                <a:cs typeface="Times New Roman" panose="02020603050405020304" pitchFamily="18" charset="0"/>
              </a:rPr>
              <a:t>; __n.</a:t>
            </a:r>
            <a:r>
              <a:rPr lang="zh-CN" altLang="en-US" sz="3600" b="1" kern="100" dirty="0">
                <a:solidFill>
                  <a:srgbClr val="FF0000"/>
                </a:solidFill>
                <a:latin typeface="Times New Roman" panose="02020603050405020304" pitchFamily="18" charset="0"/>
                <a:cs typeface="Times New Roman" panose="02020603050405020304" pitchFamily="18" charset="0"/>
              </a:rPr>
              <a:t>周围环境</a:t>
            </a:r>
            <a:r>
              <a:rPr lang="en-US" altLang="zh-CN" sz="3600" b="1" kern="100" dirty="0">
                <a:solidFill>
                  <a:srgbClr val="FF0000"/>
                </a:solidFill>
                <a:latin typeface="Times New Roman" panose="02020603050405020304" pitchFamily="18" charset="0"/>
                <a:cs typeface="Times New Roman" panose="02020603050405020304" pitchFamily="18" charset="0"/>
              </a:rPr>
              <a:t>; __a.</a:t>
            </a:r>
            <a:r>
              <a:rPr lang="zh-CN" altLang="en-US" sz="3600" b="1" kern="100" dirty="0">
                <a:solidFill>
                  <a:srgbClr val="FF0000"/>
                </a:solidFill>
                <a:latin typeface="Times New Roman" panose="02020603050405020304" pitchFamily="18" charset="0"/>
                <a:cs typeface="Times New Roman" panose="02020603050405020304" pitchFamily="18" charset="0"/>
              </a:rPr>
              <a:t>周围的 </a:t>
            </a:r>
            <a:r>
              <a:rPr lang="en-US" altLang="zh-CN" sz="3600" b="1" kern="100" dirty="0">
                <a:solidFill>
                  <a:srgbClr val="FF0000"/>
                </a:solidFill>
                <a:latin typeface="Times New Roman" panose="02020603050405020304" pitchFamily="18" charset="0"/>
                <a:cs typeface="Times New Roman" panose="02020603050405020304" pitchFamily="18" charset="0"/>
              </a:rPr>
              <a:t>13.</a:t>
            </a:r>
            <a:r>
              <a:rPr lang="zh-CN" altLang="en-US" sz="3600" b="1" kern="100" dirty="0">
                <a:solidFill>
                  <a:srgbClr val="FF0000"/>
                </a:solidFill>
                <a:latin typeface="Times New Roman" panose="02020603050405020304" pitchFamily="18" charset="0"/>
                <a:cs typeface="Times New Roman" panose="02020603050405020304" pitchFamily="18" charset="0"/>
              </a:rPr>
              <a:t>与</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一致</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不一致 </a:t>
            </a:r>
            <a:r>
              <a:rPr lang="en-US" altLang="zh-CN" sz="3600" b="1" kern="100" dirty="0">
                <a:solidFill>
                  <a:srgbClr val="FF0000"/>
                </a:solidFill>
                <a:latin typeface="Times New Roman" panose="02020603050405020304" pitchFamily="18" charset="0"/>
                <a:cs typeface="Times New Roman" panose="02020603050405020304" pitchFamily="18" charset="0"/>
              </a:rPr>
              <a:t>14.</a:t>
            </a:r>
            <a:r>
              <a:rPr lang="zh-CN" altLang="en-US" sz="3600" b="1" kern="100" dirty="0">
                <a:solidFill>
                  <a:srgbClr val="FF0000"/>
                </a:solidFill>
                <a:latin typeface="Times New Roman" panose="02020603050405020304" pitchFamily="18" charset="0"/>
                <a:cs typeface="Times New Roman" panose="02020603050405020304" pitchFamily="18" charset="0"/>
              </a:rPr>
              <a:t>额外添加的</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认输</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采取措施做某事</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量身定制</a:t>
            </a:r>
            <a:r>
              <a:rPr lang="en-US" altLang="zh-CN" sz="3600" b="1" kern="100" dirty="0">
                <a:solidFill>
                  <a:srgbClr val="FF0000"/>
                </a:solidFill>
                <a:latin typeface="Times New Roman" panose="02020603050405020304" pitchFamily="18" charset="0"/>
                <a:cs typeface="Times New Roman" panose="02020603050405020304" pitchFamily="18" charset="0"/>
              </a:rPr>
              <a:t>; throw(__,__)</a:t>
            </a:r>
            <a:r>
              <a:rPr lang="zh-CN" altLang="en-US" sz="3600" b="1" kern="100" dirty="0">
                <a:solidFill>
                  <a:srgbClr val="FF0000"/>
                </a:solidFill>
                <a:latin typeface="Times New Roman" panose="02020603050405020304" pitchFamily="18" charset="0"/>
                <a:cs typeface="Times New Roman" panose="02020603050405020304" pitchFamily="18" charset="0"/>
              </a:rPr>
              <a:t> </a:t>
            </a:r>
            <a:r>
              <a:rPr lang="en-US" altLang="zh-CN" sz="3600" b="1" kern="100" dirty="0">
                <a:solidFill>
                  <a:srgbClr val="FF0000"/>
                </a:solidFill>
                <a:latin typeface="Times New Roman" panose="02020603050405020304" pitchFamily="18" charset="0"/>
                <a:cs typeface="Times New Roman" panose="02020603050405020304" pitchFamily="18" charset="0"/>
              </a:rPr>
              <a:t>15.</a:t>
            </a:r>
            <a:r>
              <a:rPr lang="zh-CN" altLang="en-US" sz="3600" b="1" kern="100" dirty="0">
                <a:solidFill>
                  <a:srgbClr val="FF0000"/>
                </a:solidFill>
                <a:latin typeface="Times New Roman" panose="02020603050405020304" pitchFamily="18" charset="0"/>
                <a:cs typeface="Times New Roman" panose="02020603050405020304" pitchFamily="18" charset="0"/>
              </a:rPr>
              <a:t>向某人担保某事</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确保做某事</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在保质期内 </a:t>
            </a:r>
            <a:r>
              <a:rPr lang="en-US" altLang="zh-CN" sz="3600" b="1" kern="100" dirty="0">
                <a:solidFill>
                  <a:srgbClr val="FF0000"/>
                </a:solidFill>
                <a:latin typeface="Times New Roman" panose="02020603050405020304" pitchFamily="18" charset="0"/>
                <a:cs typeface="Times New Roman" panose="02020603050405020304" pitchFamily="18" charset="0"/>
              </a:rPr>
              <a:t>16.</a:t>
            </a:r>
            <a:r>
              <a:rPr lang="zh-CN" altLang="en-US" sz="3600" b="1" kern="100" dirty="0">
                <a:solidFill>
                  <a:srgbClr val="FF0000"/>
                </a:solidFill>
                <a:latin typeface="Times New Roman" panose="02020603050405020304" pitchFamily="18" charset="0"/>
                <a:cs typeface="Times New Roman" panose="02020603050405020304" pitchFamily="18" charset="0"/>
              </a:rPr>
              <a:t>适应</a:t>
            </a:r>
            <a:r>
              <a:rPr lang="en-US" altLang="zh-CN" sz="3600" b="1" kern="100" dirty="0">
                <a:solidFill>
                  <a:srgbClr val="FF0000"/>
                </a:solidFill>
                <a:latin typeface="Times New Roman" panose="02020603050405020304" pitchFamily="18" charset="0"/>
                <a:cs typeface="Times New Roman" panose="02020603050405020304" pitchFamily="18" charset="0"/>
              </a:rPr>
              <a:t>(3</a:t>
            </a:r>
            <a:r>
              <a:rPr lang="zh-CN" altLang="en-US" sz="3600" b="1" kern="100" dirty="0">
                <a:solidFill>
                  <a:srgbClr val="FF0000"/>
                </a:solidFill>
                <a:latin typeface="Times New Roman" panose="02020603050405020304" pitchFamily="18" charset="0"/>
                <a:cs typeface="Times New Roman" panose="02020603050405020304" pitchFamily="18" charset="0"/>
              </a:rPr>
              <a:t>种</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根据</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改编成</a:t>
            </a:r>
            <a:r>
              <a:rPr lang="en-US" altLang="zh-CN" sz="3600" b="1" kern="100" dirty="0">
                <a:solidFill>
                  <a:srgbClr val="FF0000"/>
                </a:solidFill>
                <a:latin typeface="Times New Roman" panose="02020603050405020304" pitchFamily="18" charset="0"/>
                <a:cs typeface="Times New Roman" panose="02020603050405020304" pitchFamily="18" charset="0"/>
              </a:rPr>
              <a:t>…;__a.</a:t>
            </a:r>
            <a:r>
              <a:rPr lang="zh-CN" altLang="en-US" sz="3600" b="1" kern="100" dirty="0">
                <a:solidFill>
                  <a:srgbClr val="FF0000"/>
                </a:solidFill>
                <a:latin typeface="Times New Roman" panose="02020603050405020304" pitchFamily="18" charset="0"/>
                <a:cs typeface="Times New Roman" panose="02020603050405020304" pitchFamily="18" charset="0"/>
              </a:rPr>
              <a:t>适应的</a:t>
            </a:r>
            <a:r>
              <a:rPr lang="en-US" altLang="zh-CN" sz="3600" b="1" kern="100" dirty="0">
                <a:solidFill>
                  <a:srgbClr val="FF0000"/>
                </a:solidFill>
                <a:latin typeface="Times New Roman" panose="02020603050405020304" pitchFamily="18" charset="0"/>
                <a:cs typeface="Times New Roman" panose="02020603050405020304" pitchFamily="18" charset="0"/>
              </a:rPr>
              <a:t>; adapt--__n.; adopt--__n.; adjust--__n.; </a:t>
            </a:r>
            <a:r>
              <a:rPr lang="zh-CN" altLang="en-US" sz="3600" b="1" kern="100" dirty="0">
                <a:solidFill>
                  <a:srgbClr val="FF0000"/>
                </a:solidFill>
                <a:latin typeface="Times New Roman" panose="02020603050405020304" pitchFamily="18" charset="0"/>
                <a:cs typeface="Times New Roman" panose="02020603050405020304" pitchFamily="18" charset="0"/>
              </a:rPr>
              <a:t>采取一种方法</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养子</a:t>
            </a:r>
            <a:r>
              <a:rPr lang="en-US" altLang="zh-CN" sz="3600" b="1" kern="100" dirty="0">
                <a:solidFill>
                  <a:srgbClr val="FF0000"/>
                </a:solidFill>
                <a:latin typeface="Times New Roman" panose="02020603050405020304" pitchFamily="18" charset="0"/>
                <a:cs typeface="Times New Roman" panose="02020603050405020304" pitchFamily="18" charset="0"/>
              </a:rPr>
              <a:t>17.__ad.</a:t>
            </a:r>
            <a:r>
              <a:rPr lang="zh-CN" altLang="en-US" sz="3600" b="1" kern="100" dirty="0">
                <a:solidFill>
                  <a:srgbClr val="FF0000"/>
                </a:solidFill>
                <a:latin typeface="Times New Roman" panose="02020603050405020304" pitchFamily="18" charset="0"/>
                <a:cs typeface="Times New Roman" panose="02020603050405020304" pitchFamily="18" charset="0"/>
              </a:rPr>
              <a:t>愉快地</a:t>
            </a:r>
            <a:r>
              <a:rPr lang="en-US" altLang="zh-CN" sz="3600" b="1" kern="100" dirty="0">
                <a:solidFill>
                  <a:srgbClr val="FF0000"/>
                </a:solidFill>
                <a:latin typeface="Times New Roman" panose="02020603050405020304" pitchFamily="18" charset="0"/>
                <a:cs typeface="Times New Roman" panose="02020603050405020304" pitchFamily="18" charset="0"/>
              </a:rPr>
              <a:t>; __a.</a:t>
            </a:r>
            <a:r>
              <a:rPr lang="zh-CN" altLang="en-US" sz="3600" b="1" kern="100" dirty="0">
                <a:solidFill>
                  <a:srgbClr val="FF0000"/>
                </a:solidFill>
                <a:latin typeface="Times New Roman" panose="02020603050405020304" pitchFamily="18" charset="0"/>
                <a:cs typeface="Times New Roman" panose="02020603050405020304" pitchFamily="18" charset="0"/>
              </a:rPr>
              <a:t>令人不快的</a:t>
            </a:r>
            <a:r>
              <a:rPr lang="en-US" altLang="zh-CN" sz="3600" b="1" kern="100" dirty="0">
                <a:solidFill>
                  <a:srgbClr val="FF0000"/>
                </a:solidFill>
                <a:latin typeface="Times New Roman" panose="02020603050405020304" pitchFamily="18" charset="0"/>
                <a:cs typeface="Times New Roman" panose="02020603050405020304" pitchFamily="18" charset="0"/>
              </a:rPr>
              <a:t>18.__a.</a:t>
            </a:r>
            <a:r>
              <a:rPr lang="zh-CN" altLang="en-US" sz="3600" b="1" kern="100" dirty="0">
                <a:solidFill>
                  <a:srgbClr val="FF0000"/>
                </a:solidFill>
                <a:latin typeface="Times New Roman" panose="02020603050405020304" pitchFamily="18" charset="0"/>
                <a:cs typeface="Times New Roman" panose="02020603050405020304" pitchFamily="18" charset="0"/>
              </a:rPr>
              <a:t>激动人心的突然的</a:t>
            </a:r>
            <a:r>
              <a:rPr lang="en-US" altLang="zh-CN" sz="3600" b="1" kern="100" dirty="0">
                <a:solidFill>
                  <a:srgbClr val="FF0000"/>
                </a:solidFill>
                <a:latin typeface="Times New Roman" panose="02020603050405020304" pitchFamily="18" charset="0"/>
                <a:cs typeface="Times New Roman" panose="02020603050405020304" pitchFamily="18" charset="0"/>
              </a:rPr>
              <a:t>;__ad.</a:t>
            </a:r>
            <a:r>
              <a:rPr lang="zh-CN" altLang="en-US" sz="3600" b="1" kern="100" dirty="0">
                <a:solidFill>
                  <a:srgbClr val="FF0000"/>
                </a:solidFill>
                <a:latin typeface="Times New Roman" panose="02020603050405020304" pitchFamily="18" charset="0"/>
                <a:cs typeface="Times New Roman" panose="02020603050405020304" pitchFamily="18" charset="0"/>
              </a:rPr>
              <a:t>突然戏剧地</a:t>
            </a:r>
            <a:r>
              <a:rPr lang="en-US" altLang="zh-CN" sz="3600" b="1" kern="100" dirty="0">
                <a:solidFill>
                  <a:srgbClr val="FF0000"/>
                </a:solidFill>
                <a:latin typeface="Times New Roman" panose="02020603050405020304" pitchFamily="18" charset="0"/>
                <a:cs typeface="Times New Roman" panose="02020603050405020304" pitchFamily="18" charset="0"/>
              </a:rPr>
              <a:t>19.__n.</a:t>
            </a:r>
            <a:r>
              <a:rPr lang="zh-CN" altLang="en-US" sz="3600" b="1" kern="100" dirty="0">
                <a:solidFill>
                  <a:srgbClr val="FF0000"/>
                </a:solidFill>
                <a:latin typeface="Times New Roman" panose="02020603050405020304" pitchFamily="18" charset="0"/>
                <a:cs typeface="Times New Roman" panose="02020603050405020304" pitchFamily="18" charset="0"/>
              </a:rPr>
              <a:t>侵略者</a:t>
            </a:r>
            <a:r>
              <a:rPr lang="en-US" altLang="zh-CN" sz="3600" b="1" kern="100" dirty="0">
                <a:solidFill>
                  <a:srgbClr val="FF0000"/>
                </a:solidFill>
                <a:latin typeface="Times New Roman" panose="02020603050405020304" pitchFamily="18" charset="0"/>
                <a:cs typeface="Times New Roman" panose="02020603050405020304" pitchFamily="18" charset="0"/>
              </a:rPr>
              <a:t>; __n.</a:t>
            </a:r>
            <a:r>
              <a:rPr lang="zh-CN" altLang="en-US" sz="3600" b="1" kern="100" dirty="0">
                <a:solidFill>
                  <a:srgbClr val="FF0000"/>
                </a:solidFill>
                <a:latin typeface="Times New Roman" panose="02020603050405020304" pitchFamily="18" charset="0"/>
                <a:cs typeface="Times New Roman" panose="02020603050405020304" pitchFamily="18" charset="0"/>
              </a:rPr>
              <a:t>侵略</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侵犯某人的隐私</a:t>
            </a:r>
            <a:r>
              <a:rPr lang="en-US" altLang="zh-CN" sz="3600" b="1" kern="100" dirty="0">
                <a:solidFill>
                  <a:srgbClr val="FF0000"/>
                </a:solidFill>
                <a:latin typeface="Times New Roman" panose="02020603050405020304" pitchFamily="18" charset="0"/>
                <a:cs typeface="Times New Roman" panose="02020603050405020304" pitchFamily="18" charset="0"/>
              </a:rPr>
              <a:t>20.</a:t>
            </a:r>
            <a:r>
              <a:rPr lang="zh-CN" altLang="en-US" sz="3600" b="1" kern="100" dirty="0">
                <a:solidFill>
                  <a:srgbClr val="FF0000"/>
                </a:solidFill>
                <a:latin typeface="Times New Roman" panose="02020603050405020304" pitchFamily="18" charset="0"/>
                <a:cs typeface="Times New Roman" panose="02020603050405020304" pitchFamily="18" charset="0"/>
              </a:rPr>
              <a:t>在于</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与</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一直并存</a:t>
            </a:r>
            <a:endParaRPr lang="zh-CN" altLang="en-US" sz="3600" b="1" dirty="0">
              <a:solidFill>
                <a:srgbClr val="FF0000"/>
              </a:solidFill>
              <a:latin typeface="+mn-ea"/>
              <a:cs typeface="Times New Roman" panose="02020603050405020304" pitchFamily="18" charset="0"/>
            </a:endParaRPr>
          </a:p>
          <a:p>
            <a:pPr algn="just"/>
            <a:endParaRPr lang="zh-CN" altLang="zh-CN" sz="3600" b="1" kern="100" dirty="0">
              <a:solidFill>
                <a:srgbClr val="FF0000"/>
              </a:solidFill>
              <a:latin typeface="Times New Roman" panose="02020603050405020304" pitchFamily="18" charset="0"/>
              <a:cs typeface="Times New Roman" panose="02020603050405020304" pitchFamily="18" charset="0"/>
            </a:endParaRPr>
          </a:p>
          <a:p>
            <a:endParaRPr lang="zh-CN" altLang="en-US" sz="3600" b="1" dirty="0">
              <a:solidFill>
                <a:srgbClr val="FF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21.</a:t>
            </a:r>
            <a:r>
              <a:rPr lang="zh-CN" altLang="en-US" sz="3600" b="1" dirty="0">
                <a:solidFill>
                  <a:srgbClr val="FF0000"/>
                </a:solidFill>
              </a:rPr>
              <a:t>保卫</a:t>
            </a:r>
            <a:r>
              <a:rPr lang="en-US" altLang="zh-CN" sz="3600" b="1" dirty="0">
                <a:solidFill>
                  <a:srgbClr val="FF0000"/>
                </a:solidFill>
              </a:rPr>
              <a:t>…</a:t>
            </a:r>
            <a:r>
              <a:rPr lang="zh-CN" altLang="en-US" sz="3600" b="1" dirty="0">
                <a:solidFill>
                  <a:srgbClr val="FF0000"/>
                </a:solidFill>
              </a:rPr>
              <a:t>免受</a:t>
            </a:r>
            <a:r>
              <a:rPr lang="en-US" altLang="zh-CN" sz="3600" b="1" dirty="0">
                <a:solidFill>
                  <a:srgbClr val="FF0000"/>
                </a:solidFill>
              </a:rPr>
              <a:t>;</a:t>
            </a:r>
            <a:r>
              <a:rPr lang="zh-CN" altLang="en-US" sz="3600" b="1" dirty="0">
                <a:solidFill>
                  <a:srgbClr val="FF0000"/>
                </a:solidFill>
              </a:rPr>
              <a:t>为</a:t>
            </a:r>
            <a:r>
              <a:rPr lang="en-US" altLang="zh-CN" sz="3600" b="1" dirty="0">
                <a:solidFill>
                  <a:srgbClr val="FF0000"/>
                </a:solidFill>
              </a:rPr>
              <a:t>…</a:t>
            </a:r>
            <a:r>
              <a:rPr lang="zh-CN" altLang="en-US" sz="3600" b="1" dirty="0">
                <a:solidFill>
                  <a:srgbClr val="FF0000"/>
                </a:solidFill>
              </a:rPr>
              <a:t>辩解保护</a:t>
            </a:r>
            <a:r>
              <a:rPr lang="en-US" altLang="zh-CN" sz="3600" b="1" dirty="0">
                <a:solidFill>
                  <a:srgbClr val="FF0000"/>
                </a:solidFill>
              </a:rPr>
              <a:t>;__a.</a:t>
            </a:r>
            <a:r>
              <a:rPr lang="zh-CN" altLang="en-US" sz="3600" b="1" dirty="0">
                <a:solidFill>
                  <a:srgbClr val="FF0000"/>
                </a:solidFill>
              </a:rPr>
              <a:t>防御的</a:t>
            </a:r>
            <a:r>
              <a:rPr lang="en-US" altLang="zh-CN" sz="3600" b="1" dirty="0">
                <a:solidFill>
                  <a:srgbClr val="FF0000"/>
                </a:solidFill>
              </a:rPr>
              <a:t>;__n.</a:t>
            </a:r>
            <a:r>
              <a:rPr lang="zh-CN" altLang="en-US" sz="3600" b="1" dirty="0">
                <a:solidFill>
                  <a:srgbClr val="FF0000"/>
                </a:solidFill>
              </a:rPr>
              <a:t>保卫辩护者 </a:t>
            </a:r>
            <a:endParaRPr lang="en-US" altLang="zh-CN" sz="3600" b="1" dirty="0">
              <a:solidFill>
                <a:srgbClr val="FF0000"/>
              </a:solidFill>
            </a:endParaRPr>
          </a:p>
          <a:p>
            <a:r>
              <a:rPr lang="en-US" altLang="zh-CN" sz="3600" b="1" dirty="0">
                <a:solidFill>
                  <a:srgbClr val="FF0000"/>
                </a:solidFill>
              </a:rPr>
              <a:t>22.flow(__,__) 23.</a:t>
            </a:r>
            <a:r>
              <a:rPr lang="zh-CN" altLang="en-US" sz="3600" b="1" dirty="0">
                <a:solidFill>
                  <a:srgbClr val="FF0000"/>
                </a:solidFill>
              </a:rPr>
              <a:t>太阳能</a:t>
            </a:r>
            <a:r>
              <a:rPr lang="en-US" altLang="zh-CN" sz="3600" b="1" dirty="0">
                <a:solidFill>
                  <a:srgbClr val="FF0000"/>
                </a:solidFill>
              </a:rPr>
              <a:t>/</a:t>
            </a:r>
            <a:r>
              <a:rPr lang="zh-CN" altLang="en-US" sz="3600" b="1" dirty="0">
                <a:solidFill>
                  <a:srgbClr val="FF0000"/>
                </a:solidFill>
              </a:rPr>
              <a:t>系 </a:t>
            </a:r>
            <a:r>
              <a:rPr lang="en-US" altLang="zh-CN" sz="3600" b="1" dirty="0">
                <a:solidFill>
                  <a:srgbClr val="FF0000"/>
                </a:solidFill>
              </a:rPr>
              <a:t>24.</a:t>
            </a:r>
            <a:r>
              <a:rPr lang="zh-CN" altLang="en-US" sz="3600" b="1" dirty="0">
                <a:solidFill>
                  <a:srgbClr val="FF0000"/>
                </a:solidFill>
              </a:rPr>
              <a:t>用</a:t>
            </a:r>
            <a:r>
              <a:rPr lang="en-US" altLang="zh-CN" sz="3600" b="1" dirty="0">
                <a:solidFill>
                  <a:srgbClr val="FF0000"/>
                </a:solidFill>
              </a:rPr>
              <a:t>…</a:t>
            </a:r>
            <a:r>
              <a:rPr lang="zh-CN" altLang="en-US" sz="3600" b="1" dirty="0">
                <a:solidFill>
                  <a:srgbClr val="FF0000"/>
                </a:solidFill>
              </a:rPr>
              <a:t>和某人打招呼</a:t>
            </a:r>
            <a:r>
              <a:rPr lang="en-US" altLang="zh-CN" sz="3600" b="1" dirty="0">
                <a:solidFill>
                  <a:srgbClr val="FF0000"/>
                </a:solidFill>
              </a:rPr>
              <a:t>;</a:t>
            </a:r>
            <a:r>
              <a:rPr lang="zh-CN" altLang="en-US" sz="3600" b="1" dirty="0">
                <a:solidFill>
                  <a:srgbClr val="FF0000"/>
                </a:solidFill>
              </a:rPr>
              <a:t>代某人向某人问候 </a:t>
            </a:r>
            <a:r>
              <a:rPr lang="en-US" altLang="zh-CN" sz="3600" b="1" dirty="0">
                <a:solidFill>
                  <a:srgbClr val="FF0000"/>
                </a:solidFill>
              </a:rPr>
              <a:t>25.</a:t>
            </a:r>
            <a:r>
              <a:rPr lang="zh-CN" altLang="en-US" sz="3600" b="1" dirty="0">
                <a:solidFill>
                  <a:srgbClr val="FF0000"/>
                </a:solidFill>
              </a:rPr>
              <a:t>适合做</a:t>
            </a:r>
            <a:r>
              <a:rPr lang="en-US" altLang="zh-CN" sz="3600" b="1" dirty="0">
                <a:solidFill>
                  <a:srgbClr val="FF0000"/>
                </a:solidFill>
              </a:rPr>
              <a:t>;__</a:t>
            </a:r>
            <a:r>
              <a:rPr lang="zh-CN" altLang="en-US" sz="3600" b="1" dirty="0">
                <a:solidFill>
                  <a:srgbClr val="FF0000"/>
                </a:solidFill>
              </a:rPr>
              <a:t>不合适的 </a:t>
            </a:r>
            <a:r>
              <a:rPr lang="en-US" altLang="zh-CN" sz="3600" b="1" dirty="0">
                <a:solidFill>
                  <a:srgbClr val="FF0000"/>
                </a:solidFill>
              </a:rPr>
              <a:t>26.</a:t>
            </a:r>
            <a:r>
              <a:rPr lang="zh-CN" altLang="en-US" sz="3600" b="1" dirty="0">
                <a:solidFill>
                  <a:srgbClr val="FF0000"/>
                </a:solidFill>
              </a:rPr>
              <a:t>记下</a:t>
            </a:r>
            <a:r>
              <a:rPr lang="en-US" altLang="zh-CN" sz="3600" b="1" dirty="0">
                <a:solidFill>
                  <a:srgbClr val="FF0000"/>
                </a:solidFill>
              </a:rPr>
              <a:t>;</a:t>
            </a:r>
            <a:r>
              <a:rPr lang="zh-CN" altLang="en-US" sz="3600" b="1" dirty="0">
                <a:solidFill>
                  <a:srgbClr val="FF0000"/>
                </a:solidFill>
              </a:rPr>
              <a:t>放唱片</a:t>
            </a:r>
            <a:r>
              <a:rPr lang="en-US" altLang="zh-CN" sz="3600" b="1" dirty="0">
                <a:solidFill>
                  <a:srgbClr val="FF0000"/>
                </a:solidFill>
              </a:rPr>
              <a:t>;</a:t>
            </a:r>
            <a:r>
              <a:rPr lang="zh-CN" altLang="en-US" sz="3600" b="1" dirty="0">
                <a:solidFill>
                  <a:srgbClr val="FF0000"/>
                </a:solidFill>
              </a:rPr>
              <a:t>破纪录 </a:t>
            </a:r>
            <a:endParaRPr lang="en-US" altLang="zh-CN" sz="3600" b="1" dirty="0">
              <a:solidFill>
                <a:srgbClr val="FF0000"/>
              </a:solidFill>
            </a:endParaRPr>
          </a:p>
          <a:p>
            <a:r>
              <a:rPr lang="en-US" altLang="zh-CN" sz="3600" b="1" dirty="0">
                <a:solidFill>
                  <a:srgbClr val="FF0000"/>
                </a:solidFill>
              </a:rPr>
              <a:t>27.</a:t>
            </a:r>
            <a:r>
              <a:rPr lang="zh-CN" altLang="en-US" sz="3600" b="1" dirty="0">
                <a:solidFill>
                  <a:srgbClr val="FF0000"/>
                </a:solidFill>
              </a:rPr>
              <a:t>远亲</a:t>
            </a:r>
            <a:r>
              <a:rPr lang="en-US" altLang="zh-CN" sz="3600" b="1" dirty="0">
                <a:solidFill>
                  <a:srgbClr val="FF0000"/>
                </a:solidFill>
              </a:rPr>
              <a:t>;</a:t>
            </a:r>
            <a:r>
              <a:rPr lang="zh-CN" altLang="en-US" sz="3600" b="1" dirty="0">
                <a:solidFill>
                  <a:srgbClr val="FF0000"/>
                </a:solidFill>
              </a:rPr>
              <a:t>在远处</a:t>
            </a:r>
            <a:r>
              <a:rPr lang="en-US" altLang="zh-CN" sz="3600" b="1" dirty="0">
                <a:solidFill>
                  <a:srgbClr val="FF0000"/>
                </a:solidFill>
              </a:rPr>
              <a:t>;</a:t>
            </a:r>
            <a:r>
              <a:rPr lang="zh-CN" altLang="en-US" sz="3600" b="1" dirty="0">
                <a:solidFill>
                  <a:srgbClr val="FF0000"/>
                </a:solidFill>
              </a:rPr>
              <a:t>隔开</a:t>
            </a:r>
            <a:r>
              <a:rPr lang="en-US" altLang="zh-CN" sz="3600" b="1" dirty="0">
                <a:solidFill>
                  <a:srgbClr val="FF0000"/>
                </a:solidFill>
              </a:rPr>
              <a:t>10</a:t>
            </a:r>
            <a:r>
              <a:rPr lang="zh-CN" altLang="en-US" sz="3600" b="1" dirty="0">
                <a:solidFill>
                  <a:srgbClr val="FF0000"/>
                </a:solidFill>
              </a:rPr>
              <a:t>米距离</a:t>
            </a:r>
            <a:r>
              <a:rPr lang="en-US" altLang="zh-CN" sz="3600" b="1" dirty="0">
                <a:solidFill>
                  <a:srgbClr val="FF0000"/>
                </a:solidFill>
              </a:rPr>
              <a:t>;</a:t>
            </a:r>
            <a:r>
              <a:rPr lang="zh-CN" altLang="en-US" sz="3600" b="1" dirty="0">
                <a:solidFill>
                  <a:srgbClr val="FF0000"/>
                </a:solidFill>
              </a:rPr>
              <a:t>疏远某人 </a:t>
            </a:r>
            <a:endParaRPr lang="en-US" altLang="zh-CN" sz="3600" b="1" dirty="0">
              <a:solidFill>
                <a:srgbClr val="FF0000"/>
              </a:solidFill>
            </a:endParaRPr>
          </a:p>
          <a:p>
            <a:r>
              <a:rPr lang="en-US" altLang="zh-CN" sz="3600" b="1" dirty="0">
                <a:solidFill>
                  <a:srgbClr val="FF0000"/>
                </a:solidFill>
              </a:rPr>
              <a:t>28.</a:t>
            </a:r>
            <a:r>
              <a:rPr lang="zh-CN" altLang="zh-CN" sz="3600" b="1" dirty="0">
                <a:solidFill>
                  <a:srgbClr val="FF0000"/>
                </a:solidFill>
              </a:rPr>
              <a:t>着手处理</a:t>
            </a:r>
            <a:r>
              <a:rPr lang="zh-CN" altLang="en-US" sz="3600" b="1" dirty="0">
                <a:solidFill>
                  <a:srgbClr val="FF0000"/>
                </a:solidFill>
              </a:rPr>
              <a:t>某事</a:t>
            </a:r>
            <a:r>
              <a:rPr lang="en-US" altLang="zh-CN" sz="3600" b="1" dirty="0">
                <a:solidFill>
                  <a:srgbClr val="FF0000"/>
                </a:solidFill>
              </a:rPr>
              <a:t>;</a:t>
            </a:r>
            <a:r>
              <a:rPr lang="zh-CN" altLang="en-US" sz="3600" b="1" dirty="0">
                <a:solidFill>
                  <a:srgbClr val="FF0000"/>
                </a:solidFill>
              </a:rPr>
              <a:t>习惯于做某事</a:t>
            </a:r>
            <a:r>
              <a:rPr lang="en-US" altLang="zh-CN" sz="3600" b="1" dirty="0">
                <a:solidFill>
                  <a:srgbClr val="FF0000"/>
                </a:solidFill>
              </a:rPr>
              <a:t>;</a:t>
            </a:r>
          </a:p>
          <a:p>
            <a:r>
              <a:rPr lang="en-US" altLang="zh-CN" sz="3600" b="1" dirty="0">
                <a:solidFill>
                  <a:srgbClr val="FF0000"/>
                </a:solidFill>
              </a:rPr>
              <a:t>get away with</a:t>
            </a:r>
            <a:r>
              <a:rPr lang="zh-CN" altLang="en-US" sz="3600" b="1" dirty="0">
                <a:solidFill>
                  <a:srgbClr val="FF0000"/>
                </a:solidFill>
              </a:rPr>
              <a:t>翻译</a:t>
            </a:r>
            <a:endParaRPr lang="en-US" altLang="zh-CN" sz="3600" b="1" dirty="0">
              <a:solidFill>
                <a:srgbClr val="FF0000"/>
              </a:solidFill>
            </a:endParaRPr>
          </a:p>
          <a:p>
            <a:r>
              <a:rPr lang="en-US" altLang="zh-CN" sz="3600" b="1" dirty="0">
                <a:solidFill>
                  <a:srgbClr val="FF0000"/>
                </a:solidFill>
              </a:rPr>
              <a:t>get about</a:t>
            </a:r>
            <a:r>
              <a:rPr lang="zh-CN" altLang="en-US" sz="3600" b="1" dirty="0">
                <a:solidFill>
                  <a:srgbClr val="FF0000"/>
                </a:solidFill>
              </a:rPr>
              <a:t>翻译</a:t>
            </a:r>
            <a:endParaRPr lang="zh-CN" altLang="zh-CN" sz="3600" b="1" dirty="0">
              <a:solidFill>
                <a:srgbClr val="FF0000"/>
              </a:solidFill>
            </a:endParaRPr>
          </a:p>
          <a:p>
            <a:r>
              <a:rPr lang="en-US" altLang="zh-CN" sz="3600" b="1" dirty="0">
                <a:solidFill>
                  <a:srgbClr val="FF0000"/>
                </a:solidFill>
              </a:rPr>
              <a:t>get across (to sb.)</a:t>
            </a:r>
            <a:r>
              <a:rPr lang="zh-CN" altLang="en-US" sz="3600" b="1" dirty="0">
                <a:solidFill>
                  <a:srgbClr val="FF0000"/>
                </a:solidFill>
              </a:rPr>
              <a:t>翻译</a:t>
            </a:r>
            <a:endParaRPr lang="zh-CN" altLang="zh-CN" sz="3600" b="1" dirty="0">
              <a:solidFill>
                <a:srgbClr val="FF0000"/>
              </a:solidFill>
            </a:endParaRPr>
          </a:p>
          <a:p>
            <a:r>
              <a:rPr lang="en-US" altLang="zh-CN" sz="3600" b="1" dirty="0">
                <a:solidFill>
                  <a:srgbClr val="FF0000"/>
                </a:solidFill>
              </a:rPr>
              <a:t>get along (with)</a:t>
            </a:r>
            <a:r>
              <a:rPr lang="zh-CN" altLang="en-US" sz="3600" b="1" dirty="0">
                <a:solidFill>
                  <a:srgbClr val="FF0000"/>
                </a:solidFill>
              </a:rPr>
              <a:t>翻译</a:t>
            </a:r>
            <a:endParaRPr lang="zh-CN" altLang="zh-CN" sz="3600" b="1" dirty="0">
              <a:solidFill>
                <a:srgbClr val="FF0000"/>
              </a:solidFill>
            </a:endParaRPr>
          </a:p>
          <a:p>
            <a:r>
              <a:rPr lang="en-US" altLang="zh-CN" sz="3600" b="1" dirty="0">
                <a:solidFill>
                  <a:srgbClr val="FF0000"/>
                </a:solidFill>
              </a:rPr>
              <a:t>get through</a:t>
            </a:r>
            <a:r>
              <a:rPr lang="zh-CN" altLang="en-US" sz="3600" b="1" dirty="0">
                <a:solidFill>
                  <a:srgbClr val="FF0000"/>
                </a:solidFill>
              </a:rPr>
              <a:t>翻译</a:t>
            </a:r>
            <a:endParaRPr lang="en-US" altLang="zh-CN" sz="3600" b="1" dirty="0">
              <a:solidFill>
                <a:srgbClr val="FF0000"/>
              </a:solidFill>
            </a:endParaRPr>
          </a:p>
          <a:p>
            <a:r>
              <a:rPr lang="en-US" altLang="zh-CN" sz="3600" b="1" dirty="0">
                <a:solidFill>
                  <a:srgbClr val="FF0000"/>
                </a:solidFill>
              </a:rPr>
              <a:t>get together</a:t>
            </a:r>
            <a:r>
              <a:rPr lang="zh-CN" altLang="en-US" sz="3600" b="1" dirty="0">
                <a:solidFill>
                  <a:srgbClr val="FF0000"/>
                </a:solidFill>
              </a:rPr>
              <a:t>翻译</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U2</a:t>
            </a:r>
            <a:r>
              <a:rPr lang="zh-CN" altLang="en-US" sz="3600" b="1" dirty="0">
                <a:solidFill>
                  <a:srgbClr val="FF0000"/>
                </a:solidFill>
              </a:rPr>
              <a:t>单词笔记二</a:t>
            </a:r>
            <a:endParaRPr lang="en-US" altLang="zh-CN" sz="3600" b="1" dirty="0">
              <a:solidFill>
                <a:srgbClr val="FF0000"/>
              </a:solidFill>
            </a:endParaRPr>
          </a:p>
          <a:p>
            <a:r>
              <a:rPr lang="en-US" altLang="zh-CN" sz="3600" b="1" dirty="0">
                <a:solidFill>
                  <a:srgbClr val="FF0000"/>
                </a:solidFill>
              </a:rPr>
              <a:t>1.</a:t>
            </a:r>
            <a:r>
              <a:rPr lang="zh-CN" altLang="en-US" sz="3600" b="1" dirty="0">
                <a:solidFill>
                  <a:srgbClr val="FF0000"/>
                </a:solidFill>
              </a:rPr>
              <a:t>凝视</a:t>
            </a:r>
            <a:r>
              <a:rPr lang="en-US" altLang="zh-CN" sz="3600" b="1" dirty="0">
                <a:solidFill>
                  <a:srgbClr val="FF0000"/>
                </a:solidFill>
              </a:rPr>
              <a:t>;</a:t>
            </a:r>
            <a:r>
              <a:rPr lang="zh-CN" altLang="en-US" sz="3600" b="1" dirty="0">
                <a:solidFill>
                  <a:srgbClr val="FF0000"/>
                </a:solidFill>
              </a:rPr>
              <a:t>怒视</a:t>
            </a:r>
            <a:r>
              <a:rPr lang="en-US" altLang="zh-CN" sz="3600" b="1" dirty="0">
                <a:solidFill>
                  <a:srgbClr val="FF0000"/>
                </a:solidFill>
              </a:rPr>
              <a:t>;</a:t>
            </a:r>
            <a:r>
              <a:rPr lang="zh-CN" altLang="en-US" sz="3600" b="1" dirty="0">
                <a:solidFill>
                  <a:srgbClr val="FF0000"/>
                </a:solidFill>
              </a:rPr>
              <a:t>瞥 </a:t>
            </a:r>
            <a:r>
              <a:rPr lang="en-US" altLang="zh-CN" sz="3600" b="1" dirty="0">
                <a:solidFill>
                  <a:srgbClr val="FF0000"/>
                </a:solidFill>
              </a:rPr>
              <a:t>2.</a:t>
            </a:r>
            <a:r>
              <a:rPr lang="zh-CN" altLang="en-US" sz="3600" b="1" dirty="0">
                <a:solidFill>
                  <a:srgbClr val="FF0000"/>
                </a:solidFill>
              </a:rPr>
              <a:t>深呼吸</a:t>
            </a:r>
            <a:r>
              <a:rPr lang="en-US" altLang="zh-CN" sz="3600" b="1" dirty="0">
                <a:solidFill>
                  <a:srgbClr val="FF0000"/>
                </a:solidFill>
              </a:rPr>
              <a:t>;</a:t>
            </a:r>
            <a:r>
              <a:rPr lang="zh-CN" altLang="en-US" sz="3600" b="1" dirty="0">
                <a:solidFill>
                  <a:srgbClr val="FF0000"/>
                </a:solidFill>
              </a:rPr>
              <a:t>屏息</a:t>
            </a:r>
            <a:r>
              <a:rPr lang="en-US" altLang="zh-CN" sz="3600" b="1" dirty="0">
                <a:solidFill>
                  <a:srgbClr val="FF0000"/>
                </a:solidFill>
              </a:rPr>
              <a:t>;</a:t>
            </a:r>
            <a:r>
              <a:rPr lang="zh-CN" altLang="en-US" sz="3600" b="1" dirty="0">
                <a:solidFill>
                  <a:srgbClr val="FF0000"/>
                </a:solidFill>
              </a:rPr>
              <a:t>吸气</a:t>
            </a:r>
            <a:r>
              <a:rPr lang="en-US" altLang="zh-CN" sz="3600" b="1" dirty="0">
                <a:solidFill>
                  <a:srgbClr val="FF0000"/>
                </a:solidFill>
              </a:rPr>
              <a:t>;</a:t>
            </a:r>
            <a:r>
              <a:rPr lang="zh-CN" altLang="en-US" sz="3600" b="1" dirty="0">
                <a:solidFill>
                  <a:srgbClr val="FF0000"/>
                </a:solidFill>
              </a:rPr>
              <a:t>呼气</a:t>
            </a:r>
            <a:r>
              <a:rPr lang="en-US" altLang="zh-CN" sz="3600" b="1" dirty="0">
                <a:solidFill>
                  <a:srgbClr val="FF0000"/>
                </a:solidFill>
              </a:rPr>
              <a:t>;a.</a:t>
            </a:r>
            <a:r>
              <a:rPr lang="zh-CN" altLang="en-US" sz="3600" b="1" dirty="0">
                <a:solidFill>
                  <a:srgbClr val="FF0000"/>
                </a:solidFill>
              </a:rPr>
              <a:t>气喘吁吁的 </a:t>
            </a:r>
            <a:r>
              <a:rPr lang="en-US" altLang="zh-CN" sz="3600" b="1" dirty="0">
                <a:solidFill>
                  <a:srgbClr val="FF0000"/>
                </a:solidFill>
              </a:rPr>
              <a:t>3.</a:t>
            </a:r>
            <a:r>
              <a:rPr lang="zh-CN" altLang="en-US" sz="3600" b="1" dirty="0">
                <a:solidFill>
                  <a:srgbClr val="FF0000"/>
                </a:solidFill>
              </a:rPr>
              <a:t>吸引某人的注意力</a:t>
            </a:r>
            <a:r>
              <a:rPr lang="en-US" altLang="zh-CN" sz="3600" b="1" dirty="0">
                <a:solidFill>
                  <a:srgbClr val="FF0000"/>
                </a:solidFill>
              </a:rPr>
              <a:t>;</a:t>
            </a:r>
            <a:r>
              <a:rPr lang="zh-CN" altLang="en-US" sz="3600" b="1" dirty="0">
                <a:solidFill>
                  <a:srgbClr val="FF0000"/>
                </a:solidFill>
              </a:rPr>
              <a:t>吃点东西</a:t>
            </a:r>
            <a:r>
              <a:rPr lang="en-US" altLang="zh-CN" sz="3600" b="1" dirty="0">
                <a:solidFill>
                  <a:srgbClr val="FF0000"/>
                </a:solidFill>
              </a:rPr>
              <a:t>;</a:t>
            </a:r>
            <a:r>
              <a:rPr lang="zh-CN" altLang="en-US" sz="3600" b="1" dirty="0">
                <a:solidFill>
                  <a:srgbClr val="FF0000"/>
                </a:solidFill>
              </a:rPr>
              <a:t>抓住机会</a:t>
            </a:r>
            <a:r>
              <a:rPr lang="en-US" altLang="zh-CN" sz="3600" b="1" dirty="0">
                <a:solidFill>
                  <a:srgbClr val="FF0000"/>
                </a:solidFill>
              </a:rPr>
              <a:t>;</a:t>
            </a:r>
            <a:r>
              <a:rPr lang="zh-CN" altLang="en-US" sz="3600" b="1" dirty="0">
                <a:solidFill>
                  <a:srgbClr val="FF0000"/>
                </a:solidFill>
              </a:rPr>
              <a:t> </a:t>
            </a:r>
            <a:r>
              <a:rPr lang="en-US" altLang="zh-CN" sz="3600" b="1" dirty="0">
                <a:solidFill>
                  <a:srgbClr val="FF0000"/>
                </a:solidFill>
              </a:rPr>
              <a:t>4.</a:t>
            </a:r>
            <a:r>
              <a:rPr lang="zh-CN" altLang="en-US" sz="3600" b="1" dirty="0">
                <a:solidFill>
                  <a:srgbClr val="FF0000"/>
                </a:solidFill>
              </a:rPr>
              <a:t>打扫</a:t>
            </a:r>
            <a:r>
              <a:rPr lang="en-US" altLang="zh-CN" sz="3600" b="1" dirty="0">
                <a:solidFill>
                  <a:srgbClr val="FF0000"/>
                </a:solidFill>
              </a:rPr>
              <a:t>;</a:t>
            </a:r>
            <a:r>
              <a:rPr lang="zh-CN" altLang="en-US" sz="3600" b="1" kern="100" dirty="0">
                <a:solidFill>
                  <a:srgbClr val="FF0000"/>
                </a:solidFill>
                <a:latin typeface="Times New Roman" panose="02020603050405020304" pitchFamily="18" charset="0"/>
                <a:cs typeface="Times New Roman" panose="02020603050405020304" pitchFamily="18" charset="0"/>
              </a:rPr>
              <a:t>使</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深受影响醉心于 </a:t>
            </a:r>
            <a:r>
              <a:rPr lang="en-US" altLang="zh-CN" sz="3600" b="1" kern="100" dirty="0">
                <a:solidFill>
                  <a:srgbClr val="FF0000"/>
                </a:solidFill>
                <a:latin typeface="Times New Roman" panose="02020603050405020304" pitchFamily="18" charset="0"/>
                <a:cs typeface="Times New Roman" panose="02020603050405020304" pitchFamily="18" charset="0"/>
              </a:rPr>
              <a:t>5.</a:t>
            </a:r>
            <a:r>
              <a:rPr lang="zh-CN" altLang="en-US" sz="3600" b="1" kern="100" dirty="0">
                <a:solidFill>
                  <a:srgbClr val="FF0000"/>
                </a:solidFill>
                <a:latin typeface="Times New Roman" panose="02020603050405020304" pitchFamily="18" charset="0"/>
                <a:cs typeface="Times New Roman" panose="02020603050405020304" pitchFamily="18" charset="0"/>
              </a:rPr>
              <a:t>陪伴某人去某处</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陪伴某人</a:t>
            </a:r>
            <a:r>
              <a:rPr lang="en-US" altLang="zh-CN" sz="3600" b="1" kern="100" dirty="0">
                <a:solidFill>
                  <a:srgbClr val="FF0000"/>
                </a:solidFill>
                <a:latin typeface="Times New Roman" panose="02020603050405020304" pitchFamily="18" charset="0"/>
                <a:cs typeface="Times New Roman" panose="02020603050405020304" pitchFamily="18" charset="0"/>
              </a:rPr>
              <a:t>(2</a:t>
            </a:r>
            <a:r>
              <a:rPr lang="zh-CN" altLang="en-US" sz="3600" b="1" kern="100" dirty="0">
                <a:solidFill>
                  <a:srgbClr val="FF0000"/>
                </a:solidFill>
                <a:latin typeface="Times New Roman" panose="02020603050405020304" pitchFamily="18" charset="0"/>
                <a:cs typeface="Times New Roman" panose="02020603050405020304" pitchFamily="18" charset="0"/>
              </a:rPr>
              <a:t>个</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为</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伴奏</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与某人在一起 </a:t>
            </a:r>
            <a:r>
              <a:rPr lang="en-US" altLang="zh-CN" sz="3600" b="1" kern="100" dirty="0">
                <a:solidFill>
                  <a:srgbClr val="FF0000"/>
                </a:solidFill>
                <a:latin typeface="Times New Roman" panose="02020603050405020304" pitchFamily="18" charset="0"/>
                <a:cs typeface="Times New Roman" panose="02020603050405020304" pitchFamily="18" charset="0"/>
              </a:rPr>
              <a:t>6.</a:t>
            </a:r>
            <a:r>
              <a:rPr lang="zh-CN" altLang="en-US" sz="3600" b="1" kern="100" dirty="0">
                <a:solidFill>
                  <a:srgbClr val="FF0000"/>
                </a:solidFill>
                <a:latin typeface="Times New Roman" panose="02020603050405020304" pitchFamily="18" charset="0"/>
                <a:cs typeface="Times New Roman" panose="02020603050405020304" pitchFamily="18" charset="0"/>
              </a:rPr>
              <a:t>不辜负某人的期望</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指望</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超出某人的预期</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期待某人做某事 </a:t>
            </a:r>
            <a:r>
              <a:rPr lang="en-US" altLang="zh-CN" sz="3600" b="1" kern="100" dirty="0">
                <a:solidFill>
                  <a:srgbClr val="FF0000"/>
                </a:solidFill>
                <a:latin typeface="Times New Roman" panose="02020603050405020304" pitchFamily="18" charset="0"/>
                <a:cs typeface="Times New Roman" panose="02020603050405020304" pitchFamily="18" charset="0"/>
              </a:rPr>
              <a:t>7.</a:t>
            </a:r>
            <a:r>
              <a:rPr lang="zh-CN" altLang="en-US" sz="3600" b="1" kern="100" dirty="0">
                <a:solidFill>
                  <a:srgbClr val="FF0000"/>
                </a:solidFill>
                <a:latin typeface="Times New Roman" panose="02020603050405020304" pitchFamily="18" charset="0"/>
                <a:cs typeface="Times New Roman" panose="02020603050405020304" pitchFamily="18" charset="0"/>
              </a:rPr>
              <a:t>以</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著称</a:t>
            </a:r>
            <a:r>
              <a:rPr lang="en-US" altLang="zh-CN" sz="3600" b="1" kern="100" dirty="0">
                <a:solidFill>
                  <a:srgbClr val="FF0000"/>
                </a:solidFill>
                <a:latin typeface="Times New Roman" panose="02020603050405020304" pitchFamily="18" charset="0"/>
                <a:cs typeface="Times New Roman" panose="02020603050405020304" pitchFamily="18" charset="0"/>
              </a:rPr>
              <a:t>; adv.</a:t>
            </a:r>
            <a:r>
              <a:rPr lang="zh-CN" altLang="en-US" sz="3600" b="1" kern="100" dirty="0">
                <a:solidFill>
                  <a:srgbClr val="FF0000"/>
                </a:solidFill>
                <a:latin typeface="Times New Roman" panose="02020603050405020304" pitchFamily="18" charset="0"/>
                <a:cs typeface="Times New Roman" panose="02020603050405020304" pitchFamily="18" charset="0"/>
              </a:rPr>
              <a:t>不同寻常地 </a:t>
            </a:r>
            <a:r>
              <a:rPr lang="en-US" altLang="zh-CN" sz="3600" b="1" kern="100" dirty="0">
                <a:solidFill>
                  <a:srgbClr val="FF0000"/>
                </a:solidFill>
                <a:latin typeface="Times New Roman" panose="02020603050405020304" pitchFamily="18" charset="0"/>
                <a:cs typeface="Times New Roman" panose="02020603050405020304" pitchFamily="18" charset="0"/>
              </a:rPr>
              <a:t>8.</a:t>
            </a:r>
            <a:r>
              <a:rPr lang="zh-CN" altLang="zh-CN" sz="3600" b="1" kern="100" dirty="0">
                <a:solidFill>
                  <a:srgbClr val="FF0000"/>
                </a:solidFill>
                <a:latin typeface="Times New Roman" panose="02020603050405020304" pitchFamily="18" charset="0"/>
                <a:cs typeface="Times New Roman" panose="02020603050405020304" pitchFamily="18" charset="0"/>
              </a:rPr>
              <a:t>络绎不绝的游客</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zh-CN" sz="3600" b="1" kern="100" dirty="0">
                <a:solidFill>
                  <a:srgbClr val="FF0000"/>
                </a:solidFill>
                <a:latin typeface="Times New Roman" panose="02020603050405020304" pitchFamily="18" charset="0"/>
                <a:cs typeface="Times New Roman" panose="02020603050405020304" pitchFamily="18" charset="0"/>
              </a:rPr>
              <a:t>泪水顺着她的脸频流了下来</a:t>
            </a:r>
            <a:r>
              <a:rPr lang="en-US" altLang="zh-CN" sz="3600" b="1" kern="100" dirty="0">
                <a:solidFill>
                  <a:srgbClr val="FF0000"/>
                </a:solidFill>
                <a:latin typeface="Times New Roman" panose="02020603050405020304" pitchFamily="18" charset="0"/>
                <a:cs typeface="Times New Roman" panose="02020603050405020304" pitchFamily="18" charset="0"/>
              </a:rPr>
              <a:t> 9.</a:t>
            </a:r>
            <a:r>
              <a:rPr lang="zh-CN" altLang="zh-CN" sz="3600" b="1" kern="100" dirty="0">
                <a:solidFill>
                  <a:srgbClr val="FF0000"/>
                </a:solidFill>
                <a:latin typeface="Times New Roman" panose="02020603050405020304" pitchFamily="18" charset="0"/>
                <a:cs typeface="Times New Roman" panose="02020603050405020304" pitchFamily="18" charset="0"/>
              </a:rPr>
              <a:t>对…热情</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zh-CN" sz="3600" b="1" kern="100" dirty="0">
                <a:solidFill>
                  <a:srgbClr val="FF0000"/>
                </a:solidFill>
                <a:latin typeface="Times New Roman" panose="02020603050405020304" pitchFamily="18" charset="0"/>
                <a:cs typeface="Times New Roman" panose="02020603050405020304" pitchFamily="18" charset="0"/>
              </a:rPr>
              <a:t>缺乏</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zh-CN" sz="3600" b="1" kern="100" dirty="0">
                <a:solidFill>
                  <a:srgbClr val="FF0000"/>
                </a:solidFill>
                <a:latin typeface="Times New Roman" panose="02020603050405020304" pitchFamily="18" charset="0"/>
                <a:cs typeface="Times New Roman" panose="02020603050405020304" pitchFamily="18" charset="0"/>
              </a:rPr>
              <a:t>充满热情</a:t>
            </a:r>
            <a:r>
              <a:rPr lang="en-US" altLang="zh-CN" sz="3600" b="1" kern="100" dirty="0">
                <a:solidFill>
                  <a:srgbClr val="FF0000"/>
                </a:solidFill>
                <a:latin typeface="Times New Roman" panose="02020603050405020304" pitchFamily="18" charset="0"/>
                <a:cs typeface="Times New Roman" panose="02020603050405020304" pitchFamily="18" charset="0"/>
              </a:rPr>
              <a:t>;__n.</a:t>
            </a:r>
            <a:r>
              <a:rPr lang="zh-CN" altLang="en-US" sz="3600" b="1" kern="100" dirty="0">
                <a:solidFill>
                  <a:srgbClr val="FF0000"/>
                </a:solidFill>
                <a:latin typeface="Times New Roman" panose="02020603050405020304" pitchFamily="18" charset="0"/>
                <a:cs typeface="Times New Roman" panose="02020603050405020304" pitchFamily="18" charset="0"/>
              </a:rPr>
              <a:t>者</a:t>
            </a:r>
            <a:r>
              <a:rPr lang="en-US" altLang="zh-CN" sz="3600" b="1" kern="100" dirty="0">
                <a:solidFill>
                  <a:srgbClr val="FF0000"/>
                </a:solidFill>
                <a:latin typeface="Times New Roman" panose="02020603050405020304" pitchFamily="18" charset="0"/>
                <a:cs typeface="Times New Roman" panose="02020603050405020304" pitchFamily="18" charset="0"/>
              </a:rPr>
              <a:t>;adv.</a:t>
            </a:r>
            <a:r>
              <a:rPr lang="zh-CN" altLang="en-US" sz="3600" b="1" kern="100" dirty="0">
                <a:solidFill>
                  <a:srgbClr val="FF0000"/>
                </a:solidFill>
                <a:latin typeface="Times New Roman" panose="02020603050405020304" pitchFamily="18" charset="0"/>
                <a:cs typeface="Times New Roman" panose="02020603050405020304" pitchFamily="18" charset="0"/>
              </a:rPr>
              <a:t>热情地 </a:t>
            </a:r>
            <a:r>
              <a:rPr lang="en-US" altLang="zh-CN" sz="3600" b="1" kern="100" dirty="0">
                <a:solidFill>
                  <a:srgbClr val="FF0000"/>
                </a:solidFill>
                <a:latin typeface="Times New Roman" panose="02020603050405020304" pitchFamily="18" charset="0"/>
                <a:cs typeface="Times New Roman" panose="02020603050405020304" pitchFamily="18" charset="0"/>
              </a:rPr>
              <a:t>10.</a:t>
            </a:r>
            <a:r>
              <a:rPr lang="zh-CN" altLang="zh-CN" sz="3600" b="1" dirty="0">
                <a:solidFill>
                  <a:srgbClr val="FF0000"/>
                </a:solidFill>
                <a:latin typeface="Times New Roman" panose="02020603050405020304" pitchFamily="18" charset="0"/>
                <a:cs typeface="Times New Roman" panose="02020603050405020304" pitchFamily="18" charset="0"/>
              </a:rPr>
              <a:t>绝大部分的</a:t>
            </a:r>
            <a:r>
              <a:rPr lang="en-US" altLang="zh-CN" sz="3600" b="1" dirty="0">
                <a:solidFill>
                  <a:srgbClr val="FF0000"/>
                </a:solidFill>
                <a:latin typeface="Times New Roman" panose="02020603050405020304" pitchFamily="18" charset="0"/>
                <a:cs typeface="Times New Roman" panose="02020603050405020304" pitchFamily="18" charset="0"/>
              </a:rPr>
              <a:t> </a:t>
            </a:r>
            <a:endParaRPr lang="en-US" altLang="zh-CN" sz="3600" b="1" kern="100" dirty="0">
              <a:solidFill>
                <a:srgbClr val="FF0000"/>
              </a:solidFill>
              <a:latin typeface="Times New Roman" panose="02020603050405020304" pitchFamily="18" charset="0"/>
              <a:cs typeface="Times New Roman" panose="02020603050405020304" pitchFamily="18" charset="0"/>
            </a:endParaRPr>
          </a:p>
          <a:p>
            <a:endParaRPr lang="zh-CN" altLang="en-US" sz="3600" b="1" dirty="0">
              <a:solidFill>
                <a:srgbClr val="FF00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500" b="1" dirty="0">
                <a:solidFill>
                  <a:srgbClr val="FF0000"/>
                </a:solidFill>
                <a:latin typeface="Times New Roman" panose="02020603050405020304" pitchFamily="18" charset="0"/>
                <a:cs typeface="Times New Roman" panose="02020603050405020304" pitchFamily="18" charset="0"/>
                <a:sym typeface="+mn-ea"/>
              </a:rPr>
              <a:t>11.</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在</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方面有天赋</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(2</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个</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 12.</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获得作为</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的好名声</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因</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闻名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13.</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绝妙的设计</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;__adv.</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卓越地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14.</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预测某事</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预言</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会做某事</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;__n.</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者</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;__adv.</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不可预见地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15.</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令人惊奇的是</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常识</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常规做法</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有共同之处</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像往常一样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16.</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对</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感到</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沮丧</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经济萧条</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;__a.</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令人沮丧的</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;__a.</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感到沮丧的</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;__n.</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沮丧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17.</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复杂的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18.</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让某人心烦的是</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为某事心烦</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生某人气</a:t>
            </a:r>
            <a:r>
              <a:rPr lang="en-US" altLang="zh-CN" sz="3500" b="1" kern="100">
                <a:solidFill>
                  <a:srgbClr val="FF0000"/>
                </a:solidFill>
                <a:latin typeface="Times New Roman" panose="02020603050405020304" pitchFamily="18" charset="0"/>
                <a:cs typeface="Times New Roman" panose="02020603050405020304" pitchFamily="18" charset="0"/>
                <a:sym typeface="+mn-ea"/>
              </a:rPr>
              <a:t>;upset(__,__);__</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adj.</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令人心烦意乱的</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 19.</a:t>
            </a:r>
            <a:r>
              <a:rPr lang="en-US" altLang="zh-CN" sz="3500" b="1" dirty="0">
                <a:solidFill>
                  <a:srgbClr val="FF0000"/>
                </a:solidFill>
                <a:sym typeface="+mn-ea"/>
              </a:rPr>
              <a:t>grab(__,__); sweep(__,__); accompany(__,__)</a:t>
            </a:r>
          </a:p>
          <a:p>
            <a:pPr algn="just"/>
            <a:r>
              <a:rPr lang="en-US" altLang="zh-CN" sz="3500" b="1" dirty="0">
                <a:solidFill>
                  <a:srgbClr val="7030A0"/>
                </a:solidFill>
              </a:rPr>
              <a:t>20.</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具有</a:t>
            </a:r>
            <a:r>
              <a:rPr lang="en-US"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拥有</a:t>
            </a:r>
            <a:r>
              <a:rPr lang="en-US"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为某人所有</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;__n.</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财产</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 21.</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放弃做某事</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沉湎于</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;__n.;__adj. 22.</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突然</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 23.</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渴望某物</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渴望做某事</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非常需要</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;__n.</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绝望</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;__adv.</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极其非常</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 24.</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鼓舞人心的经历</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 25.</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轻松</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使某人放松</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减轻负担</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;__</a:t>
            </a:r>
            <a:r>
              <a:rPr lang="en-US" altLang="zh-CN" sz="3500" b="1" i="1" dirty="0">
                <a:solidFill>
                  <a:srgbClr val="7030A0"/>
                </a:solidFill>
                <a:effectLst/>
                <a:latin typeface="Times New Roman" panose="02020603050405020304" pitchFamily="18" charset="0"/>
                <a:cs typeface="Times New Roman" panose="02020603050405020304" pitchFamily="18" charset="0"/>
                <a:sym typeface="+mn-ea"/>
              </a:rPr>
              <a:t>a.</a:t>
            </a:r>
            <a:r>
              <a:rPr lang="en-US" altLang="zh-CN" sz="3500" b="1" dirty="0">
                <a:solidFill>
                  <a:srgbClr val="7030A0"/>
                </a:solidFill>
                <a:effectLst/>
                <a:latin typeface="Times New Roman" panose="02020603050405020304" pitchFamily="18" charset="0"/>
                <a:cs typeface="Times New Roman" panose="02020603050405020304" pitchFamily="18" charset="0"/>
                <a:sym typeface="+mn-ea"/>
              </a:rPr>
              <a:t> </a:t>
            </a:r>
            <a:r>
              <a:rPr lang="zh-CN" altLang="zh-CN" sz="3500" b="1" dirty="0">
                <a:solidFill>
                  <a:srgbClr val="7030A0"/>
                </a:solidFill>
                <a:effectLst/>
                <a:latin typeface="Times New Roman" panose="02020603050405020304" pitchFamily="18" charset="0"/>
                <a:cs typeface="Times New Roman" panose="02020603050405020304" pitchFamily="18" charset="0"/>
                <a:sym typeface="+mn-ea"/>
              </a:rPr>
              <a:t>心神不安的</a:t>
            </a:r>
            <a:r>
              <a:rPr lang="en-US" altLang="zh-CN" sz="3500" b="1" dirty="0">
                <a:solidFill>
                  <a:srgbClr val="7030A0"/>
                </a:solidFill>
                <a:effectLst/>
                <a:latin typeface="Times New Roman" panose="02020603050405020304" pitchFamily="18" charset="0"/>
                <a:cs typeface="Times New Roman" panose="02020603050405020304" pitchFamily="18" charset="0"/>
                <a:sym typeface="+mn-ea"/>
              </a:rPr>
              <a:t> 26.</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有</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做</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某事的本领</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27.__n.</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变化差异</a:t>
            </a:r>
            <a:r>
              <a:rPr lang="en-US" altLang="zh-CN"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与</a:t>
            </a:r>
            <a:r>
              <a:rPr lang="en-US" altLang="zh-CN"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不同</a:t>
            </a:r>
            <a:r>
              <a:rPr lang="en-US" altLang="zh-CN"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大小各异</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从</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到</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B</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不等</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随着</a:t>
            </a:r>
            <a:r>
              <a:rPr lang="zh-CN"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变化</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各种各样的</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(3</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种</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 28.</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一齐一致</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 29.</a:t>
            </a:r>
            <a:r>
              <a:rPr lang="zh-CN" altLang="en-US"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大规模地</a:t>
            </a:r>
            <a:r>
              <a:rPr lang="en-US" altLang="zh-CN"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摆出一副</a:t>
            </a:r>
            <a:r>
              <a:rPr lang="zh-CN" altLang="en-US" sz="3500" b="1" kern="100" dirty="0">
                <a:solidFill>
                  <a:srgbClr val="7030A0"/>
                </a:solidFill>
                <a:latin typeface="Times New Roman" panose="02020603050405020304" pitchFamily="18" charset="0"/>
                <a:cs typeface="Times New Roman" panose="02020603050405020304" pitchFamily="18" charset="0"/>
                <a:sym typeface="+mn-ea"/>
              </a:rPr>
              <a:t>了不起的样子</a:t>
            </a:r>
            <a:r>
              <a:rPr lang="en-US" sz="3500" b="1" kern="100" dirty="0">
                <a:solidFill>
                  <a:srgbClr val="7030A0"/>
                </a:solidFill>
                <a:latin typeface="Times New Roman" panose="02020603050405020304" pitchFamily="18" charset="0"/>
                <a:cs typeface="Times New Roman" panose="02020603050405020304" pitchFamily="18" charset="0"/>
                <a:sym typeface="+mn-ea"/>
              </a:rPr>
              <a:t>30.</a:t>
            </a:r>
            <a:r>
              <a:rPr lang="zh-CN" altLang="en-US" sz="3500" b="1" kern="100" dirty="0">
                <a:solidFill>
                  <a:srgbClr val="7030A0"/>
                </a:solidFill>
                <a:latin typeface="Times New Roman" panose="02020603050405020304" pitchFamily="18" charset="0"/>
                <a:cs typeface="Times New Roman" panose="02020603050405020304" pitchFamily="18" charset="0"/>
                <a:sym typeface="+mn-ea"/>
              </a:rPr>
              <a:t>节奏感</a:t>
            </a:r>
            <a:endPar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50" y="0"/>
            <a:ext cx="12134850" cy="6858000"/>
          </a:xfrm>
        </p:spPr>
        <p:txBody>
          <a:bodyPr>
            <a:normAutofit fontScale="85000" lnSpcReduction="20000"/>
          </a:bodyPr>
          <a:lstStyle/>
          <a:p>
            <a:pPr eaLnBrk="0"/>
            <a:r>
              <a:rPr lang="en-US" altLang="zh-CN" sz="3600" b="1" dirty="0">
                <a:solidFill>
                  <a:srgbClr val="FF0000"/>
                </a:solidFill>
              </a:rPr>
              <a:t>1.require/deserve/ need/want doing＝…to be done</a:t>
            </a:r>
            <a:endParaRPr lang="zh-CN" altLang="zh-CN" sz="3600" b="1" dirty="0">
              <a:solidFill>
                <a:srgbClr val="FF0000"/>
              </a:solidFill>
            </a:endParaRPr>
          </a:p>
          <a:p>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2.be worth doing=It is worthwhile doing=It is worthwhile to do=be worthy of being done=be worthy to be done</a:t>
            </a:r>
          </a:p>
          <a:p>
            <a:r>
              <a:rPr lang="en-US" altLang="zh-CN" sz="3600" b="1" dirty="0">
                <a:solidFill>
                  <a:srgbClr val="E40000"/>
                </a:solidFill>
                <a:ea typeface="宋体" panose="02010600030101010101" pitchFamily="2" charset="-122"/>
              </a:rPr>
              <a:t>3.allow/ advise/ forbid/ permit</a:t>
            </a:r>
            <a:r>
              <a:rPr lang="en-US" altLang="zh-CN" sz="3600" b="1" dirty="0">
                <a:ea typeface="宋体" panose="02010600030101010101" pitchFamily="2" charset="-122"/>
              </a:rPr>
              <a:t> </a:t>
            </a:r>
            <a:r>
              <a:rPr lang="en-US" altLang="zh-CN" sz="3600" b="1" u="sng" dirty="0">
                <a:solidFill>
                  <a:srgbClr val="FF0000"/>
                </a:solidFill>
                <a:ea typeface="宋体" panose="02010600030101010101" pitchFamily="2" charset="-122"/>
              </a:rPr>
              <a:t>doing </a:t>
            </a:r>
            <a:r>
              <a:rPr lang="en-US" altLang="zh-CN" sz="3600" b="1" u="sng" dirty="0" err="1">
                <a:solidFill>
                  <a:srgbClr val="FF0000"/>
                </a:solidFill>
                <a:ea typeface="宋体" panose="02010600030101010101" pitchFamily="2" charset="-122"/>
              </a:rPr>
              <a:t>sth</a:t>
            </a:r>
            <a:r>
              <a:rPr lang="en-US" altLang="zh-CN" sz="3600" b="1" u="sng" dirty="0">
                <a:solidFill>
                  <a:srgbClr val="FF0000"/>
                </a:solidFill>
                <a:ea typeface="宋体" panose="02010600030101010101" pitchFamily="2" charset="-122"/>
              </a:rPr>
              <a:t>.</a:t>
            </a:r>
          </a:p>
          <a:p>
            <a:r>
              <a:rPr lang="en-US" altLang="zh-CN" sz="3600" b="1" dirty="0">
                <a:solidFill>
                  <a:srgbClr val="FF0000"/>
                </a:solidFill>
                <a:ea typeface="宋体" panose="02010600030101010101" pitchFamily="2" charset="-122"/>
              </a:rPr>
              <a:t>=</a:t>
            </a:r>
            <a:r>
              <a:rPr lang="en-US" altLang="zh-CN" sz="3600" b="1" dirty="0">
                <a:solidFill>
                  <a:srgbClr val="E40000"/>
                </a:solidFill>
                <a:ea typeface="宋体" panose="02010600030101010101" pitchFamily="2" charset="-122"/>
              </a:rPr>
              <a:t>allow/ advise/ forbid/ permit</a:t>
            </a:r>
            <a:r>
              <a:rPr lang="en-US" altLang="zh-CN" sz="3600" b="1" dirty="0">
                <a:ea typeface="宋体" panose="02010600030101010101" pitchFamily="2" charset="-122"/>
              </a:rPr>
              <a:t> </a:t>
            </a:r>
            <a:r>
              <a:rPr lang="en-US" altLang="zh-CN" sz="3600" b="1" u="sng" dirty="0">
                <a:solidFill>
                  <a:srgbClr val="FF0000"/>
                </a:solidFill>
                <a:ea typeface="宋体" panose="02010600030101010101" pitchFamily="2" charset="-122"/>
              </a:rPr>
              <a:t>sb. to do </a:t>
            </a:r>
            <a:r>
              <a:rPr lang="en-US" altLang="zh-CN" sz="3600" b="1" u="sng" dirty="0" err="1">
                <a:solidFill>
                  <a:srgbClr val="FF0000"/>
                </a:solidFill>
                <a:ea typeface="宋体" panose="02010600030101010101" pitchFamily="2" charset="-122"/>
              </a:rPr>
              <a:t>sth</a:t>
            </a:r>
            <a:r>
              <a:rPr lang="en-US" altLang="zh-CN" sz="3600" b="1" u="sng" dirty="0">
                <a:solidFill>
                  <a:srgbClr val="FF0000"/>
                </a:solidFill>
                <a:ea typeface="宋体" panose="02010600030101010101" pitchFamily="2" charset="-122"/>
              </a:rPr>
              <a:t>.</a:t>
            </a:r>
          </a:p>
          <a:p>
            <a:pPr>
              <a:buFont typeface="Wingdings" panose="05000000000000000000" pitchFamily="2" charset="2"/>
              <a:buChar char="▪"/>
              <a:defRPr/>
            </a:pP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4.It is/was no use/good/need/pleasure doing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.;It is useless doing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.;It is a waste of time doing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t>
            </a:r>
          </a:p>
          <a:p>
            <a:pPr>
              <a:buFont typeface="Wingdings" panose="05000000000000000000" pitchFamily="2" charset="2"/>
              <a:buChar char="▪"/>
              <a:defRPr/>
            </a:pP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5.It is adj.+ (for/of sb.) + to do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t>
            </a: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6.rely on sb</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to do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依赖</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fancy</a:t>
            </a:r>
            <a:r>
              <a:rPr lang="zh-CN" altLang="en-US"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想要</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/mind/enjoy doing</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t>
            </a: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would like to do=feel like doing;  set </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about doing</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=set </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out to do</a:t>
            </a: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When it comes to doing </a:t>
            </a:r>
            <a:r>
              <a:rPr lang="en-US" altLang="zh-CN" sz="3600" b="1"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当谈及做某事</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7.can’t help doing</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情不自禁</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can’t help to do</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不能帮忙做</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stop doing</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停止做</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stop to do</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停下来去做另一件事</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8.used to do</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过去常常做现在不了</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;be</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used</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to do</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被用来做</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a:t>
            </a: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be used to doing</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习惯做</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3600" b="1" u="sng" dirty="0">
              <a:solidFill>
                <a:srgbClr val="FF0000"/>
              </a:solidFill>
              <a:ea typeface="宋体" panose="02010600030101010101" pitchFamily="2" charset="-122"/>
            </a:endParaRPr>
          </a:p>
          <a:p>
            <a:endParaRPr lang="zh-CN" altLang="en-US" sz="3600" b="1"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50" y="0"/>
            <a:ext cx="12134850" cy="6858000"/>
          </a:xfrm>
        </p:spPr>
        <p:txBody>
          <a:bodyPr>
            <a:normAutofit fontScale="92500" lnSpcReduction="10000"/>
          </a:bodyPr>
          <a:lstStyle/>
          <a:p>
            <a:pPr eaLnBrk="0"/>
            <a:r>
              <a:rPr lang="en-US" altLang="zh-CN" sz="3600" b="1" dirty="0">
                <a:solidFill>
                  <a:srgbClr val="FF0000"/>
                </a:solidFill>
              </a:rPr>
              <a:t>1.require/__/__/__+__=__</a:t>
            </a:r>
            <a:r>
              <a:rPr lang="zh-CN" altLang="en-US" sz="3600" b="1" dirty="0">
                <a:solidFill>
                  <a:srgbClr val="FF0000"/>
                </a:solidFill>
              </a:rPr>
              <a:t>写全</a:t>
            </a:r>
            <a:endParaRPr lang="zh-CN" altLang="zh-CN" sz="3600" b="1" dirty="0">
              <a:solidFill>
                <a:srgbClr val="FF0000"/>
              </a:solidFill>
            </a:endParaRPr>
          </a:p>
          <a:p>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2.worth</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写全</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worthwhile</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写全</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worthy</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写全</a:t>
            </a:r>
            <a:endPar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600" b="1" dirty="0">
                <a:solidFill>
                  <a:srgbClr val="E40000"/>
                </a:solidFill>
                <a:ea typeface="宋体" panose="02010600030101010101" pitchFamily="2" charset="-122"/>
              </a:rPr>
              <a:t>3.allow/__/__/__+__=__</a:t>
            </a:r>
            <a:r>
              <a:rPr lang="zh-CN" altLang="en-US" sz="3600" b="1" dirty="0">
                <a:solidFill>
                  <a:srgbClr val="E40000"/>
                </a:solidFill>
                <a:ea typeface="宋体" panose="02010600030101010101" pitchFamily="2" charset="-122"/>
              </a:rPr>
              <a:t>写全</a:t>
            </a:r>
            <a:endParaRPr lang="en-US" altLang="zh-CN" sz="3600" b="1" dirty="0">
              <a:solidFill>
                <a:srgbClr val="E40000"/>
              </a:solidFill>
              <a:ea typeface="宋体" panose="02010600030101010101" pitchFamily="2" charset="-122"/>
            </a:endParaRPr>
          </a:p>
          <a:p>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4.It is…doing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zh-CN" altLang="en-US"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写全</a:t>
            </a:r>
            <a:endPar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a:buFont typeface="Wingdings" panose="05000000000000000000" pitchFamily="2" charset="2"/>
              <a:buChar char="▪"/>
              <a:defRPr/>
            </a:pP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5.It is adj.+ (for/of sb.) + </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____</a:t>
            </a:r>
            <a:endPar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6.rely on sb____; fancy____</a:t>
            </a: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would like ____=feel like ____; </a:t>
            </a: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set about ____=set out____</a:t>
            </a:r>
          </a:p>
          <a:p>
            <a:pPr marL="0" indent="0">
              <a:buNone/>
              <a:defRPr/>
            </a:pP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当谈及做某事</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7.___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情不自禁</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不能帮忙做</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停止做</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停下来去做另一件事</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8.____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过去常常做现在不了</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被用来做</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a:t>
            </a: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习惯做</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endParaRPr lang="en-US" altLang="zh-CN" sz="3600" b="1" dirty="0"/>
          </a:p>
          <a:p>
            <a:r>
              <a:rPr lang="en-US" altLang="zh-CN" sz="3600" b="1" dirty="0" err="1"/>
              <a:t>III.meeting</a:t>
            </a:r>
            <a:r>
              <a:rPr lang="en-US" altLang="zh-CN" sz="3600" b="1" dirty="0"/>
              <a:t>,  </a:t>
            </a:r>
            <a:r>
              <a:rPr lang="en-US" altLang="zh-CN" sz="3600" b="1" dirty="0">
                <a:solidFill>
                  <a:srgbClr val="FF0000"/>
                </a:solidFill>
              </a:rPr>
              <a:t>running,  pretending,  </a:t>
            </a:r>
            <a:r>
              <a:rPr lang="en-US" altLang="zh-CN" sz="3600" b="1" dirty="0"/>
              <a:t>meeting,  coming,  </a:t>
            </a:r>
          </a:p>
          <a:p>
            <a:r>
              <a:rPr lang="en-US" altLang="zh-CN" sz="3600" b="1" dirty="0"/>
              <a:t>preventing,  following,  </a:t>
            </a:r>
            <a:r>
              <a:rPr lang="en-US" altLang="zh-CN" sz="3600" b="1" dirty="0">
                <a:solidFill>
                  <a:srgbClr val="FF0000"/>
                </a:solidFill>
              </a:rPr>
              <a:t>meeting</a:t>
            </a:r>
            <a:r>
              <a:rPr lang="en-US" altLang="zh-CN" sz="3600" b="1" dirty="0"/>
              <a:t>,  doing,  coming,  </a:t>
            </a:r>
          </a:p>
          <a:p>
            <a:r>
              <a:rPr lang="en-US" altLang="zh-CN" sz="3600" b="1" dirty="0"/>
              <a:t>speaking,  waiting</a:t>
            </a:r>
          </a:p>
          <a:p>
            <a:endParaRPr lang="en-US" altLang="zh-CN" sz="3600" b="1" dirty="0"/>
          </a:p>
          <a:p>
            <a:r>
              <a:rPr lang="en-US" altLang="zh-CN" sz="3600" b="1" u="sng" dirty="0"/>
              <a:t>He</a:t>
            </a:r>
            <a:r>
              <a:rPr lang="en-US" altLang="zh-CN" sz="3600" b="1" dirty="0"/>
              <a:t> saw me and </a:t>
            </a:r>
            <a:r>
              <a:rPr lang="en-US" altLang="zh-CN" sz="3600" b="1" u="sng" dirty="0"/>
              <a:t>came </a:t>
            </a:r>
            <a:r>
              <a:rPr lang="en-US" altLang="zh-CN" sz="3600" b="1" dirty="0"/>
              <a:t>______ towards me. </a:t>
            </a:r>
            <a:r>
              <a:rPr lang="zh-CN" altLang="en-US" sz="3600" b="1" dirty="0"/>
              <a:t>伴随“跑过来”</a:t>
            </a:r>
            <a:endParaRPr lang="en-US" altLang="zh-CN" sz="3600" b="1" dirty="0"/>
          </a:p>
          <a:p>
            <a:r>
              <a:rPr lang="en-US" altLang="zh-CN" sz="3600" b="1" dirty="0">
                <a:solidFill>
                  <a:srgbClr val="FF0000"/>
                </a:solidFill>
              </a:rPr>
              <a:t>It was no use/good/need/pleasure doing </a:t>
            </a:r>
            <a:r>
              <a:rPr lang="en-US" altLang="zh-CN" sz="3600" b="1" dirty="0" err="1">
                <a:solidFill>
                  <a:srgbClr val="FF0000"/>
                </a:solidFill>
              </a:rPr>
              <a:t>sth</a:t>
            </a:r>
            <a:r>
              <a:rPr lang="en-US" altLang="zh-CN" sz="3600" b="1" dirty="0"/>
              <a:t>.</a:t>
            </a:r>
            <a:r>
              <a:rPr lang="zh-CN" altLang="en-US" sz="3600" b="1" dirty="0"/>
              <a:t>做某事木有用</a:t>
            </a:r>
            <a:endParaRPr lang="en-US" altLang="zh-CN" sz="3600" b="1" dirty="0"/>
          </a:p>
          <a:p>
            <a:r>
              <a:rPr lang="en-US" altLang="zh-CN" sz="3600" b="1" dirty="0">
                <a:solidFill>
                  <a:srgbClr val="FF0000"/>
                </a:solidFill>
              </a:rPr>
              <a:t>fancy doing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想做某事</a:t>
            </a:r>
            <a:endParaRPr lang="zh-CN" altLang="zh-CN" sz="3600" b="1" dirty="0">
              <a:solidFill>
                <a:srgbClr val="FF0000"/>
              </a:solidFill>
            </a:endParaRPr>
          </a:p>
          <a:p>
            <a:endParaRPr lang="zh-CN" altLang="en-US" sz="3600" b="1"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50" y="0"/>
            <a:ext cx="12134850" cy="6858000"/>
          </a:xfrm>
        </p:spPr>
        <p:txBody>
          <a:bodyPr>
            <a:normAutofit/>
          </a:bodyPr>
          <a:lstStyle/>
          <a:p>
            <a:r>
              <a:rPr lang="en-US" altLang="zh-CN" sz="3600" b="1" dirty="0"/>
              <a:t>P100</a:t>
            </a:r>
            <a:r>
              <a:rPr lang="zh-CN" altLang="en-US" sz="3600" b="1" dirty="0"/>
              <a:t>单词 </a:t>
            </a:r>
            <a:r>
              <a:rPr lang="en-US" altLang="zh-CN" sz="3600" b="1" dirty="0">
                <a:solidFill>
                  <a:srgbClr val="FF0000"/>
                </a:solidFill>
              </a:rPr>
              <a:t>1.</a:t>
            </a:r>
            <a:r>
              <a:rPr lang="zh-CN" altLang="en-US" sz="3600" b="1" dirty="0">
                <a:solidFill>
                  <a:srgbClr val="FF0000"/>
                </a:solidFill>
              </a:rPr>
              <a:t>使分离 </a:t>
            </a:r>
            <a:r>
              <a:rPr lang="en-US" altLang="zh-CN" sz="3600" b="1" dirty="0">
                <a:solidFill>
                  <a:srgbClr val="FF0000"/>
                </a:solidFill>
              </a:rPr>
              <a:t>2.</a:t>
            </a:r>
            <a:r>
              <a:rPr lang="zh-CN" altLang="en-US" sz="3600" b="1" dirty="0">
                <a:solidFill>
                  <a:srgbClr val="FF0000"/>
                </a:solidFill>
              </a:rPr>
              <a:t>依靠 </a:t>
            </a:r>
            <a:r>
              <a:rPr lang="en-US" altLang="zh-CN" sz="3600" b="1" dirty="0">
                <a:solidFill>
                  <a:srgbClr val="FF0000"/>
                </a:solidFill>
              </a:rPr>
              <a:t>3.</a:t>
            </a:r>
            <a:r>
              <a:rPr lang="zh-CN" altLang="en-US" sz="3600" b="1" dirty="0">
                <a:solidFill>
                  <a:srgbClr val="FF0000"/>
                </a:solidFill>
              </a:rPr>
              <a:t>额外赠送 </a:t>
            </a:r>
            <a:r>
              <a:rPr lang="en-US" altLang="zh-CN" sz="3600" b="1" dirty="0">
                <a:solidFill>
                  <a:srgbClr val="FF0000"/>
                </a:solidFill>
              </a:rPr>
              <a:t>4.</a:t>
            </a:r>
            <a:r>
              <a:rPr lang="zh-CN" altLang="en-US" sz="3600" b="1" dirty="0">
                <a:solidFill>
                  <a:srgbClr val="FF0000"/>
                </a:solidFill>
              </a:rPr>
              <a:t>作为额外增添 </a:t>
            </a:r>
            <a:endParaRPr lang="en-US" altLang="zh-CN" sz="3600" b="1" dirty="0">
              <a:solidFill>
                <a:srgbClr val="FF0000"/>
              </a:solidFill>
            </a:endParaRPr>
          </a:p>
          <a:p>
            <a:r>
              <a:rPr lang="en-US" altLang="zh-CN" sz="3600" b="1" dirty="0">
                <a:solidFill>
                  <a:srgbClr val="FF0000"/>
                </a:solidFill>
              </a:rPr>
              <a:t>5.</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组成 </a:t>
            </a:r>
            <a:r>
              <a:rPr lang="en-US" altLang="zh-CN" sz="3600" b="1" dirty="0">
                <a:solidFill>
                  <a:srgbClr val="FF0000"/>
                </a:solidFill>
              </a:rPr>
              <a:t>6.</a:t>
            </a:r>
            <a:r>
              <a:rPr lang="zh-CN" altLang="en-US" sz="3600" b="1" dirty="0">
                <a:solidFill>
                  <a:srgbClr val="FF0000"/>
                </a:solidFill>
              </a:rPr>
              <a:t>开始认真做某事 </a:t>
            </a:r>
            <a:r>
              <a:rPr lang="en-US" altLang="zh-CN" sz="3600" b="1" dirty="0">
                <a:solidFill>
                  <a:srgbClr val="FF0000"/>
                </a:solidFill>
              </a:rPr>
              <a:t>7.__n.</a:t>
            </a:r>
            <a:r>
              <a:rPr lang="zh-CN" altLang="en-US" sz="3600" b="1" dirty="0">
                <a:solidFill>
                  <a:srgbClr val="FF0000"/>
                </a:solidFill>
              </a:rPr>
              <a:t>作曲家</a:t>
            </a:r>
            <a:r>
              <a:rPr lang="en-US" altLang="zh-CN" sz="3600" b="1" dirty="0">
                <a:solidFill>
                  <a:srgbClr val="FF0000"/>
                </a:solidFill>
              </a:rPr>
              <a:t>; __v.</a:t>
            </a:r>
            <a:r>
              <a:rPr lang="zh-CN" altLang="en-US" sz="3600" b="1" dirty="0">
                <a:solidFill>
                  <a:srgbClr val="FF0000"/>
                </a:solidFill>
              </a:rPr>
              <a:t>作曲</a:t>
            </a:r>
            <a:r>
              <a:rPr lang="en-US" altLang="zh-CN" sz="3600" b="1" dirty="0">
                <a:solidFill>
                  <a:srgbClr val="FF0000"/>
                </a:solidFill>
              </a:rPr>
              <a:t>;</a:t>
            </a:r>
            <a:r>
              <a:rPr lang="zh-CN" altLang="en-US" sz="3600" b="1" dirty="0">
                <a:solidFill>
                  <a:srgbClr val="FF0000"/>
                </a:solidFill>
              </a:rPr>
              <a:t>组成</a:t>
            </a:r>
            <a:r>
              <a:rPr lang="en-US" altLang="zh-CN" sz="3600" b="1" dirty="0">
                <a:solidFill>
                  <a:srgbClr val="FF0000"/>
                </a:solidFill>
              </a:rPr>
              <a:t>;</a:t>
            </a:r>
            <a:r>
              <a:rPr lang="zh-CN" altLang="en-US" sz="3600" b="1" dirty="0">
                <a:solidFill>
                  <a:srgbClr val="FF0000"/>
                </a:solidFill>
              </a:rPr>
              <a:t>撰写</a:t>
            </a:r>
            <a:r>
              <a:rPr lang="en-US" altLang="zh-CN" sz="3600" b="1" dirty="0">
                <a:solidFill>
                  <a:srgbClr val="FF0000"/>
                </a:solidFill>
              </a:rPr>
              <a:t>;</a:t>
            </a:r>
            <a:r>
              <a:rPr lang="zh-CN" altLang="en-US" sz="3600" b="1" dirty="0">
                <a:solidFill>
                  <a:srgbClr val="FF0000"/>
                </a:solidFill>
              </a:rPr>
              <a:t>使镇静 </a:t>
            </a:r>
            <a:r>
              <a:rPr lang="en-US" altLang="zh-CN" sz="3600" b="1" dirty="0">
                <a:solidFill>
                  <a:srgbClr val="FF0000"/>
                </a:solidFill>
              </a:rPr>
              <a:t>8.n.v.</a:t>
            </a:r>
            <a:r>
              <a:rPr lang="zh-CN" altLang="en-US" sz="3600" b="1" dirty="0">
                <a:solidFill>
                  <a:srgbClr val="FF0000"/>
                </a:solidFill>
              </a:rPr>
              <a:t>低语 </a:t>
            </a:r>
            <a:r>
              <a:rPr lang="en-US" altLang="zh-CN" sz="3600" b="1" dirty="0">
                <a:solidFill>
                  <a:srgbClr val="FF0000"/>
                </a:solidFill>
              </a:rPr>
              <a:t>9.v.</a:t>
            </a:r>
            <a:r>
              <a:rPr lang="zh-CN" altLang="en-US" sz="3600" b="1" dirty="0">
                <a:solidFill>
                  <a:srgbClr val="FF0000"/>
                </a:solidFill>
              </a:rPr>
              <a:t>哭泣</a:t>
            </a:r>
            <a:r>
              <a:rPr lang="en-US" altLang="zh-CN" sz="3600" b="1" dirty="0">
                <a:solidFill>
                  <a:srgbClr val="FF0000"/>
                </a:solidFill>
              </a:rPr>
              <a:t>(__,__) 10.vt.</a:t>
            </a:r>
            <a:r>
              <a:rPr lang="zh-CN" altLang="en-US" sz="3600" b="1" dirty="0">
                <a:solidFill>
                  <a:srgbClr val="FF0000"/>
                </a:solidFill>
              </a:rPr>
              <a:t>受到</a:t>
            </a:r>
            <a:r>
              <a:rPr lang="en-US" altLang="zh-CN" sz="3600" b="1" dirty="0">
                <a:solidFill>
                  <a:srgbClr val="FF0000"/>
                </a:solidFill>
              </a:rPr>
              <a:t>…</a:t>
            </a:r>
            <a:r>
              <a:rPr lang="zh-CN" altLang="en-US" sz="3600" b="1" dirty="0">
                <a:solidFill>
                  <a:srgbClr val="FF0000"/>
                </a:solidFill>
              </a:rPr>
              <a:t>的极大影响</a:t>
            </a:r>
            <a:r>
              <a:rPr lang="en-US" altLang="zh-CN" sz="3600" b="1" dirty="0">
                <a:solidFill>
                  <a:srgbClr val="FF0000"/>
                </a:solidFill>
              </a:rPr>
              <a:t>(__,__) 11.n.</a:t>
            </a:r>
            <a:r>
              <a:rPr lang="zh-CN" altLang="en-US" sz="3600" b="1" dirty="0">
                <a:solidFill>
                  <a:srgbClr val="FF0000"/>
                </a:solidFill>
              </a:rPr>
              <a:t>坟墓</a:t>
            </a:r>
            <a:r>
              <a:rPr lang="en-US" altLang="zh-CN" sz="3600" b="1" dirty="0">
                <a:solidFill>
                  <a:srgbClr val="FF0000"/>
                </a:solidFill>
              </a:rPr>
              <a:t>;adj.</a:t>
            </a:r>
            <a:r>
              <a:rPr lang="zh-CN" altLang="en-US" sz="3600" b="1" dirty="0">
                <a:solidFill>
                  <a:srgbClr val="FF0000"/>
                </a:solidFill>
              </a:rPr>
              <a:t>严重的 </a:t>
            </a:r>
            <a:r>
              <a:rPr lang="en-US" altLang="zh-CN" sz="3600" b="1" dirty="0">
                <a:solidFill>
                  <a:srgbClr val="FF0000"/>
                </a:solidFill>
              </a:rPr>
              <a:t>12.vt.n.</a:t>
            </a:r>
            <a:r>
              <a:rPr lang="zh-CN" altLang="en-US" sz="3600" b="1" dirty="0">
                <a:solidFill>
                  <a:srgbClr val="FF0000"/>
                </a:solidFill>
              </a:rPr>
              <a:t>保证</a:t>
            </a:r>
            <a:r>
              <a:rPr lang="en-US" altLang="zh-CN" sz="3600" b="1" dirty="0">
                <a:solidFill>
                  <a:srgbClr val="FF0000"/>
                </a:solidFill>
              </a:rPr>
              <a:t>;</a:t>
            </a:r>
            <a:r>
              <a:rPr lang="zh-CN" altLang="en-US" sz="3600" b="1" dirty="0">
                <a:solidFill>
                  <a:srgbClr val="FF0000"/>
                </a:solidFill>
              </a:rPr>
              <a:t>保修单</a:t>
            </a:r>
            <a:r>
              <a:rPr lang="en-US" altLang="zh-CN" sz="3600" b="1" dirty="0">
                <a:solidFill>
                  <a:srgbClr val="FF0000"/>
                </a:solidFill>
              </a:rPr>
              <a:t> </a:t>
            </a:r>
          </a:p>
          <a:p>
            <a:r>
              <a:rPr lang="en-US" altLang="zh-CN" sz="3600" b="1" dirty="0">
                <a:solidFill>
                  <a:srgbClr val="FF0000"/>
                </a:solidFill>
              </a:rPr>
              <a:t>13.a.</a:t>
            </a:r>
            <a:r>
              <a:rPr lang="zh-CN" altLang="en-US" sz="3600" b="1" dirty="0">
                <a:solidFill>
                  <a:srgbClr val="FF0000"/>
                </a:solidFill>
              </a:rPr>
              <a:t>共产主义的</a:t>
            </a:r>
            <a:r>
              <a:rPr lang="en-US" altLang="zh-CN" sz="3600" b="1" dirty="0">
                <a:solidFill>
                  <a:srgbClr val="FF0000"/>
                </a:solidFill>
              </a:rPr>
              <a:t>n.</a:t>
            </a:r>
            <a:r>
              <a:rPr lang="zh-CN" altLang="en-US" sz="3600" b="1" dirty="0">
                <a:solidFill>
                  <a:srgbClr val="FF0000"/>
                </a:solidFill>
              </a:rPr>
              <a:t>共产主义者 </a:t>
            </a:r>
            <a:r>
              <a:rPr lang="en-US" altLang="zh-CN" sz="3600" b="1" dirty="0">
                <a:solidFill>
                  <a:srgbClr val="FF0000"/>
                </a:solidFill>
              </a:rPr>
              <a:t>14.vi.n.</a:t>
            </a:r>
            <a:r>
              <a:rPr lang="zh-CN" altLang="en-US" sz="3600" b="1" dirty="0">
                <a:solidFill>
                  <a:srgbClr val="FF0000"/>
                </a:solidFill>
              </a:rPr>
              <a:t>流动</a:t>
            </a:r>
            <a:r>
              <a:rPr lang="en-US" altLang="zh-CN" sz="3600" b="1" dirty="0">
                <a:solidFill>
                  <a:srgbClr val="FF0000"/>
                </a:solidFill>
              </a:rPr>
              <a:t>;</a:t>
            </a:r>
            <a:r>
              <a:rPr lang="zh-CN" altLang="en-US" sz="3600" b="1" dirty="0">
                <a:solidFill>
                  <a:srgbClr val="FF0000"/>
                </a:solidFill>
              </a:rPr>
              <a:t>充满 </a:t>
            </a:r>
            <a:r>
              <a:rPr lang="en-US" altLang="zh-CN" sz="3600" b="1" dirty="0">
                <a:solidFill>
                  <a:srgbClr val="FF0000"/>
                </a:solidFill>
              </a:rPr>
              <a:t>15.v.</a:t>
            </a:r>
            <a:r>
              <a:rPr lang="zh-CN" altLang="en-US" sz="3600" b="1" dirty="0">
                <a:solidFill>
                  <a:srgbClr val="FF0000"/>
                </a:solidFill>
              </a:rPr>
              <a:t>变形改观 </a:t>
            </a:r>
            <a:r>
              <a:rPr lang="en-US" altLang="zh-CN" sz="3600" b="1" dirty="0">
                <a:solidFill>
                  <a:srgbClr val="FF0000"/>
                </a:solidFill>
              </a:rPr>
              <a:t>16.n.</a:t>
            </a:r>
            <a:r>
              <a:rPr lang="zh-CN" altLang="en-US" sz="3600" b="1" dirty="0">
                <a:solidFill>
                  <a:srgbClr val="FF0000"/>
                </a:solidFill>
              </a:rPr>
              <a:t>悲伤  </a:t>
            </a:r>
            <a:r>
              <a:rPr lang="en-US" altLang="zh-CN" sz="3600" b="1" dirty="0">
                <a:solidFill>
                  <a:srgbClr val="FF0000"/>
                </a:solidFill>
              </a:rPr>
              <a:t>17.n.</a:t>
            </a:r>
            <a:r>
              <a:rPr lang="zh-CN" altLang="en-US" sz="3600" b="1" dirty="0">
                <a:solidFill>
                  <a:srgbClr val="FF0000"/>
                </a:solidFill>
              </a:rPr>
              <a:t>周围环境 </a:t>
            </a:r>
            <a:r>
              <a:rPr lang="en-US" altLang="zh-CN" sz="3600" b="1" dirty="0">
                <a:solidFill>
                  <a:srgbClr val="FF0000"/>
                </a:solidFill>
              </a:rPr>
              <a:t>18.n.</a:t>
            </a:r>
            <a:r>
              <a:rPr lang="zh-CN" altLang="en-US" sz="3600" b="1" dirty="0">
                <a:solidFill>
                  <a:srgbClr val="FF0000"/>
                </a:solidFill>
              </a:rPr>
              <a:t>微风 </a:t>
            </a:r>
            <a:r>
              <a:rPr lang="en-US" altLang="zh-CN" sz="3600" b="1" dirty="0">
                <a:solidFill>
                  <a:srgbClr val="FF0000"/>
                </a:solidFill>
              </a:rPr>
              <a:t>19.n.</a:t>
            </a:r>
            <a:r>
              <a:rPr lang="zh-CN" altLang="en-US" sz="3600" b="1" dirty="0">
                <a:solidFill>
                  <a:srgbClr val="FF0000"/>
                </a:solidFill>
              </a:rPr>
              <a:t>拱门 </a:t>
            </a:r>
            <a:endParaRPr lang="en-US" altLang="zh-CN" sz="3600" b="1" dirty="0">
              <a:solidFill>
                <a:srgbClr val="FF0000"/>
              </a:solidFill>
            </a:endParaRPr>
          </a:p>
          <a:p>
            <a:r>
              <a:rPr lang="en-US" altLang="zh-CN" sz="3600" b="1" dirty="0">
                <a:solidFill>
                  <a:srgbClr val="FF0000"/>
                </a:solidFill>
              </a:rPr>
              <a:t>20.n.</a:t>
            </a:r>
            <a:r>
              <a:rPr lang="zh-CN" altLang="en-US" sz="3600" b="1" dirty="0">
                <a:solidFill>
                  <a:srgbClr val="FF0000"/>
                </a:solidFill>
              </a:rPr>
              <a:t>改编本</a:t>
            </a:r>
            <a:r>
              <a:rPr lang="en-US" altLang="zh-CN" sz="3600" b="1" dirty="0">
                <a:solidFill>
                  <a:srgbClr val="FF0000"/>
                </a:solidFill>
              </a:rPr>
              <a:t>;</a:t>
            </a:r>
            <a:r>
              <a:rPr lang="zh-CN" altLang="en-US" sz="3600" b="1" dirty="0">
                <a:solidFill>
                  <a:srgbClr val="FF0000"/>
                </a:solidFill>
              </a:rPr>
              <a:t>适应  </a:t>
            </a:r>
            <a:r>
              <a:rPr lang="en-US" altLang="zh-CN" sz="3600" b="1" dirty="0">
                <a:solidFill>
                  <a:srgbClr val="FF0000"/>
                </a:solidFill>
              </a:rPr>
              <a:t>21.n.</a:t>
            </a:r>
            <a:r>
              <a:rPr lang="zh-CN" altLang="en-US" sz="3600" b="1" dirty="0">
                <a:solidFill>
                  <a:srgbClr val="FF0000"/>
                </a:solidFill>
              </a:rPr>
              <a:t>侵略者 </a:t>
            </a:r>
            <a:r>
              <a:rPr lang="en-US" altLang="zh-CN" sz="3600" b="1" dirty="0">
                <a:solidFill>
                  <a:srgbClr val="FF0000"/>
                </a:solidFill>
              </a:rPr>
              <a:t>22.n.</a:t>
            </a:r>
            <a:r>
              <a:rPr lang="zh-CN" altLang="en-US" sz="3600" b="1" dirty="0">
                <a:solidFill>
                  <a:srgbClr val="FF0000"/>
                </a:solidFill>
              </a:rPr>
              <a:t>录音 </a:t>
            </a:r>
            <a:r>
              <a:rPr lang="en-US" altLang="zh-CN" sz="3600" b="1" dirty="0">
                <a:solidFill>
                  <a:srgbClr val="FF0000"/>
                </a:solidFill>
              </a:rPr>
              <a:t>23.n.</a:t>
            </a:r>
            <a:r>
              <a:rPr lang="zh-CN" altLang="en-US" sz="3600" b="1" dirty="0">
                <a:solidFill>
                  <a:srgbClr val="FF0000"/>
                </a:solidFill>
              </a:rPr>
              <a:t>交响乐 </a:t>
            </a:r>
            <a:endParaRPr lang="en-US" altLang="zh-CN" sz="3600" b="1" dirty="0">
              <a:solidFill>
                <a:srgbClr val="FF0000"/>
              </a:solidFill>
            </a:endParaRPr>
          </a:p>
          <a:p>
            <a:r>
              <a:rPr lang="en-US" altLang="zh-CN" sz="3600" b="1" dirty="0">
                <a:solidFill>
                  <a:srgbClr val="FF0000"/>
                </a:solidFill>
              </a:rPr>
              <a:t>24.n.</a:t>
            </a:r>
            <a:r>
              <a:rPr lang="zh-CN" altLang="en-US" sz="3600" b="1" dirty="0">
                <a:solidFill>
                  <a:srgbClr val="FF0000"/>
                </a:solidFill>
              </a:rPr>
              <a:t>曲调 </a:t>
            </a:r>
            <a:r>
              <a:rPr lang="en-US" altLang="zh-CN" sz="3600" b="1" dirty="0" err="1">
                <a:solidFill>
                  <a:srgbClr val="FF0000"/>
                </a:solidFill>
              </a:rPr>
              <a:t>vt.</a:t>
            </a:r>
            <a:r>
              <a:rPr lang="zh-CN" altLang="en-US" sz="3600" b="1" dirty="0">
                <a:solidFill>
                  <a:srgbClr val="FF0000"/>
                </a:solidFill>
              </a:rPr>
              <a:t>调音 </a:t>
            </a:r>
            <a:r>
              <a:rPr lang="en-US" altLang="zh-CN" sz="3600" b="1" dirty="0">
                <a:solidFill>
                  <a:srgbClr val="FF0000"/>
                </a:solidFill>
              </a:rPr>
              <a:t>25.n.</a:t>
            </a:r>
            <a:r>
              <a:rPr lang="zh-CN" altLang="en-US" sz="3600" b="1" dirty="0">
                <a:solidFill>
                  <a:srgbClr val="FF0000"/>
                </a:solidFill>
              </a:rPr>
              <a:t>歌词抒情诗</a:t>
            </a:r>
            <a:r>
              <a:rPr lang="en-US" altLang="zh-CN" sz="3600" b="1" dirty="0">
                <a:solidFill>
                  <a:srgbClr val="FF0000"/>
                </a:solidFill>
              </a:rPr>
              <a:t>a.</a:t>
            </a:r>
            <a:r>
              <a:rPr lang="zh-CN" altLang="en-US" sz="3600" b="1" dirty="0">
                <a:solidFill>
                  <a:srgbClr val="FF0000"/>
                </a:solidFill>
              </a:rPr>
              <a:t>抒情的</a:t>
            </a:r>
            <a:r>
              <a:rPr lang="en-US" altLang="zh-CN" sz="3600" b="1" dirty="0">
                <a:solidFill>
                  <a:srgbClr val="FF0000"/>
                </a:solidFill>
              </a:rPr>
              <a:t> 26.</a:t>
            </a:r>
            <a:r>
              <a:rPr lang="zh-CN" altLang="en-US" sz="3600" b="1" dirty="0">
                <a:solidFill>
                  <a:srgbClr val="FF0000"/>
                </a:solidFill>
              </a:rPr>
              <a:t>激动人心的戏剧性的</a:t>
            </a:r>
            <a:r>
              <a:rPr lang="en-US" altLang="zh-CN" sz="3600" b="1" dirty="0">
                <a:solidFill>
                  <a:srgbClr val="FF0000"/>
                </a:solidFill>
              </a:rPr>
              <a:t>27.</a:t>
            </a:r>
            <a:r>
              <a:rPr lang="zh-CN" altLang="en-US" sz="3600" b="1" dirty="0">
                <a:solidFill>
                  <a:srgbClr val="FF0000"/>
                </a:solidFill>
              </a:rPr>
              <a:t>令人愉快的</a:t>
            </a:r>
            <a:r>
              <a:rPr lang="en-US" altLang="zh-CN" sz="3600" b="1" dirty="0">
                <a:solidFill>
                  <a:srgbClr val="FF0000"/>
                </a:solidFill>
              </a:rPr>
              <a:t>28.</a:t>
            </a:r>
            <a:r>
              <a:rPr lang="zh-CN" altLang="en-US" sz="3600" b="1" dirty="0">
                <a:solidFill>
                  <a:srgbClr val="FF0000"/>
                </a:solidFill>
              </a:rPr>
              <a:t>民间民俗的</a:t>
            </a:r>
            <a:r>
              <a:rPr lang="en-US" altLang="zh-CN" sz="3600" b="1" dirty="0">
                <a:solidFill>
                  <a:srgbClr val="FF0000"/>
                </a:solidFill>
              </a:rPr>
              <a:t>29.</a:t>
            </a:r>
            <a:r>
              <a:rPr lang="zh-CN" altLang="en-US" sz="3600" b="1" dirty="0">
                <a:solidFill>
                  <a:srgbClr val="FF0000"/>
                </a:solidFill>
              </a:rPr>
              <a:t>乡村的</a:t>
            </a:r>
            <a:r>
              <a:rPr lang="en-US" altLang="zh-CN" sz="3600" b="1" dirty="0">
                <a:solidFill>
                  <a:srgbClr val="FF0000"/>
                </a:solidFill>
              </a:rPr>
              <a:t>30.</a:t>
            </a:r>
            <a:r>
              <a:rPr lang="zh-CN" altLang="en-US" sz="3600" b="1" dirty="0">
                <a:solidFill>
                  <a:srgbClr val="FF0000"/>
                </a:solidFill>
              </a:rPr>
              <a:t>合适的</a:t>
            </a:r>
            <a:endParaRPr lang="en-US" altLang="zh-CN" sz="3600" b="1" dirty="0">
              <a:solidFill>
                <a:srgbClr val="FF0000"/>
              </a:solidFill>
            </a:endParaRPr>
          </a:p>
          <a:p>
            <a:r>
              <a:rPr lang="en-US" altLang="zh-CN" sz="3600" b="1" dirty="0"/>
              <a:t> V-</a:t>
            </a:r>
            <a:r>
              <a:rPr lang="en-US" altLang="zh-CN" sz="3600" b="1" dirty="0" err="1"/>
              <a:t>ing</a:t>
            </a:r>
            <a:r>
              <a:rPr lang="zh-CN" altLang="en-US" sz="3600" b="1" dirty="0"/>
              <a:t>作主语的</a:t>
            </a:r>
            <a:r>
              <a:rPr lang="zh-CN" altLang="en-US" sz="3600" b="1" u="sng" dirty="0">
                <a:solidFill>
                  <a:srgbClr val="FF0000"/>
                </a:solidFill>
              </a:rPr>
              <a:t>句型</a:t>
            </a:r>
            <a:r>
              <a:rPr lang="zh-CN" altLang="en-US" sz="3600" b="1" dirty="0"/>
              <a:t>：</a:t>
            </a:r>
            <a:endParaRPr lang="en-US" altLang="zh-CN" sz="3600" b="1" dirty="0"/>
          </a:p>
          <a:p>
            <a:r>
              <a:rPr lang="en-US" altLang="zh-CN" sz="3600" b="1" dirty="0"/>
              <a:t> V-</a:t>
            </a:r>
            <a:r>
              <a:rPr lang="en-US" altLang="zh-CN" sz="3600" b="1" dirty="0" err="1"/>
              <a:t>ing</a:t>
            </a:r>
            <a:r>
              <a:rPr lang="zh-CN" altLang="en-US" sz="3600" b="1" dirty="0"/>
              <a:t>作宾语常用在哪些</a:t>
            </a:r>
            <a:r>
              <a:rPr lang="zh-CN" altLang="en-US" sz="3600" b="1" u="sng" dirty="0">
                <a:solidFill>
                  <a:srgbClr val="FF0000"/>
                </a:solidFill>
              </a:rPr>
              <a:t>动词和词组</a:t>
            </a:r>
            <a:r>
              <a:rPr lang="zh-CN" altLang="en-US" sz="3600" b="1" dirty="0"/>
              <a:t>后面？</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11133</Words>
  <Application>Microsoft Office PowerPoint</Application>
  <PresentationFormat>宽屏</PresentationFormat>
  <Paragraphs>376</Paragraphs>
  <Slides>64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64</vt:i4>
      </vt:variant>
    </vt:vector>
  </HeadingPairs>
  <TitlesOfParts>
    <vt:vector size="75" baseType="lpstr">
      <vt:lpstr>阿里巴巴普惠体 2.0 55 Regular</vt:lpstr>
      <vt:lpstr>等线</vt:lpstr>
      <vt:lpstr>等线 Light</vt:lpstr>
      <vt:lpstr>楷体</vt:lpstr>
      <vt:lpstr>宋体</vt:lpstr>
      <vt:lpstr>Arial</vt:lpstr>
      <vt:lpstr>Calibri</vt:lpstr>
      <vt:lpstr>Courier New</vt:lpstr>
      <vt:lpstr>Times New Roman</vt:lpstr>
      <vt:lpstr>Wingdings</vt:lpstr>
      <vt:lpstr>Office 主题​​</vt:lpstr>
      <vt:lpstr>Dictation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Dictation</dc:title>
  <dc:creator>静 刘</dc:creator>
  <cp:lastModifiedBy>HiteVision</cp:lastModifiedBy>
  <cp:revision>107</cp:revision>
  <dcterms:created xsi:type="dcterms:W3CDTF">2025-09-01T12:34:00Z</dcterms:created>
  <dcterms:modified xsi:type="dcterms:W3CDTF">2025-11-21T07:15:40Z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D652BBC5ABF74C738D35321A50F118BE_12</vt:lpwstr>
  </property>
  <property fmtid="{D5CDD505-2E9C-101B-9397-08002B2CF9AE}" pid="3" name="KSOProductBuildVer">
    <vt:lpwstr>2052-12.1.0.23542</vt:lpwstr>
  </property>
</Properties>
</file>